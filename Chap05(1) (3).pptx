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4" r:id="rId1"/>
  </p:sldMasterIdLst>
  <p:notesMasterIdLst>
    <p:notesMasterId r:id="rId50"/>
  </p:notesMasterIdLst>
  <p:handoutMasterIdLst>
    <p:handoutMasterId r:id="rId51"/>
  </p:handoutMasterIdLst>
  <p:sldIdLst>
    <p:sldId id="361" r:id="rId2"/>
    <p:sldId id="256" r:id="rId3"/>
    <p:sldId id="279" r:id="rId4"/>
    <p:sldId id="290" r:id="rId5"/>
    <p:sldId id="288" r:id="rId6"/>
    <p:sldId id="291" r:id="rId7"/>
    <p:sldId id="292" r:id="rId8"/>
    <p:sldId id="293" r:id="rId9"/>
    <p:sldId id="294" r:id="rId10"/>
    <p:sldId id="295" r:id="rId11"/>
    <p:sldId id="296" r:id="rId12"/>
    <p:sldId id="298" r:id="rId13"/>
    <p:sldId id="299" r:id="rId14"/>
    <p:sldId id="300" r:id="rId15"/>
    <p:sldId id="301" r:id="rId16"/>
    <p:sldId id="306" r:id="rId17"/>
    <p:sldId id="329" r:id="rId18"/>
    <p:sldId id="330" r:id="rId19"/>
    <p:sldId id="331" r:id="rId20"/>
    <p:sldId id="332" r:id="rId21"/>
    <p:sldId id="333" r:id="rId22"/>
    <p:sldId id="355" r:id="rId23"/>
    <p:sldId id="356" r:id="rId24"/>
    <p:sldId id="334" r:id="rId25"/>
    <p:sldId id="360" r:id="rId26"/>
    <p:sldId id="363" r:id="rId27"/>
    <p:sldId id="335" r:id="rId28"/>
    <p:sldId id="336" r:id="rId29"/>
    <p:sldId id="337" r:id="rId30"/>
    <p:sldId id="338" r:id="rId31"/>
    <p:sldId id="339" r:id="rId32"/>
    <p:sldId id="340" r:id="rId33"/>
    <p:sldId id="351" r:id="rId34"/>
    <p:sldId id="352" r:id="rId35"/>
    <p:sldId id="353" r:id="rId36"/>
    <p:sldId id="357" r:id="rId37"/>
    <p:sldId id="359" r:id="rId38"/>
    <p:sldId id="341" r:id="rId39"/>
    <p:sldId id="342" r:id="rId40"/>
    <p:sldId id="343" r:id="rId41"/>
    <p:sldId id="344" r:id="rId42"/>
    <p:sldId id="346" r:id="rId43"/>
    <p:sldId id="347" r:id="rId44"/>
    <p:sldId id="348" r:id="rId45"/>
    <p:sldId id="349" r:id="rId46"/>
    <p:sldId id="350" r:id="rId47"/>
    <p:sldId id="278" r:id="rId48"/>
    <p:sldId id="362" r:id="rId4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C0C0"/>
    <a:srgbClr val="FFFF00"/>
    <a:srgbClr val="3399FF"/>
    <a:srgbClr val="CC0000"/>
    <a:srgbClr val="FFFFFF"/>
    <a:srgbClr val="856EF8"/>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4" autoAdjust="0"/>
    <p:restoredTop sz="94677" autoAdjust="0"/>
  </p:normalViewPr>
  <p:slideViewPr>
    <p:cSldViewPr>
      <p:cViewPr varScale="1">
        <p:scale>
          <a:sx n="98" d="100"/>
          <a:sy n="98" d="100"/>
        </p:scale>
        <p:origin x="78"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2" d="100"/>
          <a:sy n="42" d="100"/>
        </p:scale>
        <p:origin x="-1253" y="-93"/>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6360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eaLnBrk="0" hangingPunct="0">
              <a:defRPr sz="1000" i="1"/>
            </a:lvl1pPr>
          </a:lstStyle>
          <a:p>
            <a:endParaRPr lang="en-US"/>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eaLnBrk="0" hangingPunct="0">
              <a:defRPr sz="1000" i="1"/>
            </a:lvl1pPr>
          </a:lstStyle>
          <a:p>
            <a:endParaRPr lang="en-US"/>
          </a:p>
        </p:txBody>
      </p:sp>
      <p:sp>
        <p:nvSpPr>
          <p:cNvPr id="2052" name="Rectangle 4"/>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eaLnBrk="0" hangingPunct="0">
              <a:defRPr sz="1000" i="1"/>
            </a:lvl1pPr>
          </a:lstStyle>
          <a:p>
            <a:endParaRPr lang="en-US"/>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eaLnBrk="0" hangingPunct="0">
              <a:defRPr sz="1000" i="1"/>
            </a:lvl1pPr>
          </a:lstStyle>
          <a:p>
            <a:fld id="{131E2172-D368-49F1-B189-09F5960A2415}" type="slidenum">
              <a:rPr lang="en-US"/>
              <a:pPr/>
              <a:t>‹#›</a:t>
            </a:fld>
            <a:endParaRPr lang="en-US"/>
          </a:p>
        </p:txBody>
      </p:sp>
    </p:spTree>
    <p:extLst>
      <p:ext uri="{BB962C8B-B14F-4D97-AF65-F5344CB8AC3E}">
        <p14:creationId xmlns:p14="http://schemas.microsoft.com/office/powerpoint/2010/main" val="117226746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C2589D30-6639-4274-9B42-3F9D5FCCD1DC}" type="slidenum">
              <a:rPr lang="en-US"/>
              <a:pPr/>
              <a:t>1</a:t>
            </a:fld>
            <a:endParaRPr lang="en-US"/>
          </a:p>
        </p:txBody>
      </p:sp>
      <p:sp>
        <p:nvSpPr>
          <p:cNvPr id="27651" name="Rectangle 2"/>
          <p:cNvSpPr>
            <a:spLocks noGrp="1" noRot="1" noChangeAspect="1" noChangeArrowheads="1" noTextEdit="1"/>
          </p:cNvSpPr>
          <p:nvPr>
            <p:ph type="sldImg"/>
          </p:nvPr>
        </p:nvSpPr>
        <p:spPr>
          <a:xfrm>
            <a:off x="1150938" y="692150"/>
            <a:ext cx="4556125" cy="3416300"/>
          </a:xfrm>
          <a:ln/>
        </p:spPr>
      </p:sp>
      <p:sp>
        <p:nvSpPr>
          <p:cNvPr id="27652" name="Rectangle 3"/>
          <p:cNvSpPr>
            <a:spLocks noGrp="1" noChangeArrowheads="1"/>
          </p:cNvSpPr>
          <p:nvPr>
            <p:ph type="body" idx="1"/>
          </p:nvPr>
        </p:nvSpPr>
        <p:spPr>
          <a:noFill/>
        </p:spPr>
        <p:txBody>
          <a:bodyPr/>
          <a:lstStyle/>
          <a:p>
            <a:endParaRPr lang="en-US"/>
          </a:p>
        </p:txBody>
      </p:sp>
    </p:spTree>
    <p:extLst>
      <p:ext uri="{BB962C8B-B14F-4D97-AF65-F5344CB8AC3E}">
        <p14:creationId xmlns:p14="http://schemas.microsoft.com/office/powerpoint/2010/main" val="753343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2</a:t>
            </a:fld>
            <a:endParaRPr lang="en-US"/>
          </a:p>
        </p:txBody>
      </p:sp>
    </p:spTree>
    <p:extLst>
      <p:ext uri="{BB962C8B-B14F-4D97-AF65-F5344CB8AC3E}">
        <p14:creationId xmlns:p14="http://schemas.microsoft.com/office/powerpoint/2010/main" val="2093067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3</a:t>
            </a:fld>
            <a:endParaRPr lang="en-US"/>
          </a:p>
        </p:txBody>
      </p:sp>
    </p:spTree>
    <p:extLst>
      <p:ext uri="{BB962C8B-B14F-4D97-AF65-F5344CB8AC3E}">
        <p14:creationId xmlns:p14="http://schemas.microsoft.com/office/powerpoint/2010/main" val="2746910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4</a:t>
            </a:fld>
            <a:endParaRPr lang="en-US"/>
          </a:p>
        </p:txBody>
      </p:sp>
    </p:spTree>
    <p:extLst>
      <p:ext uri="{BB962C8B-B14F-4D97-AF65-F5344CB8AC3E}">
        <p14:creationId xmlns:p14="http://schemas.microsoft.com/office/powerpoint/2010/main" val="3534494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5</a:t>
            </a:fld>
            <a:endParaRPr lang="en-US"/>
          </a:p>
        </p:txBody>
      </p:sp>
    </p:spTree>
    <p:extLst>
      <p:ext uri="{BB962C8B-B14F-4D97-AF65-F5344CB8AC3E}">
        <p14:creationId xmlns:p14="http://schemas.microsoft.com/office/powerpoint/2010/main" val="372932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6</a:t>
            </a:fld>
            <a:endParaRPr lang="en-US"/>
          </a:p>
        </p:txBody>
      </p:sp>
    </p:spTree>
    <p:extLst>
      <p:ext uri="{BB962C8B-B14F-4D97-AF65-F5344CB8AC3E}">
        <p14:creationId xmlns:p14="http://schemas.microsoft.com/office/powerpoint/2010/main" val="33661027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7</a:t>
            </a:fld>
            <a:endParaRPr lang="en-US"/>
          </a:p>
        </p:txBody>
      </p:sp>
    </p:spTree>
    <p:extLst>
      <p:ext uri="{BB962C8B-B14F-4D97-AF65-F5344CB8AC3E}">
        <p14:creationId xmlns:p14="http://schemas.microsoft.com/office/powerpoint/2010/main" val="12034261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8</a:t>
            </a:fld>
            <a:endParaRPr lang="en-US"/>
          </a:p>
        </p:txBody>
      </p:sp>
    </p:spTree>
    <p:extLst>
      <p:ext uri="{BB962C8B-B14F-4D97-AF65-F5344CB8AC3E}">
        <p14:creationId xmlns:p14="http://schemas.microsoft.com/office/powerpoint/2010/main" val="3016622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9</a:t>
            </a:fld>
            <a:endParaRPr lang="en-US"/>
          </a:p>
        </p:txBody>
      </p:sp>
    </p:spTree>
    <p:extLst>
      <p:ext uri="{BB962C8B-B14F-4D97-AF65-F5344CB8AC3E}">
        <p14:creationId xmlns:p14="http://schemas.microsoft.com/office/powerpoint/2010/main" val="7045782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10</a:t>
            </a:fld>
            <a:endParaRPr lang="en-US"/>
          </a:p>
        </p:txBody>
      </p:sp>
    </p:spTree>
    <p:extLst>
      <p:ext uri="{BB962C8B-B14F-4D97-AF65-F5344CB8AC3E}">
        <p14:creationId xmlns:p14="http://schemas.microsoft.com/office/powerpoint/2010/main" val="37860033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11</a:t>
            </a:fld>
            <a:endParaRPr lang="en-US"/>
          </a:p>
        </p:txBody>
      </p:sp>
    </p:spTree>
    <p:extLst>
      <p:ext uri="{BB962C8B-B14F-4D97-AF65-F5344CB8AC3E}">
        <p14:creationId xmlns:p14="http://schemas.microsoft.com/office/powerpoint/2010/main" val="7692523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12</a:t>
            </a:fld>
            <a:endParaRPr lang="en-US"/>
          </a:p>
        </p:txBody>
      </p:sp>
    </p:spTree>
    <p:extLst>
      <p:ext uri="{BB962C8B-B14F-4D97-AF65-F5344CB8AC3E}">
        <p14:creationId xmlns:p14="http://schemas.microsoft.com/office/powerpoint/2010/main" val="1430652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13</a:t>
            </a:fld>
            <a:endParaRPr lang="en-US"/>
          </a:p>
        </p:txBody>
      </p:sp>
    </p:spTree>
    <p:extLst>
      <p:ext uri="{BB962C8B-B14F-4D97-AF65-F5344CB8AC3E}">
        <p14:creationId xmlns:p14="http://schemas.microsoft.com/office/powerpoint/2010/main" val="7770949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14</a:t>
            </a:fld>
            <a:endParaRPr lang="en-US"/>
          </a:p>
        </p:txBody>
      </p:sp>
    </p:spTree>
    <p:extLst>
      <p:ext uri="{BB962C8B-B14F-4D97-AF65-F5344CB8AC3E}">
        <p14:creationId xmlns:p14="http://schemas.microsoft.com/office/powerpoint/2010/main" val="32478067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15</a:t>
            </a:fld>
            <a:endParaRPr lang="en-US"/>
          </a:p>
        </p:txBody>
      </p:sp>
    </p:spTree>
    <p:extLst>
      <p:ext uri="{BB962C8B-B14F-4D97-AF65-F5344CB8AC3E}">
        <p14:creationId xmlns:p14="http://schemas.microsoft.com/office/powerpoint/2010/main" val="25618064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B7DCF9-AECE-4037-B9C6-F369C63A2CD3}" type="slidenum">
              <a:rPr lang="en-US"/>
              <a:pPr/>
              <a:t>16</a:t>
            </a:fld>
            <a:endParaRPr lang="en-US"/>
          </a:p>
        </p:txBody>
      </p:sp>
      <p:sp>
        <p:nvSpPr>
          <p:cNvPr id="25602" name="Rectangle 2"/>
          <p:cNvSpPr>
            <a:spLocks noGrp="1" noRot="1" noChangeAspect="1" noChangeArrowheads="1" noTextEdit="1"/>
          </p:cNvSpPr>
          <p:nvPr>
            <p:ph type="sldImg"/>
          </p:nvPr>
        </p:nvSpPr>
        <p:spPr>
          <a:xfrm>
            <a:off x="1150938" y="692150"/>
            <a:ext cx="4556125" cy="3416300"/>
          </a:xfrm>
          <a:ln cap="flat"/>
        </p:spPr>
      </p:sp>
      <p:sp>
        <p:nvSpPr>
          <p:cNvPr id="25603"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8407832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17</a:t>
            </a:fld>
            <a:endParaRPr lang="en-US"/>
          </a:p>
        </p:txBody>
      </p:sp>
    </p:spTree>
    <p:extLst>
      <p:ext uri="{BB962C8B-B14F-4D97-AF65-F5344CB8AC3E}">
        <p14:creationId xmlns:p14="http://schemas.microsoft.com/office/powerpoint/2010/main" val="10291548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18</a:t>
            </a:fld>
            <a:endParaRPr lang="en-US"/>
          </a:p>
        </p:txBody>
      </p:sp>
    </p:spTree>
    <p:extLst>
      <p:ext uri="{BB962C8B-B14F-4D97-AF65-F5344CB8AC3E}">
        <p14:creationId xmlns:p14="http://schemas.microsoft.com/office/powerpoint/2010/main" val="13774913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19</a:t>
            </a:fld>
            <a:endParaRPr lang="en-US"/>
          </a:p>
        </p:txBody>
      </p:sp>
    </p:spTree>
    <p:extLst>
      <p:ext uri="{BB962C8B-B14F-4D97-AF65-F5344CB8AC3E}">
        <p14:creationId xmlns:p14="http://schemas.microsoft.com/office/powerpoint/2010/main" val="15205066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20</a:t>
            </a:fld>
            <a:endParaRPr lang="en-US"/>
          </a:p>
        </p:txBody>
      </p:sp>
    </p:spTree>
    <p:extLst>
      <p:ext uri="{BB962C8B-B14F-4D97-AF65-F5344CB8AC3E}">
        <p14:creationId xmlns:p14="http://schemas.microsoft.com/office/powerpoint/2010/main" val="42019858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21</a:t>
            </a:fld>
            <a:endParaRPr lang="en-US"/>
          </a:p>
        </p:txBody>
      </p:sp>
    </p:spTree>
    <p:extLst>
      <p:ext uri="{BB962C8B-B14F-4D97-AF65-F5344CB8AC3E}">
        <p14:creationId xmlns:p14="http://schemas.microsoft.com/office/powerpoint/2010/main" val="18520745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22</a:t>
            </a:fld>
            <a:endParaRPr lang="en-US"/>
          </a:p>
        </p:txBody>
      </p:sp>
    </p:spTree>
    <p:extLst>
      <p:ext uri="{BB962C8B-B14F-4D97-AF65-F5344CB8AC3E}">
        <p14:creationId xmlns:p14="http://schemas.microsoft.com/office/powerpoint/2010/main" val="14924047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23</a:t>
            </a:fld>
            <a:endParaRPr lang="en-US"/>
          </a:p>
        </p:txBody>
      </p:sp>
    </p:spTree>
    <p:extLst>
      <p:ext uri="{BB962C8B-B14F-4D97-AF65-F5344CB8AC3E}">
        <p14:creationId xmlns:p14="http://schemas.microsoft.com/office/powerpoint/2010/main" val="24917944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24</a:t>
            </a:fld>
            <a:endParaRPr lang="en-US"/>
          </a:p>
        </p:txBody>
      </p:sp>
    </p:spTree>
    <p:extLst>
      <p:ext uri="{BB962C8B-B14F-4D97-AF65-F5344CB8AC3E}">
        <p14:creationId xmlns:p14="http://schemas.microsoft.com/office/powerpoint/2010/main" val="1556775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25</a:t>
            </a:fld>
            <a:endParaRPr lang="en-US"/>
          </a:p>
        </p:txBody>
      </p:sp>
    </p:spTree>
    <p:extLst>
      <p:ext uri="{BB962C8B-B14F-4D97-AF65-F5344CB8AC3E}">
        <p14:creationId xmlns:p14="http://schemas.microsoft.com/office/powerpoint/2010/main" val="32334029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26</a:t>
            </a:fld>
            <a:endParaRPr lang="en-US"/>
          </a:p>
        </p:txBody>
      </p:sp>
    </p:spTree>
    <p:extLst>
      <p:ext uri="{BB962C8B-B14F-4D97-AF65-F5344CB8AC3E}">
        <p14:creationId xmlns:p14="http://schemas.microsoft.com/office/powerpoint/2010/main" val="32334029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27</a:t>
            </a:fld>
            <a:endParaRPr lang="en-US"/>
          </a:p>
        </p:txBody>
      </p:sp>
    </p:spTree>
    <p:extLst>
      <p:ext uri="{BB962C8B-B14F-4D97-AF65-F5344CB8AC3E}">
        <p14:creationId xmlns:p14="http://schemas.microsoft.com/office/powerpoint/2010/main" val="22637533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28</a:t>
            </a:fld>
            <a:endParaRPr lang="en-US"/>
          </a:p>
        </p:txBody>
      </p:sp>
    </p:spTree>
    <p:extLst>
      <p:ext uri="{BB962C8B-B14F-4D97-AF65-F5344CB8AC3E}">
        <p14:creationId xmlns:p14="http://schemas.microsoft.com/office/powerpoint/2010/main" val="707411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2AFB0C-31C0-4A06-A3D8-15E085EE24F3}" type="slidenum">
              <a:rPr lang="en-US"/>
              <a:pPr/>
              <a:t>29</a:t>
            </a:fld>
            <a:endParaRPr lang="en-US"/>
          </a:p>
        </p:txBody>
      </p:sp>
      <p:sp>
        <p:nvSpPr>
          <p:cNvPr id="35842" name="Rectangle 2"/>
          <p:cNvSpPr>
            <a:spLocks noGrp="1" noRot="1" noChangeAspect="1" noChangeArrowheads="1" noTextEdit="1"/>
          </p:cNvSpPr>
          <p:nvPr>
            <p:ph type="sldImg"/>
          </p:nvPr>
        </p:nvSpPr>
        <p:spPr>
          <a:xfrm>
            <a:off x="1150938" y="692150"/>
            <a:ext cx="4556125" cy="3416300"/>
          </a:xfrm>
          <a:ln cap="flat"/>
        </p:spPr>
      </p:sp>
      <p:sp>
        <p:nvSpPr>
          <p:cNvPr id="35843" name="Rectangle 3"/>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8435109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30</a:t>
            </a:fld>
            <a:endParaRPr lang="en-US"/>
          </a:p>
        </p:txBody>
      </p:sp>
    </p:spTree>
    <p:extLst>
      <p:ext uri="{BB962C8B-B14F-4D97-AF65-F5344CB8AC3E}">
        <p14:creationId xmlns:p14="http://schemas.microsoft.com/office/powerpoint/2010/main" val="32079053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31</a:t>
            </a:fld>
            <a:endParaRPr lang="en-US"/>
          </a:p>
        </p:txBody>
      </p:sp>
    </p:spTree>
    <p:extLst>
      <p:ext uri="{BB962C8B-B14F-4D97-AF65-F5344CB8AC3E}">
        <p14:creationId xmlns:p14="http://schemas.microsoft.com/office/powerpoint/2010/main" val="26618264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32</a:t>
            </a:fld>
            <a:endParaRPr lang="en-US"/>
          </a:p>
        </p:txBody>
      </p:sp>
    </p:spTree>
    <p:extLst>
      <p:ext uri="{BB962C8B-B14F-4D97-AF65-F5344CB8AC3E}">
        <p14:creationId xmlns:p14="http://schemas.microsoft.com/office/powerpoint/2010/main" val="7638169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33</a:t>
            </a:fld>
            <a:endParaRPr lang="en-US"/>
          </a:p>
        </p:txBody>
      </p:sp>
    </p:spTree>
    <p:extLst>
      <p:ext uri="{BB962C8B-B14F-4D97-AF65-F5344CB8AC3E}">
        <p14:creationId xmlns:p14="http://schemas.microsoft.com/office/powerpoint/2010/main" val="27931398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34</a:t>
            </a:fld>
            <a:endParaRPr lang="en-US"/>
          </a:p>
        </p:txBody>
      </p:sp>
    </p:spTree>
    <p:extLst>
      <p:ext uri="{BB962C8B-B14F-4D97-AF65-F5344CB8AC3E}">
        <p14:creationId xmlns:p14="http://schemas.microsoft.com/office/powerpoint/2010/main" val="17911562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35</a:t>
            </a:fld>
            <a:endParaRPr lang="en-US"/>
          </a:p>
        </p:txBody>
      </p:sp>
    </p:spTree>
    <p:extLst>
      <p:ext uri="{BB962C8B-B14F-4D97-AF65-F5344CB8AC3E}">
        <p14:creationId xmlns:p14="http://schemas.microsoft.com/office/powerpoint/2010/main" val="21364557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36</a:t>
            </a:fld>
            <a:endParaRPr lang="en-US"/>
          </a:p>
        </p:txBody>
      </p:sp>
    </p:spTree>
    <p:extLst>
      <p:ext uri="{BB962C8B-B14F-4D97-AF65-F5344CB8AC3E}">
        <p14:creationId xmlns:p14="http://schemas.microsoft.com/office/powerpoint/2010/main" val="25244599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37</a:t>
            </a:fld>
            <a:endParaRPr lang="en-US"/>
          </a:p>
        </p:txBody>
      </p:sp>
    </p:spTree>
    <p:extLst>
      <p:ext uri="{BB962C8B-B14F-4D97-AF65-F5344CB8AC3E}">
        <p14:creationId xmlns:p14="http://schemas.microsoft.com/office/powerpoint/2010/main" val="12961272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38</a:t>
            </a:fld>
            <a:endParaRPr lang="en-US"/>
          </a:p>
        </p:txBody>
      </p:sp>
    </p:spTree>
    <p:extLst>
      <p:ext uri="{BB962C8B-B14F-4D97-AF65-F5344CB8AC3E}">
        <p14:creationId xmlns:p14="http://schemas.microsoft.com/office/powerpoint/2010/main" val="58212669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39</a:t>
            </a:fld>
            <a:endParaRPr lang="en-US"/>
          </a:p>
        </p:txBody>
      </p:sp>
    </p:spTree>
    <p:extLst>
      <p:ext uri="{BB962C8B-B14F-4D97-AF65-F5344CB8AC3E}">
        <p14:creationId xmlns:p14="http://schemas.microsoft.com/office/powerpoint/2010/main" val="4295264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40</a:t>
            </a:fld>
            <a:endParaRPr lang="en-US"/>
          </a:p>
        </p:txBody>
      </p:sp>
    </p:spTree>
    <p:extLst>
      <p:ext uri="{BB962C8B-B14F-4D97-AF65-F5344CB8AC3E}">
        <p14:creationId xmlns:p14="http://schemas.microsoft.com/office/powerpoint/2010/main" val="102648836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41</a:t>
            </a:fld>
            <a:endParaRPr lang="en-US"/>
          </a:p>
        </p:txBody>
      </p:sp>
    </p:spTree>
    <p:extLst>
      <p:ext uri="{BB962C8B-B14F-4D97-AF65-F5344CB8AC3E}">
        <p14:creationId xmlns:p14="http://schemas.microsoft.com/office/powerpoint/2010/main" val="5230735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42</a:t>
            </a:fld>
            <a:endParaRPr lang="en-US"/>
          </a:p>
        </p:txBody>
      </p:sp>
    </p:spTree>
    <p:extLst>
      <p:ext uri="{BB962C8B-B14F-4D97-AF65-F5344CB8AC3E}">
        <p14:creationId xmlns:p14="http://schemas.microsoft.com/office/powerpoint/2010/main" val="29987322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43</a:t>
            </a:fld>
            <a:endParaRPr lang="en-US"/>
          </a:p>
        </p:txBody>
      </p:sp>
    </p:spTree>
    <p:extLst>
      <p:ext uri="{BB962C8B-B14F-4D97-AF65-F5344CB8AC3E}">
        <p14:creationId xmlns:p14="http://schemas.microsoft.com/office/powerpoint/2010/main" val="208471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44</a:t>
            </a:fld>
            <a:endParaRPr lang="en-US"/>
          </a:p>
        </p:txBody>
      </p:sp>
    </p:spTree>
    <p:extLst>
      <p:ext uri="{BB962C8B-B14F-4D97-AF65-F5344CB8AC3E}">
        <p14:creationId xmlns:p14="http://schemas.microsoft.com/office/powerpoint/2010/main" val="39843138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45</a:t>
            </a:fld>
            <a:endParaRPr lang="en-US"/>
          </a:p>
        </p:txBody>
      </p:sp>
    </p:spTree>
    <p:extLst>
      <p:ext uri="{BB962C8B-B14F-4D97-AF65-F5344CB8AC3E}">
        <p14:creationId xmlns:p14="http://schemas.microsoft.com/office/powerpoint/2010/main" val="23094901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46</a:t>
            </a:fld>
            <a:endParaRPr lang="en-US"/>
          </a:p>
        </p:txBody>
      </p:sp>
    </p:spTree>
    <p:extLst>
      <p:ext uri="{BB962C8B-B14F-4D97-AF65-F5344CB8AC3E}">
        <p14:creationId xmlns:p14="http://schemas.microsoft.com/office/powerpoint/2010/main" val="37168344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1E2172-D368-49F1-B189-09F5960A2415}" type="slidenum">
              <a:rPr lang="en-US" smtClean="0"/>
              <a:pPr/>
              <a:t>47</a:t>
            </a:fld>
            <a:endParaRPr lang="en-US"/>
          </a:p>
        </p:txBody>
      </p:sp>
    </p:spTree>
    <p:extLst>
      <p:ext uri="{BB962C8B-B14F-4D97-AF65-F5344CB8AC3E}">
        <p14:creationId xmlns:p14="http://schemas.microsoft.com/office/powerpoint/2010/main" val="26163766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E2A59D82-6C7D-43DD-9107-1F6E801B1F3A}" type="slidenum">
              <a:rPr lang="en-US"/>
              <a:pPr/>
              <a:t>48</a:t>
            </a:fld>
            <a:endParaRPr lang="en-US"/>
          </a:p>
        </p:txBody>
      </p:sp>
      <p:sp>
        <p:nvSpPr>
          <p:cNvPr id="4099" name="Rectangle 2"/>
          <p:cNvSpPr>
            <a:spLocks noGrp="1" noRot="1" noChangeAspect="1" noChangeArrowheads="1" noTextEdit="1"/>
          </p:cNvSpPr>
          <p:nvPr>
            <p:ph type="sldImg"/>
          </p:nvPr>
        </p:nvSpPr>
        <p:spPr>
          <a:xfrm>
            <a:off x="1150938" y="692150"/>
            <a:ext cx="4556125" cy="3416300"/>
          </a:xfrm>
          <a:ln/>
        </p:spPr>
      </p:sp>
      <p:sp>
        <p:nvSpPr>
          <p:cNvPr id="4100" name="Rectangle 3"/>
          <p:cNvSpPr>
            <a:spLocks noGrp="1" noChangeArrowheads="1"/>
          </p:cNvSpPr>
          <p:nvPr>
            <p:ph type="body" idx="1"/>
          </p:nvPr>
        </p:nvSpPr>
        <p:spPr>
          <a:noFill/>
        </p:spPr>
        <p:txBody>
          <a:bodyPr/>
          <a:lstStyle/>
          <a:p>
            <a:endParaRPr lang="en-US"/>
          </a:p>
        </p:txBody>
      </p:sp>
    </p:spTree>
    <p:extLst>
      <p:ext uri="{BB962C8B-B14F-4D97-AF65-F5344CB8AC3E}">
        <p14:creationId xmlns:p14="http://schemas.microsoft.com/office/powerpoint/2010/main" val="2532808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6" name="Slide Number Placeholder 5"/>
          <p:cNvSpPr>
            <a:spLocks noGrp="1"/>
          </p:cNvSpPr>
          <p:nvPr>
            <p:ph type="sldNum" sz="quarter" idx="12"/>
          </p:nvPr>
        </p:nvSpPr>
        <p:spPr/>
        <p:txBody>
          <a:bodyPr/>
          <a:lstStyle>
            <a:lvl1pPr>
              <a:defRPr/>
            </a:lvl1pPr>
          </a:lstStyle>
          <a:p>
            <a:fld id="{E97B02D8-34F9-42A3-A0A5-36CAB90B0237}" type="slidenum">
              <a:rPr lang="en-US"/>
              <a:pPr/>
              <a:t>‹#›</a:t>
            </a:fld>
            <a:endParaRPr lang="en-US"/>
          </a:p>
        </p:txBody>
      </p:sp>
    </p:spTree>
    <p:extLst>
      <p:ext uri="{BB962C8B-B14F-4D97-AF65-F5344CB8AC3E}">
        <p14:creationId xmlns:p14="http://schemas.microsoft.com/office/powerpoint/2010/main" val="1265269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6" name="Slide Number Placeholder 5"/>
          <p:cNvSpPr>
            <a:spLocks noGrp="1"/>
          </p:cNvSpPr>
          <p:nvPr>
            <p:ph type="sldNum" sz="quarter" idx="12"/>
          </p:nvPr>
        </p:nvSpPr>
        <p:spPr/>
        <p:txBody>
          <a:bodyPr/>
          <a:lstStyle>
            <a:lvl1pPr>
              <a:defRPr/>
            </a:lvl1pPr>
          </a:lstStyle>
          <a:p>
            <a:fld id="{9CEA8C81-C8CC-46DA-BC2B-0D3EC17BE2E5}" type="slidenum">
              <a:rPr lang="en-US"/>
              <a:pPr/>
              <a:t>‹#›</a:t>
            </a:fld>
            <a:endParaRPr lang="en-US"/>
          </a:p>
        </p:txBody>
      </p:sp>
    </p:spTree>
    <p:extLst>
      <p:ext uri="{BB962C8B-B14F-4D97-AF65-F5344CB8AC3E}">
        <p14:creationId xmlns:p14="http://schemas.microsoft.com/office/powerpoint/2010/main" val="1084113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6" name="Slide Number Placeholder 5"/>
          <p:cNvSpPr>
            <a:spLocks noGrp="1"/>
          </p:cNvSpPr>
          <p:nvPr>
            <p:ph type="sldNum" sz="quarter" idx="12"/>
          </p:nvPr>
        </p:nvSpPr>
        <p:spPr/>
        <p:txBody>
          <a:bodyPr/>
          <a:lstStyle>
            <a:lvl1pPr>
              <a:defRPr/>
            </a:lvl1pPr>
          </a:lstStyle>
          <a:p>
            <a:fld id="{6A8B90AB-C880-4F85-A658-1E80771DADCC}" type="slidenum">
              <a:rPr lang="en-US"/>
              <a:pPr/>
              <a:t>‹#›</a:t>
            </a:fld>
            <a:endParaRPr lang="en-US"/>
          </a:p>
        </p:txBody>
      </p:sp>
    </p:spTree>
    <p:extLst>
      <p:ext uri="{BB962C8B-B14F-4D97-AF65-F5344CB8AC3E}">
        <p14:creationId xmlns:p14="http://schemas.microsoft.com/office/powerpoint/2010/main" val="804321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7" name="Slide Number Placeholder 6"/>
          <p:cNvSpPr>
            <a:spLocks noGrp="1"/>
          </p:cNvSpPr>
          <p:nvPr>
            <p:ph type="sldNum" sz="quarter" idx="12"/>
          </p:nvPr>
        </p:nvSpPr>
        <p:spPr/>
        <p:txBody>
          <a:bodyPr/>
          <a:lstStyle>
            <a:lvl1pPr>
              <a:defRPr/>
            </a:lvl1pPr>
          </a:lstStyle>
          <a:p>
            <a:fld id="{69007088-CFED-4270-A613-6A82880CD791}" type="slidenum">
              <a:rPr lang="en-US"/>
              <a:pPr/>
              <a:t>‹#›</a:t>
            </a:fld>
            <a:endParaRPr lang="en-US"/>
          </a:p>
        </p:txBody>
      </p:sp>
    </p:spTree>
    <p:extLst>
      <p:ext uri="{BB962C8B-B14F-4D97-AF65-F5344CB8AC3E}">
        <p14:creationId xmlns:p14="http://schemas.microsoft.com/office/powerpoint/2010/main" val="1925154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9" name="Slide Number Placeholder 8"/>
          <p:cNvSpPr>
            <a:spLocks noGrp="1"/>
          </p:cNvSpPr>
          <p:nvPr>
            <p:ph type="sldNum" sz="quarter" idx="12"/>
          </p:nvPr>
        </p:nvSpPr>
        <p:spPr/>
        <p:txBody>
          <a:bodyPr/>
          <a:lstStyle>
            <a:lvl1pPr>
              <a:defRPr/>
            </a:lvl1pPr>
          </a:lstStyle>
          <a:p>
            <a:fld id="{0F5FE072-AA92-4867-9509-676C4B2E9014}" type="slidenum">
              <a:rPr lang="en-US"/>
              <a:pPr/>
              <a:t>‹#›</a:t>
            </a:fld>
            <a:endParaRPr lang="en-US"/>
          </a:p>
        </p:txBody>
      </p:sp>
    </p:spTree>
    <p:extLst>
      <p:ext uri="{BB962C8B-B14F-4D97-AF65-F5344CB8AC3E}">
        <p14:creationId xmlns:p14="http://schemas.microsoft.com/office/powerpoint/2010/main" val="2562153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5" name="Slide Number Placeholder 4"/>
          <p:cNvSpPr>
            <a:spLocks noGrp="1"/>
          </p:cNvSpPr>
          <p:nvPr>
            <p:ph type="sldNum" sz="quarter" idx="12"/>
          </p:nvPr>
        </p:nvSpPr>
        <p:spPr/>
        <p:txBody>
          <a:bodyPr/>
          <a:lstStyle>
            <a:lvl1pPr>
              <a:defRPr/>
            </a:lvl1pPr>
          </a:lstStyle>
          <a:p>
            <a:fld id="{E3193520-01D5-4272-A3B2-355BC5F1A46D}" type="slidenum">
              <a:rPr lang="en-US"/>
              <a:pPr/>
              <a:t>‹#›</a:t>
            </a:fld>
            <a:endParaRPr lang="en-US"/>
          </a:p>
        </p:txBody>
      </p:sp>
    </p:spTree>
    <p:extLst>
      <p:ext uri="{BB962C8B-B14F-4D97-AF65-F5344CB8AC3E}">
        <p14:creationId xmlns:p14="http://schemas.microsoft.com/office/powerpoint/2010/main" val="1906588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4" name="Slide Number Placeholder 3"/>
          <p:cNvSpPr>
            <a:spLocks noGrp="1"/>
          </p:cNvSpPr>
          <p:nvPr>
            <p:ph type="sldNum" sz="quarter" idx="12"/>
          </p:nvPr>
        </p:nvSpPr>
        <p:spPr/>
        <p:txBody>
          <a:bodyPr/>
          <a:lstStyle>
            <a:lvl1pPr>
              <a:defRPr/>
            </a:lvl1pPr>
          </a:lstStyle>
          <a:p>
            <a:fld id="{1AA6668E-FBED-4901-A278-C75F5B5CE659}" type="slidenum">
              <a:rPr lang="en-US"/>
              <a:pPr/>
              <a:t>‹#›</a:t>
            </a:fld>
            <a:endParaRPr lang="en-US"/>
          </a:p>
        </p:txBody>
      </p:sp>
    </p:spTree>
    <p:extLst>
      <p:ext uri="{BB962C8B-B14F-4D97-AF65-F5344CB8AC3E}">
        <p14:creationId xmlns:p14="http://schemas.microsoft.com/office/powerpoint/2010/main" val="1753083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7" name="Slide Number Placeholder 6"/>
          <p:cNvSpPr>
            <a:spLocks noGrp="1"/>
          </p:cNvSpPr>
          <p:nvPr>
            <p:ph type="sldNum" sz="quarter" idx="12"/>
          </p:nvPr>
        </p:nvSpPr>
        <p:spPr/>
        <p:txBody>
          <a:bodyPr/>
          <a:lstStyle>
            <a:lvl1pPr>
              <a:defRPr/>
            </a:lvl1pPr>
          </a:lstStyle>
          <a:p>
            <a:fld id="{50530F7E-7B98-4BD7-8D4B-8A5512718B21}" type="slidenum">
              <a:rPr lang="en-US"/>
              <a:pPr/>
              <a:t>‹#›</a:t>
            </a:fld>
            <a:endParaRPr lang="en-US"/>
          </a:p>
        </p:txBody>
      </p:sp>
    </p:spTree>
    <p:extLst>
      <p:ext uri="{BB962C8B-B14F-4D97-AF65-F5344CB8AC3E}">
        <p14:creationId xmlns:p14="http://schemas.microsoft.com/office/powerpoint/2010/main" val="2084755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7" name="Slide Number Placeholder 6"/>
          <p:cNvSpPr>
            <a:spLocks noGrp="1"/>
          </p:cNvSpPr>
          <p:nvPr>
            <p:ph type="sldNum" sz="quarter" idx="12"/>
          </p:nvPr>
        </p:nvSpPr>
        <p:spPr/>
        <p:txBody>
          <a:bodyPr/>
          <a:lstStyle>
            <a:lvl1pPr>
              <a:defRPr/>
            </a:lvl1pPr>
          </a:lstStyle>
          <a:p>
            <a:fld id="{20477EE8-7FCE-4143-98F3-A41784D04E7E}" type="slidenum">
              <a:rPr lang="en-US"/>
              <a:pPr/>
              <a:t>‹#›</a:t>
            </a:fld>
            <a:endParaRPr lang="en-US"/>
          </a:p>
        </p:txBody>
      </p:sp>
    </p:spTree>
    <p:extLst>
      <p:ext uri="{BB962C8B-B14F-4D97-AF65-F5344CB8AC3E}">
        <p14:creationId xmlns:p14="http://schemas.microsoft.com/office/powerpoint/2010/main" val="655756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6" name="Slide Number Placeholder 5"/>
          <p:cNvSpPr>
            <a:spLocks noGrp="1"/>
          </p:cNvSpPr>
          <p:nvPr>
            <p:ph type="sldNum" sz="quarter" idx="12"/>
          </p:nvPr>
        </p:nvSpPr>
        <p:spPr/>
        <p:txBody>
          <a:bodyPr/>
          <a:lstStyle>
            <a:lvl1pPr>
              <a:defRPr/>
            </a:lvl1pPr>
          </a:lstStyle>
          <a:p>
            <a:fld id="{ED0B76AC-DE63-4A3F-A21B-1FBCA32C75A5}" type="slidenum">
              <a:rPr lang="en-US"/>
              <a:pPr/>
              <a:t>‹#›</a:t>
            </a:fld>
            <a:endParaRPr lang="en-US"/>
          </a:p>
        </p:txBody>
      </p:sp>
    </p:spTree>
    <p:extLst>
      <p:ext uri="{BB962C8B-B14F-4D97-AF65-F5344CB8AC3E}">
        <p14:creationId xmlns:p14="http://schemas.microsoft.com/office/powerpoint/2010/main" val="4233133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dirty="0"/>
              <a:t>© 2017 Cengage Learning. All Rights Reserved. May not be scanned, copied or duplicated, or posted to a publicly accessible website, in whole or in part.</a:t>
            </a:r>
          </a:p>
        </p:txBody>
      </p:sp>
      <p:sp>
        <p:nvSpPr>
          <p:cNvPr id="6" name="Slide Number Placeholder 5"/>
          <p:cNvSpPr>
            <a:spLocks noGrp="1"/>
          </p:cNvSpPr>
          <p:nvPr>
            <p:ph type="sldNum" sz="quarter" idx="12"/>
          </p:nvPr>
        </p:nvSpPr>
        <p:spPr/>
        <p:txBody>
          <a:bodyPr/>
          <a:lstStyle>
            <a:lvl1pPr>
              <a:defRPr/>
            </a:lvl1pPr>
          </a:lstStyle>
          <a:p>
            <a:fld id="{DADBCFCF-AC95-4B64-9BA1-E171E8E6BB51}" type="slidenum">
              <a:rPr lang="en-US"/>
              <a:pPr/>
              <a:t>‹#›</a:t>
            </a:fld>
            <a:endParaRPr lang="en-US"/>
          </a:p>
        </p:txBody>
      </p:sp>
    </p:spTree>
    <p:extLst>
      <p:ext uri="{BB962C8B-B14F-4D97-AF65-F5344CB8AC3E}">
        <p14:creationId xmlns:p14="http://schemas.microsoft.com/office/powerpoint/2010/main" val="2880024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71683"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1684"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71685"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r>
              <a:rPr lang="en-US" dirty="0"/>
              <a:t>© 2017 Cengage Learning. All Rights Reserved. May not be scanned, copied or duplicated, or posted to a publicly accessible website, in whole or in part.</a:t>
            </a:r>
          </a:p>
        </p:txBody>
      </p:sp>
      <p:sp>
        <p:nvSpPr>
          <p:cNvPr id="71686"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F4D73EEB-700E-41C2-BA1F-E42E5C94CA14}" type="slidenum">
              <a:rPr lang="en-US"/>
              <a:pPr/>
              <a:t>‹#›</a:t>
            </a:fld>
            <a:endParaRPr lang="en-US"/>
          </a:p>
        </p:txBody>
      </p:sp>
    </p:spTree>
  </p:cSld>
  <p:clrMap bg1="dk2" tx1="lt1" bg2="dk1"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hf sldNum="0" hd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cs typeface="Arial" charset="0"/>
        </a:defRPr>
      </a:lvl2pPr>
      <a:lvl3pPr algn="ctr" rtl="0" fontAlgn="base">
        <a:spcBef>
          <a:spcPct val="0"/>
        </a:spcBef>
        <a:spcAft>
          <a:spcPct val="0"/>
        </a:spcAft>
        <a:defRPr sz="4400">
          <a:solidFill>
            <a:schemeClr val="tx2"/>
          </a:solidFill>
          <a:latin typeface="Arial" charset="0"/>
          <a:cs typeface="Arial" charset="0"/>
        </a:defRPr>
      </a:lvl3pPr>
      <a:lvl4pPr algn="ctr" rtl="0" fontAlgn="base">
        <a:spcBef>
          <a:spcPct val="0"/>
        </a:spcBef>
        <a:spcAft>
          <a:spcPct val="0"/>
        </a:spcAft>
        <a:defRPr sz="4400">
          <a:solidFill>
            <a:schemeClr val="tx2"/>
          </a:solidFill>
          <a:latin typeface="Arial" charset="0"/>
          <a:cs typeface="Arial" charset="0"/>
        </a:defRPr>
      </a:lvl4pPr>
      <a:lvl5pPr algn="ctr" rtl="0" fontAlgn="base">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fontAlgn="base">
        <a:spcBef>
          <a:spcPct val="20000"/>
        </a:spcBef>
        <a:spcAft>
          <a:spcPct val="0"/>
        </a:spcAft>
        <a:buClr>
          <a:schemeClr val="hlink"/>
        </a:buClr>
        <a:buFont typeface="Wingdings" pitchFamily="2" charset="2"/>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cs typeface="+mn-cs"/>
        </a:defRPr>
      </a:lvl2pPr>
      <a:lvl3pPr marL="1143000" indent="-228600" algn="l" rtl="0" fontAlgn="base">
        <a:spcBef>
          <a:spcPct val="20000"/>
        </a:spcBef>
        <a:spcAft>
          <a:spcPct val="0"/>
        </a:spcAft>
        <a:buFont typeface="Wingdings" pitchFamily="2" charset="2"/>
        <a:buChar char="Ø"/>
        <a:defRPr sz="2400">
          <a:solidFill>
            <a:schemeClr val="tx1"/>
          </a:solidFill>
          <a:latin typeface="+mn-lt"/>
          <a:cs typeface="+mn-cs"/>
        </a:defRPr>
      </a:lvl3pPr>
      <a:lvl4pPr marL="1600200" indent="-228600" algn="l" rtl="0" fontAlgn="base">
        <a:spcBef>
          <a:spcPct val="20000"/>
        </a:spcBef>
        <a:spcAft>
          <a:spcPct val="0"/>
        </a:spcAft>
        <a:buChar char="–"/>
        <a:defRPr sz="2000">
          <a:solidFill>
            <a:schemeClr val="tx1"/>
          </a:solidFill>
          <a:latin typeface="+mn-lt"/>
          <a:cs typeface="+mn-cs"/>
        </a:defRPr>
      </a:lvl4pPr>
      <a:lvl5pPr marL="2057400" indent="-228600" algn="l" rtl="0" fontAlgn="base">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Fig5-2.xlsm"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Fig5-7.xlsm"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Fig5-17.xlsm"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Fig5-23.xlsm"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Fig5-26.xlsm"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1219200"/>
            <a:ext cx="7772400" cy="1143000"/>
          </a:xfrm>
          <a:noFill/>
        </p:spPr>
        <p:txBody>
          <a:bodyPr lIns="92075" tIns="46038" rIns="92075" bIns="46038"/>
          <a:lstStyle/>
          <a:p>
            <a:pPr eaLnBrk="1" hangingPunct="1"/>
            <a:r>
              <a:rPr lang="en-US" b="1" i="1">
                <a:solidFill>
                  <a:schemeClr val="hlink"/>
                </a:solidFill>
              </a:rPr>
              <a:t>Spreadsheet Modeling </a:t>
            </a:r>
            <a:br>
              <a:rPr lang="en-US" b="1" i="1">
                <a:solidFill>
                  <a:schemeClr val="hlink"/>
                </a:solidFill>
              </a:rPr>
            </a:br>
            <a:r>
              <a:rPr lang="en-US" b="1" i="1">
                <a:solidFill>
                  <a:schemeClr val="hlink"/>
                </a:solidFill>
              </a:rPr>
              <a:t>&amp; Decision Analysis</a:t>
            </a:r>
          </a:p>
        </p:txBody>
      </p:sp>
      <p:sp>
        <p:nvSpPr>
          <p:cNvPr id="2051" name="Rectangle 3"/>
          <p:cNvSpPr>
            <a:spLocks noGrp="1" noChangeArrowheads="1"/>
          </p:cNvSpPr>
          <p:nvPr>
            <p:ph type="subTitle" idx="1"/>
          </p:nvPr>
        </p:nvSpPr>
        <p:spPr>
          <a:xfrm>
            <a:off x="1371600" y="2895600"/>
            <a:ext cx="6400800" cy="1752600"/>
          </a:xfrm>
          <a:noFill/>
        </p:spPr>
        <p:txBody>
          <a:bodyPr lIns="92075" tIns="46038" rIns="92075" bIns="46038"/>
          <a:lstStyle/>
          <a:p>
            <a:pPr eaLnBrk="1" hangingPunct="1"/>
            <a:r>
              <a:rPr lang="en-US" dirty="0"/>
              <a:t>A Practical Introduction to Business Analytics</a:t>
            </a:r>
          </a:p>
          <a:p>
            <a:pPr eaLnBrk="1" hangingPunct="1"/>
            <a:r>
              <a:rPr lang="en-US" sz="2400"/>
              <a:t>8</a:t>
            </a:r>
            <a:r>
              <a:rPr lang="en-US" sz="2400" baseline="30000"/>
              <a:t>th</a:t>
            </a:r>
            <a:r>
              <a:rPr lang="en-US" sz="2400"/>
              <a:t> </a:t>
            </a:r>
            <a:r>
              <a:rPr lang="en-US" sz="2400" dirty="0"/>
              <a:t>edition</a:t>
            </a:r>
          </a:p>
          <a:p>
            <a:pPr eaLnBrk="1" hangingPunct="1"/>
            <a:endParaRPr lang="en-US" dirty="0"/>
          </a:p>
          <a:p>
            <a:pPr eaLnBrk="1" hangingPunct="1"/>
            <a:r>
              <a:rPr lang="en-US" dirty="0"/>
              <a:t>Cliff T. Ragsdale</a:t>
            </a:r>
          </a:p>
          <a:p>
            <a:pPr eaLnBrk="1" hangingPunct="1"/>
            <a:endParaRPr lang="en-US" dirty="0"/>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86600" y="4424184"/>
            <a:ext cx="1615440" cy="2019300"/>
          </a:xfrm>
          <a:prstGeom prst="rect">
            <a:avLst/>
          </a:prstGeom>
        </p:spPr>
      </p:pic>
    </p:spTree>
    <p:extLst>
      <p:ext uri="{BB962C8B-B14F-4D97-AF65-F5344CB8AC3E}">
        <p14:creationId xmlns:p14="http://schemas.microsoft.com/office/powerpoint/2010/main" val="3480729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85800" y="2209800"/>
            <a:ext cx="7772400" cy="2362200"/>
          </a:xfrm>
          <a:noFill/>
          <a:ln/>
        </p:spPr>
        <p:txBody>
          <a:bodyPr lIns="92075" tIns="46038" rIns="92075" bIns="46038"/>
          <a:lstStyle/>
          <a:p>
            <a:r>
              <a:rPr lang="en-US">
                <a:solidFill>
                  <a:schemeClr val="tx1"/>
                </a:solidFill>
              </a:rPr>
              <a:t>Network Modeling</a:t>
            </a:r>
          </a:p>
        </p:txBody>
      </p:sp>
      <p:sp>
        <p:nvSpPr>
          <p:cNvPr id="6147" name="Rectangle 3"/>
          <p:cNvSpPr>
            <a:spLocks noChangeArrowheads="1"/>
          </p:cNvSpPr>
          <p:nvPr/>
        </p:nvSpPr>
        <p:spPr bwMode="auto">
          <a:xfrm>
            <a:off x="762000" y="1622425"/>
            <a:ext cx="7772400"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eaLnBrk="0" hangingPunct="0"/>
            <a:r>
              <a:rPr lang="en-US" sz="4400" b="1" i="1">
                <a:solidFill>
                  <a:schemeClr val="hlink"/>
                </a:solidFill>
                <a:latin typeface="Tahoma" pitchFamily="34" charset="0"/>
              </a:rPr>
              <a:t>Chapter 5</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5800" y="504825"/>
            <a:ext cx="7772400" cy="482600"/>
          </a:xfrm>
          <a:noFill/>
          <a:ln/>
        </p:spPr>
        <p:txBody>
          <a:bodyPr lIns="92075" tIns="46038" rIns="92075" bIns="46038"/>
          <a:lstStyle/>
          <a:p>
            <a:r>
              <a:rPr lang="en-US" sz="4000" i="1">
                <a:solidFill>
                  <a:schemeClr val="hlink"/>
                </a:solidFill>
              </a:rPr>
              <a:t>Introduction</a:t>
            </a:r>
          </a:p>
        </p:txBody>
      </p:sp>
      <p:sp>
        <p:nvSpPr>
          <p:cNvPr id="7171" name="Rectangle 3"/>
          <p:cNvSpPr>
            <a:spLocks noGrp="1" noChangeArrowheads="1"/>
          </p:cNvSpPr>
          <p:nvPr>
            <p:ph type="body" idx="1"/>
          </p:nvPr>
        </p:nvSpPr>
        <p:spPr>
          <a:xfrm>
            <a:off x="381000" y="1143000"/>
            <a:ext cx="8382000" cy="5157788"/>
          </a:xfrm>
          <a:noFill/>
          <a:ln/>
        </p:spPr>
        <p:txBody>
          <a:bodyPr lIns="92075" tIns="46038" rIns="92075" bIns="46038"/>
          <a:lstStyle/>
          <a:p>
            <a:r>
              <a:rPr lang="en-US" sz="2800" dirty="0"/>
              <a:t>A number of business problems can be represented graphically as networks.</a:t>
            </a:r>
          </a:p>
          <a:p>
            <a:r>
              <a:rPr lang="en-US" sz="2800" dirty="0"/>
              <a:t>This chapter focuses on several such problems:</a:t>
            </a:r>
          </a:p>
          <a:p>
            <a:pPr marL="1362075" lvl="1"/>
            <a:r>
              <a:rPr lang="en-US" sz="2400" dirty="0"/>
              <a:t>Transshipment Problems</a:t>
            </a:r>
          </a:p>
          <a:p>
            <a:pPr marL="1362075" lvl="1"/>
            <a:r>
              <a:rPr lang="en-US" sz="2400" dirty="0"/>
              <a:t>Shortest Path Problems</a:t>
            </a:r>
          </a:p>
          <a:p>
            <a:pPr marL="1362075" lvl="1"/>
            <a:r>
              <a:rPr lang="en-US" sz="2400" dirty="0"/>
              <a:t>Maximal Flow Problems</a:t>
            </a:r>
          </a:p>
          <a:p>
            <a:pPr marL="1362075" lvl="1"/>
            <a:r>
              <a:rPr lang="en-US" sz="2400" dirty="0"/>
              <a:t>Transportation/Assignment Problems</a:t>
            </a:r>
          </a:p>
          <a:p>
            <a:pPr marL="1362075" lvl="1"/>
            <a:r>
              <a:rPr lang="en-US" sz="2400" dirty="0"/>
              <a:t>Generalized Network Flow Problems</a:t>
            </a:r>
          </a:p>
          <a:p>
            <a:pPr marL="1362075" lvl="1"/>
            <a:r>
              <a:rPr lang="en-US" sz="2400" dirty="0"/>
              <a:t>The Minimum Spanning Tree Problem</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717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717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717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717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7171">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7171">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7171">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717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bldLvl="2"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85800" y="609600"/>
            <a:ext cx="7924800" cy="990600"/>
          </a:xfrm>
          <a:noFill/>
          <a:ln/>
        </p:spPr>
        <p:txBody>
          <a:bodyPr lIns="92075" tIns="46038" rIns="92075" bIns="46038"/>
          <a:lstStyle/>
          <a:p>
            <a:pPr>
              <a:lnSpc>
                <a:spcPct val="80000"/>
              </a:lnSpc>
            </a:pPr>
            <a:r>
              <a:rPr lang="en-US" sz="4000" i="1">
                <a:solidFill>
                  <a:schemeClr val="hlink"/>
                </a:solidFill>
              </a:rPr>
              <a:t>Network Flow Problem Characteristics</a:t>
            </a:r>
          </a:p>
        </p:txBody>
      </p:sp>
      <p:sp>
        <p:nvSpPr>
          <p:cNvPr id="8195" name="Rectangle 3"/>
          <p:cNvSpPr>
            <a:spLocks noGrp="1" noChangeArrowheads="1"/>
          </p:cNvSpPr>
          <p:nvPr>
            <p:ph type="body" idx="1"/>
          </p:nvPr>
        </p:nvSpPr>
        <p:spPr>
          <a:xfrm>
            <a:off x="304800" y="1714500"/>
            <a:ext cx="8305800" cy="4381500"/>
          </a:xfrm>
          <a:noFill/>
          <a:ln/>
        </p:spPr>
        <p:txBody>
          <a:bodyPr lIns="92075" tIns="46038" rIns="92075" bIns="46038"/>
          <a:lstStyle/>
          <a:p>
            <a:r>
              <a:rPr lang="en-US" sz="2800" dirty="0"/>
              <a:t>Network flow problems can be represented as a collection of nodes connected by arcs.</a:t>
            </a:r>
          </a:p>
          <a:p>
            <a:r>
              <a:rPr lang="en-US" sz="2800" dirty="0"/>
              <a:t>There are three types of nodes:</a:t>
            </a:r>
          </a:p>
          <a:p>
            <a:pPr lvl="1"/>
            <a:r>
              <a:rPr lang="en-US" dirty="0"/>
              <a:t>Supply</a:t>
            </a:r>
          </a:p>
          <a:p>
            <a:pPr lvl="1"/>
            <a:r>
              <a:rPr lang="en-US" dirty="0"/>
              <a:t>Demand</a:t>
            </a:r>
          </a:p>
          <a:p>
            <a:pPr lvl="1"/>
            <a:r>
              <a:rPr lang="en-US" dirty="0"/>
              <a:t>Transshipment</a:t>
            </a:r>
          </a:p>
          <a:p>
            <a:r>
              <a:rPr lang="en-US" sz="2800" dirty="0"/>
              <a:t>We’ll use negative numbers to represent supplies and positive numbers to represent demand.</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81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19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819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819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8195">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81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uiExpand="1" build="p" bldLvl="2"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28600" y="407988"/>
            <a:ext cx="8610600" cy="887412"/>
          </a:xfrm>
          <a:noFill/>
          <a:ln/>
        </p:spPr>
        <p:txBody>
          <a:bodyPr lIns="92075" tIns="46038" rIns="92075" bIns="46038"/>
          <a:lstStyle/>
          <a:p>
            <a:pPr>
              <a:lnSpc>
                <a:spcPct val="70000"/>
              </a:lnSpc>
            </a:pPr>
            <a:r>
              <a:rPr lang="en-US" sz="4000" i="1">
                <a:solidFill>
                  <a:schemeClr val="hlink"/>
                </a:solidFill>
              </a:rPr>
              <a:t>A Transshipment Problem:</a:t>
            </a:r>
            <a:br>
              <a:rPr lang="en-US" sz="4000" i="1">
                <a:solidFill>
                  <a:schemeClr val="hlink"/>
                </a:solidFill>
              </a:rPr>
            </a:br>
            <a:r>
              <a:rPr lang="en-US" sz="4000" i="1">
                <a:solidFill>
                  <a:schemeClr val="hlink"/>
                </a:solidFill>
              </a:rPr>
              <a:t>The Bavarian Motor Company</a:t>
            </a:r>
          </a:p>
        </p:txBody>
      </p:sp>
      <p:sp>
        <p:nvSpPr>
          <p:cNvPr id="9219" name="Freeform 3"/>
          <p:cNvSpPr>
            <a:spLocks/>
          </p:cNvSpPr>
          <p:nvPr/>
        </p:nvSpPr>
        <p:spPr bwMode="auto">
          <a:xfrm>
            <a:off x="5932488" y="2017713"/>
            <a:ext cx="995362" cy="936625"/>
          </a:xfrm>
          <a:custGeom>
            <a:avLst/>
            <a:gdLst>
              <a:gd name="T0" fmla="*/ 626 w 627"/>
              <a:gd name="T1" fmla="*/ 294 h 590"/>
              <a:gd name="T2" fmla="*/ 624 w 627"/>
              <a:gd name="T3" fmla="*/ 264 h 590"/>
              <a:gd name="T4" fmla="*/ 619 w 627"/>
              <a:gd name="T5" fmla="*/ 235 h 590"/>
              <a:gd name="T6" fmla="*/ 601 w 627"/>
              <a:gd name="T7" fmla="*/ 180 h 590"/>
              <a:gd name="T8" fmla="*/ 572 w 627"/>
              <a:gd name="T9" fmla="*/ 130 h 590"/>
              <a:gd name="T10" fmla="*/ 534 w 627"/>
              <a:gd name="T11" fmla="*/ 86 h 590"/>
              <a:gd name="T12" fmla="*/ 488 w 627"/>
              <a:gd name="T13" fmla="*/ 50 h 590"/>
              <a:gd name="T14" fmla="*/ 435 w 627"/>
              <a:gd name="T15" fmla="*/ 23 h 590"/>
              <a:gd name="T16" fmla="*/ 376 w 627"/>
              <a:gd name="T17" fmla="*/ 6 h 590"/>
              <a:gd name="T18" fmla="*/ 313 w 627"/>
              <a:gd name="T19" fmla="*/ 0 h 590"/>
              <a:gd name="T20" fmla="*/ 250 w 627"/>
              <a:gd name="T21" fmla="*/ 6 h 590"/>
              <a:gd name="T22" fmla="*/ 191 w 627"/>
              <a:gd name="T23" fmla="*/ 23 h 590"/>
              <a:gd name="T24" fmla="*/ 138 w 627"/>
              <a:gd name="T25" fmla="*/ 50 h 590"/>
              <a:gd name="T26" fmla="*/ 91 w 627"/>
              <a:gd name="T27" fmla="*/ 86 h 590"/>
              <a:gd name="T28" fmla="*/ 53 w 627"/>
              <a:gd name="T29" fmla="*/ 130 h 590"/>
              <a:gd name="T30" fmla="*/ 24 w 627"/>
              <a:gd name="T31" fmla="*/ 180 h 590"/>
              <a:gd name="T32" fmla="*/ 6 w 627"/>
              <a:gd name="T33" fmla="*/ 235 h 590"/>
              <a:gd name="T34" fmla="*/ 1 w 627"/>
              <a:gd name="T35" fmla="*/ 264 h 590"/>
              <a:gd name="T36" fmla="*/ 0 w 627"/>
              <a:gd name="T37" fmla="*/ 294 h 590"/>
              <a:gd name="T38" fmla="*/ 6 w 627"/>
              <a:gd name="T39" fmla="*/ 354 h 590"/>
              <a:gd name="T40" fmla="*/ 24 w 627"/>
              <a:gd name="T41" fmla="*/ 409 h 590"/>
              <a:gd name="T42" fmla="*/ 53 w 627"/>
              <a:gd name="T43" fmla="*/ 459 h 590"/>
              <a:gd name="T44" fmla="*/ 91 w 627"/>
              <a:gd name="T45" fmla="*/ 502 h 590"/>
              <a:gd name="T46" fmla="*/ 138 w 627"/>
              <a:gd name="T47" fmla="*/ 538 h 590"/>
              <a:gd name="T48" fmla="*/ 191 w 627"/>
              <a:gd name="T49" fmla="*/ 565 h 590"/>
              <a:gd name="T50" fmla="*/ 250 w 627"/>
              <a:gd name="T51" fmla="*/ 583 h 590"/>
              <a:gd name="T52" fmla="*/ 313 w 627"/>
              <a:gd name="T53" fmla="*/ 589 h 590"/>
              <a:gd name="T54" fmla="*/ 376 w 627"/>
              <a:gd name="T55" fmla="*/ 583 h 590"/>
              <a:gd name="T56" fmla="*/ 435 w 627"/>
              <a:gd name="T57" fmla="*/ 565 h 590"/>
              <a:gd name="T58" fmla="*/ 488 w 627"/>
              <a:gd name="T59" fmla="*/ 538 h 590"/>
              <a:gd name="T60" fmla="*/ 534 w 627"/>
              <a:gd name="T61" fmla="*/ 502 h 590"/>
              <a:gd name="T62" fmla="*/ 572 w 627"/>
              <a:gd name="T63" fmla="*/ 459 h 590"/>
              <a:gd name="T64" fmla="*/ 601 w 627"/>
              <a:gd name="T65" fmla="*/ 409 h 590"/>
              <a:gd name="T66" fmla="*/ 619 w 627"/>
              <a:gd name="T67" fmla="*/ 354 h 590"/>
              <a:gd name="T68" fmla="*/ 626 w 627"/>
              <a:gd name="T69" fmla="*/ 294 h 590"/>
              <a:gd name="T70" fmla="*/ 626 w 627"/>
              <a:gd name="T71" fmla="*/ 294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27" h="590">
                <a:moveTo>
                  <a:pt x="626" y="294"/>
                </a:moveTo>
                <a:lnTo>
                  <a:pt x="624" y="264"/>
                </a:lnTo>
                <a:lnTo>
                  <a:pt x="619" y="235"/>
                </a:lnTo>
                <a:lnTo>
                  <a:pt x="601" y="180"/>
                </a:lnTo>
                <a:lnTo>
                  <a:pt x="572" y="130"/>
                </a:lnTo>
                <a:lnTo>
                  <a:pt x="534" y="86"/>
                </a:lnTo>
                <a:lnTo>
                  <a:pt x="488" y="50"/>
                </a:lnTo>
                <a:lnTo>
                  <a:pt x="435" y="23"/>
                </a:lnTo>
                <a:lnTo>
                  <a:pt x="376" y="6"/>
                </a:lnTo>
                <a:lnTo>
                  <a:pt x="313" y="0"/>
                </a:lnTo>
                <a:lnTo>
                  <a:pt x="250" y="6"/>
                </a:lnTo>
                <a:lnTo>
                  <a:pt x="191" y="23"/>
                </a:lnTo>
                <a:lnTo>
                  <a:pt x="138" y="50"/>
                </a:lnTo>
                <a:lnTo>
                  <a:pt x="91" y="86"/>
                </a:lnTo>
                <a:lnTo>
                  <a:pt x="53" y="130"/>
                </a:lnTo>
                <a:lnTo>
                  <a:pt x="24" y="180"/>
                </a:lnTo>
                <a:lnTo>
                  <a:pt x="6" y="235"/>
                </a:lnTo>
                <a:lnTo>
                  <a:pt x="1" y="264"/>
                </a:lnTo>
                <a:lnTo>
                  <a:pt x="0" y="294"/>
                </a:lnTo>
                <a:lnTo>
                  <a:pt x="6" y="354"/>
                </a:lnTo>
                <a:lnTo>
                  <a:pt x="24" y="409"/>
                </a:lnTo>
                <a:lnTo>
                  <a:pt x="53" y="459"/>
                </a:lnTo>
                <a:lnTo>
                  <a:pt x="91" y="502"/>
                </a:lnTo>
                <a:lnTo>
                  <a:pt x="138" y="538"/>
                </a:lnTo>
                <a:lnTo>
                  <a:pt x="191" y="565"/>
                </a:lnTo>
                <a:lnTo>
                  <a:pt x="250" y="583"/>
                </a:lnTo>
                <a:lnTo>
                  <a:pt x="313" y="589"/>
                </a:lnTo>
                <a:lnTo>
                  <a:pt x="376" y="583"/>
                </a:lnTo>
                <a:lnTo>
                  <a:pt x="435" y="565"/>
                </a:lnTo>
                <a:lnTo>
                  <a:pt x="488" y="538"/>
                </a:lnTo>
                <a:lnTo>
                  <a:pt x="534" y="502"/>
                </a:lnTo>
                <a:lnTo>
                  <a:pt x="572" y="459"/>
                </a:lnTo>
                <a:lnTo>
                  <a:pt x="601" y="409"/>
                </a:lnTo>
                <a:lnTo>
                  <a:pt x="619" y="354"/>
                </a:lnTo>
                <a:lnTo>
                  <a:pt x="626" y="294"/>
                </a:lnTo>
                <a:lnTo>
                  <a:pt x="626" y="29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Rectangle 4"/>
          <p:cNvSpPr>
            <a:spLocks noChangeArrowheads="1"/>
          </p:cNvSpPr>
          <p:nvPr/>
        </p:nvSpPr>
        <p:spPr bwMode="auto">
          <a:xfrm>
            <a:off x="5991225" y="2263775"/>
            <a:ext cx="8620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chemeClr val="accent1"/>
                </a:solidFill>
              </a:rPr>
              <a:t>Newark</a:t>
            </a:r>
          </a:p>
        </p:txBody>
      </p:sp>
      <p:sp>
        <p:nvSpPr>
          <p:cNvPr id="9221" name="Rectangle 5"/>
          <p:cNvSpPr>
            <a:spLocks noChangeArrowheads="1"/>
          </p:cNvSpPr>
          <p:nvPr/>
        </p:nvSpPr>
        <p:spPr bwMode="auto">
          <a:xfrm>
            <a:off x="6280150" y="2517775"/>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chemeClr val="accent1"/>
                </a:solidFill>
              </a:rPr>
              <a:t>1</a:t>
            </a:r>
          </a:p>
        </p:txBody>
      </p:sp>
      <p:sp>
        <p:nvSpPr>
          <p:cNvPr id="9222" name="Freeform 6"/>
          <p:cNvSpPr>
            <a:spLocks/>
          </p:cNvSpPr>
          <p:nvPr/>
        </p:nvSpPr>
        <p:spPr bwMode="auto">
          <a:xfrm>
            <a:off x="3690938" y="1681163"/>
            <a:ext cx="995362" cy="936625"/>
          </a:xfrm>
          <a:custGeom>
            <a:avLst/>
            <a:gdLst>
              <a:gd name="T0" fmla="*/ 626 w 627"/>
              <a:gd name="T1" fmla="*/ 295 h 590"/>
              <a:gd name="T2" fmla="*/ 625 w 627"/>
              <a:gd name="T3" fmla="*/ 264 h 590"/>
              <a:gd name="T4" fmla="*/ 620 w 627"/>
              <a:gd name="T5" fmla="*/ 235 h 590"/>
              <a:gd name="T6" fmla="*/ 602 w 627"/>
              <a:gd name="T7" fmla="*/ 180 h 590"/>
              <a:gd name="T8" fmla="*/ 573 w 627"/>
              <a:gd name="T9" fmla="*/ 130 h 590"/>
              <a:gd name="T10" fmla="*/ 535 w 627"/>
              <a:gd name="T11" fmla="*/ 86 h 590"/>
              <a:gd name="T12" fmla="*/ 488 w 627"/>
              <a:gd name="T13" fmla="*/ 50 h 590"/>
              <a:gd name="T14" fmla="*/ 435 w 627"/>
              <a:gd name="T15" fmla="*/ 23 h 590"/>
              <a:gd name="T16" fmla="*/ 376 w 627"/>
              <a:gd name="T17" fmla="*/ 6 h 590"/>
              <a:gd name="T18" fmla="*/ 313 w 627"/>
              <a:gd name="T19" fmla="*/ 0 h 590"/>
              <a:gd name="T20" fmla="*/ 250 w 627"/>
              <a:gd name="T21" fmla="*/ 6 h 590"/>
              <a:gd name="T22" fmla="*/ 191 w 627"/>
              <a:gd name="T23" fmla="*/ 23 h 590"/>
              <a:gd name="T24" fmla="*/ 138 w 627"/>
              <a:gd name="T25" fmla="*/ 50 h 590"/>
              <a:gd name="T26" fmla="*/ 92 w 627"/>
              <a:gd name="T27" fmla="*/ 86 h 590"/>
              <a:gd name="T28" fmla="*/ 54 w 627"/>
              <a:gd name="T29" fmla="*/ 130 h 590"/>
              <a:gd name="T30" fmla="*/ 25 w 627"/>
              <a:gd name="T31" fmla="*/ 180 h 590"/>
              <a:gd name="T32" fmla="*/ 6 w 627"/>
              <a:gd name="T33" fmla="*/ 235 h 590"/>
              <a:gd name="T34" fmla="*/ 2 w 627"/>
              <a:gd name="T35" fmla="*/ 264 h 590"/>
              <a:gd name="T36" fmla="*/ 0 w 627"/>
              <a:gd name="T37" fmla="*/ 295 h 590"/>
              <a:gd name="T38" fmla="*/ 6 w 627"/>
              <a:gd name="T39" fmla="*/ 354 h 590"/>
              <a:gd name="T40" fmla="*/ 25 w 627"/>
              <a:gd name="T41" fmla="*/ 409 h 590"/>
              <a:gd name="T42" fmla="*/ 54 w 627"/>
              <a:gd name="T43" fmla="*/ 459 h 590"/>
              <a:gd name="T44" fmla="*/ 92 w 627"/>
              <a:gd name="T45" fmla="*/ 503 h 590"/>
              <a:gd name="T46" fmla="*/ 138 w 627"/>
              <a:gd name="T47" fmla="*/ 538 h 590"/>
              <a:gd name="T48" fmla="*/ 191 w 627"/>
              <a:gd name="T49" fmla="*/ 566 h 590"/>
              <a:gd name="T50" fmla="*/ 250 w 627"/>
              <a:gd name="T51" fmla="*/ 583 h 590"/>
              <a:gd name="T52" fmla="*/ 313 w 627"/>
              <a:gd name="T53" fmla="*/ 589 h 590"/>
              <a:gd name="T54" fmla="*/ 376 w 627"/>
              <a:gd name="T55" fmla="*/ 583 h 590"/>
              <a:gd name="T56" fmla="*/ 435 w 627"/>
              <a:gd name="T57" fmla="*/ 566 h 590"/>
              <a:gd name="T58" fmla="*/ 488 w 627"/>
              <a:gd name="T59" fmla="*/ 538 h 590"/>
              <a:gd name="T60" fmla="*/ 535 w 627"/>
              <a:gd name="T61" fmla="*/ 503 h 590"/>
              <a:gd name="T62" fmla="*/ 573 w 627"/>
              <a:gd name="T63" fmla="*/ 459 h 590"/>
              <a:gd name="T64" fmla="*/ 602 w 627"/>
              <a:gd name="T65" fmla="*/ 409 h 590"/>
              <a:gd name="T66" fmla="*/ 620 w 627"/>
              <a:gd name="T67" fmla="*/ 354 h 590"/>
              <a:gd name="T68" fmla="*/ 626 w 627"/>
              <a:gd name="T69" fmla="*/ 295 h 590"/>
              <a:gd name="T70" fmla="*/ 626 w 627"/>
              <a:gd name="T71" fmla="*/ 295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27" h="590">
                <a:moveTo>
                  <a:pt x="626" y="295"/>
                </a:moveTo>
                <a:lnTo>
                  <a:pt x="625" y="264"/>
                </a:lnTo>
                <a:lnTo>
                  <a:pt x="620" y="235"/>
                </a:lnTo>
                <a:lnTo>
                  <a:pt x="602" y="180"/>
                </a:lnTo>
                <a:lnTo>
                  <a:pt x="573" y="130"/>
                </a:lnTo>
                <a:lnTo>
                  <a:pt x="535" y="86"/>
                </a:lnTo>
                <a:lnTo>
                  <a:pt x="488" y="50"/>
                </a:lnTo>
                <a:lnTo>
                  <a:pt x="435" y="23"/>
                </a:lnTo>
                <a:lnTo>
                  <a:pt x="376" y="6"/>
                </a:lnTo>
                <a:lnTo>
                  <a:pt x="313" y="0"/>
                </a:lnTo>
                <a:lnTo>
                  <a:pt x="250" y="6"/>
                </a:lnTo>
                <a:lnTo>
                  <a:pt x="191" y="23"/>
                </a:lnTo>
                <a:lnTo>
                  <a:pt x="138" y="50"/>
                </a:lnTo>
                <a:lnTo>
                  <a:pt x="92" y="86"/>
                </a:lnTo>
                <a:lnTo>
                  <a:pt x="54" y="130"/>
                </a:lnTo>
                <a:lnTo>
                  <a:pt x="25" y="180"/>
                </a:lnTo>
                <a:lnTo>
                  <a:pt x="6" y="235"/>
                </a:lnTo>
                <a:lnTo>
                  <a:pt x="2" y="264"/>
                </a:lnTo>
                <a:lnTo>
                  <a:pt x="0" y="295"/>
                </a:lnTo>
                <a:lnTo>
                  <a:pt x="6" y="354"/>
                </a:lnTo>
                <a:lnTo>
                  <a:pt x="25" y="409"/>
                </a:lnTo>
                <a:lnTo>
                  <a:pt x="54" y="459"/>
                </a:lnTo>
                <a:lnTo>
                  <a:pt x="92" y="503"/>
                </a:lnTo>
                <a:lnTo>
                  <a:pt x="138" y="538"/>
                </a:lnTo>
                <a:lnTo>
                  <a:pt x="191" y="566"/>
                </a:lnTo>
                <a:lnTo>
                  <a:pt x="250" y="583"/>
                </a:lnTo>
                <a:lnTo>
                  <a:pt x="313" y="589"/>
                </a:lnTo>
                <a:lnTo>
                  <a:pt x="376" y="583"/>
                </a:lnTo>
                <a:lnTo>
                  <a:pt x="435" y="566"/>
                </a:lnTo>
                <a:lnTo>
                  <a:pt x="488" y="538"/>
                </a:lnTo>
                <a:lnTo>
                  <a:pt x="535" y="503"/>
                </a:lnTo>
                <a:lnTo>
                  <a:pt x="573" y="459"/>
                </a:lnTo>
                <a:lnTo>
                  <a:pt x="602" y="409"/>
                </a:lnTo>
                <a:lnTo>
                  <a:pt x="620" y="354"/>
                </a:lnTo>
                <a:lnTo>
                  <a:pt x="626" y="295"/>
                </a:lnTo>
                <a:lnTo>
                  <a:pt x="626" y="295"/>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3" name="Rectangle 7"/>
          <p:cNvSpPr>
            <a:spLocks noChangeArrowheads="1"/>
          </p:cNvSpPr>
          <p:nvPr/>
        </p:nvSpPr>
        <p:spPr bwMode="auto">
          <a:xfrm>
            <a:off x="3763963" y="1927225"/>
            <a:ext cx="83978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chemeClr val="accent1"/>
                </a:solidFill>
              </a:rPr>
              <a:t>Boston</a:t>
            </a:r>
          </a:p>
        </p:txBody>
      </p:sp>
      <p:sp>
        <p:nvSpPr>
          <p:cNvPr id="9224" name="Rectangle 8"/>
          <p:cNvSpPr>
            <a:spLocks noChangeArrowheads="1"/>
          </p:cNvSpPr>
          <p:nvPr/>
        </p:nvSpPr>
        <p:spPr bwMode="auto">
          <a:xfrm>
            <a:off x="4057650" y="2181225"/>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chemeClr val="accent1"/>
                </a:solidFill>
              </a:rPr>
              <a:t>2</a:t>
            </a:r>
          </a:p>
        </p:txBody>
      </p:sp>
      <p:sp>
        <p:nvSpPr>
          <p:cNvPr id="9225" name="Freeform 9"/>
          <p:cNvSpPr>
            <a:spLocks/>
          </p:cNvSpPr>
          <p:nvPr/>
        </p:nvSpPr>
        <p:spPr bwMode="auto">
          <a:xfrm>
            <a:off x="1577975" y="2736850"/>
            <a:ext cx="995363" cy="936625"/>
          </a:xfrm>
          <a:custGeom>
            <a:avLst/>
            <a:gdLst>
              <a:gd name="T0" fmla="*/ 626 w 627"/>
              <a:gd name="T1" fmla="*/ 294 h 590"/>
              <a:gd name="T2" fmla="*/ 625 w 627"/>
              <a:gd name="T3" fmla="*/ 264 h 590"/>
              <a:gd name="T4" fmla="*/ 620 w 627"/>
              <a:gd name="T5" fmla="*/ 235 h 590"/>
              <a:gd name="T6" fmla="*/ 602 w 627"/>
              <a:gd name="T7" fmla="*/ 179 h 590"/>
              <a:gd name="T8" fmla="*/ 573 w 627"/>
              <a:gd name="T9" fmla="*/ 130 h 590"/>
              <a:gd name="T10" fmla="*/ 535 w 627"/>
              <a:gd name="T11" fmla="*/ 86 h 590"/>
              <a:gd name="T12" fmla="*/ 488 w 627"/>
              <a:gd name="T13" fmla="*/ 50 h 590"/>
              <a:gd name="T14" fmla="*/ 435 w 627"/>
              <a:gd name="T15" fmla="*/ 23 h 590"/>
              <a:gd name="T16" fmla="*/ 376 w 627"/>
              <a:gd name="T17" fmla="*/ 6 h 590"/>
              <a:gd name="T18" fmla="*/ 313 w 627"/>
              <a:gd name="T19" fmla="*/ 0 h 590"/>
              <a:gd name="T20" fmla="*/ 250 w 627"/>
              <a:gd name="T21" fmla="*/ 6 h 590"/>
              <a:gd name="T22" fmla="*/ 191 w 627"/>
              <a:gd name="T23" fmla="*/ 23 h 590"/>
              <a:gd name="T24" fmla="*/ 138 w 627"/>
              <a:gd name="T25" fmla="*/ 50 h 590"/>
              <a:gd name="T26" fmla="*/ 92 w 627"/>
              <a:gd name="T27" fmla="*/ 86 h 590"/>
              <a:gd name="T28" fmla="*/ 54 w 627"/>
              <a:gd name="T29" fmla="*/ 130 h 590"/>
              <a:gd name="T30" fmla="*/ 25 w 627"/>
              <a:gd name="T31" fmla="*/ 179 h 590"/>
              <a:gd name="T32" fmla="*/ 6 w 627"/>
              <a:gd name="T33" fmla="*/ 235 h 590"/>
              <a:gd name="T34" fmla="*/ 2 w 627"/>
              <a:gd name="T35" fmla="*/ 264 h 590"/>
              <a:gd name="T36" fmla="*/ 0 w 627"/>
              <a:gd name="T37" fmla="*/ 294 h 590"/>
              <a:gd name="T38" fmla="*/ 6 w 627"/>
              <a:gd name="T39" fmla="*/ 354 h 590"/>
              <a:gd name="T40" fmla="*/ 25 w 627"/>
              <a:gd name="T41" fmla="*/ 409 h 590"/>
              <a:gd name="T42" fmla="*/ 54 w 627"/>
              <a:gd name="T43" fmla="*/ 459 h 590"/>
              <a:gd name="T44" fmla="*/ 92 w 627"/>
              <a:gd name="T45" fmla="*/ 502 h 590"/>
              <a:gd name="T46" fmla="*/ 138 w 627"/>
              <a:gd name="T47" fmla="*/ 538 h 590"/>
              <a:gd name="T48" fmla="*/ 191 w 627"/>
              <a:gd name="T49" fmla="*/ 565 h 590"/>
              <a:gd name="T50" fmla="*/ 250 w 627"/>
              <a:gd name="T51" fmla="*/ 582 h 590"/>
              <a:gd name="T52" fmla="*/ 313 w 627"/>
              <a:gd name="T53" fmla="*/ 589 h 590"/>
              <a:gd name="T54" fmla="*/ 376 w 627"/>
              <a:gd name="T55" fmla="*/ 582 h 590"/>
              <a:gd name="T56" fmla="*/ 435 w 627"/>
              <a:gd name="T57" fmla="*/ 565 h 590"/>
              <a:gd name="T58" fmla="*/ 488 w 627"/>
              <a:gd name="T59" fmla="*/ 538 h 590"/>
              <a:gd name="T60" fmla="*/ 535 w 627"/>
              <a:gd name="T61" fmla="*/ 502 h 590"/>
              <a:gd name="T62" fmla="*/ 573 w 627"/>
              <a:gd name="T63" fmla="*/ 459 h 590"/>
              <a:gd name="T64" fmla="*/ 602 w 627"/>
              <a:gd name="T65" fmla="*/ 409 h 590"/>
              <a:gd name="T66" fmla="*/ 620 w 627"/>
              <a:gd name="T67" fmla="*/ 354 h 590"/>
              <a:gd name="T68" fmla="*/ 626 w 627"/>
              <a:gd name="T69" fmla="*/ 294 h 590"/>
              <a:gd name="T70" fmla="*/ 626 w 627"/>
              <a:gd name="T71" fmla="*/ 294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27" h="590">
                <a:moveTo>
                  <a:pt x="626" y="294"/>
                </a:moveTo>
                <a:lnTo>
                  <a:pt x="625" y="264"/>
                </a:lnTo>
                <a:lnTo>
                  <a:pt x="620" y="235"/>
                </a:lnTo>
                <a:lnTo>
                  <a:pt x="602" y="179"/>
                </a:lnTo>
                <a:lnTo>
                  <a:pt x="573" y="130"/>
                </a:lnTo>
                <a:lnTo>
                  <a:pt x="535" y="86"/>
                </a:lnTo>
                <a:lnTo>
                  <a:pt x="488" y="50"/>
                </a:lnTo>
                <a:lnTo>
                  <a:pt x="435" y="23"/>
                </a:lnTo>
                <a:lnTo>
                  <a:pt x="376" y="6"/>
                </a:lnTo>
                <a:lnTo>
                  <a:pt x="313" y="0"/>
                </a:lnTo>
                <a:lnTo>
                  <a:pt x="250" y="6"/>
                </a:lnTo>
                <a:lnTo>
                  <a:pt x="191" y="23"/>
                </a:lnTo>
                <a:lnTo>
                  <a:pt x="138" y="50"/>
                </a:lnTo>
                <a:lnTo>
                  <a:pt x="92" y="86"/>
                </a:lnTo>
                <a:lnTo>
                  <a:pt x="54" y="130"/>
                </a:lnTo>
                <a:lnTo>
                  <a:pt x="25" y="179"/>
                </a:lnTo>
                <a:lnTo>
                  <a:pt x="6" y="235"/>
                </a:lnTo>
                <a:lnTo>
                  <a:pt x="2" y="264"/>
                </a:lnTo>
                <a:lnTo>
                  <a:pt x="0" y="294"/>
                </a:lnTo>
                <a:lnTo>
                  <a:pt x="6" y="354"/>
                </a:lnTo>
                <a:lnTo>
                  <a:pt x="25" y="409"/>
                </a:lnTo>
                <a:lnTo>
                  <a:pt x="54" y="459"/>
                </a:lnTo>
                <a:lnTo>
                  <a:pt x="92" y="502"/>
                </a:lnTo>
                <a:lnTo>
                  <a:pt x="138" y="538"/>
                </a:lnTo>
                <a:lnTo>
                  <a:pt x="191" y="565"/>
                </a:lnTo>
                <a:lnTo>
                  <a:pt x="250" y="582"/>
                </a:lnTo>
                <a:lnTo>
                  <a:pt x="313" y="589"/>
                </a:lnTo>
                <a:lnTo>
                  <a:pt x="376" y="582"/>
                </a:lnTo>
                <a:lnTo>
                  <a:pt x="435" y="565"/>
                </a:lnTo>
                <a:lnTo>
                  <a:pt x="488" y="538"/>
                </a:lnTo>
                <a:lnTo>
                  <a:pt x="535" y="502"/>
                </a:lnTo>
                <a:lnTo>
                  <a:pt x="573" y="459"/>
                </a:lnTo>
                <a:lnTo>
                  <a:pt x="602" y="409"/>
                </a:lnTo>
                <a:lnTo>
                  <a:pt x="620" y="354"/>
                </a:lnTo>
                <a:lnTo>
                  <a:pt x="626" y="294"/>
                </a:lnTo>
                <a:lnTo>
                  <a:pt x="626" y="29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6" name="Rectangle 10"/>
          <p:cNvSpPr>
            <a:spLocks noChangeArrowheads="1"/>
          </p:cNvSpPr>
          <p:nvPr/>
        </p:nvSpPr>
        <p:spPr bwMode="auto">
          <a:xfrm>
            <a:off x="1528763" y="2928938"/>
            <a:ext cx="11160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Columbus</a:t>
            </a:r>
          </a:p>
        </p:txBody>
      </p:sp>
      <p:sp>
        <p:nvSpPr>
          <p:cNvPr id="9227" name="Rectangle 11"/>
          <p:cNvSpPr>
            <a:spLocks noChangeArrowheads="1"/>
          </p:cNvSpPr>
          <p:nvPr/>
        </p:nvSpPr>
        <p:spPr bwMode="auto">
          <a:xfrm>
            <a:off x="1911350" y="3219450"/>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3</a:t>
            </a:r>
          </a:p>
        </p:txBody>
      </p:sp>
      <p:sp>
        <p:nvSpPr>
          <p:cNvPr id="9228" name="Freeform 12"/>
          <p:cNvSpPr>
            <a:spLocks/>
          </p:cNvSpPr>
          <p:nvPr/>
        </p:nvSpPr>
        <p:spPr bwMode="auto">
          <a:xfrm>
            <a:off x="3006725" y="3873500"/>
            <a:ext cx="995363" cy="936625"/>
          </a:xfrm>
          <a:custGeom>
            <a:avLst/>
            <a:gdLst>
              <a:gd name="T0" fmla="*/ 626 w 627"/>
              <a:gd name="T1" fmla="*/ 295 h 590"/>
              <a:gd name="T2" fmla="*/ 624 w 627"/>
              <a:gd name="T3" fmla="*/ 265 h 590"/>
              <a:gd name="T4" fmla="*/ 620 w 627"/>
              <a:gd name="T5" fmla="*/ 235 h 590"/>
              <a:gd name="T6" fmla="*/ 602 w 627"/>
              <a:gd name="T7" fmla="*/ 180 h 590"/>
              <a:gd name="T8" fmla="*/ 573 w 627"/>
              <a:gd name="T9" fmla="*/ 130 h 590"/>
              <a:gd name="T10" fmla="*/ 535 w 627"/>
              <a:gd name="T11" fmla="*/ 86 h 590"/>
              <a:gd name="T12" fmla="*/ 488 w 627"/>
              <a:gd name="T13" fmla="*/ 51 h 590"/>
              <a:gd name="T14" fmla="*/ 435 w 627"/>
              <a:gd name="T15" fmla="*/ 23 h 590"/>
              <a:gd name="T16" fmla="*/ 376 w 627"/>
              <a:gd name="T17" fmla="*/ 6 h 590"/>
              <a:gd name="T18" fmla="*/ 313 w 627"/>
              <a:gd name="T19" fmla="*/ 0 h 590"/>
              <a:gd name="T20" fmla="*/ 250 w 627"/>
              <a:gd name="T21" fmla="*/ 6 h 590"/>
              <a:gd name="T22" fmla="*/ 191 w 627"/>
              <a:gd name="T23" fmla="*/ 23 h 590"/>
              <a:gd name="T24" fmla="*/ 138 w 627"/>
              <a:gd name="T25" fmla="*/ 51 h 590"/>
              <a:gd name="T26" fmla="*/ 92 w 627"/>
              <a:gd name="T27" fmla="*/ 86 h 590"/>
              <a:gd name="T28" fmla="*/ 54 w 627"/>
              <a:gd name="T29" fmla="*/ 130 h 590"/>
              <a:gd name="T30" fmla="*/ 24 w 627"/>
              <a:gd name="T31" fmla="*/ 180 h 590"/>
              <a:gd name="T32" fmla="*/ 6 w 627"/>
              <a:gd name="T33" fmla="*/ 235 h 590"/>
              <a:gd name="T34" fmla="*/ 2 w 627"/>
              <a:gd name="T35" fmla="*/ 265 h 590"/>
              <a:gd name="T36" fmla="*/ 0 w 627"/>
              <a:gd name="T37" fmla="*/ 295 h 590"/>
              <a:gd name="T38" fmla="*/ 6 w 627"/>
              <a:gd name="T39" fmla="*/ 354 h 590"/>
              <a:gd name="T40" fmla="*/ 24 w 627"/>
              <a:gd name="T41" fmla="*/ 409 h 590"/>
              <a:gd name="T42" fmla="*/ 54 w 627"/>
              <a:gd name="T43" fmla="*/ 459 h 590"/>
              <a:gd name="T44" fmla="*/ 92 w 627"/>
              <a:gd name="T45" fmla="*/ 503 h 590"/>
              <a:gd name="T46" fmla="*/ 138 w 627"/>
              <a:gd name="T47" fmla="*/ 539 h 590"/>
              <a:gd name="T48" fmla="*/ 191 w 627"/>
              <a:gd name="T49" fmla="*/ 566 h 590"/>
              <a:gd name="T50" fmla="*/ 250 w 627"/>
              <a:gd name="T51" fmla="*/ 583 h 590"/>
              <a:gd name="T52" fmla="*/ 313 w 627"/>
              <a:gd name="T53" fmla="*/ 589 h 590"/>
              <a:gd name="T54" fmla="*/ 376 w 627"/>
              <a:gd name="T55" fmla="*/ 583 h 590"/>
              <a:gd name="T56" fmla="*/ 435 w 627"/>
              <a:gd name="T57" fmla="*/ 566 h 590"/>
              <a:gd name="T58" fmla="*/ 488 w 627"/>
              <a:gd name="T59" fmla="*/ 539 h 590"/>
              <a:gd name="T60" fmla="*/ 535 w 627"/>
              <a:gd name="T61" fmla="*/ 503 h 590"/>
              <a:gd name="T62" fmla="*/ 573 w 627"/>
              <a:gd name="T63" fmla="*/ 459 h 590"/>
              <a:gd name="T64" fmla="*/ 602 w 627"/>
              <a:gd name="T65" fmla="*/ 409 h 590"/>
              <a:gd name="T66" fmla="*/ 620 w 627"/>
              <a:gd name="T67" fmla="*/ 354 h 590"/>
              <a:gd name="T68" fmla="*/ 626 w 627"/>
              <a:gd name="T69" fmla="*/ 295 h 590"/>
              <a:gd name="T70" fmla="*/ 626 w 627"/>
              <a:gd name="T71" fmla="*/ 295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27" h="590">
                <a:moveTo>
                  <a:pt x="626" y="295"/>
                </a:moveTo>
                <a:lnTo>
                  <a:pt x="624" y="265"/>
                </a:lnTo>
                <a:lnTo>
                  <a:pt x="620" y="235"/>
                </a:lnTo>
                <a:lnTo>
                  <a:pt x="602" y="180"/>
                </a:lnTo>
                <a:lnTo>
                  <a:pt x="573" y="130"/>
                </a:lnTo>
                <a:lnTo>
                  <a:pt x="535" y="86"/>
                </a:lnTo>
                <a:lnTo>
                  <a:pt x="488" y="51"/>
                </a:lnTo>
                <a:lnTo>
                  <a:pt x="435" y="23"/>
                </a:lnTo>
                <a:lnTo>
                  <a:pt x="376" y="6"/>
                </a:lnTo>
                <a:lnTo>
                  <a:pt x="313" y="0"/>
                </a:lnTo>
                <a:lnTo>
                  <a:pt x="250" y="6"/>
                </a:lnTo>
                <a:lnTo>
                  <a:pt x="191" y="23"/>
                </a:lnTo>
                <a:lnTo>
                  <a:pt x="138" y="51"/>
                </a:lnTo>
                <a:lnTo>
                  <a:pt x="92" y="86"/>
                </a:lnTo>
                <a:lnTo>
                  <a:pt x="54" y="130"/>
                </a:lnTo>
                <a:lnTo>
                  <a:pt x="24" y="180"/>
                </a:lnTo>
                <a:lnTo>
                  <a:pt x="6" y="235"/>
                </a:lnTo>
                <a:lnTo>
                  <a:pt x="2" y="265"/>
                </a:lnTo>
                <a:lnTo>
                  <a:pt x="0" y="295"/>
                </a:lnTo>
                <a:lnTo>
                  <a:pt x="6" y="354"/>
                </a:lnTo>
                <a:lnTo>
                  <a:pt x="24" y="409"/>
                </a:lnTo>
                <a:lnTo>
                  <a:pt x="54" y="459"/>
                </a:lnTo>
                <a:lnTo>
                  <a:pt x="92" y="503"/>
                </a:lnTo>
                <a:lnTo>
                  <a:pt x="138" y="539"/>
                </a:lnTo>
                <a:lnTo>
                  <a:pt x="191" y="566"/>
                </a:lnTo>
                <a:lnTo>
                  <a:pt x="250" y="583"/>
                </a:lnTo>
                <a:lnTo>
                  <a:pt x="313" y="589"/>
                </a:lnTo>
                <a:lnTo>
                  <a:pt x="376" y="583"/>
                </a:lnTo>
                <a:lnTo>
                  <a:pt x="435" y="566"/>
                </a:lnTo>
                <a:lnTo>
                  <a:pt x="488" y="539"/>
                </a:lnTo>
                <a:lnTo>
                  <a:pt x="535" y="503"/>
                </a:lnTo>
                <a:lnTo>
                  <a:pt x="573" y="459"/>
                </a:lnTo>
                <a:lnTo>
                  <a:pt x="602" y="409"/>
                </a:lnTo>
                <a:lnTo>
                  <a:pt x="620" y="354"/>
                </a:lnTo>
                <a:lnTo>
                  <a:pt x="626" y="295"/>
                </a:lnTo>
                <a:lnTo>
                  <a:pt x="626" y="295"/>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9" name="Rectangle 13"/>
          <p:cNvSpPr>
            <a:spLocks noChangeArrowheads="1"/>
          </p:cNvSpPr>
          <p:nvPr/>
        </p:nvSpPr>
        <p:spPr bwMode="auto">
          <a:xfrm>
            <a:off x="3084513" y="4121150"/>
            <a:ext cx="83026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Atlanta</a:t>
            </a:r>
          </a:p>
        </p:txBody>
      </p:sp>
      <p:sp>
        <p:nvSpPr>
          <p:cNvPr id="9230" name="Rectangle 14"/>
          <p:cNvSpPr>
            <a:spLocks noChangeArrowheads="1"/>
          </p:cNvSpPr>
          <p:nvPr/>
        </p:nvSpPr>
        <p:spPr bwMode="auto">
          <a:xfrm>
            <a:off x="3355975" y="4356100"/>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5</a:t>
            </a:r>
          </a:p>
        </p:txBody>
      </p:sp>
      <p:sp>
        <p:nvSpPr>
          <p:cNvPr id="9231" name="Freeform 15"/>
          <p:cNvSpPr>
            <a:spLocks/>
          </p:cNvSpPr>
          <p:nvPr/>
        </p:nvSpPr>
        <p:spPr bwMode="auto">
          <a:xfrm>
            <a:off x="5167313" y="3652838"/>
            <a:ext cx="1030287" cy="936625"/>
          </a:xfrm>
          <a:custGeom>
            <a:avLst/>
            <a:gdLst>
              <a:gd name="T0" fmla="*/ 648 w 649"/>
              <a:gd name="T1" fmla="*/ 295 h 590"/>
              <a:gd name="T2" fmla="*/ 646 w 649"/>
              <a:gd name="T3" fmla="*/ 265 h 590"/>
              <a:gd name="T4" fmla="*/ 641 w 649"/>
              <a:gd name="T5" fmla="*/ 235 h 590"/>
              <a:gd name="T6" fmla="*/ 622 w 649"/>
              <a:gd name="T7" fmla="*/ 180 h 590"/>
              <a:gd name="T8" fmla="*/ 592 w 649"/>
              <a:gd name="T9" fmla="*/ 130 h 590"/>
              <a:gd name="T10" fmla="*/ 553 w 649"/>
              <a:gd name="T11" fmla="*/ 87 h 590"/>
              <a:gd name="T12" fmla="*/ 505 w 649"/>
              <a:gd name="T13" fmla="*/ 51 h 590"/>
              <a:gd name="T14" fmla="*/ 450 w 649"/>
              <a:gd name="T15" fmla="*/ 24 h 590"/>
              <a:gd name="T16" fmla="*/ 389 w 649"/>
              <a:gd name="T17" fmla="*/ 6 h 590"/>
              <a:gd name="T18" fmla="*/ 357 w 649"/>
              <a:gd name="T19" fmla="*/ 2 h 590"/>
              <a:gd name="T20" fmla="*/ 324 w 649"/>
              <a:gd name="T21" fmla="*/ 0 h 590"/>
              <a:gd name="T22" fmla="*/ 258 w 649"/>
              <a:gd name="T23" fmla="*/ 6 h 590"/>
              <a:gd name="T24" fmla="*/ 198 w 649"/>
              <a:gd name="T25" fmla="*/ 24 h 590"/>
              <a:gd name="T26" fmla="*/ 142 w 649"/>
              <a:gd name="T27" fmla="*/ 51 h 590"/>
              <a:gd name="T28" fmla="*/ 95 w 649"/>
              <a:gd name="T29" fmla="*/ 87 h 590"/>
              <a:gd name="T30" fmla="*/ 55 w 649"/>
              <a:gd name="T31" fmla="*/ 130 h 590"/>
              <a:gd name="T32" fmla="*/ 25 w 649"/>
              <a:gd name="T33" fmla="*/ 180 h 590"/>
              <a:gd name="T34" fmla="*/ 6 w 649"/>
              <a:gd name="T35" fmla="*/ 235 h 590"/>
              <a:gd name="T36" fmla="*/ 1 w 649"/>
              <a:gd name="T37" fmla="*/ 265 h 590"/>
              <a:gd name="T38" fmla="*/ 0 w 649"/>
              <a:gd name="T39" fmla="*/ 295 h 590"/>
              <a:gd name="T40" fmla="*/ 6 w 649"/>
              <a:gd name="T41" fmla="*/ 354 h 590"/>
              <a:gd name="T42" fmla="*/ 25 w 649"/>
              <a:gd name="T43" fmla="*/ 409 h 590"/>
              <a:gd name="T44" fmla="*/ 55 w 649"/>
              <a:gd name="T45" fmla="*/ 459 h 590"/>
              <a:gd name="T46" fmla="*/ 95 w 649"/>
              <a:gd name="T47" fmla="*/ 503 h 590"/>
              <a:gd name="T48" fmla="*/ 142 w 649"/>
              <a:gd name="T49" fmla="*/ 539 h 590"/>
              <a:gd name="T50" fmla="*/ 198 w 649"/>
              <a:gd name="T51" fmla="*/ 566 h 590"/>
              <a:gd name="T52" fmla="*/ 258 w 649"/>
              <a:gd name="T53" fmla="*/ 583 h 590"/>
              <a:gd name="T54" fmla="*/ 324 w 649"/>
              <a:gd name="T55" fmla="*/ 589 h 590"/>
              <a:gd name="T56" fmla="*/ 389 w 649"/>
              <a:gd name="T57" fmla="*/ 583 h 590"/>
              <a:gd name="T58" fmla="*/ 450 w 649"/>
              <a:gd name="T59" fmla="*/ 566 h 590"/>
              <a:gd name="T60" fmla="*/ 505 w 649"/>
              <a:gd name="T61" fmla="*/ 539 h 590"/>
              <a:gd name="T62" fmla="*/ 553 w 649"/>
              <a:gd name="T63" fmla="*/ 503 h 590"/>
              <a:gd name="T64" fmla="*/ 592 w 649"/>
              <a:gd name="T65" fmla="*/ 459 h 590"/>
              <a:gd name="T66" fmla="*/ 622 w 649"/>
              <a:gd name="T67" fmla="*/ 409 h 590"/>
              <a:gd name="T68" fmla="*/ 641 w 649"/>
              <a:gd name="T69" fmla="*/ 354 h 590"/>
              <a:gd name="T70" fmla="*/ 648 w 649"/>
              <a:gd name="T71" fmla="*/ 295 h 590"/>
              <a:gd name="T72" fmla="*/ 648 w 649"/>
              <a:gd name="T73" fmla="*/ 295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49" h="590">
                <a:moveTo>
                  <a:pt x="648" y="295"/>
                </a:moveTo>
                <a:lnTo>
                  <a:pt x="646" y="265"/>
                </a:lnTo>
                <a:lnTo>
                  <a:pt x="641" y="235"/>
                </a:lnTo>
                <a:lnTo>
                  <a:pt x="622" y="180"/>
                </a:lnTo>
                <a:lnTo>
                  <a:pt x="592" y="130"/>
                </a:lnTo>
                <a:lnTo>
                  <a:pt x="553" y="87"/>
                </a:lnTo>
                <a:lnTo>
                  <a:pt x="505" y="51"/>
                </a:lnTo>
                <a:lnTo>
                  <a:pt x="450" y="24"/>
                </a:lnTo>
                <a:lnTo>
                  <a:pt x="389" y="6"/>
                </a:lnTo>
                <a:lnTo>
                  <a:pt x="357" y="2"/>
                </a:lnTo>
                <a:lnTo>
                  <a:pt x="324" y="0"/>
                </a:lnTo>
                <a:lnTo>
                  <a:pt x="258" y="6"/>
                </a:lnTo>
                <a:lnTo>
                  <a:pt x="198" y="24"/>
                </a:lnTo>
                <a:lnTo>
                  <a:pt x="142" y="51"/>
                </a:lnTo>
                <a:lnTo>
                  <a:pt x="95" y="87"/>
                </a:lnTo>
                <a:lnTo>
                  <a:pt x="55" y="130"/>
                </a:lnTo>
                <a:lnTo>
                  <a:pt x="25" y="180"/>
                </a:lnTo>
                <a:lnTo>
                  <a:pt x="6" y="235"/>
                </a:lnTo>
                <a:lnTo>
                  <a:pt x="1" y="265"/>
                </a:lnTo>
                <a:lnTo>
                  <a:pt x="0" y="295"/>
                </a:lnTo>
                <a:lnTo>
                  <a:pt x="6" y="354"/>
                </a:lnTo>
                <a:lnTo>
                  <a:pt x="25" y="409"/>
                </a:lnTo>
                <a:lnTo>
                  <a:pt x="55" y="459"/>
                </a:lnTo>
                <a:lnTo>
                  <a:pt x="95" y="503"/>
                </a:lnTo>
                <a:lnTo>
                  <a:pt x="142" y="539"/>
                </a:lnTo>
                <a:lnTo>
                  <a:pt x="198" y="566"/>
                </a:lnTo>
                <a:lnTo>
                  <a:pt x="258" y="583"/>
                </a:lnTo>
                <a:lnTo>
                  <a:pt x="324" y="589"/>
                </a:lnTo>
                <a:lnTo>
                  <a:pt x="389" y="583"/>
                </a:lnTo>
                <a:lnTo>
                  <a:pt x="450" y="566"/>
                </a:lnTo>
                <a:lnTo>
                  <a:pt x="505" y="539"/>
                </a:lnTo>
                <a:lnTo>
                  <a:pt x="553" y="503"/>
                </a:lnTo>
                <a:lnTo>
                  <a:pt x="592" y="459"/>
                </a:lnTo>
                <a:lnTo>
                  <a:pt x="622" y="409"/>
                </a:lnTo>
                <a:lnTo>
                  <a:pt x="641" y="354"/>
                </a:lnTo>
                <a:lnTo>
                  <a:pt x="648" y="295"/>
                </a:lnTo>
                <a:lnTo>
                  <a:pt x="648" y="295"/>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2" name="Rectangle 16"/>
          <p:cNvSpPr>
            <a:spLocks noChangeArrowheads="1"/>
          </p:cNvSpPr>
          <p:nvPr/>
        </p:nvSpPr>
        <p:spPr bwMode="auto">
          <a:xfrm>
            <a:off x="5138738" y="3900488"/>
            <a:ext cx="11160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Richmond</a:t>
            </a:r>
          </a:p>
        </p:txBody>
      </p:sp>
      <p:sp>
        <p:nvSpPr>
          <p:cNvPr id="9233" name="Rectangle 17"/>
          <p:cNvSpPr>
            <a:spLocks noChangeArrowheads="1"/>
          </p:cNvSpPr>
          <p:nvPr/>
        </p:nvSpPr>
        <p:spPr bwMode="auto">
          <a:xfrm>
            <a:off x="5516563" y="4170363"/>
            <a:ext cx="2905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4</a:t>
            </a:r>
          </a:p>
        </p:txBody>
      </p:sp>
      <p:sp>
        <p:nvSpPr>
          <p:cNvPr id="9234" name="Freeform 18"/>
          <p:cNvSpPr>
            <a:spLocks/>
          </p:cNvSpPr>
          <p:nvPr/>
        </p:nvSpPr>
        <p:spPr bwMode="auto">
          <a:xfrm>
            <a:off x="6107113" y="5510213"/>
            <a:ext cx="995362" cy="936625"/>
          </a:xfrm>
          <a:custGeom>
            <a:avLst/>
            <a:gdLst>
              <a:gd name="T0" fmla="*/ 626 w 627"/>
              <a:gd name="T1" fmla="*/ 294 h 590"/>
              <a:gd name="T2" fmla="*/ 624 w 627"/>
              <a:gd name="T3" fmla="*/ 264 h 590"/>
              <a:gd name="T4" fmla="*/ 619 w 627"/>
              <a:gd name="T5" fmla="*/ 235 h 590"/>
              <a:gd name="T6" fmla="*/ 601 w 627"/>
              <a:gd name="T7" fmla="*/ 179 h 590"/>
              <a:gd name="T8" fmla="*/ 572 w 627"/>
              <a:gd name="T9" fmla="*/ 129 h 590"/>
              <a:gd name="T10" fmla="*/ 534 w 627"/>
              <a:gd name="T11" fmla="*/ 86 h 590"/>
              <a:gd name="T12" fmla="*/ 488 w 627"/>
              <a:gd name="T13" fmla="*/ 50 h 590"/>
              <a:gd name="T14" fmla="*/ 435 w 627"/>
              <a:gd name="T15" fmla="*/ 23 h 590"/>
              <a:gd name="T16" fmla="*/ 376 w 627"/>
              <a:gd name="T17" fmla="*/ 6 h 590"/>
              <a:gd name="T18" fmla="*/ 313 w 627"/>
              <a:gd name="T19" fmla="*/ 0 h 590"/>
              <a:gd name="T20" fmla="*/ 249 w 627"/>
              <a:gd name="T21" fmla="*/ 6 h 590"/>
              <a:gd name="T22" fmla="*/ 191 w 627"/>
              <a:gd name="T23" fmla="*/ 23 h 590"/>
              <a:gd name="T24" fmla="*/ 138 w 627"/>
              <a:gd name="T25" fmla="*/ 50 h 590"/>
              <a:gd name="T26" fmla="*/ 91 w 627"/>
              <a:gd name="T27" fmla="*/ 86 h 590"/>
              <a:gd name="T28" fmla="*/ 53 w 627"/>
              <a:gd name="T29" fmla="*/ 129 h 590"/>
              <a:gd name="T30" fmla="*/ 24 w 627"/>
              <a:gd name="T31" fmla="*/ 179 h 590"/>
              <a:gd name="T32" fmla="*/ 6 w 627"/>
              <a:gd name="T33" fmla="*/ 235 h 590"/>
              <a:gd name="T34" fmla="*/ 1 w 627"/>
              <a:gd name="T35" fmla="*/ 264 h 590"/>
              <a:gd name="T36" fmla="*/ 0 w 627"/>
              <a:gd name="T37" fmla="*/ 294 h 590"/>
              <a:gd name="T38" fmla="*/ 6 w 627"/>
              <a:gd name="T39" fmla="*/ 353 h 590"/>
              <a:gd name="T40" fmla="*/ 24 w 627"/>
              <a:gd name="T41" fmla="*/ 409 h 590"/>
              <a:gd name="T42" fmla="*/ 53 w 627"/>
              <a:gd name="T43" fmla="*/ 459 h 590"/>
              <a:gd name="T44" fmla="*/ 91 w 627"/>
              <a:gd name="T45" fmla="*/ 502 h 590"/>
              <a:gd name="T46" fmla="*/ 138 w 627"/>
              <a:gd name="T47" fmla="*/ 538 h 590"/>
              <a:gd name="T48" fmla="*/ 191 w 627"/>
              <a:gd name="T49" fmla="*/ 565 h 590"/>
              <a:gd name="T50" fmla="*/ 249 w 627"/>
              <a:gd name="T51" fmla="*/ 582 h 590"/>
              <a:gd name="T52" fmla="*/ 313 w 627"/>
              <a:gd name="T53" fmla="*/ 589 h 590"/>
              <a:gd name="T54" fmla="*/ 376 w 627"/>
              <a:gd name="T55" fmla="*/ 582 h 590"/>
              <a:gd name="T56" fmla="*/ 435 w 627"/>
              <a:gd name="T57" fmla="*/ 565 h 590"/>
              <a:gd name="T58" fmla="*/ 488 w 627"/>
              <a:gd name="T59" fmla="*/ 538 h 590"/>
              <a:gd name="T60" fmla="*/ 534 w 627"/>
              <a:gd name="T61" fmla="*/ 502 h 590"/>
              <a:gd name="T62" fmla="*/ 572 w 627"/>
              <a:gd name="T63" fmla="*/ 459 h 590"/>
              <a:gd name="T64" fmla="*/ 601 w 627"/>
              <a:gd name="T65" fmla="*/ 409 h 590"/>
              <a:gd name="T66" fmla="*/ 619 w 627"/>
              <a:gd name="T67" fmla="*/ 353 h 590"/>
              <a:gd name="T68" fmla="*/ 626 w 627"/>
              <a:gd name="T69" fmla="*/ 294 h 590"/>
              <a:gd name="T70" fmla="*/ 626 w 627"/>
              <a:gd name="T71" fmla="*/ 294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27" h="590">
                <a:moveTo>
                  <a:pt x="626" y="294"/>
                </a:moveTo>
                <a:lnTo>
                  <a:pt x="624" y="264"/>
                </a:lnTo>
                <a:lnTo>
                  <a:pt x="619" y="235"/>
                </a:lnTo>
                <a:lnTo>
                  <a:pt x="601" y="179"/>
                </a:lnTo>
                <a:lnTo>
                  <a:pt x="572" y="129"/>
                </a:lnTo>
                <a:lnTo>
                  <a:pt x="534" y="86"/>
                </a:lnTo>
                <a:lnTo>
                  <a:pt x="488" y="50"/>
                </a:lnTo>
                <a:lnTo>
                  <a:pt x="435" y="23"/>
                </a:lnTo>
                <a:lnTo>
                  <a:pt x="376" y="6"/>
                </a:lnTo>
                <a:lnTo>
                  <a:pt x="313" y="0"/>
                </a:lnTo>
                <a:lnTo>
                  <a:pt x="249" y="6"/>
                </a:lnTo>
                <a:lnTo>
                  <a:pt x="191" y="23"/>
                </a:lnTo>
                <a:lnTo>
                  <a:pt x="138" y="50"/>
                </a:lnTo>
                <a:lnTo>
                  <a:pt x="91" y="86"/>
                </a:lnTo>
                <a:lnTo>
                  <a:pt x="53" y="129"/>
                </a:lnTo>
                <a:lnTo>
                  <a:pt x="24" y="179"/>
                </a:lnTo>
                <a:lnTo>
                  <a:pt x="6" y="235"/>
                </a:lnTo>
                <a:lnTo>
                  <a:pt x="1" y="264"/>
                </a:lnTo>
                <a:lnTo>
                  <a:pt x="0" y="294"/>
                </a:lnTo>
                <a:lnTo>
                  <a:pt x="6" y="353"/>
                </a:lnTo>
                <a:lnTo>
                  <a:pt x="24" y="409"/>
                </a:lnTo>
                <a:lnTo>
                  <a:pt x="53" y="459"/>
                </a:lnTo>
                <a:lnTo>
                  <a:pt x="91" y="502"/>
                </a:lnTo>
                <a:lnTo>
                  <a:pt x="138" y="538"/>
                </a:lnTo>
                <a:lnTo>
                  <a:pt x="191" y="565"/>
                </a:lnTo>
                <a:lnTo>
                  <a:pt x="249" y="582"/>
                </a:lnTo>
                <a:lnTo>
                  <a:pt x="313" y="589"/>
                </a:lnTo>
                <a:lnTo>
                  <a:pt x="376" y="582"/>
                </a:lnTo>
                <a:lnTo>
                  <a:pt x="435" y="565"/>
                </a:lnTo>
                <a:lnTo>
                  <a:pt x="488" y="538"/>
                </a:lnTo>
                <a:lnTo>
                  <a:pt x="534" y="502"/>
                </a:lnTo>
                <a:lnTo>
                  <a:pt x="572" y="459"/>
                </a:lnTo>
                <a:lnTo>
                  <a:pt x="601" y="409"/>
                </a:lnTo>
                <a:lnTo>
                  <a:pt x="619" y="353"/>
                </a:lnTo>
                <a:lnTo>
                  <a:pt x="626" y="294"/>
                </a:lnTo>
                <a:lnTo>
                  <a:pt x="626" y="29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5" name="Rectangle 19"/>
          <p:cNvSpPr>
            <a:spLocks noChangeArrowheads="1"/>
          </p:cNvSpPr>
          <p:nvPr/>
        </p:nvSpPr>
        <p:spPr bwMode="auto">
          <a:xfrm>
            <a:off x="6243638" y="5756275"/>
            <a:ext cx="70643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J'ville</a:t>
            </a:r>
          </a:p>
        </p:txBody>
      </p:sp>
      <p:sp>
        <p:nvSpPr>
          <p:cNvPr id="9236" name="Rectangle 20"/>
          <p:cNvSpPr>
            <a:spLocks noChangeArrowheads="1"/>
          </p:cNvSpPr>
          <p:nvPr/>
        </p:nvSpPr>
        <p:spPr bwMode="auto">
          <a:xfrm>
            <a:off x="6472238" y="6008688"/>
            <a:ext cx="2905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7</a:t>
            </a:r>
          </a:p>
        </p:txBody>
      </p:sp>
      <p:sp>
        <p:nvSpPr>
          <p:cNvPr id="9237" name="Freeform 21"/>
          <p:cNvSpPr>
            <a:spLocks/>
          </p:cNvSpPr>
          <p:nvPr/>
        </p:nvSpPr>
        <p:spPr bwMode="auto">
          <a:xfrm>
            <a:off x="1660525" y="5346700"/>
            <a:ext cx="995363" cy="936625"/>
          </a:xfrm>
          <a:custGeom>
            <a:avLst/>
            <a:gdLst>
              <a:gd name="T0" fmla="*/ 626 w 627"/>
              <a:gd name="T1" fmla="*/ 295 h 590"/>
              <a:gd name="T2" fmla="*/ 624 w 627"/>
              <a:gd name="T3" fmla="*/ 265 h 590"/>
              <a:gd name="T4" fmla="*/ 619 w 627"/>
              <a:gd name="T5" fmla="*/ 235 h 590"/>
              <a:gd name="T6" fmla="*/ 601 w 627"/>
              <a:gd name="T7" fmla="*/ 180 h 590"/>
              <a:gd name="T8" fmla="*/ 572 w 627"/>
              <a:gd name="T9" fmla="*/ 130 h 590"/>
              <a:gd name="T10" fmla="*/ 534 w 627"/>
              <a:gd name="T11" fmla="*/ 86 h 590"/>
              <a:gd name="T12" fmla="*/ 488 w 627"/>
              <a:gd name="T13" fmla="*/ 51 h 590"/>
              <a:gd name="T14" fmla="*/ 435 w 627"/>
              <a:gd name="T15" fmla="*/ 23 h 590"/>
              <a:gd name="T16" fmla="*/ 376 w 627"/>
              <a:gd name="T17" fmla="*/ 6 h 590"/>
              <a:gd name="T18" fmla="*/ 313 w 627"/>
              <a:gd name="T19" fmla="*/ 0 h 590"/>
              <a:gd name="T20" fmla="*/ 249 w 627"/>
              <a:gd name="T21" fmla="*/ 6 h 590"/>
              <a:gd name="T22" fmla="*/ 191 w 627"/>
              <a:gd name="T23" fmla="*/ 23 h 590"/>
              <a:gd name="T24" fmla="*/ 138 w 627"/>
              <a:gd name="T25" fmla="*/ 51 h 590"/>
              <a:gd name="T26" fmla="*/ 91 w 627"/>
              <a:gd name="T27" fmla="*/ 86 h 590"/>
              <a:gd name="T28" fmla="*/ 53 w 627"/>
              <a:gd name="T29" fmla="*/ 130 h 590"/>
              <a:gd name="T30" fmla="*/ 24 w 627"/>
              <a:gd name="T31" fmla="*/ 180 h 590"/>
              <a:gd name="T32" fmla="*/ 6 w 627"/>
              <a:gd name="T33" fmla="*/ 235 h 590"/>
              <a:gd name="T34" fmla="*/ 1 w 627"/>
              <a:gd name="T35" fmla="*/ 265 h 590"/>
              <a:gd name="T36" fmla="*/ 0 w 627"/>
              <a:gd name="T37" fmla="*/ 295 h 590"/>
              <a:gd name="T38" fmla="*/ 6 w 627"/>
              <a:gd name="T39" fmla="*/ 354 h 590"/>
              <a:gd name="T40" fmla="*/ 24 w 627"/>
              <a:gd name="T41" fmla="*/ 409 h 590"/>
              <a:gd name="T42" fmla="*/ 53 w 627"/>
              <a:gd name="T43" fmla="*/ 459 h 590"/>
              <a:gd name="T44" fmla="*/ 91 w 627"/>
              <a:gd name="T45" fmla="*/ 503 h 590"/>
              <a:gd name="T46" fmla="*/ 138 w 627"/>
              <a:gd name="T47" fmla="*/ 539 h 590"/>
              <a:gd name="T48" fmla="*/ 191 w 627"/>
              <a:gd name="T49" fmla="*/ 566 h 590"/>
              <a:gd name="T50" fmla="*/ 249 w 627"/>
              <a:gd name="T51" fmla="*/ 583 h 590"/>
              <a:gd name="T52" fmla="*/ 313 w 627"/>
              <a:gd name="T53" fmla="*/ 589 h 590"/>
              <a:gd name="T54" fmla="*/ 376 w 627"/>
              <a:gd name="T55" fmla="*/ 583 h 590"/>
              <a:gd name="T56" fmla="*/ 435 w 627"/>
              <a:gd name="T57" fmla="*/ 566 h 590"/>
              <a:gd name="T58" fmla="*/ 488 w 627"/>
              <a:gd name="T59" fmla="*/ 539 h 590"/>
              <a:gd name="T60" fmla="*/ 534 w 627"/>
              <a:gd name="T61" fmla="*/ 503 h 590"/>
              <a:gd name="T62" fmla="*/ 572 w 627"/>
              <a:gd name="T63" fmla="*/ 459 h 590"/>
              <a:gd name="T64" fmla="*/ 601 w 627"/>
              <a:gd name="T65" fmla="*/ 409 h 590"/>
              <a:gd name="T66" fmla="*/ 619 w 627"/>
              <a:gd name="T67" fmla="*/ 354 h 590"/>
              <a:gd name="T68" fmla="*/ 626 w 627"/>
              <a:gd name="T69" fmla="*/ 295 h 590"/>
              <a:gd name="T70" fmla="*/ 626 w 627"/>
              <a:gd name="T71" fmla="*/ 295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27" h="590">
                <a:moveTo>
                  <a:pt x="626" y="295"/>
                </a:moveTo>
                <a:lnTo>
                  <a:pt x="624" y="265"/>
                </a:lnTo>
                <a:lnTo>
                  <a:pt x="619" y="235"/>
                </a:lnTo>
                <a:lnTo>
                  <a:pt x="601" y="180"/>
                </a:lnTo>
                <a:lnTo>
                  <a:pt x="572" y="130"/>
                </a:lnTo>
                <a:lnTo>
                  <a:pt x="534" y="86"/>
                </a:lnTo>
                <a:lnTo>
                  <a:pt x="488" y="51"/>
                </a:lnTo>
                <a:lnTo>
                  <a:pt x="435" y="23"/>
                </a:lnTo>
                <a:lnTo>
                  <a:pt x="376" y="6"/>
                </a:lnTo>
                <a:lnTo>
                  <a:pt x="313" y="0"/>
                </a:lnTo>
                <a:lnTo>
                  <a:pt x="249" y="6"/>
                </a:lnTo>
                <a:lnTo>
                  <a:pt x="191" y="23"/>
                </a:lnTo>
                <a:lnTo>
                  <a:pt x="138" y="51"/>
                </a:lnTo>
                <a:lnTo>
                  <a:pt x="91" y="86"/>
                </a:lnTo>
                <a:lnTo>
                  <a:pt x="53" y="130"/>
                </a:lnTo>
                <a:lnTo>
                  <a:pt x="24" y="180"/>
                </a:lnTo>
                <a:lnTo>
                  <a:pt x="6" y="235"/>
                </a:lnTo>
                <a:lnTo>
                  <a:pt x="1" y="265"/>
                </a:lnTo>
                <a:lnTo>
                  <a:pt x="0" y="295"/>
                </a:lnTo>
                <a:lnTo>
                  <a:pt x="6" y="354"/>
                </a:lnTo>
                <a:lnTo>
                  <a:pt x="24" y="409"/>
                </a:lnTo>
                <a:lnTo>
                  <a:pt x="53" y="459"/>
                </a:lnTo>
                <a:lnTo>
                  <a:pt x="91" y="503"/>
                </a:lnTo>
                <a:lnTo>
                  <a:pt x="138" y="539"/>
                </a:lnTo>
                <a:lnTo>
                  <a:pt x="191" y="566"/>
                </a:lnTo>
                <a:lnTo>
                  <a:pt x="249" y="583"/>
                </a:lnTo>
                <a:lnTo>
                  <a:pt x="313" y="589"/>
                </a:lnTo>
                <a:lnTo>
                  <a:pt x="376" y="583"/>
                </a:lnTo>
                <a:lnTo>
                  <a:pt x="435" y="566"/>
                </a:lnTo>
                <a:lnTo>
                  <a:pt x="488" y="539"/>
                </a:lnTo>
                <a:lnTo>
                  <a:pt x="534" y="503"/>
                </a:lnTo>
                <a:lnTo>
                  <a:pt x="572" y="459"/>
                </a:lnTo>
                <a:lnTo>
                  <a:pt x="601" y="409"/>
                </a:lnTo>
                <a:lnTo>
                  <a:pt x="619" y="354"/>
                </a:lnTo>
                <a:lnTo>
                  <a:pt x="626" y="295"/>
                </a:lnTo>
                <a:lnTo>
                  <a:pt x="626" y="295"/>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8" name="Rectangle 22"/>
          <p:cNvSpPr>
            <a:spLocks noChangeArrowheads="1"/>
          </p:cNvSpPr>
          <p:nvPr/>
        </p:nvSpPr>
        <p:spPr bwMode="auto">
          <a:xfrm>
            <a:off x="1757363" y="5594350"/>
            <a:ext cx="7874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Mobile</a:t>
            </a:r>
          </a:p>
        </p:txBody>
      </p:sp>
      <p:sp>
        <p:nvSpPr>
          <p:cNvPr id="9239" name="Rectangle 23"/>
          <p:cNvSpPr>
            <a:spLocks noChangeArrowheads="1"/>
          </p:cNvSpPr>
          <p:nvPr/>
        </p:nvSpPr>
        <p:spPr bwMode="auto">
          <a:xfrm>
            <a:off x="2009775" y="5846763"/>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6</a:t>
            </a:r>
          </a:p>
        </p:txBody>
      </p:sp>
      <p:sp>
        <p:nvSpPr>
          <p:cNvPr id="9240" name="Line 24"/>
          <p:cNvSpPr>
            <a:spLocks noChangeShapeType="1"/>
          </p:cNvSpPr>
          <p:nvPr/>
        </p:nvSpPr>
        <p:spPr bwMode="auto">
          <a:xfrm flipH="1" flipV="1">
            <a:off x="4787900" y="2173288"/>
            <a:ext cx="1163638" cy="166687"/>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41" name="Line 25"/>
          <p:cNvSpPr>
            <a:spLocks noChangeShapeType="1"/>
          </p:cNvSpPr>
          <p:nvPr/>
        </p:nvSpPr>
        <p:spPr bwMode="auto">
          <a:xfrm flipH="1">
            <a:off x="2549525" y="2130425"/>
            <a:ext cx="1114425" cy="67945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42" name="Line 26"/>
          <p:cNvSpPr>
            <a:spLocks noChangeShapeType="1"/>
          </p:cNvSpPr>
          <p:nvPr/>
        </p:nvSpPr>
        <p:spPr bwMode="auto">
          <a:xfrm flipH="1">
            <a:off x="5948363" y="2943225"/>
            <a:ext cx="468312" cy="64135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43" name="Line 27"/>
          <p:cNvSpPr>
            <a:spLocks noChangeShapeType="1"/>
          </p:cNvSpPr>
          <p:nvPr/>
        </p:nvSpPr>
        <p:spPr bwMode="auto">
          <a:xfrm flipH="1" flipV="1">
            <a:off x="2533650" y="3544888"/>
            <a:ext cx="596900" cy="47625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44" name="Line 28"/>
          <p:cNvSpPr>
            <a:spLocks noChangeShapeType="1"/>
          </p:cNvSpPr>
          <p:nvPr/>
        </p:nvSpPr>
        <p:spPr bwMode="auto">
          <a:xfrm>
            <a:off x="2236788" y="3649663"/>
            <a:ext cx="666750" cy="54610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45" name="Line 29"/>
          <p:cNvSpPr>
            <a:spLocks noChangeShapeType="1"/>
          </p:cNvSpPr>
          <p:nvPr/>
        </p:nvSpPr>
        <p:spPr bwMode="auto">
          <a:xfrm flipV="1">
            <a:off x="4002088" y="4211638"/>
            <a:ext cx="1047750" cy="100012"/>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46" name="Line 30"/>
          <p:cNvSpPr>
            <a:spLocks noChangeShapeType="1"/>
          </p:cNvSpPr>
          <p:nvPr/>
        </p:nvSpPr>
        <p:spPr bwMode="auto">
          <a:xfrm flipH="1" flipV="1">
            <a:off x="5916613" y="4656138"/>
            <a:ext cx="661987" cy="849312"/>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47" name="Line 31"/>
          <p:cNvSpPr>
            <a:spLocks noChangeShapeType="1"/>
          </p:cNvSpPr>
          <p:nvPr/>
        </p:nvSpPr>
        <p:spPr bwMode="auto">
          <a:xfrm flipH="1" flipV="1">
            <a:off x="3957638" y="4729163"/>
            <a:ext cx="2192337" cy="106680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48" name="Line 32"/>
          <p:cNvSpPr>
            <a:spLocks noChangeShapeType="1"/>
          </p:cNvSpPr>
          <p:nvPr/>
        </p:nvSpPr>
        <p:spPr bwMode="auto">
          <a:xfrm flipH="1" flipV="1">
            <a:off x="2767013" y="5821363"/>
            <a:ext cx="3336925" cy="149225"/>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49" name="Line 33"/>
          <p:cNvSpPr>
            <a:spLocks noChangeShapeType="1"/>
          </p:cNvSpPr>
          <p:nvPr/>
        </p:nvSpPr>
        <p:spPr bwMode="auto">
          <a:xfrm flipV="1">
            <a:off x="2143125" y="4713288"/>
            <a:ext cx="919163" cy="630237"/>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50" name="Line 34"/>
          <p:cNvSpPr>
            <a:spLocks noChangeShapeType="1"/>
          </p:cNvSpPr>
          <p:nvPr/>
        </p:nvSpPr>
        <p:spPr bwMode="auto">
          <a:xfrm flipH="1">
            <a:off x="2500313" y="4752975"/>
            <a:ext cx="757237" cy="55880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51" name="Rectangle 35"/>
          <p:cNvSpPr>
            <a:spLocks noChangeArrowheads="1"/>
          </p:cNvSpPr>
          <p:nvPr/>
        </p:nvSpPr>
        <p:spPr bwMode="auto">
          <a:xfrm>
            <a:off x="5186363" y="1893888"/>
            <a:ext cx="501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00CC00"/>
                </a:solidFill>
              </a:rPr>
              <a:t>$30</a:t>
            </a:r>
          </a:p>
        </p:txBody>
      </p:sp>
      <p:sp>
        <p:nvSpPr>
          <p:cNvPr id="9252" name="Rectangle 36"/>
          <p:cNvSpPr>
            <a:spLocks noChangeArrowheads="1"/>
          </p:cNvSpPr>
          <p:nvPr/>
        </p:nvSpPr>
        <p:spPr bwMode="auto">
          <a:xfrm>
            <a:off x="6197600" y="3179763"/>
            <a:ext cx="501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00CC00"/>
                </a:solidFill>
              </a:rPr>
              <a:t>$40</a:t>
            </a:r>
          </a:p>
        </p:txBody>
      </p:sp>
      <p:sp>
        <p:nvSpPr>
          <p:cNvPr id="9253" name="Rectangle 37"/>
          <p:cNvSpPr>
            <a:spLocks noChangeArrowheads="1"/>
          </p:cNvSpPr>
          <p:nvPr/>
        </p:nvSpPr>
        <p:spPr bwMode="auto">
          <a:xfrm>
            <a:off x="2633663" y="2171700"/>
            <a:ext cx="501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00CC00"/>
                </a:solidFill>
              </a:rPr>
              <a:t>$50</a:t>
            </a:r>
          </a:p>
        </p:txBody>
      </p:sp>
      <p:sp>
        <p:nvSpPr>
          <p:cNvPr id="9254" name="Rectangle 38"/>
          <p:cNvSpPr>
            <a:spLocks noChangeArrowheads="1"/>
          </p:cNvSpPr>
          <p:nvPr/>
        </p:nvSpPr>
        <p:spPr bwMode="auto">
          <a:xfrm>
            <a:off x="2076450" y="3817938"/>
            <a:ext cx="501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00CC00"/>
                </a:solidFill>
              </a:rPr>
              <a:t>$35</a:t>
            </a:r>
          </a:p>
        </p:txBody>
      </p:sp>
      <p:sp>
        <p:nvSpPr>
          <p:cNvPr id="9255" name="Rectangle 39"/>
          <p:cNvSpPr>
            <a:spLocks noChangeArrowheads="1"/>
          </p:cNvSpPr>
          <p:nvPr/>
        </p:nvSpPr>
        <p:spPr bwMode="auto">
          <a:xfrm>
            <a:off x="2738438" y="3459163"/>
            <a:ext cx="501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00CC00"/>
                </a:solidFill>
              </a:rPr>
              <a:t>$40</a:t>
            </a:r>
          </a:p>
        </p:txBody>
      </p:sp>
      <p:sp>
        <p:nvSpPr>
          <p:cNvPr id="9256" name="Rectangle 40"/>
          <p:cNvSpPr>
            <a:spLocks noChangeArrowheads="1"/>
          </p:cNvSpPr>
          <p:nvPr/>
        </p:nvSpPr>
        <p:spPr bwMode="auto">
          <a:xfrm>
            <a:off x="4295775" y="3911600"/>
            <a:ext cx="501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00CC00"/>
                </a:solidFill>
              </a:rPr>
              <a:t>$30</a:t>
            </a:r>
          </a:p>
        </p:txBody>
      </p:sp>
      <p:sp>
        <p:nvSpPr>
          <p:cNvPr id="9257" name="Rectangle 41"/>
          <p:cNvSpPr>
            <a:spLocks noChangeArrowheads="1"/>
          </p:cNvSpPr>
          <p:nvPr/>
        </p:nvSpPr>
        <p:spPr bwMode="auto">
          <a:xfrm>
            <a:off x="2857500" y="5037138"/>
            <a:ext cx="501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00CC00"/>
                </a:solidFill>
              </a:rPr>
              <a:t>$35</a:t>
            </a:r>
          </a:p>
        </p:txBody>
      </p:sp>
      <p:sp>
        <p:nvSpPr>
          <p:cNvPr id="9258" name="Rectangle 42"/>
          <p:cNvSpPr>
            <a:spLocks noChangeArrowheads="1"/>
          </p:cNvSpPr>
          <p:nvPr/>
        </p:nvSpPr>
        <p:spPr bwMode="auto">
          <a:xfrm>
            <a:off x="2105025" y="4735513"/>
            <a:ext cx="501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00CC00"/>
                </a:solidFill>
              </a:rPr>
              <a:t>$25</a:t>
            </a:r>
          </a:p>
        </p:txBody>
      </p:sp>
      <p:sp>
        <p:nvSpPr>
          <p:cNvPr id="9259" name="Rectangle 43"/>
          <p:cNvSpPr>
            <a:spLocks noChangeArrowheads="1"/>
          </p:cNvSpPr>
          <p:nvPr/>
        </p:nvSpPr>
        <p:spPr bwMode="auto">
          <a:xfrm>
            <a:off x="3998913" y="5929313"/>
            <a:ext cx="501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00CC00"/>
                </a:solidFill>
              </a:rPr>
              <a:t>$50</a:t>
            </a:r>
          </a:p>
        </p:txBody>
      </p:sp>
      <p:sp>
        <p:nvSpPr>
          <p:cNvPr id="9260" name="Rectangle 44"/>
          <p:cNvSpPr>
            <a:spLocks noChangeArrowheads="1"/>
          </p:cNvSpPr>
          <p:nvPr/>
        </p:nvSpPr>
        <p:spPr bwMode="auto">
          <a:xfrm>
            <a:off x="4987925" y="4956175"/>
            <a:ext cx="501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00CC00"/>
                </a:solidFill>
              </a:rPr>
              <a:t>$45</a:t>
            </a:r>
          </a:p>
        </p:txBody>
      </p:sp>
      <p:sp>
        <p:nvSpPr>
          <p:cNvPr id="9261" name="Rectangle 45"/>
          <p:cNvSpPr>
            <a:spLocks noChangeArrowheads="1"/>
          </p:cNvSpPr>
          <p:nvPr/>
        </p:nvSpPr>
        <p:spPr bwMode="auto">
          <a:xfrm>
            <a:off x="6256338" y="4897438"/>
            <a:ext cx="501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00CC00"/>
                </a:solidFill>
              </a:rPr>
              <a:t>$50</a:t>
            </a:r>
          </a:p>
        </p:txBody>
      </p:sp>
      <p:sp>
        <p:nvSpPr>
          <p:cNvPr id="9262" name="Rectangle 46"/>
          <p:cNvSpPr>
            <a:spLocks noChangeArrowheads="1"/>
          </p:cNvSpPr>
          <p:nvPr/>
        </p:nvSpPr>
        <p:spPr bwMode="auto">
          <a:xfrm>
            <a:off x="6962775" y="2217738"/>
            <a:ext cx="5651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-200</a:t>
            </a:r>
          </a:p>
        </p:txBody>
      </p:sp>
      <p:sp>
        <p:nvSpPr>
          <p:cNvPr id="9263" name="Rectangle 47"/>
          <p:cNvSpPr>
            <a:spLocks noChangeArrowheads="1"/>
          </p:cNvSpPr>
          <p:nvPr/>
        </p:nvSpPr>
        <p:spPr bwMode="auto">
          <a:xfrm>
            <a:off x="7067550" y="5800725"/>
            <a:ext cx="5651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-300</a:t>
            </a:r>
          </a:p>
        </p:txBody>
      </p:sp>
      <p:sp>
        <p:nvSpPr>
          <p:cNvPr id="9264" name="Rectangle 48"/>
          <p:cNvSpPr>
            <a:spLocks noChangeArrowheads="1"/>
          </p:cNvSpPr>
          <p:nvPr/>
        </p:nvSpPr>
        <p:spPr bwMode="auto">
          <a:xfrm>
            <a:off x="6186488" y="4003675"/>
            <a:ext cx="5080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+80</a:t>
            </a:r>
          </a:p>
        </p:txBody>
      </p:sp>
      <p:sp>
        <p:nvSpPr>
          <p:cNvPr id="9265" name="Rectangle 49"/>
          <p:cNvSpPr>
            <a:spLocks noChangeArrowheads="1"/>
          </p:cNvSpPr>
          <p:nvPr/>
        </p:nvSpPr>
        <p:spPr bwMode="auto">
          <a:xfrm>
            <a:off x="3843338" y="1371600"/>
            <a:ext cx="61277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+100</a:t>
            </a:r>
          </a:p>
        </p:txBody>
      </p:sp>
      <p:sp>
        <p:nvSpPr>
          <p:cNvPr id="9266" name="Rectangle 50"/>
          <p:cNvSpPr>
            <a:spLocks noChangeArrowheads="1"/>
          </p:cNvSpPr>
          <p:nvPr/>
        </p:nvSpPr>
        <p:spPr bwMode="auto">
          <a:xfrm>
            <a:off x="1060450" y="3040063"/>
            <a:ext cx="5080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+60</a:t>
            </a:r>
          </a:p>
        </p:txBody>
      </p:sp>
      <p:sp>
        <p:nvSpPr>
          <p:cNvPr id="9267" name="Rectangle 51"/>
          <p:cNvSpPr>
            <a:spLocks noChangeArrowheads="1"/>
          </p:cNvSpPr>
          <p:nvPr/>
        </p:nvSpPr>
        <p:spPr bwMode="auto">
          <a:xfrm>
            <a:off x="2362200" y="4279900"/>
            <a:ext cx="61277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+170</a:t>
            </a:r>
          </a:p>
        </p:txBody>
      </p:sp>
      <p:sp>
        <p:nvSpPr>
          <p:cNvPr id="9268" name="Rectangle 52"/>
          <p:cNvSpPr>
            <a:spLocks noChangeArrowheads="1"/>
          </p:cNvSpPr>
          <p:nvPr/>
        </p:nvSpPr>
        <p:spPr bwMode="auto">
          <a:xfrm>
            <a:off x="1123950" y="5646738"/>
            <a:ext cx="5080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+70</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274638"/>
            <a:ext cx="8229600" cy="736600"/>
          </a:xfrm>
          <a:noFill/>
          <a:ln/>
        </p:spPr>
        <p:txBody>
          <a:bodyPr lIns="92075" tIns="46038" rIns="92075" bIns="46038"/>
          <a:lstStyle/>
          <a:p>
            <a:r>
              <a:rPr lang="en-US" sz="4000" i="1">
                <a:solidFill>
                  <a:schemeClr val="hlink"/>
                </a:solidFill>
              </a:rPr>
              <a:t>Defining the Decision Variables</a:t>
            </a:r>
          </a:p>
        </p:txBody>
      </p:sp>
      <p:sp>
        <p:nvSpPr>
          <p:cNvPr id="10243" name="Rectangle 3"/>
          <p:cNvSpPr>
            <a:spLocks noGrp="1" noChangeArrowheads="1"/>
          </p:cNvSpPr>
          <p:nvPr>
            <p:ph type="body" idx="1"/>
          </p:nvPr>
        </p:nvSpPr>
        <p:spPr>
          <a:xfrm>
            <a:off x="533400" y="1474788"/>
            <a:ext cx="8077200" cy="1954212"/>
          </a:xfrm>
          <a:noFill/>
          <a:ln/>
        </p:spPr>
        <p:txBody>
          <a:bodyPr lIns="92075" tIns="46038" rIns="92075" bIns="46038"/>
          <a:lstStyle/>
          <a:p>
            <a:pPr marL="0" indent="0" algn="ctr">
              <a:buFont typeface="Wingdings" pitchFamily="2" charset="2"/>
              <a:buNone/>
            </a:pPr>
            <a:r>
              <a:rPr lang="en-US" sz="2800" dirty="0"/>
              <a:t>For each arc in a network flow model </a:t>
            </a:r>
          </a:p>
          <a:p>
            <a:pPr marL="0" indent="0" algn="ctr">
              <a:lnSpc>
                <a:spcPct val="70000"/>
              </a:lnSpc>
              <a:buFont typeface="Wingdings" pitchFamily="2" charset="2"/>
              <a:buNone/>
            </a:pPr>
            <a:r>
              <a:rPr lang="en-US" sz="2800" dirty="0"/>
              <a:t>we define a decision variable as:</a:t>
            </a:r>
          </a:p>
          <a:p>
            <a:pPr marL="0" indent="0" algn="ctr">
              <a:lnSpc>
                <a:spcPct val="70000"/>
              </a:lnSpc>
              <a:buFont typeface="Wingdings" pitchFamily="2" charset="2"/>
              <a:buNone/>
            </a:pPr>
            <a:endParaRPr lang="en-US" sz="2800" dirty="0"/>
          </a:p>
          <a:p>
            <a:pPr marL="0" indent="0">
              <a:buFont typeface="Wingdings" pitchFamily="2" charset="2"/>
              <a:buNone/>
            </a:pPr>
            <a:r>
              <a:rPr lang="en-US" sz="2400" dirty="0" err="1">
                <a:latin typeface="Times New Roman" pitchFamily="18" charset="0"/>
              </a:rPr>
              <a:t>X</a:t>
            </a:r>
            <a:r>
              <a:rPr lang="en-US" sz="2400" i="1" baseline="-25000" dirty="0" err="1">
                <a:latin typeface="Times New Roman" pitchFamily="18" charset="0"/>
              </a:rPr>
              <a:t>ij</a:t>
            </a:r>
            <a:r>
              <a:rPr lang="en-US" sz="2400" dirty="0">
                <a:latin typeface="Times New Roman" pitchFamily="18" charset="0"/>
              </a:rPr>
              <a:t> = </a:t>
            </a:r>
            <a:r>
              <a:rPr lang="en-US" sz="2100" dirty="0"/>
              <a:t>the amount being shipped (or flowing) </a:t>
            </a:r>
            <a:r>
              <a:rPr lang="en-US" sz="2100" i="1" u="sng" dirty="0"/>
              <a:t>from</a:t>
            </a:r>
            <a:r>
              <a:rPr lang="en-US" sz="2100" dirty="0"/>
              <a:t> node </a:t>
            </a:r>
            <a:r>
              <a:rPr lang="en-US" sz="2100" i="1" dirty="0" err="1">
                <a:latin typeface="Times New Roman" pitchFamily="18" charset="0"/>
              </a:rPr>
              <a:t>i</a:t>
            </a:r>
            <a:r>
              <a:rPr lang="en-US" sz="2100" dirty="0"/>
              <a:t>  </a:t>
            </a:r>
            <a:r>
              <a:rPr lang="en-US" sz="2100" i="1" u="sng" dirty="0"/>
              <a:t>to</a:t>
            </a:r>
            <a:r>
              <a:rPr lang="en-US" sz="2100" dirty="0"/>
              <a:t> node </a:t>
            </a:r>
            <a:r>
              <a:rPr lang="en-US" sz="2100" i="1" dirty="0">
                <a:latin typeface="Times New Roman" pitchFamily="18" charset="0"/>
              </a:rPr>
              <a:t>j</a:t>
            </a:r>
          </a:p>
        </p:txBody>
      </p:sp>
      <p:sp>
        <p:nvSpPr>
          <p:cNvPr id="10244" name="Rectangle 4"/>
          <p:cNvSpPr>
            <a:spLocks noChangeArrowheads="1"/>
          </p:cNvSpPr>
          <p:nvPr/>
        </p:nvSpPr>
        <p:spPr bwMode="auto">
          <a:xfrm>
            <a:off x="523875" y="3519488"/>
            <a:ext cx="8266113" cy="140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sz="2600" dirty="0">
                <a:latin typeface="Tahoma" pitchFamily="34" charset="0"/>
              </a:rPr>
              <a:t>For example…</a:t>
            </a:r>
          </a:p>
          <a:p>
            <a:pPr eaLnBrk="0" hangingPunct="0">
              <a:spcBef>
                <a:spcPct val="50000"/>
              </a:spcBef>
            </a:pPr>
            <a:r>
              <a:rPr lang="en-US" sz="2000" dirty="0">
                <a:latin typeface="Times New Roman" pitchFamily="18" charset="0"/>
              </a:rPr>
              <a:t>X</a:t>
            </a:r>
            <a:r>
              <a:rPr lang="en-US" sz="2000" baseline="-25000" dirty="0">
                <a:latin typeface="Times New Roman" pitchFamily="18" charset="0"/>
              </a:rPr>
              <a:t>12</a:t>
            </a:r>
            <a:r>
              <a:rPr lang="en-US" sz="2000" dirty="0">
                <a:latin typeface="Times New Roman" pitchFamily="18" charset="0"/>
              </a:rPr>
              <a:t> = </a:t>
            </a:r>
            <a:r>
              <a:rPr lang="en-US" sz="2000" dirty="0">
                <a:latin typeface="Tahoma" pitchFamily="34" charset="0"/>
              </a:rPr>
              <a:t>the # of cars shipped </a:t>
            </a:r>
            <a:r>
              <a:rPr lang="en-US" sz="2000" i="1" u="sng" dirty="0">
                <a:latin typeface="Tahoma" pitchFamily="34" charset="0"/>
              </a:rPr>
              <a:t>from</a:t>
            </a:r>
            <a:r>
              <a:rPr lang="en-US" sz="2000" dirty="0">
                <a:latin typeface="Tahoma" pitchFamily="34" charset="0"/>
              </a:rPr>
              <a:t> node 1 (Newark) </a:t>
            </a:r>
            <a:r>
              <a:rPr lang="en-US" sz="2000" i="1" u="sng" dirty="0">
                <a:latin typeface="Tahoma" pitchFamily="34" charset="0"/>
              </a:rPr>
              <a:t>to</a:t>
            </a:r>
            <a:r>
              <a:rPr lang="en-US" sz="2000" dirty="0">
                <a:latin typeface="Tahoma" pitchFamily="34" charset="0"/>
              </a:rPr>
              <a:t> node 2 (Boston)</a:t>
            </a:r>
          </a:p>
          <a:p>
            <a:pPr eaLnBrk="0" hangingPunct="0">
              <a:spcBef>
                <a:spcPct val="50000"/>
              </a:spcBef>
            </a:pPr>
            <a:r>
              <a:rPr lang="en-US" sz="2000" dirty="0">
                <a:latin typeface="Times New Roman" pitchFamily="18" charset="0"/>
              </a:rPr>
              <a:t>X</a:t>
            </a:r>
            <a:r>
              <a:rPr lang="en-US" sz="2000" baseline="-25000" dirty="0">
                <a:latin typeface="Times New Roman" pitchFamily="18" charset="0"/>
              </a:rPr>
              <a:t>56</a:t>
            </a:r>
            <a:r>
              <a:rPr lang="en-US" sz="2000" dirty="0">
                <a:latin typeface="Times New Roman" pitchFamily="18" charset="0"/>
              </a:rPr>
              <a:t> = </a:t>
            </a:r>
            <a:r>
              <a:rPr lang="en-US" sz="2000" dirty="0">
                <a:latin typeface="Tahoma" pitchFamily="34" charset="0"/>
              </a:rPr>
              <a:t>the # of cars shipped </a:t>
            </a:r>
            <a:r>
              <a:rPr lang="en-US" sz="2000" i="1" u="sng" dirty="0">
                <a:latin typeface="Tahoma" pitchFamily="34" charset="0"/>
              </a:rPr>
              <a:t>from</a:t>
            </a:r>
            <a:r>
              <a:rPr lang="en-US" sz="2000" dirty="0">
                <a:latin typeface="Tahoma" pitchFamily="34" charset="0"/>
              </a:rPr>
              <a:t> node 5 (Atlanta) </a:t>
            </a:r>
            <a:r>
              <a:rPr lang="en-US" sz="2000" i="1" u="sng" dirty="0">
                <a:latin typeface="Tahoma" pitchFamily="34" charset="0"/>
              </a:rPr>
              <a:t>to</a:t>
            </a:r>
            <a:r>
              <a:rPr lang="en-US" sz="2000" dirty="0">
                <a:latin typeface="Tahoma" pitchFamily="34" charset="0"/>
              </a:rPr>
              <a:t> node 6 (Mobile)</a:t>
            </a:r>
          </a:p>
        </p:txBody>
      </p:sp>
      <p:sp>
        <p:nvSpPr>
          <p:cNvPr id="10246" name="Text Box 6"/>
          <p:cNvSpPr txBox="1">
            <a:spLocks noChangeArrowheads="1"/>
          </p:cNvSpPr>
          <p:nvPr/>
        </p:nvSpPr>
        <p:spPr bwMode="auto">
          <a:xfrm>
            <a:off x="1828800" y="5410200"/>
            <a:ext cx="5334000" cy="8223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2400">
                <a:solidFill>
                  <a:schemeClr val="bg1"/>
                </a:solidFill>
                <a:latin typeface="Tahoma" pitchFamily="34" charset="0"/>
              </a:rPr>
              <a:t>Note: The number of arcs determines the number of variables!</a:t>
            </a:r>
          </a:p>
        </p:txBody>
      </p:sp>
      <p:sp>
        <p:nvSpPr>
          <p:cNvPr id="2" name="Footer Placeholder 1"/>
          <p:cNvSpPr>
            <a:spLocks noGrp="1"/>
          </p:cNvSpPr>
          <p:nvPr>
            <p:ph type="ftr" sz="quarter" idx="11"/>
          </p:nvPr>
        </p:nvSpPr>
        <p:spPr>
          <a:xfrm>
            <a:off x="3060700" y="6283325"/>
            <a:ext cx="2895600" cy="476250"/>
          </a:xfrm>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6"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noFill/>
          <a:ln/>
        </p:spPr>
        <p:txBody>
          <a:bodyPr lIns="92075" tIns="46038" rIns="92075" bIns="46038"/>
          <a:lstStyle/>
          <a:p>
            <a:r>
              <a:rPr lang="en-US" sz="4000" i="1">
                <a:solidFill>
                  <a:schemeClr val="hlink"/>
                </a:solidFill>
              </a:rPr>
              <a:t>Defining the Objective Function</a:t>
            </a:r>
          </a:p>
        </p:txBody>
      </p:sp>
      <p:sp>
        <p:nvSpPr>
          <p:cNvPr id="11267" name="Rectangle 3"/>
          <p:cNvSpPr>
            <a:spLocks noGrp="1" noChangeArrowheads="1"/>
          </p:cNvSpPr>
          <p:nvPr>
            <p:ph type="body" idx="1"/>
          </p:nvPr>
        </p:nvSpPr>
        <p:spPr>
          <a:noFill/>
          <a:ln/>
        </p:spPr>
        <p:txBody>
          <a:bodyPr lIns="92075" tIns="46038" rIns="92075" bIns="46038"/>
          <a:lstStyle/>
          <a:p>
            <a:pPr algn="ctr">
              <a:buFont typeface="Wingdings" pitchFamily="2" charset="2"/>
              <a:buNone/>
            </a:pPr>
            <a:r>
              <a:rPr lang="en-US" dirty="0"/>
              <a:t>Minimize total shipping costs.</a:t>
            </a:r>
          </a:p>
          <a:p>
            <a:pPr algn="ctr">
              <a:buFont typeface="Wingdings" pitchFamily="2" charset="2"/>
              <a:buNone/>
            </a:pPr>
            <a:endParaRPr lang="en-US" dirty="0"/>
          </a:p>
          <a:p>
            <a:pPr>
              <a:buFont typeface="Wingdings" pitchFamily="2" charset="2"/>
              <a:buNone/>
            </a:pPr>
            <a:r>
              <a:rPr lang="en-US" dirty="0"/>
              <a:t>MIN</a:t>
            </a:r>
            <a:r>
              <a:rPr lang="en-US" dirty="0">
                <a:latin typeface="Times New Roman" pitchFamily="18" charset="0"/>
              </a:rPr>
              <a:t>:  </a:t>
            </a:r>
            <a:r>
              <a:rPr lang="en-US" dirty="0"/>
              <a:t>30X</a:t>
            </a:r>
            <a:r>
              <a:rPr lang="en-US" baseline="-25000" dirty="0"/>
              <a:t>12</a:t>
            </a:r>
            <a:r>
              <a:rPr lang="en-US" dirty="0"/>
              <a:t> + 40X</a:t>
            </a:r>
            <a:r>
              <a:rPr lang="en-US" baseline="-25000" dirty="0"/>
              <a:t>14</a:t>
            </a:r>
            <a:r>
              <a:rPr lang="en-US" dirty="0"/>
              <a:t> + 50X</a:t>
            </a:r>
            <a:r>
              <a:rPr lang="en-US" baseline="-25000" dirty="0"/>
              <a:t>23</a:t>
            </a:r>
            <a:r>
              <a:rPr lang="en-US" dirty="0"/>
              <a:t> + 35X</a:t>
            </a:r>
            <a:r>
              <a:rPr lang="en-US" baseline="-25000" dirty="0"/>
              <a:t>35</a:t>
            </a:r>
            <a:r>
              <a:rPr lang="en-US" dirty="0"/>
              <a:t> </a:t>
            </a:r>
          </a:p>
          <a:p>
            <a:pPr>
              <a:buFont typeface="Wingdings" pitchFamily="2" charset="2"/>
              <a:buNone/>
            </a:pPr>
            <a:r>
              <a:rPr lang="en-US" dirty="0"/>
              <a:t>		 +40X</a:t>
            </a:r>
            <a:r>
              <a:rPr lang="en-US" baseline="-25000" dirty="0"/>
              <a:t>53</a:t>
            </a:r>
            <a:r>
              <a:rPr lang="en-US" dirty="0"/>
              <a:t> + 30X</a:t>
            </a:r>
            <a:r>
              <a:rPr lang="en-US" baseline="-25000" dirty="0"/>
              <a:t>54</a:t>
            </a:r>
            <a:r>
              <a:rPr lang="en-US" dirty="0"/>
              <a:t> + 35X</a:t>
            </a:r>
            <a:r>
              <a:rPr lang="en-US" baseline="-25000" dirty="0"/>
              <a:t>56</a:t>
            </a:r>
            <a:r>
              <a:rPr lang="en-US" dirty="0"/>
              <a:t> + 25X</a:t>
            </a:r>
            <a:r>
              <a:rPr lang="en-US" baseline="-25000" dirty="0"/>
              <a:t>65</a:t>
            </a:r>
            <a:r>
              <a:rPr lang="en-US" dirty="0"/>
              <a:t> </a:t>
            </a:r>
          </a:p>
          <a:p>
            <a:pPr>
              <a:buFont typeface="Wingdings" pitchFamily="2" charset="2"/>
              <a:buNone/>
            </a:pPr>
            <a:r>
              <a:rPr lang="en-US" dirty="0"/>
              <a:t>		+ 50X</a:t>
            </a:r>
            <a:r>
              <a:rPr lang="en-US" baseline="-25000" dirty="0"/>
              <a:t>74</a:t>
            </a:r>
            <a:r>
              <a:rPr lang="en-US" dirty="0"/>
              <a:t> + 45X</a:t>
            </a:r>
            <a:r>
              <a:rPr lang="en-US" baseline="-25000" dirty="0"/>
              <a:t>75</a:t>
            </a:r>
            <a:r>
              <a:rPr lang="en-US" dirty="0"/>
              <a:t> + 50X</a:t>
            </a:r>
            <a:r>
              <a:rPr lang="en-US" baseline="-25000" dirty="0"/>
              <a:t>76</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381000" y="685800"/>
            <a:ext cx="8382000" cy="1219200"/>
          </a:xfrm>
          <a:noFill/>
          <a:ln/>
        </p:spPr>
        <p:txBody>
          <a:bodyPr lIns="92075" tIns="46038" rIns="92075" bIns="46038"/>
          <a:lstStyle/>
          <a:p>
            <a:pPr>
              <a:lnSpc>
                <a:spcPct val="80000"/>
              </a:lnSpc>
            </a:pPr>
            <a:r>
              <a:rPr lang="en-US" sz="3600" i="1">
                <a:solidFill>
                  <a:schemeClr val="hlink"/>
                </a:solidFill>
              </a:rPr>
              <a:t>Constraints for Network Flow  Problems:</a:t>
            </a:r>
            <a:br>
              <a:rPr lang="en-US" sz="3600" i="1">
                <a:solidFill>
                  <a:schemeClr val="hlink"/>
                </a:solidFill>
              </a:rPr>
            </a:br>
            <a:r>
              <a:rPr lang="en-US" sz="3600" i="1">
                <a:solidFill>
                  <a:schemeClr val="hlink"/>
                </a:solidFill>
              </a:rPr>
              <a:t>The Balance-of-Flow Rules</a:t>
            </a:r>
          </a:p>
        </p:txBody>
      </p:sp>
      <p:sp>
        <p:nvSpPr>
          <p:cNvPr id="12291" name="Rectangle 3"/>
          <p:cNvSpPr>
            <a:spLocks noGrp="1" noChangeArrowheads="1"/>
          </p:cNvSpPr>
          <p:nvPr>
            <p:ph type="body" idx="1"/>
          </p:nvPr>
        </p:nvSpPr>
        <p:spPr>
          <a:xfrm>
            <a:off x="336550" y="2201863"/>
            <a:ext cx="8572500" cy="2751137"/>
          </a:xfrm>
          <a:noFill/>
          <a:ln/>
        </p:spPr>
        <p:txBody>
          <a:bodyPr lIns="92075" tIns="46038" rIns="92075" bIns="46038"/>
          <a:lstStyle/>
          <a:p>
            <a:pPr marL="0" indent="0">
              <a:buFont typeface="Wingdings" pitchFamily="2" charset="2"/>
              <a:buNone/>
              <a:tabLst>
                <a:tab pos="1768475" algn="ctr"/>
                <a:tab pos="6122988" algn="ctr"/>
              </a:tabLst>
            </a:pPr>
            <a:r>
              <a:rPr lang="en-US" sz="2000" b="1" dirty="0"/>
              <a:t>	For Minimum Cost Network 	Apply This Balance-of-Flow </a:t>
            </a:r>
          </a:p>
          <a:p>
            <a:pPr marL="0" indent="0">
              <a:buFont typeface="Wingdings" pitchFamily="2" charset="2"/>
              <a:buNone/>
              <a:tabLst>
                <a:tab pos="1768475" algn="ctr"/>
                <a:tab pos="6122988" algn="ctr"/>
              </a:tabLst>
            </a:pPr>
            <a:r>
              <a:rPr lang="en-US" sz="2000" b="1" dirty="0"/>
              <a:t>	Flow Problems Where:	Rule At Each Node: 	</a:t>
            </a:r>
          </a:p>
          <a:p>
            <a:pPr marL="0" indent="0">
              <a:spcBef>
                <a:spcPct val="0"/>
              </a:spcBef>
              <a:buFont typeface="Wingdings" pitchFamily="2" charset="2"/>
              <a:buNone/>
              <a:tabLst>
                <a:tab pos="1768475" algn="ctr"/>
                <a:tab pos="6122988" algn="ctr"/>
              </a:tabLst>
            </a:pPr>
            <a:r>
              <a:rPr lang="en-US" sz="2000" dirty="0"/>
              <a:t>	</a:t>
            </a:r>
          </a:p>
          <a:p>
            <a:pPr marL="0" indent="0">
              <a:lnSpc>
                <a:spcPct val="75000"/>
              </a:lnSpc>
              <a:spcBef>
                <a:spcPct val="0"/>
              </a:spcBef>
              <a:buFont typeface="Wingdings" pitchFamily="2" charset="2"/>
              <a:buNone/>
              <a:tabLst>
                <a:tab pos="1768475" algn="ctr"/>
                <a:tab pos="6122988" algn="ctr"/>
              </a:tabLst>
            </a:pPr>
            <a:r>
              <a:rPr lang="en-US" sz="2000" dirty="0"/>
              <a:t> Total Supply &gt; Total Demand	Inflow-Outflow &gt;= Supply or Demand</a:t>
            </a:r>
          </a:p>
          <a:p>
            <a:pPr marL="0" indent="0">
              <a:lnSpc>
                <a:spcPct val="75000"/>
              </a:lnSpc>
              <a:spcBef>
                <a:spcPct val="0"/>
              </a:spcBef>
              <a:buFont typeface="Wingdings" pitchFamily="2" charset="2"/>
              <a:buNone/>
              <a:tabLst>
                <a:tab pos="1768475" algn="ctr"/>
                <a:tab pos="6122988" algn="ctr"/>
              </a:tabLst>
            </a:pPr>
            <a:endParaRPr lang="en-US" sz="2000" dirty="0"/>
          </a:p>
          <a:p>
            <a:pPr marL="0" indent="0">
              <a:lnSpc>
                <a:spcPct val="75000"/>
              </a:lnSpc>
              <a:spcBef>
                <a:spcPct val="0"/>
              </a:spcBef>
              <a:buFont typeface="Wingdings" pitchFamily="2" charset="2"/>
              <a:buNone/>
              <a:tabLst>
                <a:tab pos="1768475" algn="ctr"/>
                <a:tab pos="6122988" algn="ctr"/>
              </a:tabLst>
            </a:pPr>
            <a:r>
              <a:rPr lang="en-US" sz="2000" dirty="0"/>
              <a:t>	Total Supply &lt; Total Demand	Inflow-Outflow &lt;=Supply or Demand	</a:t>
            </a:r>
          </a:p>
          <a:p>
            <a:pPr marL="0" indent="0">
              <a:lnSpc>
                <a:spcPct val="75000"/>
              </a:lnSpc>
              <a:spcBef>
                <a:spcPct val="0"/>
              </a:spcBef>
              <a:buFont typeface="Wingdings" pitchFamily="2" charset="2"/>
              <a:buNone/>
              <a:tabLst>
                <a:tab pos="1768475" algn="ctr"/>
                <a:tab pos="6122988" algn="ctr"/>
              </a:tabLst>
            </a:pPr>
            <a:endParaRPr lang="en-US" sz="2000" dirty="0"/>
          </a:p>
          <a:p>
            <a:pPr marL="0" indent="0">
              <a:lnSpc>
                <a:spcPct val="75000"/>
              </a:lnSpc>
              <a:spcBef>
                <a:spcPct val="0"/>
              </a:spcBef>
              <a:buFont typeface="Wingdings" pitchFamily="2" charset="2"/>
              <a:buNone/>
              <a:tabLst>
                <a:tab pos="1768475" algn="ctr"/>
                <a:tab pos="6122988" algn="ctr"/>
              </a:tabLst>
            </a:pPr>
            <a:r>
              <a:rPr lang="en-US" sz="2000" dirty="0"/>
              <a:t>	Total Supply = Total Demand	Inflow-Outflow = Supply or Demand	</a:t>
            </a:r>
          </a:p>
          <a:p>
            <a:pPr marL="0" indent="0">
              <a:buFont typeface="Wingdings" pitchFamily="2" charset="2"/>
              <a:buNone/>
              <a:tabLst>
                <a:tab pos="1768475" algn="ctr"/>
                <a:tab pos="6122988" algn="ctr"/>
              </a:tabLst>
            </a:pPr>
            <a:endParaRPr lang="en-US" sz="2000" dirty="0"/>
          </a:p>
        </p:txBody>
      </p:sp>
      <p:sp>
        <p:nvSpPr>
          <p:cNvPr id="12292" name="Line 4"/>
          <p:cNvSpPr>
            <a:spLocks noChangeShapeType="1"/>
          </p:cNvSpPr>
          <p:nvPr/>
        </p:nvSpPr>
        <p:spPr bwMode="auto">
          <a:xfrm>
            <a:off x="412750" y="3048000"/>
            <a:ext cx="8239125"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85800" y="301625"/>
            <a:ext cx="7772400" cy="665163"/>
          </a:xfrm>
          <a:noFill/>
          <a:ln/>
        </p:spPr>
        <p:txBody>
          <a:bodyPr lIns="92075" tIns="46038" rIns="92075" bIns="46038"/>
          <a:lstStyle/>
          <a:p>
            <a:r>
              <a:rPr lang="en-US" sz="4000" i="1">
                <a:solidFill>
                  <a:schemeClr val="hlink"/>
                </a:solidFill>
              </a:rPr>
              <a:t>Defining the Constraints</a:t>
            </a:r>
          </a:p>
        </p:txBody>
      </p:sp>
      <p:sp>
        <p:nvSpPr>
          <p:cNvPr id="13315" name="Rectangle 3"/>
          <p:cNvSpPr>
            <a:spLocks noGrp="1" noChangeArrowheads="1"/>
          </p:cNvSpPr>
          <p:nvPr>
            <p:ph type="body" idx="1"/>
          </p:nvPr>
        </p:nvSpPr>
        <p:spPr>
          <a:xfrm>
            <a:off x="304800" y="1103313"/>
            <a:ext cx="8382000" cy="5386387"/>
          </a:xfrm>
          <a:noFill/>
          <a:ln/>
        </p:spPr>
        <p:txBody>
          <a:bodyPr lIns="92075" tIns="46038" rIns="92075" bIns="46038"/>
          <a:lstStyle/>
          <a:p>
            <a:r>
              <a:rPr lang="en-US" sz="3000" dirty="0"/>
              <a:t>In the BMC problem:</a:t>
            </a:r>
            <a:r>
              <a:rPr lang="en-US" dirty="0"/>
              <a:t> </a:t>
            </a:r>
          </a:p>
          <a:p>
            <a:pPr marL="571500" lvl="1" indent="0">
              <a:buFontTx/>
              <a:buNone/>
            </a:pPr>
            <a:r>
              <a:rPr lang="en-US" dirty="0"/>
              <a:t>Total Supply = 500 cars</a:t>
            </a:r>
          </a:p>
          <a:p>
            <a:pPr marL="571500" lvl="1" indent="0">
              <a:buFontTx/>
              <a:buNone/>
            </a:pPr>
            <a:r>
              <a:rPr lang="en-US" dirty="0"/>
              <a:t>Total Demand = 480 cars</a:t>
            </a:r>
          </a:p>
          <a:p>
            <a:r>
              <a:rPr lang="en-US" sz="3000" dirty="0"/>
              <a:t>For each node we need a constraint like this:</a:t>
            </a:r>
          </a:p>
          <a:p>
            <a:pPr marL="571500" lvl="1" indent="0">
              <a:buFontTx/>
              <a:buNone/>
            </a:pPr>
            <a:r>
              <a:rPr lang="en-US" sz="2400" dirty="0"/>
              <a:t>Inflow - Outflow &gt;= Supply or Demand</a:t>
            </a:r>
          </a:p>
          <a:p>
            <a:r>
              <a:rPr lang="en-US" sz="3000" dirty="0"/>
              <a:t>Constraint for node 1:</a:t>
            </a:r>
          </a:p>
          <a:p>
            <a:pPr marL="571500" lvl="1" indent="0">
              <a:buFontTx/>
              <a:buNone/>
            </a:pPr>
            <a:r>
              <a:rPr lang="en-US" dirty="0">
                <a:latin typeface="Times New Roman" pitchFamily="18" charset="0"/>
              </a:rPr>
              <a:t> </a:t>
            </a:r>
            <a:r>
              <a:rPr lang="en-US" dirty="0"/>
              <a:t>–X</a:t>
            </a:r>
            <a:r>
              <a:rPr lang="en-US" baseline="-25000" dirty="0"/>
              <a:t>12</a:t>
            </a:r>
            <a:r>
              <a:rPr lang="en-US" dirty="0"/>
              <a:t> – X</a:t>
            </a:r>
            <a:r>
              <a:rPr lang="en-US" baseline="-25000" dirty="0"/>
              <a:t>14</a:t>
            </a:r>
            <a:r>
              <a:rPr lang="en-US" dirty="0"/>
              <a:t> &gt;=  – 200</a:t>
            </a:r>
            <a:r>
              <a:rPr lang="en-US" dirty="0">
                <a:latin typeface="Times New Roman" pitchFamily="18" charset="0"/>
              </a:rPr>
              <a:t>   </a:t>
            </a:r>
            <a:r>
              <a:rPr lang="en-US" sz="1900" dirty="0">
                <a:solidFill>
                  <a:srgbClr val="FFFF00"/>
                </a:solidFill>
              </a:rPr>
              <a:t>(Note: there is no inflow for node 1!)</a:t>
            </a:r>
          </a:p>
          <a:p>
            <a:r>
              <a:rPr lang="en-US" sz="3000" dirty="0"/>
              <a:t>This is equivalent to:</a:t>
            </a:r>
          </a:p>
          <a:p>
            <a:pPr marL="571500" lvl="1" indent="0">
              <a:buFontTx/>
              <a:buNone/>
            </a:pPr>
            <a:r>
              <a:rPr lang="en-US" dirty="0"/>
              <a:t>+X</a:t>
            </a:r>
            <a:r>
              <a:rPr lang="en-US" baseline="-25000" dirty="0"/>
              <a:t>12</a:t>
            </a:r>
            <a:r>
              <a:rPr lang="en-US" dirty="0"/>
              <a:t> + X</a:t>
            </a:r>
            <a:r>
              <a:rPr lang="en-US" baseline="-25000" dirty="0"/>
              <a:t>14</a:t>
            </a:r>
            <a:r>
              <a:rPr lang="en-US" dirty="0"/>
              <a:t> &lt;=  200</a:t>
            </a:r>
          </a:p>
        </p:txBody>
      </p:sp>
      <p:sp>
        <p:nvSpPr>
          <p:cNvPr id="13316" name="Text Box 4"/>
          <p:cNvSpPr txBox="1">
            <a:spLocks noChangeArrowheads="1"/>
          </p:cNvSpPr>
          <p:nvPr/>
        </p:nvSpPr>
        <p:spPr bwMode="auto">
          <a:xfrm>
            <a:off x="5334000" y="1981200"/>
            <a:ext cx="3276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solidFill>
                  <a:srgbClr val="FFFF00"/>
                </a:solidFill>
                <a:latin typeface="Tahoma" pitchFamily="34" charset="0"/>
              </a:rPr>
              <a:t>(Supply &gt;= Demand)</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3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1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31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315">
                                            <p:txEl>
                                              <p:pRg st="6" end="6"/>
                                            </p:txEl>
                                          </p:spTgt>
                                        </p:tgtEl>
                                        <p:attrNameLst>
                                          <p:attrName>style.visibility</p:attrName>
                                        </p:attrNameLst>
                                      </p:cBhvr>
                                      <p:to>
                                        <p:strVal val="visible"/>
                                      </p:to>
                                    </p:set>
                                  </p:childTnLst>
                                </p:cTn>
                              </p:par>
                            </p:childTnLst>
                          </p:cTn>
                        </p:par>
                        <p:par>
                          <p:cTn id="23" fill="hold" nodeType="afterGroup">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3315">
                                            <p:txEl>
                                              <p:pRg st="7" end="7"/>
                                            </p:txEl>
                                          </p:spTgt>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33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85800" y="454025"/>
            <a:ext cx="7772400" cy="582613"/>
          </a:xfrm>
          <a:noFill/>
          <a:ln/>
        </p:spPr>
        <p:txBody>
          <a:bodyPr lIns="92075" tIns="46038" rIns="92075" bIns="46038"/>
          <a:lstStyle/>
          <a:p>
            <a:r>
              <a:rPr lang="en-US" sz="4000" i="1">
                <a:solidFill>
                  <a:schemeClr val="hlink"/>
                </a:solidFill>
              </a:rPr>
              <a:t>Defining the Constraints</a:t>
            </a:r>
          </a:p>
        </p:txBody>
      </p:sp>
      <p:sp>
        <p:nvSpPr>
          <p:cNvPr id="14339" name="Rectangle 3"/>
          <p:cNvSpPr>
            <a:spLocks noGrp="1" noChangeArrowheads="1"/>
          </p:cNvSpPr>
          <p:nvPr>
            <p:ph type="body" idx="1"/>
          </p:nvPr>
        </p:nvSpPr>
        <p:spPr>
          <a:xfrm>
            <a:off x="685800" y="1116013"/>
            <a:ext cx="7772400" cy="4751387"/>
          </a:xfrm>
          <a:noFill/>
          <a:ln/>
        </p:spPr>
        <p:txBody>
          <a:bodyPr lIns="92075" tIns="46038" rIns="92075" bIns="46038"/>
          <a:lstStyle/>
          <a:p>
            <a:r>
              <a:rPr lang="en-US" sz="2800" dirty="0"/>
              <a:t>Flow constraints</a:t>
            </a:r>
          </a:p>
          <a:p>
            <a:pPr lvl="1">
              <a:buFontTx/>
              <a:buNone/>
            </a:pPr>
            <a:r>
              <a:rPr lang="en-US" sz="2400" dirty="0"/>
              <a:t>–X</a:t>
            </a:r>
            <a:r>
              <a:rPr lang="en-US" sz="2400" baseline="-25000" dirty="0"/>
              <a:t>12</a:t>
            </a:r>
            <a:r>
              <a:rPr lang="en-US" sz="2400" dirty="0"/>
              <a:t> – X</a:t>
            </a:r>
            <a:r>
              <a:rPr lang="en-US" sz="2400" baseline="-25000" dirty="0"/>
              <a:t>14</a:t>
            </a:r>
            <a:r>
              <a:rPr lang="en-US" sz="2400" dirty="0"/>
              <a:t> &gt;= –200				} node 1</a:t>
            </a:r>
          </a:p>
          <a:p>
            <a:pPr lvl="1">
              <a:buFontTx/>
              <a:buNone/>
            </a:pPr>
            <a:r>
              <a:rPr lang="en-US" sz="2400" dirty="0"/>
              <a:t>+X</a:t>
            </a:r>
            <a:r>
              <a:rPr lang="en-US" sz="2400" baseline="-25000" dirty="0"/>
              <a:t>12</a:t>
            </a:r>
            <a:r>
              <a:rPr lang="en-US" sz="2400" dirty="0"/>
              <a:t> – X</a:t>
            </a:r>
            <a:r>
              <a:rPr lang="en-US" sz="2400" baseline="-25000" dirty="0"/>
              <a:t>23</a:t>
            </a:r>
            <a:r>
              <a:rPr lang="en-US" sz="2400" dirty="0"/>
              <a:t> &gt;= +100				} node 2</a:t>
            </a:r>
          </a:p>
          <a:p>
            <a:pPr lvl="1">
              <a:buFontTx/>
              <a:buNone/>
            </a:pPr>
            <a:r>
              <a:rPr lang="en-US" sz="2400" dirty="0"/>
              <a:t>+X</a:t>
            </a:r>
            <a:r>
              <a:rPr lang="en-US" sz="2400" baseline="-25000" dirty="0"/>
              <a:t>23</a:t>
            </a:r>
            <a:r>
              <a:rPr lang="en-US" sz="2400" dirty="0"/>
              <a:t> + X</a:t>
            </a:r>
            <a:r>
              <a:rPr lang="en-US" sz="2400" baseline="-25000" dirty="0"/>
              <a:t>53</a:t>
            </a:r>
            <a:r>
              <a:rPr lang="en-US" sz="2400" dirty="0"/>
              <a:t> – X</a:t>
            </a:r>
            <a:r>
              <a:rPr lang="en-US" sz="2400" baseline="-25000" dirty="0"/>
              <a:t>35</a:t>
            </a:r>
            <a:r>
              <a:rPr lang="en-US" sz="2400" dirty="0"/>
              <a:t> &gt;= +60				} node 3</a:t>
            </a:r>
          </a:p>
          <a:p>
            <a:pPr lvl="1">
              <a:buFontTx/>
              <a:buNone/>
            </a:pPr>
            <a:r>
              <a:rPr lang="en-US" sz="2400" dirty="0"/>
              <a:t>+ X</a:t>
            </a:r>
            <a:r>
              <a:rPr lang="en-US" sz="2400" baseline="-25000" dirty="0"/>
              <a:t>14</a:t>
            </a:r>
            <a:r>
              <a:rPr lang="en-US" sz="2400" dirty="0"/>
              <a:t> + X</a:t>
            </a:r>
            <a:r>
              <a:rPr lang="en-US" sz="2400" baseline="-25000" dirty="0"/>
              <a:t>54</a:t>
            </a:r>
            <a:r>
              <a:rPr lang="en-US" sz="2400" dirty="0"/>
              <a:t> + X</a:t>
            </a:r>
            <a:r>
              <a:rPr lang="en-US" sz="2400" baseline="-25000" dirty="0"/>
              <a:t>74</a:t>
            </a:r>
            <a:r>
              <a:rPr lang="en-US" sz="2400" dirty="0"/>
              <a:t> &gt;= +80			} node 4</a:t>
            </a:r>
          </a:p>
          <a:p>
            <a:pPr lvl="1">
              <a:buFontTx/>
              <a:buNone/>
            </a:pPr>
            <a:r>
              <a:rPr lang="en-US" sz="2400" dirty="0"/>
              <a:t>+ X</a:t>
            </a:r>
            <a:r>
              <a:rPr lang="en-US" sz="2400" baseline="-25000" dirty="0"/>
              <a:t>35</a:t>
            </a:r>
            <a:r>
              <a:rPr lang="en-US" sz="2400" dirty="0"/>
              <a:t> + X</a:t>
            </a:r>
            <a:r>
              <a:rPr lang="en-US" sz="2400" baseline="-25000" dirty="0"/>
              <a:t>65</a:t>
            </a:r>
            <a:r>
              <a:rPr lang="en-US" sz="2400" dirty="0"/>
              <a:t> + X</a:t>
            </a:r>
            <a:r>
              <a:rPr lang="en-US" sz="2400" baseline="-25000" dirty="0"/>
              <a:t>75</a:t>
            </a:r>
            <a:r>
              <a:rPr lang="en-US" sz="2400" dirty="0"/>
              <a:t> – X</a:t>
            </a:r>
            <a:r>
              <a:rPr lang="en-US" sz="2400" baseline="-25000" dirty="0"/>
              <a:t>53</a:t>
            </a:r>
            <a:r>
              <a:rPr lang="en-US" sz="2400" dirty="0"/>
              <a:t> – X</a:t>
            </a:r>
            <a:r>
              <a:rPr lang="en-US" sz="2400" baseline="-25000" dirty="0"/>
              <a:t>54</a:t>
            </a:r>
            <a:r>
              <a:rPr lang="en-US" sz="2400" dirty="0"/>
              <a:t> – X</a:t>
            </a:r>
            <a:r>
              <a:rPr lang="en-US" sz="2400" baseline="-25000" dirty="0"/>
              <a:t>56</a:t>
            </a:r>
            <a:r>
              <a:rPr lang="en-US" sz="2400" dirty="0"/>
              <a:t> &gt;= +170	} node 5</a:t>
            </a:r>
          </a:p>
          <a:p>
            <a:pPr lvl="1">
              <a:buFontTx/>
              <a:buNone/>
            </a:pPr>
            <a:r>
              <a:rPr lang="en-US" sz="2400" dirty="0"/>
              <a:t>+ X</a:t>
            </a:r>
            <a:r>
              <a:rPr lang="en-US" sz="2400" baseline="-25000" dirty="0"/>
              <a:t>56</a:t>
            </a:r>
            <a:r>
              <a:rPr lang="en-US" sz="2400" dirty="0"/>
              <a:t> + X</a:t>
            </a:r>
            <a:r>
              <a:rPr lang="en-US" sz="2400" baseline="-25000" dirty="0"/>
              <a:t>76</a:t>
            </a:r>
            <a:r>
              <a:rPr lang="en-US" sz="2400" dirty="0"/>
              <a:t> – X</a:t>
            </a:r>
            <a:r>
              <a:rPr lang="en-US" sz="2400" baseline="-25000" dirty="0"/>
              <a:t>65 </a:t>
            </a:r>
            <a:r>
              <a:rPr lang="en-US" sz="2400" dirty="0"/>
              <a:t>&gt;= +70			} node 6</a:t>
            </a:r>
          </a:p>
          <a:p>
            <a:pPr lvl="1">
              <a:buFontTx/>
              <a:buNone/>
            </a:pPr>
            <a:r>
              <a:rPr lang="en-US" sz="2400" dirty="0"/>
              <a:t>–X</a:t>
            </a:r>
            <a:r>
              <a:rPr lang="en-US" sz="2400" baseline="-25000" dirty="0"/>
              <a:t>74</a:t>
            </a:r>
            <a:r>
              <a:rPr lang="en-US" sz="2400" dirty="0"/>
              <a:t> – X</a:t>
            </a:r>
            <a:r>
              <a:rPr lang="en-US" sz="2400" baseline="-25000" dirty="0"/>
              <a:t>75 </a:t>
            </a:r>
            <a:r>
              <a:rPr lang="en-US" sz="2400" dirty="0"/>
              <a:t>– X</a:t>
            </a:r>
            <a:r>
              <a:rPr lang="en-US" sz="2400" baseline="-25000" dirty="0"/>
              <a:t>76</a:t>
            </a:r>
            <a:r>
              <a:rPr lang="en-US" sz="2400" dirty="0"/>
              <a:t> &gt;= –300			} node 7</a:t>
            </a:r>
          </a:p>
          <a:p>
            <a:r>
              <a:rPr lang="en-US" sz="2800" dirty="0"/>
              <a:t>Nonnegativity conditions</a:t>
            </a:r>
          </a:p>
          <a:p>
            <a:pPr lvl="1">
              <a:buFontTx/>
              <a:buNone/>
            </a:pPr>
            <a:r>
              <a:rPr lang="en-US" dirty="0" err="1"/>
              <a:t>X</a:t>
            </a:r>
            <a:r>
              <a:rPr lang="en-US" i="1" baseline="-25000" dirty="0" err="1">
                <a:latin typeface="Times New Roman" pitchFamily="18" charset="0"/>
              </a:rPr>
              <a:t>ij</a:t>
            </a:r>
            <a:r>
              <a:rPr lang="en-US" dirty="0">
                <a:latin typeface="Times New Roman" pitchFamily="18" charset="0"/>
              </a:rPr>
              <a:t> &gt;= 0 </a:t>
            </a:r>
            <a:r>
              <a:rPr lang="en-US" dirty="0"/>
              <a:t>for all</a:t>
            </a:r>
            <a:r>
              <a:rPr lang="en-US" dirty="0">
                <a:latin typeface="Times New Roman" pitchFamily="18" charset="0"/>
              </a:rPr>
              <a:t> </a:t>
            </a:r>
            <a:r>
              <a:rPr lang="en-US" i="1" dirty="0" err="1">
                <a:latin typeface="Times New Roman" pitchFamily="18" charset="0"/>
              </a:rPr>
              <a:t>ij</a:t>
            </a:r>
            <a:r>
              <a:rPr lang="en-US" dirty="0">
                <a:latin typeface="Times New Roman" pitchFamily="18" charset="0"/>
              </a:rPr>
              <a:t>			</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noFill/>
          <a:ln/>
        </p:spPr>
        <p:txBody>
          <a:bodyPr lIns="92075" tIns="46038" rIns="92075" bIns="46038"/>
          <a:lstStyle/>
          <a:p>
            <a:r>
              <a:rPr lang="en-US" sz="4000" i="1">
                <a:solidFill>
                  <a:schemeClr val="hlink"/>
                </a:solidFill>
              </a:rPr>
              <a:t>Implementing the Model</a:t>
            </a:r>
          </a:p>
        </p:txBody>
      </p:sp>
      <p:sp>
        <p:nvSpPr>
          <p:cNvPr id="15363" name="Rectangle 3"/>
          <p:cNvSpPr>
            <a:spLocks noGrp="1" noChangeArrowheads="1"/>
          </p:cNvSpPr>
          <p:nvPr>
            <p:ph type="body" idx="1"/>
          </p:nvPr>
        </p:nvSpPr>
        <p:spPr>
          <a:noFill/>
          <a:ln/>
        </p:spPr>
        <p:txBody>
          <a:bodyPr lIns="92075" tIns="46038" rIns="92075" bIns="46038"/>
          <a:lstStyle/>
          <a:p>
            <a:pPr algn="ctr">
              <a:buFont typeface="Wingdings" pitchFamily="2" charset="2"/>
              <a:buNone/>
            </a:pPr>
            <a:r>
              <a:rPr lang="en-US" dirty="0"/>
              <a:t>See file </a:t>
            </a:r>
            <a:r>
              <a:rPr lang="en-US" dirty="0">
                <a:hlinkClick r:id="rId3" action="ppaction://hlinkfile"/>
              </a:rPr>
              <a:t>Fig5-2.xlsm</a:t>
            </a:r>
            <a:endParaRPr lang="en-US" dirty="0"/>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28600" y="228600"/>
            <a:ext cx="8748713" cy="887413"/>
          </a:xfrm>
          <a:noFill/>
          <a:ln/>
        </p:spPr>
        <p:txBody>
          <a:bodyPr lIns="92075" tIns="46038" rIns="92075" bIns="46038"/>
          <a:lstStyle/>
          <a:p>
            <a:pPr>
              <a:lnSpc>
                <a:spcPct val="70000"/>
              </a:lnSpc>
            </a:pPr>
            <a:r>
              <a:rPr lang="en-US" sz="4000" i="1">
                <a:solidFill>
                  <a:schemeClr val="hlink"/>
                </a:solidFill>
              </a:rPr>
              <a:t>Optimal Solution to the BMC Problem</a:t>
            </a:r>
          </a:p>
        </p:txBody>
      </p:sp>
      <p:sp>
        <p:nvSpPr>
          <p:cNvPr id="16387" name="Freeform 3"/>
          <p:cNvSpPr>
            <a:spLocks/>
          </p:cNvSpPr>
          <p:nvPr/>
        </p:nvSpPr>
        <p:spPr bwMode="auto">
          <a:xfrm>
            <a:off x="5932488" y="1828800"/>
            <a:ext cx="995362" cy="936625"/>
          </a:xfrm>
          <a:custGeom>
            <a:avLst/>
            <a:gdLst>
              <a:gd name="T0" fmla="*/ 626 w 627"/>
              <a:gd name="T1" fmla="*/ 294 h 590"/>
              <a:gd name="T2" fmla="*/ 624 w 627"/>
              <a:gd name="T3" fmla="*/ 264 h 590"/>
              <a:gd name="T4" fmla="*/ 619 w 627"/>
              <a:gd name="T5" fmla="*/ 235 h 590"/>
              <a:gd name="T6" fmla="*/ 601 w 627"/>
              <a:gd name="T7" fmla="*/ 180 h 590"/>
              <a:gd name="T8" fmla="*/ 572 w 627"/>
              <a:gd name="T9" fmla="*/ 130 h 590"/>
              <a:gd name="T10" fmla="*/ 534 w 627"/>
              <a:gd name="T11" fmla="*/ 86 h 590"/>
              <a:gd name="T12" fmla="*/ 488 w 627"/>
              <a:gd name="T13" fmla="*/ 50 h 590"/>
              <a:gd name="T14" fmla="*/ 435 w 627"/>
              <a:gd name="T15" fmla="*/ 23 h 590"/>
              <a:gd name="T16" fmla="*/ 376 w 627"/>
              <a:gd name="T17" fmla="*/ 6 h 590"/>
              <a:gd name="T18" fmla="*/ 313 w 627"/>
              <a:gd name="T19" fmla="*/ 0 h 590"/>
              <a:gd name="T20" fmla="*/ 250 w 627"/>
              <a:gd name="T21" fmla="*/ 6 h 590"/>
              <a:gd name="T22" fmla="*/ 191 w 627"/>
              <a:gd name="T23" fmla="*/ 23 h 590"/>
              <a:gd name="T24" fmla="*/ 138 w 627"/>
              <a:gd name="T25" fmla="*/ 50 h 590"/>
              <a:gd name="T26" fmla="*/ 91 w 627"/>
              <a:gd name="T27" fmla="*/ 86 h 590"/>
              <a:gd name="T28" fmla="*/ 53 w 627"/>
              <a:gd name="T29" fmla="*/ 130 h 590"/>
              <a:gd name="T30" fmla="*/ 24 w 627"/>
              <a:gd name="T31" fmla="*/ 180 h 590"/>
              <a:gd name="T32" fmla="*/ 6 w 627"/>
              <a:gd name="T33" fmla="*/ 235 h 590"/>
              <a:gd name="T34" fmla="*/ 1 w 627"/>
              <a:gd name="T35" fmla="*/ 264 h 590"/>
              <a:gd name="T36" fmla="*/ 0 w 627"/>
              <a:gd name="T37" fmla="*/ 294 h 590"/>
              <a:gd name="T38" fmla="*/ 6 w 627"/>
              <a:gd name="T39" fmla="*/ 354 h 590"/>
              <a:gd name="T40" fmla="*/ 24 w 627"/>
              <a:gd name="T41" fmla="*/ 409 h 590"/>
              <a:gd name="T42" fmla="*/ 53 w 627"/>
              <a:gd name="T43" fmla="*/ 459 h 590"/>
              <a:gd name="T44" fmla="*/ 91 w 627"/>
              <a:gd name="T45" fmla="*/ 502 h 590"/>
              <a:gd name="T46" fmla="*/ 138 w 627"/>
              <a:gd name="T47" fmla="*/ 538 h 590"/>
              <a:gd name="T48" fmla="*/ 191 w 627"/>
              <a:gd name="T49" fmla="*/ 565 h 590"/>
              <a:gd name="T50" fmla="*/ 250 w 627"/>
              <a:gd name="T51" fmla="*/ 583 h 590"/>
              <a:gd name="T52" fmla="*/ 313 w 627"/>
              <a:gd name="T53" fmla="*/ 589 h 590"/>
              <a:gd name="T54" fmla="*/ 376 w 627"/>
              <a:gd name="T55" fmla="*/ 583 h 590"/>
              <a:gd name="T56" fmla="*/ 435 w 627"/>
              <a:gd name="T57" fmla="*/ 565 h 590"/>
              <a:gd name="T58" fmla="*/ 488 w 627"/>
              <a:gd name="T59" fmla="*/ 538 h 590"/>
              <a:gd name="T60" fmla="*/ 534 w 627"/>
              <a:gd name="T61" fmla="*/ 502 h 590"/>
              <a:gd name="T62" fmla="*/ 572 w 627"/>
              <a:gd name="T63" fmla="*/ 459 h 590"/>
              <a:gd name="T64" fmla="*/ 601 w 627"/>
              <a:gd name="T65" fmla="*/ 409 h 590"/>
              <a:gd name="T66" fmla="*/ 619 w 627"/>
              <a:gd name="T67" fmla="*/ 354 h 590"/>
              <a:gd name="T68" fmla="*/ 626 w 627"/>
              <a:gd name="T69" fmla="*/ 294 h 590"/>
              <a:gd name="T70" fmla="*/ 626 w 627"/>
              <a:gd name="T71" fmla="*/ 294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27" h="590">
                <a:moveTo>
                  <a:pt x="626" y="294"/>
                </a:moveTo>
                <a:lnTo>
                  <a:pt x="624" y="264"/>
                </a:lnTo>
                <a:lnTo>
                  <a:pt x="619" y="235"/>
                </a:lnTo>
                <a:lnTo>
                  <a:pt x="601" y="180"/>
                </a:lnTo>
                <a:lnTo>
                  <a:pt x="572" y="130"/>
                </a:lnTo>
                <a:lnTo>
                  <a:pt x="534" y="86"/>
                </a:lnTo>
                <a:lnTo>
                  <a:pt x="488" y="50"/>
                </a:lnTo>
                <a:lnTo>
                  <a:pt x="435" y="23"/>
                </a:lnTo>
                <a:lnTo>
                  <a:pt x="376" y="6"/>
                </a:lnTo>
                <a:lnTo>
                  <a:pt x="313" y="0"/>
                </a:lnTo>
                <a:lnTo>
                  <a:pt x="250" y="6"/>
                </a:lnTo>
                <a:lnTo>
                  <a:pt x="191" y="23"/>
                </a:lnTo>
                <a:lnTo>
                  <a:pt x="138" y="50"/>
                </a:lnTo>
                <a:lnTo>
                  <a:pt x="91" y="86"/>
                </a:lnTo>
                <a:lnTo>
                  <a:pt x="53" y="130"/>
                </a:lnTo>
                <a:lnTo>
                  <a:pt x="24" y="180"/>
                </a:lnTo>
                <a:lnTo>
                  <a:pt x="6" y="235"/>
                </a:lnTo>
                <a:lnTo>
                  <a:pt x="1" y="264"/>
                </a:lnTo>
                <a:lnTo>
                  <a:pt x="0" y="294"/>
                </a:lnTo>
                <a:lnTo>
                  <a:pt x="6" y="354"/>
                </a:lnTo>
                <a:lnTo>
                  <a:pt x="24" y="409"/>
                </a:lnTo>
                <a:lnTo>
                  <a:pt x="53" y="459"/>
                </a:lnTo>
                <a:lnTo>
                  <a:pt x="91" y="502"/>
                </a:lnTo>
                <a:lnTo>
                  <a:pt x="138" y="538"/>
                </a:lnTo>
                <a:lnTo>
                  <a:pt x="191" y="565"/>
                </a:lnTo>
                <a:lnTo>
                  <a:pt x="250" y="583"/>
                </a:lnTo>
                <a:lnTo>
                  <a:pt x="313" y="589"/>
                </a:lnTo>
                <a:lnTo>
                  <a:pt x="376" y="583"/>
                </a:lnTo>
                <a:lnTo>
                  <a:pt x="435" y="565"/>
                </a:lnTo>
                <a:lnTo>
                  <a:pt x="488" y="538"/>
                </a:lnTo>
                <a:lnTo>
                  <a:pt x="534" y="502"/>
                </a:lnTo>
                <a:lnTo>
                  <a:pt x="572" y="459"/>
                </a:lnTo>
                <a:lnTo>
                  <a:pt x="601" y="409"/>
                </a:lnTo>
                <a:lnTo>
                  <a:pt x="619" y="354"/>
                </a:lnTo>
                <a:lnTo>
                  <a:pt x="626" y="294"/>
                </a:lnTo>
                <a:lnTo>
                  <a:pt x="626" y="29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88" name="Rectangle 4"/>
          <p:cNvSpPr>
            <a:spLocks noChangeArrowheads="1"/>
          </p:cNvSpPr>
          <p:nvPr/>
        </p:nvSpPr>
        <p:spPr bwMode="auto">
          <a:xfrm>
            <a:off x="5991225" y="2074863"/>
            <a:ext cx="8620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Newark</a:t>
            </a:r>
          </a:p>
        </p:txBody>
      </p:sp>
      <p:sp>
        <p:nvSpPr>
          <p:cNvPr id="16389" name="Rectangle 5"/>
          <p:cNvSpPr>
            <a:spLocks noChangeArrowheads="1"/>
          </p:cNvSpPr>
          <p:nvPr/>
        </p:nvSpPr>
        <p:spPr bwMode="auto">
          <a:xfrm>
            <a:off x="6280150" y="2328863"/>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1</a:t>
            </a:r>
          </a:p>
        </p:txBody>
      </p:sp>
      <p:sp>
        <p:nvSpPr>
          <p:cNvPr id="16390" name="Freeform 6"/>
          <p:cNvSpPr>
            <a:spLocks/>
          </p:cNvSpPr>
          <p:nvPr/>
        </p:nvSpPr>
        <p:spPr bwMode="auto">
          <a:xfrm>
            <a:off x="3690938" y="1492250"/>
            <a:ext cx="995362" cy="936625"/>
          </a:xfrm>
          <a:custGeom>
            <a:avLst/>
            <a:gdLst>
              <a:gd name="T0" fmla="*/ 626 w 627"/>
              <a:gd name="T1" fmla="*/ 295 h 590"/>
              <a:gd name="T2" fmla="*/ 625 w 627"/>
              <a:gd name="T3" fmla="*/ 264 h 590"/>
              <a:gd name="T4" fmla="*/ 620 w 627"/>
              <a:gd name="T5" fmla="*/ 235 h 590"/>
              <a:gd name="T6" fmla="*/ 602 w 627"/>
              <a:gd name="T7" fmla="*/ 180 h 590"/>
              <a:gd name="T8" fmla="*/ 573 w 627"/>
              <a:gd name="T9" fmla="*/ 130 h 590"/>
              <a:gd name="T10" fmla="*/ 535 w 627"/>
              <a:gd name="T11" fmla="*/ 86 h 590"/>
              <a:gd name="T12" fmla="*/ 488 w 627"/>
              <a:gd name="T13" fmla="*/ 50 h 590"/>
              <a:gd name="T14" fmla="*/ 435 w 627"/>
              <a:gd name="T15" fmla="*/ 23 h 590"/>
              <a:gd name="T16" fmla="*/ 376 w 627"/>
              <a:gd name="T17" fmla="*/ 6 h 590"/>
              <a:gd name="T18" fmla="*/ 313 w 627"/>
              <a:gd name="T19" fmla="*/ 0 h 590"/>
              <a:gd name="T20" fmla="*/ 250 w 627"/>
              <a:gd name="T21" fmla="*/ 6 h 590"/>
              <a:gd name="T22" fmla="*/ 191 w 627"/>
              <a:gd name="T23" fmla="*/ 23 h 590"/>
              <a:gd name="T24" fmla="*/ 138 w 627"/>
              <a:gd name="T25" fmla="*/ 50 h 590"/>
              <a:gd name="T26" fmla="*/ 92 w 627"/>
              <a:gd name="T27" fmla="*/ 86 h 590"/>
              <a:gd name="T28" fmla="*/ 54 w 627"/>
              <a:gd name="T29" fmla="*/ 130 h 590"/>
              <a:gd name="T30" fmla="*/ 25 w 627"/>
              <a:gd name="T31" fmla="*/ 180 h 590"/>
              <a:gd name="T32" fmla="*/ 6 w 627"/>
              <a:gd name="T33" fmla="*/ 235 h 590"/>
              <a:gd name="T34" fmla="*/ 2 w 627"/>
              <a:gd name="T35" fmla="*/ 264 h 590"/>
              <a:gd name="T36" fmla="*/ 0 w 627"/>
              <a:gd name="T37" fmla="*/ 295 h 590"/>
              <a:gd name="T38" fmla="*/ 6 w 627"/>
              <a:gd name="T39" fmla="*/ 354 h 590"/>
              <a:gd name="T40" fmla="*/ 25 w 627"/>
              <a:gd name="T41" fmla="*/ 409 h 590"/>
              <a:gd name="T42" fmla="*/ 54 w 627"/>
              <a:gd name="T43" fmla="*/ 459 h 590"/>
              <a:gd name="T44" fmla="*/ 92 w 627"/>
              <a:gd name="T45" fmla="*/ 503 h 590"/>
              <a:gd name="T46" fmla="*/ 138 w 627"/>
              <a:gd name="T47" fmla="*/ 538 h 590"/>
              <a:gd name="T48" fmla="*/ 191 w 627"/>
              <a:gd name="T49" fmla="*/ 566 h 590"/>
              <a:gd name="T50" fmla="*/ 250 w 627"/>
              <a:gd name="T51" fmla="*/ 583 h 590"/>
              <a:gd name="T52" fmla="*/ 313 w 627"/>
              <a:gd name="T53" fmla="*/ 589 h 590"/>
              <a:gd name="T54" fmla="*/ 376 w 627"/>
              <a:gd name="T55" fmla="*/ 583 h 590"/>
              <a:gd name="T56" fmla="*/ 435 w 627"/>
              <a:gd name="T57" fmla="*/ 566 h 590"/>
              <a:gd name="T58" fmla="*/ 488 w 627"/>
              <a:gd name="T59" fmla="*/ 538 h 590"/>
              <a:gd name="T60" fmla="*/ 535 w 627"/>
              <a:gd name="T61" fmla="*/ 503 h 590"/>
              <a:gd name="T62" fmla="*/ 573 w 627"/>
              <a:gd name="T63" fmla="*/ 459 h 590"/>
              <a:gd name="T64" fmla="*/ 602 w 627"/>
              <a:gd name="T65" fmla="*/ 409 h 590"/>
              <a:gd name="T66" fmla="*/ 620 w 627"/>
              <a:gd name="T67" fmla="*/ 354 h 590"/>
              <a:gd name="T68" fmla="*/ 626 w 627"/>
              <a:gd name="T69" fmla="*/ 295 h 590"/>
              <a:gd name="T70" fmla="*/ 626 w 627"/>
              <a:gd name="T71" fmla="*/ 295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27" h="590">
                <a:moveTo>
                  <a:pt x="626" y="295"/>
                </a:moveTo>
                <a:lnTo>
                  <a:pt x="625" y="264"/>
                </a:lnTo>
                <a:lnTo>
                  <a:pt x="620" y="235"/>
                </a:lnTo>
                <a:lnTo>
                  <a:pt x="602" y="180"/>
                </a:lnTo>
                <a:lnTo>
                  <a:pt x="573" y="130"/>
                </a:lnTo>
                <a:lnTo>
                  <a:pt x="535" y="86"/>
                </a:lnTo>
                <a:lnTo>
                  <a:pt x="488" y="50"/>
                </a:lnTo>
                <a:lnTo>
                  <a:pt x="435" y="23"/>
                </a:lnTo>
                <a:lnTo>
                  <a:pt x="376" y="6"/>
                </a:lnTo>
                <a:lnTo>
                  <a:pt x="313" y="0"/>
                </a:lnTo>
                <a:lnTo>
                  <a:pt x="250" y="6"/>
                </a:lnTo>
                <a:lnTo>
                  <a:pt x="191" y="23"/>
                </a:lnTo>
                <a:lnTo>
                  <a:pt x="138" y="50"/>
                </a:lnTo>
                <a:lnTo>
                  <a:pt x="92" y="86"/>
                </a:lnTo>
                <a:lnTo>
                  <a:pt x="54" y="130"/>
                </a:lnTo>
                <a:lnTo>
                  <a:pt x="25" y="180"/>
                </a:lnTo>
                <a:lnTo>
                  <a:pt x="6" y="235"/>
                </a:lnTo>
                <a:lnTo>
                  <a:pt x="2" y="264"/>
                </a:lnTo>
                <a:lnTo>
                  <a:pt x="0" y="295"/>
                </a:lnTo>
                <a:lnTo>
                  <a:pt x="6" y="354"/>
                </a:lnTo>
                <a:lnTo>
                  <a:pt x="25" y="409"/>
                </a:lnTo>
                <a:lnTo>
                  <a:pt x="54" y="459"/>
                </a:lnTo>
                <a:lnTo>
                  <a:pt x="92" y="503"/>
                </a:lnTo>
                <a:lnTo>
                  <a:pt x="138" y="538"/>
                </a:lnTo>
                <a:lnTo>
                  <a:pt x="191" y="566"/>
                </a:lnTo>
                <a:lnTo>
                  <a:pt x="250" y="583"/>
                </a:lnTo>
                <a:lnTo>
                  <a:pt x="313" y="589"/>
                </a:lnTo>
                <a:lnTo>
                  <a:pt x="376" y="583"/>
                </a:lnTo>
                <a:lnTo>
                  <a:pt x="435" y="566"/>
                </a:lnTo>
                <a:lnTo>
                  <a:pt x="488" y="538"/>
                </a:lnTo>
                <a:lnTo>
                  <a:pt x="535" y="503"/>
                </a:lnTo>
                <a:lnTo>
                  <a:pt x="573" y="459"/>
                </a:lnTo>
                <a:lnTo>
                  <a:pt x="602" y="409"/>
                </a:lnTo>
                <a:lnTo>
                  <a:pt x="620" y="354"/>
                </a:lnTo>
                <a:lnTo>
                  <a:pt x="626" y="295"/>
                </a:lnTo>
                <a:lnTo>
                  <a:pt x="626" y="295"/>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1" name="Rectangle 7"/>
          <p:cNvSpPr>
            <a:spLocks noChangeArrowheads="1"/>
          </p:cNvSpPr>
          <p:nvPr/>
        </p:nvSpPr>
        <p:spPr bwMode="auto">
          <a:xfrm>
            <a:off x="3763963" y="1738313"/>
            <a:ext cx="83978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Boston</a:t>
            </a:r>
          </a:p>
        </p:txBody>
      </p:sp>
      <p:sp>
        <p:nvSpPr>
          <p:cNvPr id="16392" name="Rectangle 8"/>
          <p:cNvSpPr>
            <a:spLocks noChangeArrowheads="1"/>
          </p:cNvSpPr>
          <p:nvPr/>
        </p:nvSpPr>
        <p:spPr bwMode="auto">
          <a:xfrm>
            <a:off x="4057650" y="1992313"/>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2</a:t>
            </a:r>
          </a:p>
        </p:txBody>
      </p:sp>
      <p:sp>
        <p:nvSpPr>
          <p:cNvPr id="16393" name="Freeform 9"/>
          <p:cNvSpPr>
            <a:spLocks/>
          </p:cNvSpPr>
          <p:nvPr/>
        </p:nvSpPr>
        <p:spPr bwMode="auto">
          <a:xfrm>
            <a:off x="1577975" y="2547938"/>
            <a:ext cx="995363" cy="936625"/>
          </a:xfrm>
          <a:custGeom>
            <a:avLst/>
            <a:gdLst>
              <a:gd name="T0" fmla="*/ 626 w 627"/>
              <a:gd name="T1" fmla="*/ 294 h 590"/>
              <a:gd name="T2" fmla="*/ 625 w 627"/>
              <a:gd name="T3" fmla="*/ 264 h 590"/>
              <a:gd name="T4" fmla="*/ 620 w 627"/>
              <a:gd name="T5" fmla="*/ 235 h 590"/>
              <a:gd name="T6" fmla="*/ 602 w 627"/>
              <a:gd name="T7" fmla="*/ 179 h 590"/>
              <a:gd name="T8" fmla="*/ 573 w 627"/>
              <a:gd name="T9" fmla="*/ 130 h 590"/>
              <a:gd name="T10" fmla="*/ 535 w 627"/>
              <a:gd name="T11" fmla="*/ 86 h 590"/>
              <a:gd name="T12" fmla="*/ 488 w 627"/>
              <a:gd name="T13" fmla="*/ 50 h 590"/>
              <a:gd name="T14" fmla="*/ 435 w 627"/>
              <a:gd name="T15" fmla="*/ 23 h 590"/>
              <a:gd name="T16" fmla="*/ 376 w 627"/>
              <a:gd name="T17" fmla="*/ 6 h 590"/>
              <a:gd name="T18" fmla="*/ 313 w 627"/>
              <a:gd name="T19" fmla="*/ 0 h 590"/>
              <a:gd name="T20" fmla="*/ 250 w 627"/>
              <a:gd name="T21" fmla="*/ 6 h 590"/>
              <a:gd name="T22" fmla="*/ 191 w 627"/>
              <a:gd name="T23" fmla="*/ 23 h 590"/>
              <a:gd name="T24" fmla="*/ 138 w 627"/>
              <a:gd name="T25" fmla="*/ 50 h 590"/>
              <a:gd name="T26" fmla="*/ 92 w 627"/>
              <a:gd name="T27" fmla="*/ 86 h 590"/>
              <a:gd name="T28" fmla="*/ 54 w 627"/>
              <a:gd name="T29" fmla="*/ 130 h 590"/>
              <a:gd name="T30" fmla="*/ 25 w 627"/>
              <a:gd name="T31" fmla="*/ 179 h 590"/>
              <a:gd name="T32" fmla="*/ 6 w 627"/>
              <a:gd name="T33" fmla="*/ 235 h 590"/>
              <a:gd name="T34" fmla="*/ 2 w 627"/>
              <a:gd name="T35" fmla="*/ 264 h 590"/>
              <a:gd name="T36" fmla="*/ 0 w 627"/>
              <a:gd name="T37" fmla="*/ 294 h 590"/>
              <a:gd name="T38" fmla="*/ 6 w 627"/>
              <a:gd name="T39" fmla="*/ 354 h 590"/>
              <a:gd name="T40" fmla="*/ 25 w 627"/>
              <a:gd name="T41" fmla="*/ 409 h 590"/>
              <a:gd name="T42" fmla="*/ 54 w 627"/>
              <a:gd name="T43" fmla="*/ 459 h 590"/>
              <a:gd name="T44" fmla="*/ 92 w 627"/>
              <a:gd name="T45" fmla="*/ 502 h 590"/>
              <a:gd name="T46" fmla="*/ 138 w 627"/>
              <a:gd name="T47" fmla="*/ 538 h 590"/>
              <a:gd name="T48" fmla="*/ 191 w 627"/>
              <a:gd name="T49" fmla="*/ 565 h 590"/>
              <a:gd name="T50" fmla="*/ 250 w 627"/>
              <a:gd name="T51" fmla="*/ 582 h 590"/>
              <a:gd name="T52" fmla="*/ 313 w 627"/>
              <a:gd name="T53" fmla="*/ 589 h 590"/>
              <a:gd name="T54" fmla="*/ 376 w 627"/>
              <a:gd name="T55" fmla="*/ 582 h 590"/>
              <a:gd name="T56" fmla="*/ 435 w 627"/>
              <a:gd name="T57" fmla="*/ 565 h 590"/>
              <a:gd name="T58" fmla="*/ 488 w 627"/>
              <a:gd name="T59" fmla="*/ 538 h 590"/>
              <a:gd name="T60" fmla="*/ 535 w 627"/>
              <a:gd name="T61" fmla="*/ 502 h 590"/>
              <a:gd name="T62" fmla="*/ 573 w 627"/>
              <a:gd name="T63" fmla="*/ 459 h 590"/>
              <a:gd name="T64" fmla="*/ 602 w 627"/>
              <a:gd name="T65" fmla="*/ 409 h 590"/>
              <a:gd name="T66" fmla="*/ 620 w 627"/>
              <a:gd name="T67" fmla="*/ 354 h 590"/>
              <a:gd name="T68" fmla="*/ 626 w 627"/>
              <a:gd name="T69" fmla="*/ 294 h 590"/>
              <a:gd name="T70" fmla="*/ 626 w 627"/>
              <a:gd name="T71" fmla="*/ 294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27" h="590">
                <a:moveTo>
                  <a:pt x="626" y="294"/>
                </a:moveTo>
                <a:lnTo>
                  <a:pt x="625" y="264"/>
                </a:lnTo>
                <a:lnTo>
                  <a:pt x="620" y="235"/>
                </a:lnTo>
                <a:lnTo>
                  <a:pt x="602" y="179"/>
                </a:lnTo>
                <a:lnTo>
                  <a:pt x="573" y="130"/>
                </a:lnTo>
                <a:lnTo>
                  <a:pt x="535" y="86"/>
                </a:lnTo>
                <a:lnTo>
                  <a:pt x="488" y="50"/>
                </a:lnTo>
                <a:lnTo>
                  <a:pt x="435" y="23"/>
                </a:lnTo>
                <a:lnTo>
                  <a:pt x="376" y="6"/>
                </a:lnTo>
                <a:lnTo>
                  <a:pt x="313" y="0"/>
                </a:lnTo>
                <a:lnTo>
                  <a:pt x="250" y="6"/>
                </a:lnTo>
                <a:lnTo>
                  <a:pt x="191" y="23"/>
                </a:lnTo>
                <a:lnTo>
                  <a:pt x="138" y="50"/>
                </a:lnTo>
                <a:lnTo>
                  <a:pt x="92" y="86"/>
                </a:lnTo>
                <a:lnTo>
                  <a:pt x="54" y="130"/>
                </a:lnTo>
                <a:lnTo>
                  <a:pt x="25" y="179"/>
                </a:lnTo>
                <a:lnTo>
                  <a:pt x="6" y="235"/>
                </a:lnTo>
                <a:lnTo>
                  <a:pt x="2" y="264"/>
                </a:lnTo>
                <a:lnTo>
                  <a:pt x="0" y="294"/>
                </a:lnTo>
                <a:lnTo>
                  <a:pt x="6" y="354"/>
                </a:lnTo>
                <a:lnTo>
                  <a:pt x="25" y="409"/>
                </a:lnTo>
                <a:lnTo>
                  <a:pt x="54" y="459"/>
                </a:lnTo>
                <a:lnTo>
                  <a:pt x="92" y="502"/>
                </a:lnTo>
                <a:lnTo>
                  <a:pt x="138" y="538"/>
                </a:lnTo>
                <a:lnTo>
                  <a:pt x="191" y="565"/>
                </a:lnTo>
                <a:lnTo>
                  <a:pt x="250" y="582"/>
                </a:lnTo>
                <a:lnTo>
                  <a:pt x="313" y="589"/>
                </a:lnTo>
                <a:lnTo>
                  <a:pt x="376" y="582"/>
                </a:lnTo>
                <a:lnTo>
                  <a:pt x="435" y="565"/>
                </a:lnTo>
                <a:lnTo>
                  <a:pt x="488" y="538"/>
                </a:lnTo>
                <a:lnTo>
                  <a:pt x="535" y="502"/>
                </a:lnTo>
                <a:lnTo>
                  <a:pt x="573" y="459"/>
                </a:lnTo>
                <a:lnTo>
                  <a:pt x="602" y="409"/>
                </a:lnTo>
                <a:lnTo>
                  <a:pt x="620" y="354"/>
                </a:lnTo>
                <a:lnTo>
                  <a:pt x="626" y="294"/>
                </a:lnTo>
                <a:lnTo>
                  <a:pt x="626" y="29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4" name="Rectangle 10"/>
          <p:cNvSpPr>
            <a:spLocks noChangeArrowheads="1"/>
          </p:cNvSpPr>
          <p:nvPr/>
        </p:nvSpPr>
        <p:spPr bwMode="auto">
          <a:xfrm>
            <a:off x="1528763" y="2740025"/>
            <a:ext cx="11160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Columbus</a:t>
            </a:r>
          </a:p>
        </p:txBody>
      </p:sp>
      <p:sp>
        <p:nvSpPr>
          <p:cNvPr id="16395" name="Rectangle 11"/>
          <p:cNvSpPr>
            <a:spLocks noChangeArrowheads="1"/>
          </p:cNvSpPr>
          <p:nvPr/>
        </p:nvSpPr>
        <p:spPr bwMode="auto">
          <a:xfrm>
            <a:off x="1911350" y="3030538"/>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3</a:t>
            </a:r>
          </a:p>
        </p:txBody>
      </p:sp>
      <p:sp>
        <p:nvSpPr>
          <p:cNvPr id="16396" name="Freeform 12"/>
          <p:cNvSpPr>
            <a:spLocks/>
          </p:cNvSpPr>
          <p:nvPr/>
        </p:nvSpPr>
        <p:spPr bwMode="auto">
          <a:xfrm>
            <a:off x="3006725" y="3684588"/>
            <a:ext cx="995363" cy="936625"/>
          </a:xfrm>
          <a:custGeom>
            <a:avLst/>
            <a:gdLst>
              <a:gd name="T0" fmla="*/ 626 w 627"/>
              <a:gd name="T1" fmla="*/ 295 h 590"/>
              <a:gd name="T2" fmla="*/ 624 w 627"/>
              <a:gd name="T3" fmla="*/ 265 h 590"/>
              <a:gd name="T4" fmla="*/ 620 w 627"/>
              <a:gd name="T5" fmla="*/ 235 h 590"/>
              <a:gd name="T6" fmla="*/ 602 w 627"/>
              <a:gd name="T7" fmla="*/ 180 h 590"/>
              <a:gd name="T8" fmla="*/ 573 w 627"/>
              <a:gd name="T9" fmla="*/ 130 h 590"/>
              <a:gd name="T10" fmla="*/ 535 w 627"/>
              <a:gd name="T11" fmla="*/ 86 h 590"/>
              <a:gd name="T12" fmla="*/ 488 w 627"/>
              <a:gd name="T13" fmla="*/ 51 h 590"/>
              <a:gd name="T14" fmla="*/ 435 w 627"/>
              <a:gd name="T15" fmla="*/ 23 h 590"/>
              <a:gd name="T16" fmla="*/ 376 w 627"/>
              <a:gd name="T17" fmla="*/ 6 h 590"/>
              <a:gd name="T18" fmla="*/ 313 w 627"/>
              <a:gd name="T19" fmla="*/ 0 h 590"/>
              <a:gd name="T20" fmla="*/ 250 w 627"/>
              <a:gd name="T21" fmla="*/ 6 h 590"/>
              <a:gd name="T22" fmla="*/ 191 w 627"/>
              <a:gd name="T23" fmla="*/ 23 h 590"/>
              <a:gd name="T24" fmla="*/ 138 w 627"/>
              <a:gd name="T25" fmla="*/ 51 h 590"/>
              <a:gd name="T26" fmla="*/ 92 w 627"/>
              <a:gd name="T27" fmla="*/ 86 h 590"/>
              <a:gd name="T28" fmla="*/ 54 w 627"/>
              <a:gd name="T29" fmla="*/ 130 h 590"/>
              <a:gd name="T30" fmla="*/ 24 w 627"/>
              <a:gd name="T31" fmla="*/ 180 h 590"/>
              <a:gd name="T32" fmla="*/ 6 w 627"/>
              <a:gd name="T33" fmla="*/ 235 h 590"/>
              <a:gd name="T34" fmla="*/ 2 w 627"/>
              <a:gd name="T35" fmla="*/ 265 h 590"/>
              <a:gd name="T36" fmla="*/ 0 w 627"/>
              <a:gd name="T37" fmla="*/ 295 h 590"/>
              <a:gd name="T38" fmla="*/ 6 w 627"/>
              <a:gd name="T39" fmla="*/ 354 h 590"/>
              <a:gd name="T40" fmla="*/ 24 w 627"/>
              <a:gd name="T41" fmla="*/ 409 h 590"/>
              <a:gd name="T42" fmla="*/ 54 w 627"/>
              <a:gd name="T43" fmla="*/ 459 h 590"/>
              <a:gd name="T44" fmla="*/ 92 w 627"/>
              <a:gd name="T45" fmla="*/ 503 h 590"/>
              <a:gd name="T46" fmla="*/ 138 w 627"/>
              <a:gd name="T47" fmla="*/ 539 h 590"/>
              <a:gd name="T48" fmla="*/ 191 w 627"/>
              <a:gd name="T49" fmla="*/ 566 h 590"/>
              <a:gd name="T50" fmla="*/ 250 w 627"/>
              <a:gd name="T51" fmla="*/ 583 h 590"/>
              <a:gd name="T52" fmla="*/ 313 w 627"/>
              <a:gd name="T53" fmla="*/ 589 h 590"/>
              <a:gd name="T54" fmla="*/ 376 w 627"/>
              <a:gd name="T55" fmla="*/ 583 h 590"/>
              <a:gd name="T56" fmla="*/ 435 w 627"/>
              <a:gd name="T57" fmla="*/ 566 h 590"/>
              <a:gd name="T58" fmla="*/ 488 w 627"/>
              <a:gd name="T59" fmla="*/ 539 h 590"/>
              <a:gd name="T60" fmla="*/ 535 w 627"/>
              <a:gd name="T61" fmla="*/ 503 h 590"/>
              <a:gd name="T62" fmla="*/ 573 w 627"/>
              <a:gd name="T63" fmla="*/ 459 h 590"/>
              <a:gd name="T64" fmla="*/ 602 w 627"/>
              <a:gd name="T65" fmla="*/ 409 h 590"/>
              <a:gd name="T66" fmla="*/ 620 w 627"/>
              <a:gd name="T67" fmla="*/ 354 h 590"/>
              <a:gd name="T68" fmla="*/ 626 w 627"/>
              <a:gd name="T69" fmla="*/ 295 h 590"/>
              <a:gd name="T70" fmla="*/ 626 w 627"/>
              <a:gd name="T71" fmla="*/ 295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27" h="590">
                <a:moveTo>
                  <a:pt x="626" y="295"/>
                </a:moveTo>
                <a:lnTo>
                  <a:pt x="624" y="265"/>
                </a:lnTo>
                <a:lnTo>
                  <a:pt x="620" y="235"/>
                </a:lnTo>
                <a:lnTo>
                  <a:pt x="602" y="180"/>
                </a:lnTo>
                <a:lnTo>
                  <a:pt x="573" y="130"/>
                </a:lnTo>
                <a:lnTo>
                  <a:pt x="535" y="86"/>
                </a:lnTo>
                <a:lnTo>
                  <a:pt x="488" y="51"/>
                </a:lnTo>
                <a:lnTo>
                  <a:pt x="435" y="23"/>
                </a:lnTo>
                <a:lnTo>
                  <a:pt x="376" y="6"/>
                </a:lnTo>
                <a:lnTo>
                  <a:pt x="313" y="0"/>
                </a:lnTo>
                <a:lnTo>
                  <a:pt x="250" y="6"/>
                </a:lnTo>
                <a:lnTo>
                  <a:pt x="191" y="23"/>
                </a:lnTo>
                <a:lnTo>
                  <a:pt x="138" y="51"/>
                </a:lnTo>
                <a:lnTo>
                  <a:pt x="92" y="86"/>
                </a:lnTo>
                <a:lnTo>
                  <a:pt x="54" y="130"/>
                </a:lnTo>
                <a:lnTo>
                  <a:pt x="24" y="180"/>
                </a:lnTo>
                <a:lnTo>
                  <a:pt x="6" y="235"/>
                </a:lnTo>
                <a:lnTo>
                  <a:pt x="2" y="265"/>
                </a:lnTo>
                <a:lnTo>
                  <a:pt x="0" y="295"/>
                </a:lnTo>
                <a:lnTo>
                  <a:pt x="6" y="354"/>
                </a:lnTo>
                <a:lnTo>
                  <a:pt x="24" y="409"/>
                </a:lnTo>
                <a:lnTo>
                  <a:pt x="54" y="459"/>
                </a:lnTo>
                <a:lnTo>
                  <a:pt x="92" y="503"/>
                </a:lnTo>
                <a:lnTo>
                  <a:pt x="138" y="539"/>
                </a:lnTo>
                <a:lnTo>
                  <a:pt x="191" y="566"/>
                </a:lnTo>
                <a:lnTo>
                  <a:pt x="250" y="583"/>
                </a:lnTo>
                <a:lnTo>
                  <a:pt x="313" y="589"/>
                </a:lnTo>
                <a:lnTo>
                  <a:pt x="376" y="583"/>
                </a:lnTo>
                <a:lnTo>
                  <a:pt x="435" y="566"/>
                </a:lnTo>
                <a:lnTo>
                  <a:pt x="488" y="539"/>
                </a:lnTo>
                <a:lnTo>
                  <a:pt x="535" y="503"/>
                </a:lnTo>
                <a:lnTo>
                  <a:pt x="573" y="459"/>
                </a:lnTo>
                <a:lnTo>
                  <a:pt x="602" y="409"/>
                </a:lnTo>
                <a:lnTo>
                  <a:pt x="620" y="354"/>
                </a:lnTo>
                <a:lnTo>
                  <a:pt x="626" y="295"/>
                </a:lnTo>
                <a:lnTo>
                  <a:pt x="626" y="295"/>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7" name="Rectangle 13"/>
          <p:cNvSpPr>
            <a:spLocks noChangeArrowheads="1"/>
          </p:cNvSpPr>
          <p:nvPr/>
        </p:nvSpPr>
        <p:spPr bwMode="auto">
          <a:xfrm>
            <a:off x="3084513" y="3932238"/>
            <a:ext cx="83026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Atlanta</a:t>
            </a:r>
          </a:p>
        </p:txBody>
      </p:sp>
      <p:sp>
        <p:nvSpPr>
          <p:cNvPr id="16398" name="Rectangle 14"/>
          <p:cNvSpPr>
            <a:spLocks noChangeArrowheads="1"/>
          </p:cNvSpPr>
          <p:nvPr/>
        </p:nvSpPr>
        <p:spPr bwMode="auto">
          <a:xfrm>
            <a:off x="3355975" y="4167188"/>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5</a:t>
            </a:r>
          </a:p>
        </p:txBody>
      </p:sp>
      <p:sp>
        <p:nvSpPr>
          <p:cNvPr id="16399" name="Freeform 15"/>
          <p:cNvSpPr>
            <a:spLocks/>
          </p:cNvSpPr>
          <p:nvPr/>
        </p:nvSpPr>
        <p:spPr bwMode="auto">
          <a:xfrm>
            <a:off x="5167313" y="3463925"/>
            <a:ext cx="1030287" cy="936625"/>
          </a:xfrm>
          <a:custGeom>
            <a:avLst/>
            <a:gdLst>
              <a:gd name="T0" fmla="*/ 648 w 649"/>
              <a:gd name="T1" fmla="*/ 295 h 590"/>
              <a:gd name="T2" fmla="*/ 646 w 649"/>
              <a:gd name="T3" fmla="*/ 265 h 590"/>
              <a:gd name="T4" fmla="*/ 641 w 649"/>
              <a:gd name="T5" fmla="*/ 235 h 590"/>
              <a:gd name="T6" fmla="*/ 622 w 649"/>
              <a:gd name="T7" fmla="*/ 180 h 590"/>
              <a:gd name="T8" fmla="*/ 592 w 649"/>
              <a:gd name="T9" fmla="*/ 130 h 590"/>
              <a:gd name="T10" fmla="*/ 553 w 649"/>
              <a:gd name="T11" fmla="*/ 87 h 590"/>
              <a:gd name="T12" fmla="*/ 505 w 649"/>
              <a:gd name="T13" fmla="*/ 51 h 590"/>
              <a:gd name="T14" fmla="*/ 450 w 649"/>
              <a:gd name="T15" fmla="*/ 24 h 590"/>
              <a:gd name="T16" fmla="*/ 389 w 649"/>
              <a:gd name="T17" fmla="*/ 6 h 590"/>
              <a:gd name="T18" fmla="*/ 357 w 649"/>
              <a:gd name="T19" fmla="*/ 2 h 590"/>
              <a:gd name="T20" fmla="*/ 324 w 649"/>
              <a:gd name="T21" fmla="*/ 0 h 590"/>
              <a:gd name="T22" fmla="*/ 258 w 649"/>
              <a:gd name="T23" fmla="*/ 6 h 590"/>
              <a:gd name="T24" fmla="*/ 198 w 649"/>
              <a:gd name="T25" fmla="*/ 24 h 590"/>
              <a:gd name="T26" fmla="*/ 142 w 649"/>
              <a:gd name="T27" fmla="*/ 51 h 590"/>
              <a:gd name="T28" fmla="*/ 95 w 649"/>
              <a:gd name="T29" fmla="*/ 87 h 590"/>
              <a:gd name="T30" fmla="*/ 55 w 649"/>
              <a:gd name="T31" fmla="*/ 130 h 590"/>
              <a:gd name="T32" fmla="*/ 25 w 649"/>
              <a:gd name="T33" fmla="*/ 180 h 590"/>
              <a:gd name="T34" fmla="*/ 6 w 649"/>
              <a:gd name="T35" fmla="*/ 235 h 590"/>
              <a:gd name="T36" fmla="*/ 1 w 649"/>
              <a:gd name="T37" fmla="*/ 265 h 590"/>
              <a:gd name="T38" fmla="*/ 0 w 649"/>
              <a:gd name="T39" fmla="*/ 295 h 590"/>
              <a:gd name="T40" fmla="*/ 6 w 649"/>
              <a:gd name="T41" fmla="*/ 354 h 590"/>
              <a:gd name="T42" fmla="*/ 25 w 649"/>
              <a:gd name="T43" fmla="*/ 409 h 590"/>
              <a:gd name="T44" fmla="*/ 55 w 649"/>
              <a:gd name="T45" fmla="*/ 459 h 590"/>
              <a:gd name="T46" fmla="*/ 95 w 649"/>
              <a:gd name="T47" fmla="*/ 503 h 590"/>
              <a:gd name="T48" fmla="*/ 142 w 649"/>
              <a:gd name="T49" fmla="*/ 539 h 590"/>
              <a:gd name="T50" fmla="*/ 198 w 649"/>
              <a:gd name="T51" fmla="*/ 566 h 590"/>
              <a:gd name="T52" fmla="*/ 258 w 649"/>
              <a:gd name="T53" fmla="*/ 583 h 590"/>
              <a:gd name="T54" fmla="*/ 324 w 649"/>
              <a:gd name="T55" fmla="*/ 589 h 590"/>
              <a:gd name="T56" fmla="*/ 389 w 649"/>
              <a:gd name="T57" fmla="*/ 583 h 590"/>
              <a:gd name="T58" fmla="*/ 450 w 649"/>
              <a:gd name="T59" fmla="*/ 566 h 590"/>
              <a:gd name="T60" fmla="*/ 505 w 649"/>
              <a:gd name="T61" fmla="*/ 539 h 590"/>
              <a:gd name="T62" fmla="*/ 553 w 649"/>
              <a:gd name="T63" fmla="*/ 503 h 590"/>
              <a:gd name="T64" fmla="*/ 592 w 649"/>
              <a:gd name="T65" fmla="*/ 459 h 590"/>
              <a:gd name="T66" fmla="*/ 622 w 649"/>
              <a:gd name="T67" fmla="*/ 409 h 590"/>
              <a:gd name="T68" fmla="*/ 641 w 649"/>
              <a:gd name="T69" fmla="*/ 354 h 590"/>
              <a:gd name="T70" fmla="*/ 648 w 649"/>
              <a:gd name="T71" fmla="*/ 295 h 590"/>
              <a:gd name="T72" fmla="*/ 648 w 649"/>
              <a:gd name="T73" fmla="*/ 295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49" h="590">
                <a:moveTo>
                  <a:pt x="648" y="295"/>
                </a:moveTo>
                <a:lnTo>
                  <a:pt x="646" y="265"/>
                </a:lnTo>
                <a:lnTo>
                  <a:pt x="641" y="235"/>
                </a:lnTo>
                <a:lnTo>
                  <a:pt x="622" y="180"/>
                </a:lnTo>
                <a:lnTo>
                  <a:pt x="592" y="130"/>
                </a:lnTo>
                <a:lnTo>
                  <a:pt x="553" y="87"/>
                </a:lnTo>
                <a:lnTo>
                  <a:pt x="505" y="51"/>
                </a:lnTo>
                <a:lnTo>
                  <a:pt x="450" y="24"/>
                </a:lnTo>
                <a:lnTo>
                  <a:pt x="389" y="6"/>
                </a:lnTo>
                <a:lnTo>
                  <a:pt x="357" y="2"/>
                </a:lnTo>
                <a:lnTo>
                  <a:pt x="324" y="0"/>
                </a:lnTo>
                <a:lnTo>
                  <a:pt x="258" y="6"/>
                </a:lnTo>
                <a:lnTo>
                  <a:pt x="198" y="24"/>
                </a:lnTo>
                <a:lnTo>
                  <a:pt x="142" y="51"/>
                </a:lnTo>
                <a:lnTo>
                  <a:pt x="95" y="87"/>
                </a:lnTo>
                <a:lnTo>
                  <a:pt x="55" y="130"/>
                </a:lnTo>
                <a:lnTo>
                  <a:pt x="25" y="180"/>
                </a:lnTo>
                <a:lnTo>
                  <a:pt x="6" y="235"/>
                </a:lnTo>
                <a:lnTo>
                  <a:pt x="1" y="265"/>
                </a:lnTo>
                <a:lnTo>
                  <a:pt x="0" y="295"/>
                </a:lnTo>
                <a:lnTo>
                  <a:pt x="6" y="354"/>
                </a:lnTo>
                <a:lnTo>
                  <a:pt x="25" y="409"/>
                </a:lnTo>
                <a:lnTo>
                  <a:pt x="55" y="459"/>
                </a:lnTo>
                <a:lnTo>
                  <a:pt x="95" y="503"/>
                </a:lnTo>
                <a:lnTo>
                  <a:pt x="142" y="539"/>
                </a:lnTo>
                <a:lnTo>
                  <a:pt x="198" y="566"/>
                </a:lnTo>
                <a:lnTo>
                  <a:pt x="258" y="583"/>
                </a:lnTo>
                <a:lnTo>
                  <a:pt x="324" y="589"/>
                </a:lnTo>
                <a:lnTo>
                  <a:pt x="389" y="583"/>
                </a:lnTo>
                <a:lnTo>
                  <a:pt x="450" y="566"/>
                </a:lnTo>
                <a:lnTo>
                  <a:pt x="505" y="539"/>
                </a:lnTo>
                <a:lnTo>
                  <a:pt x="553" y="503"/>
                </a:lnTo>
                <a:lnTo>
                  <a:pt x="592" y="459"/>
                </a:lnTo>
                <a:lnTo>
                  <a:pt x="622" y="409"/>
                </a:lnTo>
                <a:lnTo>
                  <a:pt x="641" y="354"/>
                </a:lnTo>
                <a:lnTo>
                  <a:pt x="648" y="295"/>
                </a:lnTo>
                <a:lnTo>
                  <a:pt x="648" y="295"/>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400" name="Rectangle 16"/>
          <p:cNvSpPr>
            <a:spLocks noChangeArrowheads="1"/>
          </p:cNvSpPr>
          <p:nvPr/>
        </p:nvSpPr>
        <p:spPr bwMode="auto">
          <a:xfrm>
            <a:off x="5138738" y="3711575"/>
            <a:ext cx="11160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Richmond</a:t>
            </a:r>
          </a:p>
        </p:txBody>
      </p:sp>
      <p:sp>
        <p:nvSpPr>
          <p:cNvPr id="16401" name="Rectangle 17"/>
          <p:cNvSpPr>
            <a:spLocks noChangeArrowheads="1"/>
          </p:cNvSpPr>
          <p:nvPr/>
        </p:nvSpPr>
        <p:spPr bwMode="auto">
          <a:xfrm>
            <a:off x="5516563" y="3981450"/>
            <a:ext cx="2905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4</a:t>
            </a:r>
          </a:p>
        </p:txBody>
      </p:sp>
      <p:sp>
        <p:nvSpPr>
          <p:cNvPr id="16402" name="Freeform 18"/>
          <p:cNvSpPr>
            <a:spLocks/>
          </p:cNvSpPr>
          <p:nvPr/>
        </p:nvSpPr>
        <p:spPr bwMode="auto">
          <a:xfrm>
            <a:off x="6107113" y="5321300"/>
            <a:ext cx="995362" cy="936625"/>
          </a:xfrm>
          <a:custGeom>
            <a:avLst/>
            <a:gdLst>
              <a:gd name="T0" fmla="*/ 626 w 627"/>
              <a:gd name="T1" fmla="*/ 294 h 590"/>
              <a:gd name="T2" fmla="*/ 624 w 627"/>
              <a:gd name="T3" fmla="*/ 264 h 590"/>
              <a:gd name="T4" fmla="*/ 619 w 627"/>
              <a:gd name="T5" fmla="*/ 235 h 590"/>
              <a:gd name="T6" fmla="*/ 601 w 627"/>
              <a:gd name="T7" fmla="*/ 179 h 590"/>
              <a:gd name="T8" fmla="*/ 572 w 627"/>
              <a:gd name="T9" fmla="*/ 129 h 590"/>
              <a:gd name="T10" fmla="*/ 534 w 627"/>
              <a:gd name="T11" fmla="*/ 86 h 590"/>
              <a:gd name="T12" fmla="*/ 488 w 627"/>
              <a:gd name="T13" fmla="*/ 50 h 590"/>
              <a:gd name="T14" fmla="*/ 435 w 627"/>
              <a:gd name="T15" fmla="*/ 23 h 590"/>
              <a:gd name="T16" fmla="*/ 376 w 627"/>
              <a:gd name="T17" fmla="*/ 6 h 590"/>
              <a:gd name="T18" fmla="*/ 313 w 627"/>
              <a:gd name="T19" fmla="*/ 0 h 590"/>
              <a:gd name="T20" fmla="*/ 249 w 627"/>
              <a:gd name="T21" fmla="*/ 6 h 590"/>
              <a:gd name="T22" fmla="*/ 191 w 627"/>
              <a:gd name="T23" fmla="*/ 23 h 590"/>
              <a:gd name="T24" fmla="*/ 138 w 627"/>
              <a:gd name="T25" fmla="*/ 50 h 590"/>
              <a:gd name="T26" fmla="*/ 91 w 627"/>
              <a:gd name="T27" fmla="*/ 86 h 590"/>
              <a:gd name="T28" fmla="*/ 53 w 627"/>
              <a:gd name="T29" fmla="*/ 129 h 590"/>
              <a:gd name="T30" fmla="*/ 24 w 627"/>
              <a:gd name="T31" fmla="*/ 179 h 590"/>
              <a:gd name="T32" fmla="*/ 6 w 627"/>
              <a:gd name="T33" fmla="*/ 235 h 590"/>
              <a:gd name="T34" fmla="*/ 1 w 627"/>
              <a:gd name="T35" fmla="*/ 264 h 590"/>
              <a:gd name="T36" fmla="*/ 0 w 627"/>
              <a:gd name="T37" fmla="*/ 294 h 590"/>
              <a:gd name="T38" fmla="*/ 6 w 627"/>
              <a:gd name="T39" fmla="*/ 353 h 590"/>
              <a:gd name="T40" fmla="*/ 24 w 627"/>
              <a:gd name="T41" fmla="*/ 409 h 590"/>
              <a:gd name="T42" fmla="*/ 53 w 627"/>
              <a:gd name="T43" fmla="*/ 459 h 590"/>
              <a:gd name="T44" fmla="*/ 91 w 627"/>
              <a:gd name="T45" fmla="*/ 502 h 590"/>
              <a:gd name="T46" fmla="*/ 138 w 627"/>
              <a:gd name="T47" fmla="*/ 538 h 590"/>
              <a:gd name="T48" fmla="*/ 191 w 627"/>
              <a:gd name="T49" fmla="*/ 565 h 590"/>
              <a:gd name="T50" fmla="*/ 249 w 627"/>
              <a:gd name="T51" fmla="*/ 582 h 590"/>
              <a:gd name="T52" fmla="*/ 313 w 627"/>
              <a:gd name="T53" fmla="*/ 589 h 590"/>
              <a:gd name="T54" fmla="*/ 376 w 627"/>
              <a:gd name="T55" fmla="*/ 582 h 590"/>
              <a:gd name="T56" fmla="*/ 435 w 627"/>
              <a:gd name="T57" fmla="*/ 565 h 590"/>
              <a:gd name="T58" fmla="*/ 488 w 627"/>
              <a:gd name="T59" fmla="*/ 538 h 590"/>
              <a:gd name="T60" fmla="*/ 534 w 627"/>
              <a:gd name="T61" fmla="*/ 502 h 590"/>
              <a:gd name="T62" fmla="*/ 572 w 627"/>
              <a:gd name="T63" fmla="*/ 459 h 590"/>
              <a:gd name="T64" fmla="*/ 601 w 627"/>
              <a:gd name="T65" fmla="*/ 409 h 590"/>
              <a:gd name="T66" fmla="*/ 619 w 627"/>
              <a:gd name="T67" fmla="*/ 353 h 590"/>
              <a:gd name="T68" fmla="*/ 626 w 627"/>
              <a:gd name="T69" fmla="*/ 294 h 590"/>
              <a:gd name="T70" fmla="*/ 626 w 627"/>
              <a:gd name="T71" fmla="*/ 294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27" h="590">
                <a:moveTo>
                  <a:pt x="626" y="294"/>
                </a:moveTo>
                <a:lnTo>
                  <a:pt x="624" y="264"/>
                </a:lnTo>
                <a:lnTo>
                  <a:pt x="619" y="235"/>
                </a:lnTo>
                <a:lnTo>
                  <a:pt x="601" y="179"/>
                </a:lnTo>
                <a:lnTo>
                  <a:pt x="572" y="129"/>
                </a:lnTo>
                <a:lnTo>
                  <a:pt x="534" y="86"/>
                </a:lnTo>
                <a:lnTo>
                  <a:pt x="488" y="50"/>
                </a:lnTo>
                <a:lnTo>
                  <a:pt x="435" y="23"/>
                </a:lnTo>
                <a:lnTo>
                  <a:pt x="376" y="6"/>
                </a:lnTo>
                <a:lnTo>
                  <a:pt x="313" y="0"/>
                </a:lnTo>
                <a:lnTo>
                  <a:pt x="249" y="6"/>
                </a:lnTo>
                <a:lnTo>
                  <a:pt x="191" y="23"/>
                </a:lnTo>
                <a:lnTo>
                  <a:pt x="138" y="50"/>
                </a:lnTo>
                <a:lnTo>
                  <a:pt x="91" y="86"/>
                </a:lnTo>
                <a:lnTo>
                  <a:pt x="53" y="129"/>
                </a:lnTo>
                <a:lnTo>
                  <a:pt x="24" y="179"/>
                </a:lnTo>
                <a:lnTo>
                  <a:pt x="6" y="235"/>
                </a:lnTo>
                <a:lnTo>
                  <a:pt x="1" y="264"/>
                </a:lnTo>
                <a:lnTo>
                  <a:pt x="0" y="294"/>
                </a:lnTo>
                <a:lnTo>
                  <a:pt x="6" y="353"/>
                </a:lnTo>
                <a:lnTo>
                  <a:pt x="24" y="409"/>
                </a:lnTo>
                <a:lnTo>
                  <a:pt x="53" y="459"/>
                </a:lnTo>
                <a:lnTo>
                  <a:pt x="91" y="502"/>
                </a:lnTo>
                <a:lnTo>
                  <a:pt x="138" y="538"/>
                </a:lnTo>
                <a:lnTo>
                  <a:pt x="191" y="565"/>
                </a:lnTo>
                <a:lnTo>
                  <a:pt x="249" y="582"/>
                </a:lnTo>
                <a:lnTo>
                  <a:pt x="313" y="589"/>
                </a:lnTo>
                <a:lnTo>
                  <a:pt x="376" y="582"/>
                </a:lnTo>
                <a:lnTo>
                  <a:pt x="435" y="565"/>
                </a:lnTo>
                <a:lnTo>
                  <a:pt x="488" y="538"/>
                </a:lnTo>
                <a:lnTo>
                  <a:pt x="534" y="502"/>
                </a:lnTo>
                <a:lnTo>
                  <a:pt x="572" y="459"/>
                </a:lnTo>
                <a:lnTo>
                  <a:pt x="601" y="409"/>
                </a:lnTo>
                <a:lnTo>
                  <a:pt x="619" y="353"/>
                </a:lnTo>
                <a:lnTo>
                  <a:pt x="626" y="294"/>
                </a:lnTo>
                <a:lnTo>
                  <a:pt x="626" y="29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403" name="Rectangle 19"/>
          <p:cNvSpPr>
            <a:spLocks noChangeArrowheads="1"/>
          </p:cNvSpPr>
          <p:nvPr/>
        </p:nvSpPr>
        <p:spPr bwMode="auto">
          <a:xfrm>
            <a:off x="6243638" y="5567363"/>
            <a:ext cx="70643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J'ville</a:t>
            </a:r>
          </a:p>
        </p:txBody>
      </p:sp>
      <p:sp>
        <p:nvSpPr>
          <p:cNvPr id="16404" name="Rectangle 20"/>
          <p:cNvSpPr>
            <a:spLocks noChangeArrowheads="1"/>
          </p:cNvSpPr>
          <p:nvPr/>
        </p:nvSpPr>
        <p:spPr bwMode="auto">
          <a:xfrm>
            <a:off x="6472238" y="5819775"/>
            <a:ext cx="2905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7</a:t>
            </a:r>
          </a:p>
        </p:txBody>
      </p:sp>
      <p:sp>
        <p:nvSpPr>
          <p:cNvPr id="16405" name="Freeform 21"/>
          <p:cNvSpPr>
            <a:spLocks/>
          </p:cNvSpPr>
          <p:nvPr/>
        </p:nvSpPr>
        <p:spPr bwMode="auto">
          <a:xfrm>
            <a:off x="1660525" y="5157788"/>
            <a:ext cx="995363" cy="936625"/>
          </a:xfrm>
          <a:custGeom>
            <a:avLst/>
            <a:gdLst>
              <a:gd name="T0" fmla="*/ 626 w 627"/>
              <a:gd name="T1" fmla="*/ 295 h 590"/>
              <a:gd name="T2" fmla="*/ 624 w 627"/>
              <a:gd name="T3" fmla="*/ 265 h 590"/>
              <a:gd name="T4" fmla="*/ 619 w 627"/>
              <a:gd name="T5" fmla="*/ 235 h 590"/>
              <a:gd name="T6" fmla="*/ 601 w 627"/>
              <a:gd name="T7" fmla="*/ 180 h 590"/>
              <a:gd name="T8" fmla="*/ 572 w 627"/>
              <a:gd name="T9" fmla="*/ 130 h 590"/>
              <a:gd name="T10" fmla="*/ 534 w 627"/>
              <a:gd name="T11" fmla="*/ 86 h 590"/>
              <a:gd name="T12" fmla="*/ 488 w 627"/>
              <a:gd name="T13" fmla="*/ 51 h 590"/>
              <a:gd name="T14" fmla="*/ 435 w 627"/>
              <a:gd name="T15" fmla="*/ 23 h 590"/>
              <a:gd name="T16" fmla="*/ 376 w 627"/>
              <a:gd name="T17" fmla="*/ 6 h 590"/>
              <a:gd name="T18" fmla="*/ 313 w 627"/>
              <a:gd name="T19" fmla="*/ 0 h 590"/>
              <a:gd name="T20" fmla="*/ 249 w 627"/>
              <a:gd name="T21" fmla="*/ 6 h 590"/>
              <a:gd name="T22" fmla="*/ 191 w 627"/>
              <a:gd name="T23" fmla="*/ 23 h 590"/>
              <a:gd name="T24" fmla="*/ 138 w 627"/>
              <a:gd name="T25" fmla="*/ 51 h 590"/>
              <a:gd name="T26" fmla="*/ 91 w 627"/>
              <a:gd name="T27" fmla="*/ 86 h 590"/>
              <a:gd name="T28" fmla="*/ 53 w 627"/>
              <a:gd name="T29" fmla="*/ 130 h 590"/>
              <a:gd name="T30" fmla="*/ 24 w 627"/>
              <a:gd name="T31" fmla="*/ 180 h 590"/>
              <a:gd name="T32" fmla="*/ 6 w 627"/>
              <a:gd name="T33" fmla="*/ 235 h 590"/>
              <a:gd name="T34" fmla="*/ 1 w 627"/>
              <a:gd name="T35" fmla="*/ 265 h 590"/>
              <a:gd name="T36" fmla="*/ 0 w 627"/>
              <a:gd name="T37" fmla="*/ 295 h 590"/>
              <a:gd name="T38" fmla="*/ 6 w 627"/>
              <a:gd name="T39" fmla="*/ 354 h 590"/>
              <a:gd name="T40" fmla="*/ 24 w 627"/>
              <a:gd name="T41" fmla="*/ 409 h 590"/>
              <a:gd name="T42" fmla="*/ 53 w 627"/>
              <a:gd name="T43" fmla="*/ 459 h 590"/>
              <a:gd name="T44" fmla="*/ 91 w 627"/>
              <a:gd name="T45" fmla="*/ 503 h 590"/>
              <a:gd name="T46" fmla="*/ 138 w 627"/>
              <a:gd name="T47" fmla="*/ 539 h 590"/>
              <a:gd name="T48" fmla="*/ 191 w 627"/>
              <a:gd name="T49" fmla="*/ 566 h 590"/>
              <a:gd name="T50" fmla="*/ 249 w 627"/>
              <a:gd name="T51" fmla="*/ 583 h 590"/>
              <a:gd name="T52" fmla="*/ 313 w 627"/>
              <a:gd name="T53" fmla="*/ 589 h 590"/>
              <a:gd name="T54" fmla="*/ 376 w 627"/>
              <a:gd name="T55" fmla="*/ 583 h 590"/>
              <a:gd name="T56" fmla="*/ 435 w 627"/>
              <a:gd name="T57" fmla="*/ 566 h 590"/>
              <a:gd name="T58" fmla="*/ 488 w 627"/>
              <a:gd name="T59" fmla="*/ 539 h 590"/>
              <a:gd name="T60" fmla="*/ 534 w 627"/>
              <a:gd name="T61" fmla="*/ 503 h 590"/>
              <a:gd name="T62" fmla="*/ 572 w 627"/>
              <a:gd name="T63" fmla="*/ 459 h 590"/>
              <a:gd name="T64" fmla="*/ 601 w 627"/>
              <a:gd name="T65" fmla="*/ 409 h 590"/>
              <a:gd name="T66" fmla="*/ 619 w 627"/>
              <a:gd name="T67" fmla="*/ 354 h 590"/>
              <a:gd name="T68" fmla="*/ 626 w 627"/>
              <a:gd name="T69" fmla="*/ 295 h 590"/>
              <a:gd name="T70" fmla="*/ 626 w 627"/>
              <a:gd name="T71" fmla="*/ 295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27" h="590">
                <a:moveTo>
                  <a:pt x="626" y="295"/>
                </a:moveTo>
                <a:lnTo>
                  <a:pt x="624" y="265"/>
                </a:lnTo>
                <a:lnTo>
                  <a:pt x="619" y="235"/>
                </a:lnTo>
                <a:lnTo>
                  <a:pt x="601" y="180"/>
                </a:lnTo>
                <a:lnTo>
                  <a:pt x="572" y="130"/>
                </a:lnTo>
                <a:lnTo>
                  <a:pt x="534" y="86"/>
                </a:lnTo>
                <a:lnTo>
                  <a:pt x="488" y="51"/>
                </a:lnTo>
                <a:lnTo>
                  <a:pt x="435" y="23"/>
                </a:lnTo>
                <a:lnTo>
                  <a:pt x="376" y="6"/>
                </a:lnTo>
                <a:lnTo>
                  <a:pt x="313" y="0"/>
                </a:lnTo>
                <a:lnTo>
                  <a:pt x="249" y="6"/>
                </a:lnTo>
                <a:lnTo>
                  <a:pt x="191" y="23"/>
                </a:lnTo>
                <a:lnTo>
                  <a:pt x="138" y="51"/>
                </a:lnTo>
                <a:lnTo>
                  <a:pt x="91" y="86"/>
                </a:lnTo>
                <a:lnTo>
                  <a:pt x="53" y="130"/>
                </a:lnTo>
                <a:lnTo>
                  <a:pt x="24" y="180"/>
                </a:lnTo>
                <a:lnTo>
                  <a:pt x="6" y="235"/>
                </a:lnTo>
                <a:lnTo>
                  <a:pt x="1" y="265"/>
                </a:lnTo>
                <a:lnTo>
                  <a:pt x="0" y="295"/>
                </a:lnTo>
                <a:lnTo>
                  <a:pt x="6" y="354"/>
                </a:lnTo>
                <a:lnTo>
                  <a:pt x="24" y="409"/>
                </a:lnTo>
                <a:lnTo>
                  <a:pt x="53" y="459"/>
                </a:lnTo>
                <a:lnTo>
                  <a:pt x="91" y="503"/>
                </a:lnTo>
                <a:lnTo>
                  <a:pt x="138" y="539"/>
                </a:lnTo>
                <a:lnTo>
                  <a:pt x="191" y="566"/>
                </a:lnTo>
                <a:lnTo>
                  <a:pt x="249" y="583"/>
                </a:lnTo>
                <a:lnTo>
                  <a:pt x="313" y="589"/>
                </a:lnTo>
                <a:lnTo>
                  <a:pt x="376" y="583"/>
                </a:lnTo>
                <a:lnTo>
                  <a:pt x="435" y="566"/>
                </a:lnTo>
                <a:lnTo>
                  <a:pt x="488" y="539"/>
                </a:lnTo>
                <a:lnTo>
                  <a:pt x="534" y="503"/>
                </a:lnTo>
                <a:lnTo>
                  <a:pt x="572" y="459"/>
                </a:lnTo>
                <a:lnTo>
                  <a:pt x="601" y="409"/>
                </a:lnTo>
                <a:lnTo>
                  <a:pt x="619" y="354"/>
                </a:lnTo>
                <a:lnTo>
                  <a:pt x="626" y="295"/>
                </a:lnTo>
                <a:lnTo>
                  <a:pt x="626" y="295"/>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406" name="Rectangle 22"/>
          <p:cNvSpPr>
            <a:spLocks noChangeArrowheads="1"/>
          </p:cNvSpPr>
          <p:nvPr/>
        </p:nvSpPr>
        <p:spPr bwMode="auto">
          <a:xfrm>
            <a:off x="1757363" y="5405438"/>
            <a:ext cx="7874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Mobile</a:t>
            </a:r>
          </a:p>
        </p:txBody>
      </p:sp>
      <p:sp>
        <p:nvSpPr>
          <p:cNvPr id="16407" name="Rectangle 23"/>
          <p:cNvSpPr>
            <a:spLocks noChangeArrowheads="1"/>
          </p:cNvSpPr>
          <p:nvPr/>
        </p:nvSpPr>
        <p:spPr bwMode="auto">
          <a:xfrm>
            <a:off x="2009775" y="5657850"/>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6</a:t>
            </a:r>
          </a:p>
        </p:txBody>
      </p:sp>
      <p:sp>
        <p:nvSpPr>
          <p:cNvPr id="16408" name="Line 24"/>
          <p:cNvSpPr>
            <a:spLocks noChangeShapeType="1"/>
          </p:cNvSpPr>
          <p:nvPr/>
        </p:nvSpPr>
        <p:spPr bwMode="auto">
          <a:xfrm flipH="1" flipV="1">
            <a:off x="4787900" y="1984375"/>
            <a:ext cx="1163638" cy="166688"/>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09" name="Line 25"/>
          <p:cNvSpPr>
            <a:spLocks noChangeShapeType="1"/>
          </p:cNvSpPr>
          <p:nvPr/>
        </p:nvSpPr>
        <p:spPr bwMode="auto">
          <a:xfrm flipH="1">
            <a:off x="2549525" y="1941513"/>
            <a:ext cx="1114425" cy="67945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10" name="Line 26"/>
          <p:cNvSpPr>
            <a:spLocks noChangeShapeType="1"/>
          </p:cNvSpPr>
          <p:nvPr/>
        </p:nvSpPr>
        <p:spPr bwMode="auto">
          <a:xfrm flipH="1">
            <a:off x="5948363" y="2754313"/>
            <a:ext cx="468312" cy="64135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11" name="Line 27"/>
          <p:cNvSpPr>
            <a:spLocks noChangeShapeType="1"/>
          </p:cNvSpPr>
          <p:nvPr/>
        </p:nvSpPr>
        <p:spPr bwMode="auto">
          <a:xfrm flipH="1" flipV="1">
            <a:off x="2533650" y="3355975"/>
            <a:ext cx="596900" cy="47625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12" name="Line 28"/>
          <p:cNvSpPr>
            <a:spLocks noChangeShapeType="1"/>
          </p:cNvSpPr>
          <p:nvPr/>
        </p:nvSpPr>
        <p:spPr bwMode="auto">
          <a:xfrm flipH="1" flipV="1">
            <a:off x="3957638" y="4540250"/>
            <a:ext cx="2192337" cy="106680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13" name="Line 29"/>
          <p:cNvSpPr>
            <a:spLocks noChangeShapeType="1"/>
          </p:cNvSpPr>
          <p:nvPr/>
        </p:nvSpPr>
        <p:spPr bwMode="auto">
          <a:xfrm flipH="1" flipV="1">
            <a:off x="2767013" y="5632450"/>
            <a:ext cx="3336925" cy="149225"/>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14" name="Rectangle 30"/>
          <p:cNvSpPr>
            <a:spLocks noChangeArrowheads="1"/>
          </p:cNvSpPr>
          <p:nvPr/>
        </p:nvSpPr>
        <p:spPr bwMode="auto">
          <a:xfrm>
            <a:off x="5186363" y="1704975"/>
            <a:ext cx="501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00CC00"/>
                </a:solidFill>
              </a:rPr>
              <a:t>$30</a:t>
            </a:r>
          </a:p>
        </p:txBody>
      </p:sp>
      <p:sp>
        <p:nvSpPr>
          <p:cNvPr id="16415" name="Rectangle 31"/>
          <p:cNvSpPr>
            <a:spLocks noChangeArrowheads="1"/>
          </p:cNvSpPr>
          <p:nvPr/>
        </p:nvSpPr>
        <p:spPr bwMode="auto">
          <a:xfrm>
            <a:off x="6197600" y="2990850"/>
            <a:ext cx="501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00CC00"/>
                </a:solidFill>
              </a:rPr>
              <a:t>$40</a:t>
            </a:r>
          </a:p>
        </p:txBody>
      </p:sp>
      <p:sp>
        <p:nvSpPr>
          <p:cNvPr id="16416" name="Rectangle 32"/>
          <p:cNvSpPr>
            <a:spLocks noChangeArrowheads="1"/>
          </p:cNvSpPr>
          <p:nvPr/>
        </p:nvSpPr>
        <p:spPr bwMode="auto">
          <a:xfrm>
            <a:off x="2633663" y="1982788"/>
            <a:ext cx="501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00CC00"/>
                </a:solidFill>
              </a:rPr>
              <a:t>$50</a:t>
            </a:r>
          </a:p>
        </p:txBody>
      </p:sp>
      <p:sp>
        <p:nvSpPr>
          <p:cNvPr id="16417" name="Rectangle 33"/>
          <p:cNvSpPr>
            <a:spLocks noChangeArrowheads="1"/>
          </p:cNvSpPr>
          <p:nvPr/>
        </p:nvSpPr>
        <p:spPr bwMode="auto">
          <a:xfrm>
            <a:off x="2738438" y="3270250"/>
            <a:ext cx="501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00CC00"/>
                </a:solidFill>
              </a:rPr>
              <a:t>$40</a:t>
            </a:r>
          </a:p>
        </p:txBody>
      </p:sp>
      <p:sp>
        <p:nvSpPr>
          <p:cNvPr id="16418" name="Rectangle 34"/>
          <p:cNvSpPr>
            <a:spLocks noChangeArrowheads="1"/>
          </p:cNvSpPr>
          <p:nvPr/>
        </p:nvSpPr>
        <p:spPr bwMode="auto">
          <a:xfrm>
            <a:off x="3998913" y="5740400"/>
            <a:ext cx="501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00CC00"/>
                </a:solidFill>
              </a:rPr>
              <a:t>$50</a:t>
            </a:r>
          </a:p>
        </p:txBody>
      </p:sp>
      <p:sp>
        <p:nvSpPr>
          <p:cNvPr id="16419" name="Rectangle 35"/>
          <p:cNvSpPr>
            <a:spLocks noChangeArrowheads="1"/>
          </p:cNvSpPr>
          <p:nvPr/>
        </p:nvSpPr>
        <p:spPr bwMode="auto">
          <a:xfrm>
            <a:off x="4987925" y="4767263"/>
            <a:ext cx="501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00CC00"/>
                </a:solidFill>
              </a:rPr>
              <a:t>$45</a:t>
            </a:r>
          </a:p>
        </p:txBody>
      </p:sp>
      <p:sp>
        <p:nvSpPr>
          <p:cNvPr id="16420" name="Rectangle 36"/>
          <p:cNvSpPr>
            <a:spLocks noChangeArrowheads="1"/>
          </p:cNvSpPr>
          <p:nvPr/>
        </p:nvSpPr>
        <p:spPr bwMode="auto">
          <a:xfrm>
            <a:off x="6962775" y="2028825"/>
            <a:ext cx="5651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-200</a:t>
            </a:r>
          </a:p>
        </p:txBody>
      </p:sp>
      <p:sp>
        <p:nvSpPr>
          <p:cNvPr id="16421" name="Rectangle 37"/>
          <p:cNvSpPr>
            <a:spLocks noChangeArrowheads="1"/>
          </p:cNvSpPr>
          <p:nvPr/>
        </p:nvSpPr>
        <p:spPr bwMode="auto">
          <a:xfrm>
            <a:off x="7067550" y="5611813"/>
            <a:ext cx="5651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-300</a:t>
            </a:r>
          </a:p>
        </p:txBody>
      </p:sp>
      <p:sp>
        <p:nvSpPr>
          <p:cNvPr id="16422" name="Rectangle 38"/>
          <p:cNvSpPr>
            <a:spLocks noChangeArrowheads="1"/>
          </p:cNvSpPr>
          <p:nvPr/>
        </p:nvSpPr>
        <p:spPr bwMode="auto">
          <a:xfrm>
            <a:off x="6186488" y="3814763"/>
            <a:ext cx="5080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+80</a:t>
            </a:r>
          </a:p>
        </p:txBody>
      </p:sp>
      <p:sp>
        <p:nvSpPr>
          <p:cNvPr id="16423" name="Rectangle 39"/>
          <p:cNvSpPr>
            <a:spLocks noChangeArrowheads="1"/>
          </p:cNvSpPr>
          <p:nvPr/>
        </p:nvSpPr>
        <p:spPr bwMode="auto">
          <a:xfrm>
            <a:off x="3843338" y="1182688"/>
            <a:ext cx="61277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+100</a:t>
            </a:r>
          </a:p>
        </p:txBody>
      </p:sp>
      <p:sp>
        <p:nvSpPr>
          <p:cNvPr id="16424" name="Rectangle 40"/>
          <p:cNvSpPr>
            <a:spLocks noChangeArrowheads="1"/>
          </p:cNvSpPr>
          <p:nvPr/>
        </p:nvSpPr>
        <p:spPr bwMode="auto">
          <a:xfrm>
            <a:off x="1060450" y="2851150"/>
            <a:ext cx="5080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+60</a:t>
            </a:r>
          </a:p>
        </p:txBody>
      </p:sp>
      <p:sp>
        <p:nvSpPr>
          <p:cNvPr id="16425" name="Rectangle 41"/>
          <p:cNvSpPr>
            <a:spLocks noChangeArrowheads="1"/>
          </p:cNvSpPr>
          <p:nvPr/>
        </p:nvSpPr>
        <p:spPr bwMode="auto">
          <a:xfrm>
            <a:off x="2362200" y="4090988"/>
            <a:ext cx="61277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+170</a:t>
            </a:r>
          </a:p>
        </p:txBody>
      </p:sp>
      <p:sp>
        <p:nvSpPr>
          <p:cNvPr id="16426" name="Rectangle 42"/>
          <p:cNvSpPr>
            <a:spLocks noChangeArrowheads="1"/>
          </p:cNvSpPr>
          <p:nvPr/>
        </p:nvSpPr>
        <p:spPr bwMode="auto">
          <a:xfrm>
            <a:off x="1123950" y="5457825"/>
            <a:ext cx="5080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+70</a:t>
            </a:r>
          </a:p>
        </p:txBody>
      </p:sp>
      <p:grpSp>
        <p:nvGrpSpPr>
          <p:cNvPr id="16429" name="Group 45"/>
          <p:cNvGrpSpPr>
            <a:grpSpLocks/>
          </p:cNvGrpSpPr>
          <p:nvPr/>
        </p:nvGrpSpPr>
        <p:grpSpPr bwMode="auto">
          <a:xfrm>
            <a:off x="5178425" y="2233613"/>
            <a:ext cx="582613" cy="358775"/>
            <a:chOff x="3262" y="1407"/>
            <a:chExt cx="367" cy="226"/>
          </a:xfrm>
        </p:grpSpPr>
        <p:sp>
          <p:nvSpPr>
            <p:cNvPr id="16427" name="Rectangle 43"/>
            <p:cNvSpPr>
              <a:spLocks noChangeArrowheads="1"/>
            </p:cNvSpPr>
            <p:nvPr/>
          </p:nvSpPr>
          <p:spPr bwMode="auto">
            <a:xfrm>
              <a:off x="3276" y="1421"/>
              <a:ext cx="3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sz="1600"/>
                <a:t>120</a:t>
              </a:r>
            </a:p>
          </p:txBody>
        </p:sp>
        <p:sp>
          <p:nvSpPr>
            <p:cNvPr id="16428" name="Rectangle 44"/>
            <p:cNvSpPr>
              <a:spLocks noChangeArrowheads="1"/>
            </p:cNvSpPr>
            <p:nvPr/>
          </p:nvSpPr>
          <p:spPr bwMode="auto">
            <a:xfrm>
              <a:off x="3262" y="1407"/>
              <a:ext cx="338" cy="209"/>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6432" name="Group 48"/>
          <p:cNvGrpSpPr>
            <a:grpSpLocks/>
          </p:cNvGrpSpPr>
          <p:nvPr/>
        </p:nvGrpSpPr>
        <p:grpSpPr bwMode="auto">
          <a:xfrm>
            <a:off x="5534025" y="2794000"/>
            <a:ext cx="582613" cy="358775"/>
            <a:chOff x="3486" y="1760"/>
            <a:chExt cx="367" cy="226"/>
          </a:xfrm>
        </p:grpSpPr>
        <p:sp>
          <p:nvSpPr>
            <p:cNvPr id="16430" name="Rectangle 46"/>
            <p:cNvSpPr>
              <a:spLocks noChangeArrowheads="1"/>
            </p:cNvSpPr>
            <p:nvPr/>
          </p:nvSpPr>
          <p:spPr bwMode="auto">
            <a:xfrm>
              <a:off x="3500" y="1774"/>
              <a:ext cx="3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sz="1600"/>
                <a:t> 80</a:t>
              </a:r>
            </a:p>
          </p:txBody>
        </p:sp>
        <p:sp>
          <p:nvSpPr>
            <p:cNvPr id="16431" name="Rectangle 47"/>
            <p:cNvSpPr>
              <a:spLocks noChangeArrowheads="1"/>
            </p:cNvSpPr>
            <p:nvPr/>
          </p:nvSpPr>
          <p:spPr bwMode="auto">
            <a:xfrm>
              <a:off x="3486" y="1760"/>
              <a:ext cx="338" cy="209"/>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6435" name="Group 51"/>
          <p:cNvGrpSpPr>
            <a:grpSpLocks/>
          </p:cNvGrpSpPr>
          <p:nvPr/>
        </p:nvGrpSpPr>
        <p:grpSpPr bwMode="auto">
          <a:xfrm>
            <a:off x="3136900" y="2335213"/>
            <a:ext cx="582613" cy="358775"/>
            <a:chOff x="1976" y="1471"/>
            <a:chExt cx="367" cy="226"/>
          </a:xfrm>
        </p:grpSpPr>
        <p:sp>
          <p:nvSpPr>
            <p:cNvPr id="16433" name="Rectangle 49"/>
            <p:cNvSpPr>
              <a:spLocks noChangeArrowheads="1"/>
            </p:cNvSpPr>
            <p:nvPr/>
          </p:nvSpPr>
          <p:spPr bwMode="auto">
            <a:xfrm>
              <a:off x="1990" y="1485"/>
              <a:ext cx="3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sz="1600"/>
                <a:t> 20</a:t>
              </a:r>
            </a:p>
          </p:txBody>
        </p:sp>
        <p:sp>
          <p:nvSpPr>
            <p:cNvPr id="16434" name="Rectangle 50"/>
            <p:cNvSpPr>
              <a:spLocks noChangeArrowheads="1"/>
            </p:cNvSpPr>
            <p:nvPr/>
          </p:nvSpPr>
          <p:spPr bwMode="auto">
            <a:xfrm>
              <a:off x="1976" y="1471"/>
              <a:ext cx="338" cy="209"/>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6438" name="Group 54"/>
          <p:cNvGrpSpPr>
            <a:grpSpLocks/>
          </p:cNvGrpSpPr>
          <p:nvPr/>
        </p:nvGrpSpPr>
        <p:grpSpPr bwMode="auto">
          <a:xfrm>
            <a:off x="2236788" y="3644900"/>
            <a:ext cx="582612" cy="358775"/>
            <a:chOff x="1409" y="2296"/>
            <a:chExt cx="367" cy="226"/>
          </a:xfrm>
        </p:grpSpPr>
        <p:sp>
          <p:nvSpPr>
            <p:cNvPr id="16436" name="Rectangle 52"/>
            <p:cNvSpPr>
              <a:spLocks noChangeArrowheads="1"/>
            </p:cNvSpPr>
            <p:nvPr/>
          </p:nvSpPr>
          <p:spPr bwMode="auto">
            <a:xfrm>
              <a:off x="1423" y="2310"/>
              <a:ext cx="3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sz="1600"/>
                <a:t> 40</a:t>
              </a:r>
            </a:p>
          </p:txBody>
        </p:sp>
        <p:sp>
          <p:nvSpPr>
            <p:cNvPr id="16437" name="Rectangle 53"/>
            <p:cNvSpPr>
              <a:spLocks noChangeArrowheads="1"/>
            </p:cNvSpPr>
            <p:nvPr/>
          </p:nvSpPr>
          <p:spPr bwMode="auto">
            <a:xfrm>
              <a:off x="1409" y="2296"/>
              <a:ext cx="338" cy="209"/>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6441" name="Group 57"/>
          <p:cNvGrpSpPr>
            <a:grpSpLocks/>
          </p:cNvGrpSpPr>
          <p:nvPr/>
        </p:nvGrpSpPr>
        <p:grpSpPr bwMode="auto">
          <a:xfrm>
            <a:off x="3544888" y="5259388"/>
            <a:ext cx="582612" cy="358775"/>
            <a:chOff x="2233" y="3313"/>
            <a:chExt cx="367" cy="226"/>
          </a:xfrm>
        </p:grpSpPr>
        <p:sp>
          <p:nvSpPr>
            <p:cNvPr id="16439" name="Rectangle 55"/>
            <p:cNvSpPr>
              <a:spLocks noChangeArrowheads="1"/>
            </p:cNvSpPr>
            <p:nvPr/>
          </p:nvSpPr>
          <p:spPr bwMode="auto">
            <a:xfrm>
              <a:off x="2247" y="3327"/>
              <a:ext cx="3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sz="1600"/>
                <a:t> 70</a:t>
              </a:r>
            </a:p>
          </p:txBody>
        </p:sp>
        <p:sp>
          <p:nvSpPr>
            <p:cNvPr id="16440" name="Rectangle 56"/>
            <p:cNvSpPr>
              <a:spLocks noChangeArrowheads="1"/>
            </p:cNvSpPr>
            <p:nvPr/>
          </p:nvSpPr>
          <p:spPr bwMode="auto">
            <a:xfrm>
              <a:off x="2233" y="3313"/>
              <a:ext cx="338" cy="209"/>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6444" name="Group 60"/>
          <p:cNvGrpSpPr>
            <a:grpSpLocks/>
          </p:cNvGrpSpPr>
          <p:nvPr/>
        </p:nvGrpSpPr>
        <p:grpSpPr bwMode="auto">
          <a:xfrm>
            <a:off x="5467350" y="4868863"/>
            <a:ext cx="582613" cy="358775"/>
            <a:chOff x="3444" y="3067"/>
            <a:chExt cx="367" cy="226"/>
          </a:xfrm>
        </p:grpSpPr>
        <p:sp>
          <p:nvSpPr>
            <p:cNvPr id="16442" name="Rectangle 58"/>
            <p:cNvSpPr>
              <a:spLocks noChangeArrowheads="1"/>
            </p:cNvSpPr>
            <p:nvPr/>
          </p:nvSpPr>
          <p:spPr bwMode="auto">
            <a:xfrm>
              <a:off x="3458" y="3081"/>
              <a:ext cx="35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sz="1600"/>
                <a:t>210</a:t>
              </a:r>
            </a:p>
          </p:txBody>
        </p:sp>
        <p:sp>
          <p:nvSpPr>
            <p:cNvPr id="16443" name="Rectangle 59"/>
            <p:cNvSpPr>
              <a:spLocks noChangeArrowheads="1"/>
            </p:cNvSpPr>
            <p:nvPr/>
          </p:nvSpPr>
          <p:spPr bwMode="auto">
            <a:xfrm>
              <a:off x="3444" y="3067"/>
              <a:ext cx="338" cy="209"/>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85800" y="377825"/>
            <a:ext cx="7772400" cy="582613"/>
          </a:xfrm>
          <a:noFill/>
          <a:ln/>
        </p:spPr>
        <p:txBody>
          <a:bodyPr lIns="92075" tIns="46038" rIns="92075" bIns="46038"/>
          <a:lstStyle/>
          <a:p>
            <a:r>
              <a:rPr lang="en-US" sz="4000" i="1">
                <a:solidFill>
                  <a:schemeClr val="hlink"/>
                </a:solidFill>
              </a:rPr>
              <a:t>The Shortest Path Problem</a:t>
            </a:r>
          </a:p>
        </p:txBody>
      </p:sp>
      <p:sp>
        <p:nvSpPr>
          <p:cNvPr id="17411" name="Rectangle 3"/>
          <p:cNvSpPr>
            <a:spLocks noGrp="1" noChangeArrowheads="1"/>
          </p:cNvSpPr>
          <p:nvPr>
            <p:ph type="body" idx="1"/>
          </p:nvPr>
        </p:nvSpPr>
        <p:spPr>
          <a:xfrm>
            <a:off x="295275" y="1227138"/>
            <a:ext cx="8543925" cy="4792662"/>
          </a:xfrm>
          <a:noFill/>
          <a:ln/>
        </p:spPr>
        <p:txBody>
          <a:bodyPr lIns="92075" tIns="46038" rIns="92075" bIns="46038"/>
          <a:lstStyle/>
          <a:p>
            <a:r>
              <a:rPr lang="en-US" sz="3000" dirty="0"/>
              <a:t>Many decision problems boil down to determining the shortest (or least costly) route or path through a network.</a:t>
            </a:r>
          </a:p>
          <a:p>
            <a:pPr lvl="1"/>
            <a:r>
              <a:rPr lang="en-US" dirty="0"/>
              <a:t>Ex. Emergency Vehicle Routing</a:t>
            </a:r>
          </a:p>
          <a:p>
            <a:r>
              <a:rPr lang="en-US" sz="3000" dirty="0"/>
              <a:t>This is a special case of a transshipment problem where:</a:t>
            </a:r>
          </a:p>
          <a:p>
            <a:pPr lvl="1"/>
            <a:r>
              <a:rPr lang="en-US" dirty="0"/>
              <a:t>There is one supply node with a supply of -1</a:t>
            </a:r>
          </a:p>
          <a:p>
            <a:pPr lvl="1"/>
            <a:r>
              <a:rPr lang="en-US" dirty="0"/>
              <a:t>There is one demand node with a demand of +1</a:t>
            </a:r>
          </a:p>
          <a:p>
            <a:pPr lvl="1"/>
            <a:r>
              <a:rPr lang="en-US" dirty="0"/>
              <a:t>All other nodes have supply/demand of +0</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17411">
                                            <p:txEl>
                                              <p:pRg st="0" end="0"/>
                                            </p:txEl>
                                          </p:spTgt>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7411">
                                            <p:txEl>
                                              <p:pRg st="1" end="1"/>
                                            </p:txEl>
                                          </p:spTgt>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17411">
                                            <p:txEl>
                                              <p:pRg st="2" end="2"/>
                                            </p:txEl>
                                          </p:spTgt>
                                        </p:tgtEl>
                                        <p:attrNameLst>
                                          <p:attrName>style.visibility</p:attrName>
                                        </p:attrNameLst>
                                      </p:cBhvr>
                                      <p:to>
                                        <p:strVal val="visible"/>
                                      </p:to>
                                    </p:set>
                                  </p:childTnLst>
                                </p:cTn>
                              </p:par>
                            </p:childTnLst>
                          </p:cTn>
                        </p:par>
                        <p:par>
                          <p:cTn id="14" fill="hold" nodeType="afterGroup">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17411">
                                            <p:txEl>
                                              <p:pRg st="3" end="3"/>
                                            </p:txEl>
                                          </p:spTgt>
                                        </p:tgtEl>
                                        <p:attrNameLst>
                                          <p:attrName>style.visibility</p:attrName>
                                        </p:attrNameLst>
                                      </p:cBhvr>
                                      <p:to>
                                        <p:strVal val="visible"/>
                                      </p:to>
                                    </p:set>
                                  </p:childTnLst>
                                </p:cTn>
                              </p:par>
                            </p:childTnLst>
                          </p:cTn>
                        </p:par>
                        <p:par>
                          <p:cTn id="17" fill="hold" nodeType="afterGroup">
                            <p:stCondLst>
                              <p:cond delay="1000"/>
                            </p:stCondLst>
                            <p:childTnLst>
                              <p:par>
                                <p:cTn id="18" presetID="1" presetClass="entr" presetSubtype="0" fill="hold" grpId="0" nodeType="afterEffect">
                                  <p:stCondLst>
                                    <p:cond delay="0"/>
                                  </p:stCondLst>
                                  <p:childTnLst>
                                    <p:set>
                                      <p:cBhvr>
                                        <p:cTn id="19" dur="1" fill="hold">
                                          <p:stCondLst>
                                            <p:cond delay="499"/>
                                          </p:stCondLst>
                                        </p:cTn>
                                        <p:tgtEl>
                                          <p:spTgt spid="17411">
                                            <p:txEl>
                                              <p:pRg st="4" end="4"/>
                                            </p:txEl>
                                          </p:spTgt>
                                        </p:tgtEl>
                                        <p:attrNameLst>
                                          <p:attrName>style.visibility</p:attrName>
                                        </p:attrNameLst>
                                      </p:cBhvr>
                                      <p:to>
                                        <p:strVal val="visible"/>
                                      </p:to>
                                    </p:set>
                                  </p:childTnLst>
                                </p:cTn>
                              </p:par>
                            </p:childTnLst>
                          </p:cTn>
                        </p:par>
                        <p:par>
                          <p:cTn id="20" fill="hold" nodeType="afterGroup">
                            <p:stCondLst>
                              <p:cond delay="1500"/>
                            </p:stCondLst>
                            <p:childTnLst>
                              <p:par>
                                <p:cTn id="21" presetID="1" presetClass="entr" presetSubtype="0" fill="hold" grpId="0" nodeType="afterEffect">
                                  <p:stCondLst>
                                    <p:cond delay="0"/>
                                  </p:stCondLst>
                                  <p:childTnLst>
                                    <p:set>
                                      <p:cBhvr>
                                        <p:cTn id="22" dur="1" fill="hold">
                                          <p:stCondLst>
                                            <p:cond delay="499"/>
                                          </p:stCondLst>
                                        </p:cTn>
                                        <p:tgtEl>
                                          <p:spTgt spid="174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uiExpand="1" build="p" bldLvl="2"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85800" y="252413"/>
            <a:ext cx="7772400" cy="433387"/>
          </a:xfrm>
          <a:noFill/>
          <a:ln/>
        </p:spPr>
        <p:txBody>
          <a:bodyPr lIns="92075" tIns="46038" rIns="92075" bIns="46038"/>
          <a:lstStyle/>
          <a:p>
            <a:pPr>
              <a:lnSpc>
                <a:spcPct val="80000"/>
              </a:lnSpc>
            </a:pPr>
            <a:r>
              <a:rPr lang="en-US" sz="4000" i="1">
                <a:solidFill>
                  <a:schemeClr val="hlink"/>
                </a:solidFill>
              </a:rPr>
              <a:t> The American Car Association</a:t>
            </a:r>
          </a:p>
        </p:txBody>
      </p:sp>
      <p:sp>
        <p:nvSpPr>
          <p:cNvPr id="18435" name="Freeform 3"/>
          <p:cNvSpPr>
            <a:spLocks/>
          </p:cNvSpPr>
          <p:nvPr/>
        </p:nvSpPr>
        <p:spPr bwMode="auto">
          <a:xfrm>
            <a:off x="677863" y="5788025"/>
            <a:ext cx="758825" cy="682625"/>
          </a:xfrm>
          <a:custGeom>
            <a:avLst/>
            <a:gdLst>
              <a:gd name="T0" fmla="*/ 477 w 478"/>
              <a:gd name="T1" fmla="*/ 215 h 430"/>
              <a:gd name="T2" fmla="*/ 472 w 478"/>
              <a:gd name="T3" fmla="*/ 171 h 430"/>
              <a:gd name="T4" fmla="*/ 458 w 478"/>
              <a:gd name="T5" fmla="*/ 131 h 430"/>
              <a:gd name="T6" fmla="*/ 436 w 478"/>
              <a:gd name="T7" fmla="*/ 95 h 430"/>
              <a:gd name="T8" fmla="*/ 407 w 478"/>
              <a:gd name="T9" fmla="*/ 63 h 430"/>
              <a:gd name="T10" fmla="*/ 372 w 478"/>
              <a:gd name="T11" fmla="*/ 37 h 430"/>
              <a:gd name="T12" fmla="*/ 331 w 478"/>
              <a:gd name="T13" fmla="*/ 17 h 430"/>
              <a:gd name="T14" fmla="*/ 286 w 478"/>
              <a:gd name="T15" fmla="*/ 4 h 430"/>
              <a:gd name="T16" fmla="*/ 238 w 478"/>
              <a:gd name="T17" fmla="*/ 0 h 430"/>
              <a:gd name="T18" fmla="*/ 190 w 478"/>
              <a:gd name="T19" fmla="*/ 4 h 430"/>
              <a:gd name="T20" fmla="*/ 145 w 478"/>
              <a:gd name="T21" fmla="*/ 17 h 430"/>
              <a:gd name="T22" fmla="*/ 105 w 478"/>
              <a:gd name="T23" fmla="*/ 37 h 430"/>
              <a:gd name="T24" fmla="*/ 69 w 478"/>
              <a:gd name="T25" fmla="*/ 63 h 430"/>
              <a:gd name="T26" fmla="*/ 40 w 478"/>
              <a:gd name="T27" fmla="*/ 95 h 430"/>
              <a:gd name="T28" fmla="*/ 18 w 478"/>
              <a:gd name="T29" fmla="*/ 131 h 430"/>
              <a:gd name="T30" fmla="*/ 4 w 478"/>
              <a:gd name="T31" fmla="*/ 171 h 430"/>
              <a:gd name="T32" fmla="*/ 0 w 478"/>
              <a:gd name="T33" fmla="*/ 215 h 430"/>
              <a:gd name="T34" fmla="*/ 4 w 478"/>
              <a:gd name="T35" fmla="*/ 258 h 430"/>
              <a:gd name="T36" fmla="*/ 18 w 478"/>
              <a:gd name="T37" fmla="*/ 298 h 430"/>
              <a:gd name="T38" fmla="*/ 40 w 478"/>
              <a:gd name="T39" fmla="*/ 334 h 430"/>
              <a:gd name="T40" fmla="*/ 69 w 478"/>
              <a:gd name="T41" fmla="*/ 366 h 430"/>
              <a:gd name="T42" fmla="*/ 105 w 478"/>
              <a:gd name="T43" fmla="*/ 392 h 430"/>
              <a:gd name="T44" fmla="*/ 145 w 478"/>
              <a:gd name="T45" fmla="*/ 412 h 430"/>
              <a:gd name="T46" fmla="*/ 190 w 478"/>
              <a:gd name="T47" fmla="*/ 425 h 430"/>
              <a:gd name="T48" fmla="*/ 238 w 478"/>
              <a:gd name="T49" fmla="*/ 429 h 430"/>
              <a:gd name="T50" fmla="*/ 286 w 478"/>
              <a:gd name="T51" fmla="*/ 425 h 430"/>
              <a:gd name="T52" fmla="*/ 331 w 478"/>
              <a:gd name="T53" fmla="*/ 412 h 430"/>
              <a:gd name="T54" fmla="*/ 372 w 478"/>
              <a:gd name="T55" fmla="*/ 392 h 430"/>
              <a:gd name="T56" fmla="*/ 407 w 478"/>
              <a:gd name="T57" fmla="*/ 366 h 430"/>
              <a:gd name="T58" fmla="*/ 436 w 478"/>
              <a:gd name="T59" fmla="*/ 334 h 430"/>
              <a:gd name="T60" fmla="*/ 458 w 478"/>
              <a:gd name="T61" fmla="*/ 298 h 430"/>
              <a:gd name="T62" fmla="*/ 472 w 478"/>
              <a:gd name="T63" fmla="*/ 258 h 430"/>
              <a:gd name="T64" fmla="*/ 477 w 478"/>
              <a:gd name="T65" fmla="*/ 215 h 430"/>
              <a:gd name="T66" fmla="*/ 477 w 478"/>
              <a:gd name="T67" fmla="*/ 215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78" h="430">
                <a:moveTo>
                  <a:pt x="477" y="215"/>
                </a:moveTo>
                <a:lnTo>
                  <a:pt x="472" y="171"/>
                </a:lnTo>
                <a:lnTo>
                  <a:pt x="458" y="131"/>
                </a:lnTo>
                <a:lnTo>
                  <a:pt x="436" y="95"/>
                </a:lnTo>
                <a:lnTo>
                  <a:pt x="407" y="63"/>
                </a:lnTo>
                <a:lnTo>
                  <a:pt x="372" y="37"/>
                </a:lnTo>
                <a:lnTo>
                  <a:pt x="331" y="17"/>
                </a:lnTo>
                <a:lnTo>
                  <a:pt x="286" y="4"/>
                </a:lnTo>
                <a:lnTo>
                  <a:pt x="238" y="0"/>
                </a:lnTo>
                <a:lnTo>
                  <a:pt x="190" y="4"/>
                </a:lnTo>
                <a:lnTo>
                  <a:pt x="145" y="17"/>
                </a:lnTo>
                <a:lnTo>
                  <a:pt x="105" y="37"/>
                </a:lnTo>
                <a:lnTo>
                  <a:pt x="69" y="63"/>
                </a:lnTo>
                <a:lnTo>
                  <a:pt x="40" y="95"/>
                </a:lnTo>
                <a:lnTo>
                  <a:pt x="18" y="131"/>
                </a:lnTo>
                <a:lnTo>
                  <a:pt x="4" y="171"/>
                </a:lnTo>
                <a:lnTo>
                  <a:pt x="0" y="215"/>
                </a:lnTo>
                <a:lnTo>
                  <a:pt x="4" y="258"/>
                </a:lnTo>
                <a:lnTo>
                  <a:pt x="18" y="298"/>
                </a:lnTo>
                <a:lnTo>
                  <a:pt x="40" y="334"/>
                </a:lnTo>
                <a:lnTo>
                  <a:pt x="69" y="366"/>
                </a:lnTo>
                <a:lnTo>
                  <a:pt x="105" y="392"/>
                </a:lnTo>
                <a:lnTo>
                  <a:pt x="145" y="412"/>
                </a:lnTo>
                <a:lnTo>
                  <a:pt x="190" y="425"/>
                </a:lnTo>
                <a:lnTo>
                  <a:pt x="238" y="429"/>
                </a:lnTo>
                <a:lnTo>
                  <a:pt x="286" y="425"/>
                </a:lnTo>
                <a:lnTo>
                  <a:pt x="331" y="412"/>
                </a:lnTo>
                <a:lnTo>
                  <a:pt x="372" y="392"/>
                </a:lnTo>
                <a:lnTo>
                  <a:pt x="407" y="366"/>
                </a:lnTo>
                <a:lnTo>
                  <a:pt x="436" y="334"/>
                </a:lnTo>
                <a:lnTo>
                  <a:pt x="458" y="298"/>
                </a:lnTo>
                <a:lnTo>
                  <a:pt x="472" y="258"/>
                </a:lnTo>
                <a:lnTo>
                  <a:pt x="477" y="215"/>
                </a:lnTo>
                <a:lnTo>
                  <a:pt x="477" y="215"/>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6" name="Rectangle 4"/>
          <p:cNvSpPr>
            <a:spLocks noChangeArrowheads="1"/>
          </p:cNvSpPr>
          <p:nvPr/>
        </p:nvSpPr>
        <p:spPr bwMode="auto">
          <a:xfrm>
            <a:off x="690563" y="5881688"/>
            <a:ext cx="7175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a:solidFill>
                  <a:srgbClr val="3399FF"/>
                </a:solidFill>
              </a:rPr>
              <a:t>B'ham</a:t>
            </a:r>
          </a:p>
        </p:txBody>
      </p:sp>
      <p:sp>
        <p:nvSpPr>
          <p:cNvPr id="18437" name="Freeform 5"/>
          <p:cNvSpPr>
            <a:spLocks/>
          </p:cNvSpPr>
          <p:nvPr/>
        </p:nvSpPr>
        <p:spPr bwMode="auto">
          <a:xfrm>
            <a:off x="2351088" y="5645150"/>
            <a:ext cx="758825" cy="682625"/>
          </a:xfrm>
          <a:custGeom>
            <a:avLst/>
            <a:gdLst>
              <a:gd name="T0" fmla="*/ 477 w 478"/>
              <a:gd name="T1" fmla="*/ 214 h 430"/>
              <a:gd name="T2" fmla="*/ 472 w 478"/>
              <a:gd name="T3" fmla="*/ 171 h 430"/>
              <a:gd name="T4" fmla="*/ 458 w 478"/>
              <a:gd name="T5" fmla="*/ 131 h 430"/>
              <a:gd name="T6" fmla="*/ 436 w 478"/>
              <a:gd name="T7" fmla="*/ 94 h 430"/>
              <a:gd name="T8" fmla="*/ 407 w 478"/>
              <a:gd name="T9" fmla="*/ 63 h 430"/>
              <a:gd name="T10" fmla="*/ 372 w 478"/>
              <a:gd name="T11" fmla="*/ 36 h 430"/>
              <a:gd name="T12" fmla="*/ 331 w 478"/>
              <a:gd name="T13" fmla="*/ 17 h 430"/>
              <a:gd name="T14" fmla="*/ 286 w 478"/>
              <a:gd name="T15" fmla="*/ 4 h 430"/>
              <a:gd name="T16" fmla="*/ 239 w 478"/>
              <a:gd name="T17" fmla="*/ 0 h 430"/>
              <a:gd name="T18" fmla="*/ 190 w 478"/>
              <a:gd name="T19" fmla="*/ 4 h 430"/>
              <a:gd name="T20" fmla="*/ 145 w 478"/>
              <a:gd name="T21" fmla="*/ 17 h 430"/>
              <a:gd name="T22" fmla="*/ 105 w 478"/>
              <a:gd name="T23" fmla="*/ 36 h 430"/>
              <a:gd name="T24" fmla="*/ 70 w 478"/>
              <a:gd name="T25" fmla="*/ 63 h 430"/>
              <a:gd name="T26" fmla="*/ 40 w 478"/>
              <a:gd name="T27" fmla="*/ 94 h 430"/>
              <a:gd name="T28" fmla="*/ 19 w 478"/>
              <a:gd name="T29" fmla="*/ 131 h 430"/>
              <a:gd name="T30" fmla="*/ 5 w 478"/>
              <a:gd name="T31" fmla="*/ 171 h 430"/>
              <a:gd name="T32" fmla="*/ 0 w 478"/>
              <a:gd name="T33" fmla="*/ 214 h 430"/>
              <a:gd name="T34" fmla="*/ 5 w 478"/>
              <a:gd name="T35" fmla="*/ 258 h 430"/>
              <a:gd name="T36" fmla="*/ 19 w 478"/>
              <a:gd name="T37" fmla="*/ 298 h 430"/>
              <a:gd name="T38" fmla="*/ 40 w 478"/>
              <a:gd name="T39" fmla="*/ 334 h 430"/>
              <a:gd name="T40" fmla="*/ 70 w 478"/>
              <a:gd name="T41" fmla="*/ 366 h 430"/>
              <a:gd name="T42" fmla="*/ 105 w 478"/>
              <a:gd name="T43" fmla="*/ 392 h 430"/>
              <a:gd name="T44" fmla="*/ 145 w 478"/>
              <a:gd name="T45" fmla="*/ 412 h 430"/>
              <a:gd name="T46" fmla="*/ 190 w 478"/>
              <a:gd name="T47" fmla="*/ 424 h 430"/>
              <a:gd name="T48" fmla="*/ 239 w 478"/>
              <a:gd name="T49" fmla="*/ 429 h 430"/>
              <a:gd name="T50" fmla="*/ 286 w 478"/>
              <a:gd name="T51" fmla="*/ 424 h 430"/>
              <a:gd name="T52" fmla="*/ 331 w 478"/>
              <a:gd name="T53" fmla="*/ 412 h 430"/>
              <a:gd name="T54" fmla="*/ 372 w 478"/>
              <a:gd name="T55" fmla="*/ 392 h 430"/>
              <a:gd name="T56" fmla="*/ 407 w 478"/>
              <a:gd name="T57" fmla="*/ 366 h 430"/>
              <a:gd name="T58" fmla="*/ 436 w 478"/>
              <a:gd name="T59" fmla="*/ 334 h 430"/>
              <a:gd name="T60" fmla="*/ 458 w 478"/>
              <a:gd name="T61" fmla="*/ 298 h 430"/>
              <a:gd name="T62" fmla="*/ 472 w 478"/>
              <a:gd name="T63" fmla="*/ 258 h 430"/>
              <a:gd name="T64" fmla="*/ 477 w 478"/>
              <a:gd name="T65" fmla="*/ 214 h 430"/>
              <a:gd name="T66" fmla="*/ 477 w 478"/>
              <a:gd name="T67" fmla="*/ 214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78" h="430">
                <a:moveTo>
                  <a:pt x="477" y="214"/>
                </a:moveTo>
                <a:lnTo>
                  <a:pt x="472" y="171"/>
                </a:lnTo>
                <a:lnTo>
                  <a:pt x="458" y="131"/>
                </a:lnTo>
                <a:lnTo>
                  <a:pt x="436" y="94"/>
                </a:lnTo>
                <a:lnTo>
                  <a:pt x="407" y="63"/>
                </a:lnTo>
                <a:lnTo>
                  <a:pt x="372" y="36"/>
                </a:lnTo>
                <a:lnTo>
                  <a:pt x="331" y="17"/>
                </a:lnTo>
                <a:lnTo>
                  <a:pt x="286" y="4"/>
                </a:lnTo>
                <a:lnTo>
                  <a:pt x="239" y="0"/>
                </a:lnTo>
                <a:lnTo>
                  <a:pt x="190" y="4"/>
                </a:lnTo>
                <a:lnTo>
                  <a:pt x="145" y="17"/>
                </a:lnTo>
                <a:lnTo>
                  <a:pt x="105" y="36"/>
                </a:lnTo>
                <a:lnTo>
                  <a:pt x="70" y="63"/>
                </a:lnTo>
                <a:lnTo>
                  <a:pt x="40" y="94"/>
                </a:lnTo>
                <a:lnTo>
                  <a:pt x="19" y="131"/>
                </a:lnTo>
                <a:lnTo>
                  <a:pt x="5" y="171"/>
                </a:lnTo>
                <a:lnTo>
                  <a:pt x="0" y="214"/>
                </a:lnTo>
                <a:lnTo>
                  <a:pt x="5" y="258"/>
                </a:lnTo>
                <a:lnTo>
                  <a:pt x="19" y="298"/>
                </a:lnTo>
                <a:lnTo>
                  <a:pt x="40" y="334"/>
                </a:lnTo>
                <a:lnTo>
                  <a:pt x="70" y="366"/>
                </a:lnTo>
                <a:lnTo>
                  <a:pt x="105" y="392"/>
                </a:lnTo>
                <a:lnTo>
                  <a:pt x="145" y="412"/>
                </a:lnTo>
                <a:lnTo>
                  <a:pt x="190" y="424"/>
                </a:lnTo>
                <a:lnTo>
                  <a:pt x="239" y="429"/>
                </a:lnTo>
                <a:lnTo>
                  <a:pt x="286" y="424"/>
                </a:lnTo>
                <a:lnTo>
                  <a:pt x="331" y="412"/>
                </a:lnTo>
                <a:lnTo>
                  <a:pt x="372" y="392"/>
                </a:lnTo>
                <a:lnTo>
                  <a:pt x="407" y="366"/>
                </a:lnTo>
                <a:lnTo>
                  <a:pt x="436" y="334"/>
                </a:lnTo>
                <a:lnTo>
                  <a:pt x="458" y="298"/>
                </a:lnTo>
                <a:lnTo>
                  <a:pt x="472" y="258"/>
                </a:lnTo>
                <a:lnTo>
                  <a:pt x="477" y="214"/>
                </a:lnTo>
                <a:lnTo>
                  <a:pt x="477" y="21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8" name="Rectangle 6"/>
          <p:cNvSpPr>
            <a:spLocks noChangeArrowheads="1"/>
          </p:cNvSpPr>
          <p:nvPr/>
        </p:nvSpPr>
        <p:spPr bwMode="auto">
          <a:xfrm>
            <a:off x="2365375" y="5738813"/>
            <a:ext cx="698500" cy="29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300">
                <a:solidFill>
                  <a:srgbClr val="3399FF"/>
                </a:solidFill>
              </a:rPr>
              <a:t>Atlanta</a:t>
            </a:r>
          </a:p>
        </p:txBody>
      </p:sp>
      <p:sp>
        <p:nvSpPr>
          <p:cNvPr id="18439" name="Freeform 7"/>
          <p:cNvSpPr>
            <a:spLocks/>
          </p:cNvSpPr>
          <p:nvPr/>
        </p:nvSpPr>
        <p:spPr bwMode="auto">
          <a:xfrm>
            <a:off x="3932238" y="5240338"/>
            <a:ext cx="758825" cy="682625"/>
          </a:xfrm>
          <a:custGeom>
            <a:avLst/>
            <a:gdLst>
              <a:gd name="T0" fmla="*/ 477 w 478"/>
              <a:gd name="T1" fmla="*/ 214 h 430"/>
              <a:gd name="T2" fmla="*/ 472 w 478"/>
              <a:gd name="T3" fmla="*/ 171 h 430"/>
              <a:gd name="T4" fmla="*/ 458 w 478"/>
              <a:gd name="T5" fmla="*/ 131 h 430"/>
              <a:gd name="T6" fmla="*/ 437 w 478"/>
              <a:gd name="T7" fmla="*/ 94 h 430"/>
              <a:gd name="T8" fmla="*/ 407 w 478"/>
              <a:gd name="T9" fmla="*/ 63 h 430"/>
              <a:gd name="T10" fmla="*/ 372 w 478"/>
              <a:gd name="T11" fmla="*/ 36 h 430"/>
              <a:gd name="T12" fmla="*/ 331 w 478"/>
              <a:gd name="T13" fmla="*/ 17 h 430"/>
              <a:gd name="T14" fmla="*/ 287 w 478"/>
              <a:gd name="T15" fmla="*/ 4 h 430"/>
              <a:gd name="T16" fmla="*/ 239 w 478"/>
              <a:gd name="T17" fmla="*/ 0 h 430"/>
              <a:gd name="T18" fmla="*/ 191 w 478"/>
              <a:gd name="T19" fmla="*/ 4 h 430"/>
              <a:gd name="T20" fmla="*/ 146 w 478"/>
              <a:gd name="T21" fmla="*/ 17 h 430"/>
              <a:gd name="T22" fmla="*/ 105 w 478"/>
              <a:gd name="T23" fmla="*/ 36 h 430"/>
              <a:gd name="T24" fmla="*/ 70 w 478"/>
              <a:gd name="T25" fmla="*/ 63 h 430"/>
              <a:gd name="T26" fmla="*/ 41 w 478"/>
              <a:gd name="T27" fmla="*/ 94 h 430"/>
              <a:gd name="T28" fmla="*/ 19 w 478"/>
              <a:gd name="T29" fmla="*/ 131 h 430"/>
              <a:gd name="T30" fmla="*/ 5 w 478"/>
              <a:gd name="T31" fmla="*/ 171 h 430"/>
              <a:gd name="T32" fmla="*/ 0 w 478"/>
              <a:gd name="T33" fmla="*/ 214 h 430"/>
              <a:gd name="T34" fmla="*/ 5 w 478"/>
              <a:gd name="T35" fmla="*/ 258 h 430"/>
              <a:gd name="T36" fmla="*/ 19 w 478"/>
              <a:gd name="T37" fmla="*/ 298 h 430"/>
              <a:gd name="T38" fmla="*/ 41 w 478"/>
              <a:gd name="T39" fmla="*/ 334 h 430"/>
              <a:gd name="T40" fmla="*/ 70 w 478"/>
              <a:gd name="T41" fmla="*/ 366 h 430"/>
              <a:gd name="T42" fmla="*/ 105 w 478"/>
              <a:gd name="T43" fmla="*/ 392 h 430"/>
              <a:gd name="T44" fmla="*/ 146 w 478"/>
              <a:gd name="T45" fmla="*/ 412 h 430"/>
              <a:gd name="T46" fmla="*/ 191 w 478"/>
              <a:gd name="T47" fmla="*/ 424 h 430"/>
              <a:gd name="T48" fmla="*/ 239 w 478"/>
              <a:gd name="T49" fmla="*/ 429 h 430"/>
              <a:gd name="T50" fmla="*/ 287 w 478"/>
              <a:gd name="T51" fmla="*/ 424 h 430"/>
              <a:gd name="T52" fmla="*/ 331 w 478"/>
              <a:gd name="T53" fmla="*/ 412 h 430"/>
              <a:gd name="T54" fmla="*/ 372 w 478"/>
              <a:gd name="T55" fmla="*/ 392 h 430"/>
              <a:gd name="T56" fmla="*/ 407 w 478"/>
              <a:gd name="T57" fmla="*/ 366 h 430"/>
              <a:gd name="T58" fmla="*/ 437 w 478"/>
              <a:gd name="T59" fmla="*/ 334 h 430"/>
              <a:gd name="T60" fmla="*/ 458 w 478"/>
              <a:gd name="T61" fmla="*/ 298 h 430"/>
              <a:gd name="T62" fmla="*/ 472 w 478"/>
              <a:gd name="T63" fmla="*/ 258 h 430"/>
              <a:gd name="T64" fmla="*/ 477 w 478"/>
              <a:gd name="T65" fmla="*/ 214 h 430"/>
              <a:gd name="T66" fmla="*/ 477 w 478"/>
              <a:gd name="T67" fmla="*/ 214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78" h="430">
                <a:moveTo>
                  <a:pt x="477" y="214"/>
                </a:moveTo>
                <a:lnTo>
                  <a:pt x="472" y="171"/>
                </a:lnTo>
                <a:lnTo>
                  <a:pt x="458" y="131"/>
                </a:lnTo>
                <a:lnTo>
                  <a:pt x="437" y="94"/>
                </a:lnTo>
                <a:lnTo>
                  <a:pt x="407" y="63"/>
                </a:lnTo>
                <a:lnTo>
                  <a:pt x="372" y="36"/>
                </a:lnTo>
                <a:lnTo>
                  <a:pt x="331" y="17"/>
                </a:lnTo>
                <a:lnTo>
                  <a:pt x="287" y="4"/>
                </a:lnTo>
                <a:lnTo>
                  <a:pt x="239" y="0"/>
                </a:lnTo>
                <a:lnTo>
                  <a:pt x="191" y="4"/>
                </a:lnTo>
                <a:lnTo>
                  <a:pt x="146" y="17"/>
                </a:lnTo>
                <a:lnTo>
                  <a:pt x="105" y="36"/>
                </a:lnTo>
                <a:lnTo>
                  <a:pt x="70" y="63"/>
                </a:lnTo>
                <a:lnTo>
                  <a:pt x="41" y="94"/>
                </a:lnTo>
                <a:lnTo>
                  <a:pt x="19" y="131"/>
                </a:lnTo>
                <a:lnTo>
                  <a:pt x="5" y="171"/>
                </a:lnTo>
                <a:lnTo>
                  <a:pt x="0" y="214"/>
                </a:lnTo>
                <a:lnTo>
                  <a:pt x="5" y="258"/>
                </a:lnTo>
                <a:lnTo>
                  <a:pt x="19" y="298"/>
                </a:lnTo>
                <a:lnTo>
                  <a:pt x="41" y="334"/>
                </a:lnTo>
                <a:lnTo>
                  <a:pt x="70" y="366"/>
                </a:lnTo>
                <a:lnTo>
                  <a:pt x="105" y="392"/>
                </a:lnTo>
                <a:lnTo>
                  <a:pt x="146" y="412"/>
                </a:lnTo>
                <a:lnTo>
                  <a:pt x="191" y="424"/>
                </a:lnTo>
                <a:lnTo>
                  <a:pt x="239" y="429"/>
                </a:lnTo>
                <a:lnTo>
                  <a:pt x="287" y="424"/>
                </a:lnTo>
                <a:lnTo>
                  <a:pt x="331" y="412"/>
                </a:lnTo>
                <a:lnTo>
                  <a:pt x="372" y="392"/>
                </a:lnTo>
                <a:lnTo>
                  <a:pt x="407" y="366"/>
                </a:lnTo>
                <a:lnTo>
                  <a:pt x="437" y="334"/>
                </a:lnTo>
                <a:lnTo>
                  <a:pt x="458" y="298"/>
                </a:lnTo>
                <a:lnTo>
                  <a:pt x="472" y="258"/>
                </a:lnTo>
                <a:lnTo>
                  <a:pt x="477" y="214"/>
                </a:lnTo>
                <a:lnTo>
                  <a:pt x="477" y="21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0" name="Rectangle 8"/>
          <p:cNvSpPr>
            <a:spLocks noChangeArrowheads="1"/>
          </p:cNvSpPr>
          <p:nvPr/>
        </p:nvSpPr>
        <p:spPr bwMode="auto">
          <a:xfrm>
            <a:off x="3946525" y="5332413"/>
            <a:ext cx="6969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a:solidFill>
                  <a:srgbClr val="3399FF"/>
                </a:solidFill>
              </a:rPr>
              <a:t>G'ville</a:t>
            </a:r>
          </a:p>
        </p:txBody>
      </p:sp>
      <p:sp>
        <p:nvSpPr>
          <p:cNvPr id="18441" name="Freeform 9"/>
          <p:cNvSpPr>
            <a:spLocks/>
          </p:cNvSpPr>
          <p:nvPr/>
        </p:nvSpPr>
        <p:spPr bwMode="auto">
          <a:xfrm>
            <a:off x="7448550" y="1141413"/>
            <a:ext cx="758825" cy="682625"/>
          </a:xfrm>
          <a:custGeom>
            <a:avLst/>
            <a:gdLst>
              <a:gd name="T0" fmla="*/ 477 w 478"/>
              <a:gd name="T1" fmla="*/ 214 h 430"/>
              <a:gd name="T2" fmla="*/ 472 w 478"/>
              <a:gd name="T3" fmla="*/ 171 h 430"/>
              <a:gd name="T4" fmla="*/ 458 w 478"/>
              <a:gd name="T5" fmla="*/ 131 h 430"/>
              <a:gd name="T6" fmla="*/ 436 w 478"/>
              <a:gd name="T7" fmla="*/ 94 h 430"/>
              <a:gd name="T8" fmla="*/ 407 w 478"/>
              <a:gd name="T9" fmla="*/ 63 h 430"/>
              <a:gd name="T10" fmla="*/ 371 w 478"/>
              <a:gd name="T11" fmla="*/ 36 h 430"/>
              <a:gd name="T12" fmla="*/ 331 w 478"/>
              <a:gd name="T13" fmla="*/ 17 h 430"/>
              <a:gd name="T14" fmla="*/ 286 w 478"/>
              <a:gd name="T15" fmla="*/ 4 h 430"/>
              <a:gd name="T16" fmla="*/ 238 w 478"/>
              <a:gd name="T17" fmla="*/ 0 h 430"/>
              <a:gd name="T18" fmla="*/ 190 w 478"/>
              <a:gd name="T19" fmla="*/ 4 h 430"/>
              <a:gd name="T20" fmla="*/ 145 w 478"/>
              <a:gd name="T21" fmla="*/ 17 h 430"/>
              <a:gd name="T22" fmla="*/ 105 w 478"/>
              <a:gd name="T23" fmla="*/ 36 h 430"/>
              <a:gd name="T24" fmla="*/ 69 w 478"/>
              <a:gd name="T25" fmla="*/ 63 h 430"/>
              <a:gd name="T26" fmla="*/ 40 w 478"/>
              <a:gd name="T27" fmla="*/ 94 h 430"/>
              <a:gd name="T28" fmla="*/ 18 w 478"/>
              <a:gd name="T29" fmla="*/ 131 h 430"/>
              <a:gd name="T30" fmla="*/ 4 w 478"/>
              <a:gd name="T31" fmla="*/ 171 h 430"/>
              <a:gd name="T32" fmla="*/ 0 w 478"/>
              <a:gd name="T33" fmla="*/ 214 h 430"/>
              <a:gd name="T34" fmla="*/ 4 w 478"/>
              <a:gd name="T35" fmla="*/ 258 h 430"/>
              <a:gd name="T36" fmla="*/ 18 w 478"/>
              <a:gd name="T37" fmla="*/ 298 h 430"/>
              <a:gd name="T38" fmla="*/ 40 w 478"/>
              <a:gd name="T39" fmla="*/ 334 h 430"/>
              <a:gd name="T40" fmla="*/ 69 w 478"/>
              <a:gd name="T41" fmla="*/ 366 h 430"/>
              <a:gd name="T42" fmla="*/ 105 w 478"/>
              <a:gd name="T43" fmla="*/ 392 h 430"/>
              <a:gd name="T44" fmla="*/ 145 w 478"/>
              <a:gd name="T45" fmla="*/ 412 h 430"/>
              <a:gd name="T46" fmla="*/ 190 w 478"/>
              <a:gd name="T47" fmla="*/ 424 h 430"/>
              <a:gd name="T48" fmla="*/ 238 w 478"/>
              <a:gd name="T49" fmla="*/ 429 h 430"/>
              <a:gd name="T50" fmla="*/ 286 w 478"/>
              <a:gd name="T51" fmla="*/ 424 h 430"/>
              <a:gd name="T52" fmla="*/ 331 w 478"/>
              <a:gd name="T53" fmla="*/ 412 h 430"/>
              <a:gd name="T54" fmla="*/ 371 w 478"/>
              <a:gd name="T55" fmla="*/ 392 h 430"/>
              <a:gd name="T56" fmla="*/ 407 w 478"/>
              <a:gd name="T57" fmla="*/ 366 h 430"/>
              <a:gd name="T58" fmla="*/ 436 w 478"/>
              <a:gd name="T59" fmla="*/ 334 h 430"/>
              <a:gd name="T60" fmla="*/ 458 w 478"/>
              <a:gd name="T61" fmla="*/ 298 h 430"/>
              <a:gd name="T62" fmla="*/ 472 w 478"/>
              <a:gd name="T63" fmla="*/ 258 h 430"/>
              <a:gd name="T64" fmla="*/ 477 w 478"/>
              <a:gd name="T65" fmla="*/ 214 h 430"/>
              <a:gd name="T66" fmla="*/ 477 w 478"/>
              <a:gd name="T67" fmla="*/ 214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78" h="430">
                <a:moveTo>
                  <a:pt x="477" y="214"/>
                </a:moveTo>
                <a:lnTo>
                  <a:pt x="472" y="171"/>
                </a:lnTo>
                <a:lnTo>
                  <a:pt x="458" y="131"/>
                </a:lnTo>
                <a:lnTo>
                  <a:pt x="436" y="94"/>
                </a:lnTo>
                <a:lnTo>
                  <a:pt x="407" y="63"/>
                </a:lnTo>
                <a:lnTo>
                  <a:pt x="371" y="36"/>
                </a:lnTo>
                <a:lnTo>
                  <a:pt x="331" y="17"/>
                </a:lnTo>
                <a:lnTo>
                  <a:pt x="286" y="4"/>
                </a:lnTo>
                <a:lnTo>
                  <a:pt x="238" y="0"/>
                </a:lnTo>
                <a:lnTo>
                  <a:pt x="190" y="4"/>
                </a:lnTo>
                <a:lnTo>
                  <a:pt x="145" y="17"/>
                </a:lnTo>
                <a:lnTo>
                  <a:pt x="105" y="36"/>
                </a:lnTo>
                <a:lnTo>
                  <a:pt x="69" y="63"/>
                </a:lnTo>
                <a:lnTo>
                  <a:pt x="40" y="94"/>
                </a:lnTo>
                <a:lnTo>
                  <a:pt x="18" y="131"/>
                </a:lnTo>
                <a:lnTo>
                  <a:pt x="4" y="171"/>
                </a:lnTo>
                <a:lnTo>
                  <a:pt x="0" y="214"/>
                </a:lnTo>
                <a:lnTo>
                  <a:pt x="4" y="258"/>
                </a:lnTo>
                <a:lnTo>
                  <a:pt x="18" y="298"/>
                </a:lnTo>
                <a:lnTo>
                  <a:pt x="40" y="334"/>
                </a:lnTo>
                <a:lnTo>
                  <a:pt x="69" y="366"/>
                </a:lnTo>
                <a:lnTo>
                  <a:pt x="105" y="392"/>
                </a:lnTo>
                <a:lnTo>
                  <a:pt x="145" y="412"/>
                </a:lnTo>
                <a:lnTo>
                  <a:pt x="190" y="424"/>
                </a:lnTo>
                <a:lnTo>
                  <a:pt x="238" y="429"/>
                </a:lnTo>
                <a:lnTo>
                  <a:pt x="286" y="424"/>
                </a:lnTo>
                <a:lnTo>
                  <a:pt x="331" y="412"/>
                </a:lnTo>
                <a:lnTo>
                  <a:pt x="371" y="392"/>
                </a:lnTo>
                <a:lnTo>
                  <a:pt x="407" y="366"/>
                </a:lnTo>
                <a:lnTo>
                  <a:pt x="436" y="334"/>
                </a:lnTo>
                <a:lnTo>
                  <a:pt x="458" y="298"/>
                </a:lnTo>
                <a:lnTo>
                  <a:pt x="472" y="258"/>
                </a:lnTo>
                <a:lnTo>
                  <a:pt x="477" y="214"/>
                </a:lnTo>
                <a:lnTo>
                  <a:pt x="477" y="21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2" name="Rectangle 10"/>
          <p:cNvSpPr>
            <a:spLocks noChangeArrowheads="1"/>
          </p:cNvSpPr>
          <p:nvPr/>
        </p:nvSpPr>
        <p:spPr bwMode="auto">
          <a:xfrm>
            <a:off x="7461250" y="1235075"/>
            <a:ext cx="715963"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300">
                <a:solidFill>
                  <a:srgbClr val="3399FF"/>
                </a:solidFill>
              </a:rPr>
              <a:t>Va Bch</a:t>
            </a:r>
          </a:p>
        </p:txBody>
      </p:sp>
      <p:sp>
        <p:nvSpPr>
          <p:cNvPr id="18443" name="Freeform 11"/>
          <p:cNvSpPr>
            <a:spLocks/>
          </p:cNvSpPr>
          <p:nvPr/>
        </p:nvSpPr>
        <p:spPr bwMode="auto">
          <a:xfrm>
            <a:off x="5370513" y="4222750"/>
            <a:ext cx="760412" cy="682625"/>
          </a:xfrm>
          <a:custGeom>
            <a:avLst/>
            <a:gdLst>
              <a:gd name="T0" fmla="*/ 478 w 479"/>
              <a:gd name="T1" fmla="*/ 214 h 430"/>
              <a:gd name="T2" fmla="*/ 473 w 479"/>
              <a:gd name="T3" fmla="*/ 171 h 430"/>
              <a:gd name="T4" fmla="*/ 459 w 479"/>
              <a:gd name="T5" fmla="*/ 131 h 430"/>
              <a:gd name="T6" fmla="*/ 437 w 479"/>
              <a:gd name="T7" fmla="*/ 94 h 430"/>
              <a:gd name="T8" fmla="*/ 408 w 479"/>
              <a:gd name="T9" fmla="*/ 63 h 430"/>
              <a:gd name="T10" fmla="*/ 372 w 479"/>
              <a:gd name="T11" fmla="*/ 36 h 430"/>
              <a:gd name="T12" fmla="*/ 332 w 479"/>
              <a:gd name="T13" fmla="*/ 17 h 430"/>
              <a:gd name="T14" fmla="*/ 287 w 479"/>
              <a:gd name="T15" fmla="*/ 4 h 430"/>
              <a:gd name="T16" fmla="*/ 239 w 479"/>
              <a:gd name="T17" fmla="*/ 0 h 430"/>
              <a:gd name="T18" fmla="*/ 191 w 479"/>
              <a:gd name="T19" fmla="*/ 4 h 430"/>
              <a:gd name="T20" fmla="*/ 146 w 479"/>
              <a:gd name="T21" fmla="*/ 17 h 430"/>
              <a:gd name="T22" fmla="*/ 105 w 479"/>
              <a:gd name="T23" fmla="*/ 36 h 430"/>
              <a:gd name="T24" fmla="*/ 70 w 479"/>
              <a:gd name="T25" fmla="*/ 63 h 430"/>
              <a:gd name="T26" fmla="*/ 41 w 479"/>
              <a:gd name="T27" fmla="*/ 94 h 430"/>
              <a:gd name="T28" fmla="*/ 19 w 479"/>
              <a:gd name="T29" fmla="*/ 131 h 430"/>
              <a:gd name="T30" fmla="*/ 5 w 479"/>
              <a:gd name="T31" fmla="*/ 171 h 430"/>
              <a:gd name="T32" fmla="*/ 0 w 479"/>
              <a:gd name="T33" fmla="*/ 214 h 430"/>
              <a:gd name="T34" fmla="*/ 5 w 479"/>
              <a:gd name="T35" fmla="*/ 258 h 430"/>
              <a:gd name="T36" fmla="*/ 19 w 479"/>
              <a:gd name="T37" fmla="*/ 298 h 430"/>
              <a:gd name="T38" fmla="*/ 41 w 479"/>
              <a:gd name="T39" fmla="*/ 334 h 430"/>
              <a:gd name="T40" fmla="*/ 70 w 479"/>
              <a:gd name="T41" fmla="*/ 366 h 430"/>
              <a:gd name="T42" fmla="*/ 105 w 479"/>
              <a:gd name="T43" fmla="*/ 392 h 430"/>
              <a:gd name="T44" fmla="*/ 146 w 479"/>
              <a:gd name="T45" fmla="*/ 412 h 430"/>
              <a:gd name="T46" fmla="*/ 191 w 479"/>
              <a:gd name="T47" fmla="*/ 424 h 430"/>
              <a:gd name="T48" fmla="*/ 239 w 479"/>
              <a:gd name="T49" fmla="*/ 429 h 430"/>
              <a:gd name="T50" fmla="*/ 287 w 479"/>
              <a:gd name="T51" fmla="*/ 424 h 430"/>
              <a:gd name="T52" fmla="*/ 332 w 479"/>
              <a:gd name="T53" fmla="*/ 412 h 430"/>
              <a:gd name="T54" fmla="*/ 372 w 479"/>
              <a:gd name="T55" fmla="*/ 392 h 430"/>
              <a:gd name="T56" fmla="*/ 408 w 479"/>
              <a:gd name="T57" fmla="*/ 366 h 430"/>
              <a:gd name="T58" fmla="*/ 437 w 479"/>
              <a:gd name="T59" fmla="*/ 334 h 430"/>
              <a:gd name="T60" fmla="*/ 459 w 479"/>
              <a:gd name="T61" fmla="*/ 298 h 430"/>
              <a:gd name="T62" fmla="*/ 473 w 479"/>
              <a:gd name="T63" fmla="*/ 258 h 430"/>
              <a:gd name="T64" fmla="*/ 478 w 479"/>
              <a:gd name="T65" fmla="*/ 214 h 430"/>
              <a:gd name="T66" fmla="*/ 478 w 479"/>
              <a:gd name="T67" fmla="*/ 214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79" h="430">
                <a:moveTo>
                  <a:pt x="478" y="214"/>
                </a:moveTo>
                <a:lnTo>
                  <a:pt x="473" y="171"/>
                </a:lnTo>
                <a:lnTo>
                  <a:pt x="459" y="131"/>
                </a:lnTo>
                <a:lnTo>
                  <a:pt x="437" y="94"/>
                </a:lnTo>
                <a:lnTo>
                  <a:pt x="408" y="63"/>
                </a:lnTo>
                <a:lnTo>
                  <a:pt x="372" y="36"/>
                </a:lnTo>
                <a:lnTo>
                  <a:pt x="332" y="17"/>
                </a:lnTo>
                <a:lnTo>
                  <a:pt x="287" y="4"/>
                </a:lnTo>
                <a:lnTo>
                  <a:pt x="239" y="0"/>
                </a:lnTo>
                <a:lnTo>
                  <a:pt x="191" y="4"/>
                </a:lnTo>
                <a:lnTo>
                  <a:pt x="146" y="17"/>
                </a:lnTo>
                <a:lnTo>
                  <a:pt x="105" y="36"/>
                </a:lnTo>
                <a:lnTo>
                  <a:pt x="70" y="63"/>
                </a:lnTo>
                <a:lnTo>
                  <a:pt x="41" y="94"/>
                </a:lnTo>
                <a:lnTo>
                  <a:pt x="19" y="131"/>
                </a:lnTo>
                <a:lnTo>
                  <a:pt x="5" y="171"/>
                </a:lnTo>
                <a:lnTo>
                  <a:pt x="0" y="214"/>
                </a:lnTo>
                <a:lnTo>
                  <a:pt x="5" y="258"/>
                </a:lnTo>
                <a:lnTo>
                  <a:pt x="19" y="298"/>
                </a:lnTo>
                <a:lnTo>
                  <a:pt x="41" y="334"/>
                </a:lnTo>
                <a:lnTo>
                  <a:pt x="70" y="366"/>
                </a:lnTo>
                <a:lnTo>
                  <a:pt x="105" y="392"/>
                </a:lnTo>
                <a:lnTo>
                  <a:pt x="146" y="412"/>
                </a:lnTo>
                <a:lnTo>
                  <a:pt x="191" y="424"/>
                </a:lnTo>
                <a:lnTo>
                  <a:pt x="239" y="429"/>
                </a:lnTo>
                <a:lnTo>
                  <a:pt x="287" y="424"/>
                </a:lnTo>
                <a:lnTo>
                  <a:pt x="332" y="412"/>
                </a:lnTo>
                <a:lnTo>
                  <a:pt x="372" y="392"/>
                </a:lnTo>
                <a:lnTo>
                  <a:pt x="408" y="366"/>
                </a:lnTo>
                <a:lnTo>
                  <a:pt x="437" y="334"/>
                </a:lnTo>
                <a:lnTo>
                  <a:pt x="459" y="298"/>
                </a:lnTo>
                <a:lnTo>
                  <a:pt x="473" y="258"/>
                </a:lnTo>
                <a:lnTo>
                  <a:pt x="478" y="214"/>
                </a:lnTo>
                <a:lnTo>
                  <a:pt x="478" y="21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4" name="Rectangle 12"/>
          <p:cNvSpPr>
            <a:spLocks noChangeArrowheads="1"/>
          </p:cNvSpPr>
          <p:nvPr/>
        </p:nvSpPr>
        <p:spPr bwMode="auto">
          <a:xfrm>
            <a:off x="5384800" y="4314825"/>
            <a:ext cx="6921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a:solidFill>
                  <a:srgbClr val="3399FF"/>
                </a:solidFill>
              </a:rPr>
              <a:t>Charl.</a:t>
            </a:r>
          </a:p>
        </p:txBody>
      </p:sp>
      <p:sp>
        <p:nvSpPr>
          <p:cNvPr id="18445" name="Freeform 13"/>
          <p:cNvSpPr>
            <a:spLocks/>
          </p:cNvSpPr>
          <p:nvPr/>
        </p:nvSpPr>
        <p:spPr bwMode="auto">
          <a:xfrm>
            <a:off x="4926013" y="828675"/>
            <a:ext cx="758825" cy="682625"/>
          </a:xfrm>
          <a:custGeom>
            <a:avLst/>
            <a:gdLst>
              <a:gd name="T0" fmla="*/ 477 w 478"/>
              <a:gd name="T1" fmla="*/ 215 h 430"/>
              <a:gd name="T2" fmla="*/ 472 w 478"/>
              <a:gd name="T3" fmla="*/ 171 h 430"/>
              <a:gd name="T4" fmla="*/ 458 w 478"/>
              <a:gd name="T5" fmla="*/ 131 h 430"/>
              <a:gd name="T6" fmla="*/ 436 w 478"/>
              <a:gd name="T7" fmla="*/ 95 h 430"/>
              <a:gd name="T8" fmla="*/ 407 w 478"/>
              <a:gd name="T9" fmla="*/ 63 h 430"/>
              <a:gd name="T10" fmla="*/ 372 w 478"/>
              <a:gd name="T11" fmla="*/ 37 h 430"/>
              <a:gd name="T12" fmla="*/ 331 w 478"/>
              <a:gd name="T13" fmla="*/ 17 h 430"/>
              <a:gd name="T14" fmla="*/ 286 w 478"/>
              <a:gd name="T15" fmla="*/ 4 h 430"/>
              <a:gd name="T16" fmla="*/ 239 w 478"/>
              <a:gd name="T17" fmla="*/ 0 h 430"/>
              <a:gd name="T18" fmla="*/ 190 w 478"/>
              <a:gd name="T19" fmla="*/ 4 h 430"/>
              <a:gd name="T20" fmla="*/ 145 w 478"/>
              <a:gd name="T21" fmla="*/ 17 h 430"/>
              <a:gd name="T22" fmla="*/ 105 w 478"/>
              <a:gd name="T23" fmla="*/ 37 h 430"/>
              <a:gd name="T24" fmla="*/ 70 w 478"/>
              <a:gd name="T25" fmla="*/ 63 h 430"/>
              <a:gd name="T26" fmla="*/ 40 w 478"/>
              <a:gd name="T27" fmla="*/ 95 h 430"/>
              <a:gd name="T28" fmla="*/ 19 w 478"/>
              <a:gd name="T29" fmla="*/ 131 h 430"/>
              <a:gd name="T30" fmla="*/ 5 w 478"/>
              <a:gd name="T31" fmla="*/ 171 h 430"/>
              <a:gd name="T32" fmla="*/ 0 w 478"/>
              <a:gd name="T33" fmla="*/ 215 h 430"/>
              <a:gd name="T34" fmla="*/ 5 w 478"/>
              <a:gd name="T35" fmla="*/ 258 h 430"/>
              <a:gd name="T36" fmla="*/ 19 w 478"/>
              <a:gd name="T37" fmla="*/ 298 h 430"/>
              <a:gd name="T38" fmla="*/ 40 w 478"/>
              <a:gd name="T39" fmla="*/ 334 h 430"/>
              <a:gd name="T40" fmla="*/ 70 w 478"/>
              <a:gd name="T41" fmla="*/ 366 h 430"/>
              <a:gd name="T42" fmla="*/ 105 w 478"/>
              <a:gd name="T43" fmla="*/ 392 h 430"/>
              <a:gd name="T44" fmla="*/ 145 w 478"/>
              <a:gd name="T45" fmla="*/ 412 h 430"/>
              <a:gd name="T46" fmla="*/ 190 w 478"/>
              <a:gd name="T47" fmla="*/ 425 h 430"/>
              <a:gd name="T48" fmla="*/ 239 w 478"/>
              <a:gd name="T49" fmla="*/ 429 h 430"/>
              <a:gd name="T50" fmla="*/ 286 w 478"/>
              <a:gd name="T51" fmla="*/ 425 h 430"/>
              <a:gd name="T52" fmla="*/ 331 w 478"/>
              <a:gd name="T53" fmla="*/ 412 h 430"/>
              <a:gd name="T54" fmla="*/ 372 w 478"/>
              <a:gd name="T55" fmla="*/ 392 h 430"/>
              <a:gd name="T56" fmla="*/ 407 w 478"/>
              <a:gd name="T57" fmla="*/ 366 h 430"/>
              <a:gd name="T58" fmla="*/ 436 w 478"/>
              <a:gd name="T59" fmla="*/ 334 h 430"/>
              <a:gd name="T60" fmla="*/ 458 w 478"/>
              <a:gd name="T61" fmla="*/ 298 h 430"/>
              <a:gd name="T62" fmla="*/ 472 w 478"/>
              <a:gd name="T63" fmla="*/ 258 h 430"/>
              <a:gd name="T64" fmla="*/ 477 w 478"/>
              <a:gd name="T65" fmla="*/ 215 h 430"/>
              <a:gd name="T66" fmla="*/ 477 w 478"/>
              <a:gd name="T67" fmla="*/ 215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78" h="430">
                <a:moveTo>
                  <a:pt x="477" y="215"/>
                </a:moveTo>
                <a:lnTo>
                  <a:pt x="472" y="171"/>
                </a:lnTo>
                <a:lnTo>
                  <a:pt x="458" y="131"/>
                </a:lnTo>
                <a:lnTo>
                  <a:pt x="436" y="95"/>
                </a:lnTo>
                <a:lnTo>
                  <a:pt x="407" y="63"/>
                </a:lnTo>
                <a:lnTo>
                  <a:pt x="372" y="37"/>
                </a:lnTo>
                <a:lnTo>
                  <a:pt x="331" y="17"/>
                </a:lnTo>
                <a:lnTo>
                  <a:pt x="286" y="4"/>
                </a:lnTo>
                <a:lnTo>
                  <a:pt x="239" y="0"/>
                </a:lnTo>
                <a:lnTo>
                  <a:pt x="190" y="4"/>
                </a:lnTo>
                <a:lnTo>
                  <a:pt x="145" y="17"/>
                </a:lnTo>
                <a:lnTo>
                  <a:pt x="105" y="37"/>
                </a:lnTo>
                <a:lnTo>
                  <a:pt x="70" y="63"/>
                </a:lnTo>
                <a:lnTo>
                  <a:pt x="40" y="95"/>
                </a:lnTo>
                <a:lnTo>
                  <a:pt x="19" y="131"/>
                </a:lnTo>
                <a:lnTo>
                  <a:pt x="5" y="171"/>
                </a:lnTo>
                <a:lnTo>
                  <a:pt x="0" y="215"/>
                </a:lnTo>
                <a:lnTo>
                  <a:pt x="5" y="258"/>
                </a:lnTo>
                <a:lnTo>
                  <a:pt x="19" y="298"/>
                </a:lnTo>
                <a:lnTo>
                  <a:pt x="40" y="334"/>
                </a:lnTo>
                <a:lnTo>
                  <a:pt x="70" y="366"/>
                </a:lnTo>
                <a:lnTo>
                  <a:pt x="105" y="392"/>
                </a:lnTo>
                <a:lnTo>
                  <a:pt x="145" y="412"/>
                </a:lnTo>
                <a:lnTo>
                  <a:pt x="190" y="425"/>
                </a:lnTo>
                <a:lnTo>
                  <a:pt x="239" y="429"/>
                </a:lnTo>
                <a:lnTo>
                  <a:pt x="286" y="425"/>
                </a:lnTo>
                <a:lnTo>
                  <a:pt x="331" y="412"/>
                </a:lnTo>
                <a:lnTo>
                  <a:pt x="372" y="392"/>
                </a:lnTo>
                <a:lnTo>
                  <a:pt x="407" y="366"/>
                </a:lnTo>
                <a:lnTo>
                  <a:pt x="436" y="334"/>
                </a:lnTo>
                <a:lnTo>
                  <a:pt x="458" y="298"/>
                </a:lnTo>
                <a:lnTo>
                  <a:pt x="472" y="258"/>
                </a:lnTo>
                <a:lnTo>
                  <a:pt x="477" y="215"/>
                </a:lnTo>
                <a:lnTo>
                  <a:pt x="477" y="215"/>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6" name="Rectangle 14"/>
          <p:cNvSpPr>
            <a:spLocks noChangeArrowheads="1"/>
          </p:cNvSpPr>
          <p:nvPr/>
        </p:nvSpPr>
        <p:spPr bwMode="auto">
          <a:xfrm>
            <a:off x="4940300" y="922338"/>
            <a:ext cx="7080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a:solidFill>
                  <a:srgbClr val="3399FF"/>
                </a:solidFill>
              </a:rPr>
              <a:t>L'burg</a:t>
            </a:r>
          </a:p>
        </p:txBody>
      </p:sp>
      <p:sp>
        <p:nvSpPr>
          <p:cNvPr id="18447" name="Freeform 15"/>
          <p:cNvSpPr>
            <a:spLocks/>
          </p:cNvSpPr>
          <p:nvPr/>
        </p:nvSpPr>
        <p:spPr bwMode="auto">
          <a:xfrm>
            <a:off x="1908175" y="3975100"/>
            <a:ext cx="758825" cy="682625"/>
          </a:xfrm>
          <a:custGeom>
            <a:avLst/>
            <a:gdLst>
              <a:gd name="T0" fmla="*/ 477 w 478"/>
              <a:gd name="T1" fmla="*/ 214 h 430"/>
              <a:gd name="T2" fmla="*/ 472 w 478"/>
              <a:gd name="T3" fmla="*/ 171 h 430"/>
              <a:gd name="T4" fmla="*/ 458 w 478"/>
              <a:gd name="T5" fmla="*/ 131 h 430"/>
              <a:gd name="T6" fmla="*/ 436 w 478"/>
              <a:gd name="T7" fmla="*/ 94 h 430"/>
              <a:gd name="T8" fmla="*/ 407 w 478"/>
              <a:gd name="T9" fmla="*/ 62 h 430"/>
              <a:gd name="T10" fmla="*/ 371 w 478"/>
              <a:gd name="T11" fmla="*/ 36 h 430"/>
              <a:gd name="T12" fmla="*/ 331 w 478"/>
              <a:gd name="T13" fmla="*/ 16 h 430"/>
              <a:gd name="T14" fmla="*/ 286 w 478"/>
              <a:gd name="T15" fmla="*/ 4 h 430"/>
              <a:gd name="T16" fmla="*/ 238 w 478"/>
              <a:gd name="T17" fmla="*/ 0 h 430"/>
              <a:gd name="T18" fmla="*/ 190 w 478"/>
              <a:gd name="T19" fmla="*/ 4 h 430"/>
              <a:gd name="T20" fmla="*/ 145 w 478"/>
              <a:gd name="T21" fmla="*/ 16 h 430"/>
              <a:gd name="T22" fmla="*/ 105 w 478"/>
              <a:gd name="T23" fmla="*/ 36 h 430"/>
              <a:gd name="T24" fmla="*/ 69 w 478"/>
              <a:gd name="T25" fmla="*/ 62 h 430"/>
              <a:gd name="T26" fmla="*/ 40 w 478"/>
              <a:gd name="T27" fmla="*/ 94 h 430"/>
              <a:gd name="T28" fmla="*/ 18 w 478"/>
              <a:gd name="T29" fmla="*/ 131 h 430"/>
              <a:gd name="T30" fmla="*/ 4 w 478"/>
              <a:gd name="T31" fmla="*/ 171 h 430"/>
              <a:gd name="T32" fmla="*/ 0 w 478"/>
              <a:gd name="T33" fmla="*/ 214 h 430"/>
              <a:gd name="T34" fmla="*/ 4 w 478"/>
              <a:gd name="T35" fmla="*/ 257 h 430"/>
              <a:gd name="T36" fmla="*/ 18 w 478"/>
              <a:gd name="T37" fmla="*/ 297 h 430"/>
              <a:gd name="T38" fmla="*/ 40 w 478"/>
              <a:gd name="T39" fmla="*/ 334 h 430"/>
              <a:gd name="T40" fmla="*/ 69 w 478"/>
              <a:gd name="T41" fmla="*/ 366 h 430"/>
              <a:gd name="T42" fmla="*/ 105 w 478"/>
              <a:gd name="T43" fmla="*/ 392 h 430"/>
              <a:gd name="T44" fmla="*/ 145 w 478"/>
              <a:gd name="T45" fmla="*/ 412 h 430"/>
              <a:gd name="T46" fmla="*/ 190 w 478"/>
              <a:gd name="T47" fmla="*/ 424 h 430"/>
              <a:gd name="T48" fmla="*/ 238 w 478"/>
              <a:gd name="T49" fmla="*/ 429 h 430"/>
              <a:gd name="T50" fmla="*/ 286 w 478"/>
              <a:gd name="T51" fmla="*/ 424 h 430"/>
              <a:gd name="T52" fmla="*/ 331 w 478"/>
              <a:gd name="T53" fmla="*/ 412 h 430"/>
              <a:gd name="T54" fmla="*/ 371 w 478"/>
              <a:gd name="T55" fmla="*/ 392 h 430"/>
              <a:gd name="T56" fmla="*/ 407 w 478"/>
              <a:gd name="T57" fmla="*/ 366 h 430"/>
              <a:gd name="T58" fmla="*/ 436 w 478"/>
              <a:gd name="T59" fmla="*/ 334 h 430"/>
              <a:gd name="T60" fmla="*/ 458 w 478"/>
              <a:gd name="T61" fmla="*/ 297 h 430"/>
              <a:gd name="T62" fmla="*/ 472 w 478"/>
              <a:gd name="T63" fmla="*/ 257 h 430"/>
              <a:gd name="T64" fmla="*/ 477 w 478"/>
              <a:gd name="T65" fmla="*/ 214 h 430"/>
              <a:gd name="T66" fmla="*/ 477 w 478"/>
              <a:gd name="T67" fmla="*/ 214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78" h="430">
                <a:moveTo>
                  <a:pt x="477" y="214"/>
                </a:moveTo>
                <a:lnTo>
                  <a:pt x="472" y="171"/>
                </a:lnTo>
                <a:lnTo>
                  <a:pt x="458" y="131"/>
                </a:lnTo>
                <a:lnTo>
                  <a:pt x="436" y="94"/>
                </a:lnTo>
                <a:lnTo>
                  <a:pt x="407" y="62"/>
                </a:lnTo>
                <a:lnTo>
                  <a:pt x="371" y="36"/>
                </a:lnTo>
                <a:lnTo>
                  <a:pt x="331" y="16"/>
                </a:lnTo>
                <a:lnTo>
                  <a:pt x="286" y="4"/>
                </a:lnTo>
                <a:lnTo>
                  <a:pt x="238" y="0"/>
                </a:lnTo>
                <a:lnTo>
                  <a:pt x="190" y="4"/>
                </a:lnTo>
                <a:lnTo>
                  <a:pt x="145" y="16"/>
                </a:lnTo>
                <a:lnTo>
                  <a:pt x="105" y="36"/>
                </a:lnTo>
                <a:lnTo>
                  <a:pt x="69" y="62"/>
                </a:lnTo>
                <a:lnTo>
                  <a:pt x="40" y="94"/>
                </a:lnTo>
                <a:lnTo>
                  <a:pt x="18" y="131"/>
                </a:lnTo>
                <a:lnTo>
                  <a:pt x="4" y="171"/>
                </a:lnTo>
                <a:lnTo>
                  <a:pt x="0" y="214"/>
                </a:lnTo>
                <a:lnTo>
                  <a:pt x="4" y="257"/>
                </a:lnTo>
                <a:lnTo>
                  <a:pt x="18" y="297"/>
                </a:lnTo>
                <a:lnTo>
                  <a:pt x="40" y="334"/>
                </a:lnTo>
                <a:lnTo>
                  <a:pt x="69" y="366"/>
                </a:lnTo>
                <a:lnTo>
                  <a:pt x="105" y="392"/>
                </a:lnTo>
                <a:lnTo>
                  <a:pt x="145" y="412"/>
                </a:lnTo>
                <a:lnTo>
                  <a:pt x="190" y="424"/>
                </a:lnTo>
                <a:lnTo>
                  <a:pt x="238" y="429"/>
                </a:lnTo>
                <a:lnTo>
                  <a:pt x="286" y="424"/>
                </a:lnTo>
                <a:lnTo>
                  <a:pt x="331" y="412"/>
                </a:lnTo>
                <a:lnTo>
                  <a:pt x="371" y="392"/>
                </a:lnTo>
                <a:lnTo>
                  <a:pt x="407" y="366"/>
                </a:lnTo>
                <a:lnTo>
                  <a:pt x="436" y="334"/>
                </a:lnTo>
                <a:lnTo>
                  <a:pt x="458" y="297"/>
                </a:lnTo>
                <a:lnTo>
                  <a:pt x="472" y="257"/>
                </a:lnTo>
                <a:lnTo>
                  <a:pt x="477" y="214"/>
                </a:lnTo>
                <a:lnTo>
                  <a:pt x="477" y="21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8" name="Freeform 16"/>
          <p:cNvSpPr>
            <a:spLocks/>
          </p:cNvSpPr>
          <p:nvPr/>
        </p:nvSpPr>
        <p:spPr bwMode="auto">
          <a:xfrm>
            <a:off x="2455863" y="2473325"/>
            <a:ext cx="758825" cy="682625"/>
          </a:xfrm>
          <a:custGeom>
            <a:avLst/>
            <a:gdLst>
              <a:gd name="T0" fmla="*/ 477 w 478"/>
              <a:gd name="T1" fmla="*/ 215 h 430"/>
              <a:gd name="T2" fmla="*/ 472 w 478"/>
              <a:gd name="T3" fmla="*/ 171 h 430"/>
              <a:gd name="T4" fmla="*/ 458 w 478"/>
              <a:gd name="T5" fmla="*/ 131 h 430"/>
              <a:gd name="T6" fmla="*/ 436 w 478"/>
              <a:gd name="T7" fmla="*/ 95 h 430"/>
              <a:gd name="T8" fmla="*/ 407 w 478"/>
              <a:gd name="T9" fmla="*/ 63 h 430"/>
              <a:gd name="T10" fmla="*/ 372 w 478"/>
              <a:gd name="T11" fmla="*/ 37 h 430"/>
              <a:gd name="T12" fmla="*/ 331 w 478"/>
              <a:gd name="T13" fmla="*/ 17 h 430"/>
              <a:gd name="T14" fmla="*/ 286 w 478"/>
              <a:gd name="T15" fmla="*/ 4 h 430"/>
              <a:gd name="T16" fmla="*/ 239 w 478"/>
              <a:gd name="T17" fmla="*/ 0 h 430"/>
              <a:gd name="T18" fmla="*/ 190 w 478"/>
              <a:gd name="T19" fmla="*/ 4 h 430"/>
              <a:gd name="T20" fmla="*/ 146 w 478"/>
              <a:gd name="T21" fmla="*/ 17 h 430"/>
              <a:gd name="T22" fmla="*/ 105 w 478"/>
              <a:gd name="T23" fmla="*/ 37 h 430"/>
              <a:gd name="T24" fmla="*/ 70 w 478"/>
              <a:gd name="T25" fmla="*/ 63 h 430"/>
              <a:gd name="T26" fmla="*/ 40 w 478"/>
              <a:gd name="T27" fmla="*/ 95 h 430"/>
              <a:gd name="T28" fmla="*/ 19 w 478"/>
              <a:gd name="T29" fmla="*/ 131 h 430"/>
              <a:gd name="T30" fmla="*/ 5 w 478"/>
              <a:gd name="T31" fmla="*/ 171 h 430"/>
              <a:gd name="T32" fmla="*/ 0 w 478"/>
              <a:gd name="T33" fmla="*/ 215 h 430"/>
              <a:gd name="T34" fmla="*/ 5 w 478"/>
              <a:gd name="T35" fmla="*/ 258 h 430"/>
              <a:gd name="T36" fmla="*/ 19 w 478"/>
              <a:gd name="T37" fmla="*/ 298 h 430"/>
              <a:gd name="T38" fmla="*/ 40 w 478"/>
              <a:gd name="T39" fmla="*/ 334 h 430"/>
              <a:gd name="T40" fmla="*/ 70 w 478"/>
              <a:gd name="T41" fmla="*/ 366 h 430"/>
              <a:gd name="T42" fmla="*/ 105 w 478"/>
              <a:gd name="T43" fmla="*/ 392 h 430"/>
              <a:gd name="T44" fmla="*/ 146 w 478"/>
              <a:gd name="T45" fmla="*/ 412 h 430"/>
              <a:gd name="T46" fmla="*/ 190 w 478"/>
              <a:gd name="T47" fmla="*/ 425 h 430"/>
              <a:gd name="T48" fmla="*/ 239 w 478"/>
              <a:gd name="T49" fmla="*/ 429 h 430"/>
              <a:gd name="T50" fmla="*/ 286 w 478"/>
              <a:gd name="T51" fmla="*/ 425 h 430"/>
              <a:gd name="T52" fmla="*/ 331 w 478"/>
              <a:gd name="T53" fmla="*/ 412 h 430"/>
              <a:gd name="T54" fmla="*/ 372 w 478"/>
              <a:gd name="T55" fmla="*/ 392 h 430"/>
              <a:gd name="T56" fmla="*/ 407 w 478"/>
              <a:gd name="T57" fmla="*/ 366 h 430"/>
              <a:gd name="T58" fmla="*/ 436 w 478"/>
              <a:gd name="T59" fmla="*/ 334 h 430"/>
              <a:gd name="T60" fmla="*/ 458 w 478"/>
              <a:gd name="T61" fmla="*/ 298 h 430"/>
              <a:gd name="T62" fmla="*/ 472 w 478"/>
              <a:gd name="T63" fmla="*/ 258 h 430"/>
              <a:gd name="T64" fmla="*/ 477 w 478"/>
              <a:gd name="T65" fmla="*/ 215 h 430"/>
              <a:gd name="T66" fmla="*/ 477 w 478"/>
              <a:gd name="T67" fmla="*/ 215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78" h="430">
                <a:moveTo>
                  <a:pt x="477" y="215"/>
                </a:moveTo>
                <a:lnTo>
                  <a:pt x="472" y="171"/>
                </a:lnTo>
                <a:lnTo>
                  <a:pt x="458" y="131"/>
                </a:lnTo>
                <a:lnTo>
                  <a:pt x="436" y="95"/>
                </a:lnTo>
                <a:lnTo>
                  <a:pt x="407" y="63"/>
                </a:lnTo>
                <a:lnTo>
                  <a:pt x="372" y="37"/>
                </a:lnTo>
                <a:lnTo>
                  <a:pt x="331" y="17"/>
                </a:lnTo>
                <a:lnTo>
                  <a:pt x="286" y="4"/>
                </a:lnTo>
                <a:lnTo>
                  <a:pt x="239" y="0"/>
                </a:lnTo>
                <a:lnTo>
                  <a:pt x="190" y="4"/>
                </a:lnTo>
                <a:lnTo>
                  <a:pt x="146" y="17"/>
                </a:lnTo>
                <a:lnTo>
                  <a:pt x="105" y="37"/>
                </a:lnTo>
                <a:lnTo>
                  <a:pt x="70" y="63"/>
                </a:lnTo>
                <a:lnTo>
                  <a:pt x="40" y="95"/>
                </a:lnTo>
                <a:lnTo>
                  <a:pt x="19" y="131"/>
                </a:lnTo>
                <a:lnTo>
                  <a:pt x="5" y="171"/>
                </a:lnTo>
                <a:lnTo>
                  <a:pt x="0" y="215"/>
                </a:lnTo>
                <a:lnTo>
                  <a:pt x="5" y="258"/>
                </a:lnTo>
                <a:lnTo>
                  <a:pt x="19" y="298"/>
                </a:lnTo>
                <a:lnTo>
                  <a:pt x="40" y="334"/>
                </a:lnTo>
                <a:lnTo>
                  <a:pt x="70" y="366"/>
                </a:lnTo>
                <a:lnTo>
                  <a:pt x="105" y="392"/>
                </a:lnTo>
                <a:lnTo>
                  <a:pt x="146" y="412"/>
                </a:lnTo>
                <a:lnTo>
                  <a:pt x="190" y="425"/>
                </a:lnTo>
                <a:lnTo>
                  <a:pt x="239" y="429"/>
                </a:lnTo>
                <a:lnTo>
                  <a:pt x="286" y="425"/>
                </a:lnTo>
                <a:lnTo>
                  <a:pt x="331" y="412"/>
                </a:lnTo>
                <a:lnTo>
                  <a:pt x="372" y="392"/>
                </a:lnTo>
                <a:lnTo>
                  <a:pt x="407" y="366"/>
                </a:lnTo>
                <a:lnTo>
                  <a:pt x="436" y="334"/>
                </a:lnTo>
                <a:lnTo>
                  <a:pt x="458" y="298"/>
                </a:lnTo>
                <a:lnTo>
                  <a:pt x="472" y="258"/>
                </a:lnTo>
                <a:lnTo>
                  <a:pt x="477" y="215"/>
                </a:lnTo>
                <a:lnTo>
                  <a:pt x="477" y="215"/>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9" name="Rectangle 17"/>
          <p:cNvSpPr>
            <a:spLocks noChangeArrowheads="1"/>
          </p:cNvSpPr>
          <p:nvPr/>
        </p:nvSpPr>
        <p:spPr bwMode="auto">
          <a:xfrm>
            <a:off x="2470150" y="2566988"/>
            <a:ext cx="67627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a:solidFill>
                  <a:srgbClr val="3399FF"/>
                </a:solidFill>
              </a:rPr>
              <a:t>K'ville</a:t>
            </a:r>
          </a:p>
        </p:txBody>
      </p:sp>
      <p:sp>
        <p:nvSpPr>
          <p:cNvPr id="18450" name="Freeform 18"/>
          <p:cNvSpPr>
            <a:spLocks/>
          </p:cNvSpPr>
          <p:nvPr/>
        </p:nvSpPr>
        <p:spPr bwMode="auto">
          <a:xfrm>
            <a:off x="3514725" y="3414713"/>
            <a:ext cx="758825" cy="682625"/>
          </a:xfrm>
          <a:custGeom>
            <a:avLst/>
            <a:gdLst>
              <a:gd name="T0" fmla="*/ 477 w 478"/>
              <a:gd name="T1" fmla="*/ 214 h 430"/>
              <a:gd name="T2" fmla="*/ 473 w 478"/>
              <a:gd name="T3" fmla="*/ 171 h 430"/>
              <a:gd name="T4" fmla="*/ 459 w 478"/>
              <a:gd name="T5" fmla="*/ 131 h 430"/>
              <a:gd name="T6" fmla="*/ 437 w 478"/>
              <a:gd name="T7" fmla="*/ 94 h 430"/>
              <a:gd name="T8" fmla="*/ 408 w 478"/>
              <a:gd name="T9" fmla="*/ 62 h 430"/>
              <a:gd name="T10" fmla="*/ 372 w 478"/>
              <a:gd name="T11" fmla="*/ 36 h 430"/>
              <a:gd name="T12" fmla="*/ 332 w 478"/>
              <a:gd name="T13" fmla="*/ 16 h 430"/>
              <a:gd name="T14" fmla="*/ 287 w 478"/>
              <a:gd name="T15" fmla="*/ 4 h 430"/>
              <a:gd name="T16" fmla="*/ 239 w 478"/>
              <a:gd name="T17" fmla="*/ 0 h 430"/>
              <a:gd name="T18" fmla="*/ 191 w 478"/>
              <a:gd name="T19" fmla="*/ 4 h 430"/>
              <a:gd name="T20" fmla="*/ 146 w 478"/>
              <a:gd name="T21" fmla="*/ 16 h 430"/>
              <a:gd name="T22" fmla="*/ 105 w 478"/>
              <a:gd name="T23" fmla="*/ 36 h 430"/>
              <a:gd name="T24" fmla="*/ 70 w 478"/>
              <a:gd name="T25" fmla="*/ 62 h 430"/>
              <a:gd name="T26" fmla="*/ 41 w 478"/>
              <a:gd name="T27" fmla="*/ 94 h 430"/>
              <a:gd name="T28" fmla="*/ 19 w 478"/>
              <a:gd name="T29" fmla="*/ 131 h 430"/>
              <a:gd name="T30" fmla="*/ 5 w 478"/>
              <a:gd name="T31" fmla="*/ 171 h 430"/>
              <a:gd name="T32" fmla="*/ 0 w 478"/>
              <a:gd name="T33" fmla="*/ 214 h 430"/>
              <a:gd name="T34" fmla="*/ 5 w 478"/>
              <a:gd name="T35" fmla="*/ 257 h 430"/>
              <a:gd name="T36" fmla="*/ 19 w 478"/>
              <a:gd name="T37" fmla="*/ 297 h 430"/>
              <a:gd name="T38" fmla="*/ 41 w 478"/>
              <a:gd name="T39" fmla="*/ 334 h 430"/>
              <a:gd name="T40" fmla="*/ 70 w 478"/>
              <a:gd name="T41" fmla="*/ 366 h 430"/>
              <a:gd name="T42" fmla="*/ 105 w 478"/>
              <a:gd name="T43" fmla="*/ 392 h 430"/>
              <a:gd name="T44" fmla="*/ 146 w 478"/>
              <a:gd name="T45" fmla="*/ 412 h 430"/>
              <a:gd name="T46" fmla="*/ 191 w 478"/>
              <a:gd name="T47" fmla="*/ 424 h 430"/>
              <a:gd name="T48" fmla="*/ 239 w 478"/>
              <a:gd name="T49" fmla="*/ 429 h 430"/>
              <a:gd name="T50" fmla="*/ 287 w 478"/>
              <a:gd name="T51" fmla="*/ 424 h 430"/>
              <a:gd name="T52" fmla="*/ 332 w 478"/>
              <a:gd name="T53" fmla="*/ 412 h 430"/>
              <a:gd name="T54" fmla="*/ 372 w 478"/>
              <a:gd name="T55" fmla="*/ 392 h 430"/>
              <a:gd name="T56" fmla="*/ 408 w 478"/>
              <a:gd name="T57" fmla="*/ 366 h 430"/>
              <a:gd name="T58" fmla="*/ 437 w 478"/>
              <a:gd name="T59" fmla="*/ 334 h 430"/>
              <a:gd name="T60" fmla="*/ 459 w 478"/>
              <a:gd name="T61" fmla="*/ 297 h 430"/>
              <a:gd name="T62" fmla="*/ 473 w 478"/>
              <a:gd name="T63" fmla="*/ 257 h 430"/>
              <a:gd name="T64" fmla="*/ 477 w 478"/>
              <a:gd name="T65" fmla="*/ 214 h 430"/>
              <a:gd name="T66" fmla="*/ 477 w 478"/>
              <a:gd name="T67" fmla="*/ 214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78" h="430">
                <a:moveTo>
                  <a:pt x="477" y="214"/>
                </a:moveTo>
                <a:lnTo>
                  <a:pt x="473" y="171"/>
                </a:lnTo>
                <a:lnTo>
                  <a:pt x="459" y="131"/>
                </a:lnTo>
                <a:lnTo>
                  <a:pt x="437" y="94"/>
                </a:lnTo>
                <a:lnTo>
                  <a:pt x="408" y="62"/>
                </a:lnTo>
                <a:lnTo>
                  <a:pt x="372" y="36"/>
                </a:lnTo>
                <a:lnTo>
                  <a:pt x="332" y="16"/>
                </a:lnTo>
                <a:lnTo>
                  <a:pt x="287" y="4"/>
                </a:lnTo>
                <a:lnTo>
                  <a:pt x="239" y="0"/>
                </a:lnTo>
                <a:lnTo>
                  <a:pt x="191" y="4"/>
                </a:lnTo>
                <a:lnTo>
                  <a:pt x="146" y="16"/>
                </a:lnTo>
                <a:lnTo>
                  <a:pt x="105" y="36"/>
                </a:lnTo>
                <a:lnTo>
                  <a:pt x="70" y="62"/>
                </a:lnTo>
                <a:lnTo>
                  <a:pt x="41" y="94"/>
                </a:lnTo>
                <a:lnTo>
                  <a:pt x="19" y="131"/>
                </a:lnTo>
                <a:lnTo>
                  <a:pt x="5" y="171"/>
                </a:lnTo>
                <a:lnTo>
                  <a:pt x="0" y="214"/>
                </a:lnTo>
                <a:lnTo>
                  <a:pt x="5" y="257"/>
                </a:lnTo>
                <a:lnTo>
                  <a:pt x="19" y="297"/>
                </a:lnTo>
                <a:lnTo>
                  <a:pt x="41" y="334"/>
                </a:lnTo>
                <a:lnTo>
                  <a:pt x="70" y="366"/>
                </a:lnTo>
                <a:lnTo>
                  <a:pt x="105" y="392"/>
                </a:lnTo>
                <a:lnTo>
                  <a:pt x="146" y="412"/>
                </a:lnTo>
                <a:lnTo>
                  <a:pt x="191" y="424"/>
                </a:lnTo>
                <a:lnTo>
                  <a:pt x="239" y="429"/>
                </a:lnTo>
                <a:lnTo>
                  <a:pt x="287" y="424"/>
                </a:lnTo>
                <a:lnTo>
                  <a:pt x="332" y="412"/>
                </a:lnTo>
                <a:lnTo>
                  <a:pt x="372" y="392"/>
                </a:lnTo>
                <a:lnTo>
                  <a:pt x="408" y="366"/>
                </a:lnTo>
                <a:lnTo>
                  <a:pt x="437" y="334"/>
                </a:lnTo>
                <a:lnTo>
                  <a:pt x="459" y="297"/>
                </a:lnTo>
                <a:lnTo>
                  <a:pt x="473" y="257"/>
                </a:lnTo>
                <a:lnTo>
                  <a:pt x="477" y="214"/>
                </a:lnTo>
                <a:lnTo>
                  <a:pt x="477" y="21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1" name="Rectangle 19"/>
          <p:cNvSpPr>
            <a:spLocks noChangeArrowheads="1"/>
          </p:cNvSpPr>
          <p:nvPr/>
        </p:nvSpPr>
        <p:spPr bwMode="auto">
          <a:xfrm>
            <a:off x="3529013" y="3506788"/>
            <a:ext cx="67627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a:solidFill>
                  <a:srgbClr val="3399FF"/>
                </a:solidFill>
              </a:rPr>
              <a:t>A'ville</a:t>
            </a:r>
          </a:p>
        </p:txBody>
      </p:sp>
      <p:sp>
        <p:nvSpPr>
          <p:cNvPr id="18452" name="Freeform 20"/>
          <p:cNvSpPr>
            <a:spLocks/>
          </p:cNvSpPr>
          <p:nvPr/>
        </p:nvSpPr>
        <p:spPr bwMode="auto">
          <a:xfrm>
            <a:off x="5254625" y="2605088"/>
            <a:ext cx="758825" cy="682625"/>
          </a:xfrm>
          <a:custGeom>
            <a:avLst/>
            <a:gdLst>
              <a:gd name="T0" fmla="*/ 477 w 478"/>
              <a:gd name="T1" fmla="*/ 215 h 430"/>
              <a:gd name="T2" fmla="*/ 472 w 478"/>
              <a:gd name="T3" fmla="*/ 171 h 430"/>
              <a:gd name="T4" fmla="*/ 458 w 478"/>
              <a:gd name="T5" fmla="*/ 131 h 430"/>
              <a:gd name="T6" fmla="*/ 436 w 478"/>
              <a:gd name="T7" fmla="*/ 94 h 430"/>
              <a:gd name="T8" fmla="*/ 407 w 478"/>
              <a:gd name="T9" fmla="*/ 63 h 430"/>
              <a:gd name="T10" fmla="*/ 372 w 478"/>
              <a:gd name="T11" fmla="*/ 37 h 430"/>
              <a:gd name="T12" fmla="*/ 331 w 478"/>
              <a:gd name="T13" fmla="*/ 17 h 430"/>
              <a:gd name="T14" fmla="*/ 286 w 478"/>
              <a:gd name="T15" fmla="*/ 4 h 430"/>
              <a:gd name="T16" fmla="*/ 238 w 478"/>
              <a:gd name="T17" fmla="*/ 0 h 430"/>
              <a:gd name="T18" fmla="*/ 190 w 478"/>
              <a:gd name="T19" fmla="*/ 4 h 430"/>
              <a:gd name="T20" fmla="*/ 145 w 478"/>
              <a:gd name="T21" fmla="*/ 17 h 430"/>
              <a:gd name="T22" fmla="*/ 105 w 478"/>
              <a:gd name="T23" fmla="*/ 37 h 430"/>
              <a:gd name="T24" fmla="*/ 69 w 478"/>
              <a:gd name="T25" fmla="*/ 63 h 430"/>
              <a:gd name="T26" fmla="*/ 40 w 478"/>
              <a:gd name="T27" fmla="*/ 94 h 430"/>
              <a:gd name="T28" fmla="*/ 19 w 478"/>
              <a:gd name="T29" fmla="*/ 131 h 430"/>
              <a:gd name="T30" fmla="*/ 4 w 478"/>
              <a:gd name="T31" fmla="*/ 171 h 430"/>
              <a:gd name="T32" fmla="*/ 0 w 478"/>
              <a:gd name="T33" fmla="*/ 215 h 430"/>
              <a:gd name="T34" fmla="*/ 4 w 478"/>
              <a:gd name="T35" fmla="*/ 258 h 430"/>
              <a:gd name="T36" fmla="*/ 19 w 478"/>
              <a:gd name="T37" fmla="*/ 298 h 430"/>
              <a:gd name="T38" fmla="*/ 40 w 478"/>
              <a:gd name="T39" fmla="*/ 334 h 430"/>
              <a:gd name="T40" fmla="*/ 69 w 478"/>
              <a:gd name="T41" fmla="*/ 366 h 430"/>
              <a:gd name="T42" fmla="*/ 105 w 478"/>
              <a:gd name="T43" fmla="*/ 392 h 430"/>
              <a:gd name="T44" fmla="*/ 145 w 478"/>
              <a:gd name="T45" fmla="*/ 412 h 430"/>
              <a:gd name="T46" fmla="*/ 190 w 478"/>
              <a:gd name="T47" fmla="*/ 425 h 430"/>
              <a:gd name="T48" fmla="*/ 238 w 478"/>
              <a:gd name="T49" fmla="*/ 429 h 430"/>
              <a:gd name="T50" fmla="*/ 286 w 478"/>
              <a:gd name="T51" fmla="*/ 425 h 430"/>
              <a:gd name="T52" fmla="*/ 331 w 478"/>
              <a:gd name="T53" fmla="*/ 412 h 430"/>
              <a:gd name="T54" fmla="*/ 372 w 478"/>
              <a:gd name="T55" fmla="*/ 392 h 430"/>
              <a:gd name="T56" fmla="*/ 407 w 478"/>
              <a:gd name="T57" fmla="*/ 366 h 430"/>
              <a:gd name="T58" fmla="*/ 436 w 478"/>
              <a:gd name="T59" fmla="*/ 334 h 430"/>
              <a:gd name="T60" fmla="*/ 458 w 478"/>
              <a:gd name="T61" fmla="*/ 298 h 430"/>
              <a:gd name="T62" fmla="*/ 472 w 478"/>
              <a:gd name="T63" fmla="*/ 258 h 430"/>
              <a:gd name="T64" fmla="*/ 477 w 478"/>
              <a:gd name="T65" fmla="*/ 215 h 430"/>
              <a:gd name="T66" fmla="*/ 477 w 478"/>
              <a:gd name="T67" fmla="*/ 215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78" h="430">
                <a:moveTo>
                  <a:pt x="477" y="215"/>
                </a:moveTo>
                <a:lnTo>
                  <a:pt x="472" y="171"/>
                </a:lnTo>
                <a:lnTo>
                  <a:pt x="458" y="131"/>
                </a:lnTo>
                <a:lnTo>
                  <a:pt x="436" y="94"/>
                </a:lnTo>
                <a:lnTo>
                  <a:pt x="407" y="63"/>
                </a:lnTo>
                <a:lnTo>
                  <a:pt x="372" y="37"/>
                </a:lnTo>
                <a:lnTo>
                  <a:pt x="331" y="17"/>
                </a:lnTo>
                <a:lnTo>
                  <a:pt x="286" y="4"/>
                </a:lnTo>
                <a:lnTo>
                  <a:pt x="238" y="0"/>
                </a:lnTo>
                <a:lnTo>
                  <a:pt x="190" y="4"/>
                </a:lnTo>
                <a:lnTo>
                  <a:pt x="145" y="17"/>
                </a:lnTo>
                <a:lnTo>
                  <a:pt x="105" y="37"/>
                </a:lnTo>
                <a:lnTo>
                  <a:pt x="69" y="63"/>
                </a:lnTo>
                <a:lnTo>
                  <a:pt x="40" y="94"/>
                </a:lnTo>
                <a:lnTo>
                  <a:pt x="19" y="131"/>
                </a:lnTo>
                <a:lnTo>
                  <a:pt x="4" y="171"/>
                </a:lnTo>
                <a:lnTo>
                  <a:pt x="0" y="215"/>
                </a:lnTo>
                <a:lnTo>
                  <a:pt x="4" y="258"/>
                </a:lnTo>
                <a:lnTo>
                  <a:pt x="19" y="298"/>
                </a:lnTo>
                <a:lnTo>
                  <a:pt x="40" y="334"/>
                </a:lnTo>
                <a:lnTo>
                  <a:pt x="69" y="366"/>
                </a:lnTo>
                <a:lnTo>
                  <a:pt x="105" y="392"/>
                </a:lnTo>
                <a:lnTo>
                  <a:pt x="145" y="412"/>
                </a:lnTo>
                <a:lnTo>
                  <a:pt x="190" y="425"/>
                </a:lnTo>
                <a:lnTo>
                  <a:pt x="238" y="429"/>
                </a:lnTo>
                <a:lnTo>
                  <a:pt x="286" y="425"/>
                </a:lnTo>
                <a:lnTo>
                  <a:pt x="331" y="412"/>
                </a:lnTo>
                <a:lnTo>
                  <a:pt x="372" y="392"/>
                </a:lnTo>
                <a:lnTo>
                  <a:pt x="407" y="366"/>
                </a:lnTo>
                <a:lnTo>
                  <a:pt x="436" y="334"/>
                </a:lnTo>
                <a:lnTo>
                  <a:pt x="458" y="298"/>
                </a:lnTo>
                <a:lnTo>
                  <a:pt x="472" y="258"/>
                </a:lnTo>
                <a:lnTo>
                  <a:pt x="477" y="215"/>
                </a:lnTo>
                <a:lnTo>
                  <a:pt x="477" y="215"/>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3" name="Rectangle 21"/>
          <p:cNvSpPr>
            <a:spLocks noChangeArrowheads="1"/>
          </p:cNvSpPr>
          <p:nvPr/>
        </p:nvSpPr>
        <p:spPr bwMode="auto">
          <a:xfrm>
            <a:off x="5268913" y="2700338"/>
            <a:ext cx="7096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a:solidFill>
                  <a:srgbClr val="3399FF"/>
                </a:solidFill>
              </a:rPr>
              <a:t>G'boro</a:t>
            </a:r>
          </a:p>
        </p:txBody>
      </p:sp>
      <p:sp>
        <p:nvSpPr>
          <p:cNvPr id="18454" name="Freeform 22"/>
          <p:cNvSpPr>
            <a:spLocks/>
          </p:cNvSpPr>
          <p:nvPr/>
        </p:nvSpPr>
        <p:spPr bwMode="auto">
          <a:xfrm>
            <a:off x="6691313" y="2643188"/>
            <a:ext cx="758825" cy="682625"/>
          </a:xfrm>
          <a:custGeom>
            <a:avLst/>
            <a:gdLst>
              <a:gd name="T0" fmla="*/ 477 w 478"/>
              <a:gd name="T1" fmla="*/ 215 h 430"/>
              <a:gd name="T2" fmla="*/ 472 w 478"/>
              <a:gd name="T3" fmla="*/ 171 h 430"/>
              <a:gd name="T4" fmla="*/ 458 w 478"/>
              <a:gd name="T5" fmla="*/ 131 h 430"/>
              <a:gd name="T6" fmla="*/ 436 w 478"/>
              <a:gd name="T7" fmla="*/ 95 h 430"/>
              <a:gd name="T8" fmla="*/ 407 w 478"/>
              <a:gd name="T9" fmla="*/ 63 h 430"/>
              <a:gd name="T10" fmla="*/ 372 w 478"/>
              <a:gd name="T11" fmla="*/ 37 h 430"/>
              <a:gd name="T12" fmla="*/ 331 w 478"/>
              <a:gd name="T13" fmla="*/ 17 h 430"/>
              <a:gd name="T14" fmla="*/ 286 w 478"/>
              <a:gd name="T15" fmla="*/ 4 h 430"/>
              <a:gd name="T16" fmla="*/ 239 w 478"/>
              <a:gd name="T17" fmla="*/ 0 h 430"/>
              <a:gd name="T18" fmla="*/ 190 w 478"/>
              <a:gd name="T19" fmla="*/ 4 h 430"/>
              <a:gd name="T20" fmla="*/ 146 w 478"/>
              <a:gd name="T21" fmla="*/ 17 h 430"/>
              <a:gd name="T22" fmla="*/ 105 w 478"/>
              <a:gd name="T23" fmla="*/ 37 h 430"/>
              <a:gd name="T24" fmla="*/ 70 w 478"/>
              <a:gd name="T25" fmla="*/ 63 h 430"/>
              <a:gd name="T26" fmla="*/ 40 w 478"/>
              <a:gd name="T27" fmla="*/ 95 h 430"/>
              <a:gd name="T28" fmla="*/ 19 w 478"/>
              <a:gd name="T29" fmla="*/ 131 h 430"/>
              <a:gd name="T30" fmla="*/ 5 w 478"/>
              <a:gd name="T31" fmla="*/ 171 h 430"/>
              <a:gd name="T32" fmla="*/ 0 w 478"/>
              <a:gd name="T33" fmla="*/ 215 h 430"/>
              <a:gd name="T34" fmla="*/ 5 w 478"/>
              <a:gd name="T35" fmla="*/ 258 h 430"/>
              <a:gd name="T36" fmla="*/ 19 w 478"/>
              <a:gd name="T37" fmla="*/ 298 h 430"/>
              <a:gd name="T38" fmla="*/ 40 w 478"/>
              <a:gd name="T39" fmla="*/ 335 h 430"/>
              <a:gd name="T40" fmla="*/ 70 w 478"/>
              <a:gd name="T41" fmla="*/ 366 h 430"/>
              <a:gd name="T42" fmla="*/ 105 w 478"/>
              <a:gd name="T43" fmla="*/ 393 h 430"/>
              <a:gd name="T44" fmla="*/ 146 w 478"/>
              <a:gd name="T45" fmla="*/ 412 h 430"/>
              <a:gd name="T46" fmla="*/ 190 w 478"/>
              <a:gd name="T47" fmla="*/ 425 h 430"/>
              <a:gd name="T48" fmla="*/ 239 w 478"/>
              <a:gd name="T49" fmla="*/ 429 h 430"/>
              <a:gd name="T50" fmla="*/ 286 w 478"/>
              <a:gd name="T51" fmla="*/ 425 h 430"/>
              <a:gd name="T52" fmla="*/ 331 w 478"/>
              <a:gd name="T53" fmla="*/ 412 h 430"/>
              <a:gd name="T54" fmla="*/ 372 w 478"/>
              <a:gd name="T55" fmla="*/ 393 h 430"/>
              <a:gd name="T56" fmla="*/ 407 w 478"/>
              <a:gd name="T57" fmla="*/ 366 h 430"/>
              <a:gd name="T58" fmla="*/ 436 w 478"/>
              <a:gd name="T59" fmla="*/ 335 h 430"/>
              <a:gd name="T60" fmla="*/ 458 w 478"/>
              <a:gd name="T61" fmla="*/ 298 h 430"/>
              <a:gd name="T62" fmla="*/ 472 w 478"/>
              <a:gd name="T63" fmla="*/ 258 h 430"/>
              <a:gd name="T64" fmla="*/ 477 w 478"/>
              <a:gd name="T65" fmla="*/ 215 h 430"/>
              <a:gd name="T66" fmla="*/ 477 w 478"/>
              <a:gd name="T67" fmla="*/ 215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78" h="430">
                <a:moveTo>
                  <a:pt x="477" y="215"/>
                </a:moveTo>
                <a:lnTo>
                  <a:pt x="472" y="171"/>
                </a:lnTo>
                <a:lnTo>
                  <a:pt x="458" y="131"/>
                </a:lnTo>
                <a:lnTo>
                  <a:pt x="436" y="95"/>
                </a:lnTo>
                <a:lnTo>
                  <a:pt x="407" y="63"/>
                </a:lnTo>
                <a:lnTo>
                  <a:pt x="372" y="37"/>
                </a:lnTo>
                <a:lnTo>
                  <a:pt x="331" y="17"/>
                </a:lnTo>
                <a:lnTo>
                  <a:pt x="286" y="4"/>
                </a:lnTo>
                <a:lnTo>
                  <a:pt x="239" y="0"/>
                </a:lnTo>
                <a:lnTo>
                  <a:pt x="190" y="4"/>
                </a:lnTo>
                <a:lnTo>
                  <a:pt x="146" y="17"/>
                </a:lnTo>
                <a:lnTo>
                  <a:pt x="105" y="37"/>
                </a:lnTo>
                <a:lnTo>
                  <a:pt x="70" y="63"/>
                </a:lnTo>
                <a:lnTo>
                  <a:pt x="40" y="95"/>
                </a:lnTo>
                <a:lnTo>
                  <a:pt x="19" y="131"/>
                </a:lnTo>
                <a:lnTo>
                  <a:pt x="5" y="171"/>
                </a:lnTo>
                <a:lnTo>
                  <a:pt x="0" y="215"/>
                </a:lnTo>
                <a:lnTo>
                  <a:pt x="5" y="258"/>
                </a:lnTo>
                <a:lnTo>
                  <a:pt x="19" y="298"/>
                </a:lnTo>
                <a:lnTo>
                  <a:pt x="40" y="335"/>
                </a:lnTo>
                <a:lnTo>
                  <a:pt x="70" y="366"/>
                </a:lnTo>
                <a:lnTo>
                  <a:pt x="105" y="393"/>
                </a:lnTo>
                <a:lnTo>
                  <a:pt x="146" y="412"/>
                </a:lnTo>
                <a:lnTo>
                  <a:pt x="190" y="425"/>
                </a:lnTo>
                <a:lnTo>
                  <a:pt x="239" y="429"/>
                </a:lnTo>
                <a:lnTo>
                  <a:pt x="286" y="425"/>
                </a:lnTo>
                <a:lnTo>
                  <a:pt x="331" y="412"/>
                </a:lnTo>
                <a:lnTo>
                  <a:pt x="372" y="393"/>
                </a:lnTo>
                <a:lnTo>
                  <a:pt x="407" y="366"/>
                </a:lnTo>
                <a:lnTo>
                  <a:pt x="436" y="335"/>
                </a:lnTo>
                <a:lnTo>
                  <a:pt x="458" y="298"/>
                </a:lnTo>
                <a:lnTo>
                  <a:pt x="472" y="258"/>
                </a:lnTo>
                <a:lnTo>
                  <a:pt x="477" y="215"/>
                </a:lnTo>
                <a:lnTo>
                  <a:pt x="477" y="215"/>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5" name="Rectangle 23"/>
          <p:cNvSpPr>
            <a:spLocks noChangeArrowheads="1"/>
          </p:cNvSpPr>
          <p:nvPr/>
        </p:nvSpPr>
        <p:spPr bwMode="auto">
          <a:xfrm>
            <a:off x="6705600" y="2738438"/>
            <a:ext cx="744538" cy="29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300">
                <a:solidFill>
                  <a:srgbClr val="3399FF"/>
                </a:solidFill>
              </a:rPr>
              <a:t>Raliegh</a:t>
            </a:r>
          </a:p>
        </p:txBody>
      </p:sp>
      <p:sp>
        <p:nvSpPr>
          <p:cNvPr id="18456" name="Rectangle 24"/>
          <p:cNvSpPr>
            <a:spLocks noChangeArrowheads="1"/>
          </p:cNvSpPr>
          <p:nvPr/>
        </p:nvSpPr>
        <p:spPr bwMode="auto">
          <a:xfrm>
            <a:off x="1935163" y="4054475"/>
            <a:ext cx="6921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a:solidFill>
                  <a:srgbClr val="3399FF"/>
                </a:solidFill>
              </a:rPr>
              <a:t>Chatt.</a:t>
            </a:r>
          </a:p>
        </p:txBody>
      </p:sp>
      <p:sp>
        <p:nvSpPr>
          <p:cNvPr id="18457" name="Rectangle 25"/>
          <p:cNvSpPr>
            <a:spLocks noChangeArrowheads="1"/>
          </p:cNvSpPr>
          <p:nvPr/>
        </p:nvSpPr>
        <p:spPr bwMode="auto">
          <a:xfrm>
            <a:off x="895350" y="6091238"/>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a:solidFill>
                  <a:srgbClr val="3399FF"/>
                </a:solidFill>
              </a:rPr>
              <a:t>1</a:t>
            </a:r>
          </a:p>
        </p:txBody>
      </p:sp>
      <p:sp>
        <p:nvSpPr>
          <p:cNvPr id="18458" name="Rectangle 26"/>
          <p:cNvSpPr>
            <a:spLocks noChangeArrowheads="1"/>
          </p:cNvSpPr>
          <p:nvPr/>
        </p:nvSpPr>
        <p:spPr bwMode="auto">
          <a:xfrm>
            <a:off x="2562225" y="5921375"/>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a:solidFill>
                  <a:srgbClr val="3399FF"/>
                </a:solidFill>
              </a:rPr>
              <a:t>2</a:t>
            </a:r>
          </a:p>
        </p:txBody>
      </p:sp>
      <p:sp>
        <p:nvSpPr>
          <p:cNvPr id="18459" name="Rectangle 27"/>
          <p:cNvSpPr>
            <a:spLocks noChangeArrowheads="1"/>
          </p:cNvSpPr>
          <p:nvPr/>
        </p:nvSpPr>
        <p:spPr bwMode="auto">
          <a:xfrm>
            <a:off x="2117725" y="4251325"/>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a:solidFill>
                  <a:srgbClr val="3399FF"/>
                </a:solidFill>
              </a:rPr>
              <a:t>3</a:t>
            </a:r>
          </a:p>
        </p:txBody>
      </p:sp>
      <p:sp>
        <p:nvSpPr>
          <p:cNvPr id="18460" name="Rectangle 28"/>
          <p:cNvSpPr>
            <a:spLocks noChangeArrowheads="1"/>
          </p:cNvSpPr>
          <p:nvPr/>
        </p:nvSpPr>
        <p:spPr bwMode="auto">
          <a:xfrm>
            <a:off x="4141788" y="5535613"/>
            <a:ext cx="2905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a:solidFill>
                  <a:srgbClr val="3399FF"/>
                </a:solidFill>
              </a:rPr>
              <a:t>4</a:t>
            </a:r>
          </a:p>
        </p:txBody>
      </p:sp>
      <p:sp>
        <p:nvSpPr>
          <p:cNvPr id="18461" name="Rectangle 29"/>
          <p:cNvSpPr>
            <a:spLocks noChangeArrowheads="1"/>
          </p:cNvSpPr>
          <p:nvPr/>
        </p:nvSpPr>
        <p:spPr bwMode="auto">
          <a:xfrm>
            <a:off x="3727450" y="3703638"/>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a:solidFill>
                  <a:srgbClr val="3399FF"/>
                </a:solidFill>
              </a:rPr>
              <a:t>6</a:t>
            </a:r>
          </a:p>
        </p:txBody>
      </p:sp>
      <p:sp>
        <p:nvSpPr>
          <p:cNvPr id="18462" name="Rectangle 30"/>
          <p:cNvSpPr>
            <a:spLocks noChangeArrowheads="1"/>
          </p:cNvSpPr>
          <p:nvPr/>
        </p:nvSpPr>
        <p:spPr bwMode="auto">
          <a:xfrm>
            <a:off x="2657475" y="2751138"/>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a:solidFill>
                  <a:srgbClr val="3399FF"/>
                </a:solidFill>
              </a:rPr>
              <a:t>5</a:t>
            </a:r>
          </a:p>
        </p:txBody>
      </p:sp>
      <p:sp>
        <p:nvSpPr>
          <p:cNvPr id="18463" name="Rectangle 31"/>
          <p:cNvSpPr>
            <a:spLocks noChangeArrowheads="1"/>
          </p:cNvSpPr>
          <p:nvPr/>
        </p:nvSpPr>
        <p:spPr bwMode="auto">
          <a:xfrm>
            <a:off x="5602288" y="4513263"/>
            <a:ext cx="2905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a:solidFill>
                  <a:srgbClr val="3399FF"/>
                </a:solidFill>
              </a:rPr>
              <a:t>7</a:t>
            </a:r>
          </a:p>
        </p:txBody>
      </p:sp>
      <p:sp>
        <p:nvSpPr>
          <p:cNvPr id="18464" name="Rectangle 32"/>
          <p:cNvSpPr>
            <a:spLocks noChangeArrowheads="1"/>
          </p:cNvSpPr>
          <p:nvPr/>
        </p:nvSpPr>
        <p:spPr bwMode="auto">
          <a:xfrm>
            <a:off x="5505450" y="2906713"/>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a:solidFill>
                  <a:srgbClr val="3399FF"/>
                </a:solidFill>
              </a:rPr>
              <a:t>8</a:t>
            </a:r>
          </a:p>
        </p:txBody>
      </p:sp>
      <p:sp>
        <p:nvSpPr>
          <p:cNvPr id="18465" name="Rectangle 33"/>
          <p:cNvSpPr>
            <a:spLocks noChangeArrowheads="1"/>
          </p:cNvSpPr>
          <p:nvPr/>
        </p:nvSpPr>
        <p:spPr bwMode="auto">
          <a:xfrm>
            <a:off x="5153025" y="1144588"/>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a:solidFill>
                  <a:srgbClr val="3399FF"/>
                </a:solidFill>
              </a:rPr>
              <a:t>9</a:t>
            </a:r>
          </a:p>
        </p:txBody>
      </p:sp>
      <p:sp>
        <p:nvSpPr>
          <p:cNvPr id="18466" name="Rectangle 34"/>
          <p:cNvSpPr>
            <a:spLocks noChangeArrowheads="1"/>
          </p:cNvSpPr>
          <p:nvPr/>
        </p:nvSpPr>
        <p:spPr bwMode="auto">
          <a:xfrm>
            <a:off x="6897688" y="3014663"/>
            <a:ext cx="35401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200">
                <a:solidFill>
                  <a:srgbClr val="3399FF"/>
                </a:solidFill>
              </a:rPr>
              <a:t>10</a:t>
            </a:r>
          </a:p>
        </p:txBody>
      </p:sp>
      <p:sp>
        <p:nvSpPr>
          <p:cNvPr id="18467" name="Rectangle 35"/>
          <p:cNvSpPr>
            <a:spLocks noChangeArrowheads="1"/>
          </p:cNvSpPr>
          <p:nvPr/>
        </p:nvSpPr>
        <p:spPr bwMode="auto">
          <a:xfrm>
            <a:off x="7659688" y="1474788"/>
            <a:ext cx="35401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200">
                <a:solidFill>
                  <a:srgbClr val="3399FF"/>
                </a:solidFill>
              </a:rPr>
              <a:t>11</a:t>
            </a:r>
          </a:p>
        </p:txBody>
      </p:sp>
      <p:sp>
        <p:nvSpPr>
          <p:cNvPr id="18468" name="Line 36"/>
          <p:cNvSpPr>
            <a:spLocks noChangeShapeType="1"/>
          </p:cNvSpPr>
          <p:nvPr/>
        </p:nvSpPr>
        <p:spPr bwMode="auto">
          <a:xfrm flipV="1">
            <a:off x="1344613" y="4724400"/>
            <a:ext cx="738187" cy="117475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9" name="Line 37"/>
          <p:cNvSpPr>
            <a:spLocks noChangeShapeType="1"/>
          </p:cNvSpPr>
          <p:nvPr/>
        </p:nvSpPr>
        <p:spPr bwMode="auto">
          <a:xfrm flipV="1">
            <a:off x="1435100" y="6035675"/>
            <a:ext cx="788988" cy="85725"/>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0" name="Line 38"/>
          <p:cNvSpPr>
            <a:spLocks noChangeShapeType="1"/>
          </p:cNvSpPr>
          <p:nvPr/>
        </p:nvSpPr>
        <p:spPr bwMode="auto">
          <a:xfrm flipH="1" flipV="1">
            <a:off x="2446338" y="4757738"/>
            <a:ext cx="244475" cy="868362"/>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1" name="Line 39"/>
          <p:cNvSpPr>
            <a:spLocks noChangeShapeType="1"/>
          </p:cNvSpPr>
          <p:nvPr/>
        </p:nvSpPr>
        <p:spPr bwMode="auto">
          <a:xfrm flipV="1">
            <a:off x="2651125" y="3913188"/>
            <a:ext cx="754063" cy="315912"/>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2" name="Line 40"/>
          <p:cNvSpPr>
            <a:spLocks noChangeShapeType="1"/>
          </p:cNvSpPr>
          <p:nvPr/>
        </p:nvSpPr>
        <p:spPr bwMode="auto">
          <a:xfrm flipV="1">
            <a:off x="2403475" y="3255963"/>
            <a:ext cx="193675" cy="72390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3" name="Line 41"/>
          <p:cNvSpPr>
            <a:spLocks noChangeShapeType="1"/>
          </p:cNvSpPr>
          <p:nvPr/>
        </p:nvSpPr>
        <p:spPr bwMode="auto">
          <a:xfrm flipV="1">
            <a:off x="3095625" y="5721350"/>
            <a:ext cx="752475" cy="217488"/>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4" name="Line 42"/>
          <p:cNvSpPr>
            <a:spLocks noChangeShapeType="1"/>
          </p:cNvSpPr>
          <p:nvPr/>
        </p:nvSpPr>
        <p:spPr bwMode="auto">
          <a:xfrm flipH="1" flipV="1">
            <a:off x="4024313" y="4222750"/>
            <a:ext cx="247650" cy="998538"/>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5" name="Line 43"/>
          <p:cNvSpPr>
            <a:spLocks noChangeShapeType="1"/>
          </p:cNvSpPr>
          <p:nvPr/>
        </p:nvSpPr>
        <p:spPr bwMode="auto">
          <a:xfrm flipV="1">
            <a:off x="2978150" y="1336675"/>
            <a:ext cx="1870075" cy="115570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6" name="Line 44"/>
          <p:cNvSpPr>
            <a:spLocks noChangeShapeType="1"/>
          </p:cNvSpPr>
          <p:nvPr/>
        </p:nvSpPr>
        <p:spPr bwMode="auto">
          <a:xfrm>
            <a:off x="5683250" y="1147763"/>
            <a:ext cx="1639888" cy="303212"/>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7" name="Line 45"/>
          <p:cNvSpPr>
            <a:spLocks noChangeShapeType="1"/>
          </p:cNvSpPr>
          <p:nvPr/>
        </p:nvSpPr>
        <p:spPr bwMode="auto">
          <a:xfrm flipV="1">
            <a:off x="4676775" y="4883150"/>
            <a:ext cx="635000" cy="585788"/>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8" name="Line 46"/>
          <p:cNvSpPr>
            <a:spLocks noChangeShapeType="1"/>
          </p:cNvSpPr>
          <p:nvPr/>
        </p:nvSpPr>
        <p:spPr bwMode="auto">
          <a:xfrm flipV="1">
            <a:off x="5932488" y="3335338"/>
            <a:ext cx="758825" cy="931862"/>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9" name="Line 47"/>
          <p:cNvSpPr>
            <a:spLocks noChangeShapeType="1"/>
          </p:cNvSpPr>
          <p:nvPr/>
        </p:nvSpPr>
        <p:spPr bwMode="auto">
          <a:xfrm flipV="1">
            <a:off x="7251700" y="1908175"/>
            <a:ext cx="354013" cy="741363"/>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0" name="Line 48"/>
          <p:cNvSpPr>
            <a:spLocks noChangeShapeType="1"/>
          </p:cNvSpPr>
          <p:nvPr/>
        </p:nvSpPr>
        <p:spPr bwMode="auto">
          <a:xfrm flipV="1">
            <a:off x="4167188" y="3041650"/>
            <a:ext cx="965200" cy="455613"/>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1" name="Line 49"/>
          <p:cNvSpPr>
            <a:spLocks noChangeShapeType="1"/>
          </p:cNvSpPr>
          <p:nvPr/>
        </p:nvSpPr>
        <p:spPr bwMode="auto">
          <a:xfrm flipH="1" flipV="1">
            <a:off x="5686425" y="3402013"/>
            <a:ext cx="36513" cy="80010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2" name="Line 50"/>
          <p:cNvSpPr>
            <a:spLocks noChangeShapeType="1"/>
          </p:cNvSpPr>
          <p:nvPr/>
        </p:nvSpPr>
        <p:spPr bwMode="auto">
          <a:xfrm>
            <a:off x="6010275" y="2924175"/>
            <a:ext cx="554038" cy="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3" name="Line 51"/>
          <p:cNvSpPr>
            <a:spLocks noChangeShapeType="1"/>
          </p:cNvSpPr>
          <p:nvPr/>
        </p:nvSpPr>
        <p:spPr bwMode="auto">
          <a:xfrm flipH="1" flipV="1">
            <a:off x="5457825" y="1612900"/>
            <a:ext cx="160338" cy="98425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4" name="Line 52"/>
          <p:cNvSpPr>
            <a:spLocks noChangeShapeType="1"/>
          </p:cNvSpPr>
          <p:nvPr/>
        </p:nvSpPr>
        <p:spPr bwMode="auto">
          <a:xfrm flipV="1">
            <a:off x="3932238" y="1566863"/>
            <a:ext cx="1055687" cy="1852612"/>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5" name="Line 53"/>
          <p:cNvSpPr>
            <a:spLocks noChangeShapeType="1"/>
          </p:cNvSpPr>
          <p:nvPr/>
        </p:nvSpPr>
        <p:spPr bwMode="auto">
          <a:xfrm>
            <a:off x="3148013" y="3014663"/>
            <a:ext cx="401637" cy="388937"/>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6" name="Rectangle 54"/>
          <p:cNvSpPr>
            <a:spLocks noChangeArrowheads="1"/>
          </p:cNvSpPr>
          <p:nvPr/>
        </p:nvSpPr>
        <p:spPr bwMode="auto">
          <a:xfrm>
            <a:off x="1595438" y="6108700"/>
            <a:ext cx="611187"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2.5 hrs</a:t>
            </a:r>
          </a:p>
        </p:txBody>
      </p:sp>
      <p:sp>
        <p:nvSpPr>
          <p:cNvPr id="18487" name="Rectangle 55"/>
          <p:cNvSpPr>
            <a:spLocks noChangeArrowheads="1"/>
          </p:cNvSpPr>
          <p:nvPr/>
        </p:nvSpPr>
        <p:spPr bwMode="auto">
          <a:xfrm>
            <a:off x="1595438" y="6272213"/>
            <a:ext cx="487362"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3 pts</a:t>
            </a:r>
          </a:p>
        </p:txBody>
      </p:sp>
      <p:sp>
        <p:nvSpPr>
          <p:cNvPr id="18488" name="Rectangle 56"/>
          <p:cNvSpPr>
            <a:spLocks noChangeArrowheads="1"/>
          </p:cNvSpPr>
          <p:nvPr/>
        </p:nvSpPr>
        <p:spPr bwMode="auto">
          <a:xfrm>
            <a:off x="1112838" y="4933950"/>
            <a:ext cx="611187"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3.0 hrs</a:t>
            </a:r>
          </a:p>
        </p:txBody>
      </p:sp>
      <p:sp>
        <p:nvSpPr>
          <p:cNvPr id="18489" name="Rectangle 57"/>
          <p:cNvSpPr>
            <a:spLocks noChangeArrowheads="1"/>
          </p:cNvSpPr>
          <p:nvPr/>
        </p:nvSpPr>
        <p:spPr bwMode="auto">
          <a:xfrm>
            <a:off x="1112838" y="5097463"/>
            <a:ext cx="487362"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4 pts</a:t>
            </a:r>
          </a:p>
        </p:txBody>
      </p:sp>
      <p:sp>
        <p:nvSpPr>
          <p:cNvPr id="18490" name="Rectangle 58"/>
          <p:cNvSpPr>
            <a:spLocks noChangeArrowheads="1"/>
          </p:cNvSpPr>
          <p:nvPr/>
        </p:nvSpPr>
        <p:spPr bwMode="auto">
          <a:xfrm>
            <a:off x="2578100" y="4883150"/>
            <a:ext cx="611188"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1.7 hrs</a:t>
            </a:r>
          </a:p>
        </p:txBody>
      </p:sp>
      <p:sp>
        <p:nvSpPr>
          <p:cNvPr id="18491" name="Rectangle 59"/>
          <p:cNvSpPr>
            <a:spLocks noChangeArrowheads="1"/>
          </p:cNvSpPr>
          <p:nvPr/>
        </p:nvSpPr>
        <p:spPr bwMode="auto">
          <a:xfrm>
            <a:off x="2578100" y="5046663"/>
            <a:ext cx="487363"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4 pts</a:t>
            </a:r>
          </a:p>
        </p:txBody>
      </p:sp>
      <p:sp>
        <p:nvSpPr>
          <p:cNvPr id="18492" name="Rectangle 60"/>
          <p:cNvSpPr>
            <a:spLocks noChangeArrowheads="1"/>
          </p:cNvSpPr>
          <p:nvPr/>
        </p:nvSpPr>
        <p:spPr bwMode="auto">
          <a:xfrm>
            <a:off x="3286125" y="5888038"/>
            <a:ext cx="611188"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2.5 hrs</a:t>
            </a:r>
          </a:p>
        </p:txBody>
      </p:sp>
      <p:sp>
        <p:nvSpPr>
          <p:cNvPr id="18493" name="Rectangle 61"/>
          <p:cNvSpPr>
            <a:spLocks noChangeArrowheads="1"/>
          </p:cNvSpPr>
          <p:nvPr/>
        </p:nvSpPr>
        <p:spPr bwMode="auto">
          <a:xfrm>
            <a:off x="3286125" y="6051550"/>
            <a:ext cx="487363"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3 pts</a:t>
            </a:r>
          </a:p>
        </p:txBody>
      </p:sp>
      <p:sp>
        <p:nvSpPr>
          <p:cNvPr id="18494" name="Rectangle 62"/>
          <p:cNvSpPr>
            <a:spLocks noChangeArrowheads="1"/>
          </p:cNvSpPr>
          <p:nvPr/>
        </p:nvSpPr>
        <p:spPr bwMode="auto">
          <a:xfrm>
            <a:off x="1876425" y="3276600"/>
            <a:ext cx="611188"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1.7 hrs</a:t>
            </a:r>
          </a:p>
        </p:txBody>
      </p:sp>
      <p:sp>
        <p:nvSpPr>
          <p:cNvPr id="18495" name="Rectangle 63"/>
          <p:cNvSpPr>
            <a:spLocks noChangeArrowheads="1"/>
          </p:cNvSpPr>
          <p:nvPr/>
        </p:nvSpPr>
        <p:spPr bwMode="auto">
          <a:xfrm>
            <a:off x="1876425" y="3441700"/>
            <a:ext cx="487363"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5 pts</a:t>
            </a:r>
          </a:p>
        </p:txBody>
      </p:sp>
      <p:sp>
        <p:nvSpPr>
          <p:cNvPr id="18496" name="Rectangle 64"/>
          <p:cNvSpPr>
            <a:spLocks noChangeArrowheads="1"/>
          </p:cNvSpPr>
          <p:nvPr/>
        </p:nvSpPr>
        <p:spPr bwMode="auto">
          <a:xfrm>
            <a:off x="2922588" y="4073525"/>
            <a:ext cx="611187"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2.8 hrs</a:t>
            </a:r>
          </a:p>
        </p:txBody>
      </p:sp>
      <p:sp>
        <p:nvSpPr>
          <p:cNvPr id="18497" name="Rectangle 65"/>
          <p:cNvSpPr>
            <a:spLocks noChangeArrowheads="1"/>
          </p:cNvSpPr>
          <p:nvPr/>
        </p:nvSpPr>
        <p:spPr bwMode="auto">
          <a:xfrm>
            <a:off x="2922588" y="4237038"/>
            <a:ext cx="487362"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7 pts</a:t>
            </a:r>
          </a:p>
        </p:txBody>
      </p:sp>
      <p:sp>
        <p:nvSpPr>
          <p:cNvPr id="18498" name="Rectangle 66"/>
          <p:cNvSpPr>
            <a:spLocks noChangeArrowheads="1"/>
          </p:cNvSpPr>
          <p:nvPr/>
        </p:nvSpPr>
        <p:spPr bwMode="auto">
          <a:xfrm>
            <a:off x="4154488" y="4373563"/>
            <a:ext cx="611187"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2.0 hrs</a:t>
            </a:r>
          </a:p>
        </p:txBody>
      </p:sp>
      <p:sp>
        <p:nvSpPr>
          <p:cNvPr id="18499" name="Rectangle 67"/>
          <p:cNvSpPr>
            <a:spLocks noChangeArrowheads="1"/>
          </p:cNvSpPr>
          <p:nvPr/>
        </p:nvSpPr>
        <p:spPr bwMode="auto">
          <a:xfrm>
            <a:off x="4154488" y="4538663"/>
            <a:ext cx="487362"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8 pts</a:t>
            </a:r>
          </a:p>
        </p:txBody>
      </p:sp>
      <p:sp>
        <p:nvSpPr>
          <p:cNvPr id="18500" name="Rectangle 68"/>
          <p:cNvSpPr>
            <a:spLocks noChangeArrowheads="1"/>
          </p:cNvSpPr>
          <p:nvPr/>
        </p:nvSpPr>
        <p:spPr bwMode="auto">
          <a:xfrm>
            <a:off x="4887913" y="5222875"/>
            <a:ext cx="611187"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1.5 hrs</a:t>
            </a:r>
          </a:p>
        </p:txBody>
      </p:sp>
      <p:sp>
        <p:nvSpPr>
          <p:cNvPr id="18501" name="Rectangle 69"/>
          <p:cNvSpPr>
            <a:spLocks noChangeArrowheads="1"/>
          </p:cNvSpPr>
          <p:nvPr/>
        </p:nvSpPr>
        <p:spPr bwMode="auto">
          <a:xfrm>
            <a:off x="4887913" y="5386388"/>
            <a:ext cx="487362"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2 pts</a:t>
            </a:r>
          </a:p>
        </p:txBody>
      </p:sp>
      <p:sp>
        <p:nvSpPr>
          <p:cNvPr id="18502" name="Rectangle 70"/>
          <p:cNvSpPr>
            <a:spLocks noChangeArrowheads="1"/>
          </p:cNvSpPr>
          <p:nvPr/>
        </p:nvSpPr>
        <p:spPr bwMode="auto">
          <a:xfrm>
            <a:off x="3235325" y="2795588"/>
            <a:ext cx="609600"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2.0</a:t>
            </a:r>
            <a:r>
              <a:rPr lang="en-US" sz="1100">
                <a:solidFill>
                  <a:srgbClr val="3399FF"/>
                </a:solidFill>
              </a:rPr>
              <a:t> </a:t>
            </a:r>
            <a:r>
              <a:rPr lang="en-US" sz="1100">
                <a:solidFill>
                  <a:srgbClr val="00CC00"/>
                </a:solidFill>
              </a:rPr>
              <a:t>hrs</a:t>
            </a:r>
          </a:p>
        </p:txBody>
      </p:sp>
      <p:sp>
        <p:nvSpPr>
          <p:cNvPr id="18503" name="Rectangle 71"/>
          <p:cNvSpPr>
            <a:spLocks noChangeArrowheads="1"/>
          </p:cNvSpPr>
          <p:nvPr/>
        </p:nvSpPr>
        <p:spPr bwMode="auto">
          <a:xfrm>
            <a:off x="3235325" y="2959100"/>
            <a:ext cx="487363"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9 pts</a:t>
            </a:r>
          </a:p>
        </p:txBody>
      </p:sp>
      <p:sp>
        <p:nvSpPr>
          <p:cNvPr id="18504" name="Rectangle 72"/>
          <p:cNvSpPr>
            <a:spLocks noChangeArrowheads="1"/>
          </p:cNvSpPr>
          <p:nvPr/>
        </p:nvSpPr>
        <p:spPr bwMode="auto">
          <a:xfrm>
            <a:off x="3211513" y="1581150"/>
            <a:ext cx="611187"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5.0 hrs</a:t>
            </a:r>
          </a:p>
        </p:txBody>
      </p:sp>
      <p:sp>
        <p:nvSpPr>
          <p:cNvPr id="18505" name="Rectangle 73"/>
          <p:cNvSpPr>
            <a:spLocks noChangeArrowheads="1"/>
          </p:cNvSpPr>
          <p:nvPr/>
        </p:nvSpPr>
        <p:spPr bwMode="auto">
          <a:xfrm>
            <a:off x="3211513" y="1746250"/>
            <a:ext cx="487362"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9 pts</a:t>
            </a:r>
          </a:p>
        </p:txBody>
      </p:sp>
      <p:sp>
        <p:nvSpPr>
          <p:cNvPr id="18506" name="Rectangle 74"/>
          <p:cNvSpPr>
            <a:spLocks noChangeArrowheads="1"/>
          </p:cNvSpPr>
          <p:nvPr/>
        </p:nvSpPr>
        <p:spPr bwMode="auto">
          <a:xfrm>
            <a:off x="4354513" y="2860675"/>
            <a:ext cx="611187"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3.0 hrs</a:t>
            </a:r>
          </a:p>
        </p:txBody>
      </p:sp>
      <p:sp>
        <p:nvSpPr>
          <p:cNvPr id="18507" name="Rectangle 75"/>
          <p:cNvSpPr>
            <a:spLocks noChangeArrowheads="1"/>
          </p:cNvSpPr>
          <p:nvPr/>
        </p:nvSpPr>
        <p:spPr bwMode="auto">
          <a:xfrm>
            <a:off x="4354513" y="3025775"/>
            <a:ext cx="487362"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4 pts</a:t>
            </a:r>
          </a:p>
        </p:txBody>
      </p:sp>
      <p:sp>
        <p:nvSpPr>
          <p:cNvPr id="18508" name="Rectangle 76"/>
          <p:cNvSpPr>
            <a:spLocks noChangeArrowheads="1"/>
          </p:cNvSpPr>
          <p:nvPr/>
        </p:nvSpPr>
        <p:spPr bwMode="auto">
          <a:xfrm>
            <a:off x="3884613" y="2117725"/>
            <a:ext cx="611187"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4.7 hrs</a:t>
            </a:r>
          </a:p>
        </p:txBody>
      </p:sp>
      <p:sp>
        <p:nvSpPr>
          <p:cNvPr id="18509" name="Rectangle 77"/>
          <p:cNvSpPr>
            <a:spLocks noChangeArrowheads="1"/>
          </p:cNvSpPr>
          <p:nvPr/>
        </p:nvSpPr>
        <p:spPr bwMode="auto">
          <a:xfrm>
            <a:off x="3884613" y="2281238"/>
            <a:ext cx="487362"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9 pts</a:t>
            </a:r>
          </a:p>
        </p:txBody>
      </p:sp>
      <p:sp>
        <p:nvSpPr>
          <p:cNvPr id="18510" name="Rectangle 78"/>
          <p:cNvSpPr>
            <a:spLocks noChangeArrowheads="1"/>
          </p:cNvSpPr>
          <p:nvPr/>
        </p:nvSpPr>
        <p:spPr bwMode="auto">
          <a:xfrm>
            <a:off x="5130800" y="3619500"/>
            <a:ext cx="611188"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1.5 hrs</a:t>
            </a:r>
          </a:p>
        </p:txBody>
      </p:sp>
      <p:sp>
        <p:nvSpPr>
          <p:cNvPr id="18511" name="Rectangle 79"/>
          <p:cNvSpPr>
            <a:spLocks noChangeArrowheads="1"/>
          </p:cNvSpPr>
          <p:nvPr/>
        </p:nvSpPr>
        <p:spPr bwMode="auto">
          <a:xfrm>
            <a:off x="5130800" y="3783013"/>
            <a:ext cx="487363"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3 pts</a:t>
            </a:r>
          </a:p>
        </p:txBody>
      </p:sp>
      <p:sp>
        <p:nvSpPr>
          <p:cNvPr id="18512" name="Rectangle 80"/>
          <p:cNvSpPr>
            <a:spLocks noChangeArrowheads="1"/>
          </p:cNvSpPr>
          <p:nvPr/>
        </p:nvSpPr>
        <p:spPr bwMode="auto">
          <a:xfrm>
            <a:off x="6245225" y="3762375"/>
            <a:ext cx="611188"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2.3 hrs</a:t>
            </a:r>
          </a:p>
        </p:txBody>
      </p:sp>
      <p:sp>
        <p:nvSpPr>
          <p:cNvPr id="18513" name="Rectangle 81"/>
          <p:cNvSpPr>
            <a:spLocks noChangeArrowheads="1"/>
          </p:cNvSpPr>
          <p:nvPr/>
        </p:nvSpPr>
        <p:spPr bwMode="auto">
          <a:xfrm>
            <a:off x="6245225" y="3927475"/>
            <a:ext cx="487363"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3 pts</a:t>
            </a:r>
          </a:p>
        </p:txBody>
      </p:sp>
      <p:sp>
        <p:nvSpPr>
          <p:cNvPr id="18514" name="Rectangle 82"/>
          <p:cNvSpPr>
            <a:spLocks noChangeArrowheads="1"/>
          </p:cNvSpPr>
          <p:nvPr/>
        </p:nvSpPr>
        <p:spPr bwMode="auto">
          <a:xfrm>
            <a:off x="6054725" y="2432050"/>
            <a:ext cx="611188"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1.1 hrs</a:t>
            </a:r>
          </a:p>
        </p:txBody>
      </p:sp>
      <p:sp>
        <p:nvSpPr>
          <p:cNvPr id="18515" name="Rectangle 83"/>
          <p:cNvSpPr>
            <a:spLocks noChangeArrowheads="1"/>
          </p:cNvSpPr>
          <p:nvPr/>
        </p:nvSpPr>
        <p:spPr bwMode="auto">
          <a:xfrm>
            <a:off x="6054725" y="2595563"/>
            <a:ext cx="487363"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3 pts</a:t>
            </a:r>
          </a:p>
        </p:txBody>
      </p:sp>
      <p:sp>
        <p:nvSpPr>
          <p:cNvPr id="18516" name="Rectangle 84"/>
          <p:cNvSpPr>
            <a:spLocks noChangeArrowheads="1"/>
          </p:cNvSpPr>
          <p:nvPr/>
        </p:nvSpPr>
        <p:spPr bwMode="auto">
          <a:xfrm>
            <a:off x="5565775" y="1766888"/>
            <a:ext cx="611188"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2.0 hrs</a:t>
            </a:r>
          </a:p>
        </p:txBody>
      </p:sp>
      <p:sp>
        <p:nvSpPr>
          <p:cNvPr id="18517" name="Rectangle 85"/>
          <p:cNvSpPr>
            <a:spLocks noChangeArrowheads="1"/>
          </p:cNvSpPr>
          <p:nvPr/>
        </p:nvSpPr>
        <p:spPr bwMode="auto">
          <a:xfrm>
            <a:off x="5565775" y="1930400"/>
            <a:ext cx="487363"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4 pts</a:t>
            </a:r>
          </a:p>
        </p:txBody>
      </p:sp>
      <p:sp>
        <p:nvSpPr>
          <p:cNvPr id="18518" name="Rectangle 86"/>
          <p:cNvSpPr>
            <a:spLocks noChangeArrowheads="1"/>
          </p:cNvSpPr>
          <p:nvPr/>
        </p:nvSpPr>
        <p:spPr bwMode="auto">
          <a:xfrm>
            <a:off x="7466013" y="2171700"/>
            <a:ext cx="611187"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2.7 hrs</a:t>
            </a:r>
          </a:p>
        </p:txBody>
      </p:sp>
      <p:sp>
        <p:nvSpPr>
          <p:cNvPr id="18519" name="Rectangle 87"/>
          <p:cNvSpPr>
            <a:spLocks noChangeArrowheads="1"/>
          </p:cNvSpPr>
          <p:nvPr/>
        </p:nvSpPr>
        <p:spPr bwMode="auto">
          <a:xfrm>
            <a:off x="7466013" y="2335213"/>
            <a:ext cx="487362"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4 pts</a:t>
            </a:r>
          </a:p>
        </p:txBody>
      </p:sp>
      <p:sp>
        <p:nvSpPr>
          <p:cNvPr id="18520" name="Rectangle 88"/>
          <p:cNvSpPr>
            <a:spLocks noChangeArrowheads="1"/>
          </p:cNvSpPr>
          <p:nvPr/>
        </p:nvSpPr>
        <p:spPr bwMode="auto">
          <a:xfrm>
            <a:off x="6438900" y="827088"/>
            <a:ext cx="611188"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3.3 hrs</a:t>
            </a:r>
          </a:p>
        </p:txBody>
      </p:sp>
      <p:sp>
        <p:nvSpPr>
          <p:cNvPr id="18521" name="Rectangle 89"/>
          <p:cNvSpPr>
            <a:spLocks noChangeArrowheads="1"/>
          </p:cNvSpPr>
          <p:nvPr/>
        </p:nvSpPr>
        <p:spPr bwMode="auto">
          <a:xfrm>
            <a:off x="6438900" y="990600"/>
            <a:ext cx="487363" cy="26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100">
                <a:solidFill>
                  <a:srgbClr val="00CC00"/>
                </a:solidFill>
              </a:rPr>
              <a:t>5 pts</a:t>
            </a:r>
          </a:p>
        </p:txBody>
      </p:sp>
      <p:sp>
        <p:nvSpPr>
          <p:cNvPr id="18522" name="Rectangle 90"/>
          <p:cNvSpPr>
            <a:spLocks noChangeArrowheads="1"/>
          </p:cNvSpPr>
          <p:nvPr/>
        </p:nvSpPr>
        <p:spPr bwMode="auto">
          <a:xfrm>
            <a:off x="457200" y="6415088"/>
            <a:ext cx="387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t>-1</a:t>
            </a:r>
          </a:p>
        </p:txBody>
      </p:sp>
      <p:sp>
        <p:nvSpPr>
          <p:cNvPr id="18523" name="Rectangle 91"/>
          <p:cNvSpPr>
            <a:spLocks noChangeArrowheads="1"/>
          </p:cNvSpPr>
          <p:nvPr/>
        </p:nvSpPr>
        <p:spPr bwMode="auto">
          <a:xfrm>
            <a:off x="8026400" y="866775"/>
            <a:ext cx="4445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t>+1</a:t>
            </a:r>
          </a:p>
        </p:txBody>
      </p:sp>
      <p:sp>
        <p:nvSpPr>
          <p:cNvPr id="18524" name="Rectangle 92"/>
          <p:cNvSpPr>
            <a:spLocks noChangeArrowheads="1"/>
          </p:cNvSpPr>
          <p:nvPr/>
        </p:nvSpPr>
        <p:spPr bwMode="auto">
          <a:xfrm>
            <a:off x="7386638" y="3060700"/>
            <a:ext cx="4445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t>+0</a:t>
            </a:r>
          </a:p>
        </p:txBody>
      </p:sp>
      <p:sp>
        <p:nvSpPr>
          <p:cNvPr id="18525" name="Rectangle 93"/>
          <p:cNvSpPr>
            <a:spLocks noChangeArrowheads="1"/>
          </p:cNvSpPr>
          <p:nvPr/>
        </p:nvSpPr>
        <p:spPr bwMode="auto">
          <a:xfrm>
            <a:off x="6015038" y="4718050"/>
            <a:ext cx="4445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t>+0</a:t>
            </a:r>
          </a:p>
        </p:txBody>
      </p:sp>
      <p:sp>
        <p:nvSpPr>
          <p:cNvPr id="18526" name="Rectangle 94"/>
          <p:cNvSpPr>
            <a:spLocks noChangeArrowheads="1"/>
          </p:cNvSpPr>
          <p:nvPr/>
        </p:nvSpPr>
        <p:spPr bwMode="auto">
          <a:xfrm>
            <a:off x="5035550" y="2317750"/>
            <a:ext cx="4445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t>+0</a:t>
            </a:r>
          </a:p>
        </p:txBody>
      </p:sp>
      <p:sp>
        <p:nvSpPr>
          <p:cNvPr id="18527" name="Rectangle 95"/>
          <p:cNvSpPr>
            <a:spLocks noChangeArrowheads="1"/>
          </p:cNvSpPr>
          <p:nvPr/>
        </p:nvSpPr>
        <p:spPr bwMode="auto">
          <a:xfrm>
            <a:off x="5584825" y="711200"/>
            <a:ext cx="4445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t>+0</a:t>
            </a:r>
          </a:p>
        </p:txBody>
      </p:sp>
      <p:sp>
        <p:nvSpPr>
          <p:cNvPr id="18528" name="Rectangle 96"/>
          <p:cNvSpPr>
            <a:spLocks noChangeArrowheads="1"/>
          </p:cNvSpPr>
          <p:nvPr/>
        </p:nvSpPr>
        <p:spPr bwMode="auto">
          <a:xfrm>
            <a:off x="2173288" y="2185988"/>
            <a:ext cx="4445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t>+0</a:t>
            </a:r>
          </a:p>
        </p:txBody>
      </p:sp>
      <p:sp>
        <p:nvSpPr>
          <p:cNvPr id="18529" name="Rectangle 97"/>
          <p:cNvSpPr>
            <a:spLocks noChangeArrowheads="1"/>
          </p:cNvSpPr>
          <p:nvPr/>
        </p:nvSpPr>
        <p:spPr bwMode="auto">
          <a:xfrm>
            <a:off x="4251325" y="3687763"/>
            <a:ext cx="4445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t>+0</a:t>
            </a:r>
          </a:p>
        </p:txBody>
      </p:sp>
      <p:sp>
        <p:nvSpPr>
          <p:cNvPr id="18530" name="Rectangle 98"/>
          <p:cNvSpPr>
            <a:spLocks noChangeArrowheads="1"/>
          </p:cNvSpPr>
          <p:nvPr/>
        </p:nvSpPr>
        <p:spPr bwMode="auto">
          <a:xfrm>
            <a:off x="4565650" y="5751513"/>
            <a:ext cx="4445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t>+0</a:t>
            </a:r>
          </a:p>
        </p:txBody>
      </p:sp>
      <p:sp>
        <p:nvSpPr>
          <p:cNvPr id="18531" name="Rectangle 99"/>
          <p:cNvSpPr>
            <a:spLocks noChangeArrowheads="1"/>
          </p:cNvSpPr>
          <p:nvPr/>
        </p:nvSpPr>
        <p:spPr bwMode="auto">
          <a:xfrm>
            <a:off x="1506538" y="3897313"/>
            <a:ext cx="4445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t>+0</a:t>
            </a:r>
          </a:p>
        </p:txBody>
      </p:sp>
      <p:sp>
        <p:nvSpPr>
          <p:cNvPr id="18532" name="Rectangle 100"/>
          <p:cNvSpPr>
            <a:spLocks noChangeArrowheads="1"/>
          </p:cNvSpPr>
          <p:nvPr/>
        </p:nvSpPr>
        <p:spPr bwMode="auto">
          <a:xfrm>
            <a:off x="2892425" y="6221413"/>
            <a:ext cx="4445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t>+0</a:t>
            </a:r>
          </a:p>
        </p:txBody>
      </p:sp>
      <p:sp>
        <p:nvSpPr>
          <p:cNvPr id="2" name="Footer Placeholder 1"/>
          <p:cNvSpPr>
            <a:spLocks noGrp="1"/>
          </p:cNvSpPr>
          <p:nvPr>
            <p:ph type="ftr" sz="quarter" idx="11"/>
          </p:nvPr>
        </p:nvSpPr>
        <p:spPr>
          <a:xfrm>
            <a:off x="3111500" y="6350000"/>
            <a:ext cx="2895600" cy="476250"/>
          </a:xfrm>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a:ln/>
        </p:spPr>
        <p:txBody>
          <a:bodyPr lIns="92075" tIns="46038" rIns="92075" bIns="46038"/>
          <a:lstStyle/>
          <a:p>
            <a:r>
              <a:rPr lang="en-US" sz="4000" i="1">
                <a:solidFill>
                  <a:schemeClr val="hlink"/>
                </a:solidFill>
              </a:rPr>
              <a:t>Solving the Problem</a:t>
            </a:r>
          </a:p>
        </p:txBody>
      </p:sp>
      <p:sp>
        <p:nvSpPr>
          <p:cNvPr id="19459" name="Rectangle 3"/>
          <p:cNvSpPr>
            <a:spLocks noGrp="1" noChangeArrowheads="1"/>
          </p:cNvSpPr>
          <p:nvPr>
            <p:ph type="body" idx="1"/>
          </p:nvPr>
        </p:nvSpPr>
        <p:spPr>
          <a:noFill/>
          <a:ln/>
        </p:spPr>
        <p:txBody>
          <a:bodyPr lIns="92075" tIns="46038" rIns="92075" bIns="46038"/>
          <a:lstStyle/>
          <a:p>
            <a:r>
              <a:rPr lang="en-US" dirty="0"/>
              <a:t>There are two possible objectives for this problem</a:t>
            </a:r>
          </a:p>
          <a:p>
            <a:pPr lvl="1"/>
            <a:r>
              <a:rPr lang="en-US" dirty="0"/>
              <a:t>Finding the quickest route (minimizing travel time)</a:t>
            </a:r>
          </a:p>
          <a:p>
            <a:pPr lvl="1"/>
            <a:r>
              <a:rPr lang="en-US" dirty="0"/>
              <a:t>Finding the most scenic route (maximizing the scenic rating points)</a:t>
            </a:r>
          </a:p>
          <a:p>
            <a:pPr algn="ctr">
              <a:buFont typeface="Wingdings" pitchFamily="2" charset="2"/>
              <a:buNone/>
            </a:pPr>
            <a:r>
              <a:rPr lang="en-US" dirty="0"/>
              <a:t>See file </a:t>
            </a:r>
            <a:r>
              <a:rPr lang="en-US" dirty="0">
                <a:hlinkClick r:id="rId3" action="ppaction://hlinkfile"/>
              </a:rPr>
              <a:t>Fig5-7.xlsm</a:t>
            </a:r>
            <a:r>
              <a:rPr lang="en-US" dirty="0"/>
              <a:t> </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945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945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9459">
                                            <p:txEl>
                                              <p:pRg st="2" end="2"/>
                                            </p:txEl>
                                          </p:spTgt>
                                        </p:tgtEl>
                                        <p:attrNameLst>
                                          <p:attrName>style.visibility</p:attrName>
                                        </p:attrNameLst>
                                      </p:cBhvr>
                                      <p:to>
                                        <p:strVal val="visible"/>
                                      </p:to>
                                    </p:set>
                                  </p:childTnLst>
                                </p:cTn>
                              </p:par>
                            </p:childTnLst>
                          </p:cTn>
                        </p:par>
                        <p:par>
                          <p:cTn id="11" fill="hold" nodeType="afterGroup">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19459">
                                            <p:txEl>
                                              <p:pRg st="3" end="3"/>
                                            </p:txEl>
                                          </p:spTgt>
                                        </p:tgtEl>
                                        <p:attrNameLst>
                                          <p:attrName>style.visibility</p:attrName>
                                        </p:attrNameLst>
                                      </p:cBhvr>
                                      <p:to>
                                        <p:strVal val="visible"/>
                                      </p:to>
                                    </p:set>
                                    <p:animEffect transition="in" filter="wipe(down)">
                                      <p:cBhvr>
                                        <p:cTn id="14" dur="500"/>
                                        <p:tgtEl>
                                          <p:spTgt spid="194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uiExpand="1" build="p" bldLvl="2"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152400"/>
            <a:ext cx="7772400" cy="914400"/>
          </a:xfrm>
          <a:noFill/>
          <a:ln/>
        </p:spPr>
        <p:txBody>
          <a:bodyPr lIns="92075" tIns="46038" rIns="92075" bIns="46038"/>
          <a:lstStyle/>
          <a:p>
            <a:r>
              <a:rPr lang="en-US" sz="3600" i="1">
                <a:solidFill>
                  <a:schemeClr val="hlink"/>
                </a:solidFill>
              </a:rPr>
              <a:t>Transportation </a:t>
            </a:r>
            <a:br>
              <a:rPr lang="en-US" sz="3600" i="1">
                <a:solidFill>
                  <a:schemeClr val="hlink"/>
                </a:solidFill>
              </a:rPr>
            </a:br>
            <a:r>
              <a:rPr lang="en-US" sz="3600" i="1">
                <a:solidFill>
                  <a:schemeClr val="hlink"/>
                </a:solidFill>
              </a:rPr>
              <a:t>&amp; Assignment Problems</a:t>
            </a:r>
          </a:p>
        </p:txBody>
      </p:sp>
      <p:sp>
        <p:nvSpPr>
          <p:cNvPr id="24579" name="Rectangle 3"/>
          <p:cNvSpPr>
            <a:spLocks noGrp="1" noChangeArrowheads="1"/>
          </p:cNvSpPr>
          <p:nvPr>
            <p:ph type="body" idx="1"/>
          </p:nvPr>
        </p:nvSpPr>
        <p:spPr>
          <a:xfrm>
            <a:off x="652463" y="1219200"/>
            <a:ext cx="7772400" cy="865188"/>
          </a:xfrm>
          <a:noFill/>
          <a:ln/>
        </p:spPr>
        <p:txBody>
          <a:bodyPr lIns="92075" tIns="46038" rIns="92075" bIns="46038"/>
          <a:lstStyle/>
          <a:p>
            <a:r>
              <a:rPr lang="en-US" sz="2400"/>
              <a:t>Some network flow problems don’t have trans-shipment nodes; only supply and demand nodes.</a:t>
            </a:r>
          </a:p>
        </p:txBody>
      </p:sp>
      <p:grpSp>
        <p:nvGrpSpPr>
          <p:cNvPr id="24630" name="Group 54"/>
          <p:cNvGrpSpPr>
            <a:grpSpLocks/>
          </p:cNvGrpSpPr>
          <p:nvPr/>
        </p:nvGrpSpPr>
        <p:grpSpPr bwMode="auto">
          <a:xfrm>
            <a:off x="876300" y="2057400"/>
            <a:ext cx="7288213" cy="4259262"/>
            <a:chOff x="552" y="1012"/>
            <a:chExt cx="4591" cy="2683"/>
          </a:xfrm>
        </p:grpSpPr>
        <p:grpSp>
          <p:nvGrpSpPr>
            <p:cNvPr id="24628" name="Group 52"/>
            <p:cNvGrpSpPr>
              <a:grpSpLocks/>
            </p:cNvGrpSpPr>
            <p:nvPr/>
          </p:nvGrpSpPr>
          <p:grpSpPr bwMode="auto">
            <a:xfrm>
              <a:off x="694" y="1016"/>
              <a:ext cx="4327" cy="2580"/>
              <a:chOff x="694" y="1016"/>
              <a:chExt cx="4327" cy="2580"/>
            </a:xfrm>
          </p:grpSpPr>
          <p:sp>
            <p:nvSpPr>
              <p:cNvPr id="24580" name="Freeform 4"/>
              <p:cNvSpPr>
                <a:spLocks/>
              </p:cNvSpPr>
              <p:nvPr/>
            </p:nvSpPr>
            <p:spPr bwMode="auto">
              <a:xfrm>
                <a:off x="1394" y="1397"/>
                <a:ext cx="574" cy="498"/>
              </a:xfrm>
              <a:custGeom>
                <a:avLst/>
                <a:gdLst>
                  <a:gd name="T0" fmla="*/ 573 w 574"/>
                  <a:gd name="T1" fmla="*/ 248 h 498"/>
                  <a:gd name="T2" fmla="*/ 567 w 574"/>
                  <a:gd name="T3" fmla="*/ 198 h 498"/>
                  <a:gd name="T4" fmla="*/ 550 w 574"/>
                  <a:gd name="T5" fmla="*/ 151 h 498"/>
                  <a:gd name="T6" fmla="*/ 524 w 574"/>
                  <a:gd name="T7" fmla="*/ 109 h 498"/>
                  <a:gd name="T8" fmla="*/ 489 w 574"/>
                  <a:gd name="T9" fmla="*/ 72 h 498"/>
                  <a:gd name="T10" fmla="*/ 447 w 574"/>
                  <a:gd name="T11" fmla="*/ 42 h 498"/>
                  <a:gd name="T12" fmla="*/ 397 w 574"/>
                  <a:gd name="T13" fmla="*/ 19 h 498"/>
                  <a:gd name="T14" fmla="*/ 344 w 574"/>
                  <a:gd name="T15" fmla="*/ 4 h 498"/>
                  <a:gd name="T16" fmla="*/ 286 w 574"/>
                  <a:gd name="T17" fmla="*/ 0 h 498"/>
                  <a:gd name="T18" fmla="*/ 228 w 574"/>
                  <a:gd name="T19" fmla="*/ 4 h 498"/>
                  <a:gd name="T20" fmla="*/ 175 w 574"/>
                  <a:gd name="T21" fmla="*/ 19 h 498"/>
                  <a:gd name="T22" fmla="*/ 126 w 574"/>
                  <a:gd name="T23" fmla="*/ 42 h 498"/>
                  <a:gd name="T24" fmla="*/ 83 w 574"/>
                  <a:gd name="T25" fmla="*/ 72 h 498"/>
                  <a:gd name="T26" fmla="*/ 49 w 574"/>
                  <a:gd name="T27" fmla="*/ 109 h 498"/>
                  <a:gd name="T28" fmla="*/ 22 w 574"/>
                  <a:gd name="T29" fmla="*/ 151 h 498"/>
                  <a:gd name="T30" fmla="*/ 5 w 574"/>
                  <a:gd name="T31" fmla="*/ 198 h 498"/>
                  <a:gd name="T32" fmla="*/ 0 w 574"/>
                  <a:gd name="T33" fmla="*/ 248 h 498"/>
                  <a:gd name="T34" fmla="*/ 5 w 574"/>
                  <a:gd name="T35" fmla="*/ 298 h 498"/>
                  <a:gd name="T36" fmla="*/ 22 w 574"/>
                  <a:gd name="T37" fmla="*/ 345 h 498"/>
                  <a:gd name="T38" fmla="*/ 49 w 574"/>
                  <a:gd name="T39" fmla="*/ 387 h 498"/>
                  <a:gd name="T40" fmla="*/ 83 w 574"/>
                  <a:gd name="T41" fmla="*/ 424 h 498"/>
                  <a:gd name="T42" fmla="*/ 126 w 574"/>
                  <a:gd name="T43" fmla="*/ 454 h 498"/>
                  <a:gd name="T44" fmla="*/ 175 w 574"/>
                  <a:gd name="T45" fmla="*/ 477 h 498"/>
                  <a:gd name="T46" fmla="*/ 228 w 574"/>
                  <a:gd name="T47" fmla="*/ 492 h 498"/>
                  <a:gd name="T48" fmla="*/ 286 w 574"/>
                  <a:gd name="T49" fmla="*/ 497 h 498"/>
                  <a:gd name="T50" fmla="*/ 344 w 574"/>
                  <a:gd name="T51" fmla="*/ 492 h 498"/>
                  <a:gd name="T52" fmla="*/ 397 w 574"/>
                  <a:gd name="T53" fmla="*/ 477 h 498"/>
                  <a:gd name="T54" fmla="*/ 447 w 574"/>
                  <a:gd name="T55" fmla="*/ 454 h 498"/>
                  <a:gd name="T56" fmla="*/ 489 w 574"/>
                  <a:gd name="T57" fmla="*/ 424 h 498"/>
                  <a:gd name="T58" fmla="*/ 524 w 574"/>
                  <a:gd name="T59" fmla="*/ 387 h 498"/>
                  <a:gd name="T60" fmla="*/ 550 w 574"/>
                  <a:gd name="T61" fmla="*/ 345 h 498"/>
                  <a:gd name="T62" fmla="*/ 567 w 574"/>
                  <a:gd name="T63" fmla="*/ 298 h 498"/>
                  <a:gd name="T64" fmla="*/ 573 w 574"/>
                  <a:gd name="T65" fmla="*/ 248 h 498"/>
                  <a:gd name="T66" fmla="*/ 573 w 574"/>
                  <a:gd name="T67" fmla="*/ 24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4" h="498">
                    <a:moveTo>
                      <a:pt x="573" y="248"/>
                    </a:moveTo>
                    <a:lnTo>
                      <a:pt x="567" y="198"/>
                    </a:lnTo>
                    <a:lnTo>
                      <a:pt x="550" y="151"/>
                    </a:lnTo>
                    <a:lnTo>
                      <a:pt x="524" y="109"/>
                    </a:lnTo>
                    <a:lnTo>
                      <a:pt x="489" y="72"/>
                    </a:lnTo>
                    <a:lnTo>
                      <a:pt x="447" y="42"/>
                    </a:lnTo>
                    <a:lnTo>
                      <a:pt x="397" y="19"/>
                    </a:lnTo>
                    <a:lnTo>
                      <a:pt x="344" y="4"/>
                    </a:lnTo>
                    <a:lnTo>
                      <a:pt x="286" y="0"/>
                    </a:lnTo>
                    <a:lnTo>
                      <a:pt x="228" y="4"/>
                    </a:lnTo>
                    <a:lnTo>
                      <a:pt x="175" y="19"/>
                    </a:lnTo>
                    <a:lnTo>
                      <a:pt x="126" y="42"/>
                    </a:lnTo>
                    <a:lnTo>
                      <a:pt x="83" y="72"/>
                    </a:lnTo>
                    <a:lnTo>
                      <a:pt x="49" y="109"/>
                    </a:lnTo>
                    <a:lnTo>
                      <a:pt x="22" y="151"/>
                    </a:lnTo>
                    <a:lnTo>
                      <a:pt x="5" y="198"/>
                    </a:lnTo>
                    <a:lnTo>
                      <a:pt x="0" y="248"/>
                    </a:lnTo>
                    <a:lnTo>
                      <a:pt x="5" y="298"/>
                    </a:lnTo>
                    <a:lnTo>
                      <a:pt x="22" y="345"/>
                    </a:lnTo>
                    <a:lnTo>
                      <a:pt x="49" y="387"/>
                    </a:lnTo>
                    <a:lnTo>
                      <a:pt x="83" y="424"/>
                    </a:lnTo>
                    <a:lnTo>
                      <a:pt x="126" y="454"/>
                    </a:lnTo>
                    <a:lnTo>
                      <a:pt x="175" y="477"/>
                    </a:lnTo>
                    <a:lnTo>
                      <a:pt x="228" y="492"/>
                    </a:lnTo>
                    <a:lnTo>
                      <a:pt x="286" y="497"/>
                    </a:lnTo>
                    <a:lnTo>
                      <a:pt x="344" y="492"/>
                    </a:lnTo>
                    <a:lnTo>
                      <a:pt x="397" y="477"/>
                    </a:lnTo>
                    <a:lnTo>
                      <a:pt x="447" y="454"/>
                    </a:lnTo>
                    <a:lnTo>
                      <a:pt x="489" y="424"/>
                    </a:lnTo>
                    <a:lnTo>
                      <a:pt x="524" y="387"/>
                    </a:lnTo>
                    <a:lnTo>
                      <a:pt x="550" y="345"/>
                    </a:lnTo>
                    <a:lnTo>
                      <a:pt x="567" y="298"/>
                    </a:lnTo>
                    <a:lnTo>
                      <a:pt x="573" y="248"/>
                    </a:lnTo>
                    <a:lnTo>
                      <a:pt x="573" y="248"/>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1" name="Rectangle 5"/>
              <p:cNvSpPr>
                <a:spLocks noChangeArrowheads="1"/>
              </p:cNvSpPr>
              <p:nvPr/>
            </p:nvSpPr>
            <p:spPr bwMode="auto">
              <a:xfrm>
                <a:off x="1412" y="1480"/>
                <a:ext cx="56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t>Mt. Dora</a:t>
                </a:r>
              </a:p>
            </p:txBody>
          </p:sp>
          <p:sp>
            <p:nvSpPr>
              <p:cNvPr id="24582" name="Rectangle 6"/>
              <p:cNvSpPr>
                <a:spLocks noChangeArrowheads="1"/>
              </p:cNvSpPr>
              <p:nvPr/>
            </p:nvSpPr>
            <p:spPr bwMode="auto">
              <a:xfrm>
                <a:off x="1563" y="1622"/>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b="1"/>
                  <a:t>1</a:t>
                </a:r>
              </a:p>
            </p:txBody>
          </p:sp>
          <p:sp>
            <p:nvSpPr>
              <p:cNvPr id="24583" name="Freeform 7"/>
              <p:cNvSpPr>
                <a:spLocks/>
              </p:cNvSpPr>
              <p:nvPr/>
            </p:nvSpPr>
            <p:spPr bwMode="auto">
              <a:xfrm>
                <a:off x="1394" y="2225"/>
                <a:ext cx="574" cy="499"/>
              </a:xfrm>
              <a:custGeom>
                <a:avLst/>
                <a:gdLst>
                  <a:gd name="T0" fmla="*/ 573 w 574"/>
                  <a:gd name="T1" fmla="*/ 249 h 499"/>
                  <a:gd name="T2" fmla="*/ 567 w 574"/>
                  <a:gd name="T3" fmla="*/ 198 h 499"/>
                  <a:gd name="T4" fmla="*/ 550 w 574"/>
                  <a:gd name="T5" fmla="*/ 152 h 499"/>
                  <a:gd name="T6" fmla="*/ 524 w 574"/>
                  <a:gd name="T7" fmla="*/ 110 h 499"/>
                  <a:gd name="T8" fmla="*/ 489 w 574"/>
                  <a:gd name="T9" fmla="*/ 73 h 499"/>
                  <a:gd name="T10" fmla="*/ 447 w 574"/>
                  <a:gd name="T11" fmla="*/ 42 h 499"/>
                  <a:gd name="T12" fmla="*/ 397 w 574"/>
                  <a:gd name="T13" fmla="*/ 19 h 499"/>
                  <a:gd name="T14" fmla="*/ 344 w 574"/>
                  <a:gd name="T15" fmla="*/ 4 h 499"/>
                  <a:gd name="T16" fmla="*/ 286 w 574"/>
                  <a:gd name="T17" fmla="*/ 0 h 499"/>
                  <a:gd name="T18" fmla="*/ 228 w 574"/>
                  <a:gd name="T19" fmla="*/ 4 h 499"/>
                  <a:gd name="T20" fmla="*/ 175 w 574"/>
                  <a:gd name="T21" fmla="*/ 19 h 499"/>
                  <a:gd name="T22" fmla="*/ 126 w 574"/>
                  <a:gd name="T23" fmla="*/ 42 h 499"/>
                  <a:gd name="T24" fmla="*/ 83 w 574"/>
                  <a:gd name="T25" fmla="*/ 73 h 499"/>
                  <a:gd name="T26" fmla="*/ 49 w 574"/>
                  <a:gd name="T27" fmla="*/ 110 h 499"/>
                  <a:gd name="T28" fmla="*/ 22 w 574"/>
                  <a:gd name="T29" fmla="*/ 152 h 499"/>
                  <a:gd name="T30" fmla="*/ 5 w 574"/>
                  <a:gd name="T31" fmla="*/ 198 h 499"/>
                  <a:gd name="T32" fmla="*/ 0 w 574"/>
                  <a:gd name="T33" fmla="*/ 249 h 499"/>
                  <a:gd name="T34" fmla="*/ 5 w 574"/>
                  <a:gd name="T35" fmla="*/ 299 h 499"/>
                  <a:gd name="T36" fmla="*/ 22 w 574"/>
                  <a:gd name="T37" fmla="*/ 345 h 499"/>
                  <a:gd name="T38" fmla="*/ 49 w 574"/>
                  <a:gd name="T39" fmla="*/ 387 h 499"/>
                  <a:gd name="T40" fmla="*/ 83 w 574"/>
                  <a:gd name="T41" fmla="*/ 424 h 499"/>
                  <a:gd name="T42" fmla="*/ 126 w 574"/>
                  <a:gd name="T43" fmla="*/ 455 h 499"/>
                  <a:gd name="T44" fmla="*/ 175 w 574"/>
                  <a:gd name="T45" fmla="*/ 478 h 499"/>
                  <a:gd name="T46" fmla="*/ 228 w 574"/>
                  <a:gd name="T47" fmla="*/ 492 h 499"/>
                  <a:gd name="T48" fmla="*/ 286 w 574"/>
                  <a:gd name="T49" fmla="*/ 498 h 499"/>
                  <a:gd name="T50" fmla="*/ 344 w 574"/>
                  <a:gd name="T51" fmla="*/ 492 h 499"/>
                  <a:gd name="T52" fmla="*/ 397 w 574"/>
                  <a:gd name="T53" fmla="*/ 478 h 499"/>
                  <a:gd name="T54" fmla="*/ 447 w 574"/>
                  <a:gd name="T55" fmla="*/ 455 h 499"/>
                  <a:gd name="T56" fmla="*/ 489 w 574"/>
                  <a:gd name="T57" fmla="*/ 424 h 499"/>
                  <a:gd name="T58" fmla="*/ 524 w 574"/>
                  <a:gd name="T59" fmla="*/ 387 h 499"/>
                  <a:gd name="T60" fmla="*/ 550 w 574"/>
                  <a:gd name="T61" fmla="*/ 345 h 499"/>
                  <a:gd name="T62" fmla="*/ 567 w 574"/>
                  <a:gd name="T63" fmla="*/ 299 h 499"/>
                  <a:gd name="T64" fmla="*/ 573 w 574"/>
                  <a:gd name="T65" fmla="*/ 249 h 499"/>
                  <a:gd name="T66" fmla="*/ 573 w 574"/>
                  <a:gd name="T67" fmla="*/ 24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4" h="499">
                    <a:moveTo>
                      <a:pt x="573" y="249"/>
                    </a:moveTo>
                    <a:lnTo>
                      <a:pt x="567" y="198"/>
                    </a:lnTo>
                    <a:lnTo>
                      <a:pt x="550" y="152"/>
                    </a:lnTo>
                    <a:lnTo>
                      <a:pt x="524" y="110"/>
                    </a:lnTo>
                    <a:lnTo>
                      <a:pt x="489" y="73"/>
                    </a:lnTo>
                    <a:lnTo>
                      <a:pt x="447" y="42"/>
                    </a:lnTo>
                    <a:lnTo>
                      <a:pt x="397" y="19"/>
                    </a:lnTo>
                    <a:lnTo>
                      <a:pt x="344" y="4"/>
                    </a:lnTo>
                    <a:lnTo>
                      <a:pt x="286" y="0"/>
                    </a:lnTo>
                    <a:lnTo>
                      <a:pt x="228" y="4"/>
                    </a:lnTo>
                    <a:lnTo>
                      <a:pt x="175" y="19"/>
                    </a:lnTo>
                    <a:lnTo>
                      <a:pt x="126" y="42"/>
                    </a:lnTo>
                    <a:lnTo>
                      <a:pt x="83" y="73"/>
                    </a:lnTo>
                    <a:lnTo>
                      <a:pt x="49" y="110"/>
                    </a:lnTo>
                    <a:lnTo>
                      <a:pt x="22" y="152"/>
                    </a:lnTo>
                    <a:lnTo>
                      <a:pt x="5" y="198"/>
                    </a:lnTo>
                    <a:lnTo>
                      <a:pt x="0" y="249"/>
                    </a:lnTo>
                    <a:lnTo>
                      <a:pt x="5" y="299"/>
                    </a:lnTo>
                    <a:lnTo>
                      <a:pt x="22" y="345"/>
                    </a:lnTo>
                    <a:lnTo>
                      <a:pt x="49" y="387"/>
                    </a:lnTo>
                    <a:lnTo>
                      <a:pt x="83" y="424"/>
                    </a:lnTo>
                    <a:lnTo>
                      <a:pt x="126" y="455"/>
                    </a:lnTo>
                    <a:lnTo>
                      <a:pt x="175" y="478"/>
                    </a:lnTo>
                    <a:lnTo>
                      <a:pt x="228" y="492"/>
                    </a:lnTo>
                    <a:lnTo>
                      <a:pt x="286" y="498"/>
                    </a:lnTo>
                    <a:lnTo>
                      <a:pt x="344" y="492"/>
                    </a:lnTo>
                    <a:lnTo>
                      <a:pt x="397" y="478"/>
                    </a:lnTo>
                    <a:lnTo>
                      <a:pt x="447" y="455"/>
                    </a:lnTo>
                    <a:lnTo>
                      <a:pt x="489" y="424"/>
                    </a:lnTo>
                    <a:lnTo>
                      <a:pt x="524" y="387"/>
                    </a:lnTo>
                    <a:lnTo>
                      <a:pt x="550" y="345"/>
                    </a:lnTo>
                    <a:lnTo>
                      <a:pt x="567" y="299"/>
                    </a:lnTo>
                    <a:lnTo>
                      <a:pt x="573" y="249"/>
                    </a:lnTo>
                    <a:lnTo>
                      <a:pt x="573" y="249"/>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4" name="Rectangle 8"/>
              <p:cNvSpPr>
                <a:spLocks noChangeArrowheads="1"/>
              </p:cNvSpPr>
              <p:nvPr/>
            </p:nvSpPr>
            <p:spPr bwMode="auto">
              <a:xfrm>
                <a:off x="1473" y="2314"/>
                <a:ext cx="45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t>Eustis</a:t>
                </a:r>
              </a:p>
            </p:txBody>
          </p:sp>
          <p:sp>
            <p:nvSpPr>
              <p:cNvPr id="24585" name="Rectangle 9"/>
              <p:cNvSpPr>
                <a:spLocks noChangeArrowheads="1"/>
              </p:cNvSpPr>
              <p:nvPr/>
            </p:nvSpPr>
            <p:spPr bwMode="auto">
              <a:xfrm>
                <a:off x="1564" y="2451"/>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b="1"/>
                  <a:t>2</a:t>
                </a:r>
              </a:p>
            </p:txBody>
          </p:sp>
          <p:sp>
            <p:nvSpPr>
              <p:cNvPr id="24586" name="Freeform 10"/>
              <p:cNvSpPr>
                <a:spLocks/>
              </p:cNvSpPr>
              <p:nvPr/>
            </p:nvSpPr>
            <p:spPr bwMode="auto">
              <a:xfrm>
                <a:off x="1378" y="3097"/>
                <a:ext cx="574" cy="498"/>
              </a:xfrm>
              <a:custGeom>
                <a:avLst/>
                <a:gdLst>
                  <a:gd name="T0" fmla="*/ 573 w 574"/>
                  <a:gd name="T1" fmla="*/ 248 h 498"/>
                  <a:gd name="T2" fmla="*/ 566 w 574"/>
                  <a:gd name="T3" fmla="*/ 198 h 498"/>
                  <a:gd name="T4" fmla="*/ 549 w 574"/>
                  <a:gd name="T5" fmla="*/ 151 h 498"/>
                  <a:gd name="T6" fmla="*/ 523 w 574"/>
                  <a:gd name="T7" fmla="*/ 109 h 498"/>
                  <a:gd name="T8" fmla="*/ 488 w 574"/>
                  <a:gd name="T9" fmla="*/ 72 h 498"/>
                  <a:gd name="T10" fmla="*/ 446 w 574"/>
                  <a:gd name="T11" fmla="*/ 42 h 498"/>
                  <a:gd name="T12" fmla="*/ 398 w 574"/>
                  <a:gd name="T13" fmla="*/ 19 h 498"/>
                  <a:gd name="T14" fmla="*/ 344 w 574"/>
                  <a:gd name="T15" fmla="*/ 4 h 498"/>
                  <a:gd name="T16" fmla="*/ 286 w 574"/>
                  <a:gd name="T17" fmla="*/ 0 h 498"/>
                  <a:gd name="T18" fmla="*/ 228 w 574"/>
                  <a:gd name="T19" fmla="*/ 4 h 498"/>
                  <a:gd name="T20" fmla="*/ 174 w 574"/>
                  <a:gd name="T21" fmla="*/ 19 h 498"/>
                  <a:gd name="T22" fmla="*/ 126 w 574"/>
                  <a:gd name="T23" fmla="*/ 42 h 498"/>
                  <a:gd name="T24" fmla="*/ 83 w 574"/>
                  <a:gd name="T25" fmla="*/ 72 h 498"/>
                  <a:gd name="T26" fmla="*/ 49 w 574"/>
                  <a:gd name="T27" fmla="*/ 109 h 498"/>
                  <a:gd name="T28" fmla="*/ 22 w 574"/>
                  <a:gd name="T29" fmla="*/ 151 h 498"/>
                  <a:gd name="T30" fmla="*/ 5 w 574"/>
                  <a:gd name="T31" fmla="*/ 198 h 498"/>
                  <a:gd name="T32" fmla="*/ 0 w 574"/>
                  <a:gd name="T33" fmla="*/ 248 h 498"/>
                  <a:gd name="T34" fmla="*/ 5 w 574"/>
                  <a:gd name="T35" fmla="*/ 298 h 498"/>
                  <a:gd name="T36" fmla="*/ 22 w 574"/>
                  <a:gd name="T37" fmla="*/ 345 h 498"/>
                  <a:gd name="T38" fmla="*/ 49 w 574"/>
                  <a:gd name="T39" fmla="*/ 387 h 498"/>
                  <a:gd name="T40" fmla="*/ 83 w 574"/>
                  <a:gd name="T41" fmla="*/ 424 h 498"/>
                  <a:gd name="T42" fmla="*/ 126 w 574"/>
                  <a:gd name="T43" fmla="*/ 454 h 498"/>
                  <a:gd name="T44" fmla="*/ 174 w 574"/>
                  <a:gd name="T45" fmla="*/ 477 h 498"/>
                  <a:gd name="T46" fmla="*/ 228 w 574"/>
                  <a:gd name="T47" fmla="*/ 492 h 498"/>
                  <a:gd name="T48" fmla="*/ 286 w 574"/>
                  <a:gd name="T49" fmla="*/ 497 h 498"/>
                  <a:gd name="T50" fmla="*/ 344 w 574"/>
                  <a:gd name="T51" fmla="*/ 492 h 498"/>
                  <a:gd name="T52" fmla="*/ 398 w 574"/>
                  <a:gd name="T53" fmla="*/ 477 h 498"/>
                  <a:gd name="T54" fmla="*/ 446 w 574"/>
                  <a:gd name="T55" fmla="*/ 454 h 498"/>
                  <a:gd name="T56" fmla="*/ 488 w 574"/>
                  <a:gd name="T57" fmla="*/ 424 h 498"/>
                  <a:gd name="T58" fmla="*/ 523 w 574"/>
                  <a:gd name="T59" fmla="*/ 387 h 498"/>
                  <a:gd name="T60" fmla="*/ 549 w 574"/>
                  <a:gd name="T61" fmla="*/ 345 h 498"/>
                  <a:gd name="T62" fmla="*/ 566 w 574"/>
                  <a:gd name="T63" fmla="*/ 298 h 498"/>
                  <a:gd name="T64" fmla="*/ 573 w 574"/>
                  <a:gd name="T65" fmla="*/ 248 h 498"/>
                  <a:gd name="T66" fmla="*/ 573 w 574"/>
                  <a:gd name="T67" fmla="*/ 24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4" h="498">
                    <a:moveTo>
                      <a:pt x="573" y="248"/>
                    </a:moveTo>
                    <a:lnTo>
                      <a:pt x="566" y="198"/>
                    </a:lnTo>
                    <a:lnTo>
                      <a:pt x="549" y="151"/>
                    </a:lnTo>
                    <a:lnTo>
                      <a:pt x="523" y="109"/>
                    </a:lnTo>
                    <a:lnTo>
                      <a:pt x="488" y="72"/>
                    </a:lnTo>
                    <a:lnTo>
                      <a:pt x="446" y="42"/>
                    </a:lnTo>
                    <a:lnTo>
                      <a:pt x="398" y="19"/>
                    </a:lnTo>
                    <a:lnTo>
                      <a:pt x="344" y="4"/>
                    </a:lnTo>
                    <a:lnTo>
                      <a:pt x="286" y="0"/>
                    </a:lnTo>
                    <a:lnTo>
                      <a:pt x="228" y="4"/>
                    </a:lnTo>
                    <a:lnTo>
                      <a:pt x="174" y="19"/>
                    </a:lnTo>
                    <a:lnTo>
                      <a:pt x="126" y="42"/>
                    </a:lnTo>
                    <a:lnTo>
                      <a:pt x="83" y="72"/>
                    </a:lnTo>
                    <a:lnTo>
                      <a:pt x="49" y="109"/>
                    </a:lnTo>
                    <a:lnTo>
                      <a:pt x="22" y="151"/>
                    </a:lnTo>
                    <a:lnTo>
                      <a:pt x="5" y="198"/>
                    </a:lnTo>
                    <a:lnTo>
                      <a:pt x="0" y="248"/>
                    </a:lnTo>
                    <a:lnTo>
                      <a:pt x="5" y="298"/>
                    </a:lnTo>
                    <a:lnTo>
                      <a:pt x="22" y="345"/>
                    </a:lnTo>
                    <a:lnTo>
                      <a:pt x="49" y="387"/>
                    </a:lnTo>
                    <a:lnTo>
                      <a:pt x="83" y="424"/>
                    </a:lnTo>
                    <a:lnTo>
                      <a:pt x="126" y="454"/>
                    </a:lnTo>
                    <a:lnTo>
                      <a:pt x="174" y="477"/>
                    </a:lnTo>
                    <a:lnTo>
                      <a:pt x="228" y="492"/>
                    </a:lnTo>
                    <a:lnTo>
                      <a:pt x="286" y="497"/>
                    </a:lnTo>
                    <a:lnTo>
                      <a:pt x="344" y="492"/>
                    </a:lnTo>
                    <a:lnTo>
                      <a:pt x="398" y="477"/>
                    </a:lnTo>
                    <a:lnTo>
                      <a:pt x="446" y="454"/>
                    </a:lnTo>
                    <a:lnTo>
                      <a:pt x="488" y="424"/>
                    </a:lnTo>
                    <a:lnTo>
                      <a:pt x="523" y="387"/>
                    </a:lnTo>
                    <a:lnTo>
                      <a:pt x="549" y="345"/>
                    </a:lnTo>
                    <a:lnTo>
                      <a:pt x="566" y="298"/>
                    </a:lnTo>
                    <a:lnTo>
                      <a:pt x="573" y="248"/>
                    </a:lnTo>
                    <a:lnTo>
                      <a:pt x="573" y="248"/>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7" name="Rectangle 11"/>
              <p:cNvSpPr>
                <a:spLocks noChangeArrowheads="1"/>
              </p:cNvSpPr>
              <p:nvPr/>
            </p:nvSpPr>
            <p:spPr bwMode="auto">
              <a:xfrm>
                <a:off x="1391" y="3186"/>
                <a:ext cx="572"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300" b="1"/>
                  <a:t>Clermont</a:t>
                </a:r>
              </a:p>
            </p:txBody>
          </p:sp>
          <p:sp>
            <p:nvSpPr>
              <p:cNvPr id="24588" name="Rectangle 12"/>
              <p:cNvSpPr>
                <a:spLocks noChangeArrowheads="1"/>
              </p:cNvSpPr>
              <p:nvPr/>
            </p:nvSpPr>
            <p:spPr bwMode="auto">
              <a:xfrm>
                <a:off x="1552" y="3318"/>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b="1"/>
                  <a:t>3</a:t>
                </a:r>
              </a:p>
            </p:txBody>
          </p:sp>
          <p:sp>
            <p:nvSpPr>
              <p:cNvPr id="24589" name="Freeform 13"/>
              <p:cNvSpPr>
                <a:spLocks/>
              </p:cNvSpPr>
              <p:nvPr/>
            </p:nvSpPr>
            <p:spPr bwMode="auto">
              <a:xfrm>
                <a:off x="3737" y="1398"/>
                <a:ext cx="574" cy="497"/>
              </a:xfrm>
              <a:custGeom>
                <a:avLst/>
                <a:gdLst>
                  <a:gd name="T0" fmla="*/ 573 w 574"/>
                  <a:gd name="T1" fmla="*/ 248 h 497"/>
                  <a:gd name="T2" fmla="*/ 567 w 574"/>
                  <a:gd name="T3" fmla="*/ 197 h 497"/>
                  <a:gd name="T4" fmla="*/ 550 w 574"/>
                  <a:gd name="T5" fmla="*/ 150 h 497"/>
                  <a:gd name="T6" fmla="*/ 523 w 574"/>
                  <a:gd name="T7" fmla="*/ 109 h 497"/>
                  <a:gd name="T8" fmla="*/ 489 w 574"/>
                  <a:gd name="T9" fmla="*/ 72 h 497"/>
                  <a:gd name="T10" fmla="*/ 446 w 574"/>
                  <a:gd name="T11" fmla="*/ 41 h 497"/>
                  <a:gd name="T12" fmla="*/ 397 w 574"/>
                  <a:gd name="T13" fmla="*/ 18 h 497"/>
                  <a:gd name="T14" fmla="*/ 343 w 574"/>
                  <a:gd name="T15" fmla="*/ 4 h 497"/>
                  <a:gd name="T16" fmla="*/ 286 w 574"/>
                  <a:gd name="T17" fmla="*/ 0 h 497"/>
                  <a:gd name="T18" fmla="*/ 228 w 574"/>
                  <a:gd name="T19" fmla="*/ 4 h 497"/>
                  <a:gd name="T20" fmla="*/ 175 w 574"/>
                  <a:gd name="T21" fmla="*/ 18 h 497"/>
                  <a:gd name="T22" fmla="*/ 125 w 574"/>
                  <a:gd name="T23" fmla="*/ 41 h 497"/>
                  <a:gd name="T24" fmla="*/ 83 w 574"/>
                  <a:gd name="T25" fmla="*/ 72 h 497"/>
                  <a:gd name="T26" fmla="*/ 48 w 574"/>
                  <a:gd name="T27" fmla="*/ 109 h 497"/>
                  <a:gd name="T28" fmla="*/ 22 w 574"/>
                  <a:gd name="T29" fmla="*/ 150 h 497"/>
                  <a:gd name="T30" fmla="*/ 5 w 574"/>
                  <a:gd name="T31" fmla="*/ 197 h 497"/>
                  <a:gd name="T32" fmla="*/ 0 w 574"/>
                  <a:gd name="T33" fmla="*/ 248 h 497"/>
                  <a:gd name="T34" fmla="*/ 5 w 574"/>
                  <a:gd name="T35" fmla="*/ 297 h 497"/>
                  <a:gd name="T36" fmla="*/ 22 w 574"/>
                  <a:gd name="T37" fmla="*/ 344 h 497"/>
                  <a:gd name="T38" fmla="*/ 48 w 574"/>
                  <a:gd name="T39" fmla="*/ 386 h 497"/>
                  <a:gd name="T40" fmla="*/ 83 w 574"/>
                  <a:gd name="T41" fmla="*/ 423 h 497"/>
                  <a:gd name="T42" fmla="*/ 125 w 574"/>
                  <a:gd name="T43" fmla="*/ 453 h 497"/>
                  <a:gd name="T44" fmla="*/ 175 w 574"/>
                  <a:gd name="T45" fmla="*/ 476 h 497"/>
                  <a:gd name="T46" fmla="*/ 228 w 574"/>
                  <a:gd name="T47" fmla="*/ 491 h 497"/>
                  <a:gd name="T48" fmla="*/ 286 w 574"/>
                  <a:gd name="T49" fmla="*/ 496 h 497"/>
                  <a:gd name="T50" fmla="*/ 343 w 574"/>
                  <a:gd name="T51" fmla="*/ 491 h 497"/>
                  <a:gd name="T52" fmla="*/ 397 w 574"/>
                  <a:gd name="T53" fmla="*/ 476 h 497"/>
                  <a:gd name="T54" fmla="*/ 446 w 574"/>
                  <a:gd name="T55" fmla="*/ 453 h 497"/>
                  <a:gd name="T56" fmla="*/ 489 w 574"/>
                  <a:gd name="T57" fmla="*/ 423 h 497"/>
                  <a:gd name="T58" fmla="*/ 523 w 574"/>
                  <a:gd name="T59" fmla="*/ 386 h 497"/>
                  <a:gd name="T60" fmla="*/ 550 w 574"/>
                  <a:gd name="T61" fmla="*/ 344 h 497"/>
                  <a:gd name="T62" fmla="*/ 567 w 574"/>
                  <a:gd name="T63" fmla="*/ 297 h 497"/>
                  <a:gd name="T64" fmla="*/ 573 w 574"/>
                  <a:gd name="T65" fmla="*/ 248 h 497"/>
                  <a:gd name="T66" fmla="*/ 573 w 574"/>
                  <a:gd name="T67" fmla="*/ 248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4" h="497">
                    <a:moveTo>
                      <a:pt x="573" y="248"/>
                    </a:moveTo>
                    <a:lnTo>
                      <a:pt x="567" y="197"/>
                    </a:lnTo>
                    <a:lnTo>
                      <a:pt x="550" y="150"/>
                    </a:lnTo>
                    <a:lnTo>
                      <a:pt x="523" y="109"/>
                    </a:lnTo>
                    <a:lnTo>
                      <a:pt x="489" y="72"/>
                    </a:lnTo>
                    <a:lnTo>
                      <a:pt x="446" y="41"/>
                    </a:lnTo>
                    <a:lnTo>
                      <a:pt x="397" y="18"/>
                    </a:lnTo>
                    <a:lnTo>
                      <a:pt x="343" y="4"/>
                    </a:lnTo>
                    <a:lnTo>
                      <a:pt x="286" y="0"/>
                    </a:lnTo>
                    <a:lnTo>
                      <a:pt x="228" y="4"/>
                    </a:lnTo>
                    <a:lnTo>
                      <a:pt x="175" y="18"/>
                    </a:lnTo>
                    <a:lnTo>
                      <a:pt x="125" y="41"/>
                    </a:lnTo>
                    <a:lnTo>
                      <a:pt x="83" y="72"/>
                    </a:lnTo>
                    <a:lnTo>
                      <a:pt x="48" y="109"/>
                    </a:lnTo>
                    <a:lnTo>
                      <a:pt x="22" y="150"/>
                    </a:lnTo>
                    <a:lnTo>
                      <a:pt x="5" y="197"/>
                    </a:lnTo>
                    <a:lnTo>
                      <a:pt x="0" y="248"/>
                    </a:lnTo>
                    <a:lnTo>
                      <a:pt x="5" y="297"/>
                    </a:lnTo>
                    <a:lnTo>
                      <a:pt x="22" y="344"/>
                    </a:lnTo>
                    <a:lnTo>
                      <a:pt x="48" y="386"/>
                    </a:lnTo>
                    <a:lnTo>
                      <a:pt x="83" y="423"/>
                    </a:lnTo>
                    <a:lnTo>
                      <a:pt x="125" y="453"/>
                    </a:lnTo>
                    <a:lnTo>
                      <a:pt x="175" y="476"/>
                    </a:lnTo>
                    <a:lnTo>
                      <a:pt x="228" y="491"/>
                    </a:lnTo>
                    <a:lnTo>
                      <a:pt x="286" y="496"/>
                    </a:lnTo>
                    <a:lnTo>
                      <a:pt x="343" y="491"/>
                    </a:lnTo>
                    <a:lnTo>
                      <a:pt x="397" y="476"/>
                    </a:lnTo>
                    <a:lnTo>
                      <a:pt x="446" y="453"/>
                    </a:lnTo>
                    <a:lnTo>
                      <a:pt x="489" y="423"/>
                    </a:lnTo>
                    <a:lnTo>
                      <a:pt x="523" y="386"/>
                    </a:lnTo>
                    <a:lnTo>
                      <a:pt x="550" y="344"/>
                    </a:lnTo>
                    <a:lnTo>
                      <a:pt x="567" y="297"/>
                    </a:lnTo>
                    <a:lnTo>
                      <a:pt x="573" y="248"/>
                    </a:lnTo>
                    <a:lnTo>
                      <a:pt x="573" y="248"/>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0" name="Rectangle 14"/>
              <p:cNvSpPr>
                <a:spLocks noChangeArrowheads="1"/>
              </p:cNvSpPr>
              <p:nvPr/>
            </p:nvSpPr>
            <p:spPr bwMode="auto">
              <a:xfrm>
                <a:off x="3832" y="1485"/>
                <a:ext cx="42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t>Ocala</a:t>
                </a:r>
              </a:p>
            </p:txBody>
          </p:sp>
          <p:sp>
            <p:nvSpPr>
              <p:cNvPr id="24591" name="Rectangle 15"/>
              <p:cNvSpPr>
                <a:spLocks noChangeArrowheads="1"/>
              </p:cNvSpPr>
              <p:nvPr/>
            </p:nvSpPr>
            <p:spPr bwMode="auto">
              <a:xfrm>
                <a:off x="3906" y="1623"/>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b="1"/>
                  <a:t>4</a:t>
                </a:r>
              </a:p>
            </p:txBody>
          </p:sp>
          <p:sp>
            <p:nvSpPr>
              <p:cNvPr id="24592" name="Freeform 16"/>
              <p:cNvSpPr>
                <a:spLocks/>
              </p:cNvSpPr>
              <p:nvPr/>
            </p:nvSpPr>
            <p:spPr bwMode="auto">
              <a:xfrm>
                <a:off x="3737" y="2225"/>
                <a:ext cx="574" cy="499"/>
              </a:xfrm>
              <a:custGeom>
                <a:avLst/>
                <a:gdLst>
                  <a:gd name="T0" fmla="*/ 573 w 574"/>
                  <a:gd name="T1" fmla="*/ 249 h 499"/>
                  <a:gd name="T2" fmla="*/ 567 w 574"/>
                  <a:gd name="T3" fmla="*/ 198 h 499"/>
                  <a:gd name="T4" fmla="*/ 550 w 574"/>
                  <a:gd name="T5" fmla="*/ 152 h 499"/>
                  <a:gd name="T6" fmla="*/ 523 w 574"/>
                  <a:gd name="T7" fmla="*/ 110 h 499"/>
                  <a:gd name="T8" fmla="*/ 489 w 574"/>
                  <a:gd name="T9" fmla="*/ 73 h 499"/>
                  <a:gd name="T10" fmla="*/ 446 w 574"/>
                  <a:gd name="T11" fmla="*/ 42 h 499"/>
                  <a:gd name="T12" fmla="*/ 397 w 574"/>
                  <a:gd name="T13" fmla="*/ 19 h 499"/>
                  <a:gd name="T14" fmla="*/ 343 w 574"/>
                  <a:gd name="T15" fmla="*/ 4 h 499"/>
                  <a:gd name="T16" fmla="*/ 286 w 574"/>
                  <a:gd name="T17" fmla="*/ 0 h 499"/>
                  <a:gd name="T18" fmla="*/ 228 w 574"/>
                  <a:gd name="T19" fmla="*/ 4 h 499"/>
                  <a:gd name="T20" fmla="*/ 175 w 574"/>
                  <a:gd name="T21" fmla="*/ 19 h 499"/>
                  <a:gd name="T22" fmla="*/ 125 w 574"/>
                  <a:gd name="T23" fmla="*/ 42 h 499"/>
                  <a:gd name="T24" fmla="*/ 83 w 574"/>
                  <a:gd name="T25" fmla="*/ 73 h 499"/>
                  <a:gd name="T26" fmla="*/ 48 w 574"/>
                  <a:gd name="T27" fmla="*/ 110 h 499"/>
                  <a:gd name="T28" fmla="*/ 22 w 574"/>
                  <a:gd name="T29" fmla="*/ 152 h 499"/>
                  <a:gd name="T30" fmla="*/ 5 w 574"/>
                  <a:gd name="T31" fmla="*/ 198 h 499"/>
                  <a:gd name="T32" fmla="*/ 0 w 574"/>
                  <a:gd name="T33" fmla="*/ 249 h 499"/>
                  <a:gd name="T34" fmla="*/ 5 w 574"/>
                  <a:gd name="T35" fmla="*/ 299 h 499"/>
                  <a:gd name="T36" fmla="*/ 22 w 574"/>
                  <a:gd name="T37" fmla="*/ 345 h 499"/>
                  <a:gd name="T38" fmla="*/ 48 w 574"/>
                  <a:gd name="T39" fmla="*/ 387 h 499"/>
                  <a:gd name="T40" fmla="*/ 83 w 574"/>
                  <a:gd name="T41" fmla="*/ 424 h 499"/>
                  <a:gd name="T42" fmla="*/ 125 w 574"/>
                  <a:gd name="T43" fmla="*/ 455 h 499"/>
                  <a:gd name="T44" fmla="*/ 175 w 574"/>
                  <a:gd name="T45" fmla="*/ 478 h 499"/>
                  <a:gd name="T46" fmla="*/ 228 w 574"/>
                  <a:gd name="T47" fmla="*/ 493 h 499"/>
                  <a:gd name="T48" fmla="*/ 286 w 574"/>
                  <a:gd name="T49" fmla="*/ 498 h 499"/>
                  <a:gd name="T50" fmla="*/ 343 w 574"/>
                  <a:gd name="T51" fmla="*/ 493 h 499"/>
                  <a:gd name="T52" fmla="*/ 397 w 574"/>
                  <a:gd name="T53" fmla="*/ 478 h 499"/>
                  <a:gd name="T54" fmla="*/ 446 w 574"/>
                  <a:gd name="T55" fmla="*/ 455 h 499"/>
                  <a:gd name="T56" fmla="*/ 489 w 574"/>
                  <a:gd name="T57" fmla="*/ 424 h 499"/>
                  <a:gd name="T58" fmla="*/ 523 w 574"/>
                  <a:gd name="T59" fmla="*/ 387 h 499"/>
                  <a:gd name="T60" fmla="*/ 550 w 574"/>
                  <a:gd name="T61" fmla="*/ 345 h 499"/>
                  <a:gd name="T62" fmla="*/ 567 w 574"/>
                  <a:gd name="T63" fmla="*/ 299 h 499"/>
                  <a:gd name="T64" fmla="*/ 573 w 574"/>
                  <a:gd name="T65" fmla="*/ 249 h 499"/>
                  <a:gd name="T66" fmla="*/ 573 w 574"/>
                  <a:gd name="T67" fmla="*/ 24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4" h="499">
                    <a:moveTo>
                      <a:pt x="573" y="249"/>
                    </a:moveTo>
                    <a:lnTo>
                      <a:pt x="567" y="198"/>
                    </a:lnTo>
                    <a:lnTo>
                      <a:pt x="550" y="152"/>
                    </a:lnTo>
                    <a:lnTo>
                      <a:pt x="523" y="110"/>
                    </a:lnTo>
                    <a:lnTo>
                      <a:pt x="489" y="73"/>
                    </a:lnTo>
                    <a:lnTo>
                      <a:pt x="446" y="42"/>
                    </a:lnTo>
                    <a:lnTo>
                      <a:pt x="397" y="19"/>
                    </a:lnTo>
                    <a:lnTo>
                      <a:pt x="343" y="4"/>
                    </a:lnTo>
                    <a:lnTo>
                      <a:pt x="286" y="0"/>
                    </a:lnTo>
                    <a:lnTo>
                      <a:pt x="228" y="4"/>
                    </a:lnTo>
                    <a:lnTo>
                      <a:pt x="175" y="19"/>
                    </a:lnTo>
                    <a:lnTo>
                      <a:pt x="125" y="42"/>
                    </a:lnTo>
                    <a:lnTo>
                      <a:pt x="83" y="73"/>
                    </a:lnTo>
                    <a:lnTo>
                      <a:pt x="48" y="110"/>
                    </a:lnTo>
                    <a:lnTo>
                      <a:pt x="22" y="152"/>
                    </a:lnTo>
                    <a:lnTo>
                      <a:pt x="5" y="198"/>
                    </a:lnTo>
                    <a:lnTo>
                      <a:pt x="0" y="249"/>
                    </a:lnTo>
                    <a:lnTo>
                      <a:pt x="5" y="299"/>
                    </a:lnTo>
                    <a:lnTo>
                      <a:pt x="22" y="345"/>
                    </a:lnTo>
                    <a:lnTo>
                      <a:pt x="48" y="387"/>
                    </a:lnTo>
                    <a:lnTo>
                      <a:pt x="83" y="424"/>
                    </a:lnTo>
                    <a:lnTo>
                      <a:pt x="125" y="455"/>
                    </a:lnTo>
                    <a:lnTo>
                      <a:pt x="175" y="478"/>
                    </a:lnTo>
                    <a:lnTo>
                      <a:pt x="228" y="493"/>
                    </a:lnTo>
                    <a:lnTo>
                      <a:pt x="286" y="498"/>
                    </a:lnTo>
                    <a:lnTo>
                      <a:pt x="343" y="493"/>
                    </a:lnTo>
                    <a:lnTo>
                      <a:pt x="397" y="478"/>
                    </a:lnTo>
                    <a:lnTo>
                      <a:pt x="446" y="455"/>
                    </a:lnTo>
                    <a:lnTo>
                      <a:pt x="489" y="424"/>
                    </a:lnTo>
                    <a:lnTo>
                      <a:pt x="523" y="387"/>
                    </a:lnTo>
                    <a:lnTo>
                      <a:pt x="550" y="345"/>
                    </a:lnTo>
                    <a:lnTo>
                      <a:pt x="567" y="299"/>
                    </a:lnTo>
                    <a:lnTo>
                      <a:pt x="573" y="249"/>
                    </a:lnTo>
                    <a:lnTo>
                      <a:pt x="573" y="249"/>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3" name="Rectangle 17"/>
              <p:cNvSpPr>
                <a:spLocks noChangeArrowheads="1"/>
              </p:cNvSpPr>
              <p:nvPr/>
            </p:nvSpPr>
            <p:spPr bwMode="auto">
              <a:xfrm>
                <a:off x="3815" y="2314"/>
                <a:ext cx="515"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300" b="1"/>
                  <a:t>Orlando</a:t>
                </a:r>
              </a:p>
            </p:txBody>
          </p:sp>
          <p:sp>
            <p:nvSpPr>
              <p:cNvPr id="24594" name="Rectangle 18"/>
              <p:cNvSpPr>
                <a:spLocks noChangeArrowheads="1"/>
              </p:cNvSpPr>
              <p:nvPr/>
            </p:nvSpPr>
            <p:spPr bwMode="auto">
              <a:xfrm>
                <a:off x="3906" y="2451"/>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b="1"/>
                  <a:t>5</a:t>
                </a:r>
              </a:p>
            </p:txBody>
          </p:sp>
          <p:sp>
            <p:nvSpPr>
              <p:cNvPr id="24595" name="Freeform 19"/>
              <p:cNvSpPr>
                <a:spLocks/>
              </p:cNvSpPr>
              <p:nvPr/>
            </p:nvSpPr>
            <p:spPr bwMode="auto">
              <a:xfrm>
                <a:off x="3720" y="3098"/>
                <a:ext cx="575" cy="498"/>
              </a:xfrm>
              <a:custGeom>
                <a:avLst/>
                <a:gdLst>
                  <a:gd name="T0" fmla="*/ 574 w 575"/>
                  <a:gd name="T1" fmla="*/ 248 h 498"/>
                  <a:gd name="T2" fmla="*/ 567 w 575"/>
                  <a:gd name="T3" fmla="*/ 198 h 498"/>
                  <a:gd name="T4" fmla="*/ 550 w 575"/>
                  <a:gd name="T5" fmla="*/ 151 h 498"/>
                  <a:gd name="T6" fmla="*/ 524 w 575"/>
                  <a:gd name="T7" fmla="*/ 109 h 498"/>
                  <a:gd name="T8" fmla="*/ 489 w 575"/>
                  <a:gd name="T9" fmla="*/ 72 h 498"/>
                  <a:gd name="T10" fmla="*/ 447 w 575"/>
                  <a:gd name="T11" fmla="*/ 41 h 498"/>
                  <a:gd name="T12" fmla="*/ 398 w 575"/>
                  <a:gd name="T13" fmla="*/ 18 h 498"/>
                  <a:gd name="T14" fmla="*/ 344 w 575"/>
                  <a:gd name="T15" fmla="*/ 4 h 498"/>
                  <a:gd name="T16" fmla="*/ 287 w 575"/>
                  <a:gd name="T17" fmla="*/ 0 h 498"/>
                  <a:gd name="T18" fmla="*/ 229 w 575"/>
                  <a:gd name="T19" fmla="*/ 4 h 498"/>
                  <a:gd name="T20" fmla="*/ 175 w 575"/>
                  <a:gd name="T21" fmla="*/ 18 h 498"/>
                  <a:gd name="T22" fmla="*/ 126 w 575"/>
                  <a:gd name="T23" fmla="*/ 41 h 498"/>
                  <a:gd name="T24" fmla="*/ 83 w 575"/>
                  <a:gd name="T25" fmla="*/ 72 h 498"/>
                  <a:gd name="T26" fmla="*/ 49 w 575"/>
                  <a:gd name="T27" fmla="*/ 109 h 498"/>
                  <a:gd name="T28" fmla="*/ 22 w 575"/>
                  <a:gd name="T29" fmla="*/ 151 h 498"/>
                  <a:gd name="T30" fmla="*/ 5 w 575"/>
                  <a:gd name="T31" fmla="*/ 198 h 498"/>
                  <a:gd name="T32" fmla="*/ 0 w 575"/>
                  <a:gd name="T33" fmla="*/ 248 h 498"/>
                  <a:gd name="T34" fmla="*/ 5 w 575"/>
                  <a:gd name="T35" fmla="*/ 297 h 498"/>
                  <a:gd name="T36" fmla="*/ 22 w 575"/>
                  <a:gd name="T37" fmla="*/ 344 h 498"/>
                  <a:gd name="T38" fmla="*/ 49 w 575"/>
                  <a:gd name="T39" fmla="*/ 387 h 498"/>
                  <a:gd name="T40" fmla="*/ 83 w 575"/>
                  <a:gd name="T41" fmla="*/ 424 h 498"/>
                  <a:gd name="T42" fmla="*/ 126 w 575"/>
                  <a:gd name="T43" fmla="*/ 453 h 498"/>
                  <a:gd name="T44" fmla="*/ 175 w 575"/>
                  <a:gd name="T45" fmla="*/ 477 h 498"/>
                  <a:gd name="T46" fmla="*/ 229 w 575"/>
                  <a:gd name="T47" fmla="*/ 491 h 498"/>
                  <a:gd name="T48" fmla="*/ 287 w 575"/>
                  <a:gd name="T49" fmla="*/ 497 h 498"/>
                  <a:gd name="T50" fmla="*/ 344 w 575"/>
                  <a:gd name="T51" fmla="*/ 491 h 498"/>
                  <a:gd name="T52" fmla="*/ 398 w 575"/>
                  <a:gd name="T53" fmla="*/ 477 h 498"/>
                  <a:gd name="T54" fmla="*/ 447 w 575"/>
                  <a:gd name="T55" fmla="*/ 453 h 498"/>
                  <a:gd name="T56" fmla="*/ 489 w 575"/>
                  <a:gd name="T57" fmla="*/ 424 h 498"/>
                  <a:gd name="T58" fmla="*/ 524 w 575"/>
                  <a:gd name="T59" fmla="*/ 387 h 498"/>
                  <a:gd name="T60" fmla="*/ 550 w 575"/>
                  <a:gd name="T61" fmla="*/ 344 h 498"/>
                  <a:gd name="T62" fmla="*/ 567 w 575"/>
                  <a:gd name="T63" fmla="*/ 297 h 498"/>
                  <a:gd name="T64" fmla="*/ 574 w 575"/>
                  <a:gd name="T65" fmla="*/ 248 h 498"/>
                  <a:gd name="T66" fmla="*/ 574 w 575"/>
                  <a:gd name="T67" fmla="*/ 24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5" h="498">
                    <a:moveTo>
                      <a:pt x="574" y="248"/>
                    </a:moveTo>
                    <a:lnTo>
                      <a:pt x="567" y="198"/>
                    </a:lnTo>
                    <a:lnTo>
                      <a:pt x="550" y="151"/>
                    </a:lnTo>
                    <a:lnTo>
                      <a:pt x="524" y="109"/>
                    </a:lnTo>
                    <a:lnTo>
                      <a:pt x="489" y="72"/>
                    </a:lnTo>
                    <a:lnTo>
                      <a:pt x="447" y="41"/>
                    </a:lnTo>
                    <a:lnTo>
                      <a:pt x="398" y="18"/>
                    </a:lnTo>
                    <a:lnTo>
                      <a:pt x="344" y="4"/>
                    </a:lnTo>
                    <a:lnTo>
                      <a:pt x="287" y="0"/>
                    </a:lnTo>
                    <a:lnTo>
                      <a:pt x="229" y="4"/>
                    </a:lnTo>
                    <a:lnTo>
                      <a:pt x="175" y="18"/>
                    </a:lnTo>
                    <a:lnTo>
                      <a:pt x="126" y="41"/>
                    </a:lnTo>
                    <a:lnTo>
                      <a:pt x="83" y="72"/>
                    </a:lnTo>
                    <a:lnTo>
                      <a:pt x="49" y="109"/>
                    </a:lnTo>
                    <a:lnTo>
                      <a:pt x="22" y="151"/>
                    </a:lnTo>
                    <a:lnTo>
                      <a:pt x="5" y="198"/>
                    </a:lnTo>
                    <a:lnTo>
                      <a:pt x="0" y="248"/>
                    </a:lnTo>
                    <a:lnTo>
                      <a:pt x="5" y="297"/>
                    </a:lnTo>
                    <a:lnTo>
                      <a:pt x="22" y="344"/>
                    </a:lnTo>
                    <a:lnTo>
                      <a:pt x="49" y="387"/>
                    </a:lnTo>
                    <a:lnTo>
                      <a:pt x="83" y="424"/>
                    </a:lnTo>
                    <a:lnTo>
                      <a:pt x="126" y="453"/>
                    </a:lnTo>
                    <a:lnTo>
                      <a:pt x="175" y="477"/>
                    </a:lnTo>
                    <a:lnTo>
                      <a:pt x="229" y="491"/>
                    </a:lnTo>
                    <a:lnTo>
                      <a:pt x="287" y="497"/>
                    </a:lnTo>
                    <a:lnTo>
                      <a:pt x="344" y="491"/>
                    </a:lnTo>
                    <a:lnTo>
                      <a:pt x="398" y="477"/>
                    </a:lnTo>
                    <a:lnTo>
                      <a:pt x="447" y="453"/>
                    </a:lnTo>
                    <a:lnTo>
                      <a:pt x="489" y="424"/>
                    </a:lnTo>
                    <a:lnTo>
                      <a:pt x="524" y="387"/>
                    </a:lnTo>
                    <a:lnTo>
                      <a:pt x="550" y="344"/>
                    </a:lnTo>
                    <a:lnTo>
                      <a:pt x="567" y="297"/>
                    </a:lnTo>
                    <a:lnTo>
                      <a:pt x="574" y="248"/>
                    </a:lnTo>
                    <a:lnTo>
                      <a:pt x="574" y="248"/>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96" name="Rectangle 20"/>
              <p:cNvSpPr>
                <a:spLocks noChangeArrowheads="1"/>
              </p:cNvSpPr>
              <p:nvPr/>
            </p:nvSpPr>
            <p:spPr bwMode="auto">
              <a:xfrm>
                <a:off x="3733" y="3186"/>
                <a:ext cx="586" cy="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300" b="1"/>
                  <a:t>Leesburg</a:t>
                </a:r>
              </a:p>
            </p:txBody>
          </p:sp>
          <p:sp>
            <p:nvSpPr>
              <p:cNvPr id="24597" name="Rectangle 21"/>
              <p:cNvSpPr>
                <a:spLocks noChangeArrowheads="1"/>
              </p:cNvSpPr>
              <p:nvPr/>
            </p:nvSpPr>
            <p:spPr bwMode="auto">
              <a:xfrm>
                <a:off x="3890" y="3323"/>
                <a:ext cx="18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b="1"/>
                  <a:t>6</a:t>
                </a:r>
              </a:p>
            </p:txBody>
          </p:sp>
          <p:sp>
            <p:nvSpPr>
              <p:cNvPr id="24598" name="Line 22"/>
              <p:cNvSpPr>
                <a:spLocks noChangeShapeType="1"/>
              </p:cNvSpPr>
              <p:nvPr/>
            </p:nvSpPr>
            <p:spPr bwMode="auto">
              <a:xfrm>
                <a:off x="1967" y="1627"/>
                <a:ext cx="1674" cy="0"/>
              </a:xfrm>
              <a:prstGeom prst="line">
                <a:avLst/>
              </a:prstGeom>
              <a:noFill/>
              <a:ln w="12700">
                <a:solidFill>
                  <a:srgbClr val="FFFFFF"/>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99" name="Line 23"/>
              <p:cNvSpPr>
                <a:spLocks noChangeShapeType="1"/>
              </p:cNvSpPr>
              <p:nvPr/>
            </p:nvSpPr>
            <p:spPr bwMode="auto">
              <a:xfrm>
                <a:off x="1967" y="1620"/>
                <a:ext cx="1653" cy="755"/>
              </a:xfrm>
              <a:prstGeom prst="line">
                <a:avLst/>
              </a:prstGeom>
              <a:noFill/>
              <a:ln w="12700">
                <a:solidFill>
                  <a:srgbClr val="FFFFFF"/>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600" name="Line 24"/>
              <p:cNvSpPr>
                <a:spLocks noChangeShapeType="1"/>
              </p:cNvSpPr>
              <p:nvPr/>
            </p:nvSpPr>
            <p:spPr bwMode="auto">
              <a:xfrm>
                <a:off x="1967" y="1627"/>
                <a:ext cx="1716" cy="1564"/>
              </a:xfrm>
              <a:prstGeom prst="line">
                <a:avLst/>
              </a:prstGeom>
              <a:noFill/>
              <a:ln w="12700">
                <a:solidFill>
                  <a:srgbClr val="FFFFFF"/>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601" name="Line 25"/>
              <p:cNvSpPr>
                <a:spLocks noChangeShapeType="1"/>
              </p:cNvSpPr>
              <p:nvPr/>
            </p:nvSpPr>
            <p:spPr bwMode="auto">
              <a:xfrm flipV="1">
                <a:off x="1967" y="1728"/>
                <a:ext cx="1662" cy="741"/>
              </a:xfrm>
              <a:prstGeom prst="line">
                <a:avLst/>
              </a:prstGeom>
              <a:noFill/>
              <a:ln w="12700">
                <a:solidFill>
                  <a:srgbClr val="FFFFFF"/>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602" name="Line 26"/>
              <p:cNvSpPr>
                <a:spLocks noChangeShapeType="1"/>
              </p:cNvSpPr>
              <p:nvPr/>
            </p:nvSpPr>
            <p:spPr bwMode="auto">
              <a:xfrm>
                <a:off x="1967" y="2463"/>
                <a:ext cx="1617" cy="0"/>
              </a:xfrm>
              <a:prstGeom prst="line">
                <a:avLst/>
              </a:prstGeom>
              <a:noFill/>
              <a:ln w="12700">
                <a:solidFill>
                  <a:srgbClr val="FFFFFF"/>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603" name="Line 27"/>
              <p:cNvSpPr>
                <a:spLocks noChangeShapeType="1"/>
              </p:cNvSpPr>
              <p:nvPr/>
            </p:nvSpPr>
            <p:spPr bwMode="auto">
              <a:xfrm>
                <a:off x="1976" y="2463"/>
                <a:ext cx="1645" cy="782"/>
              </a:xfrm>
              <a:prstGeom prst="line">
                <a:avLst/>
              </a:prstGeom>
              <a:noFill/>
              <a:ln w="12700">
                <a:solidFill>
                  <a:srgbClr val="FFFFFF"/>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604" name="Line 28"/>
              <p:cNvSpPr>
                <a:spLocks noChangeShapeType="1"/>
              </p:cNvSpPr>
              <p:nvPr/>
            </p:nvSpPr>
            <p:spPr bwMode="auto">
              <a:xfrm>
                <a:off x="1960" y="3341"/>
                <a:ext cx="1640" cy="7"/>
              </a:xfrm>
              <a:prstGeom prst="line">
                <a:avLst/>
              </a:prstGeom>
              <a:noFill/>
              <a:ln w="12700">
                <a:solidFill>
                  <a:srgbClr val="FFFFFF"/>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605" name="Line 29"/>
              <p:cNvSpPr>
                <a:spLocks noChangeShapeType="1"/>
              </p:cNvSpPr>
              <p:nvPr/>
            </p:nvSpPr>
            <p:spPr bwMode="auto">
              <a:xfrm flipV="1">
                <a:off x="1951" y="2558"/>
                <a:ext cx="1637" cy="776"/>
              </a:xfrm>
              <a:prstGeom prst="line">
                <a:avLst/>
              </a:prstGeom>
              <a:noFill/>
              <a:ln w="12700">
                <a:solidFill>
                  <a:srgbClr val="FFFFFF"/>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606" name="Line 30"/>
              <p:cNvSpPr>
                <a:spLocks noChangeShapeType="1"/>
              </p:cNvSpPr>
              <p:nvPr/>
            </p:nvSpPr>
            <p:spPr bwMode="auto">
              <a:xfrm flipV="1">
                <a:off x="1951" y="1824"/>
                <a:ext cx="1693" cy="1510"/>
              </a:xfrm>
              <a:prstGeom prst="line">
                <a:avLst/>
              </a:prstGeom>
              <a:noFill/>
              <a:ln w="12700">
                <a:solidFill>
                  <a:srgbClr val="FFFFFF"/>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607" name="Rectangle 31"/>
              <p:cNvSpPr>
                <a:spLocks noChangeArrowheads="1"/>
              </p:cNvSpPr>
              <p:nvPr/>
            </p:nvSpPr>
            <p:spPr bwMode="auto">
              <a:xfrm>
                <a:off x="2221" y="1192"/>
                <a:ext cx="1243"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Distances (in miles)</a:t>
                </a:r>
              </a:p>
            </p:txBody>
          </p:sp>
          <p:sp>
            <p:nvSpPr>
              <p:cNvPr id="24608" name="Rectangle 32"/>
              <p:cNvSpPr>
                <a:spLocks noChangeArrowheads="1"/>
              </p:cNvSpPr>
              <p:nvPr/>
            </p:nvSpPr>
            <p:spPr bwMode="auto">
              <a:xfrm>
                <a:off x="4306" y="1289"/>
                <a:ext cx="616"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Capacity</a:t>
                </a:r>
              </a:p>
            </p:txBody>
          </p:sp>
          <p:sp>
            <p:nvSpPr>
              <p:cNvPr id="24609" name="Rectangle 33"/>
              <p:cNvSpPr>
                <a:spLocks noChangeArrowheads="1"/>
              </p:cNvSpPr>
              <p:nvPr/>
            </p:nvSpPr>
            <p:spPr bwMode="auto">
              <a:xfrm>
                <a:off x="720" y="1268"/>
                <a:ext cx="516"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Supply</a:t>
                </a:r>
              </a:p>
            </p:txBody>
          </p:sp>
          <p:sp>
            <p:nvSpPr>
              <p:cNvPr id="24610" name="Rectangle 34"/>
              <p:cNvSpPr>
                <a:spLocks noChangeArrowheads="1"/>
              </p:cNvSpPr>
              <p:nvPr/>
            </p:nvSpPr>
            <p:spPr bwMode="auto">
              <a:xfrm>
                <a:off x="694" y="1578"/>
                <a:ext cx="550"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275,000</a:t>
                </a:r>
              </a:p>
            </p:txBody>
          </p:sp>
          <p:sp>
            <p:nvSpPr>
              <p:cNvPr id="24611" name="Rectangle 35"/>
              <p:cNvSpPr>
                <a:spLocks noChangeArrowheads="1"/>
              </p:cNvSpPr>
              <p:nvPr/>
            </p:nvSpPr>
            <p:spPr bwMode="auto">
              <a:xfrm>
                <a:off x="719" y="2370"/>
                <a:ext cx="550"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400,000</a:t>
                </a:r>
              </a:p>
            </p:txBody>
          </p:sp>
          <p:sp>
            <p:nvSpPr>
              <p:cNvPr id="24612" name="Rectangle 36"/>
              <p:cNvSpPr>
                <a:spLocks noChangeArrowheads="1"/>
              </p:cNvSpPr>
              <p:nvPr/>
            </p:nvSpPr>
            <p:spPr bwMode="auto">
              <a:xfrm>
                <a:off x="728" y="3270"/>
                <a:ext cx="550"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300,000</a:t>
                </a:r>
              </a:p>
            </p:txBody>
          </p:sp>
          <p:sp>
            <p:nvSpPr>
              <p:cNvPr id="24613" name="Rectangle 37"/>
              <p:cNvSpPr>
                <a:spLocks noChangeArrowheads="1"/>
              </p:cNvSpPr>
              <p:nvPr/>
            </p:nvSpPr>
            <p:spPr bwMode="auto">
              <a:xfrm>
                <a:off x="4471" y="3256"/>
                <a:ext cx="550"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225,000</a:t>
                </a:r>
              </a:p>
            </p:txBody>
          </p:sp>
          <p:sp>
            <p:nvSpPr>
              <p:cNvPr id="24614" name="Rectangle 38"/>
              <p:cNvSpPr>
                <a:spLocks noChangeArrowheads="1"/>
              </p:cNvSpPr>
              <p:nvPr/>
            </p:nvSpPr>
            <p:spPr bwMode="auto">
              <a:xfrm>
                <a:off x="4406" y="2356"/>
                <a:ext cx="550"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600,000</a:t>
                </a:r>
              </a:p>
            </p:txBody>
          </p:sp>
          <p:sp>
            <p:nvSpPr>
              <p:cNvPr id="24615" name="Rectangle 39"/>
              <p:cNvSpPr>
                <a:spLocks noChangeArrowheads="1"/>
              </p:cNvSpPr>
              <p:nvPr/>
            </p:nvSpPr>
            <p:spPr bwMode="auto">
              <a:xfrm>
                <a:off x="4382" y="1542"/>
                <a:ext cx="550"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200,000</a:t>
                </a:r>
              </a:p>
            </p:txBody>
          </p:sp>
          <p:sp>
            <p:nvSpPr>
              <p:cNvPr id="24616" name="Rectangle 40"/>
              <p:cNvSpPr>
                <a:spLocks noChangeArrowheads="1"/>
              </p:cNvSpPr>
              <p:nvPr/>
            </p:nvSpPr>
            <p:spPr bwMode="auto">
              <a:xfrm>
                <a:off x="1365" y="1160"/>
                <a:ext cx="6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b="1"/>
                  <a:t>Groves</a:t>
                </a:r>
              </a:p>
            </p:txBody>
          </p:sp>
          <p:sp>
            <p:nvSpPr>
              <p:cNvPr id="24617" name="Rectangle 41"/>
              <p:cNvSpPr>
                <a:spLocks noChangeArrowheads="1"/>
              </p:cNvSpPr>
              <p:nvPr/>
            </p:nvSpPr>
            <p:spPr bwMode="auto">
              <a:xfrm>
                <a:off x="3593" y="1016"/>
                <a:ext cx="9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r>
                  <a:rPr lang="en-US" b="1"/>
                  <a:t>Processing </a:t>
                </a:r>
              </a:p>
            </p:txBody>
          </p:sp>
          <p:sp>
            <p:nvSpPr>
              <p:cNvPr id="24618" name="Rectangle 42"/>
              <p:cNvSpPr>
                <a:spLocks noChangeArrowheads="1"/>
              </p:cNvSpPr>
              <p:nvPr/>
            </p:nvSpPr>
            <p:spPr bwMode="auto">
              <a:xfrm>
                <a:off x="3593" y="1154"/>
                <a:ext cx="7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b="1"/>
                  <a:t>    Plants</a:t>
                </a:r>
              </a:p>
            </p:txBody>
          </p:sp>
          <p:sp>
            <p:nvSpPr>
              <p:cNvPr id="24619" name="Rectangle 43"/>
              <p:cNvSpPr>
                <a:spLocks noChangeArrowheads="1"/>
              </p:cNvSpPr>
              <p:nvPr/>
            </p:nvSpPr>
            <p:spPr bwMode="auto">
              <a:xfrm>
                <a:off x="2211" y="1450"/>
                <a:ext cx="24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t>21</a:t>
                </a:r>
              </a:p>
            </p:txBody>
          </p:sp>
          <p:sp>
            <p:nvSpPr>
              <p:cNvPr id="24620" name="Rectangle 44"/>
              <p:cNvSpPr>
                <a:spLocks noChangeArrowheads="1"/>
              </p:cNvSpPr>
              <p:nvPr/>
            </p:nvSpPr>
            <p:spPr bwMode="auto">
              <a:xfrm>
                <a:off x="2286" y="1631"/>
                <a:ext cx="24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t>50</a:t>
                </a:r>
              </a:p>
            </p:txBody>
          </p:sp>
          <p:sp>
            <p:nvSpPr>
              <p:cNvPr id="24621" name="Rectangle 45"/>
              <p:cNvSpPr>
                <a:spLocks noChangeArrowheads="1"/>
              </p:cNvSpPr>
              <p:nvPr/>
            </p:nvSpPr>
            <p:spPr bwMode="auto">
              <a:xfrm>
                <a:off x="2033" y="1854"/>
                <a:ext cx="24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t>40</a:t>
                </a:r>
              </a:p>
            </p:txBody>
          </p:sp>
          <p:sp>
            <p:nvSpPr>
              <p:cNvPr id="24622" name="Rectangle 46"/>
              <p:cNvSpPr>
                <a:spLocks noChangeArrowheads="1"/>
              </p:cNvSpPr>
              <p:nvPr/>
            </p:nvSpPr>
            <p:spPr bwMode="auto">
              <a:xfrm>
                <a:off x="2044" y="2192"/>
                <a:ext cx="24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t>35</a:t>
                </a:r>
              </a:p>
            </p:txBody>
          </p:sp>
          <p:sp>
            <p:nvSpPr>
              <p:cNvPr id="24623" name="Rectangle 47"/>
              <p:cNvSpPr>
                <a:spLocks noChangeArrowheads="1"/>
              </p:cNvSpPr>
              <p:nvPr/>
            </p:nvSpPr>
            <p:spPr bwMode="auto">
              <a:xfrm>
                <a:off x="2249" y="2300"/>
                <a:ext cx="24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t>30</a:t>
                </a:r>
              </a:p>
            </p:txBody>
          </p:sp>
          <p:sp>
            <p:nvSpPr>
              <p:cNvPr id="24624" name="Rectangle 48"/>
              <p:cNvSpPr>
                <a:spLocks noChangeArrowheads="1"/>
              </p:cNvSpPr>
              <p:nvPr/>
            </p:nvSpPr>
            <p:spPr bwMode="auto">
              <a:xfrm>
                <a:off x="1998" y="2553"/>
                <a:ext cx="24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t>22</a:t>
                </a:r>
              </a:p>
            </p:txBody>
          </p:sp>
          <p:sp>
            <p:nvSpPr>
              <p:cNvPr id="24625" name="Rectangle 49"/>
              <p:cNvSpPr>
                <a:spLocks noChangeArrowheads="1"/>
              </p:cNvSpPr>
              <p:nvPr/>
            </p:nvSpPr>
            <p:spPr bwMode="auto">
              <a:xfrm>
                <a:off x="1958" y="2992"/>
                <a:ext cx="24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t>55</a:t>
                </a:r>
              </a:p>
            </p:txBody>
          </p:sp>
          <p:sp>
            <p:nvSpPr>
              <p:cNvPr id="24626" name="Rectangle 50"/>
              <p:cNvSpPr>
                <a:spLocks noChangeArrowheads="1"/>
              </p:cNvSpPr>
              <p:nvPr/>
            </p:nvSpPr>
            <p:spPr bwMode="auto">
              <a:xfrm>
                <a:off x="2002" y="3367"/>
                <a:ext cx="24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t>25</a:t>
                </a:r>
              </a:p>
            </p:txBody>
          </p:sp>
          <p:sp>
            <p:nvSpPr>
              <p:cNvPr id="24627" name="Rectangle 51"/>
              <p:cNvSpPr>
                <a:spLocks noChangeArrowheads="1"/>
              </p:cNvSpPr>
              <p:nvPr/>
            </p:nvSpPr>
            <p:spPr bwMode="auto">
              <a:xfrm>
                <a:off x="2201" y="3179"/>
                <a:ext cx="24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t>20</a:t>
                </a:r>
              </a:p>
            </p:txBody>
          </p:sp>
        </p:grpSp>
        <p:sp>
          <p:nvSpPr>
            <p:cNvPr id="24629" name="Rectangle 53"/>
            <p:cNvSpPr>
              <a:spLocks noChangeArrowheads="1"/>
            </p:cNvSpPr>
            <p:nvPr/>
          </p:nvSpPr>
          <p:spPr bwMode="auto">
            <a:xfrm>
              <a:off x="552" y="1012"/>
              <a:ext cx="4591" cy="268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4631" name="Rectangle 55"/>
          <p:cNvSpPr>
            <a:spLocks noChangeArrowheads="1"/>
          </p:cNvSpPr>
          <p:nvPr/>
        </p:nvSpPr>
        <p:spPr bwMode="auto">
          <a:xfrm>
            <a:off x="1981200" y="3429000"/>
            <a:ext cx="5181600" cy="1219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algn="ctr">
              <a:spcBef>
                <a:spcPct val="20000"/>
              </a:spcBef>
              <a:buClr>
                <a:schemeClr val="accent1"/>
              </a:buClr>
            </a:pPr>
            <a:r>
              <a:rPr lang="en-US" sz="2400">
                <a:solidFill>
                  <a:schemeClr val="bg1"/>
                </a:solidFill>
                <a:latin typeface="Tahoma" pitchFamily="34" charset="0"/>
              </a:rPr>
              <a:t>These problems are implemented more effectively using the technique described in Chapter 3.</a:t>
            </a:r>
          </a:p>
        </p:txBody>
      </p:sp>
      <p:sp>
        <p:nvSpPr>
          <p:cNvPr id="2" name="Footer Placeholder 1"/>
          <p:cNvSpPr>
            <a:spLocks noGrp="1"/>
          </p:cNvSpPr>
          <p:nvPr>
            <p:ph type="ftr" sz="quarter" idx="11"/>
          </p:nvPr>
        </p:nvSpPr>
        <p:spPr>
          <a:xfrm>
            <a:off x="3124200" y="6423025"/>
            <a:ext cx="2895600" cy="476250"/>
          </a:xfrm>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499"/>
                                          </p:stCondLst>
                                        </p:cTn>
                                        <p:tgtEl>
                                          <p:spTgt spid="2463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24631"/>
                                        </p:tgtEl>
                                        <p:attrNameLst>
                                          <p:attrName>style.visibility</p:attrName>
                                        </p:attrNameLst>
                                      </p:cBhvr>
                                      <p:to>
                                        <p:strVal val="visible"/>
                                      </p:to>
                                    </p:set>
                                    <p:anim calcmode="lin" valueType="num">
                                      <p:cBhvr additive="base">
                                        <p:cTn id="11" dur="500" fill="hold"/>
                                        <p:tgtEl>
                                          <p:spTgt spid="24631"/>
                                        </p:tgtEl>
                                        <p:attrNameLst>
                                          <p:attrName>ppt_x</p:attrName>
                                        </p:attrNameLst>
                                      </p:cBhvr>
                                      <p:tavLst>
                                        <p:tav tm="0">
                                          <p:val>
                                            <p:strVal val="0-#ppt_w/2"/>
                                          </p:val>
                                        </p:tav>
                                        <p:tav tm="100000">
                                          <p:val>
                                            <p:strVal val="#ppt_x"/>
                                          </p:val>
                                        </p:tav>
                                      </p:tavLst>
                                    </p:anim>
                                    <p:anim calcmode="lin" valueType="num">
                                      <p:cBhvr additive="base">
                                        <p:cTn id="12" dur="500" fill="hold"/>
                                        <p:tgtEl>
                                          <p:spTgt spid="246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31"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685800" y="514350"/>
            <a:ext cx="7772400" cy="473075"/>
          </a:xfrm>
          <a:noFill/>
          <a:ln/>
        </p:spPr>
        <p:txBody>
          <a:bodyPr lIns="92075" tIns="46038" rIns="92075" bIns="46038"/>
          <a:lstStyle/>
          <a:p>
            <a:r>
              <a:rPr lang="en-US" sz="4000" i="1">
                <a:solidFill>
                  <a:schemeClr val="hlink"/>
                </a:solidFill>
              </a:rPr>
              <a:t>Generalized </a:t>
            </a:r>
            <a:br>
              <a:rPr lang="en-US" sz="4000" i="1">
                <a:solidFill>
                  <a:schemeClr val="hlink"/>
                </a:solidFill>
              </a:rPr>
            </a:br>
            <a:r>
              <a:rPr lang="en-US" sz="4000" i="1">
                <a:solidFill>
                  <a:schemeClr val="hlink"/>
                </a:solidFill>
              </a:rPr>
              <a:t>Network Flow Problems</a:t>
            </a:r>
          </a:p>
        </p:txBody>
      </p:sp>
      <p:sp>
        <p:nvSpPr>
          <p:cNvPr id="26627" name="Rectangle 3"/>
          <p:cNvSpPr>
            <a:spLocks noGrp="1" noChangeArrowheads="1"/>
          </p:cNvSpPr>
          <p:nvPr>
            <p:ph type="body" idx="1"/>
          </p:nvPr>
        </p:nvSpPr>
        <p:spPr>
          <a:xfrm>
            <a:off x="685800" y="1347788"/>
            <a:ext cx="7772400" cy="5205412"/>
          </a:xfrm>
          <a:noFill/>
          <a:ln/>
        </p:spPr>
        <p:txBody>
          <a:bodyPr lIns="92075" tIns="46038" rIns="92075" bIns="46038"/>
          <a:lstStyle/>
          <a:p>
            <a:r>
              <a:rPr lang="en-US" dirty="0"/>
              <a:t>In some problems, a gain or loss occurs in flows over arcs.</a:t>
            </a:r>
          </a:p>
          <a:p>
            <a:pPr lvl="1"/>
            <a:r>
              <a:rPr lang="en-US" dirty="0"/>
              <a:t>Examples</a:t>
            </a:r>
          </a:p>
          <a:p>
            <a:pPr lvl="2"/>
            <a:r>
              <a:rPr lang="en-US" dirty="0"/>
              <a:t>Oil or gas shipped through a leaky pipeline</a:t>
            </a:r>
          </a:p>
          <a:p>
            <a:pPr lvl="2"/>
            <a:r>
              <a:rPr lang="en-US" dirty="0"/>
              <a:t>Imperfections in raw materials entering a production process</a:t>
            </a:r>
          </a:p>
          <a:p>
            <a:pPr lvl="2"/>
            <a:r>
              <a:rPr lang="en-US" dirty="0"/>
              <a:t>Spoilage of food items during transit</a:t>
            </a:r>
          </a:p>
          <a:p>
            <a:pPr lvl="2"/>
            <a:r>
              <a:rPr lang="en-US" dirty="0"/>
              <a:t>Theft during transit</a:t>
            </a:r>
          </a:p>
          <a:p>
            <a:pPr lvl="2"/>
            <a:r>
              <a:rPr lang="en-US" dirty="0"/>
              <a:t>Interest or dividends on investments</a:t>
            </a:r>
          </a:p>
          <a:p>
            <a:r>
              <a:rPr lang="en-US" sz="2800" dirty="0"/>
              <a:t>These problems require some modeling changes.</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wipe(up)">
                                      <p:cBhvr>
                                        <p:cTn id="7" dur="500"/>
                                        <p:tgtEl>
                                          <p:spTgt spid="26627">
                                            <p:txEl>
                                              <p:pRg st="0" end="0"/>
                                            </p:txEl>
                                          </p:spTgt>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6627">
                                            <p:txEl>
                                              <p:pRg st="1" end="1"/>
                                            </p:txEl>
                                          </p:spTgt>
                                        </p:tgtEl>
                                        <p:attrNameLst>
                                          <p:attrName>style.visibility</p:attrName>
                                        </p:attrNameLst>
                                      </p:cBhvr>
                                      <p:to>
                                        <p:strVal val="visible"/>
                                      </p:to>
                                    </p:set>
                                    <p:animEffect transition="in" filter="wipe(up)">
                                      <p:cBhvr>
                                        <p:cTn id="11" dur="500"/>
                                        <p:tgtEl>
                                          <p:spTgt spid="26627">
                                            <p:txEl>
                                              <p:pRg st="1" end="1"/>
                                            </p:txEl>
                                          </p:spTgt>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26627">
                                            <p:txEl>
                                              <p:pRg st="2" end="2"/>
                                            </p:txEl>
                                          </p:spTgt>
                                        </p:tgtEl>
                                        <p:attrNameLst>
                                          <p:attrName>style.visibility</p:attrName>
                                        </p:attrNameLst>
                                      </p:cBhvr>
                                      <p:to>
                                        <p:strVal val="visible"/>
                                      </p:to>
                                    </p:set>
                                    <p:animEffect transition="in" filter="wipe(up)">
                                      <p:cBhvr>
                                        <p:cTn id="14" dur="500"/>
                                        <p:tgtEl>
                                          <p:spTgt spid="26627">
                                            <p:txEl>
                                              <p:pRg st="2" end="2"/>
                                            </p:txEl>
                                          </p:spTgt>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26627">
                                            <p:txEl>
                                              <p:pRg st="3" end="3"/>
                                            </p:txEl>
                                          </p:spTgt>
                                        </p:tgtEl>
                                        <p:attrNameLst>
                                          <p:attrName>style.visibility</p:attrName>
                                        </p:attrNameLst>
                                      </p:cBhvr>
                                      <p:to>
                                        <p:strVal val="visible"/>
                                      </p:to>
                                    </p:set>
                                    <p:animEffect transition="in" filter="wipe(up)">
                                      <p:cBhvr>
                                        <p:cTn id="17" dur="500"/>
                                        <p:tgtEl>
                                          <p:spTgt spid="26627">
                                            <p:txEl>
                                              <p:pRg st="3" end="3"/>
                                            </p:txEl>
                                          </p:spTgt>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26627">
                                            <p:txEl>
                                              <p:pRg st="4" end="4"/>
                                            </p:txEl>
                                          </p:spTgt>
                                        </p:tgtEl>
                                        <p:attrNameLst>
                                          <p:attrName>style.visibility</p:attrName>
                                        </p:attrNameLst>
                                      </p:cBhvr>
                                      <p:to>
                                        <p:strVal val="visible"/>
                                      </p:to>
                                    </p:set>
                                    <p:animEffect transition="in" filter="wipe(up)">
                                      <p:cBhvr>
                                        <p:cTn id="20" dur="500"/>
                                        <p:tgtEl>
                                          <p:spTgt spid="26627">
                                            <p:txEl>
                                              <p:pRg st="4" end="4"/>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26627">
                                            <p:txEl>
                                              <p:pRg st="5" end="5"/>
                                            </p:txEl>
                                          </p:spTgt>
                                        </p:tgtEl>
                                        <p:attrNameLst>
                                          <p:attrName>style.visibility</p:attrName>
                                        </p:attrNameLst>
                                      </p:cBhvr>
                                      <p:to>
                                        <p:strVal val="visible"/>
                                      </p:to>
                                    </p:set>
                                    <p:animEffect transition="in" filter="wipe(up)">
                                      <p:cBhvr>
                                        <p:cTn id="23" dur="500"/>
                                        <p:tgtEl>
                                          <p:spTgt spid="26627">
                                            <p:txEl>
                                              <p:pRg st="5" end="5"/>
                                            </p:txEl>
                                          </p:spTgt>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26627">
                                            <p:txEl>
                                              <p:pRg st="6" end="6"/>
                                            </p:txEl>
                                          </p:spTgt>
                                        </p:tgtEl>
                                        <p:attrNameLst>
                                          <p:attrName>style.visibility</p:attrName>
                                        </p:attrNameLst>
                                      </p:cBhvr>
                                      <p:to>
                                        <p:strVal val="visible"/>
                                      </p:to>
                                    </p:set>
                                    <p:animEffect transition="in" filter="wipe(up)">
                                      <p:cBhvr>
                                        <p:cTn id="26" dur="500"/>
                                        <p:tgtEl>
                                          <p:spTgt spid="26627">
                                            <p:txEl>
                                              <p:pRg st="6" end="6"/>
                                            </p:txEl>
                                          </p:spTgt>
                                        </p:tgtEl>
                                      </p:cBhvr>
                                    </p:animEffect>
                                  </p:childTnLst>
                                </p:cTn>
                              </p:par>
                            </p:childTnLst>
                          </p:cTn>
                        </p:par>
                        <p:par>
                          <p:cTn id="27" fill="hold" nodeType="afterGroup">
                            <p:stCondLst>
                              <p:cond delay="1000"/>
                            </p:stCondLst>
                            <p:childTnLst>
                              <p:par>
                                <p:cTn id="28" presetID="22" presetClass="entr" presetSubtype="1" fill="hold" grpId="0" nodeType="afterEffect">
                                  <p:stCondLst>
                                    <p:cond delay="0"/>
                                  </p:stCondLst>
                                  <p:childTnLst>
                                    <p:set>
                                      <p:cBhvr>
                                        <p:cTn id="29" dur="1" fill="hold">
                                          <p:stCondLst>
                                            <p:cond delay="0"/>
                                          </p:stCondLst>
                                        </p:cTn>
                                        <p:tgtEl>
                                          <p:spTgt spid="26627">
                                            <p:txEl>
                                              <p:pRg st="7" end="7"/>
                                            </p:txEl>
                                          </p:spTgt>
                                        </p:tgtEl>
                                        <p:attrNameLst>
                                          <p:attrName>style.visibility</p:attrName>
                                        </p:attrNameLst>
                                      </p:cBhvr>
                                      <p:to>
                                        <p:strVal val="visible"/>
                                      </p:to>
                                    </p:set>
                                    <p:animEffect transition="in" filter="wipe(up)">
                                      <p:cBhvr>
                                        <p:cTn id="30" dur="500"/>
                                        <p:tgtEl>
                                          <p:spTgt spid="266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bldLvl="2" autoUpdateAnimBg="0" advAuto="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274638"/>
            <a:ext cx="8229600" cy="623887"/>
          </a:xfrm>
          <a:noFill/>
          <a:ln/>
        </p:spPr>
        <p:txBody>
          <a:bodyPr lIns="92075" tIns="46038" rIns="92075" bIns="46038"/>
          <a:lstStyle/>
          <a:p>
            <a:r>
              <a:rPr lang="en-US" sz="4000" i="1">
                <a:solidFill>
                  <a:schemeClr val="hlink"/>
                </a:solidFill>
              </a:rPr>
              <a:t>Coal Bank Hollow Recycling</a:t>
            </a:r>
          </a:p>
        </p:txBody>
      </p:sp>
      <p:sp>
        <p:nvSpPr>
          <p:cNvPr id="27651" name="Rectangle 3"/>
          <p:cNvSpPr>
            <a:spLocks noGrp="1" noChangeArrowheads="1"/>
          </p:cNvSpPr>
          <p:nvPr>
            <p:ph type="body" idx="1"/>
          </p:nvPr>
        </p:nvSpPr>
        <p:spPr>
          <a:xfrm>
            <a:off x="838200" y="1901825"/>
            <a:ext cx="7772400" cy="1650999"/>
          </a:xfrm>
          <a:noFill/>
          <a:ln/>
        </p:spPr>
        <p:txBody>
          <a:bodyPr lIns="92075" tIns="46038" rIns="92075" bIns="46038"/>
          <a:lstStyle/>
          <a:p>
            <a:pPr marL="0" indent="0">
              <a:lnSpc>
                <a:spcPct val="90000"/>
              </a:lnSpc>
              <a:buFont typeface="Wingdings" pitchFamily="2" charset="2"/>
              <a:buNone/>
              <a:tabLst>
                <a:tab pos="2449513" algn="ctr"/>
                <a:tab pos="3367088" algn="ctr"/>
                <a:tab pos="4694238" algn="ctr"/>
                <a:tab pos="5595938" algn="ctr"/>
                <a:tab pos="6923088" algn="ctr"/>
              </a:tabLst>
            </a:pPr>
            <a:r>
              <a:rPr lang="en-US" sz="2100" dirty="0"/>
              <a:t>Material	Cost 	Yield	Cost 	Yield	Supply</a:t>
            </a:r>
          </a:p>
          <a:p>
            <a:pPr marL="0" indent="0">
              <a:lnSpc>
                <a:spcPct val="80000"/>
              </a:lnSpc>
              <a:buFont typeface="Wingdings" pitchFamily="2" charset="2"/>
              <a:buNone/>
              <a:tabLst>
                <a:tab pos="2449513" algn="ctr"/>
                <a:tab pos="3367088" algn="ctr"/>
                <a:tab pos="4694238" algn="ctr"/>
                <a:tab pos="5595938" algn="ctr"/>
                <a:tab pos="6923088" algn="ctr"/>
              </a:tabLst>
            </a:pPr>
            <a:r>
              <a:rPr lang="en-US" sz="2100" dirty="0"/>
              <a:t>Newspaper	$13	90%	$12	85%	70 tons</a:t>
            </a:r>
          </a:p>
          <a:p>
            <a:pPr marL="0" indent="0">
              <a:lnSpc>
                <a:spcPct val="80000"/>
              </a:lnSpc>
              <a:buFont typeface="Wingdings" pitchFamily="2" charset="2"/>
              <a:buNone/>
              <a:tabLst>
                <a:tab pos="2449513" algn="ctr"/>
                <a:tab pos="3367088" algn="ctr"/>
                <a:tab pos="4694238" algn="ctr"/>
                <a:tab pos="5595938" algn="ctr"/>
                <a:tab pos="6923088" algn="ctr"/>
              </a:tabLst>
            </a:pPr>
            <a:r>
              <a:rPr lang="en-US" sz="2100" dirty="0"/>
              <a:t>Mixed Paper	$11	80%	$13	85%	50 tons</a:t>
            </a:r>
          </a:p>
          <a:p>
            <a:pPr marL="0" indent="0">
              <a:lnSpc>
                <a:spcPct val="80000"/>
              </a:lnSpc>
              <a:buFont typeface="Wingdings" pitchFamily="2" charset="2"/>
              <a:buNone/>
              <a:tabLst>
                <a:tab pos="2449513" algn="ctr"/>
                <a:tab pos="3367088" algn="ctr"/>
                <a:tab pos="4694238" algn="ctr"/>
                <a:tab pos="5595938" algn="ctr"/>
                <a:tab pos="6923088" algn="ctr"/>
              </a:tabLst>
            </a:pPr>
            <a:r>
              <a:rPr lang="en-US" sz="2100" dirty="0"/>
              <a:t>White Office Paper	$9	95%	$10	90%	30 tons</a:t>
            </a:r>
          </a:p>
          <a:p>
            <a:pPr marL="0" indent="0">
              <a:lnSpc>
                <a:spcPct val="80000"/>
              </a:lnSpc>
              <a:buFont typeface="Wingdings" pitchFamily="2" charset="2"/>
              <a:buNone/>
              <a:tabLst>
                <a:tab pos="2449513" algn="ctr"/>
                <a:tab pos="3367088" algn="ctr"/>
                <a:tab pos="4694238" algn="ctr"/>
                <a:tab pos="5595938" algn="ctr"/>
                <a:tab pos="6923088" algn="ctr"/>
              </a:tabLst>
            </a:pPr>
            <a:r>
              <a:rPr lang="en-US" sz="2100" dirty="0"/>
              <a:t>Cardboard	$13	75%	$14	85%	40 tons</a:t>
            </a:r>
          </a:p>
        </p:txBody>
      </p:sp>
      <p:sp>
        <p:nvSpPr>
          <p:cNvPr id="27652" name="Rectangle 4"/>
          <p:cNvSpPr>
            <a:spLocks noChangeArrowheads="1"/>
          </p:cNvSpPr>
          <p:nvPr/>
        </p:nvSpPr>
        <p:spPr bwMode="auto">
          <a:xfrm>
            <a:off x="879475" y="1447800"/>
            <a:ext cx="7994650"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tabLst>
                <a:tab pos="2908300" algn="ctr"/>
                <a:tab pos="5205413" algn="ctr"/>
              </a:tabLst>
            </a:pPr>
            <a:r>
              <a:rPr lang="en-US" sz="1900" b="1">
                <a:latin typeface="Tahoma" pitchFamily="34" charset="0"/>
              </a:rPr>
              <a:t>	</a:t>
            </a:r>
            <a:r>
              <a:rPr lang="en-US" sz="2100">
                <a:latin typeface="Tahoma" pitchFamily="34" charset="0"/>
              </a:rPr>
              <a:t>Process 1	Process 2</a:t>
            </a:r>
          </a:p>
        </p:txBody>
      </p:sp>
      <p:sp>
        <p:nvSpPr>
          <p:cNvPr id="27653" name="Line 5"/>
          <p:cNvSpPr>
            <a:spLocks noChangeShapeType="1"/>
          </p:cNvSpPr>
          <p:nvPr/>
        </p:nvSpPr>
        <p:spPr bwMode="auto">
          <a:xfrm>
            <a:off x="2903538" y="1871663"/>
            <a:ext cx="4387850"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4" name="Line 6"/>
          <p:cNvSpPr>
            <a:spLocks noChangeShapeType="1"/>
          </p:cNvSpPr>
          <p:nvPr/>
        </p:nvSpPr>
        <p:spPr bwMode="auto">
          <a:xfrm>
            <a:off x="930275" y="2246313"/>
            <a:ext cx="7516813"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5" name="Rectangle 7"/>
          <p:cNvSpPr>
            <a:spLocks noChangeArrowheads="1"/>
          </p:cNvSpPr>
          <p:nvPr/>
        </p:nvSpPr>
        <p:spPr bwMode="auto">
          <a:xfrm>
            <a:off x="420688" y="4419600"/>
            <a:ext cx="8402637" cy="1096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tabLst>
                <a:tab pos="3027363" algn="ctr"/>
                <a:tab pos="3827463" algn="ctr"/>
                <a:tab pos="4967288" algn="ctr"/>
                <a:tab pos="5765800" algn="ctr"/>
                <a:tab pos="7024688" algn="ctr"/>
                <a:tab pos="7824788" algn="ctr"/>
              </a:tabLst>
            </a:pPr>
            <a:r>
              <a:rPr lang="en-US" sz="2200" dirty="0">
                <a:latin typeface="Tahoma" pitchFamily="34" charset="0"/>
              </a:rPr>
              <a:t>Pulp Source	Cost	Yield	Cost	Yield	Cost	Yield</a:t>
            </a:r>
          </a:p>
          <a:p>
            <a:pPr eaLnBrk="0" hangingPunct="0">
              <a:tabLst>
                <a:tab pos="3027363" algn="ctr"/>
                <a:tab pos="3827463" algn="ctr"/>
                <a:tab pos="4967288" algn="ctr"/>
                <a:tab pos="5765800" algn="ctr"/>
                <a:tab pos="7024688" algn="ctr"/>
                <a:tab pos="7824788" algn="ctr"/>
              </a:tabLst>
            </a:pPr>
            <a:r>
              <a:rPr lang="en-US" sz="2200" dirty="0">
                <a:latin typeface="Tahoma" pitchFamily="34" charset="0"/>
              </a:rPr>
              <a:t>Recycling Process 1	$5	95%	$6	90%	$8	90%</a:t>
            </a:r>
          </a:p>
          <a:p>
            <a:pPr eaLnBrk="0" hangingPunct="0">
              <a:tabLst>
                <a:tab pos="3027363" algn="ctr"/>
                <a:tab pos="3827463" algn="ctr"/>
                <a:tab pos="4967288" algn="ctr"/>
                <a:tab pos="5765800" algn="ctr"/>
                <a:tab pos="7024688" algn="ctr"/>
                <a:tab pos="7824788" algn="ctr"/>
              </a:tabLst>
            </a:pPr>
            <a:r>
              <a:rPr lang="en-US" sz="2200" dirty="0">
                <a:latin typeface="Tahoma" pitchFamily="34" charset="0"/>
              </a:rPr>
              <a:t>Recycling Process 2	$6	90%	$8	95%	$7	95%</a:t>
            </a:r>
          </a:p>
        </p:txBody>
      </p:sp>
      <p:sp>
        <p:nvSpPr>
          <p:cNvPr id="27656" name="Rectangle 8"/>
          <p:cNvSpPr>
            <a:spLocks noChangeArrowheads="1"/>
          </p:cNvSpPr>
          <p:nvPr/>
        </p:nvSpPr>
        <p:spPr bwMode="auto">
          <a:xfrm>
            <a:off x="450850" y="3962400"/>
            <a:ext cx="8588375"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tabLst>
                <a:tab pos="3316288" algn="ctr"/>
                <a:tab pos="5307013" algn="ctr"/>
                <a:tab pos="7364413" algn="ctr"/>
              </a:tabLst>
            </a:pPr>
            <a:r>
              <a:rPr lang="en-US" sz="2200">
                <a:latin typeface="Tahoma" pitchFamily="34" charset="0"/>
              </a:rPr>
              <a:t>	</a:t>
            </a:r>
            <a:r>
              <a:rPr lang="en-US" sz="2100">
                <a:latin typeface="Tahoma" pitchFamily="34" charset="0"/>
              </a:rPr>
              <a:t>Newsprint 	 Packaging Paper	 Print Stock 	</a:t>
            </a:r>
          </a:p>
        </p:txBody>
      </p:sp>
      <p:sp>
        <p:nvSpPr>
          <p:cNvPr id="27657" name="Line 9"/>
          <p:cNvSpPr>
            <a:spLocks noChangeShapeType="1"/>
          </p:cNvSpPr>
          <p:nvPr/>
        </p:nvSpPr>
        <p:spPr bwMode="auto">
          <a:xfrm>
            <a:off x="3001963" y="4386263"/>
            <a:ext cx="5730875"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8" name="Line 10"/>
          <p:cNvSpPr>
            <a:spLocks noChangeShapeType="1"/>
          </p:cNvSpPr>
          <p:nvPr/>
        </p:nvSpPr>
        <p:spPr bwMode="auto">
          <a:xfrm>
            <a:off x="434975" y="4792663"/>
            <a:ext cx="8351838"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9" name="Line 11"/>
          <p:cNvSpPr>
            <a:spLocks noChangeShapeType="1"/>
          </p:cNvSpPr>
          <p:nvPr/>
        </p:nvSpPr>
        <p:spPr bwMode="auto">
          <a:xfrm>
            <a:off x="412750" y="5507038"/>
            <a:ext cx="8351838"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60" name="Rectangle 12"/>
          <p:cNvSpPr>
            <a:spLocks noChangeArrowheads="1"/>
          </p:cNvSpPr>
          <p:nvPr/>
        </p:nvSpPr>
        <p:spPr bwMode="auto">
          <a:xfrm>
            <a:off x="433388" y="5492750"/>
            <a:ext cx="8588375" cy="43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tabLst>
                <a:tab pos="3316288" algn="ctr"/>
                <a:tab pos="5307013" algn="ctr"/>
                <a:tab pos="7364413" algn="ctr"/>
              </a:tabLst>
            </a:pPr>
            <a:r>
              <a:rPr lang="en-US" sz="2200" dirty="0">
                <a:latin typeface="Tahoma" pitchFamily="34" charset="0"/>
              </a:rPr>
              <a:t>Contracted demand	60 tons	40 tons	50 tons	</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914400" y="228600"/>
            <a:ext cx="7772400" cy="555625"/>
          </a:xfrm>
          <a:noFill/>
          <a:ln/>
        </p:spPr>
        <p:txBody>
          <a:bodyPr lIns="92075" tIns="46038" rIns="92075" bIns="46038"/>
          <a:lstStyle/>
          <a:p>
            <a:r>
              <a:rPr lang="en-US" sz="4000" i="1">
                <a:solidFill>
                  <a:schemeClr val="hlink"/>
                </a:solidFill>
              </a:rPr>
              <a:t>Network for Recycling Problem</a:t>
            </a:r>
          </a:p>
        </p:txBody>
      </p:sp>
      <p:sp>
        <p:nvSpPr>
          <p:cNvPr id="28675" name="Freeform 3"/>
          <p:cNvSpPr>
            <a:spLocks/>
          </p:cNvSpPr>
          <p:nvPr/>
        </p:nvSpPr>
        <p:spPr bwMode="auto">
          <a:xfrm>
            <a:off x="1228725" y="944563"/>
            <a:ext cx="957263" cy="941387"/>
          </a:xfrm>
          <a:custGeom>
            <a:avLst/>
            <a:gdLst>
              <a:gd name="T0" fmla="*/ 602 w 603"/>
              <a:gd name="T1" fmla="*/ 296 h 593"/>
              <a:gd name="T2" fmla="*/ 595 w 603"/>
              <a:gd name="T3" fmla="*/ 236 h 593"/>
              <a:gd name="T4" fmla="*/ 578 w 603"/>
              <a:gd name="T5" fmla="*/ 180 h 593"/>
              <a:gd name="T6" fmla="*/ 550 w 603"/>
              <a:gd name="T7" fmla="*/ 130 h 593"/>
              <a:gd name="T8" fmla="*/ 513 w 603"/>
              <a:gd name="T9" fmla="*/ 86 h 593"/>
              <a:gd name="T10" fmla="*/ 469 w 603"/>
              <a:gd name="T11" fmla="*/ 50 h 593"/>
              <a:gd name="T12" fmla="*/ 418 w 603"/>
              <a:gd name="T13" fmla="*/ 23 h 593"/>
              <a:gd name="T14" fmla="*/ 361 w 603"/>
              <a:gd name="T15" fmla="*/ 5 h 593"/>
              <a:gd name="T16" fmla="*/ 301 w 603"/>
              <a:gd name="T17" fmla="*/ 0 h 593"/>
              <a:gd name="T18" fmla="*/ 240 w 603"/>
              <a:gd name="T19" fmla="*/ 5 h 593"/>
              <a:gd name="T20" fmla="*/ 183 w 603"/>
              <a:gd name="T21" fmla="*/ 23 h 593"/>
              <a:gd name="T22" fmla="*/ 132 w 603"/>
              <a:gd name="T23" fmla="*/ 50 h 593"/>
              <a:gd name="T24" fmla="*/ 88 w 603"/>
              <a:gd name="T25" fmla="*/ 86 h 593"/>
              <a:gd name="T26" fmla="*/ 51 w 603"/>
              <a:gd name="T27" fmla="*/ 130 h 593"/>
              <a:gd name="T28" fmla="*/ 23 w 603"/>
              <a:gd name="T29" fmla="*/ 180 h 593"/>
              <a:gd name="T30" fmla="*/ 6 w 603"/>
              <a:gd name="T31" fmla="*/ 236 h 593"/>
              <a:gd name="T32" fmla="*/ 0 w 603"/>
              <a:gd name="T33" fmla="*/ 296 h 593"/>
              <a:gd name="T34" fmla="*/ 6 w 603"/>
              <a:gd name="T35" fmla="*/ 355 h 593"/>
              <a:gd name="T36" fmla="*/ 23 w 603"/>
              <a:gd name="T37" fmla="*/ 411 h 593"/>
              <a:gd name="T38" fmla="*/ 51 w 603"/>
              <a:gd name="T39" fmla="*/ 461 h 593"/>
              <a:gd name="T40" fmla="*/ 88 w 603"/>
              <a:gd name="T41" fmla="*/ 505 h 593"/>
              <a:gd name="T42" fmla="*/ 132 w 603"/>
              <a:gd name="T43" fmla="*/ 541 h 593"/>
              <a:gd name="T44" fmla="*/ 183 w 603"/>
              <a:gd name="T45" fmla="*/ 568 h 593"/>
              <a:gd name="T46" fmla="*/ 240 w 603"/>
              <a:gd name="T47" fmla="*/ 585 h 593"/>
              <a:gd name="T48" fmla="*/ 301 w 603"/>
              <a:gd name="T49" fmla="*/ 592 h 593"/>
              <a:gd name="T50" fmla="*/ 361 w 603"/>
              <a:gd name="T51" fmla="*/ 585 h 593"/>
              <a:gd name="T52" fmla="*/ 418 w 603"/>
              <a:gd name="T53" fmla="*/ 568 h 593"/>
              <a:gd name="T54" fmla="*/ 469 w 603"/>
              <a:gd name="T55" fmla="*/ 541 h 593"/>
              <a:gd name="T56" fmla="*/ 513 w 603"/>
              <a:gd name="T57" fmla="*/ 505 h 593"/>
              <a:gd name="T58" fmla="*/ 550 w 603"/>
              <a:gd name="T59" fmla="*/ 461 h 593"/>
              <a:gd name="T60" fmla="*/ 578 w 603"/>
              <a:gd name="T61" fmla="*/ 411 h 593"/>
              <a:gd name="T62" fmla="*/ 595 w 603"/>
              <a:gd name="T63" fmla="*/ 355 h 593"/>
              <a:gd name="T64" fmla="*/ 602 w 603"/>
              <a:gd name="T65" fmla="*/ 296 h 593"/>
              <a:gd name="T66" fmla="*/ 602 w 603"/>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03" h="593">
                <a:moveTo>
                  <a:pt x="602" y="296"/>
                </a:moveTo>
                <a:lnTo>
                  <a:pt x="595" y="236"/>
                </a:lnTo>
                <a:lnTo>
                  <a:pt x="578" y="180"/>
                </a:lnTo>
                <a:lnTo>
                  <a:pt x="550" y="130"/>
                </a:lnTo>
                <a:lnTo>
                  <a:pt x="513" y="86"/>
                </a:lnTo>
                <a:lnTo>
                  <a:pt x="469" y="50"/>
                </a:lnTo>
                <a:lnTo>
                  <a:pt x="418" y="23"/>
                </a:lnTo>
                <a:lnTo>
                  <a:pt x="361" y="5"/>
                </a:lnTo>
                <a:lnTo>
                  <a:pt x="301" y="0"/>
                </a:lnTo>
                <a:lnTo>
                  <a:pt x="240" y="5"/>
                </a:lnTo>
                <a:lnTo>
                  <a:pt x="183" y="23"/>
                </a:lnTo>
                <a:lnTo>
                  <a:pt x="132" y="50"/>
                </a:lnTo>
                <a:lnTo>
                  <a:pt x="88" y="86"/>
                </a:lnTo>
                <a:lnTo>
                  <a:pt x="51" y="130"/>
                </a:lnTo>
                <a:lnTo>
                  <a:pt x="23" y="180"/>
                </a:lnTo>
                <a:lnTo>
                  <a:pt x="6" y="236"/>
                </a:lnTo>
                <a:lnTo>
                  <a:pt x="0" y="296"/>
                </a:lnTo>
                <a:lnTo>
                  <a:pt x="6" y="355"/>
                </a:lnTo>
                <a:lnTo>
                  <a:pt x="23" y="411"/>
                </a:lnTo>
                <a:lnTo>
                  <a:pt x="51" y="461"/>
                </a:lnTo>
                <a:lnTo>
                  <a:pt x="88" y="505"/>
                </a:lnTo>
                <a:lnTo>
                  <a:pt x="132" y="541"/>
                </a:lnTo>
                <a:lnTo>
                  <a:pt x="183" y="568"/>
                </a:lnTo>
                <a:lnTo>
                  <a:pt x="240" y="585"/>
                </a:lnTo>
                <a:lnTo>
                  <a:pt x="301" y="592"/>
                </a:lnTo>
                <a:lnTo>
                  <a:pt x="361" y="585"/>
                </a:lnTo>
                <a:lnTo>
                  <a:pt x="418" y="568"/>
                </a:lnTo>
                <a:lnTo>
                  <a:pt x="469" y="541"/>
                </a:lnTo>
                <a:lnTo>
                  <a:pt x="513" y="505"/>
                </a:lnTo>
                <a:lnTo>
                  <a:pt x="550" y="461"/>
                </a:lnTo>
                <a:lnTo>
                  <a:pt x="578" y="411"/>
                </a:lnTo>
                <a:lnTo>
                  <a:pt x="595" y="355"/>
                </a:lnTo>
                <a:lnTo>
                  <a:pt x="602" y="296"/>
                </a:lnTo>
                <a:lnTo>
                  <a:pt x="602"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76" name="Rectangle 4"/>
          <p:cNvSpPr>
            <a:spLocks noChangeArrowheads="1"/>
          </p:cNvSpPr>
          <p:nvPr/>
        </p:nvSpPr>
        <p:spPr bwMode="auto">
          <a:xfrm>
            <a:off x="1231900" y="1217613"/>
            <a:ext cx="9969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200" b="1">
                <a:solidFill>
                  <a:srgbClr val="3399FF"/>
                </a:solidFill>
              </a:rPr>
              <a:t>Newspaper</a:t>
            </a:r>
          </a:p>
        </p:txBody>
      </p:sp>
      <p:sp>
        <p:nvSpPr>
          <p:cNvPr id="28677" name="Rectangle 5"/>
          <p:cNvSpPr>
            <a:spLocks noChangeArrowheads="1"/>
          </p:cNvSpPr>
          <p:nvPr/>
        </p:nvSpPr>
        <p:spPr bwMode="auto">
          <a:xfrm>
            <a:off x="1568450" y="1447800"/>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1</a:t>
            </a:r>
          </a:p>
        </p:txBody>
      </p:sp>
      <p:sp>
        <p:nvSpPr>
          <p:cNvPr id="28678" name="Freeform 6"/>
          <p:cNvSpPr>
            <a:spLocks/>
          </p:cNvSpPr>
          <p:nvPr/>
        </p:nvSpPr>
        <p:spPr bwMode="auto">
          <a:xfrm>
            <a:off x="1228725" y="2387600"/>
            <a:ext cx="957263" cy="941388"/>
          </a:xfrm>
          <a:custGeom>
            <a:avLst/>
            <a:gdLst>
              <a:gd name="T0" fmla="*/ 602 w 603"/>
              <a:gd name="T1" fmla="*/ 296 h 593"/>
              <a:gd name="T2" fmla="*/ 595 w 603"/>
              <a:gd name="T3" fmla="*/ 236 h 593"/>
              <a:gd name="T4" fmla="*/ 578 w 603"/>
              <a:gd name="T5" fmla="*/ 181 h 593"/>
              <a:gd name="T6" fmla="*/ 550 w 603"/>
              <a:gd name="T7" fmla="*/ 130 h 593"/>
              <a:gd name="T8" fmla="*/ 513 w 603"/>
              <a:gd name="T9" fmla="*/ 86 h 593"/>
              <a:gd name="T10" fmla="*/ 469 w 603"/>
              <a:gd name="T11" fmla="*/ 51 h 593"/>
              <a:gd name="T12" fmla="*/ 418 w 603"/>
              <a:gd name="T13" fmla="*/ 23 h 593"/>
              <a:gd name="T14" fmla="*/ 361 w 603"/>
              <a:gd name="T15" fmla="*/ 6 h 593"/>
              <a:gd name="T16" fmla="*/ 301 w 603"/>
              <a:gd name="T17" fmla="*/ 0 h 593"/>
              <a:gd name="T18" fmla="*/ 240 w 603"/>
              <a:gd name="T19" fmla="*/ 6 h 593"/>
              <a:gd name="T20" fmla="*/ 183 w 603"/>
              <a:gd name="T21" fmla="*/ 23 h 593"/>
              <a:gd name="T22" fmla="*/ 132 w 603"/>
              <a:gd name="T23" fmla="*/ 51 h 593"/>
              <a:gd name="T24" fmla="*/ 88 w 603"/>
              <a:gd name="T25" fmla="*/ 86 h 593"/>
              <a:gd name="T26" fmla="*/ 51 w 603"/>
              <a:gd name="T27" fmla="*/ 130 h 593"/>
              <a:gd name="T28" fmla="*/ 23 w 603"/>
              <a:gd name="T29" fmla="*/ 181 h 593"/>
              <a:gd name="T30" fmla="*/ 6 w 603"/>
              <a:gd name="T31" fmla="*/ 236 h 593"/>
              <a:gd name="T32" fmla="*/ 0 w 603"/>
              <a:gd name="T33" fmla="*/ 296 h 593"/>
              <a:gd name="T34" fmla="*/ 6 w 603"/>
              <a:gd name="T35" fmla="*/ 355 h 593"/>
              <a:gd name="T36" fmla="*/ 23 w 603"/>
              <a:gd name="T37" fmla="*/ 411 h 593"/>
              <a:gd name="T38" fmla="*/ 51 w 603"/>
              <a:gd name="T39" fmla="*/ 461 h 593"/>
              <a:gd name="T40" fmla="*/ 88 w 603"/>
              <a:gd name="T41" fmla="*/ 505 h 593"/>
              <a:gd name="T42" fmla="*/ 132 w 603"/>
              <a:gd name="T43" fmla="*/ 541 h 593"/>
              <a:gd name="T44" fmla="*/ 183 w 603"/>
              <a:gd name="T45" fmla="*/ 569 h 593"/>
              <a:gd name="T46" fmla="*/ 240 w 603"/>
              <a:gd name="T47" fmla="*/ 586 h 593"/>
              <a:gd name="T48" fmla="*/ 301 w 603"/>
              <a:gd name="T49" fmla="*/ 592 h 593"/>
              <a:gd name="T50" fmla="*/ 361 w 603"/>
              <a:gd name="T51" fmla="*/ 586 h 593"/>
              <a:gd name="T52" fmla="*/ 418 w 603"/>
              <a:gd name="T53" fmla="*/ 569 h 593"/>
              <a:gd name="T54" fmla="*/ 469 w 603"/>
              <a:gd name="T55" fmla="*/ 541 h 593"/>
              <a:gd name="T56" fmla="*/ 513 w 603"/>
              <a:gd name="T57" fmla="*/ 505 h 593"/>
              <a:gd name="T58" fmla="*/ 550 w 603"/>
              <a:gd name="T59" fmla="*/ 461 h 593"/>
              <a:gd name="T60" fmla="*/ 578 w 603"/>
              <a:gd name="T61" fmla="*/ 411 h 593"/>
              <a:gd name="T62" fmla="*/ 595 w 603"/>
              <a:gd name="T63" fmla="*/ 355 h 593"/>
              <a:gd name="T64" fmla="*/ 602 w 603"/>
              <a:gd name="T65" fmla="*/ 296 h 593"/>
              <a:gd name="T66" fmla="*/ 602 w 603"/>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03" h="593">
                <a:moveTo>
                  <a:pt x="602" y="296"/>
                </a:moveTo>
                <a:lnTo>
                  <a:pt x="595" y="236"/>
                </a:lnTo>
                <a:lnTo>
                  <a:pt x="578" y="181"/>
                </a:lnTo>
                <a:lnTo>
                  <a:pt x="550" y="130"/>
                </a:lnTo>
                <a:lnTo>
                  <a:pt x="513" y="86"/>
                </a:lnTo>
                <a:lnTo>
                  <a:pt x="469" y="51"/>
                </a:lnTo>
                <a:lnTo>
                  <a:pt x="418" y="23"/>
                </a:lnTo>
                <a:lnTo>
                  <a:pt x="361" y="6"/>
                </a:lnTo>
                <a:lnTo>
                  <a:pt x="301" y="0"/>
                </a:lnTo>
                <a:lnTo>
                  <a:pt x="240" y="6"/>
                </a:lnTo>
                <a:lnTo>
                  <a:pt x="183" y="23"/>
                </a:lnTo>
                <a:lnTo>
                  <a:pt x="132" y="51"/>
                </a:lnTo>
                <a:lnTo>
                  <a:pt x="88" y="86"/>
                </a:lnTo>
                <a:lnTo>
                  <a:pt x="51" y="130"/>
                </a:lnTo>
                <a:lnTo>
                  <a:pt x="23" y="181"/>
                </a:lnTo>
                <a:lnTo>
                  <a:pt x="6" y="236"/>
                </a:lnTo>
                <a:lnTo>
                  <a:pt x="0" y="296"/>
                </a:lnTo>
                <a:lnTo>
                  <a:pt x="6" y="355"/>
                </a:lnTo>
                <a:lnTo>
                  <a:pt x="23" y="411"/>
                </a:lnTo>
                <a:lnTo>
                  <a:pt x="51" y="461"/>
                </a:lnTo>
                <a:lnTo>
                  <a:pt x="88" y="505"/>
                </a:lnTo>
                <a:lnTo>
                  <a:pt x="132" y="541"/>
                </a:lnTo>
                <a:lnTo>
                  <a:pt x="183" y="569"/>
                </a:lnTo>
                <a:lnTo>
                  <a:pt x="240" y="586"/>
                </a:lnTo>
                <a:lnTo>
                  <a:pt x="301" y="592"/>
                </a:lnTo>
                <a:lnTo>
                  <a:pt x="361" y="586"/>
                </a:lnTo>
                <a:lnTo>
                  <a:pt x="418" y="569"/>
                </a:lnTo>
                <a:lnTo>
                  <a:pt x="469" y="541"/>
                </a:lnTo>
                <a:lnTo>
                  <a:pt x="513" y="505"/>
                </a:lnTo>
                <a:lnTo>
                  <a:pt x="550" y="461"/>
                </a:lnTo>
                <a:lnTo>
                  <a:pt x="578" y="411"/>
                </a:lnTo>
                <a:lnTo>
                  <a:pt x="595" y="355"/>
                </a:lnTo>
                <a:lnTo>
                  <a:pt x="602" y="296"/>
                </a:lnTo>
                <a:lnTo>
                  <a:pt x="602"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79" name="Rectangle 7"/>
          <p:cNvSpPr>
            <a:spLocks noChangeArrowheads="1"/>
          </p:cNvSpPr>
          <p:nvPr/>
        </p:nvSpPr>
        <p:spPr bwMode="auto">
          <a:xfrm>
            <a:off x="1414463" y="2576513"/>
            <a:ext cx="698500" cy="29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300" b="1">
                <a:solidFill>
                  <a:srgbClr val="3399FF"/>
                </a:solidFill>
              </a:rPr>
              <a:t>Mixed </a:t>
            </a:r>
          </a:p>
        </p:txBody>
      </p:sp>
      <p:sp>
        <p:nvSpPr>
          <p:cNvPr id="28680" name="Rectangle 8"/>
          <p:cNvSpPr>
            <a:spLocks noChangeArrowheads="1"/>
          </p:cNvSpPr>
          <p:nvPr/>
        </p:nvSpPr>
        <p:spPr bwMode="auto">
          <a:xfrm>
            <a:off x="1414463" y="2778125"/>
            <a:ext cx="633412"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300" b="1">
                <a:solidFill>
                  <a:srgbClr val="3399FF"/>
                </a:solidFill>
              </a:rPr>
              <a:t>paper</a:t>
            </a:r>
          </a:p>
        </p:txBody>
      </p:sp>
      <p:sp>
        <p:nvSpPr>
          <p:cNvPr id="28681" name="Rectangle 9"/>
          <p:cNvSpPr>
            <a:spLocks noChangeArrowheads="1"/>
          </p:cNvSpPr>
          <p:nvPr/>
        </p:nvSpPr>
        <p:spPr bwMode="auto">
          <a:xfrm>
            <a:off x="1536700" y="2998788"/>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2</a:t>
            </a:r>
          </a:p>
        </p:txBody>
      </p:sp>
      <p:sp>
        <p:nvSpPr>
          <p:cNvPr id="28682" name="Freeform 10"/>
          <p:cNvSpPr>
            <a:spLocks/>
          </p:cNvSpPr>
          <p:nvPr/>
        </p:nvSpPr>
        <p:spPr bwMode="auto">
          <a:xfrm>
            <a:off x="1201738" y="3913188"/>
            <a:ext cx="957262" cy="941387"/>
          </a:xfrm>
          <a:custGeom>
            <a:avLst/>
            <a:gdLst>
              <a:gd name="T0" fmla="*/ 602 w 603"/>
              <a:gd name="T1" fmla="*/ 296 h 593"/>
              <a:gd name="T2" fmla="*/ 596 w 603"/>
              <a:gd name="T3" fmla="*/ 236 h 593"/>
              <a:gd name="T4" fmla="*/ 578 w 603"/>
              <a:gd name="T5" fmla="*/ 181 h 593"/>
              <a:gd name="T6" fmla="*/ 550 w 603"/>
              <a:gd name="T7" fmla="*/ 130 h 593"/>
              <a:gd name="T8" fmla="*/ 513 w 603"/>
              <a:gd name="T9" fmla="*/ 86 h 593"/>
              <a:gd name="T10" fmla="*/ 469 w 603"/>
              <a:gd name="T11" fmla="*/ 51 h 593"/>
              <a:gd name="T12" fmla="*/ 418 w 603"/>
              <a:gd name="T13" fmla="*/ 23 h 593"/>
              <a:gd name="T14" fmla="*/ 361 w 603"/>
              <a:gd name="T15" fmla="*/ 6 h 593"/>
              <a:gd name="T16" fmla="*/ 301 w 603"/>
              <a:gd name="T17" fmla="*/ 0 h 593"/>
              <a:gd name="T18" fmla="*/ 240 w 603"/>
              <a:gd name="T19" fmla="*/ 6 h 593"/>
              <a:gd name="T20" fmla="*/ 184 w 603"/>
              <a:gd name="T21" fmla="*/ 23 h 593"/>
              <a:gd name="T22" fmla="*/ 133 w 603"/>
              <a:gd name="T23" fmla="*/ 51 h 593"/>
              <a:gd name="T24" fmla="*/ 88 w 603"/>
              <a:gd name="T25" fmla="*/ 86 h 593"/>
              <a:gd name="T26" fmla="*/ 51 w 603"/>
              <a:gd name="T27" fmla="*/ 130 h 593"/>
              <a:gd name="T28" fmla="*/ 24 w 603"/>
              <a:gd name="T29" fmla="*/ 181 h 593"/>
              <a:gd name="T30" fmla="*/ 6 w 603"/>
              <a:gd name="T31" fmla="*/ 236 h 593"/>
              <a:gd name="T32" fmla="*/ 0 w 603"/>
              <a:gd name="T33" fmla="*/ 296 h 593"/>
              <a:gd name="T34" fmla="*/ 6 w 603"/>
              <a:gd name="T35" fmla="*/ 355 h 593"/>
              <a:gd name="T36" fmla="*/ 24 w 603"/>
              <a:gd name="T37" fmla="*/ 411 h 593"/>
              <a:gd name="T38" fmla="*/ 51 w 603"/>
              <a:gd name="T39" fmla="*/ 461 h 593"/>
              <a:gd name="T40" fmla="*/ 88 w 603"/>
              <a:gd name="T41" fmla="*/ 505 h 593"/>
              <a:gd name="T42" fmla="*/ 133 w 603"/>
              <a:gd name="T43" fmla="*/ 541 h 593"/>
              <a:gd name="T44" fmla="*/ 184 w 603"/>
              <a:gd name="T45" fmla="*/ 569 h 593"/>
              <a:gd name="T46" fmla="*/ 240 w 603"/>
              <a:gd name="T47" fmla="*/ 586 h 593"/>
              <a:gd name="T48" fmla="*/ 301 w 603"/>
              <a:gd name="T49" fmla="*/ 592 h 593"/>
              <a:gd name="T50" fmla="*/ 361 w 603"/>
              <a:gd name="T51" fmla="*/ 586 h 593"/>
              <a:gd name="T52" fmla="*/ 418 w 603"/>
              <a:gd name="T53" fmla="*/ 569 h 593"/>
              <a:gd name="T54" fmla="*/ 469 w 603"/>
              <a:gd name="T55" fmla="*/ 541 h 593"/>
              <a:gd name="T56" fmla="*/ 513 w 603"/>
              <a:gd name="T57" fmla="*/ 505 h 593"/>
              <a:gd name="T58" fmla="*/ 550 w 603"/>
              <a:gd name="T59" fmla="*/ 461 h 593"/>
              <a:gd name="T60" fmla="*/ 578 w 603"/>
              <a:gd name="T61" fmla="*/ 411 h 593"/>
              <a:gd name="T62" fmla="*/ 596 w 603"/>
              <a:gd name="T63" fmla="*/ 355 h 593"/>
              <a:gd name="T64" fmla="*/ 602 w 603"/>
              <a:gd name="T65" fmla="*/ 296 h 593"/>
              <a:gd name="T66" fmla="*/ 602 w 603"/>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03" h="593">
                <a:moveTo>
                  <a:pt x="602" y="296"/>
                </a:moveTo>
                <a:lnTo>
                  <a:pt x="596" y="236"/>
                </a:lnTo>
                <a:lnTo>
                  <a:pt x="578" y="181"/>
                </a:lnTo>
                <a:lnTo>
                  <a:pt x="550" y="130"/>
                </a:lnTo>
                <a:lnTo>
                  <a:pt x="513" y="86"/>
                </a:lnTo>
                <a:lnTo>
                  <a:pt x="469" y="51"/>
                </a:lnTo>
                <a:lnTo>
                  <a:pt x="418" y="23"/>
                </a:lnTo>
                <a:lnTo>
                  <a:pt x="361" y="6"/>
                </a:lnTo>
                <a:lnTo>
                  <a:pt x="301" y="0"/>
                </a:lnTo>
                <a:lnTo>
                  <a:pt x="240" y="6"/>
                </a:lnTo>
                <a:lnTo>
                  <a:pt x="184" y="23"/>
                </a:lnTo>
                <a:lnTo>
                  <a:pt x="133" y="51"/>
                </a:lnTo>
                <a:lnTo>
                  <a:pt x="88" y="86"/>
                </a:lnTo>
                <a:lnTo>
                  <a:pt x="51" y="130"/>
                </a:lnTo>
                <a:lnTo>
                  <a:pt x="24" y="181"/>
                </a:lnTo>
                <a:lnTo>
                  <a:pt x="6" y="236"/>
                </a:lnTo>
                <a:lnTo>
                  <a:pt x="0" y="296"/>
                </a:lnTo>
                <a:lnTo>
                  <a:pt x="6" y="355"/>
                </a:lnTo>
                <a:lnTo>
                  <a:pt x="24" y="411"/>
                </a:lnTo>
                <a:lnTo>
                  <a:pt x="51" y="461"/>
                </a:lnTo>
                <a:lnTo>
                  <a:pt x="88" y="505"/>
                </a:lnTo>
                <a:lnTo>
                  <a:pt x="133" y="541"/>
                </a:lnTo>
                <a:lnTo>
                  <a:pt x="184" y="569"/>
                </a:lnTo>
                <a:lnTo>
                  <a:pt x="240" y="586"/>
                </a:lnTo>
                <a:lnTo>
                  <a:pt x="301" y="592"/>
                </a:lnTo>
                <a:lnTo>
                  <a:pt x="361" y="586"/>
                </a:lnTo>
                <a:lnTo>
                  <a:pt x="418" y="569"/>
                </a:lnTo>
                <a:lnTo>
                  <a:pt x="469" y="541"/>
                </a:lnTo>
                <a:lnTo>
                  <a:pt x="513" y="505"/>
                </a:lnTo>
                <a:lnTo>
                  <a:pt x="550" y="461"/>
                </a:lnTo>
                <a:lnTo>
                  <a:pt x="578" y="411"/>
                </a:lnTo>
                <a:lnTo>
                  <a:pt x="596" y="355"/>
                </a:lnTo>
                <a:lnTo>
                  <a:pt x="602" y="296"/>
                </a:lnTo>
                <a:lnTo>
                  <a:pt x="602"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3" name="Rectangle 11"/>
          <p:cNvSpPr>
            <a:spLocks noChangeArrowheads="1"/>
          </p:cNvSpPr>
          <p:nvPr/>
        </p:nvSpPr>
        <p:spPr bwMode="auto">
          <a:xfrm>
            <a:off x="1504950" y="4505325"/>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3</a:t>
            </a:r>
          </a:p>
        </p:txBody>
      </p:sp>
      <p:sp>
        <p:nvSpPr>
          <p:cNvPr id="28684" name="Freeform 12"/>
          <p:cNvSpPr>
            <a:spLocks/>
          </p:cNvSpPr>
          <p:nvPr/>
        </p:nvSpPr>
        <p:spPr bwMode="auto">
          <a:xfrm>
            <a:off x="1216025" y="5535613"/>
            <a:ext cx="955675" cy="941387"/>
          </a:xfrm>
          <a:custGeom>
            <a:avLst/>
            <a:gdLst>
              <a:gd name="T0" fmla="*/ 601 w 602"/>
              <a:gd name="T1" fmla="*/ 296 h 593"/>
              <a:gd name="T2" fmla="*/ 595 w 602"/>
              <a:gd name="T3" fmla="*/ 236 h 593"/>
              <a:gd name="T4" fmla="*/ 577 w 602"/>
              <a:gd name="T5" fmla="*/ 180 h 593"/>
              <a:gd name="T6" fmla="*/ 549 w 602"/>
              <a:gd name="T7" fmla="*/ 130 h 593"/>
              <a:gd name="T8" fmla="*/ 513 w 602"/>
              <a:gd name="T9" fmla="*/ 86 h 593"/>
              <a:gd name="T10" fmla="*/ 468 w 602"/>
              <a:gd name="T11" fmla="*/ 50 h 593"/>
              <a:gd name="T12" fmla="*/ 417 w 602"/>
              <a:gd name="T13" fmla="*/ 23 h 593"/>
              <a:gd name="T14" fmla="*/ 361 w 602"/>
              <a:gd name="T15" fmla="*/ 5 h 593"/>
              <a:gd name="T16" fmla="*/ 300 w 602"/>
              <a:gd name="T17" fmla="*/ 0 h 593"/>
              <a:gd name="T18" fmla="*/ 239 w 602"/>
              <a:gd name="T19" fmla="*/ 5 h 593"/>
              <a:gd name="T20" fmla="*/ 183 w 602"/>
              <a:gd name="T21" fmla="*/ 23 h 593"/>
              <a:gd name="T22" fmla="*/ 132 w 602"/>
              <a:gd name="T23" fmla="*/ 50 h 593"/>
              <a:gd name="T24" fmla="*/ 88 w 602"/>
              <a:gd name="T25" fmla="*/ 86 h 593"/>
              <a:gd name="T26" fmla="*/ 51 w 602"/>
              <a:gd name="T27" fmla="*/ 130 h 593"/>
              <a:gd name="T28" fmla="*/ 23 w 602"/>
              <a:gd name="T29" fmla="*/ 180 h 593"/>
              <a:gd name="T30" fmla="*/ 5 w 602"/>
              <a:gd name="T31" fmla="*/ 236 h 593"/>
              <a:gd name="T32" fmla="*/ 0 w 602"/>
              <a:gd name="T33" fmla="*/ 296 h 593"/>
              <a:gd name="T34" fmla="*/ 5 w 602"/>
              <a:gd name="T35" fmla="*/ 355 h 593"/>
              <a:gd name="T36" fmla="*/ 23 w 602"/>
              <a:gd name="T37" fmla="*/ 411 h 593"/>
              <a:gd name="T38" fmla="*/ 51 w 602"/>
              <a:gd name="T39" fmla="*/ 461 h 593"/>
              <a:gd name="T40" fmla="*/ 88 w 602"/>
              <a:gd name="T41" fmla="*/ 505 h 593"/>
              <a:gd name="T42" fmla="*/ 132 w 602"/>
              <a:gd name="T43" fmla="*/ 541 h 593"/>
              <a:gd name="T44" fmla="*/ 183 w 602"/>
              <a:gd name="T45" fmla="*/ 568 h 593"/>
              <a:gd name="T46" fmla="*/ 239 w 602"/>
              <a:gd name="T47" fmla="*/ 585 h 593"/>
              <a:gd name="T48" fmla="*/ 300 w 602"/>
              <a:gd name="T49" fmla="*/ 592 h 593"/>
              <a:gd name="T50" fmla="*/ 361 w 602"/>
              <a:gd name="T51" fmla="*/ 585 h 593"/>
              <a:gd name="T52" fmla="*/ 417 w 602"/>
              <a:gd name="T53" fmla="*/ 568 h 593"/>
              <a:gd name="T54" fmla="*/ 468 w 602"/>
              <a:gd name="T55" fmla="*/ 541 h 593"/>
              <a:gd name="T56" fmla="*/ 513 w 602"/>
              <a:gd name="T57" fmla="*/ 505 h 593"/>
              <a:gd name="T58" fmla="*/ 549 w 602"/>
              <a:gd name="T59" fmla="*/ 461 h 593"/>
              <a:gd name="T60" fmla="*/ 577 w 602"/>
              <a:gd name="T61" fmla="*/ 411 h 593"/>
              <a:gd name="T62" fmla="*/ 595 w 602"/>
              <a:gd name="T63" fmla="*/ 355 h 593"/>
              <a:gd name="T64" fmla="*/ 601 w 602"/>
              <a:gd name="T65" fmla="*/ 296 h 593"/>
              <a:gd name="T66" fmla="*/ 601 w 602"/>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02" h="593">
                <a:moveTo>
                  <a:pt x="601" y="296"/>
                </a:moveTo>
                <a:lnTo>
                  <a:pt x="595" y="236"/>
                </a:lnTo>
                <a:lnTo>
                  <a:pt x="577" y="180"/>
                </a:lnTo>
                <a:lnTo>
                  <a:pt x="549" y="130"/>
                </a:lnTo>
                <a:lnTo>
                  <a:pt x="513" y="86"/>
                </a:lnTo>
                <a:lnTo>
                  <a:pt x="468" y="50"/>
                </a:lnTo>
                <a:lnTo>
                  <a:pt x="417" y="23"/>
                </a:lnTo>
                <a:lnTo>
                  <a:pt x="361" y="5"/>
                </a:lnTo>
                <a:lnTo>
                  <a:pt x="300" y="0"/>
                </a:lnTo>
                <a:lnTo>
                  <a:pt x="239" y="5"/>
                </a:lnTo>
                <a:lnTo>
                  <a:pt x="183" y="23"/>
                </a:lnTo>
                <a:lnTo>
                  <a:pt x="132" y="50"/>
                </a:lnTo>
                <a:lnTo>
                  <a:pt x="88" y="86"/>
                </a:lnTo>
                <a:lnTo>
                  <a:pt x="51" y="130"/>
                </a:lnTo>
                <a:lnTo>
                  <a:pt x="23" y="180"/>
                </a:lnTo>
                <a:lnTo>
                  <a:pt x="5" y="236"/>
                </a:lnTo>
                <a:lnTo>
                  <a:pt x="0" y="296"/>
                </a:lnTo>
                <a:lnTo>
                  <a:pt x="5" y="355"/>
                </a:lnTo>
                <a:lnTo>
                  <a:pt x="23" y="411"/>
                </a:lnTo>
                <a:lnTo>
                  <a:pt x="51" y="461"/>
                </a:lnTo>
                <a:lnTo>
                  <a:pt x="88" y="505"/>
                </a:lnTo>
                <a:lnTo>
                  <a:pt x="132" y="541"/>
                </a:lnTo>
                <a:lnTo>
                  <a:pt x="183" y="568"/>
                </a:lnTo>
                <a:lnTo>
                  <a:pt x="239" y="585"/>
                </a:lnTo>
                <a:lnTo>
                  <a:pt x="300" y="592"/>
                </a:lnTo>
                <a:lnTo>
                  <a:pt x="361" y="585"/>
                </a:lnTo>
                <a:lnTo>
                  <a:pt x="417" y="568"/>
                </a:lnTo>
                <a:lnTo>
                  <a:pt x="468" y="541"/>
                </a:lnTo>
                <a:lnTo>
                  <a:pt x="513" y="505"/>
                </a:lnTo>
                <a:lnTo>
                  <a:pt x="549" y="461"/>
                </a:lnTo>
                <a:lnTo>
                  <a:pt x="577" y="411"/>
                </a:lnTo>
                <a:lnTo>
                  <a:pt x="595" y="355"/>
                </a:lnTo>
                <a:lnTo>
                  <a:pt x="601" y="296"/>
                </a:lnTo>
                <a:lnTo>
                  <a:pt x="601"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5" name="Rectangle 13"/>
          <p:cNvSpPr>
            <a:spLocks noChangeArrowheads="1"/>
          </p:cNvSpPr>
          <p:nvPr/>
        </p:nvSpPr>
        <p:spPr bwMode="auto">
          <a:xfrm>
            <a:off x="1206500" y="5808663"/>
            <a:ext cx="9540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200" b="1">
                <a:solidFill>
                  <a:srgbClr val="3399FF"/>
                </a:solidFill>
              </a:rPr>
              <a:t>Cardboard</a:t>
            </a:r>
          </a:p>
        </p:txBody>
      </p:sp>
      <p:sp>
        <p:nvSpPr>
          <p:cNvPr id="28686" name="Rectangle 14"/>
          <p:cNvSpPr>
            <a:spLocks noChangeArrowheads="1"/>
          </p:cNvSpPr>
          <p:nvPr/>
        </p:nvSpPr>
        <p:spPr bwMode="auto">
          <a:xfrm>
            <a:off x="1531938" y="6051550"/>
            <a:ext cx="2905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4</a:t>
            </a:r>
          </a:p>
        </p:txBody>
      </p:sp>
      <p:sp>
        <p:nvSpPr>
          <p:cNvPr id="28687" name="Freeform 15"/>
          <p:cNvSpPr>
            <a:spLocks/>
          </p:cNvSpPr>
          <p:nvPr/>
        </p:nvSpPr>
        <p:spPr bwMode="auto">
          <a:xfrm>
            <a:off x="4149725" y="2376488"/>
            <a:ext cx="955675" cy="941387"/>
          </a:xfrm>
          <a:custGeom>
            <a:avLst/>
            <a:gdLst>
              <a:gd name="T0" fmla="*/ 601 w 602"/>
              <a:gd name="T1" fmla="*/ 296 h 593"/>
              <a:gd name="T2" fmla="*/ 595 w 602"/>
              <a:gd name="T3" fmla="*/ 236 h 593"/>
              <a:gd name="T4" fmla="*/ 578 w 602"/>
              <a:gd name="T5" fmla="*/ 180 h 593"/>
              <a:gd name="T6" fmla="*/ 550 w 602"/>
              <a:gd name="T7" fmla="*/ 130 h 593"/>
              <a:gd name="T8" fmla="*/ 513 w 602"/>
              <a:gd name="T9" fmla="*/ 86 h 593"/>
              <a:gd name="T10" fmla="*/ 469 w 602"/>
              <a:gd name="T11" fmla="*/ 50 h 593"/>
              <a:gd name="T12" fmla="*/ 418 w 602"/>
              <a:gd name="T13" fmla="*/ 23 h 593"/>
              <a:gd name="T14" fmla="*/ 361 w 602"/>
              <a:gd name="T15" fmla="*/ 5 h 593"/>
              <a:gd name="T16" fmla="*/ 301 w 602"/>
              <a:gd name="T17" fmla="*/ 0 h 593"/>
              <a:gd name="T18" fmla="*/ 240 w 602"/>
              <a:gd name="T19" fmla="*/ 5 h 593"/>
              <a:gd name="T20" fmla="*/ 183 w 602"/>
              <a:gd name="T21" fmla="*/ 23 h 593"/>
              <a:gd name="T22" fmla="*/ 132 w 602"/>
              <a:gd name="T23" fmla="*/ 50 h 593"/>
              <a:gd name="T24" fmla="*/ 88 w 602"/>
              <a:gd name="T25" fmla="*/ 86 h 593"/>
              <a:gd name="T26" fmla="*/ 51 w 602"/>
              <a:gd name="T27" fmla="*/ 130 h 593"/>
              <a:gd name="T28" fmla="*/ 23 w 602"/>
              <a:gd name="T29" fmla="*/ 180 h 593"/>
              <a:gd name="T30" fmla="*/ 6 w 602"/>
              <a:gd name="T31" fmla="*/ 236 h 593"/>
              <a:gd name="T32" fmla="*/ 0 w 602"/>
              <a:gd name="T33" fmla="*/ 296 h 593"/>
              <a:gd name="T34" fmla="*/ 6 w 602"/>
              <a:gd name="T35" fmla="*/ 355 h 593"/>
              <a:gd name="T36" fmla="*/ 23 w 602"/>
              <a:gd name="T37" fmla="*/ 411 h 593"/>
              <a:gd name="T38" fmla="*/ 51 w 602"/>
              <a:gd name="T39" fmla="*/ 461 h 593"/>
              <a:gd name="T40" fmla="*/ 88 w 602"/>
              <a:gd name="T41" fmla="*/ 505 h 593"/>
              <a:gd name="T42" fmla="*/ 132 w 602"/>
              <a:gd name="T43" fmla="*/ 541 h 593"/>
              <a:gd name="T44" fmla="*/ 183 w 602"/>
              <a:gd name="T45" fmla="*/ 568 h 593"/>
              <a:gd name="T46" fmla="*/ 240 w 602"/>
              <a:gd name="T47" fmla="*/ 585 h 593"/>
              <a:gd name="T48" fmla="*/ 301 w 602"/>
              <a:gd name="T49" fmla="*/ 592 h 593"/>
              <a:gd name="T50" fmla="*/ 361 w 602"/>
              <a:gd name="T51" fmla="*/ 585 h 593"/>
              <a:gd name="T52" fmla="*/ 418 w 602"/>
              <a:gd name="T53" fmla="*/ 568 h 593"/>
              <a:gd name="T54" fmla="*/ 469 w 602"/>
              <a:gd name="T55" fmla="*/ 541 h 593"/>
              <a:gd name="T56" fmla="*/ 513 w 602"/>
              <a:gd name="T57" fmla="*/ 505 h 593"/>
              <a:gd name="T58" fmla="*/ 550 w 602"/>
              <a:gd name="T59" fmla="*/ 461 h 593"/>
              <a:gd name="T60" fmla="*/ 578 w 602"/>
              <a:gd name="T61" fmla="*/ 411 h 593"/>
              <a:gd name="T62" fmla="*/ 595 w 602"/>
              <a:gd name="T63" fmla="*/ 355 h 593"/>
              <a:gd name="T64" fmla="*/ 601 w 602"/>
              <a:gd name="T65" fmla="*/ 296 h 593"/>
              <a:gd name="T66" fmla="*/ 601 w 602"/>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02" h="593">
                <a:moveTo>
                  <a:pt x="601" y="296"/>
                </a:moveTo>
                <a:lnTo>
                  <a:pt x="595" y="236"/>
                </a:lnTo>
                <a:lnTo>
                  <a:pt x="578" y="180"/>
                </a:lnTo>
                <a:lnTo>
                  <a:pt x="550" y="130"/>
                </a:lnTo>
                <a:lnTo>
                  <a:pt x="513" y="86"/>
                </a:lnTo>
                <a:lnTo>
                  <a:pt x="469" y="50"/>
                </a:lnTo>
                <a:lnTo>
                  <a:pt x="418" y="23"/>
                </a:lnTo>
                <a:lnTo>
                  <a:pt x="361" y="5"/>
                </a:lnTo>
                <a:lnTo>
                  <a:pt x="301" y="0"/>
                </a:lnTo>
                <a:lnTo>
                  <a:pt x="240" y="5"/>
                </a:lnTo>
                <a:lnTo>
                  <a:pt x="183" y="23"/>
                </a:lnTo>
                <a:lnTo>
                  <a:pt x="132" y="50"/>
                </a:lnTo>
                <a:lnTo>
                  <a:pt x="88" y="86"/>
                </a:lnTo>
                <a:lnTo>
                  <a:pt x="51" y="130"/>
                </a:lnTo>
                <a:lnTo>
                  <a:pt x="23" y="180"/>
                </a:lnTo>
                <a:lnTo>
                  <a:pt x="6" y="236"/>
                </a:lnTo>
                <a:lnTo>
                  <a:pt x="0" y="296"/>
                </a:lnTo>
                <a:lnTo>
                  <a:pt x="6" y="355"/>
                </a:lnTo>
                <a:lnTo>
                  <a:pt x="23" y="411"/>
                </a:lnTo>
                <a:lnTo>
                  <a:pt x="51" y="461"/>
                </a:lnTo>
                <a:lnTo>
                  <a:pt x="88" y="505"/>
                </a:lnTo>
                <a:lnTo>
                  <a:pt x="132" y="541"/>
                </a:lnTo>
                <a:lnTo>
                  <a:pt x="183" y="568"/>
                </a:lnTo>
                <a:lnTo>
                  <a:pt x="240" y="585"/>
                </a:lnTo>
                <a:lnTo>
                  <a:pt x="301" y="592"/>
                </a:lnTo>
                <a:lnTo>
                  <a:pt x="361" y="585"/>
                </a:lnTo>
                <a:lnTo>
                  <a:pt x="418" y="568"/>
                </a:lnTo>
                <a:lnTo>
                  <a:pt x="469" y="541"/>
                </a:lnTo>
                <a:lnTo>
                  <a:pt x="513" y="505"/>
                </a:lnTo>
                <a:lnTo>
                  <a:pt x="550" y="461"/>
                </a:lnTo>
                <a:lnTo>
                  <a:pt x="578" y="411"/>
                </a:lnTo>
                <a:lnTo>
                  <a:pt x="595" y="355"/>
                </a:lnTo>
                <a:lnTo>
                  <a:pt x="601" y="296"/>
                </a:lnTo>
                <a:lnTo>
                  <a:pt x="601"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8" name="Rectangle 16"/>
          <p:cNvSpPr>
            <a:spLocks noChangeArrowheads="1"/>
          </p:cNvSpPr>
          <p:nvPr/>
        </p:nvSpPr>
        <p:spPr bwMode="auto">
          <a:xfrm>
            <a:off x="4198938" y="2570163"/>
            <a:ext cx="9461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200" b="1">
                <a:solidFill>
                  <a:srgbClr val="3399FF"/>
                </a:solidFill>
              </a:rPr>
              <a:t>Recycling </a:t>
            </a:r>
          </a:p>
        </p:txBody>
      </p:sp>
      <p:sp>
        <p:nvSpPr>
          <p:cNvPr id="28689" name="Rectangle 17"/>
          <p:cNvSpPr>
            <a:spLocks noChangeArrowheads="1"/>
          </p:cNvSpPr>
          <p:nvPr/>
        </p:nvSpPr>
        <p:spPr bwMode="auto">
          <a:xfrm>
            <a:off x="4198938" y="2746375"/>
            <a:ext cx="9017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200" b="1">
                <a:solidFill>
                  <a:srgbClr val="3399FF"/>
                </a:solidFill>
              </a:rPr>
              <a:t>Process 1</a:t>
            </a:r>
          </a:p>
        </p:txBody>
      </p:sp>
      <p:sp>
        <p:nvSpPr>
          <p:cNvPr id="28690" name="Rectangle 18"/>
          <p:cNvSpPr>
            <a:spLocks noChangeArrowheads="1"/>
          </p:cNvSpPr>
          <p:nvPr/>
        </p:nvSpPr>
        <p:spPr bwMode="auto">
          <a:xfrm>
            <a:off x="4465638" y="2967038"/>
            <a:ext cx="2905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5</a:t>
            </a:r>
          </a:p>
        </p:txBody>
      </p:sp>
      <p:sp>
        <p:nvSpPr>
          <p:cNvPr id="28691" name="Freeform 19"/>
          <p:cNvSpPr>
            <a:spLocks/>
          </p:cNvSpPr>
          <p:nvPr/>
        </p:nvSpPr>
        <p:spPr bwMode="auto">
          <a:xfrm>
            <a:off x="4149725" y="4364038"/>
            <a:ext cx="957263" cy="941387"/>
          </a:xfrm>
          <a:custGeom>
            <a:avLst/>
            <a:gdLst>
              <a:gd name="T0" fmla="*/ 602 w 603"/>
              <a:gd name="T1" fmla="*/ 296 h 593"/>
              <a:gd name="T2" fmla="*/ 596 w 603"/>
              <a:gd name="T3" fmla="*/ 236 h 593"/>
              <a:gd name="T4" fmla="*/ 578 w 603"/>
              <a:gd name="T5" fmla="*/ 181 h 593"/>
              <a:gd name="T6" fmla="*/ 550 w 603"/>
              <a:gd name="T7" fmla="*/ 130 h 593"/>
              <a:gd name="T8" fmla="*/ 513 w 603"/>
              <a:gd name="T9" fmla="*/ 86 h 593"/>
              <a:gd name="T10" fmla="*/ 469 w 603"/>
              <a:gd name="T11" fmla="*/ 51 h 593"/>
              <a:gd name="T12" fmla="*/ 418 w 603"/>
              <a:gd name="T13" fmla="*/ 23 h 593"/>
              <a:gd name="T14" fmla="*/ 362 w 603"/>
              <a:gd name="T15" fmla="*/ 6 h 593"/>
              <a:gd name="T16" fmla="*/ 301 w 603"/>
              <a:gd name="T17" fmla="*/ 0 h 593"/>
              <a:gd name="T18" fmla="*/ 240 w 603"/>
              <a:gd name="T19" fmla="*/ 6 h 593"/>
              <a:gd name="T20" fmla="*/ 184 w 603"/>
              <a:gd name="T21" fmla="*/ 23 h 593"/>
              <a:gd name="T22" fmla="*/ 133 w 603"/>
              <a:gd name="T23" fmla="*/ 51 h 593"/>
              <a:gd name="T24" fmla="*/ 88 w 603"/>
              <a:gd name="T25" fmla="*/ 86 h 593"/>
              <a:gd name="T26" fmla="*/ 52 w 603"/>
              <a:gd name="T27" fmla="*/ 130 h 593"/>
              <a:gd name="T28" fmla="*/ 24 w 603"/>
              <a:gd name="T29" fmla="*/ 181 h 593"/>
              <a:gd name="T30" fmla="*/ 6 w 603"/>
              <a:gd name="T31" fmla="*/ 236 h 593"/>
              <a:gd name="T32" fmla="*/ 0 w 603"/>
              <a:gd name="T33" fmla="*/ 296 h 593"/>
              <a:gd name="T34" fmla="*/ 6 w 603"/>
              <a:gd name="T35" fmla="*/ 355 h 593"/>
              <a:gd name="T36" fmla="*/ 24 w 603"/>
              <a:gd name="T37" fmla="*/ 411 h 593"/>
              <a:gd name="T38" fmla="*/ 52 w 603"/>
              <a:gd name="T39" fmla="*/ 461 h 593"/>
              <a:gd name="T40" fmla="*/ 88 w 603"/>
              <a:gd name="T41" fmla="*/ 505 h 593"/>
              <a:gd name="T42" fmla="*/ 133 w 603"/>
              <a:gd name="T43" fmla="*/ 541 h 593"/>
              <a:gd name="T44" fmla="*/ 184 w 603"/>
              <a:gd name="T45" fmla="*/ 569 h 593"/>
              <a:gd name="T46" fmla="*/ 240 w 603"/>
              <a:gd name="T47" fmla="*/ 586 h 593"/>
              <a:gd name="T48" fmla="*/ 301 w 603"/>
              <a:gd name="T49" fmla="*/ 592 h 593"/>
              <a:gd name="T50" fmla="*/ 362 w 603"/>
              <a:gd name="T51" fmla="*/ 586 h 593"/>
              <a:gd name="T52" fmla="*/ 418 w 603"/>
              <a:gd name="T53" fmla="*/ 569 h 593"/>
              <a:gd name="T54" fmla="*/ 469 w 603"/>
              <a:gd name="T55" fmla="*/ 541 h 593"/>
              <a:gd name="T56" fmla="*/ 513 w 603"/>
              <a:gd name="T57" fmla="*/ 505 h 593"/>
              <a:gd name="T58" fmla="*/ 550 w 603"/>
              <a:gd name="T59" fmla="*/ 461 h 593"/>
              <a:gd name="T60" fmla="*/ 578 w 603"/>
              <a:gd name="T61" fmla="*/ 411 h 593"/>
              <a:gd name="T62" fmla="*/ 596 w 603"/>
              <a:gd name="T63" fmla="*/ 355 h 593"/>
              <a:gd name="T64" fmla="*/ 602 w 603"/>
              <a:gd name="T65" fmla="*/ 296 h 593"/>
              <a:gd name="T66" fmla="*/ 602 w 603"/>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03" h="593">
                <a:moveTo>
                  <a:pt x="602" y="296"/>
                </a:moveTo>
                <a:lnTo>
                  <a:pt x="596" y="236"/>
                </a:lnTo>
                <a:lnTo>
                  <a:pt x="578" y="181"/>
                </a:lnTo>
                <a:lnTo>
                  <a:pt x="550" y="130"/>
                </a:lnTo>
                <a:lnTo>
                  <a:pt x="513" y="86"/>
                </a:lnTo>
                <a:lnTo>
                  <a:pt x="469" y="51"/>
                </a:lnTo>
                <a:lnTo>
                  <a:pt x="418" y="23"/>
                </a:lnTo>
                <a:lnTo>
                  <a:pt x="362" y="6"/>
                </a:lnTo>
                <a:lnTo>
                  <a:pt x="301" y="0"/>
                </a:lnTo>
                <a:lnTo>
                  <a:pt x="240" y="6"/>
                </a:lnTo>
                <a:lnTo>
                  <a:pt x="184" y="23"/>
                </a:lnTo>
                <a:lnTo>
                  <a:pt x="133" y="51"/>
                </a:lnTo>
                <a:lnTo>
                  <a:pt x="88" y="86"/>
                </a:lnTo>
                <a:lnTo>
                  <a:pt x="52" y="130"/>
                </a:lnTo>
                <a:lnTo>
                  <a:pt x="24" y="181"/>
                </a:lnTo>
                <a:lnTo>
                  <a:pt x="6" y="236"/>
                </a:lnTo>
                <a:lnTo>
                  <a:pt x="0" y="296"/>
                </a:lnTo>
                <a:lnTo>
                  <a:pt x="6" y="355"/>
                </a:lnTo>
                <a:lnTo>
                  <a:pt x="24" y="411"/>
                </a:lnTo>
                <a:lnTo>
                  <a:pt x="52" y="461"/>
                </a:lnTo>
                <a:lnTo>
                  <a:pt x="88" y="505"/>
                </a:lnTo>
                <a:lnTo>
                  <a:pt x="133" y="541"/>
                </a:lnTo>
                <a:lnTo>
                  <a:pt x="184" y="569"/>
                </a:lnTo>
                <a:lnTo>
                  <a:pt x="240" y="586"/>
                </a:lnTo>
                <a:lnTo>
                  <a:pt x="301" y="592"/>
                </a:lnTo>
                <a:lnTo>
                  <a:pt x="362" y="586"/>
                </a:lnTo>
                <a:lnTo>
                  <a:pt x="418" y="569"/>
                </a:lnTo>
                <a:lnTo>
                  <a:pt x="469" y="541"/>
                </a:lnTo>
                <a:lnTo>
                  <a:pt x="513" y="505"/>
                </a:lnTo>
                <a:lnTo>
                  <a:pt x="550" y="461"/>
                </a:lnTo>
                <a:lnTo>
                  <a:pt x="578" y="411"/>
                </a:lnTo>
                <a:lnTo>
                  <a:pt x="596" y="355"/>
                </a:lnTo>
                <a:lnTo>
                  <a:pt x="602" y="296"/>
                </a:lnTo>
                <a:lnTo>
                  <a:pt x="602"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92" name="Rectangle 20"/>
          <p:cNvSpPr>
            <a:spLocks noChangeArrowheads="1"/>
          </p:cNvSpPr>
          <p:nvPr/>
        </p:nvSpPr>
        <p:spPr bwMode="auto">
          <a:xfrm>
            <a:off x="4511675" y="4924425"/>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6</a:t>
            </a:r>
          </a:p>
        </p:txBody>
      </p:sp>
      <p:sp>
        <p:nvSpPr>
          <p:cNvPr id="28693" name="Freeform 21"/>
          <p:cNvSpPr>
            <a:spLocks/>
          </p:cNvSpPr>
          <p:nvPr/>
        </p:nvSpPr>
        <p:spPr bwMode="auto">
          <a:xfrm>
            <a:off x="7137400" y="1665288"/>
            <a:ext cx="957263" cy="941387"/>
          </a:xfrm>
          <a:custGeom>
            <a:avLst/>
            <a:gdLst>
              <a:gd name="T0" fmla="*/ 602 w 603"/>
              <a:gd name="T1" fmla="*/ 296 h 593"/>
              <a:gd name="T2" fmla="*/ 596 w 603"/>
              <a:gd name="T3" fmla="*/ 237 h 593"/>
              <a:gd name="T4" fmla="*/ 578 w 603"/>
              <a:gd name="T5" fmla="*/ 181 h 593"/>
              <a:gd name="T6" fmla="*/ 550 w 603"/>
              <a:gd name="T7" fmla="*/ 131 h 593"/>
              <a:gd name="T8" fmla="*/ 513 w 603"/>
              <a:gd name="T9" fmla="*/ 87 h 593"/>
              <a:gd name="T10" fmla="*/ 469 w 603"/>
              <a:gd name="T11" fmla="*/ 51 h 593"/>
              <a:gd name="T12" fmla="*/ 418 w 603"/>
              <a:gd name="T13" fmla="*/ 23 h 593"/>
              <a:gd name="T14" fmla="*/ 361 w 603"/>
              <a:gd name="T15" fmla="*/ 6 h 593"/>
              <a:gd name="T16" fmla="*/ 301 w 603"/>
              <a:gd name="T17" fmla="*/ 0 h 593"/>
              <a:gd name="T18" fmla="*/ 240 w 603"/>
              <a:gd name="T19" fmla="*/ 6 h 593"/>
              <a:gd name="T20" fmla="*/ 184 w 603"/>
              <a:gd name="T21" fmla="*/ 23 h 593"/>
              <a:gd name="T22" fmla="*/ 133 w 603"/>
              <a:gd name="T23" fmla="*/ 51 h 593"/>
              <a:gd name="T24" fmla="*/ 88 w 603"/>
              <a:gd name="T25" fmla="*/ 87 h 593"/>
              <a:gd name="T26" fmla="*/ 51 w 603"/>
              <a:gd name="T27" fmla="*/ 131 h 593"/>
              <a:gd name="T28" fmla="*/ 24 w 603"/>
              <a:gd name="T29" fmla="*/ 181 h 593"/>
              <a:gd name="T30" fmla="*/ 6 w 603"/>
              <a:gd name="T31" fmla="*/ 237 h 593"/>
              <a:gd name="T32" fmla="*/ 0 w 603"/>
              <a:gd name="T33" fmla="*/ 296 h 593"/>
              <a:gd name="T34" fmla="*/ 6 w 603"/>
              <a:gd name="T35" fmla="*/ 356 h 593"/>
              <a:gd name="T36" fmla="*/ 24 w 603"/>
              <a:gd name="T37" fmla="*/ 411 h 593"/>
              <a:gd name="T38" fmla="*/ 51 w 603"/>
              <a:gd name="T39" fmla="*/ 462 h 593"/>
              <a:gd name="T40" fmla="*/ 88 w 603"/>
              <a:gd name="T41" fmla="*/ 506 h 593"/>
              <a:gd name="T42" fmla="*/ 133 w 603"/>
              <a:gd name="T43" fmla="*/ 541 h 593"/>
              <a:gd name="T44" fmla="*/ 184 w 603"/>
              <a:gd name="T45" fmla="*/ 569 h 593"/>
              <a:gd name="T46" fmla="*/ 240 w 603"/>
              <a:gd name="T47" fmla="*/ 586 h 593"/>
              <a:gd name="T48" fmla="*/ 301 w 603"/>
              <a:gd name="T49" fmla="*/ 592 h 593"/>
              <a:gd name="T50" fmla="*/ 361 w 603"/>
              <a:gd name="T51" fmla="*/ 586 h 593"/>
              <a:gd name="T52" fmla="*/ 418 w 603"/>
              <a:gd name="T53" fmla="*/ 569 h 593"/>
              <a:gd name="T54" fmla="*/ 469 w 603"/>
              <a:gd name="T55" fmla="*/ 541 h 593"/>
              <a:gd name="T56" fmla="*/ 513 w 603"/>
              <a:gd name="T57" fmla="*/ 506 h 593"/>
              <a:gd name="T58" fmla="*/ 550 w 603"/>
              <a:gd name="T59" fmla="*/ 462 h 593"/>
              <a:gd name="T60" fmla="*/ 578 w 603"/>
              <a:gd name="T61" fmla="*/ 411 h 593"/>
              <a:gd name="T62" fmla="*/ 596 w 603"/>
              <a:gd name="T63" fmla="*/ 356 h 593"/>
              <a:gd name="T64" fmla="*/ 602 w 603"/>
              <a:gd name="T65" fmla="*/ 296 h 593"/>
              <a:gd name="T66" fmla="*/ 602 w 603"/>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03" h="593">
                <a:moveTo>
                  <a:pt x="602" y="296"/>
                </a:moveTo>
                <a:lnTo>
                  <a:pt x="596" y="237"/>
                </a:lnTo>
                <a:lnTo>
                  <a:pt x="578" y="181"/>
                </a:lnTo>
                <a:lnTo>
                  <a:pt x="550" y="131"/>
                </a:lnTo>
                <a:lnTo>
                  <a:pt x="513" y="87"/>
                </a:lnTo>
                <a:lnTo>
                  <a:pt x="469" y="51"/>
                </a:lnTo>
                <a:lnTo>
                  <a:pt x="418" y="23"/>
                </a:lnTo>
                <a:lnTo>
                  <a:pt x="361" y="6"/>
                </a:lnTo>
                <a:lnTo>
                  <a:pt x="301" y="0"/>
                </a:lnTo>
                <a:lnTo>
                  <a:pt x="240" y="6"/>
                </a:lnTo>
                <a:lnTo>
                  <a:pt x="184" y="23"/>
                </a:lnTo>
                <a:lnTo>
                  <a:pt x="133" y="51"/>
                </a:lnTo>
                <a:lnTo>
                  <a:pt x="88" y="87"/>
                </a:lnTo>
                <a:lnTo>
                  <a:pt x="51" y="131"/>
                </a:lnTo>
                <a:lnTo>
                  <a:pt x="24" y="181"/>
                </a:lnTo>
                <a:lnTo>
                  <a:pt x="6" y="237"/>
                </a:lnTo>
                <a:lnTo>
                  <a:pt x="0" y="296"/>
                </a:lnTo>
                <a:lnTo>
                  <a:pt x="6" y="356"/>
                </a:lnTo>
                <a:lnTo>
                  <a:pt x="24" y="411"/>
                </a:lnTo>
                <a:lnTo>
                  <a:pt x="51" y="462"/>
                </a:lnTo>
                <a:lnTo>
                  <a:pt x="88" y="506"/>
                </a:lnTo>
                <a:lnTo>
                  <a:pt x="133" y="541"/>
                </a:lnTo>
                <a:lnTo>
                  <a:pt x="184" y="569"/>
                </a:lnTo>
                <a:lnTo>
                  <a:pt x="240" y="586"/>
                </a:lnTo>
                <a:lnTo>
                  <a:pt x="301" y="592"/>
                </a:lnTo>
                <a:lnTo>
                  <a:pt x="361" y="586"/>
                </a:lnTo>
                <a:lnTo>
                  <a:pt x="418" y="569"/>
                </a:lnTo>
                <a:lnTo>
                  <a:pt x="469" y="541"/>
                </a:lnTo>
                <a:lnTo>
                  <a:pt x="513" y="506"/>
                </a:lnTo>
                <a:lnTo>
                  <a:pt x="550" y="462"/>
                </a:lnTo>
                <a:lnTo>
                  <a:pt x="578" y="411"/>
                </a:lnTo>
                <a:lnTo>
                  <a:pt x="596" y="356"/>
                </a:lnTo>
                <a:lnTo>
                  <a:pt x="602" y="296"/>
                </a:lnTo>
                <a:lnTo>
                  <a:pt x="602"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94" name="Rectangle 22"/>
          <p:cNvSpPr>
            <a:spLocks noChangeArrowheads="1"/>
          </p:cNvSpPr>
          <p:nvPr/>
        </p:nvSpPr>
        <p:spPr bwMode="auto">
          <a:xfrm>
            <a:off x="7145338" y="1900238"/>
            <a:ext cx="9207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200" b="1">
                <a:solidFill>
                  <a:srgbClr val="3399FF"/>
                </a:solidFill>
              </a:rPr>
              <a:t>Newsprint</a:t>
            </a:r>
          </a:p>
        </p:txBody>
      </p:sp>
      <p:sp>
        <p:nvSpPr>
          <p:cNvPr id="28695" name="Rectangle 23"/>
          <p:cNvSpPr>
            <a:spLocks noChangeArrowheads="1"/>
          </p:cNvSpPr>
          <p:nvPr/>
        </p:nvSpPr>
        <p:spPr bwMode="auto">
          <a:xfrm>
            <a:off x="7143750" y="2095500"/>
            <a:ext cx="7651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ctr" eaLnBrk="0" hangingPunct="0"/>
            <a:r>
              <a:rPr lang="en-US" sz="1200" b="1">
                <a:solidFill>
                  <a:srgbClr val="3399FF"/>
                </a:solidFill>
              </a:rPr>
              <a:t>      pulp</a:t>
            </a:r>
          </a:p>
        </p:txBody>
      </p:sp>
      <p:sp>
        <p:nvSpPr>
          <p:cNvPr id="28696" name="Rectangle 24"/>
          <p:cNvSpPr>
            <a:spLocks noChangeArrowheads="1"/>
          </p:cNvSpPr>
          <p:nvPr/>
        </p:nvSpPr>
        <p:spPr bwMode="auto">
          <a:xfrm>
            <a:off x="7480300" y="2292350"/>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7</a:t>
            </a:r>
          </a:p>
        </p:txBody>
      </p:sp>
      <p:sp>
        <p:nvSpPr>
          <p:cNvPr id="28697" name="Freeform 25"/>
          <p:cNvSpPr>
            <a:spLocks/>
          </p:cNvSpPr>
          <p:nvPr/>
        </p:nvSpPr>
        <p:spPr bwMode="auto">
          <a:xfrm>
            <a:off x="7110413" y="3190875"/>
            <a:ext cx="957262" cy="941388"/>
          </a:xfrm>
          <a:custGeom>
            <a:avLst/>
            <a:gdLst>
              <a:gd name="T0" fmla="*/ 602 w 603"/>
              <a:gd name="T1" fmla="*/ 296 h 593"/>
              <a:gd name="T2" fmla="*/ 596 w 603"/>
              <a:gd name="T3" fmla="*/ 237 h 593"/>
              <a:gd name="T4" fmla="*/ 578 w 603"/>
              <a:gd name="T5" fmla="*/ 181 h 593"/>
              <a:gd name="T6" fmla="*/ 550 w 603"/>
              <a:gd name="T7" fmla="*/ 131 h 593"/>
              <a:gd name="T8" fmla="*/ 513 w 603"/>
              <a:gd name="T9" fmla="*/ 87 h 593"/>
              <a:gd name="T10" fmla="*/ 469 w 603"/>
              <a:gd name="T11" fmla="*/ 51 h 593"/>
              <a:gd name="T12" fmla="*/ 418 w 603"/>
              <a:gd name="T13" fmla="*/ 23 h 593"/>
              <a:gd name="T14" fmla="*/ 362 w 603"/>
              <a:gd name="T15" fmla="*/ 6 h 593"/>
              <a:gd name="T16" fmla="*/ 301 w 603"/>
              <a:gd name="T17" fmla="*/ 0 h 593"/>
              <a:gd name="T18" fmla="*/ 240 w 603"/>
              <a:gd name="T19" fmla="*/ 6 h 593"/>
              <a:gd name="T20" fmla="*/ 184 w 603"/>
              <a:gd name="T21" fmla="*/ 23 h 593"/>
              <a:gd name="T22" fmla="*/ 133 w 603"/>
              <a:gd name="T23" fmla="*/ 51 h 593"/>
              <a:gd name="T24" fmla="*/ 88 w 603"/>
              <a:gd name="T25" fmla="*/ 87 h 593"/>
              <a:gd name="T26" fmla="*/ 52 w 603"/>
              <a:gd name="T27" fmla="*/ 131 h 593"/>
              <a:gd name="T28" fmla="*/ 24 w 603"/>
              <a:gd name="T29" fmla="*/ 181 h 593"/>
              <a:gd name="T30" fmla="*/ 6 w 603"/>
              <a:gd name="T31" fmla="*/ 237 h 593"/>
              <a:gd name="T32" fmla="*/ 0 w 603"/>
              <a:gd name="T33" fmla="*/ 296 h 593"/>
              <a:gd name="T34" fmla="*/ 6 w 603"/>
              <a:gd name="T35" fmla="*/ 356 h 593"/>
              <a:gd name="T36" fmla="*/ 24 w 603"/>
              <a:gd name="T37" fmla="*/ 411 h 593"/>
              <a:gd name="T38" fmla="*/ 52 w 603"/>
              <a:gd name="T39" fmla="*/ 462 h 593"/>
              <a:gd name="T40" fmla="*/ 88 w 603"/>
              <a:gd name="T41" fmla="*/ 506 h 593"/>
              <a:gd name="T42" fmla="*/ 133 w 603"/>
              <a:gd name="T43" fmla="*/ 541 h 593"/>
              <a:gd name="T44" fmla="*/ 184 w 603"/>
              <a:gd name="T45" fmla="*/ 569 h 593"/>
              <a:gd name="T46" fmla="*/ 240 w 603"/>
              <a:gd name="T47" fmla="*/ 586 h 593"/>
              <a:gd name="T48" fmla="*/ 301 w 603"/>
              <a:gd name="T49" fmla="*/ 592 h 593"/>
              <a:gd name="T50" fmla="*/ 362 w 603"/>
              <a:gd name="T51" fmla="*/ 586 h 593"/>
              <a:gd name="T52" fmla="*/ 418 w 603"/>
              <a:gd name="T53" fmla="*/ 569 h 593"/>
              <a:gd name="T54" fmla="*/ 469 w 603"/>
              <a:gd name="T55" fmla="*/ 541 h 593"/>
              <a:gd name="T56" fmla="*/ 513 w 603"/>
              <a:gd name="T57" fmla="*/ 506 h 593"/>
              <a:gd name="T58" fmla="*/ 550 w 603"/>
              <a:gd name="T59" fmla="*/ 462 h 593"/>
              <a:gd name="T60" fmla="*/ 578 w 603"/>
              <a:gd name="T61" fmla="*/ 411 h 593"/>
              <a:gd name="T62" fmla="*/ 596 w 603"/>
              <a:gd name="T63" fmla="*/ 356 h 593"/>
              <a:gd name="T64" fmla="*/ 602 w 603"/>
              <a:gd name="T65" fmla="*/ 296 h 593"/>
              <a:gd name="T66" fmla="*/ 602 w 603"/>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03" h="593">
                <a:moveTo>
                  <a:pt x="602" y="296"/>
                </a:moveTo>
                <a:lnTo>
                  <a:pt x="596" y="237"/>
                </a:lnTo>
                <a:lnTo>
                  <a:pt x="578" y="181"/>
                </a:lnTo>
                <a:lnTo>
                  <a:pt x="550" y="131"/>
                </a:lnTo>
                <a:lnTo>
                  <a:pt x="513" y="87"/>
                </a:lnTo>
                <a:lnTo>
                  <a:pt x="469" y="51"/>
                </a:lnTo>
                <a:lnTo>
                  <a:pt x="418" y="23"/>
                </a:lnTo>
                <a:lnTo>
                  <a:pt x="362" y="6"/>
                </a:lnTo>
                <a:lnTo>
                  <a:pt x="301" y="0"/>
                </a:lnTo>
                <a:lnTo>
                  <a:pt x="240" y="6"/>
                </a:lnTo>
                <a:lnTo>
                  <a:pt x="184" y="23"/>
                </a:lnTo>
                <a:lnTo>
                  <a:pt x="133" y="51"/>
                </a:lnTo>
                <a:lnTo>
                  <a:pt x="88" y="87"/>
                </a:lnTo>
                <a:lnTo>
                  <a:pt x="52" y="131"/>
                </a:lnTo>
                <a:lnTo>
                  <a:pt x="24" y="181"/>
                </a:lnTo>
                <a:lnTo>
                  <a:pt x="6" y="237"/>
                </a:lnTo>
                <a:lnTo>
                  <a:pt x="0" y="296"/>
                </a:lnTo>
                <a:lnTo>
                  <a:pt x="6" y="356"/>
                </a:lnTo>
                <a:lnTo>
                  <a:pt x="24" y="411"/>
                </a:lnTo>
                <a:lnTo>
                  <a:pt x="52" y="462"/>
                </a:lnTo>
                <a:lnTo>
                  <a:pt x="88" y="506"/>
                </a:lnTo>
                <a:lnTo>
                  <a:pt x="133" y="541"/>
                </a:lnTo>
                <a:lnTo>
                  <a:pt x="184" y="569"/>
                </a:lnTo>
                <a:lnTo>
                  <a:pt x="240" y="586"/>
                </a:lnTo>
                <a:lnTo>
                  <a:pt x="301" y="592"/>
                </a:lnTo>
                <a:lnTo>
                  <a:pt x="362" y="586"/>
                </a:lnTo>
                <a:lnTo>
                  <a:pt x="418" y="569"/>
                </a:lnTo>
                <a:lnTo>
                  <a:pt x="469" y="541"/>
                </a:lnTo>
                <a:lnTo>
                  <a:pt x="513" y="506"/>
                </a:lnTo>
                <a:lnTo>
                  <a:pt x="550" y="462"/>
                </a:lnTo>
                <a:lnTo>
                  <a:pt x="578" y="411"/>
                </a:lnTo>
                <a:lnTo>
                  <a:pt x="596" y="356"/>
                </a:lnTo>
                <a:lnTo>
                  <a:pt x="602" y="296"/>
                </a:lnTo>
                <a:lnTo>
                  <a:pt x="602"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98" name="Rectangle 26"/>
          <p:cNvSpPr>
            <a:spLocks noChangeArrowheads="1"/>
          </p:cNvSpPr>
          <p:nvPr/>
        </p:nvSpPr>
        <p:spPr bwMode="auto">
          <a:xfrm>
            <a:off x="7240588" y="3328988"/>
            <a:ext cx="7683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200" b="1">
                <a:solidFill>
                  <a:srgbClr val="3399FF"/>
                </a:solidFill>
              </a:rPr>
              <a:t>Packing</a:t>
            </a:r>
          </a:p>
        </p:txBody>
      </p:sp>
      <p:sp>
        <p:nvSpPr>
          <p:cNvPr id="28699" name="Rectangle 27"/>
          <p:cNvSpPr>
            <a:spLocks noChangeArrowheads="1"/>
          </p:cNvSpPr>
          <p:nvPr/>
        </p:nvSpPr>
        <p:spPr bwMode="auto">
          <a:xfrm>
            <a:off x="7240588" y="3506788"/>
            <a:ext cx="68421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200" b="1">
                <a:solidFill>
                  <a:srgbClr val="3399FF"/>
                </a:solidFill>
              </a:rPr>
              <a:t>  paper</a:t>
            </a:r>
          </a:p>
        </p:txBody>
      </p:sp>
      <p:sp>
        <p:nvSpPr>
          <p:cNvPr id="28700" name="Rectangle 28"/>
          <p:cNvSpPr>
            <a:spLocks noChangeArrowheads="1"/>
          </p:cNvSpPr>
          <p:nvPr/>
        </p:nvSpPr>
        <p:spPr bwMode="auto">
          <a:xfrm>
            <a:off x="7240588" y="3683000"/>
            <a:ext cx="63658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200" b="1">
                <a:solidFill>
                  <a:srgbClr val="3399FF"/>
                </a:solidFill>
              </a:rPr>
              <a:t>   pulp</a:t>
            </a:r>
          </a:p>
        </p:txBody>
      </p:sp>
      <p:sp>
        <p:nvSpPr>
          <p:cNvPr id="28701" name="Rectangle 29"/>
          <p:cNvSpPr>
            <a:spLocks noChangeArrowheads="1"/>
          </p:cNvSpPr>
          <p:nvPr/>
        </p:nvSpPr>
        <p:spPr bwMode="auto">
          <a:xfrm>
            <a:off x="7448550" y="3841750"/>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8</a:t>
            </a:r>
          </a:p>
        </p:txBody>
      </p:sp>
      <p:sp>
        <p:nvSpPr>
          <p:cNvPr id="28702" name="Freeform 30"/>
          <p:cNvSpPr>
            <a:spLocks/>
          </p:cNvSpPr>
          <p:nvPr/>
        </p:nvSpPr>
        <p:spPr bwMode="auto">
          <a:xfrm>
            <a:off x="7124700" y="4813300"/>
            <a:ext cx="955675" cy="941388"/>
          </a:xfrm>
          <a:custGeom>
            <a:avLst/>
            <a:gdLst>
              <a:gd name="T0" fmla="*/ 601 w 602"/>
              <a:gd name="T1" fmla="*/ 296 h 593"/>
              <a:gd name="T2" fmla="*/ 595 w 602"/>
              <a:gd name="T3" fmla="*/ 236 h 593"/>
              <a:gd name="T4" fmla="*/ 577 w 602"/>
              <a:gd name="T5" fmla="*/ 180 h 593"/>
              <a:gd name="T6" fmla="*/ 550 w 602"/>
              <a:gd name="T7" fmla="*/ 130 h 593"/>
              <a:gd name="T8" fmla="*/ 513 w 602"/>
              <a:gd name="T9" fmla="*/ 86 h 593"/>
              <a:gd name="T10" fmla="*/ 469 w 602"/>
              <a:gd name="T11" fmla="*/ 50 h 593"/>
              <a:gd name="T12" fmla="*/ 418 w 602"/>
              <a:gd name="T13" fmla="*/ 23 h 593"/>
              <a:gd name="T14" fmla="*/ 361 w 602"/>
              <a:gd name="T15" fmla="*/ 6 h 593"/>
              <a:gd name="T16" fmla="*/ 301 w 602"/>
              <a:gd name="T17" fmla="*/ 0 h 593"/>
              <a:gd name="T18" fmla="*/ 240 w 602"/>
              <a:gd name="T19" fmla="*/ 6 h 593"/>
              <a:gd name="T20" fmla="*/ 183 w 602"/>
              <a:gd name="T21" fmla="*/ 23 h 593"/>
              <a:gd name="T22" fmla="*/ 132 w 602"/>
              <a:gd name="T23" fmla="*/ 50 h 593"/>
              <a:gd name="T24" fmla="*/ 88 w 602"/>
              <a:gd name="T25" fmla="*/ 86 h 593"/>
              <a:gd name="T26" fmla="*/ 51 w 602"/>
              <a:gd name="T27" fmla="*/ 130 h 593"/>
              <a:gd name="T28" fmla="*/ 23 w 602"/>
              <a:gd name="T29" fmla="*/ 180 h 593"/>
              <a:gd name="T30" fmla="*/ 6 w 602"/>
              <a:gd name="T31" fmla="*/ 236 h 593"/>
              <a:gd name="T32" fmla="*/ 0 w 602"/>
              <a:gd name="T33" fmla="*/ 296 h 593"/>
              <a:gd name="T34" fmla="*/ 6 w 602"/>
              <a:gd name="T35" fmla="*/ 355 h 593"/>
              <a:gd name="T36" fmla="*/ 23 w 602"/>
              <a:gd name="T37" fmla="*/ 411 h 593"/>
              <a:gd name="T38" fmla="*/ 51 w 602"/>
              <a:gd name="T39" fmla="*/ 461 h 593"/>
              <a:gd name="T40" fmla="*/ 88 w 602"/>
              <a:gd name="T41" fmla="*/ 505 h 593"/>
              <a:gd name="T42" fmla="*/ 132 w 602"/>
              <a:gd name="T43" fmla="*/ 541 h 593"/>
              <a:gd name="T44" fmla="*/ 183 w 602"/>
              <a:gd name="T45" fmla="*/ 568 h 593"/>
              <a:gd name="T46" fmla="*/ 240 w 602"/>
              <a:gd name="T47" fmla="*/ 586 h 593"/>
              <a:gd name="T48" fmla="*/ 301 w 602"/>
              <a:gd name="T49" fmla="*/ 592 h 593"/>
              <a:gd name="T50" fmla="*/ 361 w 602"/>
              <a:gd name="T51" fmla="*/ 586 h 593"/>
              <a:gd name="T52" fmla="*/ 418 w 602"/>
              <a:gd name="T53" fmla="*/ 568 h 593"/>
              <a:gd name="T54" fmla="*/ 469 w 602"/>
              <a:gd name="T55" fmla="*/ 541 h 593"/>
              <a:gd name="T56" fmla="*/ 513 w 602"/>
              <a:gd name="T57" fmla="*/ 505 h 593"/>
              <a:gd name="T58" fmla="*/ 550 w 602"/>
              <a:gd name="T59" fmla="*/ 461 h 593"/>
              <a:gd name="T60" fmla="*/ 577 w 602"/>
              <a:gd name="T61" fmla="*/ 411 h 593"/>
              <a:gd name="T62" fmla="*/ 595 w 602"/>
              <a:gd name="T63" fmla="*/ 355 h 593"/>
              <a:gd name="T64" fmla="*/ 601 w 602"/>
              <a:gd name="T65" fmla="*/ 296 h 593"/>
              <a:gd name="T66" fmla="*/ 601 w 602"/>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02" h="593">
                <a:moveTo>
                  <a:pt x="601" y="296"/>
                </a:moveTo>
                <a:lnTo>
                  <a:pt x="595" y="236"/>
                </a:lnTo>
                <a:lnTo>
                  <a:pt x="577" y="180"/>
                </a:lnTo>
                <a:lnTo>
                  <a:pt x="550" y="130"/>
                </a:lnTo>
                <a:lnTo>
                  <a:pt x="513" y="86"/>
                </a:lnTo>
                <a:lnTo>
                  <a:pt x="469" y="50"/>
                </a:lnTo>
                <a:lnTo>
                  <a:pt x="418" y="23"/>
                </a:lnTo>
                <a:lnTo>
                  <a:pt x="361" y="6"/>
                </a:lnTo>
                <a:lnTo>
                  <a:pt x="301" y="0"/>
                </a:lnTo>
                <a:lnTo>
                  <a:pt x="240" y="6"/>
                </a:lnTo>
                <a:lnTo>
                  <a:pt x="183" y="23"/>
                </a:lnTo>
                <a:lnTo>
                  <a:pt x="132" y="50"/>
                </a:lnTo>
                <a:lnTo>
                  <a:pt x="88" y="86"/>
                </a:lnTo>
                <a:lnTo>
                  <a:pt x="51" y="130"/>
                </a:lnTo>
                <a:lnTo>
                  <a:pt x="23" y="180"/>
                </a:lnTo>
                <a:lnTo>
                  <a:pt x="6" y="236"/>
                </a:lnTo>
                <a:lnTo>
                  <a:pt x="0" y="296"/>
                </a:lnTo>
                <a:lnTo>
                  <a:pt x="6" y="355"/>
                </a:lnTo>
                <a:lnTo>
                  <a:pt x="23" y="411"/>
                </a:lnTo>
                <a:lnTo>
                  <a:pt x="51" y="461"/>
                </a:lnTo>
                <a:lnTo>
                  <a:pt x="88" y="505"/>
                </a:lnTo>
                <a:lnTo>
                  <a:pt x="132" y="541"/>
                </a:lnTo>
                <a:lnTo>
                  <a:pt x="183" y="568"/>
                </a:lnTo>
                <a:lnTo>
                  <a:pt x="240" y="586"/>
                </a:lnTo>
                <a:lnTo>
                  <a:pt x="301" y="592"/>
                </a:lnTo>
                <a:lnTo>
                  <a:pt x="361" y="586"/>
                </a:lnTo>
                <a:lnTo>
                  <a:pt x="418" y="568"/>
                </a:lnTo>
                <a:lnTo>
                  <a:pt x="469" y="541"/>
                </a:lnTo>
                <a:lnTo>
                  <a:pt x="513" y="505"/>
                </a:lnTo>
                <a:lnTo>
                  <a:pt x="550" y="461"/>
                </a:lnTo>
                <a:lnTo>
                  <a:pt x="577" y="411"/>
                </a:lnTo>
                <a:lnTo>
                  <a:pt x="595" y="355"/>
                </a:lnTo>
                <a:lnTo>
                  <a:pt x="601" y="296"/>
                </a:lnTo>
                <a:lnTo>
                  <a:pt x="601"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03" name="Rectangle 31"/>
          <p:cNvSpPr>
            <a:spLocks noChangeArrowheads="1"/>
          </p:cNvSpPr>
          <p:nvPr/>
        </p:nvSpPr>
        <p:spPr bwMode="auto">
          <a:xfrm>
            <a:off x="7308850" y="4854575"/>
            <a:ext cx="560388"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300" b="1">
                <a:solidFill>
                  <a:srgbClr val="3399FF"/>
                </a:solidFill>
              </a:rPr>
              <a:t>Print</a:t>
            </a:r>
          </a:p>
        </p:txBody>
      </p:sp>
      <p:sp>
        <p:nvSpPr>
          <p:cNvPr id="28704" name="Rectangle 32"/>
          <p:cNvSpPr>
            <a:spLocks noChangeArrowheads="1"/>
          </p:cNvSpPr>
          <p:nvPr/>
        </p:nvSpPr>
        <p:spPr bwMode="auto">
          <a:xfrm>
            <a:off x="7308850" y="5054600"/>
            <a:ext cx="61595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300" b="1">
                <a:solidFill>
                  <a:srgbClr val="3399FF"/>
                </a:solidFill>
              </a:rPr>
              <a:t>stock</a:t>
            </a:r>
          </a:p>
        </p:txBody>
      </p:sp>
      <p:sp>
        <p:nvSpPr>
          <p:cNvPr id="28705" name="Rectangle 33"/>
          <p:cNvSpPr>
            <a:spLocks noChangeArrowheads="1"/>
          </p:cNvSpPr>
          <p:nvPr/>
        </p:nvSpPr>
        <p:spPr bwMode="auto">
          <a:xfrm>
            <a:off x="7308850" y="5254625"/>
            <a:ext cx="534988"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300" b="1">
                <a:solidFill>
                  <a:srgbClr val="3399FF"/>
                </a:solidFill>
              </a:rPr>
              <a:t>pulp</a:t>
            </a:r>
          </a:p>
        </p:txBody>
      </p:sp>
      <p:sp>
        <p:nvSpPr>
          <p:cNvPr id="28706" name="Rectangle 34"/>
          <p:cNvSpPr>
            <a:spLocks noChangeArrowheads="1"/>
          </p:cNvSpPr>
          <p:nvPr/>
        </p:nvSpPr>
        <p:spPr bwMode="auto">
          <a:xfrm>
            <a:off x="7486650" y="5451475"/>
            <a:ext cx="29051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solidFill>
                  <a:srgbClr val="3399FF"/>
                </a:solidFill>
              </a:rPr>
              <a:t>9</a:t>
            </a:r>
          </a:p>
        </p:txBody>
      </p:sp>
      <p:sp>
        <p:nvSpPr>
          <p:cNvPr id="28707" name="Rectangle 35"/>
          <p:cNvSpPr>
            <a:spLocks noChangeArrowheads="1"/>
          </p:cNvSpPr>
          <p:nvPr/>
        </p:nvSpPr>
        <p:spPr bwMode="auto">
          <a:xfrm>
            <a:off x="620713" y="1193800"/>
            <a:ext cx="64452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100"/>
              <a:t>-70</a:t>
            </a:r>
            <a:r>
              <a:rPr lang="en-US" sz="2100">
                <a:solidFill>
                  <a:srgbClr val="3399FF"/>
                </a:solidFill>
              </a:rPr>
              <a:t> </a:t>
            </a:r>
          </a:p>
        </p:txBody>
      </p:sp>
      <p:sp>
        <p:nvSpPr>
          <p:cNvPr id="28708" name="Rectangle 36"/>
          <p:cNvSpPr>
            <a:spLocks noChangeArrowheads="1"/>
          </p:cNvSpPr>
          <p:nvPr/>
        </p:nvSpPr>
        <p:spPr bwMode="auto">
          <a:xfrm>
            <a:off x="622300" y="2636838"/>
            <a:ext cx="64452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100"/>
              <a:t>-50</a:t>
            </a:r>
            <a:r>
              <a:rPr lang="en-US" sz="2100">
                <a:solidFill>
                  <a:srgbClr val="3399FF"/>
                </a:solidFill>
              </a:rPr>
              <a:t> </a:t>
            </a:r>
          </a:p>
        </p:txBody>
      </p:sp>
      <p:sp>
        <p:nvSpPr>
          <p:cNvPr id="28709" name="Rectangle 37"/>
          <p:cNvSpPr>
            <a:spLocks noChangeArrowheads="1"/>
          </p:cNvSpPr>
          <p:nvPr/>
        </p:nvSpPr>
        <p:spPr bwMode="auto">
          <a:xfrm>
            <a:off x="609600" y="4135438"/>
            <a:ext cx="64452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100"/>
              <a:t>-30</a:t>
            </a:r>
            <a:r>
              <a:rPr lang="en-US" sz="2100">
                <a:solidFill>
                  <a:srgbClr val="3399FF"/>
                </a:solidFill>
              </a:rPr>
              <a:t> </a:t>
            </a:r>
          </a:p>
        </p:txBody>
      </p:sp>
      <p:sp>
        <p:nvSpPr>
          <p:cNvPr id="28710" name="Rectangle 38"/>
          <p:cNvSpPr>
            <a:spLocks noChangeArrowheads="1"/>
          </p:cNvSpPr>
          <p:nvPr/>
        </p:nvSpPr>
        <p:spPr bwMode="auto">
          <a:xfrm>
            <a:off x="622300" y="5797550"/>
            <a:ext cx="64452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100"/>
              <a:t>-40</a:t>
            </a:r>
            <a:r>
              <a:rPr lang="en-US" sz="2100">
                <a:solidFill>
                  <a:srgbClr val="3399FF"/>
                </a:solidFill>
              </a:rPr>
              <a:t> </a:t>
            </a:r>
          </a:p>
        </p:txBody>
      </p:sp>
      <p:sp>
        <p:nvSpPr>
          <p:cNvPr id="28711" name="Rectangle 39"/>
          <p:cNvSpPr>
            <a:spLocks noChangeArrowheads="1"/>
          </p:cNvSpPr>
          <p:nvPr/>
        </p:nvSpPr>
        <p:spPr bwMode="auto">
          <a:xfrm>
            <a:off x="8075613" y="1970088"/>
            <a:ext cx="5937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900"/>
              <a:t>+60</a:t>
            </a:r>
          </a:p>
        </p:txBody>
      </p:sp>
      <p:sp>
        <p:nvSpPr>
          <p:cNvPr id="28712" name="Rectangle 40"/>
          <p:cNvSpPr>
            <a:spLocks noChangeArrowheads="1"/>
          </p:cNvSpPr>
          <p:nvPr/>
        </p:nvSpPr>
        <p:spPr bwMode="auto">
          <a:xfrm>
            <a:off x="8050213" y="3468688"/>
            <a:ext cx="5937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900"/>
              <a:t>+40</a:t>
            </a:r>
          </a:p>
        </p:txBody>
      </p:sp>
      <p:sp>
        <p:nvSpPr>
          <p:cNvPr id="28713" name="Rectangle 41"/>
          <p:cNvSpPr>
            <a:spLocks noChangeArrowheads="1"/>
          </p:cNvSpPr>
          <p:nvPr/>
        </p:nvSpPr>
        <p:spPr bwMode="auto">
          <a:xfrm>
            <a:off x="8066088" y="5048250"/>
            <a:ext cx="5937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900"/>
              <a:t>+50</a:t>
            </a:r>
          </a:p>
        </p:txBody>
      </p:sp>
      <p:sp>
        <p:nvSpPr>
          <p:cNvPr id="28714" name="Rectangle 42"/>
          <p:cNvSpPr>
            <a:spLocks noChangeArrowheads="1"/>
          </p:cNvSpPr>
          <p:nvPr/>
        </p:nvSpPr>
        <p:spPr bwMode="auto">
          <a:xfrm>
            <a:off x="1365250" y="3971925"/>
            <a:ext cx="6413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200" b="1">
                <a:solidFill>
                  <a:srgbClr val="3399FF"/>
                </a:solidFill>
              </a:rPr>
              <a:t>White </a:t>
            </a:r>
          </a:p>
        </p:txBody>
      </p:sp>
      <p:sp>
        <p:nvSpPr>
          <p:cNvPr id="28715" name="Rectangle 43"/>
          <p:cNvSpPr>
            <a:spLocks noChangeArrowheads="1"/>
          </p:cNvSpPr>
          <p:nvPr/>
        </p:nvSpPr>
        <p:spPr bwMode="auto">
          <a:xfrm>
            <a:off x="1365250" y="4148138"/>
            <a:ext cx="6334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200" b="1">
                <a:solidFill>
                  <a:srgbClr val="3399FF"/>
                </a:solidFill>
              </a:rPr>
              <a:t>office </a:t>
            </a:r>
          </a:p>
        </p:txBody>
      </p:sp>
      <p:sp>
        <p:nvSpPr>
          <p:cNvPr id="28716" name="Rectangle 44"/>
          <p:cNvSpPr>
            <a:spLocks noChangeArrowheads="1"/>
          </p:cNvSpPr>
          <p:nvPr/>
        </p:nvSpPr>
        <p:spPr bwMode="auto">
          <a:xfrm>
            <a:off x="1365250" y="4324350"/>
            <a:ext cx="59848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200" b="1">
                <a:solidFill>
                  <a:srgbClr val="3399FF"/>
                </a:solidFill>
              </a:rPr>
              <a:t>paper</a:t>
            </a:r>
          </a:p>
        </p:txBody>
      </p:sp>
      <p:sp>
        <p:nvSpPr>
          <p:cNvPr id="28717" name="Rectangle 45"/>
          <p:cNvSpPr>
            <a:spLocks noChangeArrowheads="1"/>
          </p:cNvSpPr>
          <p:nvPr/>
        </p:nvSpPr>
        <p:spPr bwMode="auto">
          <a:xfrm>
            <a:off x="4200525" y="4489450"/>
            <a:ext cx="9461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200" b="1">
                <a:solidFill>
                  <a:srgbClr val="3399FF"/>
                </a:solidFill>
              </a:rPr>
              <a:t>Recycling </a:t>
            </a:r>
          </a:p>
        </p:txBody>
      </p:sp>
      <p:sp>
        <p:nvSpPr>
          <p:cNvPr id="28718" name="Rectangle 46"/>
          <p:cNvSpPr>
            <a:spLocks noChangeArrowheads="1"/>
          </p:cNvSpPr>
          <p:nvPr/>
        </p:nvSpPr>
        <p:spPr bwMode="auto">
          <a:xfrm>
            <a:off x="4200525" y="4667250"/>
            <a:ext cx="9017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200" b="1">
                <a:solidFill>
                  <a:srgbClr val="3399FF"/>
                </a:solidFill>
              </a:rPr>
              <a:t>Process 2</a:t>
            </a:r>
          </a:p>
        </p:txBody>
      </p:sp>
      <p:sp>
        <p:nvSpPr>
          <p:cNvPr id="28719" name="Line 47"/>
          <p:cNvSpPr>
            <a:spLocks noChangeShapeType="1"/>
          </p:cNvSpPr>
          <p:nvPr/>
        </p:nvSpPr>
        <p:spPr bwMode="auto">
          <a:xfrm>
            <a:off x="2170113" y="1392238"/>
            <a:ext cx="1897062" cy="1152525"/>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20" name="Line 48"/>
          <p:cNvSpPr>
            <a:spLocks noChangeShapeType="1"/>
          </p:cNvSpPr>
          <p:nvPr/>
        </p:nvSpPr>
        <p:spPr bwMode="auto">
          <a:xfrm>
            <a:off x="2170113" y="1406525"/>
            <a:ext cx="2038350" cy="2849563"/>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21" name="Line 49"/>
          <p:cNvSpPr>
            <a:spLocks noChangeShapeType="1"/>
          </p:cNvSpPr>
          <p:nvPr/>
        </p:nvSpPr>
        <p:spPr bwMode="auto">
          <a:xfrm flipV="1">
            <a:off x="2170113" y="2732088"/>
            <a:ext cx="1779587" cy="131762"/>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22" name="Line 50"/>
          <p:cNvSpPr>
            <a:spLocks noChangeShapeType="1"/>
          </p:cNvSpPr>
          <p:nvPr/>
        </p:nvSpPr>
        <p:spPr bwMode="auto">
          <a:xfrm>
            <a:off x="2184400" y="2863850"/>
            <a:ext cx="1835150" cy="1658938"/>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23" name="Line 51"/>
          <p:cNvSpPr>
            <a:spLocks noChangeShapeType="1"/>
          </p:cNvSpPr>
          <p:nvPr/>
        </p:nvSpPr>
        <p:spPr bwMode="auto">
          <a:xfrm flipV="1">
            <a:off x="2157413" y="2957513"/>
            <a:ext cx="1804987" cy="1417637"/>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24" name="Line 52"/>
          <p:cNvSpPr>
            <a:spLocks noChangeShapeType="1"/>
          </p:cNvSpPr>
          <p:nvPr/>
        </p:nvSpPr>
        <p:spPr bwMode="auto">
          <a:xfrm flipV="1">
            <a:off x="2170113" y="3216275"/>
            <a:ext cx="1874837" cy="2765425"/>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25" name="Line 53"/>
          <p:cNvSpPr>
            <a:spLocks noChangeShapeType="1"/>
          </p:cNvSpPr>
          <p:nvPr/>
        </p:nvSpPr>
        <p:spPr bwMode="auto">
          <a:xfrm>
            <a:off x="2157413" y="4360863"/>
            <a:ext cx="1739900" cy="50165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26" name="Line 54"/>
          <p:cNvSpPr>
            <a:spLocks noChangeShapeType="1"/>
          </p:cNvSpPr>
          <p:nvPr/>
        </p:nvSpPr>
        <p:spPr bwMode="auto">
          <a:xfrm flipV="1">
            <a:off x="2170113" y="5057775"/>
            <a:ext cx="1758950" cy="938213"/>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27" name="Line 55"/>
          <p:cNvSpPr>
            <a:spLocks noChangeShapeType="1"/>
          </p:cNvSpPr>
          <p:nvPr/>
        </p:nvSpPr>
        <p:spPr bwMode="auto">
          <a:xfrm flipV="1">
            <a:off x="5103813" y="2203450"/>
            <a:ext cx="1892300" cy="633413"/>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28" name="Line 56"/>
          <p:cNvSpPr>
            <a:spLocks noChangeShapeType="1"/>
          </p:cNvSpPr>
          <p:nvPr/>
        </p:nvSpPr>
        <p:spPr bwMode="auto">
          <a:xfrm>
            <a:off x="5103813" y="2836863"/>
            <a:ext cx="1879600" cy="765175"/>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29" name="Line 57"/>
          <p:cNvSpPr>
            <a:spLocks noChangeShapeType="1"/>
          </p:cNvSpPr>
          <p:nvPr/>
        </p:nvSpPr>
        <p:spPr bwMode="auto">
          <a:xfrm>
            <a:off x="5118100" y="2836863"/>
            <a:ext cx="1936750" cy="2132012"/>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30" name="Line 58"/>
          <p:cNvSpPr>
            <a:spLocks noChangeShapeType="1"/>
          </p:cNvSpPr>
          <p:nvPr/>
        </p:nvSpPr>
        <p:spPr bwMode="auto">
          <a:xfrm flipV="1">
            <a:off x="5091113" y="2436813"/>
            <a:ext cx="1938337" cy="237490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31" name="Line 59"/>
          <p:cNvSpPr>
            <a:spLocks noChangeShapeType="1"/>
          </p:cNvSpPr>
          <p:nvPr/>
        </p:nvSpPr>
        <p:spPr bwMode="auto">
          <a:xfrm flipV="1">
            <a:off x="5091113" y="3819525"/>
            <a:ext cx="1839912" cy="97790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32" name="Line 60"/>
          <p:cNvSpPr>
            <a:spLocks noChangeShapeType="1"/>
          </p:cNvSpPr>
          <p:nvPr/>
        </p:nvSpPr>
        <p:spPr bwMode="auto">
          <a:xfrm>
            <a:off x="5103813" y="4783138"/>
            <a:ext cx="1847850" cy="382587"/>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33" name="Rectangle 61"/>
          <p:cNvSpPr>
            <a:spLocks noChangeArrowheads="1"/>
          </p:cNvSpPr>
          <p:nvPr/>
        </p:nvSpPr>
        <p:spPr bwMode="auto">
          <a:xfrm>
            <a:off x="2309813" y="1223963"/>
            <a:ext cx="4810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rgbClr val="00CC00"/>
                </a:solidFill>
              </a:rPr>
              <a:t>$13</a:t>
            </a:r>
          </a:p>
        </p:txBody>
      </p:sp>
      <p:sp>
        <p:nvSpPr>
          <p:cNvPr id="28734" name="Rectangle 62"/>
          <p:cNvSpPr>
            <a:spLocks noChangeArrowheads="1"/>
          </p:cNvSpPr>
          <p:nvPr/>
        </p:nvSpPr>
        <p:spPr bwMode="auto">
          <a:xfrm>
            <a:off x="2038350" y="1782763"/>
            <a:ext cx="4810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rgbClr val="00CC00"/>
                </a:solidFill>
              </a:rPr>
              <a:t>$12</a:t>
            </a:r>
          </a:p>
        </p:txBody>
      </p:sp>
      <p:sp>
        <p:nvSpPr>
          <p:cNvPr id="28735" name="Rectangle 63"/>
          <p:cNvSpPr>
            <a:spLocks noChangeArrowheads="1"/>
          </p:cNvSpPr>
          <p:nvPr/>
        </p:nvSpPr>
        <p:spPr bwMode="auto">
          <a:xfrm>
            <a:off x="2162175" y="2517775"/>
            <a:ext cx="4810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rgbClr val="00CC00"/>
                </a:solidFill>
              </a:rPr>
              <a:t>$11</a:t>
            </a:r>
          </a:p>
        </p:txBody>
      </p:sp>
      <p:sp>
        <p:nvSpPr>
          <p:cNvPr id="28736" name="Rectangle 64"/>
          <p:cNvSpPr>
            <a:spLocks noChangeArrowheads="1"/>
          </p:cNvSpPr>
          <p:nvPr/>
        </p:nvSpPr>
        <p:spPr bwMode="auto">
          <a:xfrm>
            <a:off x="2039938" y="3117850"/>
            <a:ext cx="4810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rgbClr val="00CC00"/>
                </a:solidFill>
              </a:rPr>
              <a:t>$13</a:t>
            </a:r>
          </a:p>
        </p:txBody>
      </p:sp>
      <p:sp>
        <p:nvSpPr>
          <p:cNvPr id="28737" name="Rectangle 65"/>
          <p:cNvSpPr>
            <a:spLocks noChangeArrowheads="1"/>
          </p:cNvSpPr>
          <p:nvPr/>
        </p:nvSpPr>
        <p:spPr bwMode="auto">
          <a:xfrm>
            <a:off x="2095500" y="3840163"/>
            <a:ext cx="3825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rgbClr val="00CC00"/>
                </a:solidFill>
              </a:rPr>
              <a:t>$9</a:t>
            </a:r>
          </a:p>
        </p:txBody>
      </p:sp>
      <p:sp>
        <p:nvSpPr>
          <p:cNvPr id="28738" name="Rectangle 66"/>
          <p:cNvSpPr>
            <a:spLocks noChangeArrowheads="1"/>
          </p:cNvSpPr>
          <p:nvPr/>
        </p:nvSpPr>
        <p:spPr bwMode="auto">
          <a:xfrm>
            <a:off x="2125663" y="4452938"/>
            <a:ext cx="4810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rgbClr val="00CC00"/>
                </a:solidFill>
              </a:rPr>
              <a:t>$10</a:t>
            </a:r>
          </a:p>
        </p:txBody>
      </p:sp>
      <p:sp>
        <p:nvSpPr>
          <p:cNvPr id="28739" name="Rectangle 67"/>
          <p:cNvSpPr>
            <a:spLocks noChangeArrowheads="1"/>
          </p:cNvSpPr>
          <p:nvPr/>
        </p:nvSpPr>
        <p:spPr bwMode="auto">
          <a:xfrm>
            <a:off x="2276475" y="5910263"/>
            <a:ext cx="4810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rgbClr val="00CC00"/>
                </a:solidFill>
              </a:rPr>
              <a:t>$14</a:t>
            </a:r>
          </a:p>
        </p:txBody>
      </p:sp>
      <p:sp>
        <p:nvSpPr>
          <p:cNvPr id="28740" name="Rectangle 68"/>
          <p:cNvSpPr>
            <a:spLocks noChangeArrowheads="1"/>
          </p:cNvSpPr>
          <p:nvPr/>
        </p:nvSpPr>
        <p:spPr bwMode="auto">
          <a:xfrm>
            <a:off x="2006600" y="5243513"/>
            <a:ext cx="4810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rgbClr val="00CC00"/>
                </a:solidFill>
              </a:rPr>
              <a:t>$13</a:t>
            </a:r>
          </a:p>
        </p:txBody>
      </p:sp>
      <p:sp>
        <p:nvSpPr>
          <p:cNvPr id="28741" name="Rectangle 69"/>
          <p:cNvSpPr>
            <a:spLocks noChangeArrowheads="1"/>
          </p:cNvSpPr>
          <p:nvPr/>
        </p:nvSpPr>
        <p:spPr bwMode="auto">
          <a:xfrm>
            <a:off x="3605213" y="2014538"/>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chemeClr val="tx2"/>
                </a:solidFill>
              </a:rPr>
              <a:t>90%</a:t>
            </a:r>
          </a:p>
        </p:txBody>
      </p:sp>
      <p:sp>
        <p:nvSpPr>
          <p:cNvPr id="28742" name="Rectangle 70"/>
          <p:cNvSpPr>
            <a:spLocks noChangeArrowheads="1"/>
          </p:cNvSpPr>
          <p:nvPr/>
        </p:nvSpPr>
        <p:spPr bwMode="auto">
          <a:xfrm>
            <a:off x="3333750" y="2422525"/>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chemeClr val="tx2"/>
                </a:solidFill>
              </a:rPr>
              <a:t>80%</a:t>
            </a:r>
          </a:p>
        </p:txBody>
      </p:sp>
      <p:sp>
        <p:nvSpPr>
          <p:cNvPr id="28743" name="Rectangle 71"/>
          <p:cNvSpPr>
            <a:spLocks noChangeArrowheads="1"/>
          </p:cNvSpPr>
          <p:nvPr/>
        </p:nvSpPr>
        <p:spPr bwMode="auto">
          <a:xfrm>
            <a:off x="3432175" y="2832100"/>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chemeClr val="tx2"/>
                </a:solidFill>
              </a:rPr>
              <a:t>95%</a:t>
            </a:r>
          </a:p>
        </p:txBody>
      </p:sp>
      <p:sp>
        <p:nvSpPr>
          <p:cNvPr id="28744" name="Rectangle 72"/>
          <p:cNvSpPr>
            <a:spLocks noChangeArrowheads="1"/>
          </p:cNvSpPr>
          <p:nvPr/>
        </p:nvSpPr>
        <p:spPr bwMode="auto">
          <a:xfrm>
            <a:off x="3910013" y="3268663"/>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chemeClr val="tx2"/>
                </a:solidFill>
              </a:rPr>
              <a:t>75%</a:t>
            </a:r>
          </a:p>
        </p:txBody>
      </p:sp>
      <p:sp>
        <p:nvSpPr>
          <p:cNvPr id="28745" name="Rectangle 73"/>
          <p:cNvSpPr>
            <a:spLocks noChangeArrowheads="1"/>
          </p:cNvSpPr>
          <p:nvPr/>
        </p:nvSpPr>
        <p:spPr bwMode="auto">
          <a:xfrm>
            <a:off x="4106863" y="3922713"/>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chemeClr val="tx2"/>
                </a:solidFill>
              </a:rPr>
              <a:t>85%</a:t>
            </a:r>
          </a:p>
        </p:txBody>
      </p:sp>
      <p:sp>
        <p:nvSpPr>
          <p:cNvPr id="28746" name="Rectangle 74"/>
          <p:cNvSpPr>
            <a:spLocks noChangeArrowheads="1"/>
          </p:cNvSpPr>
          <p:nvPr/>
        </p:nvSpPr>
        <p:spPr bwMode="auto">
          <a:xfrm>
            <a:off x="3668713" y="4038600"/>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chemeClr val="tx2"/>
                </a:solidFill>
              </a:rPr>
              <a:t>85%</a:t>
            </a:r>
          </a:p>
        </p:txBody>
      </p:sp>
      <p:sp>
        <p:nvSpPr>
          <p:cNvPr id="28747" name="Rectangle 75"/>
          <p:cNvSpPr>
            <a:spLocks noChangeArrowheads="1"/>
          </p:cNvSpPr>
          <p:nvPr/>
        </p:nvSpPr>
        <p:spPr bwMode="auto">
          <a:xfrm>
            <a:off x="3622675" y="4562475"/>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chemeClr val="tx2"/>
                </a:solidFill>
              </a:rPr>
              <a:t>90%</a:t>
            </a:r>
          </a:p>
        </p:txBody>
      </p:sp>
      <p:sp>
        <p:nvSpPr>
          <p:cNvPr id="28748" name="Rectangle 76"/>
          <p:cNvSpPr>
            <a:spLocks noChangeArrowheads="1"/>
          </p:cNvSpPr>
          <p:nvPr/>
        </p:nvSpPr>
        <p:spPr bwMode="auto">
          <a:xfrm>
            <a:off x="3802063" y="5176838"/>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chemeClr val="tx2"/>
                </a:solidFill>
              </a:rPr>
              <a:t>85%</a:t>
            </a:r>
          </a:p>
        </p:txBody>
      </p:sp>
      <p:sp>
        <p:nvSpPr>
          <p:cNvPr id="28749" name="Rectangle 77"/>
          <p:cNvSpPr>
            <a:spLocks noChangeArrowheads="1"/>
          </p:cNvSpPr>
          <p:nvPr/>
        </p:nvSpPr>
        <p:spPr bwMode="auto">
          <a:xfrm>
            <a:off x="5272088" y="2409825"/>
            <a:ext cx="3825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rgbClr val="00CC00"/>
                </a:solidFill>
              </a:rPr>
              <a:t>$5</a:t>
            </a:r>
          </a:p>
        </p:txBody>
      </p:sp>
      <p:sp>
        <p:nvSpPr>
          <p:cNvPr id="28750" name="Rectangle 78"/>
          <p:cNvSpPr>
            <a:spLocks noChangeArrowheads="1"/>
          </p:cNvSpPr>
          <p:nvPr/>
        </p:nvSpPr>
        <p:spPr bwMode="auto">
          <a:xfrm>
            <a:off x="5410200" y="2790825"/>
            <a:ext cx="3825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rgbClr val="00CC00"/>
                </a:solidFill>
              </a:rPr>
              <a:t>$6</a:t>
            </a:r>
          </a:p>
        </p:txBody>
      </p:sp>
      <p:sp>
        <p:nvSpPr>
          <p:cNvPr id="28751" name="Rectangle 79"/>
          <p:cNvSpPr>
            <a:spLocks noChangeArrowheads="1"/>
          </p:cNvSpPr>
          <p:nvPr/>
        </p:nvSpPr>
        <p:spPr bwMode="auto">
          <a:xfrm>
            <a:off x="5068888" y="3132138"/>
            <a:ext cx="3825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rgbClr val="00CC00"/>
                </a:solidFill>
              </a:rPr>
              <a:t>$8</a:t>
            </a:r>
          </a:p>
        </p:txBody>
      </p:sp>
      <p:sp>
        <p:nvSpPr>
          <p:cNvPr id="28752" name="Rectangle 80"/>
          <p:cNvSpPr>
            <a:spLocks noChangeArrowheads="1"/>
          </p:cNvSpPr>
          <p:nvPr/>
        </p:nvSpPr>
        <p:spPr bwMode="auto">
          <a:xfrm>
            <a:off x="5016500" y="4208463"/>
            <a:ext cx="3825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rgbClr val="00CC00"/>
                </a:solidFill>
              </a:rPr>
              <a:t>$6</a:t>
            </a:r>
          </a:p>
        </p:txBody>
      </p:sp>
      <p:sp>
        <p:nvSpPr>
          <p:cNvPr id="28753" name="Rectangle 81"/>
          <p:cNvSpPr>
            <a:spLocks noChangeArrowheads="1"/>
          </p:cNvSpPr>
          <p:nvPr/>
        </p:nvSpPr>
        <p:spPr bwMode="auto">
          <a:xfrm>
            <a:off x="5141913" y="4889500"/>
            <a:ext cx="3825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rgbClr val="00CC00"/>
                </a:solidFill>
              </a:rPr>
              <a:t>$7</a:t>
            </a:r>
          </a:p>
        </p:txBody>
      </p:sp>
      <p:sp>
        <p:nvSpPr>
          <p:cNvPr id="28754" name="Rectangle 82"/>
          <p:cNvSpPr>
            <a:spLocks noChangeArrowheads="1"/>
          </p:cNvSpPr>
          <p:nvPr/>
        </p:nvSpPr>
        <p:spPr bwMode="auto">
          <a:xfrm>
            <a:off x="5421313" y="4521200"/>
            <a:ext cx="3825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rgbClr val="00CC00"/>
                </a:solidFill>
              </a:rPr>
              <a:t>$8</a:t>
            </a:r>
          </a:p>
        </p:txBody>
      </p:sp>
      <p:sp>
        <p:nvSpPr>
          <p:cNvPr id="28755" name="Rectangle 83"/>
          <p:cNvSpPr>
            <a:spLocks noChangeArrowheads="1"/>
          </p:cNvSpPr>
          <p:nvPr/>
        </p:nvSpPr>
        <p:spPr bwMode="auto">
          <a:xfrm>
            <a:off x="6567488" y="1919288"/>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chemeClr val="tx2"/>
                </a:solidFill>
              </a:rPr>
              <a:t>95%</a:t>
            </a:r>
          </a:p>
        </p:txBody>
      </p:sp>
      <p:sp>
        <p:nvSpPr>
          <p:cNvPr id="28756" name="Rectangle 84"/>
          <p:cNvSpPr>
            <a:spLocks noChangeArrowheads="1"/>
          </p:cNvSpPr>
          <p:nvPr/>
        </p:nvSpPr>
        <p:spPr bwMode="auto">
          <a:xfrm>
            <a:off x="6664325" y="3227388"/>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chemeClr val="tx2"/>
                </a:solidFill>
              </a:rPr>
              <a:t>90%</a:t>
            </a:r>
          </a:p>
        </p:txBody>
      </p:sp>
      <p:sp>
        <p:nvSpPr>
          <p:cNvPr id="28757" name="Rectangle 85"/>
          <p:cNvSpPr>
            <a:spLocks noChangeArrowheads="1"/>
          </p:cNvSpPr>
          <p:nvPr/>
        </p:nvSpPr>
        <p:spPr bwMode="auto">
          <a:xfrm>
            <a:off x="6788150" y="4494213"/>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chemeClr val="tx2"/>
                </a:solidFill>
              </a:rPr>
              <a:t>90%</a:t>
            </a:r>
          </a:p>
        </p:txBody>
      </p:sp>
      <p:sp>
        <p:nvSpPr>
          <p:cNvPr id="28758" name="Rectangle 86"/>
          <p:cNvSpPr>
            <a:spLocks noChangeArrowheads="1"/>
          </p:cNvSpPr>
          <p:nvPr/>
        </p:nvSpPr>
        <p:spPr bwMode="auto">
          <a:xfrm>
            <a:off x="6831013" y="2573338"/>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chemeClr val="tx2"/>
                </a:solidFill>
              </a:rPr>
              <a:t>90%</a:t>
            </a:r>
          </a:p>
        </p:txBody>
      </p:sp>
      <p:sp>
        <p:nvSpPr>
          <p:cNvPr id="28759" name="Rectangle 87"/>
          <p:cNvSpPr>
            <a:spLocks noChangeArrowheads="1"/>
          </p:cNvSpPr>
          <p:nvPr/>
        </p:nvSpPr>
        <p:spPr bwMode="auto">
          <a:xfrm>
            <a:off x="6732588" y="3908425"/>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chemeClr val="tx2"/>
                </a:solidFill>
              </a:rPr>
              <a:t>95%</a:t>
            </a:r>
          </a:p>
        </p:txBody>
      </p:sp>
      <p:sp>
        <p:nvSpPr>
          <p:cNvPr id="28760" name="Rectangle 88"/>
          <p:cNvSpPr>
            <a:spLocks noChangeArrowheads="1"/>
          </p:cNvSpPr>
          <p:nvPr/>
        </p:nvSpPr>
        <p:spPr bwMode="auto">
          <a:xfrm>
            <a:off x="6637338" y="5241925"/>
            <a:ext cx="539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400" b="1">
                <a:solidFill>
                  <a:schemeClr val="tx2"/>
                </a:solidFill>
              </a:rPr>
              <a:t>95%</a:t>
            </a:r>
          </a:p>
        </p:txBody>
      </p:sp>
      <p:sp>
        <p:nvSpPr>
          <p:cNvPr id="28761" name="Rectangle 89"/>
          <p:cNvSpPr>
            <a:spLocks noChangeArrowheads="1"/>
          </p:cNvSpPr>
          <p:nvPr/>
        </p:nvSpPr>
        <p:spPr bwMode="auto">
          <a:xfrm>
            <a:off x="4533900" y="5321300"/>
            <a:ext cx="488950"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100"/>
              <a:t>+0</a:t>
            </a:r>
          </a:p>
        </p:txBody>
      </p:sp>
      <p:sp>
        <p:nvSpPr>
          <p:cNvPr id="28762" name="Rectangle 90"/>
          <p:cNvSpPr>
            <a:spLocks noChangeArrowheads="1"/>
          </p:cNvSpPr>
          <p:nvPr/>
        </p:nvSpPr>
        <p:spPr bwMode="auto">
          <a:xfrm>
            <a:off x="4427538" y="1957388"/>
            <a:ext cx="488950"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100"/>
              <a:t>+0</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noFill/>
          <a:ln/>
        </p:spPr>
        <p:txBody>
          <a:bodyPr lIns="92075" tIns="46038" rIns="92075" bIns="46038"/>
          <a:lstStyle/>
          <a:p>
            <a:r>
              <a:rPr lang="en-US" sz="4000" i="1">
                <a:solidFill>
                  <a:schemeClr val="hlink"/>
                </a:solidFill>
              </a:rPr>
              <a:t>Defining the Objective Function</a:t>
            </a:r>
          </a:p>
        </p:txBody>
      </p:sp>
      <p:sp>
        <p:nvSpPr>
          <p:cNvPr id="29699" name="Rectangle 3"/>
          <p:cNvSpPr>
            <a:spLocks noGrp="1" noChangeArrowheads="1"/>
          </p:cNvSpPr>
          <p:nvPr>
            <p:ph type="body" idx="1"/>
          </p:nvPr>
        </p:nvSpPr>
        <p:spPr>
          <a:noFill/>
          <a:ln/>
        </p:spPr>
        <p:txBody>
          <a:bodyPr lIns="92075" tIns="46038" rIns="92075" bIns="46038"/>
          <a:lstStyle/>
          <a:p>
            <a:pPr algn="ctr">
              <a:buFont typeface="Wingdings" pitchFamily="2" charset="2"/>
              <a:buNone/>
            </a:pPr>
            <a:r>
              <a:rPr lang="en-US" sz="2800" dirty="0"/>
              <a:t>Minimize total cost.</a:t>
            </a:r>
          </a:p>
          <a:p>
            <a:pPr algn="ctr">
              <a:buFont typeface="Wingdings" pitchFamily="2" charset="2"/>
              <a:buNone/>
            </a:pPr>
            <a:endParaRPr lang="en-US" sz="2800" dirty="0"/>
          </a:p>
          <a:p>
            <a:pPr>
              <a:lnSpc>
                <a:spcPct val="110000"/>
              </a:lnSpc>
              <a:buFont typeface="Wingdings" pitchFamily="2" charset="2"/>
              <a:buNone/>
            </a:pPr>
            <a:r>
              <a:rPr lang="en-US" sz="2800" dirty="0"/>
              <a:t>MIN</a:t>
            </a:r>
            <a:r>
              <a:rPr lang="en-US" sz="2800" dirty="0">
                <a:latin typeface="Times New Roman" pitchFamily="18" charset="0"/>
              </a:rPr>
              <a:t>:  </a:t>
            </a:r>
            <a:r>
              <a:rPr lang="en-US" sz="2800" dirty="0"/>
              <a:t>13X</a:t>
            </a:r>
            <a:r>
              <a:rPr lang="en-US" sz="2800" baseline="-25000" dirty="0"/>
              <a:t>15</a:t>
            </a:r>
            <a:r>
              <a:rPr lang="en-US" sz="2800" dirty="0"/>
              <a:t> + 12X</a:t>
            </a:r>
            <a:r>
              <a:rPr lang="en-US" sz="2800" baseline="-25000" dirty="0"/>
              <a:t>16</a:t>
            </a:r>
            <a:r>
              <a:rPr lang="en-US" sz="2800" dirty="0"/>
              <a:t> + 11X</a:t>
            </a:r>
            <a:r>
              <a:rPr lang="en-US" sz="2800" baseline="-25000" dirty="0"/>
              <a:t>25</a:t>
            </a:r>
            <a:r>
              <a:rPr lang="en-US" sz="2800" dirty="0"/>
              <a:t> + 13X</a:t>
            </a:r>
            <a:r>
              <a:rPr lang="en-US" sz="2800" baseline="-25000" dirty="0"/>
              <a:t>26</a:t>
            </a:r>
            <a:r>
              <a:rPr lang="en-US" sz="2800" dirty="0"/>
              <a:t> </a:t>
            </a:r>
          </a:p>
          <a:p>
            <a:pPr>
              <a:lnSpc>
                <a:spcPct val="110000"/>
              </a:lnSpc>
              <a:buFont typeface="Wingdings" pitchFamily="2" charset="2"/>
              <a:buNone/>
            </a:pPr>
            <a:r>
              <a:rPr lang="en-US" sz="2800" dirty="0"/>
              <a:t>		+ 9X</a:t>
            </a:r>
            <a:r>
              <a:rPr lang="en-US" sz="2800" baseline="-25000" dirty="0"/>
              <a:t>35</a:t>
            </a:r>
            <a:r>
              <a:rPr lang="en-US" sz="2800" dirty="0"/>
              <a:t>+ 10X</a:t>
            </a:r>
            <a:r>
              <a:rPr lang="en-US" sz="2800" baseline="-25000" dirty="0"/>
              <a:t>36</a:t>
            </a:r>
            <a:r>
              <a:rPr lang="en-US" sz="2800" dirty="0"/>
              <a:t> + 13X</a:t>
            </a:r>
            <a:r>
              <a:rPr lang="en-US" sz="2800" baseline="-25000" dirty="0"/>
              <a:t>45</a:t>
            </a:r>
            <a:r>
              <a:rPr lang="en-US" sz="2800" dirty="0"/>
              <a:t> + 14X</a:t>
            </a:r>
            <a:r>
              <a:rPr lang="en-US" sz="2800" baseline="-25000" dirty="0"/>
              <a:t>46</a:t>
            </a:r>
            <a:r>
              <a:rPr lang="en-US" sz="2800" dirty="0"/>
              <a:t> + 5X</a:t>
            </a:r>
            <a:r>
              <a:rPr lang="en-US" sz="2800" baseline="-25000" dirty="0"/>
              <a:t>57</a:t>
            </a:r>
            <a:r>
              <a:rPr lang="en-US" sz="2800" dirty="0"/>
              <a:t> 		+ 6X</a:t>
            </a:r>
            <a:r>
              <a:rPr lang="en-US" sz="2800" baseline="-25000" dirty="0"/>
              <a:t>58 </a:t>
            </a:r>
            <a:r>
              <a:rPr lang="en-US" sz="2800" dirty="0"/>
              <a:t>+ 8X</a:t>
            </a:r>
            <a:r>
              <a:rPr lang="en-US" sz="2800" baseline="-25000" dirty="0"/>
              <a:t>59</a:t>
            </a:r>
            <a:r>
              <a:rPr lang="en-US" sz="2800" dirty="0"/>
              <a:t> + 6X</a:t>
            </a:r>
            <a:r>
              <a:rPr lang="en-US" sz="2800" baseline="-25000" dirty="0"/>
              <a:t>67</a:t>
            </a:r>
            <a:r>
              <a:rPr lang="en-US" sz="2800" dirty="0"/>
              <a:t> + 8X</a:t>
            </a:r>
            <a:r>
              <a:rPr lang="en-US" sz="2800" baseline="-25000" dirty="0"/>
              <a:t>68</a:t>
            </a:r>
            <a:r>
              <a:rPr lang="en-US" sz="2800" dirty="0"/>
              <a:t> + 7X</a:t>
            </a:r>
            <a:r>
              <a:rPr lang="en-US" sz="2800" baseline="-25000" dirty="0"/>
              <a:t>69</a:t>
            </a:r>
            <a:r>
              <a:rPr lang="en-US" sz="2800" dirty="0"/>
              <a:t> </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274638"/>
            <a:ext cx="8229600" cy="512762"/>
          </a:xfrm>
          <a:noFill/>
          <a:ln/>
        </p:spPr>
        <p:txBody>
          <a:bodyPr lIns="92075" tIns="46038" rIns="92075" bIns="46038"/>
          <a:lstStyle/>
          <a:p>
            <a:r>
              <a:rPr lang="en-US" sz="4000" i="1">
                <a:solidFill>
                  <a:schemeClr val="hlink"/>
                </a:solidFill>
              </a:rPr>
              <a:t>Defining the Constraints-I</a:t>
            </a:r>
          </a:p>
        </p:txBody>
      </p:sp>
      <p:sp>
        <p:nvSpPr>
          <p:cNvPr id="30723" name="Rectangle 3"/>
          <p:cNvSpPr>
            <a:spLocks noGrp="1" noChangeArrowheads="1"/>
          </p:cNvSpPr>
          <p:nvPr>
            <p:ph type="body" idx="1"/>
          </p:nvPr>
        </p:nvSpPr>
        <p:spPr>
          <a:xfrm>
            <a:off x="914400" y="1524000"/>
            <a:ext cx="7315200" cy="4267200"/>
          </a:xfrm>
          <a:noFill/>
          <a:ln/>
        </p:spPr>
        <p:txBody>
          <a:bodyPr lIns="92075" tIns="46038" rIns="92075" bIns="46038"/>
          <a:lstStyle/>
          <a:p>
            <a:r>
              <a:rPr lang="en-US" dirty="0"/>
              <a:t>Raw Materials</a:t>
            </a:r>
          </a:p>
          <a:p>
            <a:pPr marL="509588" lvl="1" indent="-52388">
              <a:buFontTx/>
              <a:buNone/>
            </a:pPr>
            <a:r>
              <a:rPr lang="en-US" sz="3200" dirty="0"/>
              <a:t>	-X</a:t>
            </a:r>
            <a:r>
              <a:rPr lang="en-US" sz="3200" baseline="-25000" dirty="0"/>
              <a:t>15</a:t>
            </a:r>
            <a:r>
              <a:rPr lang="en-US" sz="3200" dirty="0"/>
              <a:t> -X</a:t>
            </a:r>
            <a:r>
              <a:rPr lang="en-US" sz="3200" baseline="-25000" dirty="0"/>
              <a:t>16</a:t>
            </a:r>
            <a:r>
              <a:rPr lang="en-US" sz="3200" dirty="0"/>
              <a:t> &gt;= -70  } node 1</a:t>
            </a:r>
          </a:p>
          <a:p>
            <a:pPr marL="509588" lvl="1" indent="-52388">
              <a:buFontTx/>
              <a:buNone/>
            </a:pPr>
            <a:r>
              <a:rPr lang="en-US" sz="3200" dirty="0"/>
              <a:t>	-X</a:t>
            </a:r>
            <a:r>
              <a:rPr lang="en-US" sz="3200" baseline="-25000" dirty="0"/>
              <a:t>25</a:t>
            </a:r>
            <a:r>
              <a:rPr lang="en-US" sz="3200" dirty="0"/>
              <a:t> -X</a:t>
            </a:r>
            <a:r>
              <a:rPr lang="en-US" sz="3200" baseline="-25000" dirty="0"/>
              <a:t>26</a:t>
            </a:r>
            <a:r>
              <a:rPr lang="en-US" sz="3200" dirty="0"/>
              <a:t> &gt;= -50  } node 2</a:t>
            </a:r>
          </a:p>
          <a:p>
            <a:pPr marL="509588" lvl="1" indent="-52388">
              <a:buFontTx/>
              <a:buNone/>
            </a:pPr>
            <a:r>
              <a:rPr lang="en-US" sz="3200" dirty="0"/>
              <a:t>	-X</a:t>
            </a:r>
            <a:r>
              <a:rPr lang="en-US" sz="3200" baseline="-25000" dirty="0"/>
              <a:t>35</a:t>
            </a:r>
            <a:r>
              <a:rPr lang="en-US" sz="3200" dirty="0"/>
              <a:t> -X</a:t>
            </a:r>
            <a:r>
              <a:rPr lang="en-US" sz="3200" baseline="-25000" dirty="0"/>
              <a:t>36</a:t>
            </a:r>
            <a:r>
              <a:rPr lang="en-US" sz="3200" dirty="0"/>
              <a:t> &gt;= -30  } node 3</a:t>
            </a:r>
          </a:p>
          <a:p>
            <a:pPr marL="509588" lvl="1" indent="-52388">
              <a:buFontTx/>
              <a:buNone/>
            </a:pPr>
            <a:r>
              <a:rPr lang="en-US" sz="3200" dirty="0"/>
              <a:t>	-X</a:t>
            </a:r>
            <a:r>
              <a:rPr lang="en-US" sz="3200" baseline="-25000" dirty="0"/>
              <a:t>45</a:t>
            </a:r>
            <a:r>
              <a:rPr lang="en-US" sz="3200" dirty="0"/>
              <a:t> -X</a:t>
            </a:r>
            <a:r>
              <a:rPr lang="en-US" sz="3200" baseline="-25000" dirty="0"/>
              <a:t>46</a:t>
            </a:r>
            <a:r>
              <a:rPr lang="en-US" sz="3200" dirty="0"/>
              <a:t> &gt;= -40  } node 4</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457200" y="274638"/>
            <a:ext cx="8229600" cy="512762"/>
          </a:xfrm>
          <a:noFill/>
          <a:ln/>
        </p:spPr>
        <p:txBody>
          <a:bodyPr lIns="92075" tIns="46038" rIns="92075" bIns="46038"/>
          <a:lstStyle/>
          <a:p>
            <a:r>
              <a:rPr lang="en-US" sz="4000" i="1">
                <a:solidFill>
                  <a:schemeClr val="hlink"/>
                </a:solidFill>
              </a:rPr>
              <a:t>Defining the Constraints-II</a:t>
            </a:r>
          </a:p>
        </p:txBody>
      </p:sp>
      <p:sp>
        <p:nvSpPr>
          <p:cNvPr id="58371" name="Rectangle 3"/>
          <p:cNvSpPr>
            <a:spLocks noGrp="1" noChangeArrowheads="1"/>
          </p:cNvSpPr>
          <p:nvPr>
            <p:ph type="body" idx="1"/>
          </p:nvPr>
        </p:nvSpPr>
        <p:spPr>
          <a:xfrm>
            <a:off x="304800" y="1371600"/>
            <a:ext cx="8382000" cy="2911475"/>
          </a:xfrm>
          <a:noFill/>
          <a:ln/>
        </p:spPr>
        <p:txBody>
          <a:bodyPr lIns="92075" tIns="46038" rIns="92075" bIns="46038"/>
          <a:lstStyle/>
          <a:p>
            <a:pPr>
              <a:lnSpc>
                <a:spcPct val="120000"/>
              </a:lnSpc>
            </a:pPr>
            <a:r>
              <a:rPr lang="en-US" dirty="0"/>
              <a:t>Recycling Processes</a:t>
            </a:r>
          </a:p>
          <a:p>
            <a:pPr>
              <a:lnSpc>
                <a:spcPct val="120000"/>
              </a:lnSpc>
            </a:pPr>
            <a:endParaRPr lang="en-US" dirty="0"/>
          </a:p>
          <a:p>
            <a:pPr marL="509588" lvl="1" indent="-52388">
              <a:buFontTx/>
              <a:buNone/>
            </a:pPr>
            <a:r>
              <a:rPr lang="en-US" sz="2100" dirty="0"/>
              <a:t>	+0.9X</a:t>
            </a:r>
            <a:r>
              <a:rPr lang="en-US" sz="2100" baseline="-25000" dirty="0"/>
              <a:t>15</a:t>
            </a:r>
            <a:r>
              <a:rPr lang="en-US" sz="2100" dirty="0"/>
              <a:t>+0.8X</a:t>
            </a:r>
            <a:r>
              <a:rPr lang="en-US" sz="2100" baseline="-25000" dirty="0"/>
              <a:t>25</a:t>
            </a:r>
            <a:r>
              <a:rPr lang="en-US" sz="2100" dirty="0"/>
              <a:t>+0.95X</a:t>
            </a:r>
            <a:r>
              <a:rPr lang="en-US" sz="2100" baseline="-25000" dirty="0"/>
              <a:t>35</a:t>
            </a:r>
            <a:r>
              <a:rPr lang="en-US" sz="2100" dirty="0"/>
              <a:t>+0.75X</a:t>
            </a:r>
            <a:r>
              <a:rPr lang="en-US" sz="2100" baseline="-25000" dirty="0"/>
              <a:t>45</a:t>
            </a:r>
            <a:r>
              <a:rPr lang="en-US" sz="2100" dirty="0"/>
              <a:t>- X</a:t>
            </a:r>
            <a:r>
              <a:rPr lang="en-US" sz="2100" baseline="-25000" dirty="0"/>
              <a:t>57</a:t>
            </a:r>
            <a:r>
              <a:rPr lang="en-US" sz="2100" dirty="0"/>
              <a:t>- X</a:t>
            </a:r>
            <a:r>
              <a:rPr lang="en-US" sz="2100" baseline="-25000" dirty="0"/>
              <a:t>58</a:t>
            </a:r>
            <a:r>
              <a:rPr lang="en-US" sz="2100" dirty="0"/>
              <a:t>-X</a:t>
            </a:r>
            <a:r>
              <a:rPr lang="en-US" sz="2100" baseline="-25000" dirty="0"/>
              <a:t>59</a:t>
            </a:r>
            <a:r>
              <a:rPr lang="en-US" sz="2100" dirty="0"/>
              <a:t> &gt;= 0</a:t>
            </a:r>
            <a:r>
              <a:rPr lang="en-US" sz="2000" dirty="0"/>
              <a:t>    } node 5</a:t>
            </a:r>
          </a:p>
          <a:p>
            <a:pPr marL="509588" lvl="1" indent="-52388">
              <a:buFontTx/>
              <a:buNone/>
            </a:pPr>
            <a:endParaRPr lang="en-US" sz="2000" dirty="0"/>
          </a:p>
          <a:p>
            <a:pPr marL="509588" lvl="1" indent="-52388">
              <a:buFontTx/>
              <a:buNone/>
            </a:pPr>
            <a:r>
              <a:rPr lang="en-US" sz="2100" dirty="0"/>
              <a:t>	+0.85X</a:t>
            </a:r>
            <a:r>
              <a:rPr lang="en-US" sz="2100" baseline="-25000" dirty="0"/>
              <a:t>16</a:t>
            </a:r>
            <a:r>
              <a:rPr lang="en-US" sz="2100" dirty="0"/>
              <a:t>+0.85X</a:t>
            </a:r>
            <a:r>
              <a:rPr lang="en-US" sz="2100" baseline="-25000" dirty="0"/>
              <a:t>26</a:t>
            </a:r>
            <a:r>
              <a:rPr lang="en-US" sz="2100" dirty="0"/>
              <a:t>+0.9X</a:t>
            </a:r>
            <a:r>
              <a:rPr lang="en-US" sz="2100" baseline="-25000" dirty="0"/>
              <a:t>36</a:t>
            </a:r>
            <a:r>
              <a:rPr lang="en-US" sz="2100" dirty="0"/>
              <a:t>+0.85X</a:t>
            </a:r>
            <a:r>
              <a:rPr lang="en-US" sz="2100" baseline="-25000" dirty="0"/>
              <a:t>46</a:t>
            </a:r>
            <a:r>
              <a:rPr lang="en-US" sz="2100" dirty="0"/>
              <a:t>-X</a:t>
            </a:r>
            <a:r>
              <a:rPr lang="en-US" sz="2100" baseline="-25000" dirty="0"/>
              <a:t>67</a:t>
            </a:r>
            <a:r>
              <a:rPr lang="en-US" sz="2100" dirty="0"/>
              <a:t>-X</a:t>
            </a:r>
            <a:r>
              <a:rPr lang="en-US" sz="2100" baseline="-25000" dirty="0"/>
              <a:t>68</a:t>
            </a:r>
            <a:r>
              <a:rPr lang="en-US" sz="2100" dirty="0"/>
              <a:t>-X</a:t>
            </a:r>
            <a:r>
              <a:rPr lang="en-US" sz="2100" baseline="-25000" dirty="0"/>
              <a:t>69</a:t>
            </a:r>
            <a:r>
              <a:rPr lang="en-US" sz="2100" dirty="0"/>
              <a:t> &gt;= 0</a:t>
            </a:r>
            <a:r>
              <a:rPr lang="en-US" sz="2000" dirty="0"/>
              <a:t>    } node 6</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457200" y="274638"/>
            <a:ext cx="8229600" cy="512762"/>
          </a:xfrm>
          <a:noFill/>
          <a:ln/>
        </p:spPr>
        <p:txBody>
          <a:bodyPr lIns="92075" tIns="46038" rIns="92075" bIns="46038"/>
          <a:lstStyle/>
          <a:p>
            <a:r>
              <a:rPr lang="en-US" sz="4000" i="1">
                <a:solidFill>
                  <a:schemeClr val="hlink"/>
                </a:solidFill>
              </a:rPr>
              <a:t>Defining the Constraints-III</a:t>
            </a:r>
          </a:p>
        </p:txBody>
      </p:sp>
      <p:sp>
        <p:nvSpPr>
          <p:cNvPr id="59395" name="Rectangle 3"/>
          <p:cNvSpPr>
            <a:spLocks noGrp="1" noChangeArrowheads="1"/>
          </p:cNvSpPr>
          <p:nvPr>
            <p:ph type="body" idx="1"/>
          </p:nvPr>
        </p:nvSpPr>
        <p:spPr>
          <a:xfrm>
            <a:off x="990600" y="1447800"/>
            <a:ext cx="6705600" cy="2530475"/>
          </a:xfrm>
          <a:noFill/>
          <a:ln/>
        </p:spPr>
        <p:txBody>
          <a:bodyPr lIns="92075" tIns="46038" rIns="92075" bIns="46038"/>
          <a:lstStyle/>
          <a:p>
            <a:pPr marL="234950" indent="-234950"/>
            <a:r>
              <a:rPr lang="en-US" sz="3600" dirty="0"/>
              <a:t> </a:t>
            </a:r>
            <a:r>
              <a:rPr lang="en-US" sz="2800" dirty="0"/>
              <a:t>Paper Pulp</a:t>
            </a:r>
          </a:p>
          <a:p>
            <a:pPr marL="457200" lvl="1" indent="0">
              <a:buFontTx/>
              <a:buNone/>
            </a:pPr>
            <a:r>
              <a:rPr lang="en-US" sz="2600" dirty="0"/>
              <a:t>+0.95X</a:t>
            </a:r>
            <a:r>
              <a:rPr lang="en-US" sz="2600" baseline="-25000" dirty="0"/>
              <a:t>57</a:t>
            </a:r>
            <a:r>
              <a:rPr lang="en-US" sz="2600" dirty="0"/>
              <a:t> + 0.90X</a:t>
            </a:r>
            <a:r>
              <a:rPr lang="en-US" sz="2600" baseline="-25000" dirty="0"/>
              <a:t>67</a:t>
            </a:r>
            <a:r>
              <a:rPr lang="en-US" sz="2600" dirty="0"/>
              <a:t> &gt;= 60   } node 7</a:t>
            </a:r>
          </a:p>
          <a:p>
            <a:pPr marL="457200" lvl="1" indent="0">
              <a:buFontTx/>
              <a:buNone/>
            </a:pPr>
            <a:r>
              <a:rPr lang="en-US" sz="2600" dirty="0"/>
              <a:t>+0.90X</a:t>
            </a:r>
            <a:r>
              <a:rPr lang="en-US" sz="2600" baseline="-25000" dirty="0"/>
              <a:t>58</a:t>
            </a:r>
            <a:r>
              <a:rPr lang="en-US" sz="2600" dirty="0"/>
              <a:t> + 0.95X</a:t>
            </a:r>
            <a:r>
              <a:rPr lang="en-US" sz="2600" baseline="-25000" dirty="0"/>
              <a:t>68</a:t>
            </a:r>
            <a:r>
              <a:rPr lang="en-US" sz="2600" dirty="0"/>
              <a:t> &gt;= 40   } node 8</a:t>
            </a:r>
          </a:p>
          <a:p>
            <a:pPr marL="457200" lvl="1" indent="0">
              <a:buFontTx/>
              <a:buNone/>
            </a:pPr>
            <a:r>
              <a:rPr lang="en-US" sz="2600" dirty="0"/>
              <a:t>+0.90X</a:t>
            </a:r>
            <a:r>
              <a:rPr lang="en-US" sz="2600" baseline="-25000" dirty="0"/>
              <a:t>59</a:t>
            </a:r>
            <a:r>
              <a:rPr lang="en-US" sz="2600" dirty="0"/>
              <a:t> + 0.95X</a:t>
            </a:r>
            <a:r>
              <a:rPr lang="en-US" sz="2600" baseline="-25000" dirty="0"/>
              <a:t>69</a:t>
            </a:r>
            <a:r>
              <a:rPr lang="en-US" sz="2600" dirty="0"/>
              <a:t> &gt;= 50   } node 9</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noFill/>
          <a:ln/>
        </p:spPr>
        <p:txBody>
          <a:bodyPr lIns="92075" tIns="46038" rIns="92075" bIns="46038"/>
          <a:lstStyle/>
          <a:p>
            <a:r>
              <a:rPr lang="en-US" sz="4000" i="1">
                <a:solidFill>
                  <a:schemeClr val="hlink"/>
                </a:solidFill>
              </a:rPr>
              <a:t>Implementing the Model</a:t>
            </a:r>
          </a:p>
        </p:txBody>
      </p:sp>
      <p:sp>
        <p:nvSpPr>
          <p:cNvPr id="31747" name="Rectangle 3"/>
          <p:cNvSpPr>
            <a:spLocks noGrp="1" noChangeArrowheads="1"/>
          </p:cNvSpPr>
          <p:nvPr>
            <p:ph type="body" idx="1"/>
          </p:nvPr>
        </p:nvSpPr>
        <p:spPr>
          <a:xfrm>
            <a:off x="457200" y="1600200"/>
            <a:ext cx="8229600" cy="1398588"/>
          </a:xfrm>
          <a:noFill/>
          <a:ln/>
        </p:spPr>
        <p:txBody>
          <a:bodyPr lIns="92075" tIns="46038" rIns="92075" bIns="46038"/>
          <a:lstStyle/>
          <a:p>
            <a:pPr algn="ctr">
              <a:buFont typeface="Wingdings" pitchFamily="2" charset="2"/>
              <a:buNone/>
            </a:pPr>
            <a:r>
              <a:rPr lang="en-US" dirty="0"/>
              <a:t>See file </a:t>
            </a:r>
            <a:r>
              <a:rPr lang="en-US" dirty="0">
                <a:solidFill>
                  <a:schemeClr val="hlink"/>
                </a:solidFill>
                <a:hlinkClick r:id="rId3" action="ppaction://hlinkfile"/>
              </a:rPr>
              <a:t>Fig5-17.xlsm</a:t>
            </a:r>
            <a:r>
              <a:rPr lang="en-US" dirty="0"/>
              <a:t> </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685800" y="377825"/>
            <a:ext cx="7772400" cy="533400"/>
          </a:xfrm>
          <a:noFill/>
          <a:ln/>
        </p:spPr>
        <p:txBody>
          <a:bodyPr lIns="92075" tIns="46038" rIns="92075" bIns="46038"/>
          <a:lstStyle/>
          <a:p>
            <a:r>
              <a:rPr lang="en-US" sz="4000" i="1" dirty="0">
                <a:solidFill>
                  <a:schemeClr val="hlink"/>
                </a:solidFill>
              </a:rPr>
              <a:t>Important</a:t>
            </a:r>
            <a:r>
              <a:rPr lang="en-US" sz="4000" b="1" i="1" dirty="0">
                <a:solidFill>
                  <a:schemeClr val="accent1"/>
                </a:solidFill>
              </a:rPr>
              <a:t> </a:t>
            </a:r>
            <a:r>
              <a:rPr lang="en-US" sz="4000" i="1" dirty="0">
                <a:solidFill>
                  <a:schemeClr val="hlink"/>
                </a:solidFill>
              </a:rPr>
              <a:t>Modeling Point - I</a:t>
            </a:r>
          </a:p>
        </p:txBody>
      </p:sp>
      <p:sp>
        <p:nvSpPr>
          <p:cNvPr id="63491" name="Rectangle 3"/>
          <p:cNvSpPr>
            <a:spLocks noGrp="1" noChangeArrowheads="1"/>
          </p:cNvSpPr>
          <p:nvPr>
            <p:ph type="body" idx="1"/>
          </p:nvPr>
        </p:nvSpPr>
        <p:spPr>
          <a:xfrm>
            <a:off x="609600" y="990600"/>
            <a:ext cx="7772400" cy="5334000"/>
          </a:xfrm>
          <a:noFill/>
          <a:ln/>
        </p:spPr>
        <p:txBody>
          <a:bodyPr lIns="92075" tIns="46038" rIns="92075" bIns="46038"/>
          <a:lstStyle/>
          <a:p>
            <a:r>
              <a:rPr lang="en-US" sz="3000" dirty="0"/>
              <a:t>In generalized network flow problems, gains and/or losses associated with flows across each arc </a:t>
            </a:r>
            <a:r>
              <a:rPr lang="en-US" sz="3000" i="1" dirty="0"/>
              <a:t>effectively</a:t>
            </a:r>
            <a:r>
              <a:rPr lang="en-US" sz="3000" dirty="0"/>
              <a:t> increase and/or decrease the available supply.</a:t>
            </a:r>
          </a:p>
          <a:p>
            <a:r>
              <a:rPr lang="en-US" sz="3000" dirty="0"/>
              <a:t>This can make it difficult to tell if the total supply is adequate to meet the total demand.</a:t>
            </a:r>
          </a:p>
          <a:p>
            <a:r>
              <a:rPr lang="en-US" sz="3000" dirty="0"/>
              <a:t>When in doubt, it is best to assume the total supply </a:t>
            </a:r>
            <a:r>
              <a:rPr lang="en-US" sz="3000" b="1" u="sng" dirty="0"/>
              <a:t>is</a:t>
            </a:r>
            <a:r>
              <a:rPr lang="en-US" sz="3000" dirty="0"/>
              <a:t> capable of satisfying the total demand and use Solver to prove (or refute) this assumption.</a:t>
            </a:r>
          </a:p>
        </p:txBody>
      </p:sp>
      <p:sp>
        <p:nvSpPr>
          <p:cNvPr id="2" name="Footer Placeholder 1"/>
          <p:cNvSpPr>
            <a:spLocks noGrp="1"/>
          </p:cNvSpPr>
          <p:nvPr>
            <p:ph type="ftr" sz="quarter" idx="11"/>
          </p:nvPr>
        </p:nvSpPr>
        <p:spPr>
          <a:xfrm>
            <a:off x="3124200" y="6369050"/>
            <a:ext cx="2895600" cy="476250"/>
          </a:xfrm>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63491">
                                            <p:txEl>
                                              <p:pRg st="0" end="0"/>
                                            </p:txEl>
                                          </p:spTgt>
                                        </p:tgtEl>
                                        <p:attrNameLst>
                                          <p:attrName>ppt_c</p:attrName>
                                        </p:attrNameLst>
                                      </p:cBhvr>
                                      <p:to>
                                        <a:srgbClr val="C0C0C0"/>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491">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63491">
                                            <p:txEl>
                                              <p:pRg st="1" end="1"/>
                                            </p:txEl>
                                          </p:spTgt>
                                        </p:tgtEl>
                                        <p:attrNameLst>
                                          <p:attrName>ppt_c</p:attrName>
                                        </p:attrNameLst>
                                      </p:cBhvr>
                                      <p:to>
                                        <a:srgbClr val="C0C0C0"/>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34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685800" y="377825"/>
            <a:ext cx="7772400" cy="533400"/>
          </a:xfrm>
          <a:noFill/>
          <a:ln/>
        </p:spPr>
        <p:txBody>
          <a:bodyPr lIns="92075" tIns="46038" rIns="92075" bIns="46038"/>
          <a:lstStyle/>
          <a:p>
            <a:r>
              <a:rPr lang="en-US" sz="4000" i="1" dirty="0">
                <a:solidFill>
                  <a:schemeClr val="hlink"/>
                </a:solidFill>
              </a:rPr>
              <a:t>Important</a:t>
            </a:r>
            <a:r>
              <a:rPr lang="en-US" sz="4000" b="1" i="1" dirty="0">
                <a:solidFill>
                  <a:schemeClr val="accent1"/>
                </a:solidFill>
              </a:rPr>
              <a:t> </a:t>
            </a:r>
            <a:r>
              <a:rPr lang="en-US" sz="4000" i="1" dirty="0">
                <a:solidFill>
                  <a:schemeClr val="hlink"/>
                </a:solidFill>
              </a:rPr>
              <a:t>Modeling Point - II</a:t>
            </a:r>
          </a:p>
        </p:txBody>
      </p:sp>
      <p:sp>
        <p:nvSpPr>
          <p:cNvPr id="63491" name="Rectangle 3"/>
          <p:cNvSpPr>
            <a:spLocks noGrp="1" noChangeArrowheads="1"/>
          </p:cNvSpPr>
          <p:nvPr>
            <p:ph type="body" idx="1"/>
          </p:nvPr>
        </p:nvSpPr>
        <p:spPr>
          <a:xfrm>
            <a:off x="609600" y="838199"/>
            <a:ext cx="7772400" cy="5407025"/>
          </a:xfrm>
          <a:noFill/>
          <a:ln/>
        </p:spPr>
        <p:txBody>
          <a:bodyPr lIns="92075" tIns="46038" rIns="92075" bIns="46038"/>
          <a:lstStyle/>
          <a:p>
            <a:r>
              <a:rPr lang="en-US" sz="2500" dirty="0"/>
              <a:t>If all the demand can’t be met, another objective might be to meet as much of the demand as possible at minimum cost.</a:t>
            </a:r>
          </a:p>
          <a:p>
            <a:r>
              <a:rPr lang="en-US" sz="2500" dirty="0"/>
              <a:t>To do this, modify the network as follows:</a:t>
            </a:r>
          </a:p>
          <a:p>
            <a:pPr lvl="1"/>
            <a:r>
              <a:rPr lang="en-US" sz="2500" dirty="0"/>
              <a:t>Add an artificial supply node with an arbitrarily large amount of supply.</a:t>
            </a:r>
          </a:p>
          <a:p>
            <a:pPr lvl="1"/>
            <a:r>
              <a:rPr lang="en-US" sz="2500" dirty="0"/>
              <a:t>Connect the artificial supply node to each demand node with arbitrarily large costs on each artificial arc.</a:t>
            </a:r>
          </a:p>
          <a:p>
            <a:pPr lvl="1"/>
            <a:r>
              <a:rPr lang="en-US" sz="2500" dirty="0"/>
              <a:t>This causes as much demand as possible to be met using real supply to minimize use of the expensive artificial supply.</a:t>
            </a:r>
            <a:r>
              <a:rPr lang="en-US" sz="2600" dirty="0"/>
              <a:t>  </a:t>
            </a:r>
          </a:p>
          <a:p>
            <a:endParaRPr lang="en-US" sz="3000" dirty="0"/>
          </a:p>
        </p:txBody>
      </p:sp>
      <p:sp>
        <p:nvSpPr>
          <p:cNvPr id="4" name="Rectangle 3"/>
          <p:cNvSpPr txBox="1">
            <a:spLocks noChangeArrowheads="1"/>
          </p:cNvSpPr>
          <p:nvPr/>
        </p:nvSpPr>
        <p:spPr bwMode="auto">
          <a:xfrm>
            <a:off x="304800" y="5791200"/>
            <a:ext cx="8229600" cy="636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hlink"/>
              </a:buClr>
              <a:buFont typeface="Wingdings" pitchFamily="2" charset="2"/>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cs typeface="+mn-cs"/>
              </a:defRPr>
            </a:lvl2pPr>
            <a:lvl3pPr marL="1143000" indent="-228600" algn="l" rtl="0" fontAlgn="base">
              <a:spcBef>
                <a:spcPct val="20000"/>
              </a:spcBef>
              <a:spcAft>
                <a:spcPct val="0"/>
              </a:spcAft>
              <a:buFont typeface="Wingdings" pitchFamily="2" charset="2"/>
              <a:buChar char="Ø"/>
              <a:defRPr sz="2400">
                <a:solidFill>
                  <a:schemeClr val="tx1"/>
                </a:solidFill>
                <a:latin typeface="+mn-lt"/>
                <a:cs typeface="+mn-cs"/>
              </a:defRPr>
            </a:lvl3pPr>
            <a:lvl4pPr marL="1600200" indent="-228600" algn="l" rtl="0" fontAlgn="base">
              <a:spcBef>
                <a:spcPct val="20000"/>
              </a:spcBef>
              <a:spcAft>
                <a:spcPct val="0"/>
              </a:spcAft>
              <a:buChar char="–"/>
              <a:defRPr sz="2000">
                <a:solidFill>
                  <a:schemeClr val="tx1"/>
                </a:solidFill>
                <a:latin typeface="+mn-lt"/>
                <a:cs typeface="+mn-cs"/>
              </a:defRPr>
            </a:lvl4pPr>
            <a:lvl5pPr marL="2057400" indent="-228600" algn="l" rtl="0" fontAlgn="base">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lgn="ctr">
              <a:buFont typeface="Wingdings" pitchFamily="2" charset="2"/>
              <a:buNone/>
            </a:pPr>
            <a:r>
              <a:rPr lang="en-US" sz="2500" dirty="0"/>
              <a:t>See file </a:t>
            </a:r>
            <a:r>
              <a:rPr lang="en-US" sz="2500" dirty="0">
                <a:solidFill>
                  <a:schemeClr val="hlink"/>
                </a:solidFill>
                <a:hlinkClick r:id="rId3" action="ppaction://hlinkfile"/>
              </a:rPr>
              <a:t>Fig5-23.xlsm</a:t>
            </a:r>
            <a:endParaRPr lang="en-US" sz="2500" dirty="0"/>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8469008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63491">
                                            <p:txEl>
                                              <p:pRg st="0" end="0"/>
                                            </p:txEl>
                                          </p:spTgt>
                                        </p:tgtEl>
                                        <p:attrNameLst>
                                          <p:attrName>ppt_c</p:attrName>
                                        </p:attrNameLst>
                                      </p:cBhvr>
                                      <p:to>
                                        <a:srgbClr val="C0C0C0"/>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491">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63491">
                                            <p:txEl>
                                              <p:pRg st="1" end="1"/>
                                            </p:txEl>
                                          </p:spTgt>
                                        </p:tgtEl>
                                        <p:attrNameLst>
                                          <p:attrName>ppt_c</p:attrName>
                                        </p:attrNameLst>
                                      </p:cBhvr>
                                      <p:to>
                                        <a:srgbClr val="C0C0C0"/>
                                      </p:to>
                                    </p:animClr>
                                  </p:subTnLst>
                                </p:cTn>
                              </p:par>
                              <p:par>
                                <p:cTn id="11" presetID="1" presetClass="entr" presetSubtype="0" fill="hold" grpId="0" nodeType="withEffect">
                                  <p:stCondLst>
                                    <p:cond delay="0"/>
                                  </p:stCondLst>
                                  <p:childTnLst>
                                    <p:set>
                                      <p:cBhvr>
                                        <p:cTn id="12" dur="1" fill="hold">
                                          <p:stCondLst>
                                            <p:cond delay="0"/>
                                          </p:stCondLst>
                                        </p:cTn>
                                        <p:tgtEl>
                                          <p:spTgt spid="63491">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63491">
                                            <p:txEl>
                                              <p:pRg st="2" end="2"/>
                                            </p:txEl>
                                          </p:spTgt>
                                        </p:tgtEl>
                                        <p:attrNameLst>
                                          <p:attrName>ppt_c</p:attrName>
                                        </p:attrNameLst>
                                      </p:cBhvr>
                                      <p:to>
                                        <a:srgbClr val="C0C0C0"/>
                                      </p:to>
                                    </p:animClr>
                                  </p:subTnLst>
                                </p:cTn>
                              </p:par>
                              <p:par>
                                <p:cTn id="13" presetID="1" presetClass="entr" presetSubtype="0" fill="hold" grpId="0" nodeType="withEffect">
                                  <p:stCondLst>
                                    <p:cond delay="0"/>
                                  </p:stCondLst>
                                  <p:childTnLst>
                                    <p:set>
                                      <p:cBhvr>
                                        <p:cTn id="14" dur="1" fill="hold">
                                          <p:stCondLst>
                                            <p:cond delay="0"/>
                                          </p:stCondLst>
                                        </p:cTn>
                                        <p:tgtEl>
                                          <p:spTgt spid="63491">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63491">
                                            <p:txEl>
                                              <p:pRg st="3" end="3"/>
                                            </p:txEl>
                                          </p:spTgt>
                                        </p:tgtEl>
                                        <p:attrNameLst>
                                          <p:attrName>ppt_c</p:attrName>
                                        </p:attrNameLst>
                                      </p:cBhvr>
                                      <p:to>
                                        <a:srgbClr val="C0C0C0"/>
                                      </p:to>
                                    </p:animClr>
                                  </p:subTnLst>
                                </p:cTn>
                              </p:par>
                              <p:par>
                                <p:cTn id="15" presetID="1" presetClass="entr" presetSubtype="0" fill="hold" grpId="0" nodeType="withEffect">
                                  <p:stCondLst>
                                    <p:cond delay="0"/>
                                  </p:stCondLst>
                                  <p:childTnLst>
                                    <p:set>
                                      <p:cBhvr>
                                        <p:cTn id="16" dur="1" fill="hold">
                                          <p:stCondLst>
                                            <p:cond delay="0"/>
                                          </p:stCondLst>
                                        </p:cTn>
                                        <p:tgtEl>
                                          <p:spTgt spid="63491">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63491">
                                            <p:txEl>
                                              <p:pRg st="4" end="4"/>
                                            </p:txEl>
                                          </p:spTgt>
                                        </p:tgtEl>
                                        <p:attrNameLst>
                                          <p:attrName>ppt_c</p:attrName>
                                        </p:attrNameLst>
                                      </p:cBhvr>
                                      <p:to>
                                        <a:srgbClr val="C0C0C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2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57200" y="274638"/>
            <a:ext cx="8229600" cy="546100"/>
          </a:xfrm>
          <a:noFill/>
          <a:ln/>
        </p:spPr>
        <p:txBody>
          <a:bodyPr lIns="92075" tIns="46038" rIns="92075" bIns="46038"/>
          <a:lstStyle/>
          <a:p>
            <a:r>
              <a:rPr lang="en-US" sz="4000" i="1">
                <a:solidFill>
                  <a:schemeClr val="hlink"/>
                </a:solidFill>
              </a:rPr>
              <a:t>The Maximal Flow Problem</a:t>
            </a:r>
          </a:p>
        </p:txBody>
      </p:sp>
      <p:sp>
        <p:nvSpPr>
          <p:cNvPr id="32771" name="Rectangle 3"/>
          <p:cNvSpPr>
            <a:spLocks noGrp="1" noChangeArrowheads="1"/>
          </p:cNvSpPr>
          <p:nvPr>
            <p:ph type="body" idx="1"/>
          </p:nvPr>
        </p:nvSpPr>
        <p:spPr>
          <a:xfrm>
            <a:off x="533400" y="1066800"/>
            <a:ext cx="8307388" cy="4748213"/>
          </a:xfrm>
          <a:noFill/>
          <a:ln/>
        </p:spPr>
        <p:txBody>
          <a:bodyPr lIns="92075" tIns="46038" rIns="92075" bIns="46038"/>
          <a:lstStyle/>
          <a:p>
            <a:r>
              <a:rPr lang="en-US" sz="2800" dirty="0"/>
              <a:t>In some network problems, the objective is to determine the maximum amount of flow that can occur through a network.</a:t>
            </a:r>
          </a:p>
          <a:p>
            <a:r>
              <a:rPr lang="en-US" sz="2800" dirty="0"/>
              <a:t>The arcs in these problems have upper and lower flow limits.</a:t>
            </a:r>
          </a:p>
          <a:p>
            <a:r>
              <a:rPr lang="en-US" sz="2800" dirty="0"/>
              <a:t>Examples</a:t>
            </a:r>
          </a:p>
          <a:p>
            <a:pPr lvl="1"/>
            <a:r>
              <a:rPr lang="en-US" dirty="0"/>
              <a:t>How much water can flow through a network of pipes?</a:t>
            </a:r>
          </a:p>
          <a:p>
            <a:pPr lvl="1"/>
            <a:r>
              <a:rPr lang="en-US" dirty="0"/>
              <a:t>How many cars can travel through a network of streets?</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2771">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2771">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327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uiExpand="1"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228600" y="304800"/>
            <a:ext cx="8686800" cy="514350"/>
          </a:xfrm>
          <a:noFill/>
          <a:ln/>
        </p:spPr>
        <p:txBody>
          <a:bodyPr lIns="92075" tIns="46038" rIns="92075" bIns="46038"/>
          <a:lstStyle/>
          <a:p>
            <a:r>
              <a:rPr lang="en-US" sz="4000" i="1">
                <a:solidFill>
                  <a:schemeClr val="hlink"/>
                </a:solidFill>
              </a:rPr>
              <a:t>The Northwest Petroleum Company</a:t>
            </a:r>
          </a:p>
        </p:txBody>
      </p:sp>
      <p:sp>
        <p:nvSpPr>
          <p:cNvPr id="33822" name="Rectangle 30"/>
          <p:cNvSpPr>
            <a:spLocks noChangeArrowheads="1"/>
          </p:cNvSpPr>
          <p:nvPr/>
        </p:nvSpPr>
        <p:spPr bwMode="auto">
          <a:xfrm>
            <a:off x="5622925" y="1563608"/>
            <a:ext cx="304800" cy="385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dirty="0">
                <a:solidFill>
                  <a:srgbClr val="3399FF"/>
                </a:solidFill>
              </a:rPr>
              <a:t>4</a:t>
            </a:r>
          </a:p>
        </p:txBody>
      </p:sp>
      <p:grpSp>
        <p:nvGrpSpPr>
          <p:cNvPr id="6" name="Group 5"/>
          <p:cNvGrpSpPr/>
          <p:nvPr/>
        </p:nvGrpSpPr>
        <p:grpSpPr>
          <a:xfrm>
            <a:off x="1141413" y="973571"/>
            <a:ext cx="6962775" cy="4993409"/>
            <a:chOff x="1141413" y="723900"/>
            <a:chExt cx="6962775" cy="5492750"/>
          </a:xfrm>
        </p:grpSpPr>
        <p:sp>
          <p:nvSpPr>
            <p:cNvPr id="33811" name="Line 19"/>
            <p:cNvSpPr>
              <a:spLocks noChangeShapeType="1"/>
            </p:cNvSpPr>
            <p:nvPr/>
          </p:nvSpPr>
          <p:spPr bwMode="auto">
            <a:xfrm flipV="1">
              <a:off x="1792288" y="2157413"/>
              <a:ext cx="1066800" cy="847725"/>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816" name="Line 24"/>
            <p:cNvSpPr>
              <a:spLocks noChangeShapeType="1"/>
            </p:cNvSpPr>
            <p:nvPr/>
          </p:nvSpPr>
          <p:spPr bwMode="auto">
            <a:xfrm flipV="1">
              <a:off x="6294438" y="3887788"/>
              <a:ext cx="1069975" cy="1004887"/>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817" name="Line 25"/>
            <p:cNvSpPr>
              <a:spLocks noChangeShapeType="1"/>
            </p:cNvSpPr>
            <p:nvPr/>
          </p:nvSpPr>
          <p:spPr bwMode="auto">
            <a:xfrm>
              <a:off x="3648076" y="2168842"/>
              <a:ext cx="1755775" cy="2465388"/>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818" name="Line 26"/>
            <p:cNvSpPr>
              <a:spLocks noChangeShapeType="1"/>
            </p:cNvSpPr>
            <p:nvPr/>
          </p:nvSpPr>
          <p:spPr bwMode="auto">
            <a:xfrm flipV="1">
              <a:off x="3598863" y="2276475"/>
              <a:ext cx="1847850" cy="2386013"/>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823" name="Rectangle 31"/>
            <p:cNvSpPr>
              <a:spLocks noChangeArrowheads="1"/>
            </p:cNvSpPr>
            <p:nvPr/>
          </p:nvSpPr>
          <p:spPr bwMode="auto">
            <a:xfrm>
              <a:off x="5651500" y="4908550"/>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dirty="0">
                  <a:solidFill>
                    <a:srgbClr val="3399FF"/>
                  </a:solidFill>
                </a:rPr>
                <a:t>5</a:t>
              </a:r>
            </a:p>
          </p:txBody>
        </p:sp>
        <p:sp>
          <p:nvSpPr>
            <p:cNvPr id="33829" name="Rectangle 37"/>
            <p:cNvSpPr>
              <a:spLocks noChangeArrowheads="1"/>
            </p:cNvSpPr>
            <p:nvPr/>
          </p:nvSpPr>
          <p:spPr bwMode="auto">
            <a:xfrm>
              <a:off x="6748463" y="4503738"/>
              <a:ext cx="30480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dirty="0">
                  <a:solidFill>
                    <a:srgbClr val="00CC00"/>
                  </a:solidFill>
                </a:rPr>
                <a:t>4</a:t>
              </a:r>
            </a:p>
          </p:txBody>
        </p:sp>
        <p:sp>
          <p:nvSpPr>
            <p:cNvPr id="33830" name="Rectangle 38"/>
            <p:cNvSpPr>
              <a:spLocks noChangeArrowheads="1"/>
            </p:cNvSpPr>
            <p:nvPr/>
          </p:nvSpPr>
          <p:spPr bwMode="auto">
            <a:xfrm>
              <a:off x="4398963" y="5094288"/>
              <a:ext cx="30480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dirty="0">
                  <a:solidFill>
                    <a:srgbClr val="00CC00"/>
                  </a:solidFill>
                </a:rPr>
                <a:t>5</a:t>
              </a:r>
            </a:p>
          </p:txBody>
        </p:sp>
        <p:grpSp>
          <p:nvGrpSpPr>
            <p:cNvPr id="5" name="Group 4"/>
            <p:cNvGrpSpPr/>
            <p:nvPr/>
          </p:nvGrpSpPr>
          <p:grpSpPr>
            <a:xfrm>
              <a:off x="1141413" y="723900"/>
              <a:ext cx="6962775" cy="5492750"/>
              <a:chOff x="1141413" y="977900"/>
              <a:chExt cx="6962775" cy="5492750"/>
            </a:xfrm>
          </p:grpSpPr>
          <p:sp>
            <p:nvSpPr>
              <p:cNvPr id="33808" name="Rectangle 16"/>
              <p:cNvSpPr>
                <a:spLocks noChangeArrowheads="1"/>
              </p:cNvSpPr>
              <p:nvPr/>
            </p:nvSpPr>
            <p:spPr bwMode="auto">
              <a:xfrm>
                <a:off x="5373688" y="5930900"/>
                <a:ext cx="104933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Pumping </a:t>
                </a:r>
              </a:p>
            </p:txBody>
          </p:sp>
          <p:grpSp>
            <p:nvGrpSpPr>
              <p:cNvPr id="4" name="Group 3"/>
              <p:cNvGrpSpPr/>
              <p:nvPr/>
            </p:nvGrpSpPr>
            <p:grpSpPr>
              <a:xfrm>
                <a:off x="1141413" y="977900"/>
                <a:ext cx="6962775" cy="5492750"/>
                <a:chOff x="1141413" y="977900"/>
                <a:chExt cx="6962775" cy="5492750"/>
              </a:xfrm>
            </p:grpSpPr>
            <p:sp>
              <p:nvSpPr>
                <p:cNvPr id="33802" name="Rectangle 10"/>
                <p:cNvSpPr>
                  <a:spLocks noChangeArrowheads="1"/>
                </p:cNvSpPr>
                <p:nvPr/>
              </p:nvSpPr>
              <p:spPr bwMode="auto">
                <a:xfrm>
                  <a:off x="2817813" y="1031875"/>
                  <a:ext cx="104933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dirty="0"/>
                    <a:t>Pumping </a:t>
                  </a:r>
                </a:p>
              </p:txBody>
            </p:sp>
            <p:grpSp>
              <p:nvGrpSpPr>
                <p:cNvPr id="3" name="Group 2"/>
                <p:cNvGrpSpPr/>
                <p:nvPr/>
              </p:nvGrpSpPr>
              <p:grpSpPr>
                <a:xfrm>
                  <a:off x="1141413" y="977900"/>
                  <a:ext cx="6962775" cy="5492750"/>
                  <a:chOff x="1141413" y="990600"/>
                  <a:chExt cx="6962775" cy="5492750"/>
                </a:xfrm>
              </p:grpSpPr>
              <p:sp>
                <p:nvSpPr>
                  <p:cNvPr id="33795" name="Freeform 3"/>
                  <p:cNvSpPr>
                    <a:spLocks/>
                  </p:cNvSpPr>
                  <p:nvPr/>
                </p:nvSpPr>
                <p:spPr bwMode="auto">
                  <a:xfrm>
                    <a:off x="1141413" y="3257550"/>
                    <a:ext cx="931862" cy="941388"/>
                  </a:xfrm>
                  <a:custGeom>
                    <a:avLst/>
                    <a:gdLst>
                      <a:gd name="T0" fmla="*/ 586 w 587"/>
                      <a:gd name="T1" fmla="*/ 296 h 593"/>
                      <a:gd name="T2" fmla="*/ 579 w 587"/>
                      <a:gd name="T3" fmla="*/ 236 h 593"/>
                      <a:gd name="T4" fmla="*/ 562 w 587"/>
                      <a:gd name="T5" fmla="*/ 180 h 593"/>
                      <a:gd name="T6" fmla="*/ 535 w 587"/>
                      <a:gd name="T7" fmla="*/ 130 h 593"/>
                      <a:gd name="T8" fmla="*/ 499 w 587"/>
                      <a:gd name="T9" fmla="*/ 86 h 593"/>
                      <a:gd name="T10" fmla="*/ 456 w 587"/>
                      <a:gd name="T11" fmla="*/ 50 h 593"/>
                      <a:gd name="T12" fmla="*/ 407 w 587"/>
                      <a:gd name="T13" fmla="*/ 23 h 593"/>
                      <a:gd name="T14" fmla="*/ 352 w 587"/>
                      <a:gd name="T15" fmla="*/ 6 h 593"/>
                      <a:gd name="T16" fmla="*/ 293 w 587"/>
                      <a:gd name="T17" fmla="*/ 0 h 593"/>
                      <a:gd name="T18" fmla="*/ 233 w 587"/>
                      <a:gd name="T19" fmla="*/ 6 h 593"/>
                      <a:gd name="T20" fmla="*/ 178 w 587"/>
                      <a:gd name="T21" fmla="*/ 23 h 593"/>
                      <a:gd name="T22" fmla="*/ 129 w 587"/>
                      <a:gd name="T23" fmla="*/ 50 h 593"/>
                      <a:gd name="T24" fmla="*/ 86 w 587"/>
                      <a:gd name="T25" fmla="*/ 86 h 593"/>
                      <a:gd name="T26" fmla="*/ 50 w 587"/>
                      <a:gd name="T27" fmla="*/ 130 h 593"/>
                      <a:gd name="T28" fmla="*/ 23 w 587"/>
                      <a:gd name="T29" fmla="*/ 180 h 593"/>
                      <a:gd name="T30" fmla="*/ 6 w 587"/>
                      <a:gd name="T31" fmla="*/ 236 h 593"/>
                      <a:gd name="T32" fmla="*/ 0 w 587"/>
                      <a:gd name="T33" fmla="*/ 296 h 593"/>
                      <a:gd name="T34" fmla="*/ 6 w 587"/>
                      <a:gd name="T35" fmla="*/ 355 h 593"/>
                      <a:gd name="T36" fmla="*/ 23 w 587"/>
                      <a:gd name="T37" fmla="*/ 411 h 593"/>
                      <a:gd name="T38" fmla="*/ 50 w 587"/>
                      <a:gd name="T39" fmla="*/ 461 h 593"/>
                      <a:gd name="T40" fmla="*/ 86 w 587"/>
                      <a:gd name="T41" fmla="*/ 505 h 593"/>
                      <a:gd name="T42" fmla="*/ 129 w 587"/>
                      <a:gd name="T43" fmla="*/ 541 h 593"/>
                      <a:gd name="T44" fmla="*/ 178 w 587"/>
                      <a:gd name="T45" fmla="*/ 568 h 593"/>
                      <a:gd name="T46" fmla="*/ 233 w 587"/>
                      <a:gd name="T47" fmla="*/ 585 h 593"/>
                      <a:gd name="T48" fmla="*/ 293 w 587"/>
                      <a:gd name="T49" fmla="*/ 592 h 593"/>
                      <a:gd name="T50" fmla="*/ 352 w 587"/>
                      <a:gd name="T51" fmla="*/ 585 h 593"/>
                      <a:gd name="T52" fmla="*/ 407 w 587"/>
                      <a:gd name="T53" fmla="*/ 568 h 593"/>
                      <a:gd name="T54" fmla="*/ 456 w 587"/>
                      <a:gd name="T55" fmla="*/ 541 h 593"/>
                      <a:gd name="T56" fmla="*/ 499 w 587"/>
                      <a:gd name="T57" fmla="*/ 505 h 593"/>
                      <a:gd name="T58" fmla="*/ 535 w 587"/>
                      <a:gd name="T59" fmla="*/ 461 h 593"/>
                      <a:gd name="T60" fmla="*/ 562 w 587"/>
                      <a:gd name="T61" fmla="*/ 411 h 593"/>
                      <a:gd name="T62" fmla="*/ 579 w 587"/>
                      <a:gd name="T63" fmla="*/ 355 h 593"/>
                      <a:gd name="T64" fmla="*/ 586 w 587"/>
                      <a:gd name="T65" fmla="*/ 296 h 593"/>
                      <a:gd name="T66" fmla="*/ 586 w 587"/>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7" h="593">
                        <a:moveTo>
                          <a:pt x="586" y="296"/>
                        </a:moveTo>
                        <a:lnTo>
                          <a:pt x="579" y="236"/>
                        </a:lnTo>
                        <a:lnTo>
                          <a:pt x="562" y="180"/>
                        </a:lnTo>
                        <a:lnTo>
                          <a:pt x="535" y="130"/>
                        </a:lnTo>
                        <a:lnTo>
                          <a:pt x="499" y="86"/>
                        </a:lnTo>
                        <a:lnTo>
                          <a:pt x="456" y="50"/>
                        </a:lnTo>
                        <a:lnTo>
                          <a:pt x="407" y="23"/>
                        </a:lnTo>
                        <a:lnTo>
                          <a:pt x="352" y="6"/>
                        </a:lnTo>
                        <a:lnTo>
                          <a:pt x="293" y="0"/>
                        </a:lnTo>
                        <a:lnTo>
                          <a:pt x="233" y="6"/>
                        </a:lnTo>
                        <a:lnTo>
                          <a:pt x="178" y="23"/>
                        </a:lnTo>
                        <a:lnTo>
                          <a:pt x="129" y="50"/>
                        </a:lnTo>
                        <a:lnTo>
                          <a:pt x="86" y="86"/>
                        </a:lnTo>
                        <a:lnTo>
                          <a:pt x="50" y="130"/>
                        </a:lnTo>
                        <a:lnTo>
                          <a:pt x="23" y="180"/>
                        </a:lnTo>
                        <a:lnTo>
                          <a:pt x="6" y="236"/>
                        </a:lnTo>
                        <a:lnTo>
                          <a:pt x="0" y="296"/>
                        </a:lnTo>
                        <a:lnTo>
                          <a:pt x="6" y="355"/>
                        </a:lnTo>
                        <a:lnTo>
                          <a:pt x="23" y="411"/>
                        </a:lnTo>
                        <a:lnTo>
                          <a:pt x="50" y="461"/>
                        </a:lnTo>
                        <a:lnTo>
                          <a:pt x="86" y="505"/>
                        </a:lnTo>
                        <a:lnTo>
                          <a:pt x="129" y="541"/>
                        </a:lnTo>
                        <a:lnTo>
                          <a:pt x="178" y="568"/>
                        </a:lnTo>
                        <a:lnTo>
                          <a:pt x="233" y="585"/>
                        </a:lnTo>
                        <a:lnTo>
                          <a:pt x="293" y="592"/>
                        </a:lnTo>
                        <a:lnTo>
                          <a:pt x="352" y="585"/>
                        </a:lnTo>
                        <a:lnTo>
                          <a:pt x="407" y="568"/>
                        </a:lnTo>
                        <a:lnTo>
                          <a:pt x="456" y="541"/>
                        </a:lnTo>
                        <a:lnTo>
                          <a:pt x="499" y="505"/>
                        </a:lnTo>
                        <a:lnTo>
                          <a:pt x="535" y="461"/>
                        </a:lnTo>
                        <a:lnTo>
                          <a:pt x="562" y="411"/>
                        </a:lnTo>
                        <a:lnTo>
                          <a:pt x="579" y="355"/>
                        </a:lnTo>
                        <a:lnTo>
                          <a:pt x="586" y="296"/>
                        </a:lnTo>
                        <a:lnTo>
                          <a:pt x="586"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796" name="Freeform 4"/>
                  <p:cNvSpPr>
                    <a:spLocks/>
                  </p:cNvSpPr>
                  <p:nvPr/>
                </p:nvSpPr>
                <p:spPr bwMode="auto">
                  <a:xfrm>
                    <a:off x="2881313" y="1611313"/>
                    <a:ext cx="931862" cy="939800"/>
                  </a:xfrm>
                  <a:custGeom>
                    <a:avLst/>
                    <a:gdLst>
                      <a:gd name="T0" fmla="*/ 586 w 587"/>
                      <a:gd name="T1" fmla="*/ 296 h 592"/>
                      <a:gd name="T2" fmla="*/ 580 w 587"/>
                      <a:gd name="T3" fmla="*/ 236 h 592"/>
                      <a:gd name="T4" fmla="*/ 563 w 587"/>
                      <a:gd name="T5" fmla="*/ 180 h 592"/>
                      <a:gd name="T6" fmla="*/ 535 w 587"/>
                      <a:gd name="T7" fmla="*/ 130 h 592"/>
                      <a:gd name="T8" fmla="*/ 500 w 587"/>
                      <a:gd name="T9" fmla="*/ 86 h 592"/>
                      <a:gd name="T10" fmla="*/ 457 w 587"/>
                      <a:gd name="T11" fmla="*/ 50 h 592"/>
                      <a:gd name="T12" fmla="*/ 407 w 587"/>
                      <a:gd name="T13" fmla="*/ 23 h 592"/>
                      <a:gd name="T14" fmla="*/ 352 w 587"/>
                      <a:gd name="T15" fmla="*/ 6 h 592"/>
                      <a:gd name="T16" fmla="*/ 293 w 587"/>
                      <a:gd name="T17" fmla="*/ 0 h 592"/>
                      <a:gd name="T18" fmla="*/ 234 w 587"/>
                      <a:gd name="T19" fmla="*/ 6 h 592"/>
                      <a:gd name="T20" fmla="*/ 179 w 587"/>
                      <a:gd name="T21" fmla="*/ 23 h 592"/>
                      <a:gd name="T22" fmla="*/ 129 w 587"/>
                      <a:gd name="T23" fmla="*/ 50 h 592"/>
                      <a:gd name="T24" fmla="*/ 86 w 587"/>
                      <a:gd name="T25" fmla="*/ 86 h 592"/>
                      <a:gd name="T26" fmla="*/ 50 w 587"/>
                      <a:gd name="T27" fmla="*/ 130 h 592"/>
                      <a:gd name="T28" fmla="*/ 23 w 587"/>
                      <a:gd name="T29" fmla="*/ 180 h 592"/>
                      <a:gd name="T30" fmla="*/ 6 w 587"/>
                      <a:gd name="T31" fmla="*/ 236 h 592"/>
                      <a:gd name="T32" fmla="*/ 0 w 587"/>
                      <a:gd name="T33" fmla="*/ 296 h 592"/>
                      <a:gd name="T34" fmla="*/ 6 w 587"/>
                      <a:gd name="T35" fmla="*/ 355 h 592"/>
                      <a:gd name="T36" fmla="*/ 23 w 587"/>
                      <a:gd name="T37" fmla="*/ 411 h 592"/>
                      <a:gd name="T38" fmla="*/ 50 w 587"/>
                      <a:gd name="T39" fmla="*/ 461 h 592"/>
                      <a:gd name="T40" fmla="*/ 86 w 587"/>
                      <a:gd name="T41" fmla="*/ 505 h 592"/>
                      <a:gd name="T42" fmla="*/ 129 w 587"/>
                      <a:gd name="T43" fmla="*/ 541 h 592"/>
                      <a:gd name="T44" fmla="*/ 179 w 587"/>
                      <a:gd name="T45" fmla="*/ 568 h 592"/>
                      <a:gd name="T46" fmla="*/ 234 w 587"/>
                      <a:gd name="T47" fmla="*/ 585 h 592"/>
                      <a:gd name="T48" fmla="*/ 293 w 587"/>
                      <a:gd name="T49" fmla="*/ 591 h 592"/>
                      <a:gd name="T50" fmla="*/ 352 w 587"/>
                      <a:gd name="T51" fmla="*/ 585 h 592"/>
                      <a:gd name="T52" fmla="*/ 407 w 587"/>
                      <a:gd name="T53" fmla="*/ 568 h 592"/>
                      <a:gd name="T54" fmla="*/ 457 w 587"/>
                      <a:gd name="T55" fmla="*/ 541 h 592"/>
                      <a:gd name="T56" fmla="*/ 500 w 587"/>
                      <a:gd name="T57" fmla="*/ 505 h 592"/>
                      <a:gd name="T58" fmla="*/ 535 w 587"/>
                      <a:gd name="T59" fmla="*/ 461 h 592"/>
                      <a:gd name="T60" fmla="*/ 563 w 587"/>
                      <a:gd name="T61" fmla="*/ 411 h 592"/>
                      <a:gd name="T62" fmla="*/ 580 w 587"/>
                      <a:gd name="T63" fmla="*/ 355 h 592"/>
                      <a:gd name="T64" fmla="*/ 586 w 587"/>
                      <a:gd name="T65" fmla="*/ 296 h 592"/>
                      <a:gd name="T66" fmla="*/ 586 w 587"/>
                      <a:gd name="T67" fmla="*/ 296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7" h="592">
                        <a:moveTo>
                          <a:pt x="586" y="296"/>
                        </a:moveTo>
                        <a:lnTo>
                          <a:pt x="580" y="236"/>
                        </a:lnTo>
                        <a:lnTo>
                          <a:pt x="563" y="180"/>
                        </a:lnTo>
                        <a:lnTo>
                          <a:pt x="535" y="130"/>
                        </a:lnTo>
                        <a:lnTo>
                          <a:pt x="500" y="86"/>
                        </a:lnTo>
                        <a:lnTo>
                          <a:pt x="457" y="50"/>
                        </a:lnTo>
                        <a:lnTo>
                          <a:pt x="407" y="23"/>
                        </a:lnTo>
                        <a:lnTo>
                          <a:pt x="352" y="6"/>
                        </a:lnTo>
                        <a:lnTo>
                          <a:pt x="293" y="0"/>
                        </a:lnTo>
                        <a:lnTo>
                          <a:pt x="234" y="6"/>
                        </a:lnTo>
                        <a:lnTo>
                          <a:pt x="179" y="23"/>
                        </a:lnTo>
                        <a:lnTo>
                          <a:pt x="129" y="50"/>
                        </a:lnTo>
                        <a:lnTo>
                          <a:pt x="86" y="86"/>
                        </a:lnTo>
                        <a:lnTo>
                          <a:pt x="50" y="130"/>
                        </a:lnTo>
                        <a:lnTo>
                          <a:pt x="23" y="180"/>
                        </a:lnTo>
                        <a:lnTo>
                          <a:pt x="6" y="236"/>
                        </a:lnTo>
                        <a:lnTo>
                          <a:pt x="0" y="296"/>
                        </a:lnTo>
                        <a:lnTo>
                          <a:pt x="6" y="355"/>
                        </a:lnTo>
                        <a:lnTo>
                          <a:pt x="23" y="411"/>
                        </a:lnTo>
                        <a:lnTo>
                          <a:pt x="50" y="461"/>
                        </a:lnTo>
                        <a:lnTo>
                          <a:pt x="86" y="505"/>
                        </a:lnTo>
                        <a:lnTo>
                          <a:pt x="129" y="541"/>
                        </a:lnTo>
                        <a:lnTo>
                          <a:pt x="179" y="568"/>
                        </a:lnTo>
                        <a:lnTo>
                          <a:pt x="234" y="585"/>
                        </a:lnTo>
                        <a:lnTo>
                          <a:pt x="293" y="591"/>
                        </a:lnTo>
                        <a:lnTo>
                          <a:pt x="352" y="585"/>
                        </a:lnTo>
                        <a:lnTo>
                          <a:pt x="407" y="568"/>
                        </a:lnTo>
                        <a:lnTo>
                          <a:pt x="457" y="541"/>
                        </a:lnTo>
                        <a:lnTo>
                          <a:pt x="500" y="505"/>
                        </a:lnTo>
                        <a:lnTo>
                          <a:pt x="535" y="461"/>
                        </a:lnTo>
                        <a:lnTo>
                          <a:pt x="563" y="411"/>
                        </a:lnTo>
                        <a:lnTo>
                          <a:pt x="580" y="355"/>
                        </a:lnTo>
                        <a:lnTo>
                          <a:pt x="586" y="296"/>
                        </a:lnTo>
                        <a:lnTo>
                          <a:pt x="586"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797" name="Freeform 5"/>
                  <p:cNvSpPr>
                    <a:spLocks/>
                  </p:cNvSpPr>
                  <p:nvPr/>
                </p:nvSpPr>
                <p:spPr bwMode="auto">
                  <a:xfrm>
                    <a:off x="2894013" y="4862513"/>
                    <a:ext cx="931862" cy="941387"/>
                  </a:xfrm>
                  <a:custGeom>
                    <a:avLst/>
                    <a:gdLst>
                      <a:gd name="T0" fmla="*/ 586 w 587"/>
                      <a:gd name="T1" fmla="*/ 296 h 593"/>
                      <a:gd name="T2" fmla="*/ 580 w 587"/>
                      <a:gd name="T3" fmla="*/ 237 h 593"/>
                      <a:gd name="T4" fmla="*/ 563 w 587"/>
                      <a:gd name="T5" fmla="*/ 181 h 593"/>
                      <a:gd name="T6" fmla="*/ 536 w 587"/>
                      <a:gd name="T7" fmla="*/ 131 h 593"/>
                      <a:gd name="T8" fmla="*/ 500 w 587"/>
                      <a:gd name="T9" fmla="*/ 87 h 593"/>
                      <a:gd name="T10" fmla="*/ 457 w 587"/>
                      <a:gd name="T11" fmla="*/ 51 h 593"/>
                      <a:gd name="T12" fmla="*/ 407 w 587"/>
                      <a:gd name="T13" fmla="*/ 24 h 593"/>
                      <a:gd name="T14" fmla="*/ 352 w 587"/>
                      <a:gd name="T15" fmla="*/ 6 h 593"/>
                      <a:gd name="T16" fmla="*/ 293 w 587"/>
                      <a:gd name="T17" fmla="*/ 0 h 593"/>
                      <a:gd name="T18" fmla="*/ 234 w 587"/>
                      <a:gd name="T19" fmla="*/ 6 h 593"/>
                      <a:gd name="T20" fmla="*/ 179 w 587"/>
                      <a:gd name="T21" fmla="*/ 24 h 593"/>
                      <a:gd name="T22" fmla="*/ 129 w 587"/>
                      <a:gd name="T23" fmla="*/ 51 h 593"/>
                      <a:gd name="T24" fmla="*/ 86 w 587"/>
                      <a:gd name="T25" fmla="*/ 87 h 593"/>
                      <a:gd name="T26" fmla="*/ 50 w 587"/>
                      <a:gd name="T27" fmla="*/ 131 h 593"/>
                      <a:gd name="T28" fmla="*/ 23 w 587"/>
                      <a:gd name="T29" fmla="*/ 181 h 593"/>
                      <a:gd name="T30" fmla="*/ 6 w 587"/>
                      <a:gd name="T31" fmla="*/ 237 h 593"/>
                      <a:gd name="T32" fmla="*/ 0 w 587"/>
                      <a:gd name="T33" fmla="*/ 296 h 593"/>
                      <a:gd name="T34" fmla="*/ 6 w 587"/>
                      <a:gd name="T35" fmla="*/ 356 h 593"/>
                      <a:gd name="T36" fmla="*/ 23 w 587"/>
                      <a:gd name="T37" fmla="*/ 411 h 593"/>
                      <a:gd name="T38" fmla="*/ 50 w 587"/>
                      <a:gd name="T39" fmla="*/ 461 h 593"/>
                      <a:gd name="T40" fmla="*/ 86 w 587"/>
                      <a:gd name="T41" fmla="*/ 505 h 593"/>
                      <a:gd name="T42" fmla="*/ 129 w 587"/>
                      <a:gd name="T43" fmla="*/ 541 h 593"/>
                      <a:gd name="T44" fmla="*/ 179 w 587"/>
                      <a:gd name="T45" fmla="*/ 569 h 593"/>
                      <a:gd name="T46" fmla="*/ 234 w 587"/>
                      <a:gd name="T47" fmla="*/ 586 h 593"/>
                      <a:gd name="T48" fmla="*/ 293 w 587"/>
                      <a:gd name="T49" fmla="*/ 592 h 593"/>
                      <a:gd name="T50" fmla="*/ 352 w 587"/>
                      <a:gd name="T51" fmla="*/ 586 h 593"/>
                      <a:gd name="T52" fmla="*/ 407 w 587"/>
                      <a:gd name="T53" fmla="*/ 569 h 593"/>
                      <a:gd name="T54" fmla="*/ 457 w 587"/>
                      <a:gd name="T55" fmla="*/ 541 h 593"/>
                      <a:gd name="T56" fmla="*/ 500 w 587"/>
                      <a:gd name="T57" fmla="*/ 505 h 593"/>
                      <a:gd name="T58" fmla="*/ 536 w 587"/>
                      <a:gd name="T59" fmla="*/ 461 h 593"/>
                      <a:gd name="T60" fmla="*/ 563 w 587"/>
                      <a:gd name="T61" fmla="*/ 411 h 593"/>
                      <a:gd name="T62" fmla="*/ 580 w 587"/>
                      <a:gd name="T63" fmla="*/ 356 h 593"/>
                      <a:gd name="T64" fmla="*/ 586 w 587"/>
                      <a:gd name="T65" fmla="*/ 296 h 593"/>
                      <a:gd name="T66" fmla="*/ 586 w 587"/>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7" h="593">
                        <a:moveTo>
                          <a:pt x="586" y="296"/>
                        </a:moveTo>
                        <a:lnTo>
                          <a:pt x="580" y="237"/>
                        </a:lnTo>
                        <a:lnTo>
                          <a:pt x="563" y="181"/>
                        </a:lnTo>
                        <a:lnTo>
                          <a:pt x="536" y="131"/>
                        </a:lnTo>
                        <a:lnTo>
                          <a:pt x="500" y="87"/>
                        </a:lnTo>
                        <a:lnTo>
                          <a:pt x="457" y="51"/>
                        </a:lnTo>
                        <a:lnTo>
                          <a:pt x="407" y="24"/>
                        </a:lnTo>
                        <a:lnTo>
                          <a:pt x="352" y="6"/>
                        </a:lnTo>
                        <a:lnTo>
                          <a:pt x="293" y="0"/>
                        </a:lnTo>
                        <a:lnTo>
                          <a:pt x="234" y="6"/>
                        </a:lnTo>
                        <a:lnTo>
                          <a:pt x="179" y="24"/>
                        </a:lnTo>
                        <a:lnTo>
                          <a:pt x="129" y="51"/>
                        </a:lnTo>
                        <a:lnTo>
                          <a:pt x="86" y="87"/>
                        </a:lnTo>
                        <a:lnTo>
                          <a:pt x="50" y="131"/>
                        </a:lnTo>
                        <a:lnTo>
                          <a:pt x="23" y="181"/>
                        </a:lnTo>
                        <a:lnTo>
                          <a:pt x="6" y="237"/>
                        </a:lnTo>
                        <a:lnTo>
                          <a:pt x="0" y="296"/>
                        </a:lnTo>
                        <a:lnTo>
                          <a:pt x="6" y="356"/>
                        </a:lnTo>
                        <a:lnTo>
                          <a:pt x="23" y="411"/>
                        </a:lnTo>
                        <a:lnTo>
                          <a:pt x="50" y="461"/>
                        </a:lnTo>
                        <a:lnTo>
                          <a:pt x="86" y="505"/>
                        </a:lnTo>
                        <a:lnTo>
                          <a:pt x="129" y="541"/>
                        </a:lnTo>
                        <a:lnTo>
                          <a:pt x="179" y="569"/>
                        </a:lnTo>
                        <a:lnTo>
                          <a:pt x="234" y="586"/>
                        </a:lnTo>
                        <a:lnTo>
                          <a:pt x="293" y="592"/>
                        </a:lnTo>
                        <a:lnTo>
                          <a:pt x="352" y="586"/>
                        </a:lnTo>
                        <a:lnTo>
                          <a:pt x="407" y="569"/>
                        </a:lnTo>
                        <a:lnTo>
                          <a:pt x="457" y="541"/>
                        </a:lnTo>
                        <a:lnTo>
                          <a:pt x="500" y="505"/>
                        </a:lnTo>
                        <a:lnTo>
                          <a:pt x="536" y="461"/>
                        </a:lnTo>
                        <a:lnTo>
                          <a:pt x="563" y="411"/>
                        </a:lnTo>
                        <a:lnTo>
                          <a:pt x="580" y="356"/>
                        </a:lnTo>
                        <a:lnTo>
                          <a:pt x="586" y="296"/>
                        </a:lnTo>
                        <a:lnTo>
                          <a:pt x="586"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798" name="Freeform 6"/>
                  <p:cNvSpPr>
                    <a:spLocks/>
                  </p:cNvSpPr>
                  <p:nvPr/>
                </p:nvSpPr>
                <p:spPr bwMode="auto">
                  <a:xfrm>
                    <a:off x="5365750" y="4876800"/>
                    <a:ext cx="931863" cy="941388"/>
                  </a:xfrm>
                  <a:custGeom>
                    <a:avLst/>
                    <a:gdLst>
                      <a:gd name="T0" fmla="*/ 586 w 587"/>
                      <a:gd name="T1" fmla="*/ 296 h 593"/>
                      <a:gd name="T2" fmla="*/ 580 w 587"/>
                      <a:gd name="T3" fmla="*/ 236 h 593"/>
                      <a:gd name="T4" fmla="*/ 562 w 587"/>
                      <a:gd name="T5" fmla="*/ 181 h 593"/>
                      <a:gd name="T6" fmla="*/ 535 w 587"/>
                      <a:gd name="T7" fmla="*/ 131 h 593"/>
                      <a:gd name="T8" fmla="*/ 500 w 587"/>
                      <a:gd name="T9" fmla="*/ 87 h 593"/>
                      <a:gd name="T10" fmla="*/ 456 w 587"/>
                      <a:gd name="T11" fmla="*/ 51 h 593"/>
                      <a:gd name="T12" fmla="*/ 407 w 587"/>
                      <a:gd name="T13" fmla="*/ 23 h 593"/>
                      <a:gd name="T14" fmla="*/ 352 w 587"/>
                      <a:gd name="T15" fmla="*/ 6 h 593"/>
                      <a:gd name="T16" fmla="*/ 293 w 587"/>
                      <a:gd name="T17" fmla="*/ 0 h 593"/>
                      <a:gd name="T18" fmla="*/ 234 w 587"/>
                      <a:gd name="T19" fmla="*/ 6 h 593"/>
                      <a:gd name="T20" fmla="*/ 179 w 587"/>
                      <a:gd name="T21" fmla="*/ 23 h 593"/>
                      <a:gd name="T22" fmla="*/ 129 w 587"/>
                      <a:gd name="T23" fmla="*/ 51 h 593"/>
                      <a:gd name="T24" fmla="*/ 86 w 587"/>
                      <a:gd name="T25" fmla="*/ 87 h 593"/>
                      <a:gd name="T26" fmla="*/ 50 w 587"/>
                      <a:gd name="T27" fmla="*/ 131 h 593"/>
                      <a:gd name="T28" fmla="*/ 23 w 587"/>
                      <a:gd name="T29" fmla="*/ 181 h 593"/>
                      <a:gd name="T30" fmla="*/ 6 w 587"/>
                      <a:gd name="T31" fmla="*/ 236 h 593"/>
                      <a:gd name="T32" fmla="*/ 0 w 587"/>
                      <a:gd name="T33" fmla="*/ 296 h 593"/>
                      <a:gd name="T34" fmla="*/ 6 w 587"/>
                      <a:gd name="T35" fmla="*/ 355 h 593"/>
                      <a:gd name="T36" fmla="*/ 23 w 587"/>
                      <a:gd name="T37" fmla="*/ 411 h 593"/>
                      <a:gd name="T38" fmla="*/ 50 w 587"/>
                      <a:gd name="T39" fmla="*/ 461 h 593"/>
                      <a:gd name="T40" fmla="*/ 86 w 587"/>
                      <a:gd name="T41" fmla="*/ 505 h 593"/>
                      <a:gd name="T42" fmla="*/ 129 w 587"/>
                      <a:gd name="T43" fmla="*/ 541 h 593"/>
                      <a:gd name="T44" fmla="*/ 179 w 587"/>
                      <a:gd name="T45" fmla="*/ 568 h 593"/>
                      <a:gd name="T46" fmla="*/ 234 w 587"/>
                      <a:gd name="T47" fmla="*/ 586 h 593"/>
                      <a:gd name="T48" fmla="*/ 293 w 587"/>
                      <a:gd name="T49" fmla="*/ 592 h 593"/>
                      <a:gd name="T50" fmla="*/ 352 w 587"/>
                      <a:gd name="T51" fmla="*/ 586 h 593"/>
                      <a:gd name="T52" fmla="*/ 407 w 587"/>
                      <a:gd name="T53" fmla="*/ 568 h 593"/>
                      <a:gd name="T54" fmla="*/ 456 w 587"/>
                      <a:gd name="T55" fmla="*/ 541 h 593"/>
                      <a:gd name="T56" fmla="*/ 500 w 587"/>
                      <a:gd name="T57" fmla="*/ 505 h 593"/>
                      <a:gd name="T58" fmla="*/ 535 w 587"/>
                      <a:gd name="T59" fmla="*/ 461 h 593"/>
                      <a:gd name="T60" fmla="*/ 562 w 587"/>
                      <a:gd name="T61" fmla="*/ 411 h 593"/>
                      <a:gd name="T62" fmla="*/ 580 w 587"/>
                      <a:gd name="T63" fmla="*/ 355 h 593"/>
                      <a:gd name="T64" fmla="*/ 586 w 587"/>
                      <a:gd name="T65" fmla="*/ 296 h 593"/>
                      <a:gd name="T66" fmla="*/ 586 w 587"/>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7" h="593">
                        <a:moveTo>
                          <a:pt x="586" y="296"/>
                        </a:moveTo>
                        <a:lnTo>
                          <a:pt x="580" y="236"/>
                        </a:lnTo>
                        <a:lnTo>
                          <a:pt x="562" y="181"/>
                        </a:lnTo>
                        <a:lnTo>
                          <a:pt x="535" y="131"/>
                        </a:lnTo>
                        <a:lnTo>
                          <a:pt x="500" y="87"/>
                        </a:lnTo>
                        <a:lnTo>
                          <a:pt x="456" y="51"/>
                        </a:lnTo>
                        <a:lnTo>
                          <a:pt x="407" y="23"/>
                        </a:lnTo>
                        <a:lnTo>
                          <a:pt x="352" y="6"/>
                        </a:lnTo>
                        <a:lnTo>
                          <a:pt x="293" y="0"/>
                        </a:lnTo>
                        <a:lnTo>
                          <a:pt x="234" y="6"/>
                        </a:lnTo>
                        <a:lnTo>
                          <a:pt x="179" y="23"/>
                        </a:lnTo>
                        <a:lnTo>
                          <a:pt x="129" y="51"/>
                        </a:lnTo>
                        <a:lnTo>
                          <a:pt x="86" y="87"/>
                        </a:lnTo>
                        <a:lnTo>
                          <a:pt x="50" y="131"/>
                        </a:lnTo>
                        <a:lnTo>
                          <a:pt x="23" y="181"/>
                        </a:lnTo>
                        <a:lnTo>
                          <a:pt x="6" y="236"/>
                        </a:lnTo>
                        <a:lnTo>
                          <a:pt x="0" y="296"/>
                        </a:lnTo>
                        <a:lnTo>
                          <a:pt x="6" y="355"/>
                        </a:lnTo>
                        <a:lnTo>
                          <a:pt x="23" y="411"/>
                        </a:lnTo>
                        <a:lnTo>
                          <a:pt x="50" y="461"/>
                        </a:lnTo>
                        <a:lnTo>
                          <a:pt x="86" y="505"/>
                        </a:lnTo>
                        <a:lnTo>
                          <a:pt x="129" y="541"/>
                        </a:lnTo>
                        <a:lnTo>
                          <a:pt x="179" y="568"/>
                        </a:lnTo>
                        <a:lnTo>
                          <a:pt x="234" y="586"/>
                        </a:lnTo>
                        <a:lnTo>
                          <a:pt x="293" y="592"/>
                        </a:lnTo>
                        <a:lnTo>
                          <a:pt x="352" y="586"/>
                        </a:lnTo>
                        <a:lnTo>
                          <a:pt x="407" y="568"/>
                        </a:lnTo>
                        <a:lnTo>
                          <a:pt x="456" y="541"/>
                        </a:lnTo>
                        <a:lnTo>
                          <a:pt x="500" y="505"/>
                        </a:lnTo>
                        <a:lnTo>
                          <a:pt x="535" y="461"/>
                        </a:lnTo>
                        <a:lnTo>
                          <a:pt x="562" y="411"/>
                        </a:lnTo>
                        <a:lnTo>
                          <a:pt x="580" y="355"/>
                        </a:lnTo>
                        <a:lnTo>
                          <a:pt x="586" y="296"/>
                        </a:lnTo>
                        <a:lnTo>
                          <a:pt x="586"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799" name="Freeform 7"/>
                  <p:cNvSpPr>
                    <a:spLocks/>
                  </p:cNvSpPr>
                  <p:nvPr/>
                </p:nvSpPr>
                <p:spPr bwMode="auto">
                  <a:xfrm>
                    <a:off x="5326063" y="1571625"/>
                    <a:ext cx="931862" cy="939800"/>
                  </a:xfrm>
                  <a:custGeom>
                    <a:avLst/>
                    <a:gdLst>
                      <a:gd name="T0" fmla="*/ 586 w 587"/>
                      <a:gd name="T1" fmla="*/ 295 h 592"/>
                      <a:gd name="T2" fmla="*/ 580 w 587"/>
                      <a:gd name="T3" fmla="*/ 236 h 592"/>
                      <a:gd name="T4" fmla="*/ 562 w 587"/>
                      <a:gd name="T5" fmla="*/ 180 h 592"/>
                      <a:gd name="T6" fmla="*/ 535 w 587"/>
                      <a:gd name="T7" fmla="*/ 130 h 592"/>
                      <a:gd name="T8" fmla="*/ 500 w 587"/>
                      <a:gd name="T9" fmla="*/ 86 h 592"/>
                      <a:gd name="T10" fmla="*/ 456 w 587"/>
                      <a:gd name="T11" fmla="*/ 50 h 592"/>
                      <a:gd name="T12" fmla="*/ 407 w 587"/>
                      <a:gd name="T13" fmla="*/ 23 h 592"/>
                      <a:gd name="T14" fmla="*/ 352 w 587"/>
                      <a:gd name="T15" fmla="*/ 5 h 592"/>
                      <a:gd name="T16" fmla="*/ 293 w 587"/>
                      <a:gd name="T17" fmla="*/ 0 h 592"/>
                      <a:gd name="T18" fmla="*/ 234 w 587"/>
                      <a:gd name="T19" fmla="*/ 5 h 592"/>
                      <a:gd name="T20" fmla="*/ 179 w 587"/>
                      <a:gd name="T21" fmla="*/ 23 h 592"/>
                      <a:gd name="T22" fmla="*/ 129 w 587"/>
                      <a:gd name="T23" fmla="*/ 50 h 592"/>
                      <a:gd name="T24" fmla="*/ 86 w 587"/>
                      <a:gd name="T25" fmla="*/ 86 h 592"/>
                      <a:gd name="T26" fmla="*/ 50 w 587"/>
                      <a:gd name="T27" fmla="*/ 130 h 592"/>
                      <a:gd name="T28" fmla="*/ 23 w 587"/>
                      <a:gd name="T29" fmla="*/ 180 h 592"/>
                      <a:gd name="T30" fmla="*/ 6 w 587"/>
                      <a:gd name="T31" fmla="*/ 236 h 592"/>
                      <a:gd name="T32" fmla="*/ 0 w 587"/>
                      <a:gd name="T33" fmla="*/ 295 h 592"/>
                      <a:gd name="T34" fmla="*/ 6 w 587"/>
                      <a:gd name="T35" fmla="*/ 355 h 592"/>
                      <a:gd name="T36" fmla="*/ 23 w 587"/>
                      <a:gd name="T37" fmla="*/ 410 h 592"/>
                      <a:gd name="T38" fmla="*/ 50 w 587"/>
                      <a:gd name="T39" fmla="*/ 461 h 592"/>
                      <a:gd name="T40" fmla="*/ 86 w 587"/>
                      <a:gd name="T41" fmla="*/ 504 h 592"/>
                      <a:gd name="T42" fmla="*/ 129 w 587"/>
                      <a:gd name="T43" fmla="*/ 540 h 592"/>
                      <a:gd name="T44" fmla="*/ 179 w 587"/>
                      <a:gd name="T45" fmla="*/ 568 h 592"/>
                      <a:gd name="T46" fmla="*/ 234 w 587"/>
                      <a:gd name="T47" fmla="*/ 585 h 592"/>
                      <a:gd name="T48" fmla="*/ 293 w 587"/>
                      <a:gd name="T49" fmla="*/ 591 h 592"/>
                      <a:gd name="T50" fmla="*/ 352 w 587"/>
                      <a:gd name="T51" fmla="*/ 585 h 592"/>
                      <a:gd name="T52" fmla="*/ 407 w 587"/>
                      <a:gd name="T53" fmla="*/ 568 h 592"/>
                      <a:gd name="T54" fmla="*/ 456 w 587"/>
                      <a:gd name="T55" fmla="*/ 540 h 592"/>
                      <a:gd name="T56" fmla="*/ 500 w 587"/>
                      <a:gd name="T57" fmla="*/ 504 h 592"/>
                      <a:gd name="T58" fmla="*/ 535 w 587"/>
                      <a:gd name="T59" fmla="*/ 461 h 592"/>
                      <a:gd name="T60" fmla="*/ 562 w 587"/>
                      <a:gd name="T61" fmla="*/ 410 h 592"/>
                      <a:gd name="T62" fmla="*/ 580 w 587"/>
                      <a:gd name="T63" fmla="*/ 355 h 592"/>
                      <a:gd name="T64" fmla="*/ 586 w 587"/>
                      <a:gd name="T65" fmla="*/ 295 h 592"/>
                      <a:gd name="T66" fmla="*/ 586 w 587"/>
                      <a:gd name="T67" fmla="*/ 295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7" h="592">
                        <a:moveTo>
                          <a:pt x="586" y="295"/>
                        </a:moveTo>
                        <a:lnTo>
                          <a:pt x="580" y="236"/>
                        </a:lnTo>
                        <a:lnTo>
                          <a:pt x="562" y="180"/>
                        </a:lnTo>
                        <a:lnTo>
                          <a:pt x="535" y="130"/>
                        </a:lnTo>
                        <a:lnTo>
                          <a:pt x="500" y="86"/>
                        </a:lnTo>
                        <a:lnTo>
                          <a:pt x="456" y="50"/>
                        </a:lnTo>
                        <a:lnTo>
                          <a:pt x="407" y="23"/>
                        </a:lnTo>
                        <a:lnTo>
                          <a:pt x="352" y="5"/>
                        </a:lnTo>
                        <a:lnTo>
                          <a:pt x="293" y="0"/>
                        </a:lnTo>
                        <a:lnTo>
                          <a:pt x="234" y="5"/>
                        </a:lnTo>
                        <a:lnTo>
                          <a:pt x="179" y="23"/>
                        </a:lnTo>
                        <a:lnTo>
                          <a:pt x="129" y="50"/>
                        </a:lnTo>
                        <a:lnTo>
                          <a:pt x="86" y="86"/>
                        </a:lnTo>
                        <a:lnTo>
                          <a:pt x="50" y="130"/>
                        </a:lnTo>
                        <a:lnTo>
                          <a:pt x="23" y="180"/>
                        </a:lnTo>
                        <a:lnTo>
                          <a:pt x="6" y="236"/>
                        </a:lnTo>
                        <a:lnTo>
                          <a:pt x="0" y="295"/>
                        </a:lnTo>
                        <a:lnTo>
                          <a:pt x="6" y="355"/>
                        </a:lnTo>
                        <a:lnTo>
                          <a:pt x="23" y="410"/>
                        </a:lnTo>
                        <a:lnTo>
                          <a:pt x="50" y="461"/>
                        </a:lnTo>
                        <a:lnTo>
                          <a:pt x="86" y="504"/>
                        </a:lnTo>
                        <a:lnTo>
                          <a:pt x="129" y="540"/>
                        </a:lnTo>
                        <a:lnTo>
                          <a:pt x="179" y="568"/>
                        </a:lnTo>
                        <a:lnTo>
                          <a:pt x="234" y="585"/>
                        </a:lnTo>
                        <a:lnTo>
                          <a:pt x="293" y="591"/>
                        </a:lnTo>
                        <a:lnTo>
                          <a:pt x="352" y="585"/>
                        </a:lnTo>
                        <a:lnTo>
                          <a:pt x="407" y="568"/>
                        </a:lnTo>
                        <a:lnTo>
                          <a:pt x="456" y="540"/>
                        </a:lnTo>
                        <a:lnTo>
                          <a:pt x="500" y="504"/>
                        </a:lnTo>
                        <a:lnTo>
                          <a:pt x="535" y="461"/>
                        </a:lnTo>
                        <a:lnTo>
                          <a:pt x="562" y="410"/>
                        </a:lnTo>
                        <a:lnTo>
                          <a:pt x="580" y="355"/>
                        </a:lnTo>
                        <a:lnTo>
                          <a:pt x="586" y="295"/>
                        </a:lnTo>
                        <a:lnTo>
                          <a:pt x="586" y="295"/>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800" name="Freeform 8"/>
                  <p:cNvSpPr>
                    <a:spLocks/>
                  </p:cNvSpPr>
                  <p:nvPr/>
                </p:nvSpPr>
                <p:spPr bwMode="auto">
                  <a:xfrm>
                    <a:off x="7172325" y="3313113"/>
                    <a:ext cx="931863" cy="941387"/>
                  </a:xfrm>
                  <a:custGeom>
                    <a:avLst/>
                    <a:gdLst>
                      <a:gd name="T0" fmla="*/ 586 w 587"/>
                      <a:gd name="T1" fmla="*/ 296 h 593"/>
                      <a:gd name="T2" fmla="*/ 580 w 587"/>
                      <a:gd name="T3" fmla="*/ 236 h 593"/>
                      <a:gd name="T4" fmla="*/ 562 w 587"/>
                      <a:gd name="T5" fmla="*/ 181 h 593"/>
                      <a:gd name="T6" fmla="*/ 535 w 587"/>
                      <a:gd name="T7" fmla="*/ 130 h 593"/>
                      <a:gd name="T8" fmla="*/ 500 w 587"/>
                      <a:gd name="T9" fmla="*/ 87 h 593"/>
                      <a:gd name="T10" fmla="*/ 456 w 587"/>
                      <a:gd name="T11" fmla="*/ 51 h 593"/>
                      <a:gd name="T12" fmla="*/ 407 w 587"/>
                      <a:gd name="T13" fmla="*/ 23 h 593"/>
                      <a:gd name="T14" fmla="*/ 352 w 587"/>
                      <a:gd name="T15" fmla="*/ 6 h 593"/>
                      <a:gd name="T16" fmla="*/ 293 w 587"/>
                      <a:gd name="T17" fmla="*/ 0 h 593"/>
                      <a:gd name="T18" fmla="*/ 234 w 587"/>
                      <a:gd name="T19" fmla="*/ 6 h 593"/>
                      <a:gd name="T20" fmla="*/ 179 w 587"/>
                      <a:gd name="T21" fmla="*/ 23 h 593"/>
                      <a:gd name="T22" fmla="*/ 129 w 587"/>
                      <a:gd name="T23" fmla="*/ 51 h 593"/>
                      <a:gd name="T24" fmla="*/ 86 w 587"/>
                      <a:gd name="T25" fmla="*/ 87 h 593"/>
                      <a:gd name="T26" fmla="*/ 50 w 587"/>
                      <a:gd name="T27" fmla="*/ 130 h 593"/>
                      <a:gd name="T28" fmla="*/ 23 w 587"/>
                      <a:gd name="T29" fmla="*/ 181 h 593"/>
                      <a:gd name="T30" fmla="*/ 6 w 587"/>
                      <a:gd name="T31" fmla="*/ 236 h 593"/>
                      <a:gd name="T32" fmla="*/ 0 w 587"/>
                      <a:gd name="T33" fmla="*/ 296 h 593"/>
                      <a:gd name="T34" fmla="*/ 6 w 587"/>
                      <a:gd name="T35" fmla="*/ 355 h 593"/>
                      <a:gd name="T36" fmla="*/ 23 w 587"/>
                      <a:gd name="T37" fmla="*/ 411 h 593"/>
                      <a:gd name="T38" fmla="*/ 50 w 587"/>
                      <a:gd name="T39" fmla="*/ 461 h 593"/>
                      <a:gd name="T40" fmla="*/ 86 w 587"/>
                      <a:gd name="T41" fmla="*/ 505 h 593"/>
                      <a:gd name="T42" fmla="*/ 129 w 587"/>
                      <a:gd name="T43" fmla="*/ 541 h 593"/>
                      <a:gd name="T44" fmla="*/ 179 w 587"/>
                      <a:gd name="T45" fmla="*/ 568 h 593"/>
                      <a:gd name="T46" fmla="*/ 234 w 587"/>
                      <a:gd name="T47" fmla="*/ 585 h 593"/>
                      <a:gd name="T48" fmla="*/ 293 w 587"/>
                      <a:gd name="T49" fmla="*/ 592 h 593"/>
                      <a:gd name="T50" fmla="*/ 352 w 587"/>
                      <a:gd name="T51" fmla="*/ 585 h 593"/>
                      <a:gd name="T52" fmla="*/ 407 w 587"/>
                      <a:gd name="T53" fmla="*/ 568 h 593"/>
                      <a:gd name="T54" fmla="*/ 456 w 587"/>
                      <a:gd name="T55" fmla="*/ 541 h 593"/>
                      <a:gd name="T56" fmla="*/ 500 w 587"/>
                      <a:gd name="T57" fmla="*/ 505 h 593"/>
                      <a:gd name="T58" fmla="*/ 535 w 587"/>
                      <a:gd name="T59" fmla="*/ 461 h 593"/>
                      <a:gd name="T60" fmla="*/ 562 w 587"/>
                      <a:gd name="T61" fmla="*/ 411 h 593"/>
                      <a:gd name="T62" fmla="*/ 580 w 587"/>
                      <a:gd name="T63" fmla="*/ 355 h 593"/>
                      <a:gd name="T64" fmla="*/ 586 w 587"/>
                      <a:gd name="T65" fmla="*/ 296 h 593"/>
                      <a:gd name="T66" fmla="*/ 586 w 587"/>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7" h="593">
                        <a:moveTo>
                          <a:pt x="586" y="296"/>
                        </a:moveTo>
                        <a:lnTo>
                          <a:pt x="580" y="236"/>
                        </a:lnTo>
                        <a:lnTo>
                          <a:pt x="562" y="181"/>
                        </a:lnTo>
                        <a:lnTo>
                          <a:pt x="535" y="130"/>
                        </a:lnTo>
                        <a:lnTo>
                          <a:pt x="500" y="87"/>
                        </a:lnTo>
                        <a:lnTo>
                          <a:pt x="456" y="51"/>
                        </a:lnTo>
                        <a:lnTo>
                          <a:pt x="407" y="23"/>
                        </a:lnTo>
                        <a:lnTo>
                          <a:pt x="352" y="6"/>
                        </a:lnTo>
                        <a:lnTo>
                          <a:pt x="293" y="0"/>
                        </a:lnTo>
                        <a:lnTo>
                          <a:pt x="234" y="6"/>
                        </a:lnTo>
                        <a:lnTo>
                          <a:pt x="179" y="23"/>
                        </a:lnTo>
                        <a:lnTo>
                          <a:pt x="129" y="51"/>
                        </a:lnTo>
                        <a:lnTo>
                          <a:pt x="86" y="87"/>
                        </a:lnTo>
                        <a:lnTo>
                          <a:pt x="50" y="130"/>
                        </a:lnTo>
                        <a:lnTo>
                          <a:pt x="23" y="181"/>
                        </a:lnTo>
                        <a:lnTo>
                          <a:pt x="6" y="236"/>
                        </a:lnTo>
                        <a:lnTo>
                          <a:pt x="0" y="296"/>
                        </a:lnTo>
                        <a:lnTo>
                          <a:pt x="6" y="355"/>
                        </a:lnTo>
                        <a:lnTo>
                          <a:pt x="23" y="411"/>
                        </a:lnTo>
                        <a:lnTo>
                          <a:pt x="50" y="461"/>
                        </a:lnTo>
                        <a:lnTo>
                          <a:pt x="86" y="505"/>
                        </a:lnTo>
                        <a:lnTo>
                          <a:pt x="129" y="541"/>
                        </a:lnTo>
                        <a:lnTo>
                          <a:pt x="179" y="568"/>
                        </a:lnTo>
                        <a:lnTo>
                          <a:pt x="234" y="585"/>
                        </a:lnTo>
                        <a:lnTo>
                          <a:pt x="293" y="592"/>
                        </a:lnTo>
                        <a:lnTo>
                          <a:pt x="352" y="585"/>
                        </a:lnTo>
                        <a:lnTo>
                          <a:pt x="407" y="568"/>
                        </a:lnTo>
                        <a:lnTo>
                          <a:pt x="456" y="541"/>
                        </a:lnTo>
                        <a:lnTo>
                          <a:pt x="500" y="505"/>
                        </a:lnTo>
                        <a:lnTo>
                          <a:pt x="535" y="461"/>
                        </a:lnTo>
                        <a:lnTo>
                          <a:pt x="562" y="411"/>
                        </a:lnTo>
                        <a:lnTo>
                          <a:pt x="580" y="355"/>
                        </a:lnTo>
                        <a:lnTo>
                          <a:pt x="586" y="296"/>
                        </a:lnTo>
                        <a:lnTo>
                          <a:pt x="586"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801" name="Rectangle 9"/>
                  <p:cNvSpPr>
                    <a:spLocks noChangeArrowheads="1"/>
                  </p:cNvSpPr>
                  <p:nvPr/>
                </p:nvSpPr>
                <p:spPr bwMode="auto">
                  <a:xfrm>
                    <a:off x="2085975" y="3548063"/>
                    <a:ext cx="93186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Oil Field</a:t>
                    </a:r>
                  </a:p>
                </p:txBody>
              </p:sp>
              <p:sp>
                <p:nvSpPr>
                  <p:cNvPr id="33803" name="Rectangle 11"/>
                  <p:cNvSpPr>
                    <a:spLocks noChangeArrowheads="1"/>
                  </p:cNvSpPr>
                  <p:nvPr/>
                </p:nvSpPr>
                <p:spPr bwMode="auto">
                  <a:xfrm>
                    <a:off x="2817813" y="1263650"/>
                    <a:ext cx="9890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Station 1</a:t>
                    </a:r>
                  </a:p>
                </p:txBody>
              </p:sp>
              <p:sp>
                <p:nvSpPr>
                  <p:cNvPr id="33804" name="Rectangle 12"/>
                  <p:cNvSpPr>
                    <a:spLocks noChangeArrowheads="1"/>
                  </p:cNvSpPr>
                  <p:nvPr/>
                </p:nvSpPr>
                <p:spPr bwMode="auto">
                  <a:xfrm>
                    <a:off x="2792413" y="5903913"/>
                    <a:ext cx="104933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dirty="0"/>
                      <a:t>Pumping </a:t>
                    </a:r>
                  </a:p>
                </p:txBody>
              </p:sp>
              <p:sp>
                <p:nvSpPr>
                  <p:cNvPr id="33805" name="Rectangle 13"/>
                  <p:cNvSpPr>
                    <a:spLocks noChangeArrowheads="1"/>
                  </p:cNvSpPr>
                  <p:nvPr/>
                </p:nvSpPr>
                <p:spPr bwMode="auto">
                  <a:xfrm>
                    <a:off x="2792413" y="6135688"/>
                    <a:ext cx="9890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Station 2</a:t>
                    </a:r>
                  </a:p>
                </p:txBody>
              </p:sp>
              <p:sp>
                <p:nvSpPr>
                  <p:cNvPr id="33806" name="Rectangle 14"/>
                  <p:cNvSpPr>
                    <a:spLocks noChangeArrowheads="1"/>
                  </p:cNvSpPr>
                  <p:nvPr/>
                </p:nvSpPr>
                <p:spPr bwMode="auto">
                  <a:xfrm>
                    <a:off x="5224463" y="990600"/>
                    <a:ext cx="104933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Pumping </a:t>
                    </a:r>
                  </a:p>
                </p:txBody>
              </p:sp>
              <p:sp>
                <p:nvSpPr>
                  <p:cNvPr id="33807" name="Rectangle 15"/>
                  <p:cNvSpPr>
                    <a:spLocks noChangeArrowheads="1"/>
                  </p:cNvSpPr>
                  <p:nvPr/>
                </p:nvSpPr>
                <p:spPr bwMode="auto">
                  <a:xfrm>
                    <a:off x="5224463" y="1222375"/>
                    <a:ext cx="9890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Station 3</a:t>
                    </a:r>
                  </a:p>
                </p:txBody>
              </p:sp>
              <p:sp>
                <p:nvSpPr>
                  <p:cNvPr id="33809" name="Rectangle 17"/>
                  <p:cNvSpPr>
                    <a:spLocks noChangeArrowheads="1"/>
                  </p:cNvSpPr>
                  <p:nvPr/>
                </p:nvSpPr>
                <p:spPr bwMode="auto">
                  <a:xfrm>
                    <a:off x="5373688" y="6162675"/>
                    <a:ext cx="9890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Station 4</a:t>
                    </a:r>
                  </a:p>
                </p:txBody>
              </p:sp>
              <p:sp>
                <p:nvSpPr>
                  <p:cNvPr id="33810" name="Rectangle 18"/>
                  <p:cNvSpPr>
                    <a:spLocks noChangeArrowheads="1"/>
                  </p:cNvSpPr>
                  <p:nvPr/>
                </p:nvSpPr>
                <p:spPr bwMode="auto">
                  <a:xfrm>
                    <a:off x="6072188" y="3629025"/>
                    <a:ext cx="9461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Refinery</a:t>
                    </a:r>
                  </a:p>
                </p:txBody>
              </p:sp>
              <p:sp>
                <p:nvSpPr>
                  <p:cNvPr id="33812" name="Line 20"/>
                  <p:cNvSpPr>
                    <a:spLocks noChangeShapeType="1"/>
                  </p:cNvSpPr>
                  <p:nvPr/>
                </p:nvSpPr>
                <p:spPr bwMode="auto">
                  <a:xfrm>
                    <a:off x="1924050" y="4044950"/>
                    <a:ext cx="977900" cy="88265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813" name="Line 21"/>
                  <p:cNvSpPr>
                    <a:spLocks noChangeShapeType="1"/>
                  </p:cNvSpPr>
                  <p:nvPr/>
                </p:nvSpPr>
                <p:spPr bwMode="auto">
                  <a:xfrm>
                    <a:off x="3797300" y="2057400"/>
                    <a:ext cx="1360488" cy="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814" name="Line 22"/>
                  <p:cNvSpPr>
                    <a:spLocks noChangeShapeType="1"/>
                  </p:cNvSpPr>
                  <p:nvPr/>
                </p:nvSpPr>
                <p:spPr bwMode="auto">
                  <a:xfrm>
                    <a:off x="3824288" y="5337175"/>
                    <a:ext cx="1385887" cy="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815" name="Line 23"/>
                  <p:cNvSpPr>
                    <a:spLocks noChangeShapeType="1"/>
                  </p:cNvSpPr>
                  <p:nvPr/>
                </p:nvSpPr>
                <p:spPr bwMode="auto">
                  <a:xfrm>
                    <a:off x="6254750" y="2030413"/>
                    <a:ext cx="1062038" cy="121920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819" name="Rectangle 27"/>
                  <p:cNvSpPr>
                    <a:spLocks noChangeArrowheads="1"/>
                  </p:cNvSpPr>
                  <p:nvPr/>
                </p:nvSpPr>
                <p:spPr bwMode="auto">
                  <a:xfrm>
                    <a:off x="1382713" y="3605213"/>
                    <a:ext cx="30480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3399FF"/>
                        </a:solidFill>
                      </a:rPr>
                      <a:t>1</a:t>
                    </a:r>
                  </a:p>
                </p:txBody>
              </p:sp>
              <p:sp>
                <p:nvSpPr>
                  <p:cNvPr id="33820" name="Rectangle 28"/>
                  <p:cNvSpPr>
                    <a:spLocks noChangeArrowheads="1"/>
                  </p:cNvSpPr>
                  <p:nvPr/>
                </p:nvSpPr>
                <p:spPr bwMode="auto">
                  <a:xfrm>
                    <a:off x="3176588" y="1878013"/>
                    <a:ext cx="30480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3399FF"/>
                        </a:solidFill>
                      </a:rPr>
                      <a:t>2</a:t>
                    </a:r>
                  </a:p>
                </p:txBody>
              </p:sp>
              <p:sp>
                <p:nvSpPr>
                  <p:cNvPr id="33821" name="Rectangle 29"/>
                  <p:cNvSpPr>
                    <a:spLocks noChangeArrowheads="1"/>
                  </p:cNvSpPr>
                  <p:nvPr/>
                </p:nvSpPr>
                <p:spPr bwMode="auto">
                  <a:xfrm>
                    <a:off x="3190875" y="5226050"/>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3399FF"/>
                        </a:solidFill>
                      </a:rPr>
                      <a:t>3</a:t>
                    </a:r>
                  </a:p>
                </p:txBody>
              </p:sp>
              <p:sp>
                <p:nvSpPr>
                  <p:cNvPr id="33824" name="Rectangle 32"/>
                  <p:cNvSpPr>
                    <a:spLocks noChangeArrowheads="1"/>
                  </p:cNvSpPr>
                  <p:nvPr/>
                </p:nvSpPr>
                <p:spPr bwMode="auto">
                  <a:xfrm>
                    <a:off x="7459663" y="3606800"/>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3399FF"/>
                        </a:solidFill>
                      </a:rPr>
                      <a:t>6</a:t>
                    </a:r>
                  </a:p>
                </p:txBody>
              </p:sp>
              <p:sp>
                <p:nvSpPr>
                  <p:cNvPr id="33825" name="Rectangle 33"/>
                  <p:cNvSpPr>
                    <a:spLocks noChangeArrowheads="1"/>
                  </p:cNvSpPr>
                  <p:nvPr/>
                </p:nvSpPr>
                <p:spPr bwMode="auto">
                  <a:xfrm>
                    <a:off x="2019300" y="2597150"/>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6</a:t>
                    </a:r>
                  </a:p>
                </p:txBody>
              </p:sp>
              <p:sp>
                <p:nvSpPr>
                  <p:cNvPr id="33826" name="Rectangle 34"/>
                  <p:cNvSpPr>
                    <a:spLocks noChangeArrowheads="1"/>
                  </p:cNvSpPr>
                  <p:nvPr/>
                </p:nvSpPr>
                <p:spPr bwMode="auto">
                  <a:xfrm>
                    <a:off x="2112963" y="4489450"/>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4</a:t>
                    </a:r>
                  </a:p>
                </p:txBody>
              </p:sp>
              <p:sp>
                <p:nvSpPr>
                  <p:cNvPr id="33827" name="Rectangle 35"/>
                  <p:cNvSpPr>
                    <a:spLocks noChangeArrowheads="1"/>
                  </p:cNvSpPr>
                  <p:nvPr/>
                </p:nvSpPr>
                <p:spPr bwMode="auto">
                  <a:xfrm>
                    <a:off x="4292600" y="1700213"/>
                    <a:ext cx="30480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3</a:t>
                    </a:r>
                  </a:p>
                </p:txBody>
              </p:sp>
              <p:sp>
                <p:nvSpPr>
                  <p:cNvPr id="33828" name="Rectangle 36"/>
                  <p:cNvSpPr>
                    <a:spLocks noChangeArrowheads="1"/>
                  </p:cNvSpPr>
                  <p:nvPr/>
                </p:nvSpPr>
                <p:spPr bwMode="auto">
                  <a:xfrm>
                    <a:off x="6802438" y="2381250"/>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6</a:t>
                    </a:r>
                  </a:p>
                </p:txBody>
              </p:sp>
              <p:sp>
                <p:nvSpPr>
                  <p:cNvPr id="33831" name="Rectangle 39"/>
                  <p:cNvSpPr>
                    <a:spLocks noChangeArrowheads="1"/>
                  </p:cNvSpPr>
                  <p:nvPr/>
                </p:nvSpPr>
                <p:spPr bwMode="auto">
                  <a:xfrm>
                    <a:off x="4013200" y="2530475"/>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2</a:t>
                    </a:r>
                  </a:p>
                </p:txBody>
              </p:sp>
            </p:grpSp>
          </p:grpSp>
        </p:grpSp>
        <p:sp>
          <p:nvSpPr>
            <p:cNvPr id="33832" name="Rectangle 40"/>
            <p:cNvSpPr>
              <a:spLocks noChangeArrowheads="1"/>
            </p:cNvSpPr>
            <p:nvPr/>
          </p:nvSpPr>
          <p:spPr bwMode="auto">
            <a:xfrm>
              <a:off x="3962400" y="4381500"/>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2</a:t>
              </a:r>
            </a:p>
          </p:txBody>
        </p:sp>
      </p:grpSp>
      <p:sp>
        <p:nvSpPr>
          <p:cNvPr id="2" name="Footer Placeholder 1"/>
          <p:cNvSpPr>
            <a:spLocks noGrp="1"/>
          </p:cNvSpPr>
          <p:nvPr>
            <p:ph type="ftr" sz="quarter" idx="11"/>
          </p:nvPr>
        </p:nvSpPr>
        <p:spPr>
          <a:xfrm>
            <a:off x="3124200" y="6283325"/>
            <a:ext cx="2895600" cy="476251"/>
          </a:xfrm>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228600" y="152400"/>
            <a:ext cx="8686800" cy="514350"/>
          </a:xfrm>
          <a:noFill/>
          <a:ln/>
        </p:spPr>
        <p:txBody>
          <a:bodyPr lIns="92075" tIns="46038" rIns="92075" bIns="46038"/>
          <a:lstStyle/>
          <a:p>
            <a:r>
              <a:rPr lang="en-US" sz="4000" i="1">
                <a:solidFill>
                  <a:schemeClr val="hlink"/>
                </a:solidFill>
              </a:rPr>
              <a:t>The Northwest Petroleum Company</a:t>
            </a:r>
          </a:p>
        </p:txBody>
      </p:sp>
      <p:sp>
        <p:nvSpPr>
          <p:cNvPr id="34836" name="Line 20"/>
          <p:cNvSpPr>
            <a:spLocks noChangeShapeType="1"/>
          </p:cNvSpPr>
          <p:nvPr/>
        </p:nvSpPr>
        <p:spPr bwMode="auto">
          <a:xfrm>
            <a:off x="1952625" y="3763963"/>
            <a:ext cx="949325" cy="858837"/>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50" name="Rectangle 34"/>
          <p:cNvSpPr>
            <a:spLocks noChangeArrowheads="1"/>
          </p:cNvSpPr>
          <p:nvPr/>
        </p:nvSpPr>
        <p:spPr bwMode="auto">
          <a:xfrm>
            <a:off x="2112963" y="4184650"/>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4</a:t>
            </a:r>
          </a:p>
        </p:txBody>
      </p:sp>
      <p:sp>
        <p:nvSpPr>
          <p:cNvPr id="34856" name="Rectangle 40"/>
          <p:cNvSpPr>
            <a:spLocks noChangeArrowheads="1"/>
          </p:cNvSpPr>
          <p:nvPr/>
        </p:nvSpPr>
        <p:spPr bwMode="auto">
          <a:xfrm>
            <a:off x="3962400" y="4076700"/>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2</a:t>
            </a:r>
          </a:p>
        </p:txBody>
      </p:sp>
      <p:grpSp>
        <p:nvGrpSpPr>
          <p:cNvPr id="3" name="Group 2"/>
          <p:cNvGrpSpPr/>
          <p:nvPr/>
        </p:nvGrpSpPr>
        <p:grpSpPr>
          <a:xfrm>
            <a:off x="1141413" y="754279"/>
            <a:ext cx="6962775" cy="5179580"/>
            <a:chOff x="1141413" y="685800"/>
            <a:chExt cx="6962775" cy="5697538"/>
          </a:xfrm>
        </p:grpSpPr>
        <p:sp>
          <p:nvSpPr>
            <p:cNvPr id="34819" name="Freeform 3"/>
            <p:cNvSpPr>
              <a:spLocks/>
            </p:cNvSpPr>
            <p:nvPr/>
          </p:nvSpPr>
          <p:spPr bwMode="auto">
            <a:xfrm>
              <a:off x="1141413" y="2952750"/>
              <a:ext cx="931862" cy="941388"/>
            </a:xfrm>
            <a:custGeom>
              <a:avLst/>
              <a:gdLst>
                <a:gd name="T0" fmla="*/ 586 w 587"/>
                <a:gd name="T1" fmla="*/ 296 h 593"/>
                <a:gd name="T2" fmla="*/ 579 w 587"/>
                <a:gd name="T3" fmla="*/ 236 h 593"/>
                <a:gd name="T4" fmla="*/ 562 w 587"/>
                <a:gd name="T5" fmla="*/ 180 h 593"/>
                <a:gd name="T6" fmla="*/ 535 w 587"/>
                <a:gd name="T7" fmla="*/ 130 h 593"/>
                <a:gd name="T8" fmla="*/ 499 w 587"/>
                <a:gd name="T9" fmla="*/ 86 h 593"/>
                <a:gd name="T10" fmla="*/ 456 w 587"/>
                <a:gd name="T11" fmla="*/ 50 h 593"/>
                <a:gd name="T12" fmla="*/ 407 w 587"/>
                <a:gd name="T13" fmla="*/ 23 h 593"/>
                <a:gd name="T14" fmla="*/ 352 w 587"/>
                <a:gd name="T15" fmla="*/ 6 h 593"/>
                <a:gd name="T16" fmla="*/ 293 w 587"/>
                <a:gd name="T17" fmla="*/ 0 h 593"/>
                <a:gd name="T18" fmla="*/ 233 w 587"/>
                <a:gd name="T19" fmla="*/ 6 h 593"/>
                <a:gd name="T20" fmla="*/ 178 w 587"/>
                <a:gd name="T21" fmla="*/ 23 h 593"/>
                <a:gd name="T22" fmla="*/ 129 w 587"/>
                <a:gd name="T23" fmla="*/ 50 h 593"/>
                <a:gd name="T24" fmla="*/ 86 w 587"/>
                <a:gd name="T25" fmla="*/ 86 h 593"/>
                <a:gd name="T26" fmla="*/ 50 w 587"/>
                <a:gd name="T27" fmla="*/ 130 h 593"/>
                <a:gd name="T28" fmla="*/ 23 w 587"/>
                <a:gd name="T29" fmla="*/ 180 h 593"/>
                <a:gd name="T30" fmla="*/ 6 w 587"/>
                <a:gd name="T31" fmla="*/ 236 h 593"/>
                <a:gd name="T32" fmla="*/ 0 w 587"/>
                <a:gd name="T33" fmla="*/ 296 h 593"/>
                <a:gd name="T34" fmla="*/ 6 w 587"/>
                <a:gd name="T35" fmla="*/ 355 h 593"/>
                <a:gd name="T36" fmla="*/ 23 w 587"/>
                <a:gd name="T37" fmla="*/ 411 h 593"/>
                <a:gd name="T38" fmla="*/ 50 w 587"/>
                <a:gd name="T39" fmla="*/ 461 h 593"/>
                <a:gd name="T40" fmla="*/ 86 w 587"/>
                <a:gd name="T41" fmla="*/ 505 h 593"/>
                <a:gd name="T42" fmla="*/ 129 w 587"/>
                <a:gd name="T43" fmla="*/ 541 h 593"/>
                <a:gd name="T44" fmla="*/ 178 w 587"/>
                <a:gd name="T45" fmla="*/ 568 h 593"/>
                <a:gd name="T46" fmla="*/ 233 w 587"/>
                <a:gd name="T47" fmla="*/ 585 h 593"/>
                <a:gd name="T48" fmla="*/ 293 w 587"/>
                <a:gd name="T49" fmla="*/ 592 h 593"/>
                <a:gd name="T50" fmla="*/ 352 w 587"/>
                <a:gd name="T51" fmla="*/ 585 h 593"/>
                <a:gd name="T52" fmla="*/ 407 w 587"/>
                <a:gd name="T53" fmla="*/ 568 h 593"/>
                <a:gd name="T54" fmla="*/ 456 w 587"/>
                <a:gd name="T55" fmla="*/ 541 h 593"/>
                <a:gd name="T56" fmla="*/ 499 w 587"/>
                <a:gd name="T57" fmla="*/ 505 h 593"/>
                <a:gd name="T58" fmla="*/ 535 w 587"/>
                <a:gd name="T59" fmla="*/ 461 h 593"/>
                <a:gd name="T60" fmla="*/ 562 w 587"/>
                <a:gd name="T61" fmla="*/ 411 h 593"/>
                <a:gd name="T62" fmla="*/ 579 w 587"/>
                <a:gd name="T63" fmla="*/ 355 h 593"/>
                <a:gd name="T64" fmla="*/ 586 w 587"/>
                <a:gd name="T65" fmla="*/ 296 h 593"/>
                <a:gd name="T66" fmla="*/ 586 w 587"/>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7" h="593">
                  <a:moveTo>
                    <a:pt x="586" y="296"/>
                  </a:moveTo>
                  <a:lnTo>
                    <a:pt x="579" y="236"/>
                  </a:lnTo>
                  <a:lnTo>
                    <a:pt x="562" y="180"/>
                  </a:lnTo>
                  <a:lnTo>
                    <a:pt x="535" y="130"/>
                  </a:lnTo>
                  <a:lnTo>
                    <a:pt x="499" y="86"/>
                  </a:lnTo>
                  <a:lnTo>
                    <a:pt x="456" y="50"/>
                  </a:lnTo>
                  <a:lnTo>
                    <a:pt x="407" y="23"/>
                  </a:lnTo>
                  <a:lnTo>
                    <a:pt x="352" y="6"/>
                  </a:lnTo>
                  <a:lnTo>
                    <a:pt x="293" y="0"/>
                  </a:lnTo>
                  <a:lnTo>
                    <a:pt x="233" y="6"/>
                  </a:lnTo>
                  <a:lnTo>
                    <a:pt x="178" y="23"/>
                  </a:lnTo>
                  <a:lnTo>
                    <a:pt x="129" y="50"/>
                  </a:lnTo>
                  <a:lnTo>
                    <a:pt x="86" y="86"/>
                  </a:lnTo>
                  <a:lnTo>
                    <a:pt x="50" y="130"/>
                  </a:lnTo>
                  <a:lnTo>
                    <a:pt x="23" y="180"/>
                  </a:lnTo>
                  <a:lnTo>
                    <a:pt x="6" y="236"/>
                  </a:lnTo>
                  <a:lnTo>
                    <a:pt x="0" y="296"/>
                  </a:lnTo>
                  <a:lnTo>
                    <a:pt x="6" y="355"/>
                  </a:lnTo>
                  <a:lnTo>
                    <a:pt x="23" y="411"/>
                  </a:lnTo>
                  <a:lnTo>
                    <a:pt x="50" y="461"/>
                  </a:lnTo>
                  <a:lnTo>
                    <a:pt x="86" y="505"/>
                  </a:lnTo>
                  <a:lnTo>
                    <a:pt x="129" y="541"/>
                  </a:lnTo>
                  <a:lnTo>
                    <a:pt x="178" y="568"/>
                  </a:lnTo>
                  <a:lnTo>
                    <a:pt x="233" y="585"/>
                  </a:lnTo>
                  <a:lnTo>
                    <a:pt x="293" y="592"/>
                  </a:lnTo>
                  <a:lnTo>
                    <a:pt x="352" y="585"/>
                  </a:lnTo>
                  <a:lnTo>
                    <a:pt x="407" y="568"/>
                  </a:lnTo>
                  <a:lnTo>
                    <a:pt x="456" y="541"/>
                  </a:lnTo>
                  <a:lnTo>
                    <a:pt x="499" y="505"/>
                  </a:lnTo>
                  <a:lnTo>
                    <a:pt x="535" y="461"/>
                  </a:lnTo>
                  <a:lnTo>
                    <a:pt x="562" y="411"/>
                  </a:lnTo>
                  <a:lnTo>
                    <a:pt x="579" y="355"/>
                  </a:lnTo>
                  <a:lnTo>
                    <a:pt x="586" y="296"/>
                  </a:lnTo>
                  <a:lnTo>
                    <a:pt x="586"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0" name="Freeform 4"/>
            <p:cNvSpPr>
              <a:spLocks/>
            </p:cNvSpPr>
            <p:nvPr/>
          </p:nvSpPr>
          <p:spPr bwMode="auto">
            <a:xfrm>
              <a:off x="2881313" y="1306513"/>
              <a:ext cx="931862" cy="939800"/>
            </a:xfrm>
            <a:custGeom>
              <a:avLst/>
              <a:gdLst>
                <a:gd name="T0" fmla="*/ 586 w 587"/>
                <a:gd name="T1" fmla="*/ 296 h 592"/>
                <a:gd name="T2" fmla="*/ 580 w 587"/>
                <a:gd name="T3" fmla="*/ 236 h 592"/>
                <a:gd name="T4" fmla="*/ 563 w 587"/>
                <a:gd name="T5" fmla="*/ 180 h 592"/>
                <a:gd name="T6" fmla="*/ 535 w 587"/>
                <a:gd name="T7" fmla="*/ 130 h 592"/>
                <a:gd name="T8" fmla="*/ 500 w 587"/>
                <a:gd name="T9" fmla="*/ 86 h 592"/>
                <a:gd name="T10" fmla="*/ 457 w 587"/>
                <a:gd name="T11" fmla="*/ 50 h 592"/>
                <a:gd name="T12" fmla="*/ 407 w 587"/>
                <a:gd name="T13" fmla="*/ 23 h 592"/>
                <a:gd name="T14" fmla="*/ 352 w 587"/>
                <a:gd name="T15" fmla="*/ 6 h 592"/>
                <a:gd name="T16" fmla="*/ 293 w 587"/>
                <a:gd name="T17" fmla="*/ 0 h 592"/>
                <a:gd name="T18" fmla="*/ 234 w 587"/>
                <a:gd name="T19" fmla="*/ 6 h 592"/>
                <a:gd name="T20" fmla="*/ 179 w 587"/>
                <a:gd name="T21" fmla="*/ 23 h 592"/>
                <a:gd name="T22" fmla="*/ 129 w 587"/>
                <a:gd name="T23" fmla="*/ 50 h 592"/>
                <a:gd name="T24" fmla="*/ 86 w 587"/>
                <a:gd name="T25" fmla="*/ 86 h 592"/>
                <a:gd name="T26" fmla="*/ 50 w 587"/>
                <a:gd name="T27" fmla="*/ 130 h 592"/>
                <a:gd name="T28" fmla="*/ 23 w 587"/>
                <a:gd name="T29" fmla="*/ 180 h 592"/>
                <a:gd name="T30" fmla="*/ 6 w 587"/>
                <a:gd name="T31" fmla="*/ 236 h 592"/>
                <a:gd name="T32" fmla="*/ 0 w 587"/>
                <a:gd name="T33" fmla="*/ 296 h 592"/>
                <a:gd name="T34" fmla="*/ 6 w 587"/>
                <a:gd name="T35" fmla="*/ 355 h 592"/>
                <a:gd name="T36" fmla="*/ 23 w 587"/>
                <a:gd name="T37" fmla="*/ 411 h 592"/>
                <a:gd name="T38" fmla="*/ 50 w 587"/>
                <a:gd name="T39" fmla="*/ 461 h 592"/>
                <a:gd name="T40" fmla="*/ 86 w 587"/>
                <a:gd name="T41" fmla="*/ 505 h 592"/>
                <a:gd name="T42" fmla="*/ 129 w 587"/>
                <a:gd name="T43" fmla="*/ 541 h 592"/>
                <a:gd name="T44" fmla="*/ 179 w 587"/>
                <a:gd name="T45" fmla="*/ 568 h 592"/>
                <a:gd name="T46" fmla="*/ 234 w 587"/>
                <a:gd name="T47" fmla="*/ 585 h 592"/>
                <a:gd name="T48" fmla="*/ 293 w 587"/>
                <a:gd name="T49" fmla="*/ 591 h 592"/>
                <a:gd name="T50" fmla="*/ 352 w 587"/>
                <a:gd name="T51" fmla="*/ 585 h 592"/>
                <a:gd name="T52" fmla="*/ 407 w 587"/>
                <a:gd name="T53" fmla="*/ 568 h 592"/>
                <a:gd name="T54" fmla="*/ 457 w 587"/>
                <a:gd name="T55" fmla="*/ 541 h 592"/>
                <a:gd name="T56" fmla="*/ 500 w 587"/>
                <a:gd name="T57" fmla="*/ 505 h 592"/>
                <a:gd name="T58" fmla="*/ 535 w 587"/>
                <a:gd name="T59" fmla="*/ 461 h 592"/>
                <a:gd name="T60" fmla="*/ 563 w 587"/>
                <a:gd name="T61" fmla="*/ 411 h 592"/>
                <a:gd name="T62" fmla="*/ 580 w 587"/>
                <a:gd name="T63" fmla="*/ 355 h 592"/>
                <a:gd name="T64" fmla="*/ 586 w 587"/>
                <a:gd name="T65" fmla="*/ 296 h 592"/>
                <a:gd name="T66" fmla="*/ 586 w 587"/>
                <a:gd name="T67" fmla="*/ 296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7" h="592">
                  <a:moveTo>
                    <a:pt x="586" y="296"/>
                  </a:moveTo>
                  <a:lnTo>
                    <a:pt x="580" y="236"/>
                  </a:lnTo>
                  <a:lnTo>
                    <a:pt x="563" y="180"/>
                  </a:lnTo>
                  <a:lnTo>
                    <a:pt x="535" y="130"/>
                  </a:lnTo>
                  <a:lnTo>
                    <a:pt x="500" y="86"/>
                  </a:lnTo>
                  <a:lnTo>
                    <a:pt x="457" y="50"/>
                  </a:lnTo>
                  <a:lnTo>
                    <a:pt x="407" y="23"/>
                  </a:lnTo>
                  <a:lnTo>
                    <a:pt x="352" y="6"/>
                  </a:lnTo>
                  <a:lnTo>
                    <a:pt x="293" y="0"/>
                  </a:lnTo>
                  <a:lnTo>
                    <a:pt x="234" y="6"/>
                  </a:lnTo>
                  <a:lnTo>
                    <a:pt x="179" y="23"/>
                  </a:lnTo>
                  <a:lnTo>
                    <a:pt x="129" y="50"/>
                  </a:lnTo>
                  <a:lnTo>
                    <a:pt x="86" y="86"/>
                  </a:lnTo>
                  <a:lnTo>
                    <a:pt x="50" y="130"/>
                  </a:lnTo>
                  <a:lnTo>
                    <a:pt x="23" y="180"/>
                  </a:lnTo>
                  <a:lnTo>
                    <a:pt x="6" y="236"/>
                  </a:lnTo>
                  <a:lnTo>
                    <a:pt x="0" y="296"/>
                  </a:lnTo>
                  <a:lnTo>
                    <a:pt x="6" y="355"/>
                  </a:lnTo>
                  <a:lnTo>
                    <a:pt x="23" y="411"/>
                  </a:lnTo>
                  <a:lnTo>
                    <a:pt x="50" y="461"/>
                  </a:lnTo>
                  <a:lnTo>
                    <a:pt x="86" y="505"/>
                  </a:lnTo>
                  <a:lnTo>
                    <a:pt x="129" y="541"/>
                  </a:lnTo>
                  <a:lnTo>
                    <a:pt x="179" y="568"/>
                  </a:lnTo>
                  <a:lnTo>
                    <a:pt x="234" y="585"/>
                  </a:lnTo>
                  <a:lnTo>
                    <a:pt x="293" y="591"/>
                  </a:lnTo>
                  <a:lnTo>
                    <a:pt x="352" y="585"/>
                  </a:lnTo>
                  <a:lnTo>
                    <a:pt x="407" y="568"/>
                  </a:lnTo>
                  <a:lnTo>
                    <a:pt x="457" y="541"/>
                  </a:lnTo>
                  <a:lnTo>
                    <a:pt x="500" y="505"/>
                  </a:lnTo>
                  <a:lnTo>
                    <a:pt x="535" y="461"/>
                  </a:lnTo>
                  <a:lnTo>
                    <a:pt x="563" y="411"/>
                  </a:lnTo>
                  <a:lnTo>
                    <a:pt x="580" y="355"/>
                  </a:lnTo>
                  <a:lnTo>
                    <a:pt x="586" y="296"/>
                  </a:lnTo>
                  <a:lnTo>
                    <a:pt x="586"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1" name="Freeform 5"/>
            <p:cNvSpPr>
              <a:spLocks/>
            </p:cNvSpPr>
            <p:nvPr/>
          </p:nvSpPr>
          <p:spPr bwMode="auto">
            <a:xfrm>
              <a:off x="2894013" y="4557713"/>
              <a:ext cx="931862" cy="941387"/>
            </a:xfrm>
            <a:custGeom>
              <a:avLst/>
              <a:gdLst>
                <a:gd name="T0" fmla="*/ 586 w 587"/>
                <a:gd name="T1" fmla="*/ 296 h 593"/>
                <a:gd name="T2" fmla="*/ 580 w 587"/>
                <a:gd name="T3" fmla="*/ 237 h 593"/>
                <a:gd name="T4" fmla="*/ 563 w 587"/>
                <a:gd name="T5" fmla="*/ 181 h 593"/>
                <a:gd name="T6" fmla="*/ 536 w 587"/>
                <a:gd name="T7" fmla="*/ 131 h 593"/>
                <a:gd name="T8" fmla="*/ 500 w 587"/>
                <a:gd name="T9" fmla="*/ 87 h 593"/>
                <a:gd name="T10" fmla="*/ 457 w 587"/>
                <a:gd name="T11" fmla="*/ 51 h 593"/>
                <a:gd name="T12" fmla="*/ 407 w 587"/>
                <a:gd name="T13" fmla="*/ 24 h 593"/>
                <a:gd name="T14" fmla="*/ 352 w 587"/>
                <a:gd name="T15" fmla="*/ 6 h 593"/>
                <a:gd name="T16" fmla="*/ 293 w 587"/>
                <a:gd name="T17" fmla="*/ 0 h 593"/>
                <a:gd name="T18" fmla="*/ 234 w 587"/>
                <a:gd name="T19" fmla="*/ 6 h 593"/>
                <a:gd name="T20" fmla="*/ 179 w 587"/>
                <a:gd name="T21" fmla="*/ 24 h 593"/>
                <a:gd name="T22" fmla="*/ 129 w 587"/>
                <a:gd name="T23" fmla="*/ 51 h 593"/>
                <a:gd name="T24" fmla="*/ 86 w 587"/>
                <a:gd name="T25" fmla="*/ 87 h 593"/>
                <a:gd name="T26" fmla="*/ 50 w 587"/>
                <a:gd name="T27" fmla="*/ 131 h 593"/>
                <a:gd name="T28" fmla="*/ 23 w 587"/>
                <a:gd name="T29" fmla="*/ 181 h 593"/>
                <a:gd name="T30" fmla="*/ 6 w 587"/>
                <a:gd name="T31" fmla="*/ 237 h 593"/>
                <a:gd name="T32" fmla="*/ 0 w 587"/>
                <a:gd name="T33" fmla="*/ 296 h 593"/>
                <a:gd name="T34" fmla="*/ 6 w 587"/>
                <a:gd name="T35" fmla="*/ 356 h 593"/>
                <a:gd name="T36" fmla="*/ 23 w 587"/>
                <a:gd name="T37" fmla="*/ 411 h 593"/>
                <a:gd name="T38" fmla="*/ 50 w 587"/>
                <a:gd name="T39" fmla="*/ 461 h 593"/>
                <a:gd name="T40" fmla="*/ 86 w 587"/>
                <a:gd name="T41" fmla="*/ 505 h 593"/>
                <a:gd name="T42" fmla="*/ 129 w 587"/>
                <a:gd name="T43" fmla="*/ 541 h 593"/>
                <a:gd name="T44" fmla="*/ 179 w 587"/>
                <a:gd name="T45" fmla="*/ 569 h 593"/>
                <a:gd name="T46" fmla="*/ 234 w 587"/>
                <a:gd name="T47" fmla="*/ 586 h 593"/>
                <a:gd name="T48" fmla="*/ 293 w 587"/>
                <a:gd name="T49" fmla="*/ 592 h 593"/>
                <a:gd name="T50" fmla="*/ 352 w 587"/>
                <a:gd name="T51" fmla="*/ 586 h 593"/>
                <a:gd name="T52" fmla="*/ 407 w 587"/>
                <a:gd name="T53" fmla="*/ 569 h 593"/>
                <a:gd name="T54" fmla="*/ 457 w 587"/>
                <a:gd name="T55" fmla="*/ 541 h 593"/>
                <a:gd name="T56" fmla="*/ 500 w 587"/>
                <a:gd name="T57" fmla="*/ 505 h 593"/>
                <a:gd name="T58" fmla="*/ 536 w 587"/>
                <a:gd name="T59" fmla="*/ 461 h 593"/>
                <a:gd name="T60" fmla="*/ 563 w 587"/>
                <a:gd name="T61" fmla="*/ 411 h 593"/>
                <a:gd name="T62" fmla="*/ 580 w 587"/>
                <a:gd name="T63" fmla="*/ 356 h 593"/>
                <a:gd name="T64" fmla="*/ 586 w 587"/>
                <a:gd name="T65" fmla="*/ 296 h 593"/>
                <a:gd name="T66" fmla="*/ 586 w 587"/>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7" h="593">
                  <a:moveTo>
                    <a:pt x="586" y="296"/>
                  </a:moveTo>
                  <a:lnTo>
                    <a:pt x="580" y="237"/>
                  </a:lnTo>
                  <a:lnTo>
                    <a:pt x="563" y="181"/>
                  </a:lnTo>
                  <a:lnTo>
                    <a:pt x="536" y="131"/>
                  </a:lnTo>
                  <a:lnTo>
                    <a:pt x="500" y="87"/>
                  </a:lnTo>
                  <a:lnTo>
                    <a:pt x="457" y="51"/>
                  </a:lnTo>
                  <a:lnTo>
                    <a:pt x="407" y="24"/>
                  </a:lnTo>
                  <a:lnTo>
                    <a:pt x="352" y="6"/>
                  </a:lnTo>
                  <a:lnTo>
                    <a:pt x="293" y="0"/>
                  </a:lnTo>
                  <a:lnTo>
                    <a:pt x="234" y="6"/>
                  </a:lnTo>
                  <a:lnTo>
                    <a:pt x="179" y="24"/>
                  </a:lnTo>
                  <a:lnTo>
                    <a:pt x="129" y="51"/>
                  </a:lnTo>
                  <a:lnTo>
                    <a:pt x="86" y="87"/>
                  </a:lnTo>
                  <a:lnTo>
                    <a:pt x="50" y="131"/>
                  </a:lnTo>
                  <a:lnTo>
                    <a:pt x="23" y="181"/>
                  </a:lnTo>
                  <a:lnTo>
                    <a:pt x="6" y="237"/>
                  </a:lnTo>
                  <a:lnTo>
                    <a:pt x="0" y="296"/>
                  </a:lnTo>
                  <a:lnTo>
                    <a:pt x="6" y="356"/>
                  </a:lnTo>
                  <a:lnTo>
                    <a:pt x="23" y="411"/>
                  </a:lnTo>
                  <a:lnTo>
                    <a:pt x="50" y="461"/>
                  </a:lnTo>
                  <a:lnTo>
                    <a:pt x="86" y="505"/>
                  </a:lnTo>
                  <a:lnTo>
                    <a:pt x="129" y="541"/>
                  </a:lnTo>
                  <a:lnTo>
                    <a:pt x="179" y="569"/>
                  </a:lnTo>
                  <a:lnTo>
                    <a:pt x="234" y="586"/>
                  </a:lnTo>
                  <a:lnTo>
                    <a:pt x="293" y="592"/>
                  </a:lnTo>
                  <a:lnTo>
                    <a:pt x="352" y="586"/>
                  </a:lnTo>
                  <a:lnTo>
                    <a:pt x="407" y="569"/>
                  </a:lnTo>
                  <a:lnTo>
                    <a:pt x="457" y="541"/>
                  </a:lnTo>
                  <a:lnTo>
                    <a:pt x="500" y="505"/>
                  </a:lnTo>
                  <a:lnTo>
                    <a:pt x="536" y="461"/>
                  </a:lnTo>
                  <a:lnTo>
                    <a:pt x="563" y="411"/>
                  </a:lnTo>
                  <a:lnTo>
                    <a:pt x="580" y="356"/>
                  </a:lnTo>
                  <a:lnTo>
                    <a:pt x="586" y="296"/>
                  </a:lnTo>
                  <a:lnTo>
                    <a:pt x="586"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2" name="Freeform 6"/>
            <p:cNvSpPr>
              <a:spLocks/>
            </p:cNvSpPr>
            <p:nvPr/>
          </p:nvSpPr>
          <p:spPr bwMode="auto">
            <a:xfrm>
              <a:off x="5365750" y="4572000"/>
              <a:ext cx="931863" cy="941388"/>
            </a:xfrm>
            <a:custGeom>
              <a:avLst/>
              <a:gdLst>
                <a:gd name="T0" fmla="*/ 586 w 587"/>
                <a:gd name="T1" fmla="*/ 296 h 593"/>
                <a:gd name="T2" fmla="*/ 580 w 587"/>
                <a:gd name="T3" fmla="*/ 236 h 593"/>
                <a:gd name="T4" fmla="*/ 562 w 587"/>
                <a:gd name="T5" fmla="*/ 181 h 593"/>
                <a:gd name="T6" fmla="*/ 535 w 587"/>
                <a:gd name="T7" fmla="*/ 131 h 593"/>
                <a:gd name="T8" fmla="*/ 500 w 587"/>
                <a:gd name="T9" fmla="*/ 87 h 593"/>
                <a:gd name="T10" fmla="*/ 456 w 587"/>
                <a:gd name="T11" fmla="*/ 51 h 593"/>
                <a:gd name="T12" fmla="*/ 407 w 587"/>
                <a:gd name="T13" fmla="*/ 23 h 593"/>
                <a:gd name="T14" fmla="*/ 352 w 587"/>
                <a:gd name="T15" fmla="*/ 6 h 593"/>
                <a:gd name="T16" fmla="*/ 293 w 587"/>
                <a:gd name="T17" fmla="*/ 0 h 593"/>
                <a:gd name="T18" fmla="*/ 234 w 587"/>
                <a:gd name="T19" fmla="*/ 6 h 593"/>
                <a:gd name="T20" fmla="*/ 179 w 587"/>
                <a:gd name="T21" fmla="*/ 23 h 593"/>
                <a:gd name="T22" fmla="*/ 129 w 587"/>
                <a:gd name="T23" fmla="*/ 51 h 593"/>
                <a:gd name="T24" fmla="*/ 86 w 587"/>
                <a:gd name="T25" fmla="*/ 87 h 593"/>
                <a:gd name="T26" fmla="*/ 50 w 587"/>
                <a:gd name="T27" fmla="*/ 131 h 593"/>
                <a:gd name="T28" fmla="*/ 23 w 587"/>
                <a:gd name="T29" fmla="*/ 181 h 593"/>
                <a:gd name="T30" fmla="*/ 6 w 587"/>
                <a:gd name="T31" fmla="*/ 236 h 593"/>
                <a:gd name="T32" fmla="*/ 0 w 587"/>
                <a:gd name="T33" fmla="*/ 296 h 593"/>
                <a:gd name="T34" fmla="*/ 6 w 587"/>
                <a:gd name="T35" fmla="*/ 355 h 593"/>
                <a:gd name="T36" fmla="*/ 23 w 587"/>
                <a:gd name="T37" fmla="*/ 411 h 593"/>
                <a:gd name="T38" fmla="*/ 50 w 587"/>
                <a:gd name="T39" fmla="*/ 461 h 593"/>
                <a:gd name="T40" fmla="*/ 86 w 587"/>
                <a:gd name="T41" fmla="*/ 505 h 593"/>
                <a:gd name="T42" fmla="*/ 129 w 587"/>
                <a:gd name="T43" fmla="*/ 541 h 593"/>
                <a:gd name="T44" fmla="*/ 179 w 587"/>
                <a:gd name="T45" fmla="*/ 568 h 593"/>
                <a:gd name="T46" fmla="*/ 234 w 587"/>
                <a:gd name="T47" fmla="*/ 586 h 593"/>
                <a:gd name="T48" fmla="*/ 293 w 587"/>
                <a:gd name="T49" fmla="*/ 592 h 593"/>
                <a:gd name="T50" fmla="*/ 352 w 587"/>
                <a:gd name="T51" fmla="*/ 586 h 593"/>
                <a:gd name="T52" fmla="*/ 407 w 587"/>
                <a:gd name="T53" fmla="*/ 568 h 593"/>
                <a:gd name="T54" fmla="*/ 456 w 587"/>
                <a:gd name="T55" fmla="*/ 541 h 593"/>
                <a:gd name="T56" fmla="*/ 500 w 587"/>
                <a:gd name="T57" fmla="*/ 505 h 593"/>
                <a:gd name="T58" fmla="*/ 535 w 587"/>
                <a:gd name="T59" fmla="*/ 461 h 593"/>
                <a:gd name="T60" fmla="*/ 562 w 587"/>
                <a:gd name="T61" fmla="*/ 411 h 593"/>
                <a:gd name="T62" fmla="*/ 580 w 587"/>
                <a:gd name="T63" fmla="*/ 355 h 593"/>
                <a:gd name="T64" fmla="*/ 586 w 587"/>
                <a:gd name="T65" fmla="*/ 296 h 593"/>
                <a:gd name="T66" fmla="*/ 586 w 587"/>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7" h="593">
                  <a:moveTo>
                    <a:pt x="586" y="296"/>
                  </a:moveTo>
                  <a:lnTo>
                    <a:pt x="580" y="236"/>
                  </a:lnTo>
                  <a:lnTo>
                    <a:pt x="562" y="181"/>
                  </a:lnTo>
                  <a:lnTo>
                    <a:pt x="535" y="131"/>
                  </a:lnTo>
                  <a:lnTo>
                    <a:pt x="500" y="87"/>
                  </a:lnTo>
                  <a:lnTo>
                    <a:pt x="456" y="51"/>
                  </a:lnTo>
                  <a:lnTo>
                    <a:pt x="407" y="23"/>
                  </a:lnTo>
                  <a:lnTo>
                    <a:pt x="352" y="6"/>
                  </a:lnTo>
                  <a:lnTo>
                    <a:pt x="293" y="0"/>
                  </a:lnTo>
                  <a:lnTo>
                    <a:pt x="234" y="6"/>
                  </a:lnTo>
                  <a:lnTo>
                    <a:pt x="179" y="23"/>
                  </a:lnTo>
                  <a:lnTo>
                    <a:pt x="129" y="51"/>
                  </a:lnTo>
                  <a:lnTo>
                    <a:pt x="86" y="87"/>
                  </a:lnTo>
                  <a:lnTo>
                    <a:pt x="50" y="131"/>
                  </a:lnTo>
                  <a:lnTo>
                    <a:pt x="23" y="181"/>
                  </a:lnTo>
                  <a:lnTo>
                    <a:pt x="6" y="236"/>
                  </a:lnTo>
                  <a:lnTo>
                    <a:pt x="0" y="296"/>
                  </a:lnTo>
                  <a:lnTo>
                    <a:pt x="6" y="355"/>
                  </a:lnTo>
                  <a:lnTo>
                    <a:pt x="23" y="411"/>
                  </a:lnTo>
                  <a:lnTo>
                    <a:pt x="50" y="461"/>
                  </a:lnTo>
                  <a:lnTo>
                    <a:pt x="86" y="505"/>
                  </a:lnTo>
                  <a:lnTo>
                    <a:pt x="129" y="541"/>
                  </a:lnTo>
                  <a:lnTo>
                    <a:pt x="179" y="568"/>
                  </a:lnTo>
                  <a:lnTo>
                    <a:pt x="234" y="586"/>
                  </a:lnTo>
                  <a:lnTo>
                    <a:pt x="293" y="592"/>
                  </a:lnTo>
                  <a:lnTo>
                    <a:pt x="352" y="586"/>
                  </a:lnTo>
                  <a:lnTo>
                    <a:pt x="407" y="568"/>
                  </a:lnTo>
                  <a:lnTo>
                    <a:pt x="456" y="541"/>
                  </a:lnTo>
                  <a:lnTo>
                    <a:pt x="500" y="505"/>
                  </a:lnTo>
                  <a:lnTo>
                    <a:pt x="535" y="461"/>
                  </a:lnTo>
                  <a:lnTo>
                    <a:pt x="562" y="411"/>
                  </a:lnTo>
                  <a:lnTo>
                    <a:pt x="580" y="355"/>
                  </a:lnTo>
                  <a:lnTo>
                    <a:pt x="586" y="296"/>
                  </a:lnTo>
                  <a:lnTo>
                    <a:pt x="586"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3" name="Freeform 7"/>
            <p:cNvSpPr>
              <a:spLocks/>
            </p:cNvSpPr>
            <p:nvPr/>
          </p:nvSpPr>
          <p:spPr bwMode="auto">
            <a:xfrm>
              <a:off x="5326063" y="1266825"/>
              <a:ext cx="931862" cy="939800"/>
            </a:xfrm>
            <a:custGeom>
              <a:avLst/>
              <a:gdLst>
                <a:gd name="T0" fmla="*/ 586 w 587"/>
                <a:gd name="T1" fmla="*/ 295 h 592"/>
                <a:gd name="T2" fmla="*/ 580 w 587"/>
                <a:gd name="T3" fmla="*/ 236 h 592"/>
                <a:gd name="T4" fmla="*/ 562 w 587"/>
                <a:gd name="T5" fmla="*/ 180 h 592"/>
                <a:gd name="T6" fmla="*/ 535 w 587"/>
                <a:gd name="T7" fmla="*/ 130 h 592"/>
                <a:gd name="T8" fmla="*/ 500 w 587"/>
                <a:gd name="T9" fmla="*/ 86 h 592"/>
                <a:gd name="T10" fmla="*/ 456 w 587"/>
                <a:gd name="T11" fmla="*/ 50 h 592"/>
                <a:gd name="T12" fmla="*/ 407 w 587"/>
                <a:gd name="T13" fmla="*/ 23 h 592"/>
                <a:gd name="T14" fmla="*/ 352 w 587"/>
                <a:gd name="T15" fmla="*/ 5 h 592"/>
                <a:gd name="T16" fmla="*/ 293 w 587"/>
                <a:gd name="T17" fmla="*/ 0 h 592"/>
                <a:gd name="T18" fmla="*/ 234 w 587"/>
                <a:gd name="T19" fmla="*/ 5 h 592"/>
                <a:gd name="T20" fmla="*/ 179 w 587"/>
                <a:gd name="T21" fmla="*/ 23 h 592"/>
                <a:gd name="T22" fmla="*/ 129 w 587"/>
                <a:gd name="T23" fmla="*/ 50 h 592"/>
                <a:gd name="T24" fmla="*/ 86 w 587"/>
                <a:gd name="T25" fmla="*/ 86 h 592"/>
                <a:gd name="T26" fmla="*/ 50 w 587"/>
                <a:gd name="T27" fmla="*/ 130 h 592"/>
                <a:gd name="T28" fmla="*/ 23 w 587"/>
                <a:gd name="T29" fmla="*/ 180 h 592"/>
                <a:gd name="T30" fmla="*/ 6 w 587"/>
                <a:gd name="T31" fmla="*/ 236 h 592"/>
                <a:gd name="T32" fmla="*/ 0 w 587"/>
                <a:gd name="T33" fmla="*/ 295 h 592"/>
                <a:gd name="T34" fmla="*/ 6 w 587"/>
                <a:gd name="T35" fmla="*/ 355 h 592"/>
                <a:gd name="T36" fmla="*/ 23 w 587"/>
                <a:gd name="T37" fmla="*/ 410 h 592"/>
                <a:gd name="T38" fmla="*/ 50 w 587"/>
                <a:gd name="T39" fmla="*/ 461 h 592"/>
                <a:gd name="T40" fmla="*/ 86 w 587"/>
                <a:gd name="T41" fmla="*/ 504 h 592"/>
                <a:gd name="T42" fmla="*/ 129 w 587"/>
                <a:gd name="T43" fmla="*/ 540 h 592"/>
                <a:gd name="T44" fmla="*/ 179 w 587"/>
                <a:gd name="T45" fmla="*/ 568 h 592"/>
                <a:gd name="T46" fmla="*/ 234 w 587"/>
                <a:gd name="T47" fmla="*/ 585 h 592"/>
                <a:gd name="T48" fmla="*/ 293 w 587"/>
                <a:gd name="T49" fmla="*/ 591 h 592"/>
                <a:gd name="T50" fmla="*/ 352 w 587"/>
                <a:gd name="T51" fmla="*/ 585 h 592"/>
                <a:gd name="T52" fmla="*/ 407 w 587"/>
                <a:gd name="T53" fmla="*/ 568 h 592"/>
                <a:gd name="T54" fmla="*/ 456 w 587"/>
                <a:gd name="T55" fmla="*/ 540 h 592"/>
                <a:gd name="T56" fmla="*/ 500 w 587"/>
                <a:gd name="T57" fmla="*/ 504 h 592"/>
                <a:gd name="T58" fmla="*/ 535 w 587"/>
                <a:gd name="T59" fmla="*/ 461 h 592"/>
                <a:gd name="T60" fmla="*/ 562 w 587"/>
                <a:gd name="T61" fmla="*/ 410 h 592"/>
                <a:gd name="T62" fmla="*/ 580 w 587"/>
                <a:gd name="T63" fmla="*/ 355 h 592"/>
                <a:gd name="T64" fmla="*/ 586 w 587"/>
                <a:gd name="T65" fmla="*/ 295 h 592"/>
                <a:gd name="T66" fmla="*/ 586 w 587"/>
                <a:gd name="T67" fmla="*/ 295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7" h="592">
                  <a:moveTo>
                    <a:pt x="586" y="295"/>
                  </a:moveTo>
                  <a:lnTo>
                    <a:pt x="580" y="236"/>
                  </a:lnTo>
                  <a:lnTo>
                    <a:pt x="562" y="180"/>
                  </a:lnTo>
                  <a:lnTo>
                    <a:pt x="535" y="130"/>
                  </a:lnTo>
                  <a:lnTo>
                    <a:pt x="500" y="86"/>
                  </a:lnTo>
                  <a:lnTo>
                    <a:pt x="456" y="50"/>
                  </a:lnTo>
                  <a:lnTo>
                    <a:pt x="407" y="23"/>
                  </a:lnTo>
                  <a:lnTo>
                    <a:pt x="352" y="5"/>
                  </a:lnTo>
                  <a:lnTo>
                    <a:pt x="293" y="0"/>
                  </a:lnTo>
                  <a:lnTo>
                    <a:pt x="234" y="5"/>
                  </a:lnTo>
                  <a:lnTo>
                    <a:pt x="179" y="23"/>
                  </a:lnTo>
                  <a:lnTo>
                    <a:pt x="129" y="50"/>
                  </a:lnTo>
                  <a:lnTo>
                    <a:pt x="86" y="86"/>
                  </a:lnTo>
                  <a:lnTo>
                    <a:pt x="50" y="130"/>
                  </a:lnTo>
                  <a:lnTo>
                    <a:pt x="23" y="180"/>
                  </a:lnTo>
                  <a:lnTo>
                    <a:pt x="6" y="236"/>
                  </a:lnTo>
                  <a:lnTo>
                    <a:pt x="0" y="295"/>
                  </a:lnTo>
                  <a:lnTo>
                    <a:pt x="6" y="355"/>
                  </a:lnTo>
                  <a:lnTo>
                    <a:pt x="23" y="410"/>
                  </a:lnTo>
                  <a:lnTo>
                    <a:pt x="50" y="461"/>
                  </a:lnTo>
                  <a:lnTo>
                    <a:pt x="86" y="504"/>
                  </a:lnTo>
                  <a:lnTo>
                    <a:pt x="129" y="540"/>
                  </a:lnTo>
                  <a:lnTo>
                    <a:pt x="179" y="568"/>
                  </a:lnTo>
                  <a:lnTo>
                    <a:pt x="234" y="585"/>
                  </a:lnTo>
                  <a:lnTo>
                    <a:pt x="293" y="591"/>
                  </a:lnTo>
                  <a:lnTo>
                    <a:pt x="352" y="585"/>
                  </a:lnTo>
                  <a:lnTo>
                    <a:pt x="407" y="568"/>
                  </a:lnTo>
                  <a:lnTo>
                    <a:pt x="456" y="540"/>
                  </a:lnTo>
                  <a:lnTo>
                    <a:pt x="500" y="504"/>
                  </a:lnTo>
                  <a:lnTo>
                    <a:pt x="535" y="461"/>
                  </a:lnTo>
                  <a:lnTo>
                    <a:pt x="562" y="410"/>
                  </a:lnTo>
                  <a:lnTo>
                    <a:pt x="580" y="355"/>
                  </a:lnTo>
                  <a:lnTo>
                    <a:pt x="586" y="295"/>
                  </a:lnTo>
                  <a:lnTo>
                    <a:pt x="586" y="295"/>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4" name="Freeform 8"/>
            <p:cNvSpPr>
              <a:spLocks/>
            </p:cNvSpPr>
            <p:nvPr/>
          </p:nvSpPr>
          <p:spPr bwMode="auto">
            <a:xfrm>
              <a:off x="7172325" y="3008313"/>
              <a:ext cx="931863" cy="941387"/>
            </a:xfrm>
            <a:custGeom>
              <a:avLst/>
              <a:gdLst>
                <a:gd name="T0" fmla="*/ 586 w 587"/>
                <a:gd name="T1" fmla="*/ 296 h 593"/>
                <a:gd name="T2" fmla="*/ 580 w 587"/>
                <a:gd name="T3" fmla="*/ 236 h 593"/>
                <a:gd name="T4" fmla="*/ 562 w 587"/>
                <a:gd name="T5" fmla="*/ 181 h 593"/>
                <a:gd name="T6" fmla="*/ 535 w 587"/>
                <a:gd name="T7" fmla="*/ 130 h 593"/>
                <a:gd name="T8" fmla="*/ 500 w 587"/>
                <a:gd name="T9" fmla="*/ 87 h 593"/>
                <a:gd name="T10" fmla="*/ 456 w 587"/>
                <a:gd name="T11" fmla="*/ 51 h 593"/>
                <a:gd name="T12" fmla="*/ 407 w 587"/>
                <a:gd name="T13" fmla="*/ 23 h 593"/>
                <a:gd name="T14" fmla="*/ 352 w 587"/>
                <a:gd name="T15" fmla="*/ 6 h 593"/>
                <a:gd name="T16" fmla="*/ 293 w 587"/>
                <a:gd name="T17" fmla="*/ 0 h 593"/>
                <a:gd name="T18" fmla="*/ 234 w 587"/>
                <a:gd name="T19" fmla="*/ 6 h 593"/>
                <a:gd name="T20" fmla="*/ 179 w 587"/>
                <a:gd name="T21" fmla="*/ 23 h 593"/>
                <a:gd name="T22" fmla="*/ 129 w 587"/>
                <a:gd name="T23" fmla="*/ 51 h 593"/>
                <a:gd name="T24" fmla="*/ 86 w 587"/>
                <a:gd name="T25" fmla="*/ 87 h 593"/>
                <a:gd name="T26" fmla="*/ 50 w 587"/>
                <a:gd name="T27" fmla="*/ 130 h 593"/>
                <a:gd name="T28" fmla="*/ 23 w 587"/>
                <a:gd name="T29" fmla="*/ 181 h 593"/>
                <a:gd name="T30" fmla="*/ 6 w 587"/>
                <a:gd name="T31" fmla="*/ 236 h 593"/>
                <a:gd name="T32" fmla="*/ 0 w 587"/>
                <a:gd name="T33" fmla="*/ 296 h 593"/>
                <a:gd name="T34" fmla="*/ 6 w 587"/>
                <a:gd name="T35" fmla="*/ 355 h 593"/>
                <a:gd name="T36" fmla="*/ 23 w 587"/>
                <a:gd name="T37" fmla="*/ 411 h 593"/>
                <a:gd name="T38" fmla="*/ 50 w 587"/>
                <a:gd name="T39" fmla="*/ 461 h 593"/>
                <a:gd name="T40" fmla="*/ 86 w 587"/>
                <a:gd name="T41" fmla="*/ 505 h 593"/>
                <a:gd name="T42" fmla="*/ 129 w 587"/>
                <a:gd name="T43" fmla="*/ 541 h 593"/>
                <a:gd name="T44" fmla="*/ 179 w 587"/>
                <a:gd name="T45" fmla="*/ 568 h 593"/>
                <a:gd name="T46" fmla="*/ 234 w 587"/>
                <a:gd name="T47" fmla="*/ 585 h 593"/>
                <a:gd name="T48" fmla="*/ 293 w 587"/>
                <a:gd name="T49" fmla="*/ 592 h 593"/>
                <a:gd name="T50" fmla="*/ 352 w 587"/>
                <a:gd name="T51" fmla="*/ 585 h 593"/>
                <a:gd name="T52" fmla="*/ 407 w 587"/>
                <a:gd name="T53" fmla="*/ 568 h 593"/>
                <a:gd name="T54" fmla="*/ 456 w 587"/>
                <a:gd name="T55" fmla="*/ 541 h 593"/>
                <a:gd name="T56" fmla="*/ 500 w 587"/>
                <a:gd name="T57" fmla="*/ 505 h 593"/>
                <a:gd name="T58" fmla="*/ 535 w 587"/>
                <a:gd name="T59" fmla="*/ 461 h 593"/>
                <a:gd name="T60" fmla="*/ 562 w 587"/>
                <a:gd name="T61" fmla="*/ 411 h 593"/>
                <a:gd name="T62" fmla="*/ 580 w 587"/>
                <a:gd name="T63" fmla="*/ 355 h 593"/>
                <a:gd name="T64" fmla="*/ 586 w 587"/>
                <a:gd name="T65" fmla="*/ 296 h 593"/>
                <a:gd name="T66" fmla="*/ 586 w 587"/>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7" h="593">
                  <a:moveTo>
                    <a:pt x="586" y="296"/>
                  </a:moveTo>
                  <a:lnTo>
                    <a:pt x="580" y="236"/>
                  </a:lnTo>
                  <a:lnTo>
                    <a:pt x="562" y="181"/>
                  </a:lnTo>
                  <a:lnTo>
                    <a:pt x="535" y="130"/>
                  </a:lnTo>
                  <a:lnTo>
                    <a:pt x="500" y="87"/>
                  </a:lnTo>
                  <a:lnTo>
                    <a:pt x="456" y="51"/>
                  </a:lnTo>
                  <a:lnTo>
                    <a:pt x="407" y="23"/>
                  </a:lnTo>
                  <a:lnTo>
                    <a:pt x="352" y="6"/>
                  </a:lnTo>
                  <a:lnTo>
                    <a:pt x="293" y="0"/>
                  </a:lnTo>
                  <a:lnTo>
                    <a:pt x="234" y="6"/>
                  </a:lnTo>
                  <a:lnTo>
                    <a:pt x="179" y="23"/>
                  </a:lnTo>
                  <a:lnTo>
                    <a:pt x="129" y="51"/>
                  </a:lnTo>
                  <a:lnTo>
                    <a:pt x="86" y="87"/>
                  </a:lnTo>
                  <a:lnTo>
                    <a:pt x="50" y="130"/>
                  </a:lnTo>
                  <a:lnTo>
                    <a:pt x="23" y="181"/>
                  </a:lnTo>
                  <a:lnTo>
                    <a:pt x="6" y="236"/>
                  </a:lnTo>
                  <a:lnTo>
                    <a:pt x="0" y="296"/>
                  </a:lnTo>
                  <a:lnTo>
                    <a:pt x="6" y="355"/>
                  </a:lnTo>
                  <a:lnTo>
                    <a:pt x="23" y="411"/>
                  </a:lnTo>
                  <a:lnTo>
                    <a:pt x="50" y="461"/>
                  </a:lnTo>
                  <a:lnTo>
                    <a:pt x="86" y="505"/>
                  </a:lnTo>
                  <a:lnTo>
                    <a:pt x="129" y="541"/>
                  </a:lnTo>
                  <a:lnTo>
                    <a:pt x="179" y="568"/>
                  </a:lnTo>
                  <a:lnTo>
                    <a:pt x="234" y="585"/>
                  </a:lnTo>
                  <a:lnTo>
                    <a:pt x="293" y="592"/>
                  </a:lnTo>
                  <a:lnTo>
                    <a:pt x="352" y="585"/>
                  </a:lnTo>
                  <a:lnTo>
                    <a:pt x="407" y="568"/>
                  </a:lnTo>
                  <a:lnTo>
                    <a:pt x="456" y="541"/>
                  </a:lnTo>
                  <a:lnTo>
                    <a:pt x="500" y="505"/>
                  </a:lnTo>
                  <a:lnTo>
                    <a:pt x="535" y="461"/>
                  </a:lnTo>
                  <a:lnTo>
                    <a:pt x="562" y="411"/>
                  </a:lnTo>
                  <a:lnTo>
                    <a:pt x="580" y="355"/>
                  </a:lnTo>
                  <a:lnTo>
                    <a:pt x="586" y="296"/>
                  </a:lnTo>
                  <a:lnTo>
                    <a:pt x="586"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5" name="Rectangle 9"/>
            <p:cNvSpPr>
              <a:spLocks noChangeArrowheads="1"/>
            </p:cNvSpPr>
            <p:nvPr/>
          </p:nvSpPr>
          <p:spPr bwMode="auto">
            <a:xfrm>
              <a:off x="2085975" y="3243263"/>
              <a:ext cx="93186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Oil Field</a:t>
              </a:r>
            </a:p>
          </p:txBody>
        </p:sp>
        <p:sp>
          <p:nvSpPr>
            <p:cNvPr id="34826" name="Rectangle 10"/>
            <p:cNvSpPr>
              <a:spLocks noChangeArrowheads="1"/>
            </p:cNvSpPr>
            <p:nvPr/>
          </p:nvSpPr>
          <p:spPr bwMode="auto">
            <a:xfrm>
              <a:off x="2817813" y="727075"/>
              <a:ext cx="104933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Pumping </a:t>
              </a:r>
            </a:p>
          </p:txBody>
        </p:sp>
        <p:sp>
          <p:nvSpPr>
            <p:cNvPr id="34827" name="Rectangle 11"/>
            <p:cNvSpPr>
              <a:spLocks noChangeArrowheads="1"/>
            </p:cNvSpPr>
            <p:nvPr/>
          </p:nvSpPr>
          <p:spPr bwMode="auto">
            <a:xfrm>
              <a:off x="2817813" y="958850"/>
              <a:ext cx="9890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Station 1</a:t>
              </a:r>
            </a:p>
          </p:txBody>
        </p:sp>
        <p:sp>
          <p:nvSpPr>
            <p:cNvPr id="34828" name="Rectangle 12"/>
            <p:cNvSpPr>
              <a:spLocks noChangeArrowheads="1"/>
            </p:cNvSpPr>
            <p:nvPr/>
          </p:nvSpPr>
          <p:spPr bwMode="auto">
            <a:xfrm>
              <a:off x="2792413" y="5599113"/>
              <a:ext cx="104933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Pumping </a:t>
              </a:r>
            </a:p>
          </p:txBody>
        </p:sp>
        <p:sp>
          <p:nvSpPr>
            <p:cNvPr id="34829" name="Rectangle 13"/>
            <p:cNvSpPr>
              <a:spLocks noChangeArrowheads="1"/>
            </p:cNvSpPr>
            <p:nvPr/>
          </p:nvSpPr>
          <p:spPr bwMode="auto">
            <a:xfrm>
              <a:off x="2792413" y="5830888"/>
              <a:ext cx="9890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Station 2</a:t>
              </a:r>
            </a:p>
          </p:txBody>
        </p:sp>
        <p:sp>
          <p:nvSpPr>
            <p:cNvPr id="34830" name="Rectangle 14"/>
            <p:cNvSpPr>
              <a:spLocks noChangeArrowheads="1"/>
            </p:cNvSpPr>
            <p:nvPr/>
          </p:nvSpPr>
          <p:spPr bwMode="auto">
            <a:xfrm>
              <a:off x="5224463" y="685800"/>
              <a:ext cx="104933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Pumping </a:t>
              </a:r>
            </a:p>
          </p:txBody>
        </p:sp>
        <p:sp>
          <p:nvSpPr>
            <p:cNvPr id="34831" name="Rectangle 15"/>
            <p:cNvSpPr>
              <a:spLocks noChangeArrowheads="1"/>
            </p:cNvSpPr>
            <p:nvPr/>
          </p:nvSpPr>
          <p:spPr bwMode="auto">
            <a:xfrm>
              <a:off x="5224463" y="917575"/>
              <a:ext cx="9890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Station 3</a:t>
              </a:r>
            </a:p>
          </p:txBody>
        </p:sp>
        <p:sp>
          <p:nvSpPr>
            <p:cNvPr id="34832" name="Rectangle 16"/>
            <p:cNvSpPr>
              <a:spLocks noChangeArrowheads="1"/>
            </p:cNvSpPr>
            <p:nvPr/>
          </p:nvSpPr>
          <p:spPr bwMode="auto">
            <a:xfrm>
              <a:off x="5373688" y="5626100"/>
              <a:ext cx="104933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Pumping </a:t>
              </a:r>
            </a:p>
          </p:txBody>
        </p:sp>
        <p:sp>
          <p:nvSpPr>
            <p:cNvPr id="34833" name="Rectangle 17"/>
            <p:cNvSpPr>
              <a:spLocks noChangeArrowheads="1"/>
            </p:cNvSpPr>
            <p:nvPr/>
          </p:nvSpPr>
          <p:spPr bwMode="auto">
            <a:xfrm>
              <a:off x="5373688" y="5857875"/>
              <a:ext cx="9890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Station 4</a:t>
              </a:r>
            </a:p>
          </p:txBody>
        </p:sp>
        <p:sp>
          <p:nvSpPr>
            <p:cNvPr id="34834" name="Rectangle 18"/>
            <p:cNvSpPr>
              <a:spLocks noChangeArrowheads="1"/>
            </p:cNvSpPr>
            <p:nvPr/>
          </p:nvSpPr>
          <p:spPr bwMode="auto">
            <a:xfrm>
              <a:off x="6072188" y="3324225"/>
              <a:ext cx="9461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Refinery</a:t>
              </a:r>
            </a:p>
          </p:txBody>
        </p:sp>
        <p:sp>
          <p:nvSpPr>
            <p:cNvPr id="34835" name="Line 19"/>
            <p:cNvSpPr>
              <a:spLocks noChangeShapeType="1"/>
            </p:cNvSpPr>
            <p:nvPr/>
          </p:nvSpPr>
          <p:spPr bwMode="auto">
            <a:xfrm flipV="1">
              <a:off x="1792288" y="2144713"/>
              <a:ext cx="1066800" cy="847725"/>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37" name="Line 21"/>
            <p:cNvSpPr>
              <a:spLocks noChangeShapeType="1"/>
            </p:cNvSpPr>
            <p:nvPr/>
          </p:nvSpPr>
          <p:spPr bwMode="auto">
            <a:xfrm>
              <a:off x="3824288" y="1724025"/>
              <a:ext cx="1333500" cy="28575"/>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38" name="Line 22"/>
            <p:cNvSpPr>
              <a:spLocks noChangeShapeType="1"/>
            </p:cNvSpPr>
            <p:nvPr/>
          </p:nvSpPr>
          <p:spPr bwMode="auto">
            <a:xfrm>
              <a:off x="3824288" y="5032375"/>
              <a:ext cx="1385887" cy="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39" name="Line 23"/>
            <p:cNvSpPr>
              <a:spLocks noChangeShapeType="1"/>
            </p:cNvSpPr>
            <p:nvPr/>
          </p:nvSpPr>
          <p:spPr bwMode="auto">
            <a:xfrm>
              <a:off x="6254750" y="1725613"/>
              <a:ext cx="1062038" cy="121920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40" name="Line 24"/>
            <p:cNvSpPr>
              <a:spLocks noChangeShapeType="1"/>
            </p:cNvSpPr>
            <p:nvPr/>
          </p:nvSpPr>
          <p:spPr bwMode="auto">
            <a:xfrm flipV="1">
              <a:off x="6294438" y="4027488"/>
              <a:ext cx="1069975" cy="1004887"/>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41" name="Line 25"/>
            <p:cNvSpPr>
              <a:spLocks noChangeShapeType="1"/>
            </p:cNvSpPr>
            <p:nvPr/>
          </p:nvSpPr>
          <p:spPr bwMode="auto">
            <a:xfrm>
              <a:off x="3705225" y="2066925"/>
              <a:ext cx="1755775" cy="2465388"/>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42" name="Line 26"/>
            <p:cNvSpPr>
              <a:spLocks noChangeShapeType="1"/>
            </p:cNvSpPr>
            <p:nvPr/>
          </p:nvSpPr>
          <p:spPr bwMode="auto">
            <a:xfrm flipV="1">
              <a:off x="3598863" y="2238375"/>
              <a:ext cx="1847850" cy="2386013"/>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43" name="Rectangle 27"/>
            <p:cNvSpPr>
              <a:spLocks noChangeArrowheads="1"/>
            </p:cNvSpPr>
            <p:nvPr/>
          </p:nvSpPr>
          <p:spPr bwMode="auto">
            <a:xfrm>
              <a:off x="1382713" y="3300413"/>
              <a:ext cx="30480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3399FF"/>
                  </a:solidFill>
                </a:rPr>
                <a:t>1</a:t>
              </a:r>
            </a:p>
          </p:txBody>
        </p:sp>
        <p:sp>
          <p:nvSpPr>
            <p:cNvPr id="34844" name="Rectangle 28"/>
            <p:cNvSpPr>
              <a:spLocks noChangeArrowheads="1"/>
            </p:cNvSpPr>
            <p:nvPr/>
          </p:nvSpPr>
          <p:spPr bwMode="auto">
            <a:xfrm>
              <a:off x="3176588" y="1573213"/>
              <a:ext cx="30480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3399FF"/>
                  </a:solidFill>
                </a:rPr>
                <a:t>2</a:t>
              </a:r>
            </a:p>
          </p:txBody>
        </p:sp>
        <p:sp>
          <p:nvSpPr>
            <p:cNvPr id="34845" name="Rectangle 29"/>
            <p:cNvSpPr>
              <a:spLocks noChangeArrowheads="1"/>
            </p:cNvSpPr>
            <p:nvPr/>
          </p:nvSpPr>
          <p:spPr bwMode="auto">
            <a:xfrm>
              <a:off x="3190875" y="4921250"/>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3399FF"/>
                  </a:solidFill>
                </a:rPr>
                <a:t>3</a:t>
              </a:r>
            </a:p>
          </p:txBody>
        </p:sp>
        <p:sp>
          <p:nvSpPr>
            <p:cNvPr id="34846" name="Rectangle 30"/>
            <p:cNvSpPr>
              <a:spLocks noChangeArrowheads="1"/>
            </p:cNvSpPr>
            <p:nvPr/>
          </p:nvSpPr>
          <p:spPr bwMode="auto">
            <a:xfrm>
              <a:off x="5622925" y="1492250"/>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3399FF"/>
                  </a:solidFill>
                </a:rPr>
                <a:t>4</a:t>
              </a:r>
            </a:p>
          </p:txBody>
        </p:sp>
        <p:sp>
          <p:nvSpPr>
            <p:cNvPr id="34847" name="Rectangle 31"/>
            <p:cNvSpPr>
              <a:spLocks noChangeArrowheads="1"/>
            </p:cNvSpPr>
            <p:nvPr/>
          </p:nvSpPr>
          <p:spPr bwMode="auto">
            <a:xfrm>
              <a:off x="5651500" y="4908550"/>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3399FF"/>
                  </a:solidFill>
                </a:rPr>
                <a:t>5</a:t>
              </a:r>
            </a:p>
          </p:txBody>
        </p:sp>
        <p:sp>
          <p:nvSpPr>
            <p:cNvPr id="34848" name="Rectangle 32"/>
            <p:cNvSpPr>
              <a:spLocks noChangeArrowheads="1"/>
            </p:cNvSpPr>
            <p:nvPr/>
          </p:nvSpPr>
          <p:spPr bwMode="auto">
            <a:xfrm>
              <a:off x="7459663" y="3302000"/>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3399FF"/>
                  </a:solidFill>
                </a:rPr>
                <a:t>6</a:t>
              </a:r>
            </a:p>
          </p:txBody>
        </p:sp>
        <p:sp>
          <p:nvSpPr>
            <p:cNvPr id="34849" name="Rectangle 33"/>
            <p:cNvSpPr>
              <a:spLocks noChangeArrowheads="1"/>
            </p:cNvSpPr>
            <p:nvPr/>
          </p:nvSpPr>
          <p:spPr bwMode="auto">
            <a:xfrm>
              <a:off x="2019300" y="2292350"/>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6</a:t>
              </a:r>
            </a:p>
          </p:txBody>
        </p:sp>
        <p:sp>
          <p:nvSpPr>
            <p:cNvPr id="34851" name="Rectangle 35"/>
            <p:cNvSpPr>
              <a:spLocks noChangeArrowheads="1"/>
            </p:cNvSpPr>
            <p:nvPr/>
          </p:nvSpPr>
          <p:spPr bwMode="auto">
            <a:xfrm>
              <a:off x="4292600" y="1395413"/>
              <a:ext cx="30480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3</a:t>
              </a:r>
            </a:p>
          </p:txBody>
        </p:sp>
        <p:sp>
          <p:nvSpPr>
            <p:cNvPr id="34852" name="Rectangle 36"/>
            <p:cNvSpPr>
              <a:spLocks noChangeArrowheads="1"/>
            </p:cNvSpPr>
            <p:nvPr/>
          </p:nvSpPr>
          <p:spPr bwMode="auto">
            <a:xfrm>
              <a:off x="6802438" y="2076450"/>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6</a:t>
              </a:r>
            </a:p>
          </p:txBody>
        </p:sp>
        <p:sp>
          <p:nvSpPr>
            <p:cNvPr id="34853" name="Rectangle 37"/>
            <p:cNvSpPr>
              <a:spLocks noChangeArrowheads="1"/>
            </p:cNvSpPr>
            <p:nvPr/>
          </p:nvSpPr>
          <p:spPr bwMode="auto">
            <a:xfrm>
              <a:off x="6748463" y="4579938"/>
              <a:ext cx="30480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4</a:t>
              </a:r>
            </a:p>
          </p:txBody>
        </p:sp>
        <p:sp>
          <p:nvSpPr>
            <p:cNvPr id="34854" name="Rectangle 38"/>
            <p:cNvSpPr>
              <a:spLocks noChangeArrowheads="1"/>
            </p:cNvSpPr>
            <p:nvPr/>
          </p:nvSpPr>
          <p:spPr bwMode="auto">
            <a:xfrm>
              <a:off x="4398963" y="5056188"/>
              <a:ext cx="30480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5</a:t>
              </a:r>
            </a:p>
          </p:txBody>
        </p:sp>
        <p:sp>
          <p:nvSpPr>
            <p:cNvPr id="34855" name="Rectangle 39"/>
            <p:cNvSpPr>
              <a:spLocks noChangeArrowheads="1"/>
            </p:cNvSpPr>
            <p:nvPr/>
          </p:nvSpPr>
          <p:spPr bwMode="auto">
            <a:xfrm>
              <a:off x="4013200" y="2225675"/>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2</a:t>
              </a:r>
            </a:p>
          </p:txBody>
        </p:sp>
        <p:sp>
          <p:nvSpPr>
            <p:cNvPr id="34857" name="Line 41"/>
            <p:cNvSpPr>
              <a:spLocks noChangeShapeType="1"/>
            </p:cNvSpPr>
            <p:nvPr/>
          </p:nvSpPr>
          <p:spPr bwMode="auto">
            <a:xfrm>
              <a:off x="7667625" y="3986213"/>
              <a:ext cx="0" cy="239712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58" name="Line 42"/>
            <p:cNvSpPr>
              <a:spLocks noChangeShapeType="1"/>
            </p:cNvSpPr>
            <p:nvPr/>
          </p:nvSpPr>
          <p:spPr bwMode="auto">
            <a:xfrm flipH="1">
              <a:off x="1581150" y="6381750"/>
              <a:ext cx="6088063"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59" name="Line 43"/>
            <p:cNvSpPr>
              <a:spLocks noChangeShapeType="1"/>
            </p:cNvSpPr>
            <p:nvPr/>
          </p:nvSpPr>
          <p:spPr bwMode="auto">
            <a:xfrm flipV="1">
              <a:off x="1581150" y="4016375"/>
              <a:ext cx="0" cy="2363788"/>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228600" y="241300"/>
            <a:ext cx="8458200" cy="596900"/>
          </a:xfrm>
          <a:noFill/>
          <a:ln/>
        </p:spPr>
        <p:txBody>
          <a:bodyPr lIns="92075" tIns="46038" rIns="92075" bIns="46038"/>
          <a:lstStyle/>
          <a:p>
            <a:r>
              <a:rPr lang="en-US" sz="3600" i="1">
                <a:solidFill>
                  <a:schemeClr val="hlink"/>
                </a:solidFill>
              </a:rPr>
              <a:t>Formulation of the Max Flow Problem</a:t>
            </a:r>
          </a:p>
        </p:txBody>
      </p:sp>
      <p:sp>
        <p:nvSpPr>
          <p:cNvPr id="36867" name="Rectangle 3"/>
          <p:cNvSpPr>
            <a:spLocks noGrp="1" noChangeArrowheads="1"/>
          </p:cNvSpPr>
          <p:nvPr>
            <p:ph type="body" idx="1"/>
          </p:nvPr>
        </p:nvSpPr>
        <p:spPr>
          <a:xfrm>
            <a:off x="668338" y="969963"/>
            <a:ext cx="7772400" cy="5049837"/>
          </a:xfrm>
          <a:noFill/>
          <a:ln/>
        </p:spPr>
        <p:txBody>
          <a:bodyPr lIns="92075" tIns="46038" rIns="92075" bIns="46038"/>
          <a:lstStyle/>
          <a:p>
            <a:pPr>
              <a:buFont typeface="Wingdings" pitchFamily="2" charset="2"/>
              <a:buNone/>
            </a:pPr>
            <a:r>
              <a:rPr lang="en-US" sz="2200" dirty="0"/>
              <a:t>MAX:		 X</a:t>
            </a:r>
            <a:r>
              <a:rPr lang="en-US" sz="2200" baseline="-25000" dirty="0"/>
              <a:t>61</a:t>
            </a:r>
            <a:endParaRPr lang="en-US" sz="2200" dirty="0"/>
          </a:p>
          <a:p>
            <a:pPr>
              <a:buFont typeface="Wingdings" pitchFamily="2" charset="2"/>
              <a:buNone/>
            </a:pPr>
            <a:r>
              <a:rPr lang="en-US" sz="2200" dirty="0"/>
              <a:t>Subject to:	+X</a:t>
            </a:r>
            <a:r>
              <a:rPr lang="en-US" sz="2200" baseline="-25000" dirty="0"/>
              <a:t>61</a:t>
            </a:r>
            <a:r>
              <a:rPr lang="en-US" sz="2200" dirty="0"/>
              <a:t> - X</a:t>
            </a:r>
            <a:r>
              <a:rPr lang="en-US" sz="2200" baseline="-25000" dirty="0"/>
              <a:t>12</a:t>
            </a:r>
            <a:r>
              <a:rPr lang="en-US" sz="2200" dirty="0"/>
              <a:t> - X</a:t>
            </a:r>
            <a:r>
              <a:rPr lang="en-US" sz="2200" baseline="-25000" dirty="0"/>
              <a:t>13</a:t>
            </a:r>
            <a:r>
              <a:rPr lang="en-US" sz="2200" dirty="0"/>
              <a:t> = 0</a:t>
            </a:r>
          </a:p>
          <a:p>
            <a:pPr>
              <a:buFont typeface="Wingdings" pitchFamily="2" charset="2"/>
              <a:buNone/>
            </a:pPr>
            <a:r>
              <a:rPr lang="en-US" sz="2200" dirty="0"/>
              <a:t>			+X</a:t>
            </a:r>
            <a:r>
              <a:rPr lang="en-US" sz="2200" baseline="-25000" dirty="0"/>
              <a:t>12</a:t>
            </a:r>
            <a:r>
              <a:rPr lang="en-US" sz="2200" dirty="0"/>
              <a:t> - X</a:t>
            </a:r>
            <a:r>
              <a:rPr lang="en-US" sz="2200" baseline="-25000" dirty="0"/>
              <a:t>24</a:t>
            </a:r>
            <a:r>
              <a:rPr lang="en-US" sz="2200" dirty="0"/>
              <a:t> - X</a:t>
            </a:r>
            <a:r>
              <a:rPr lang="en-US" sz="2200" baseline="-25000" dirty="0"/>
              <a:t>25</a:t>
            </a:r>
            <a:r>
              <a:rPr lang="en-US" sz="2200" dirty="0"/>
              <a:t> = 0</a:t>
            </a:r>
          </a:p>
          <a:p>
            <a:pPr>
              <a:buFont typeface="Wingdings" pitchFamily="2" charset="2"/>
              <a:buNone/>
            </a:pPr>
            <a:r>
              <a:rPr lang="en-US" sz="2200" dirty="0"/>
              <a:t>			+X</a:t>
            </a:r>
            <a:r>
              <a:rPr lang="en-US" sz="2200" baseline="-25000" dirty="0"/>
              <a:t>13</a:t>
            </a:r>
            <a:r>
              <a:rPr lang="en-US" sz="2200" dirty="0"/>
              <a:t> - X</a:t>
            </a:r>
            <a:r>
              <a:rPr lang="en-US" sz="2200" baseline="-25000" dirty="0"/>
              <a:t>34</a:t>
            </a:r>
            <a:r>
              <a:rPr lang="en-US" sz="2200" dirty="0"/>
              <a:t> - X</a:t>
            </a:r>
            <a:r>
              <a:rPr lang="en-US" sz="2200" baseline="-25000" dirty="0"/>
              <a:t>35</a:t>
            </a:r>
            <a:r>
              <a:rPr lang="en-US" sz="2200" dirty="0"/>
              <a:t> = 0</a:t>
            </a:r>
          </a:p>
          <a:p>
            <a:pPr>
              <a:buFont typeface="Wingdings" pitchFamily="2" charset="2"/>
              <a:buNone/>
            </a:pPr>
            <a:r>
              <a:rPr lang="en-US" sz="2200" dirty="0"/>
              <a:t>			+X</a:t>
            </a:r>
            <a:r>
              <a:rPr lang="en-US" sz="2200" baseline="-25000" dirty="0"/>
              <a:t>24</a:t>
            </a:r>
            <a:r>
              <a:rPr lang="en-US" sz="2200" dirty="0"/>
              <a:t> + X</a:t>
            </a:r>
            <a:r>
              <a:rPr lang="en-US" sz="2200" baseline="-25000" dirty="0"/>
              <a:t>34</a:t>
            </a:r>
            <a:r>
              <a:rPr lang="en-US" sz="2200" dirty="0"/>
              <a:t> - X</a:t>
            </a:r>
            <a:r>
              <a:rPr lang="en-US" sz="2200" baseline="-25000" dirty="0"/>
              <a:t>46</a:t>
            </a:r>
            <a:r>
              <a:rPr lang="en-US" sz="2200" dirty="0"/>
              <a:t> = 0</a:t>
            </a:r>
          </a:p>
          <a:p>
            <a:pPr>
              <a:buFont typeface="Wingdings" pitchFamily="2" charset="2"/>
              <a:buNone/>
            </a:pPr>
            <a:r>
              <a:rPr lang="en-US" sz="2200" dirty="0"/>
              <a:t>			+X</a:t>
            </a:r>
            <a:r>
              <a:rPr lang="en-US" sz="2200" baseline="-25000" dirty="0"/>
              <a:t>25</a:t>
            </a:r>
            <a:r>
              <a:rPr lang="en-US" sz="2200" dirty="0"/>
              <a:t> + X</a:t>
            </a:r>
            <a:r>
              <a:rPr lang="en-US" sz="2200" baseline="-25000" dirty="0"/>
              <a:t>35</a:t>
            </a:r>
            <a:r>
              <a:rPr lang="en-US" sz="2200" dirty="0"/>
              <a:t> - X</a:t>
            </a:r>
            <a:r>
              <a:rPr lang="en-US" sz="2200" baseline="-25000" dirty="0"/>
              <a:t>56</a:t>
            </a:r>
            <a:r>
              <a:rPr lang="en-US" sz="2200" dirty="0"/>
              <a:t> = 0</a:t>
            </a:r>
          </a:p>
          <a:p>
            <a:pPr>
              <a:buFont typeface="Wingdings" pitchFamily="2" charset="2"/>
              <a:buNone/>
            </a:pPr>
            <a:r>
              <a:rPr lang="en-US" sz="2200" dirty="0"/>
              <a:t>			+X</a:t>
            </a:r>
            <a:r>
              <a:rPr lang="en-US" sz="2200" baseline="-25000" dirty="0"/>
              <a:t>46</a:t>
            </a:r>
            <a:r>
              <a:rPr lang="en-US" sz="2200" dirty="0"/>
              <a:t> + X</a:t>
            </a:r>
            <a:r>
              <a:rPr lang="en-US" sz="2200" baseline="-25000" dirty="0"/>
              <a:t>56</a:t>
            </a:r>
            <a:r>
              <a:rPr lang="en-US" sz="2200" dirty="0"/>
              <a:t> - X</a:t>
            </a:r>
            <a:r>
              <a:rPr lang="en-US" sz="2200" baseline="-25000" dirty="0"/>
              <a:t>61</a:t>
            </a:r>
            <a:r>
              <a:rPr lang="en-US" sz="2200" dirty="0"/>
              <a:t> = 0</a:t>
            </a:r>
          </a:p>
          <a:p>
            <a:pPr>
              <a:buFont typeface="Wingdings" pitchFamily="2" charset="2"/>
              <a:buNone/>
            </a:pPr>
            <a:endParaRPr lang="en-US" sz="2200" dirty="0"/>
          </a:p>
          <a:p>
            <a:pPr algn="ctr">
              <a:buFont typeface="Wingdings" pitchFamily="2" charset="2"/>
              <a:buNone/>
            </a:pPr>
            <a:r>
              <a:rPr lang="en-US" sz="2200" dirty="0"/>
              <a:t>with the following bounds on the decision variables:</a:t>
            </a:r>
          </a:p>
          <a:p>
            <a:pPr>
              <a:buFont typeface="Wingdings" pitchFamily="2" charset="2"/>
              <a:buNone/>
            </a:pPr>
            <a:r>
              <a:rPr lang="en-US" sz="2200" dirty="0"/>
              <a:t>	0 &lt;= X</a:t>
            </a:r>
            <a:r>
              <a:rPr lang="en-US" sz="2200" baseline="-25000" dirty="0"/>
              <a:t>12</a:t>
            </a:r>
            <a:r>
              <a:rPr lang="en-US" sz="2200" dirty="0"/>
              <a:t> &lt;= 6	0 &lt;= X</a:t>
            </a:r>
            <a:r>
              <a:rPr lang="en-US" sz="2200" baseline="-25000" dirty="0"/>
              <a:t>25</a:t>
            </a:r>
            <a:r>
              <a:rPr lang="en-US" sz="2200" dirty="0"/>
              <a:t> &lt;= 2	0 &lt;= X</a:t>
            </a:r>
            <a:r>
              <a:rPr lang="en-US" sz="2200" baseline="-25000" dirty="0"/>
              <a:t>46</a:t>
            </a:r>
            <a:r>
              <a:rPr lang="en-US" sz="2200" dirty="0"/>
              <a:t> &lt;= 6</a:t>
            </a:r>
          </a:p>
          <a:p>
            <a:pPr>
              <a:buFont typeface="Wingdings" pitchFamily="2" charset="2"/>
              <a:buNone/>
            </a:pPr>
            <a:r>
              <a:rPr lang="en-US" sz="2200" dirty="0"/>
              <a:t>	0 &lt;= X</a:t>
            </a:r>
            <a:r>
              <a:rPr lang="en-US" sz="2200" baseline="-25000" dirty="0"/>
              <a:t>13</a:t>
            </a:r>
            <a:r>
              <a:rPr lang="en-US" sz="2200" dirty="0"/>
              <a:t> &lt;= 4	0 &lt;= X</a:t>
            </a:r>
            <a:r>
              <a:rPr lang="en-US" sz="2200" baseline="-25000" dirty="0"/>
              <a:t>34</a:t>
            </a:r>
            <a:r>
              <a:rPr lang="en-US" sz="2200" dirty="0"/>
              <a:t> &lt;= 2	0 &lt;= X</a:t>
            </a:r>
            <a:r>
              <a:rPr lang="en-US" sz="2200" baseline="-25000" dirty="0"/>
              <a:t>56</a:t>
            </a:r>
            <a:r>
              <a:rPr lang="en-US" sz="2200" dirty="0"/>
              <a:t> &lt;= 4</a:t>
            </a:r>
          </a:p>
          <a:p>
            <a:pPr>
              <a:buFont typeface="Wingdings" pitchFamily="2" charset="2"/>
              <a:buNone/>
            </a:pPr>
            <a:r>
              <a:rPr lang="en-US" sz="2200" dirty="0"/>
              <a:t>	0 &lt;= X</a:t>
            </a:r>
            <a:r>
              <a:rPr lang="en-US" sz="2200" baseline="-25000" dirty="0"/>
              <a:t>24</a:t>
            </a:r>
            <a:r>
              <a:rPr lang="en-US" sz="2200" dirty="0"/>
              <a:t> &lt;= 3	0 &lt;= X</a:t>
            </a:r>
            <a:r>
              <a:rPr lang="en-US" sz="2200" baseline="-25000" dirty="0"/>
              <a:t>35</a:t>
            </a:r>
            <a:r>
              <a:rPr lang="en-US" sz="2200" dirty="0"/>
              <a:t> &lt;= 5	0 &lt;= X</a:t>
            </a:r>
            <a:r>
              <a:rPr lang="en-US" sz="2200" baseline="-25000" dirty="0"/>
              <a:t>61</a:t>
            </a:r>
            <a:r>
              <a:rPr lang="en-US" sz="2200" dirty="0"/>
              <a:t> &lt;= inf </a:t>
            </a:r>
          </a:p>
          <a:p>
            <a:pPr>
              <a:buFont typeface="Wingdings" pitchFamily="2" charset="2"/>
              <a:buNone/>
            </a:pPr>
            <a:endParaRPr lang="en-US" sz="2200" dirty="0"/>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a:ln/>
        </p:spPr>
        <p:txBody>
          <a:bodyPr lIns="92075" tIns="46038" rIns="92075" bIns="46038"/>
          <a:lstStyle/>
          <a:p>
            <a:r>
              <a:rPr lang="en-US" sz="4000" i="1" dirty="0">
                <a:solidFill>
                  <a:schemeClr val="hlink"/>
                </a:solidFill>
              </a:rPr>
              <a:t>Implementing the Model</a:t>
            </a:r>
          </a:p>
        </p:txBody>
      </p:sp>
      <p:sp>
        <p:nvSpPr>
          <p:cNvPr id="37891" name="Rectangle 3"/>
          <p:cNvSpPr>
            <a:spLocks noGrp="1" noChangeArrowheads="1"/>
          </p:cNvSpPr>
          <p:nvPr>
            <p:ph type="body" idx="1"/>
          </p:nvPr>
        </p:nvSpPr>
        <p:spPr>
          <a:noFill/>
          <a:ln/>
        </p:spPr>
        <p:txBody>
          <a:bodyPr lIns="92075" tIns="46038" rIns="92075" bIns="46038"/>
          <a:lstStyle/>
          <a:p>
            <a:pPr algn="ctr">
              <a:buFont typeface="Wingdings" pitchFamily="2" charset="2"/>
              <a:buNone/>
            </a:pPr>
            <a:r>
              <a:rPr lang="en-US" dirty="0"/>
              <a:t>See file </a:t>
            </a:r>
            <a:r>
              <a:rPr lang="en-US" dirty="0">
                <a:hlinkClick r:id="rId3" action="ppaction://hlinkfile"/>
              </a:rPr>
              <a:t>Fig5-26.xlsm</a:t>
            </a:r>
            <a:r>
              <a:rPr lang="en-US" dirty="0"/>
              <a:t> </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85800" y="152400"/>
            <a:ext cx="7772400" cy="514350"/>
          </a:xfrm>
          <a:noFill/>
          <a:ln/>
        </p:spPr>
        <p:txBody>
          <a:bodyPr lIns="92075" tIns="46038" rIns="92075" bIns="46038"/>
          <a:lstStyle/>
          <a:p>
            <a:r>
              <a:rPr lang="en-US" sz="4000" i="1">
                <a:solidFill>
                  <a:schemeClr val="hlink"/>
                </a:solidFill>
              </a:rPr>
              <a:t>Optimal Solution</a:t>
            </a:r>
          </a:p>
        </p:txBody>
      </p:sp>
      <p:sp>
        <p:nvSpPr>
          <p:cNvPr id="38915" name="Freeform 3"/>
          <p:cNvSpPr>
            <a:spLocks/>
          </p:cNvSpPr>
          <p:nvPr/>
        </p:nvSpPr>
        <p:spPr bwMode="auto">
          <a:xfrm>
            <a:off x="1141413" y="3127375"/>
            <a:ext cx="931862" cy="941388"/>
          </a:xfrm>
          <a:custGeom>
            <a:avLst/>
            <a:gdLst>
              <a:gd name="T0" fmla="*/ 586 w 587"/>
              <a:gd name="T1" fmla="*/ 296 h 593"/>
              <a:gd name="T2" fmla="*/ 579 w 587"/>
              <a:gd name="T3" fmla="*/ 236 h 593"/>
              <a:gd name="T4" fmla="*/ 562 w 587"/>
              <a:gd name="T5" fmla="*/ 180 h 593"/>
              <a:gd name="T6" fmla="*/ 535 w 587"/>
              <a:gd name="T7" fmla="*/ 130 h 593"/>
              <a:gd name="T8" fmla="*/ 499 w 587"/>
              <a:gd name="T9" fmla="*/ 86 h 593"/>
              <a:gd name="T10" fmla="*/ 456 w 587"/>
              <a:gd name="T11" fmla="*/ 50 h 593"/>
              <a:gd name="T12" fmla="*/ 407 w 587"/>
              <a:gd name="T13" fmla="*/ 23 h 593"/>
              <a:gd name="T14" fmla="*/ 352 w 587"/>
              <a:gd name="T15" fmla="*/ 6 h 593"/>
              <a:gd name="T16" fmla="*/ 293 w 587"/>
              <a:gd name="T17" fmla="*/ 0 h 593"/>
              <a:gd name="T18" fmla="*/ 233 w 587"/>
              <a:gd name="T19" fmla="*/ 6 h 593"/>
              <a:gd name="T20" fmla="*/ 178 w 587"/>
              <a:gd name="T21" fmla="*/ 23 h 593"/>
              <a:gd name="T22" fmla="*/ 129 w 587"/>
              <a:gd name="T23" fmla="*/ 50 h 593"/>
              <a:gd name="T24" fmla="*/ 86 w 587"/>
              <a:gd name="T25" fmla="*/ 86 h 593"/>
              <a:gd name="T26" fmla="*/ 50 w 587"/>
              <a:gd name="T27" fmla="*/ 130 h 593"/>
              <a:gd name="T28" fmla="*/ 23 w 587"/>
              <a:gd name="T29" fmla="*/ 180 h 593"/>
              <a:gd name="T30" fmla="*/ 6 w 587"/>
              <a:gd name="T31" fmla="*/ 236 h 593"/>
              <a:gd name="T32" fmla="*/ 0 w 587"/>
              <a:gd name="T33" fmla="*/ 296 h 593"/>
              <a:gd name="T34" fmla="*/ 6 w 587"/>
              <a:gd name="T35" fmla="*/ 355 h 593"/>
              <a:gd name="T36" fmla="*/ 23 w 587"/>
              <a:gd name="T37" fmla="*/ 411 h 593"/>
              <a:gd name="T38" fmla="*/ 50 w 587"/>
              <a:gd name="T39" fmla="*/ 461 h 593"/>
              <a:gd name="T40" fmla="*/ 86 w 587"/>
              <a:gd name="T41" fmla="*/ 505 h 593"/>
              <a:gd name="T42" fmla="*/ 129 w 587"/>
              <a:gd name="T43" fmla="*/ 541 h 593"/>
              <a:gd name="T44" fmla="*/ 178 w 587"/>
              <a:gd name="T45" fmla="*/ 568 h 593"/>
              <a:gd name="T46" fmla="*/ 233 w 587"/>
              <a:gd name="T47" fmla="*/ 585 h 593"/>
              <a:gd name="T48" fmla="*/ 293 w 587"/>
              <a:gd name="T49" fmla="*/ 592 h 593"/>
              <a:gd name="T50" fmla="*/ 352 w 587"/>
              <a:gd name="T51" fmla="*/ 585 h 593"/>
              <a:gd name="T52" fmla="*/ 407 w 587"/>
              <a:gd name="T53" fmla="*/ 568 h 593"/>
              <a:gd name="T54" fmla="*/ 456 w 587"/>
              <a:gd name="T55" fmla="*/ 541 h 593"/>
              <a:gd name="T56" fmla="*/ 499 w 587"/>
              <a:gd name="T57" fmla="*/ 505 h 593"/>
              <a:gd name="T58" fmla="*/ 535 w 587"/>
              <a:gd name="T59" fmla="*/ 461 h 593"/>
              <a:gd name="T60" fmla="*/ 562 w 587"/>
              <a:gd name="T61" fmla="*/ 411 h 593"/>
              <a:gd name="T62" fmla="*/ 579 w 587"/>
              <a:gd name="T63" fmla="*/ 355 h 593"/>
              <a:gd name="T64" fmla="*/ 586 w 587"/>
              <a:gd name="T65" fmla="*/ 296 h 593"/>
              <a:gd name="T66" fmla="*/ 586 w 587"/>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7" h="593">
                <a:moveTo>
                  <a:pt x="586" y="296"/>
                </a:moveTo>
                <a:lnTo>
                  <a:pt x="579" y="236"/>
                </a:lnTo>
                <a:lnTo>
                  <a:pt x="562" y="180"/>
                </a:lnTo>
                <a:lnTo>
                  <a:pt x="535" y="130"/>
                </a:lnTo>
                <a:lnTo>
                  <a:pt x="499" y="86"/>
                </a:lnTo>
                <a:lnTo>
                  <a:pt x="456" y="50"/>
                </a:lnTo>
                <a:lnTo>
                  <a:pt x="407" y="23"/>
                </a:lnTo>
                <a:lnTo>
                  <a:pt x="352" y="6"/>
                </a:lnTo>
                <a:lnTo>
                  <a:pt x="293" y="0"/>
                </a:lnTo>
                <a:lnTo>
                  <a:pt x="233" y="6"/>
                </a:lnTo>
                <a:lnTo>
                  <a:pt x="178" y="23"/>
                </a:lnTo>
                <a:lnTo>
                  <a:pt x="129" y="50"/>
                </a:lnTo>
                <a:lnTo>
                  <a:pt x="86" y="86"/>
                </a:lnTo>
                <a:lnTo>
                  <a:pt x="50" y="130"/>
                </a:lnTo>
                <a:lnTo>
                  <a:pt x="23" y="180"/>
                </a:lnTo>
                <a:lnTo>
                  <a:pt x="6" y="236"/>
                </a:lnTo>
                <a:lnTo>
                  <a:pt x="0" y="296"/>
                </a:lnTo>
                <a:lnTo>
                  <a:pt x="6" y="355"/>
                </a:lnTo>
                <a:lnTo>
                  <a:pt x="23" y="411"/>
                </a:lnTo>
                <a:lnTo>
                  <a:pt x="50" y="461"/>
                </a:lnTo>
                <a:lnTo>
                  <a:pt x="86" y="505"/>
                </a:lnTo>
                <a:lnTo>
                  <a:pt x="129" y="541"/>
                </a:lnTo>
                <a:lnTo>
                  <a:pt x="178" y="568"/>
                </a:lnTo>
                <a:lnTo>
                  <a:pt x="233" y="585"/>
                </a:lnTo>
                <a:lnTo>
                  <a:pt x="293" y="592"/>
                </a:lnTo>
                <a:lnTo>
                  <a:pt x="352" y="585"/>
                </a:lnTo>
                <a:lnTo>
                  <a:pt x="407" y="568"/>
                </a:lnTo>
                <a:lnTo>
                  <a:pt x="456" y="541"/>
                </a:lnTo>
                <a:lnTo>
                  <a:pt x="499" y="505"/>
                </a:lnTo>
                <a:lnTo>
                  <a:pt x="535" y="461"/>
                </a:lnTo>
                <a:lnTo>
                  <a:pt x="562" y="411"/>
                </a:lnTo>
                <a:lnTo>
                  <a:pt x="579" y="355"/>
                </a:lnTo>
                <a:lnTo>
                  <a:pt x="586" y="296"/>
                </a:lnTo>
                <a:lnTo>
                  <a:pt x="586"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16" name="Freeform 4"/>
          <p:cNvSpPr>
            <a:spLocks/>
          </p:cNvSpPr>
          <p:nvPr/>
        </p:nvSpPr>
        <p:spPr bwMode="auto">
          <a:xfrm>
            <a:off x="2881313" y="1481138"/>
            <a:ext cx="931862" cy="939800"/>
          </a:xfrm>
          <a:custGeom>
            <a:avLst/>
            <a:gdLst>
              <a:gd name="T0" fmla="*/ 586 w 587"/>
              <a:gd name="T1" fmla="*/ 296 h 592"/>
              <a:gd name="T2" fmla="*/ 580 w 587"/>
              <a:gd name="T3" fmla="*/ 236 h 592"/>
              <a:gd name="T4" fmla="*/ 563 w 587"/>
              <a:gd name="T5" fmla="*/ 180 h 592"/>
              <a:gd name="T6" fmla="*/ 535 w 587"/>
              <a:gd name="T7" fmla="*/ 130 h 592"/>
              <a:gd name="T8" fmla="*/ 500 w 587"/>
              <a:gd name="T9" fmla="*/ 86 h 592"/>
              <a:gd name="T10" fmla="*/ 457 w 587"/>
              <a:gd name="T11" fmla="*/ 50 h 592"/>
              <a:gd name="T12" fmla="*/ 407 w 587"/>
              <a:gd name="T13" fmla="*/ 23 h 592"/>
              <a:gd name="T14" fmla="*/ 352 w 587"/>
              <a:gd name="T15" fmla="*/ 6 h 592"/>
              <a:gd name="T16" fmla="*/ 293 w 587"/>
              <a:gd name="T17" fmla="*/ 0 h 592"/>
              <a:gd name="T18" fmla="*/ 234 w 587"/>
              <a:gd name="T19" fmla="*/ 6 h 592"/>
              <a:gd name="T20" fmla="*/ 179 w 587"/>
              <a:gd name="T21" fmla="*/ 23 h 592"/>
              <a:gd name="T22" fmla="*/ 129 w 587"/>
              <a:gd name="T23" fmla="*/ 50 h 592"/>
              <a:gd name="T24" fmla="*/ 86 w 587"/>
              <a:gd name="T25" fmla="*/ 86 h 592"/>
              <a:gd name="T26" fmla="*/ 50 w 587"/>
              <a:gd name="T27" fmla="*/ 130 h 592"/>
              <a:gd name="T28" fmla="*/ 23 w 587"/>
              <a:gd name="T29" fmla="*/ 180 h 592"/>
              <a:gd name="T30" fmla="*/ 6 w 587"/>
              <a:gd name="T31" fmla="*/ 236 h 592"/>
              <a:gd name="T32" fmla="*/ 0 w 587"/>
              <a:gd name="T33" fmla="*/ 296 h 592"/>
              <a:gd name="T34" fmla="*/ 6 w 587"/>
              <a:gd name="T35" fmla="*/ 355 h 592"/>
              <a:gd name="T36" fmla="*/ 23 w 587"/>
              <a:gd name="T37" fmla="*/ 411 h 592"/>
              <a:gd name="T38" fmla="*/ 50 w 587"/>
              <a:gd name="T39" fmla="*/ 461 h 592"/>
              <a:gd name="T40" fmla="*/ 86 w 587"/>
              <a:gd name="T41" fmla="*/ 505 h 592"/>
              <a:gd name="T42" fmla="*/ 129 w 587"/>
              <a:gd name="T43" fmla="*/ 541 h 592"/>
              <a:gd name="T44" fmla="*/ 179 w 587"/>
              <a:gd name="T45" fmla="*/ 568 h 592"/>
              <a:gd name="T46" fmla="*/ 234 w 587"/>
              <a:gd name="T47" fmla="*/ 585 h 592"/>
              <a:gd name="T48" fmla="*/ 293 w 587"/>
              <a:gd name="T49" fmla="*/ 591 h 592"/>
              <a:gd name="T50" fmla="*/ 352 w 587"/>
              <a:gd name="T51" fmla="*/ 585 h 592"/>
              <a:gd name="T52" fmla="*/ 407 w 587"/>
              <a:gd name="T53" fmla="*/ 568 h 592"/>
              <a:gd name="T54" fmla="*/ 457 w 587"/>
              <a:gd name="T55" fmla="*/ 541 h 592"/>
              <a:gd name="T56" fmla="*/ 500 w 587"/>
              <a:gd name="T57" fmla="*/ 505 h 592"/>
              <a:gd name="T58" fmla="*/ 535 w 587"/>
              <a:gd name="T59" fmla="*/ 461 h 592"/>
              <a:gd name="T60" fmla="*/ 563 w 587"/>
              <a:gd name="T61" fmla="*/ 411 h 592"/>
              <a:gd name="T62" fmla="*/ 580 w 587"/>
              <a:gd name="T63" fmla="*/ 355 h 592"/>
              <a:gd name="T64" fmla="*/ 586 w 587"/>
              <a:gd name="T65" fmla="*/ 296 h 592"/>
              <a:gd name="T66" fmla="*/ 586 w 587"/>
              <a:gd name="T67" fmla="*/ 296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7" h="592">
                <a:moveTo>
                  <a:pt x="586" y="296"/>
                </a:moveTo>
                <a:lnTo>
                  <a:pt x="580" y="236"/>
                </a:lnTo>
                <a:lnTo>
                  <a:pt x="563" y="180"/>
                </a:lnTo>
                <a:lnTo>
                  <a:pt x="535" y="130"/>
                </a:lnTo>
                <a:lnTo>
                  <a:pt x="500" y="86"/>
                </a:lnTo>
                <a:lnTo>
                  <a:pt x="457" y="50"/>
                </a:lnTo>
                <a:lnTo>
                  <a:pt x="407" y="23"/>
                </a:lnTo>
                <a:lnTo>
                  <a:pt x="352" y="6"/>
                </a:lnTo>
                <a:lnTo>
                  <a:pt x="293" y="0"/>
                </a:lnTo>
                <a:lnTo>
                  <a:pt x="234" y="6"/>
                </a:lnTo>
                <a:lnTo>
                  <a:pt x="179" y="23"/>
                </a:lnTo>
                <a:lnTo>
                  <a:pt x="129" y="50"/>
                </a:lnTo>
                <a:lnTo>
                  <a:pt x="86" y="86"/>
                </a:lnTo>
                <a:lnTo>
                  <a:pt x="50" y="130"/>
                </a:lnTo>
                <a:lnTo>
                  <a:pt x="23" y="180"/>
                </a:lnTo>
                <a:lnTo>
                  <a:pt x="6" y="236"/>
                </a:lnTo>
                <a:lnTo>
                  <a:pt x="0" y="296"/>
                </a:lnTo>
                <a:lnTo>
                  <a:pt x="6" y="355"/>
                </a:lnTo>
                <a:lnTo>
                  <a:pt x="23" y="411"/>
                </a:lnTo>
                <a:lnTo>
                  <a:pt x="50" y="461"/>
                </a:lnTo>
                <a:lnTo>
                  <a:pt x="86" y="505"/>
                </a:lnTo>
                <a:lnTo>
                  <a:pt x="129" y="541"/>
                </a:lnTo>
                <a:lnTo>
                  <a:pt x="179" y="568"/>
                </a:lnTo>
                <a:lnTo>
                  <a:pt x="234" y="585"/>
                </a:lnTo>
                <a:lnTo>
                  <a:pt x="293" y="591"/>
                </a:lnTo>
                <a:lnTo>
                  <a:pt x="352" y="585"/>
                </a:lnTo>
                <a:lnTo>
                  <a:pt x="407" y="568"/>
                </a:lnTo>
                <a:lnTo>
                  <a:pt x="457" y="541"/>
                </a:lnTo>
                <a:lnTo>
                  <a:pt x="500" y="505"/>
                </a:lnTo>
                <a:lnTo>
                  <a:pt x="535" y="461"/>
                </a:lnTo>
                <a:lnTo>
                  <a:pt x="563" y="411"/>
                </a:lnTo>
                <a:lnTo>
                  <a:pt x="580" y="355"/>
                </a:lnTo>
                <a:lnTo>
                  <a:pt x="586" y="296"/>
                </a:lnTo>
                <a:lnTo>
                  <a:pt x="586"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17" name="Freeform 5"/>
          <p:cNvSpPr>
            <a:spLocks/>
          </p:cNvSpPr>
          <p:nvPr/>
        </p:nvSpPr>
        <p:spPr bwMode="auto">
          <a:xfrm>
            <a:off x="2894013" y="4732338"/>
            <a:ext cx="931862" cy="941387"/>
          </a:xfrm>
          <a:custGeom>
            <a:avLst/>
            <a:gdLst>
              <a:gd name="T0" fmla="*/ 586 w 587"/>
              <a:gd name="T1" fmla="*/ 296 h 593"/>
              <a:gd name="T2" fmla="*/ 580 w 587"/>
              <a:gd name="T3" fmla="*/ 237 h 593"/>
              <a:gd name="T4" fmla="*/ 563 w 587"/>
              <a:gd name="T5" fmla="*/ 181 h 593"/>
              <a:gd name="T6" fmla="*/ 536 w 587"/>
              <a:gd name="T7" fmla="*/ 131 h 593"/>
              <a:gd name="T8" fmla="*/ 500 w 587"/>
              <a:gd name="T9" fmla="*/ 87 h 593"/>
              <a:gd name="T10" fmla="*/ 457 w 587"/>
              <a:gd name="T11" fmla="*/ 51 h 593"/>
              <a:gd name="T12" fmla="*/ 407 w 587"/>
              <a:gd name="T13" fmla="*/ 24 h 593"/>
              <a:gd name="T14" fmla="*/ 352 w 587"/>
              <a:gd name="T15" fmla="*/ 6 h 593"/>
              <a:gd name="T16" fmla="*/ 293 w 587"/>
              <a:gd name="T17" fmla="*/ 0 h 593"/>
              <a:gd name="T18" fmla="*/ 234 w 587"/>
              <a:gd name="T19" fmla="*/ 6 h 593"/>
              <a:gd name="T20" fmla="*/ 179 w 587"/>
              <a:gd name="T21" fmla="*/ 24 h 593"/>
              <a:gd name="T22" fmla="*/ 129 w 587"/>
              <a:gd name="T23" fmla="*/ 51 h 593"/>
              <a:gd name="T24" fmla="*/ 86 w 587"/>
              <a:gd name="T25" fmla="*/ 87 h 593"/>
              <a:gd name="T26" fmla="*/ 50 w 587"/>
              <a:gd name="T27" fmla="*/ 131 h 593"/>
              <a:gd name="T28" fmla="*/ 23 w 587"/>
              <a:gd name="T29" fmla="*/ 181 h 593"/>
              <a:gd name="T30" fmla="*/ 6 w 587"/>
              <a:gd name="T31" fmla="*/ 237 h 593"/>
              <a:gd name="T32" fmla="*/ 0 w 587"/>
              <a:gd name="T33" fmla="*/ 296 h 593"/>
              <a:gd name="T34" fmla="*/ 6 w 587"/>
              <a:gd name="T35" fmla="*/ 356 h 593"/>
              <a:gd name="T36" fmla="*/ 23 w 587"/>
              <a:gd name="T37" fmla="*/ 411 h 593"/>
              <a:gd name="T38" fmla="*/ 50 w 587"/>
              <a:gd name="T39" fmla="*/ 461 h 593"/>
              <a:gd name="T40" fmla="*/ 86 w 587"/>
              <a:gd name="T41" fmla="*/ 505 h 593"/>
              <a:gd name="T42" fmla="*/ 129 w 587"/>
              <a:gd name="T43" fmla="*/ 541 h 593"/>
              <a:gd name="T44" fmla="*/ 179 w 587"/>
              <a:gd name="T45" fmla="*/ 569 h 593"/>
              <a:gd name="T46" fmla="*/ 234 w 587"/>
              <a:gd name="T47" fmla="*/ 586 h 593"/>
              <a:gd name="T48" fmla="*/ 293 w 587"/>
              <a:gd name="T49" fmla="*/ 592 h 593"/>
              <a:gd name="T50" fmla="*/ 352 w 587"/>
              <a:gd name="T51" fmla="*/ 586 h 593"/>
              <a:gd name="T52" fmla="*/ 407 w 587"/>
              <a:gd name="T53" fmla="*/ 569 h 593"/>
              <a:gd name="T54" fmla="*/ 457 w 587"/>
              <a:gd name="T55" fmla="*/ 541 h 593"/>
              <a:gd name="T56" fmla="*/ 500 w 587"/>
              <a:gd name="T57" fmla="*/ 505 h 593"/>
              <a:gd name="T58" fmla="*/ 536 w 587"/>
              <a:gd name="T59" fmla="*/ 461 h 593"/>
              <a:gd name="T60" fmla="*/ 563 w 587"/>
              <a:gd name="T61" fmla="*/ 411 h 593"/>
              <a:gd name="T62" fmla="*/ 580 w 587"/>
              <a:gd name="T63" fmla="*/ 356 h 593"/>
              <a:gd name="T64" fmla="*/ 586 w 587"/>
              <a:gd name="T65" fmla="*/ 296 h 593"/>
              <a:gd name="T66" fmla="*/ 586 w 587"/>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7" h="593">
                <a:moveTo>
                  <a:pt x="586" y="296"/>
                </a:moveTo>
                <a:lnTo>
                  <a:pt x="580" y="237"/>
                </a:lnTo>
                <a:lnTo>
                  <a:pt x="563" y="181"/>
                </a:lnTo>
                <a:lnTo>
                  <a:pt x="536" y="131"/>
                </a:lnTo>
                <a:lnTo>
                  <a:pt x="500" y="87"/>
                </a:lnTo>
                <a:lnTo>
                  <a:pt x="457" y="51"/>
                </a:lnTo>
                <a:lnTo>
                  <a:pt x="407" y="24"/>
                </a:lnTo>
                <a:lnTo>
                  <a:pt x="352" y="6"/>
                </a:lnTo>
                <a:lnTo>
                  <a:pt x="293" y="0"/>
                </a:lnTo>
                <a:lnTo>
                  <a:pt x="234" y="6"/>
                </a:lnTo>
                <a:lnTo>
                  <a:pt x="179" y="24"/>
                </a:lnTo>
                <a:lnTo>
                  <a:pt x="129" y="51"/>
                </a:lnTo>
                <a:lnTo>
                  <a:pt x="86" y="87"/>
                </a:lnTo>
                <a:lnTo>
                  <a:pt x="50" y="131"/>
                </a:lnTo>
                <a:lnTo>
                  <a:pt x="23" y="181"/>
                </a:lnTo>
                <a:lnTo>
                  <a:pt x="6" y="237"/>
                </a:lnTo>
                <a:lnTo>
                  <a:pt x="0" y="296"/>
                </a:lnTo>
                <a:lnTo>
                  <a:pt x="6" y="356"/>
                </a:lnTo>
                <a:lnTo>
                  <a:pt x="23" y="411"/>
                </a:lnTo>
                <a:lnTo>
                  <a:pt x="50" y="461"/>
                </a:lnTo>
                <a:lnTo>
                  <a:pt x="86" y="505"/>
                </a:lnTo>
                <a:lnTo>
                  <a:pt x="129" y="541"/>
                </a:lnTo>
                <a:lnTo>
                  <a:pt x="179" y="569"/>
                </a:lnTo>
                <a:lnTo>
                  <a:pt x="234" y="586"/>
                </a:lnTo>
                <a:lnTo>
                  <a:pt x="293" y="592"/>
                </a:lnTo>
                <a:lnTo>
                  <a:pt x="352" y="586"/>
                </a:lnTo>
                <a:lnTo>
                  <a:pt x="407" y="569"/>
                </a:lnTo>
                <a:lnTo>
                  <a:pt x="457" y="541"/>
                </a:lnTo>
                <a:lnTo>
                  <a:pt x="500" y="505"/>
                </a:lnTo>
                <a:lnTo>
                  <a:pt x="536" y="461"/>
                </a:lnTo>
                <a:lnTo>
                  <a:pt x="563" y="411"/>
                </a:lnTo>
                <a:lnTo>
                  <a:pt x="580" y="356"/>
                </a:lnTo>
                <a:lnTo>
                  <a:pt x="586" y="296"/>
                </a:lnTo>
                <a:lnTo>
                  <a:pt x="586"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18" name="Freeform 6"/>
          <p:cNvSpPr>
            <a:spLocks/>
          </p:cNvSpPr>
          <p:nvPr/>
        </p:nvSpPr>
        <p:spPr bwMode="auto">
          <a:xfrm>
            <a:off x="5365750" y="4746625"/>
            <a:ext cx="931863" cy="941388"/>
          </a:xfrm>
          <a:custGeom>
            <a:avLst/>
            <a:gdLst>
              <a:gd name="T0" fmla="*/ 586 w 587"/>
              <a:gd name="T1" fmla="*/ 296 h 593"/>
              <a:gd name="T2" fmla="*/ 580 w 587"/>
              <a:gd name="T3" fmla="*/ 236 h 593"/>
              <a:gd name="T4" fmla="*/ 562 w 587"/>
              <a:gd name="T5" fmla="*/ 181 h 593"/>
              <a:gd name="T6" fmla="*/ 535 w 587"/>
              <a:gd name="T7" fmla="*/ 131 h 593"/>
              <a:gd name="T8" fmla="*/ 500 w 587"/>
              <a:gd name="T9" fmla="*/ 87 h 593"/>
              <a:gd name="T10" fmla="*/ 456 w 587"/>
              <a:gd name="T11" fmla="*/ 51 h 593"/>
              <a:gd name="T12" fmla="*/ 407 w 587"/>
              <a:gd name="T13" fmla="*/ 23 h 593"/>
              <a:gd name="T14" fmla="*/ 352 w 587"/>
              <a:gd name="T15" fmla="*/ 6 h 593"/>
              <a:gd name="T16" fmla="*/ 293 w 587"/>
              <a:gd name="T17" fmla="*/ 0 h 593"/>
              <a:gd name="T18" fmla="*/ 234 w 587"/>
              <a:gd name="T19" fmla="*/ 6 h 593"/>
              <a:gd name="T20" fmla="*/ 179 w 587"/>
              <a:gd name="T21" fmla="*/ 23 h 593"/>
              <a:gd name="T22" fmla="*/ 129 w 587"/>
              <a:gd name="T23" fmla="*/ 51 h 593"/>
              <a:gd name="T24" fmla="*/ 86 w 587"/>
              <a:gd name="T25" fmla="*/ 87 h 593"/>
              <a:gd name="T26" fmla="*/ 50 w 587"/>
              <a:gd name="T27" fmla="*/ 131 h 593"/>
              <a:gd name="T28" fmla="*/ 23 w 587"/>
              <a:gd name="T29" fmla="*/ 181 h 593"/>
              <a:gd name="T30" fmla="*/ 6 w 587"/>
              <a:gd name="T31" fmla="*/ 236 h 593"/>
              <a:gd name="T32" fmla="*/ 0 w 587"/>
              <a:gd name="T33" fmla="*/ 296 h 593"/>
              <a:gd name="T34" fmla="*/ 6 w 587"/>
              <a:gd name="T35" fmla="*/ 355 h 593"/>
              <a:gd name="T36" fmla="*/ 23 w 587"/>
              <a:gd name="T37" fmla="*/ 411 h 593"/>
              <a:gd name="T38" fmla="*/ 50 w 587"/>
              <a:gd name="T39" fmla="*/ 461 h 593"/>
              <a:gd name="T40" fmla="*/ 86 w 587"/>
              <a:gd name="T41" fmla="*/ 505 h 593"/>
              <a:gd name="T42" fmla="*/ 129 w 587"/>
              <a:gd name="T43" fmla="*/ 541 h 593"/>
              <a:gd name="T44" fmla="*/ 179 w 587"/>
              <a:gd name="T45" fmla="*/ 568 h 593"/>
              <a:gd name="T46" fmla="*/ 234 w 587"/>
              <a:gd name="T47" fmla="*/ 586 h 593"/>
              <a:gd name="T48" fmla="*/ 293 w 587"/>
              <a:gd name="T49" fmla="*/ 592 h 593"/>
              <a:gd name="T50" fmla="*/ 352 w 587"/>
              <a:gd name="T51" fmla="*/ 586 h 593"/>
              <a:gd name="T52" fmla="*/ 407 w 587"/>
              <a:gd name="T53" fmla="*/ 568 h 593"/>
              <a:gd name="T54" fmla="*/ 456 w 587"/>
              <a:gd name="T55" fmla="*/ 541 h 593"/>
              <a:gd name="T56" fmla="*/ 500 w 587"/>
              <a:gd name="T57" fmla="*/ 505 h 593"/>
              <a:gd name="T58" fmla="*/ 535 w 587"/>
              <a:gd name="T59" fmla="*/ 461 h 593"/>
              <a:gd name="T60" fmla="*/ 562 w 587"/>
              <a:gd name="T61" fmla="*/ 411 h 593"/>
              <a:gd name="T62" fmla="*/ 580 w 587"/>
              <a:gd name="T63" fmla="*/ 355 h 593"/>
              <a:gd name="T64" fmla="*/ 586 w 587"/>
              <a:gd name="T65" fmla="*/ 296 h 593"/>
              <a:gd name="T66" fmla="*/ 586 w 587"/>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7" h="593">
                <a:moveTo>
                  <a:pt x="586" y="296"/>
                </a:moveTo>
                <a:lnTo>
                  <a:pt x="580" y="236"/>
                </a:lnTo>
                <a:lnTo>
                  <a:pt x="562" y="181"/>
                </a:lnTo>
                <a:lnTo>
                  <a:pt x="535" y="131"/>
                </a:lnTo>
                <a:lnTo>
                  <a:pt x="500" y="87"/>
                </a:lnTo>
                <a:lnTo>
                  <a:pt x="456" y="51"/>
                </a:lnTo>
                <a:lnTo>
                  <a:pt x="407" y="23"/>
                </a:lnTo>
                <a:lnTo>
                  <a:pt x="352" y="6"/>
                </a:lnTo>
                <a:lnTo>
                  <a:pt x="293" y="0"/>
                </a:lnTo>
                <a:lnTo>
                  <a:pt x="234" y="6"/>
                </a:lnTo>
                <a:lnTo>
                  <a:pt x="179" y="23"/>
                </a:lnTo>
                <a:lnTo>
                  <a:pt x="129" y="51"/>
                </a:lnTo>
                <a:lnTo>
                  <a:pt x="86" y="87"/>
                </a:lnTo>
                <a:lnTo>
                  <a:pt x="50" y="131"/>
                </a:lnTo>
                <a:lnTo>
                  <a:pt x="23" y="181"/>
                </a:lnTo>
                <a:lnTo>
                  <a:pt x="6" y="236"/>
                </a:lnTo>
                <a:lnTo>
                  <a:pt x="0" y="296"/>
                </a:lnTo>
                <a:lnTo>
                  <a:pt x="6" y="355"/>
                </a:lnTo>
                <a:lnTo>
                  <a:pt x="23" y="411"/>
                </a:lnTo>
                <a:lnTo>
                  <a:pt x="50" y="461"/>
                </a:lnTo>
                <a:lnTo>
                  <a:pt x="86" y="505"/>
                </a:lnTo>
                <a:lnTo>
                  <a:pt x="129" y="541"/>
                </a:lnTo>
                <a:lnTo>
                  <a:pt x="179" y="568"/>
                </a:lnTo>
                <a:lnTo>
                  <a:pt x="234" y="586"/>
                </a:lnTo>
                <a:lnTo>
                  <a:pt x="293" y="592"/>
                </a:lnTo>
                <a:lnTo>
                  <a:pt x="352" y="586"/>
                </a:lnTo>
                <a:lnTo>
                  <a:pt x="407" y="568"/>
                </a:lnTo>
                <a:lnTo>
                  <a:pt x="456" y="541"/>
                </a:lnTo>
                <a:lnTo>
                  <a:pt x="500" y="505"/>
                </a:lnTo>
                <a:lnTo>
                  <a:pt x="535" y="461"/>
                </a:lnTo>
                <a:lnTo>
                  <a:pt x="562" y="411"/>
                </a:lnTo>
                <a:lnTo>
                  <a:pt x="580" y="355"/>
                </a:lnTo>
                <a:lnTo>
                  <a:pt x="586" y="296"/>
                </a:lnTo>
                <a:lnTo>
                  <a:pt x="586"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19" name="Freeform 7"/>
          <p:cNvSpPr>
            <a:spLocks/>
          </p:cNvSpPr>
          <p:nvPr/>
        </p:nvSpPr>
        <p:spPr bwMode="auto">
          <a:xfrm>
            <a:off x="5326063" y="1441450"/>
            <a:ext cx="931862" cy="939800"/>
          </a:xfrm>
          <a:custGeom>
            <a:avLst/>
            <a:gdLst>
              <a:gd name="T0" fmla="*/ 586 w 587"/>
              <a:gd name="T1" fmla="*/ 295 h 592"/>
              <a:gd name="T2" fmla="*/ 580 w 587"/>
              <a:gd name="T3" fmla="*/ 236 h 592"/>
              <a:gd name="T4" fmla="*/ 562 w 587"/>
              <a:gd name="T5" fmla="*/ 180 h 592"/>
              <a:gd name="T6" fmla="*/ 535 w 587"/>
              <a:gd name="T7" fmla="*/ 130 h 592"/>
              <a:gd name="T8" fmla="*/ 500 w 587"/>
              <a:gd name="T9" fmla="*/ 86 h 592"/>
              <a:gd name="T10" fmla="*/ 456 w 587"/>
              <a:gd name="T11" fmla="*/ 50 h 592"/>
              <a:gd name="T12" fmla="*/ 407 w 587"/>
              <a:gd name="T13" fmla="*/ 23 h 592"/>
              <a:gd name="T14" fmla="*/ 352 w 587"/>
              <a:gd name="T15" fmla="*/ 5 h 592"/>
              <a:gd name="T16" fmla="*/ 293 w 587"/>
              <a:gd name="T17" fmla="*/ 0 h 592"/>
              <a:gd name="T18" fmla="*/ 234 w 587"/>
              <a:gd name="T19" fmla="*/ 5 h 592"/>
              <a:gd name="T20" fmla="*/ 179 w 587"/>
              <a:gd name="T21" fmla="*/ 23 h 592"/>
              <a:gd name="T22" fmla="*/ 129 w 587"/>
              <a:gd name="T23" fmla="*/ 50 h 592"/>
              <a:gd name="T24" fmla="*/ 86 w 587"/>
              <a:gd name="T25" fmla="*/ 86 h 592"/>
              <a:gd name="T26" fmla="*/ 50 w 587"/>
              <a:gd name="T27" fmla="*/ 130 h 592"/>
              <a:gd name="T28" fmla="*/ 23 w 587"/>
              <a:gd name="T29" fmla="*/ 180 h 592"/>
              <a:gd name="T30" fmla="*/ 6 w 587"/>
              <a:gd name="T31" fmla="*/ 236 h 592"/>
              <a:gd name="T32" fmla="*/ 0 w 587"/>
              <a:gd name="T33" fmla="*/ 295 h 592"/>
              <a:gd name="T34" fmla="*/ 6 w 587"/>
              <a:gd name="T35" fmla="*/ 355 h 592"/>
              <a:gd name="T36" fmla="*/ 23 w 587"/>
              <a:gd name="T37" fmla="*/ 410 h 592"/>
              <a:gd name="T38" fmla="*/ 50 w 587"/>
              <a:gd name="T39" fmla="*/ 461 h 592"/>
              <a:gd name="T40" fmla="*/ 86 w 587"/>
              <a:gd name="T41" fmla="*/ 504 h 592"/>
              <a:gd name="T42" fmla="*/ 129 w 587"/>
              <a:gd name="T43" fmla="*/ 540 h 592"/>
              <a:gd name="T44" fmla="*/ 179 w 587"/>
              <a:gd name="T45" fmla="*/ 568 h 592"/>
              <a:gd name="T46" fmla="*/ 234 w 587"/>
              <a:gd name="T47" fmla="*/ 585 h 592"/>
              <a:gd name="T48" fmla="*/ 293 w 587"/>
              <a:gd name="T49" fmla="*/ 591 h 592"/>
              <a:gd name="T50" fmla="*/ 352 w 587"/>
              <a:gd name="T51" fmla="*/ 585 h 592"/>
              <a:gd name="T52" fmla="*/ 407 w 587"/>
              <a:gd name="T53" fmla="*/ 568 h 592"/>
              <a:gd name="T54" fmla="*/ 456 w 587"/>
              <a:gd name="T55" fmla="*/ 540 h 592"/>
              <a:gd name="T56" fmla="*/ 500 w 587"/>
              <a:gd name="T57" fmla="*/ 504 h 592"/>
              <a:gd name="T58" fmla="*/ 535 w 587"/>
              <a:gd name="T59" fmla="*/ 461 h 592"/>
              <a:gd name="T60" fmla="*/ 562 w 587"/>
              <a:gd name="T61" fmla="*/ 410 h 592"/>
              <a:gd name="T62" fmla="*/ 580 w 587"/>
              <a:gd name="T63" fmla="*/ 355 h 592"/>
              <a:gd name="T64" fmla="*/ 586 w 587"/>
              <a:gd name="T65" fmla="*/ 295 h 592"/>
              <a:gd name="T66" fmla="*/ 586 w 587"/>
              <a:gd name="T67" fmla="*/ 295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7" h="592">
                <a:moveTo>
                  <a:pt x="586" y="295"/>
                </a:moveTo>
                <a:lnTo>
                  <a:pt x="580" y="236"/>
                </a:lnTo>
                <a:lnTo>
                  <a:pt x="562" y="180"/>
                </a:lnTo>
                <a:lnTo>
                  <a:pt x="535" y="130"/>
                </a:lnTo>
                <a:lnTo>
                  <a:pt x="500" y="86"/>
                </a:lnTo>
                <a:lnTo>
                  <a:pt x="456" y="50"/>
                </a:lnTo>
                <a:lnTo>
                  <a:pt x="407" y="23"/>
                </a:lnTo>
                <a:lnTo>
                  <a:pt x="352" y="5"/>
                </a:lnTo>
                <a:lnTo>
                  <a:pt x="293" y="0"/>
                </a:lnTo>
                <a:lnTo>
                  <a:pt x="234" y="5"/>
                </a:lnTo>
                <a:lnTo>
                  <a:pt x="179" y="23"/>
                </a:lnTo>
                <a:lnTo>
                  <a:pt x="129" y="50"/>
                </a:lnTo>
                <a:lnTo>
                  <a:pt x="86" y="86"/>
                </a:lnTo>
                <a:lnTo>
                  <a:pt x="50" y="130"/>
                </a:lnTo>
                <a:lnTo>
                  <a:pt x="23" y="180"/>
                </a:lnTo>
                <a:lnTo>
                  <a:pt x="6" y="236"/>
                </a:lnTo>
                <a:lnTo>
                  <a:pt x="0" y="295"/>
                </a:lnTo>
                <a:lnTo>
                  <a:pt x="6" y="355"/>
                </a:lnTo>
                <a:lnTo>
                  <a:pt x="23" y="410"/>
                </a:lnTo>
                <a:lnTo>
                  <a:pt x="50" y="461"/>
                </a:lnTo>
                <a:lnTo>
                  <a:pt x="86" y="504"/>
                </a:lnTo>
                <a:lnTo>
                  <a:pt x="129" y="540"/>
                </a:lnTo>
                <a:lnTo>
                  <a:pt x="179" y="568"/>
                </a:lnTo>
                <a:lnTo>
                  <a:pt x="234" y="585"/>
                </a:lnTo>
                <a:lnTo>
                  <a:pt x="293" y="591"/>
                </a:lnTo>
                <a:lnTo>
                  <a:pt x="352" y="585"/>
                </a:lnTo>
                <a:lnTo>
                  <a:pt x="407" y="568"/>
                </a:lnTo>
                <a:lnTo>
                  <a:pt x="456" y="540"/>
                </a:lnTo>
                <a:lnTo>
                  <a:pt x="500" y="504"/>
                </a:lnTo>
                <a:lnTo>
                  <a:pt x="535" y="461"/>
                </a:lnTo>
                <a:lnTo>
                  <a:pt x="562" y="410"/>
                </a:lnTo>
                <a:lnTo>
                  <a:pt x="580" y="355"/>
                </a:lnTo>
                <a:lnTo>
                  <a:pt x="586" y="295"/>
                </a:lnTo>
                <a:lnTo>
                  <a:pt x="586" y="295"/>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0" name="Freeform 8"/>
          <p:cNvSpPr>
            <a:spLocks/>
          </p:cNvSpPr>
          <p:nvPr/>
        </p:nvSpPr>
        <p:spPr bwMode="auto">
          <a:xfrm>
            <a:off x="7172325" y="3182938"/>
            <a:ext cx="931863" cy="941387"/>
          </a:xfrm>
          <a:custGeom>
            <a:avLst/>
            <a:gdLst>
              <a:gd name="T0" fmla="*/ 586 w 587"/>
              <a:gd name="T1" fmla="*/ 296 h 593"/>
              <a:gd name="T2" fmla="*/ 580 w 587"/>
              <a:gd name="T3" fmla="*/ 236 h 593"/>
              <a:gd name="T4" fmla="*/ 562 w 587"/>
              <a:gd name="T5" fmla="*/ 181 h 593"/>
              <a:gd name="T6" fmla="*/ 535 w 587"/>
              <a:gd name="T7" fmla="*/ 130 h 593"/>
              <a:gd name="T8" fmla="*/ 500 w 587"/>
              <a:gd name="T9" fmla="*/ 87 h 593"/>
              <a:gd name="T10" fmla="*/ 456 w 587"/>
              <a:gd name="T11" fmla="*/ 51 h 593"/>
              <a:gd name="T12" fmla="*/ 407 w 587"/>
              <a:gd name="T13" fmla="*/ 23 h 593"/>
              <a:gd name="T14" fmla="*/ 352 w 587"/>
              <a:gd name="T15" fmla="*/ 6 h 593"/>
              <a:gd name="T16" fmla="*/ 293 w 587"/>
              <a:gd name="T17" fmla="*/ 0 h 593"/>
              <a:gd name="T18" fmla="*/ 234 w 587"/>
              <a:gd name="T19" fmla="*/ 6 h 593"/>
              <a:gd name="T20" fmla="*/ 179 w 587"/>
              <a:gd name="T21" fmla="*/ 23 h 593"/>
              <a:gd name="T22" fmla="*/ 129 w 587"/>
              <a:gd name="T23" fmla="*/ 51 h 593"/>
              <a:gd name="T24" fmla="*/ 86 w 587"/>
              <a:gd name="T25" fmla="*/ 87 h 593"/>
              <a:gd name="T26" fmla="*/ 50 w 587"/>
              <a:gd name="T27" fmla="*/ 130 h 593"/>
              <a:gd name="T28" fmla="*/ 23 w 587"/>
              <a:gd name="T29" fmla="*/ 181 h 593"/>
              <a:gd name="T30" fmla="*/ 6 w 587"/>
              <a:gd name="T31" fmla="*/ 236 h 593"/>
              <a:gd name="T32" fmla="*/ 0 w 587"/>
              <a:gd name="T33" fmla="*/ 296 h 593"/>
              <a:gd name="T34" fmla="*/ 6 w 587"/>
              <a:gd name="T35" fmla="*/ 355 h 593"/>
              <a:gd name="T36" fmla="*/ 23 w 587"/>
              <a:gd name="T37" fmla="*/ 411 h 593"/>
              <a:gd name="T38" fmla="*/ 50 w 587"/>
              <a:gd name="T39" fmla="*/ 461 h 593"/>
              <a:gd name="T40" fmla="*/ 86 w 587"/>
              <a:gd name="T41" fmla="*/ 505 h 593"/>
              <a:gd name="T42" fmla="*/ 129 w 587"/>
              <a:gd name="T43" fmla="*/ 541 h 593"/>
              <a:gd name="T44" fmla="*/ 179 w 587"/>
              <a:gd name="T45" fmla="*/ 568 h 593"/>
              <a:gd name="T46" fmla="*/ 234 w 587"/>
              <a:gd name="T47" fmla="*/ 585 h 593"/>
              <a:gd name="T48" fmla="*/ 293 w 587"/>
              <a:gd name="T49" fmla="*/ 592 h 593"/>
              <a:gd name="T50" fmla="*/ 352 w 587"/>
              <a:gd name="T51" fmla="*/ 585 h 593"/>
              <a:gd name="T52" fmla="*/ 407 w 587"/>
              <a:gd name="T53" fmla="*/ 568 h 593"/>
              <a:gd name="T54" fmla="*/ 456 w 587"/>
              <a:gd name="T55" fmla="*/ 541 h 593"/>
              <a:gd name="T56" fmla="*/ 500 w 587"/>
              <a:gd name="T57" fmla="*/ 505 h 593"/>
              <a:gd name="T58" fmla="*/ 535 w 587"/>
              <a:gd name="T59" fmla="*/ 461 h 593"/>
              <a:gd name="T60" fmla="*/ 562 w 587"/>
              <a:gd name="T61" fmla="*/ 411 h 593"/>
              <a:gd name="T62" fmla="*/ 580 w 587"/>
              <a:gd name="T63" fmla="*/ 355 h 593"/>
              <a:gd name="T64" fmla="*/ 586 w 587"/>
              <a:gd name="T65" fmla="*/ 296 h 593"/>
              <a:gd name="T66" fmla="*/ 586 w 587"/>
              <a:gd name="T67" fmla="*/ 296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7" h="593">
                <a:moveTo>
                  <a:pt x="586" y="296"/>
                </a:moveTo>
                <a:lnTo>
                  <a:pt x="580" y="236"/>
                </a:lnTo>
                <a:lnTo>
                  <a:pt x="562" y="181"/>
                </a:lnTo>
                <a:lnTo>
                  <a:pt x="535" y="130"/>
                </a:lnTo>
                <a:lnTo>
                  <a:pt x="500" y="87"/>
                </a:lnTo>
                <a:lnTo>
                  <a:pt x="456" y="51"/>
                </a:lnTo>
                <a:lnTo>
                  <a:pt x="407" y="23"/>
                </a:lnTo>
                <a:lnTo>
                  <a:pt x="352" y="6"/>
                </a:lnTo>
                <a:lnTo>
                  <a:pt x="293" y="0"/>
                </a:lnTo>
                <a:lnTo>
                  <a:pt x="234" y="6"/>
                </a:lnTo>
                <a:lnTo>
                  <a:pt x="179" y="23"/>
                </a:lnTo>
                <a:lnTo>
                  <a:pt x="129" y="51"/>
                </a:lnTo>
                <a:lnTo>
                  <a:pt x="86" y="87"/>
                </a:lnTo>
                <a:lnTo>
                  <a:pt x="50" y="130"/>
                </a:lnTo>
                <a:lnTo>
                  <a:pt x="23" y="181"/>
                </a:lnTo>
                <a:lnTo>
                  <a:pt x="6" y="236"/>
                </a:lnTo>
                <a:lnTo>
                  <a:pt x="0" y="296"/>
                </a:lnTo>
                <a:lnTo>
                  <a:pt x="6" y="355"/>
                </a:lnTo>
                <a:lnTo>
                  <a:pt x="23" y="411"/>
                </a:lnTo>
                <a:lnTo>
                  <a:pt x="50" y="461"/>
                </a:lnTo>
                <a:lnTo>
                  <a:pt x="86" y="505"/>
                </a:lnTo>
                <a:lnTo>
                  <a:pt x="129" y="541"/>
                </a:lnTo>
                <a:lnTo>
                  <a:pt x="179" y="568"/>
                </a:lnTo>
                <a:lnTo>
                  <a:pt x="234" y="585"/>
                </a:lnTo>
                <a:lnTo>
                  <a:pt x="293" y="592"/>
                </a:lnTo>
                <a:lnTo>
                  <a:pt x="352" y="585"/>
                </a:lnTo>
                <a:lnTo>
                  <a:pt x="407" y="568"/>
                </a:lnTo>
                <a:lnTo>
                  <a:pt x="456" y="541"/>
                </a:lnTo>
                <a:lnTo>
                  <a:pt x="500" y="505"/>
                </a:lnTo>
                <a:lnTo>
                  <a:pt x="535" y="461"/>
                </a:lnTo>
                <a:lnTo>
                  <a:pt x="562" y="411"/>
                </a:lnTo>
                <a:lnTo>
                  <a:pt x="580" y="355"/>
                </a:lnTo>
                <a:lnTo>
                  <a:pt x="586" y="296"/>
                </a:lnTo>
                <a:lnTo>
                  <a:pt x="586" y="296"/>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1" name="Rectangle 9"/>
          <p:cNvSpPr>
            <a:spLocks noChangeArrowheads="1"/>
          </p:cNvSpPr>
          <p:nvPr/>
        </p:nvSpPr>
        <p:spPr bwMode="auto">
          <a:xfrm>
            <a:off x="2085975" y="3417888"/>
            <a:ext cx="935038"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Oil Field</a:t>
            </a:r>
          </a:p>
        </p:txBody>
      </p:sp>
      <p:sp>
        <p:nvSpPr>
          <p:cNvPr id="38922" name="Rectangle 10"/>
          <p:cNvSpPr>
            <a:spLocks noChangeArrowheads="1"/>
          </p:cNvSpPr>
          <p:nvPr/>
        </p:nvSpPr>
        <p:spPr bwMode="auto">
          <a:xfrm>
            <a:off x="2817813" y="901700"/>
            <a:ext cx="10525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Pumping </a:t>
            </a:r>
          </a:p>
        </p:txBody>
      </p:sp>
      <p:sp>
        <p:nvSpPr>
          <p:cNvPr id="38923" name="Rectangle 11"/>
          <p:cNvSpPr>
            <a:spLocks noChangeArrowheads="1"/>
          </p:cNvSpPr>
          <p:nvPr/>
        </p:nvSpPr>
        <p:spPr bwMode="auto">
          <a:xfrm>
            <a:off x="2817813" y="1133475"/>
            <a:ext cx="9890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Station 1</a:t>
            </a:r>
          </a:p>
        </p:txBody>
      </p:sp>
      <p:sp>
        <p:nvSpPr>
          <p:cNvPr id="38924" name="Rectangle 12"/>
          <p:cNvSpPr>
            <a:spLocks noChangeArrowheads="1"/>
          </p:cNvSpPr>
          <p:nvPr/>
        </p:nvSpPr>
        <p:spPr bwMode="auto">
          <a:xfrm>
            <a:off x="2792413" y="5773738"/>
            <a:ext cx="10525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Pumping </a:t>
            </a:r>
          </a:p>
        </p:txBody>
      </p:sp>
      <p:sp>
        <p:nvSpPr>
          <p:cNvPr id="38925" name="Rectangle 13"/>
          <p:cNvSpPr>
            <a:spLocks noChangeArrowheads="1"/>
          </p:cNvSpPr>
          <p:nvPr/>
        </p:nvSpPr>
        <p:spPr bwMode="auto">
          <a:xfrm>
            <a:off x="2792413" y="6005513"/>
            <a:ext cx="9890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Station 2</a:t>
            </a:r>
          </a:p>
        </p:txBody>
      </p:sp>
      <p:sp>
        <p:nvSpPr>
          <p:cNvPr id="38926" name="Rectangle 14"/>
          <p:cNvSpPr>
            <a:spLocks noChangeArrowheads="1"/>
          </p:cNvSpPr>
          <p:nvPr/>
        </p:nvSpPr>
        <p:spPr bwMode="auto">
          <a:xfrm>
            <a:off x="5224463" y="860425"/>
            <a:ext cx="10525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Pumping </a:t>
            </a:r>
          </a:p>
        </p:txBody>
      </p:sp>
      <p:sp>
        <p:nvSpPr>
          <p:cNvPr id="38927" name="Rectangle 15"/>
          <p:cNvSpPr>
            <a:spLocks noChangeArrowheads="1"/>
          </p:cNvSpPr>
          <p:nvPr/>
        </p:nvSpPr>
        <p:spPr bwMode="auto">
          <a:xfrm>
            <a:off x="5224463" y="1092200"/>
            <a:ext cx="9890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Station 3</a:t>
            </a:r>
          </a:p>
        </p:txBody>
      </p:sp>
      <p:sp>
        <p:nvSpPr>
          <p:cNvPr id="38928" name="Rectangle 16"/>
          <p:cNvSpPr>
            <a:spLocks noChangeArrowheads="1"/>
          </p:cNvSpPr>
          <p:nvPr/>
        </p:nvSpPr>
        <p:spPr bwMode="auto">
          <a:xfrm>
            <a:off x="5373688" y="5800725"/>
            <a:ext cx="10525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Pumping </a:t>
            </a:r>
          </a:p>
        </p:txBody>
      </p:sp>
      <p:sp>
        <p:nvSpPr>
          <p:cNvPr id="38929" name="Rectangle 17"/>
          <p:cNvSpPr>
            <a:spLocks noChangeArrowheads="1"/>
          </p:cNvSpPr>
          <p:nvPr/>
        </p:nvSpPr>
        <p:spPr bwMode="auto">
          <a:xfrm>
            <a:off x="5373688" y="6032500"/>
            <a:ext cx="98901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Station 4</a:t>
            </a:r>
          </a:p>
        </p:txBody>
      </p:sp>
      <p:sp>
        <p:nvSpPr>
          <p:cNvPr id="38930" name="Rectangle 18"/>
          <p:cNvSpPr>
            <a:spLocks noChangeArrowheads="1"/>
          </p:cNvSpPr>
          <p:nvPr/>
        </p:nvSpPr>
        <p:spPr bwMode="auto">
          <a:xfrm>
            <a:off x="6072188" y="3498850"/>
            <a:ext cx="9461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500" b="1"/>
              <a:t>Refinery</a:t>
            </a:r>
          </a:p>
        </p:txBody>
      </p:sp>
      <p:sp>
        <p:nvSpPr>
          <p:cNvPr id="38931" name="Line 19"/>
          <p:cNvSpPr>
            <a:spLocks noChangeShapeType="1"/>
          </p:cNvSpPr>
          <p:nvPr/>
        </p:nvSpPr>
        <p:spPr bwMode="auto">
          <a:xfrm flipV="1">
            <a:off x="1792288" y="2319338"/>
            <a:ext cx="1066800" cy="847725"/>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2" name="Line 20"/>
          <p:cNvSpPr>
            <a:spLocks noChangeShapeType="1"/>
          </p:cNvSpPr>
          <p:nvPr/>
        </p:nvSpPr>
        <p:spPr bwMode="auto">
          <a:xfrm>
            <a:off x="1924050" y="3914775"/>
            <a:ext cx="977900" cy="88265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3" name="Line 21"/>
          <p:cNvSpPr>
            <a:spLocks noChangeShapeType="1"/>
          </p:cNvSpPr>
          <p:nvPr/>
        </p:nvSpPr>
        <p:spPr bwMode="auto">
          <a:xfrm>
            <a:off x="3797300" y="1927225"/>
            <a:ext cx="1360488" cy="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4" name="Line 22"/>
          <p:cNvSpPr>
            <a:spLocks noChangeShapeType="1"/>
          </p:cNvSpPr>
          <p:nvPr/>
        </p:nvSpPr>
        <p:spPr bwMode="auto">
          <a:xfrm>
            <a:off x="3824288" y="5207000"/>
            <a:ext cx="1385887" cy="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5" name="Line 23"/>
          <p:cNvSpPr>
            <a:spLocks noChangeShapeType="1"/>
          </p:cNvSpPr>
          <p:nvPr/>
        </p:nvSpPr>
        <p:spPr bwMode="auto">
          <a:xfrm>
            <a:off x="6254750" y="1900238"/>
            <a:ext cx="1062038" cy="1219200"/>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6" name="Line 24"/>
          <p:cNvSpPr>
            <a:spLocks noChangeShapeType="1"/>
          </p:cNvSpPr>
          <p:nvPr/>
        </p:nvSpPr>
        <p:spPr bwMode="auto">
          <a:xfrm flipV="1">
            <a:off x="6294438" y="4202113"/>
            <a:ext cx="1069975" cy="1004887"/>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7" name="Line 25"/>
          <p:cNvSpPr>
            <a:spLocks noChangeShapeType="1"/>
          </p:cNvSpPr>
          <p:nvPr/>
        </p:nvSpPr>
        <p:spPr bwMode="auto">
          <a:xfrm>
            <a:off x="3705225" y="2241550"/>
            <a:ext cx="1755775" cy="2465388"/>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8" name="Line 26"/>
          <p:cNvSpPr>
            <a:spLocks noChangeShapeType="1"/>
          </p:cNvSpPr>
          <p:nvPr/>
        </p:nvSpPr>
        <p:spPr bwMode="auto">
          <a:xfrm flipV="1">
            <a:off x="3598863" y="2413000"/>
            <a:ext cx="1847850" cy="2386013"/>
          </a:xfrm>
          <a:prstGeom prst="line">
            <a:avLst/>
          </a:prstGeom>
          <a:noFill/>
          <a:ln w="12700">
            <a:solidFill>
              <a:srgbClr val="FFFF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9" name="Rectangle 27"/>
          <p:cNvSpPr>
            <a:spLocks noChangeArrowheads="1"/>
          </p:cNvSpPr>
          <p:nvPr/>
        </p:nvSpPr>
        <p:spPr bwMode="auto">
          <a:xfrm>
            <a:off x="1382713" y="3475038"/>
            <a:ext cx="30480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3399FF"/>
                </a:solidFill>
              </a:rPr>
              <a:t>1</a:t>
            </a:r>
          </a:p>
        </p:txBody>
      </p:sp>
      <p:sp>
        <p:nvSpPr>
          <p:cNvPr id="38940" name="Rectangle 28"/>
          <p:cNvSpPr>
            <a:spLocks noChangeArrowheads="1"/>
          </p:cNvSpPr>
          <p:nvPr/>
        </p:nvSpPr>
        <p:spPr bwMode="auto">
          <a:xfrm>
            <a:off x="3176588" y="1747838"/>
            <a:ext cx="30480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3399FF"/>
                </a:solidFill>
              </a:rPr>
              <a:t>2</a:t>
            </a:r>
          </a:p>
        </p:txBody>
      </p:sp>
      <p:sp>
        <p:nvSpPr>
          <p:cNvPr id="38941" name="Rectangle 29"/>
          <p:cNvSpPr>
            <a:spLocks noChangeArrowheads="1"/>
          </p:cNvSpPr>
          <p:nvPr/>
        </p:nvSpPr>
        <p:spPr bwMode="auto">
          <a:xfrm>
            <a:off x="3190875" y="5095875"/>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3399FF"/>
                </a:solidFill>
              </a:rPr>
              <a:t>3</a:t>
            </a:r>
          </a:p>
        </p:txBody>
      </p:sp>
      <p:sp>
        <p:nvSpPr>
          <p:cNvPr id="38942" name="Rectangle 30"/>
          <p:cNvSpPr>
            <a:spLocks noChangeArrowheads="1"/>
          </p:cNvSpPr>
          <p:nvPr/>
        </p:nvSpPr>
        <p:spPr bwMode="auto">
          <a:xfrm>
            <a:off x="5622925" y="1666875"/>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3399FF"/>
                </a:solidFill>
              </a:rPr>
              <a:t>4</a:t>
            </a:r>
          </a:p>
        </p:txBody>
      </p:sp>
      <p:sp>
        <p:nvSpPr>
          <p:cNvPr id="38943" name="Rectangle 31"/>
          <p:cNvSpPr>
            <a:spLocks noChangeArrowheads="1"/>
          </p:cNvSpPr>
          <p:nvPr/>
        </p:nvSpPr>
        <p:spPr bwMode="auto">
          <a:xfrm>
            <a:off x="5651500" y="5083175"/>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3399FF"/>
                </a:solidFill>
              </a:rPr>
              <a:t>5</a:t>
            </a:r>
          </a:p>
        </p:txBody>
      </p:sp>
      <p:sp>
        <p:nvSpPr>
          <p:cNvPr id="38944" name="Rectangle 32"/>
          <p:cNvSpPr>
            <a:spLocks noChangeArrowheads="1"/>
          </p:cNvSpPr>
          <p:nvPr/>
        </p:nvSpPr>
        <p:spPr bwMode="auto">
          <a:xfrm>
            <a:off x="7459663" y="3476625"/>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3399FF"/>
                </a:solidFill>
              </a:rPr>
              <a:t>6</a:t>
            </a:r>
          </a:p>
        </p:txBody>
      </p:sp>
      <p:sp>
        <p:nvSpPr>
          <p:cNvPr id="38945" name="Rectangle 33"/>
          <p:cNvSpPr>
            <a:spLocks noChangeArrowheads="1"/>
          </p:cNvSpPr>
          <p:nvPr/>
        </p:nvSpPr>
        <p:spPr bwMode="auto">
          <a:xfrm>
            <a:off x="2019300" y="2466975"/>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6</a:t>
            </a:r>
          </a:p>
        </p:txBody>
      </p:sp>
      <p:sp>
        <p:nvSpPr>
          <p:cNvPr id="38946" name="Rectangle 34"/>
          <p:cNvSpPr>
            <a:spLocks noChangeArrowheads="1"/>
          </p:cNvSpPr>
          <p:nvPr/>
        </p:nvSpPr>
        <p:spPr bwMode="auto">
          <a:xfrm>
            <a:off x="2112963" y="4359275"/>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4</a:t>
            </a:r>
          </a:p>
        </p:txBody>
      </p:sp>
      <p:sp>
        <p:nvSpPr>
          <p:cNvPr id="38947" name="Rectangle 35"/>
          <p:cNvSpPr>
            <a:spLocks noChangeArrowheads="1"/>
          </p:cNvSpPr>
          <p:nvPr/>
        </p:nvSpPr>
        <p:spPr bwMode="auto">
          <a:xfrm>
            <a:off x="4292600" y="1570038"/>
            <a:ext cx="30480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3</a:t>
            </a:r>
          </a:p>
        </p:txBody>
      </p:sp>
      <p:sp>
        <p:nvSpPr>
          <p:cNvPr id="38948" name="Rectangle 36"/>
          <p:cNvSpPr>
            <a:spLocks noChangeArrowheads="1"/>
          </p:cNvSpPr>
          <p:nvPr/>
        </p:nvSpPr>
        <p:spPr bwMode="auto">
          <a:xfrm>
            <a:off x="6802438" y="2251075"/>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6</a:t>
            </a:r>
          </a:p>
        </p:txBody>
      </p:sp>
      <p:sp>
        <p:nvSpPr>
          <p:cNvPr id="38949" name="Rectangle 37"/>
          <p:cNvSpPr>
            <a:spLocks noChangeArrowheads="1"/>
          </p:cNvSpPr>
          <p:nvPr/>
        </p:nvSpPr>
        <p:spPr bwMode="auto">
          <a:xfrm>
            <a:off x="6748463" y="4754563"/>
            <a:ext cx="30480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4</a:t>
            </a:r>
          </a:p>
        </p:txBody>
      </p:sp>
      <p:sp>
        <p:nvSpPr>
          <p:cNvPr id="38950" name="Rectangle 38"/>
          <p:cNvSpPr>
            <a:spLocks noChangeArrowheads="1"/>
          </p:cNvSpPr>
          <p:nvPr/>
        </p:nvSpPr>
        <p:spPr bwMode="auto">
          <a:xfrm>
            <a:off x="4398963" y="5230813"/>
            <a:ext cx="30480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5</a:t>
            </a:r>
          </a:p>
        </p:txBody>
      </p:sp>
      <p:sp>
        <p:nvSpPr>
          <p:cNvPr id="38951" name="Rectangle 39"/>
          <p:cNvSpPr>
            <a:spLocks noChangeArrowheads="1"/>
          </p:cNvSpPr>
          <p:nvPr/>
        </p:nvSpPr>
        <p:spPr bwMode="auto">
          <a:xfrm>
            <a:off x="4013200" y="2400300"/>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2</a:t>
            </a:r>
          </a:p>
        </p:txBody>
      </p:sp>
      <p:sp>
        <p:nvSpPr>
          <p:cNvPr id="38952" name="Rectangle 40"/>
          <p:cNvSpPr>
            <a:spLocks noChangeArrowheads="1"/>
          </p:cNvSpPr>
          <p:nvPr/>
        </p:nvSpPr>
        <p:spPr bwMode="auto">
          <a:xfrm>
            <a:off x="3962400" y="4251325"/>
            <a:ext cx="30480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700" b="1">
                <a:solidFill>
                  <a:srgbClr val="00CC00"/>
                </a:solidFill>
              </a:rPr>
              <a:t>2</a:t>
            </a:r>
          </a:p>
        </p:txBody>
      </p:sp>
      <p:sp>
        <p:nvSpPr>
          <p:cNvPr id="38953" name="Rectangle 41"/>
          <p:cNvSpPr>
            <a:spLocks noChangeArrowheads="1"/>
          </p:cNvSpPr>
          <p:nvPr/>
        </p:nvSpPr>
        <p:spPr bwMode="auto">
          <a:xfrm>
            <a:off x="1697038" y="2257425"/>
            <a:ext cx="339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sz="1600">
                <a:solidFill>
                  <a:srgbClr val="00CC00"/>
                </a:solidFill>
              </a:rPr>
              <a:t>5</a:t>
            </a:r>
          </a:p>
        </p:txBody>
      </p:sp>
      <p:sp>
        <p:nvSpPr>
          <p:cNvPr id="38954" name="Rectangle 42"/>
          <p:cNvSpPr>
            <a:spLocks noChangeArrowheads="1"/>
          </p:cNvSpPr>
          <p:nvPr/>
        </p:nvSpPr>
        <p:spPr bwMode="auto">
          <a:xfrm>
            <a:off x="1641475" y="2252663"/>
            <a:ext cx="382588" cy="29686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55" name="Rectangle 43"/>
          <p:cNvSpPr>
            <a:spLocks noChangeArrowheads="1"/>
          </p:cNvSpPr>
          <p:nvPr/>
        </p:nvSpPr>
        <p:spPr bwMode="auto">
          <a:xfrm>
            <a:off x="4281488" y="1236663"/>
            <a:ext cx="339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sz="1600">
                <a:solidFill>
                  <a:srgbClr val="00CC00"/>
                </a:solidFill>
              </a:rPr>
              <a:t>3</a:t>
            </a:r>
          </a:p>
        </p:txBody>
      </p:sp>
      <p:sp>
        <p:nvSpPr>
          <p:cNvPr id="38956" name="Rectangle 44"/>
          <p:cNvSpPr>
            <a:spLocks noChangeArrowheads="1"/>
          </p:cNvSpPr>
          <p:nvPr/>
        </p:nvSpPr>
        <p:spPr bwMode="auto">
          <a:xfrm>
            <a:off x="4225925" y="1231900"/>
            <a:ext cx="382588" cy="29686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57" name="Rectangle 45"/>
          <p:cNvSpPr>
            <a:spLocks noChangeArrowheads="1"/>
          </p:cNvSpPr>
          <p:nvPr/>
        </p:nvSpPr>
        <p:spPr bwMode="auto">
          <a:xfrm>
            <a:off x="4349750" y="2393950"/>
            <a:ext cx="339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sz="1600">
                <a:solidFill>
                  <a:srgbClr val="00CC00"/>
                </a:solidFill>
              </a:rPr>
              <a:t>2</a:t>
            </a:r>
          </a:p>
        </p:txBody>
      </p:sp>
      <p:sp>
        <p:nvSpPr>
          <p:cNvPr id="38958" name="Rectangle 46"/>
          <p:cNvSpPr>
            <a:spLocks noChangeArrowheads="1"/>
          </p:cNvSpPr>
          <p:nvPr/>
        </p:nvSpPr>
        <p:spPr bwMode="auto">
          <a:xfrm>
            <a:off x="4294188" y="2389188"/>
            <a:ext cx="382587" cy="29686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59" name="Rectangle 47"/>
          <p:cNvSpPr>
            <a:spLocks noChangeArrowheads="1"/>
          </p:cNvSpPr>
          <p:nvPr/>
        </p:nvSpPr>
        <p:spPr bwMode="auto">
          <a:xfrm>
            <a:off x="1916113" y="4689475"/>
            <a:ext cx="339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sz="1600">
                <a:solidFill>
                  <a:srgbClr val="00CC00"/>
                </a:solidFill>
              </a:rPr>
              <a:t>4</a:t>
            </a:r>
          </a:p>
        </p:txBody>
      </p:sp>
      <p:sp>
        <p:nvSpPr>
          <p:cNvPr id="38960" name="Rectangle 48"/>
          <p:cNvSpPr>
            <a:spLocks noChangeArrowheads="1"/>
          </p:cNvSpPr>
          <p:nvPr/>
        </p:nvSpPr>
        <p:spPr bwMode="auto">
          <a:xfrm>
            <a:off x="1860550" y="4684713"/>
            <a:ext cx="382588" cy="29686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61" name="Rectangle 49"/>
          <p:cNvSpPr>
            <a:spLocks noChangeArrowheads="1"/>
          </p:cNvSpPr>
          <p:nvPr/>
        </p:nvSpPr>
        <p:spPr bwMode="auto">
          <a:xfrm>
            <a:off x="4330700" y="4398963"/>
            <a:ext cx="339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sz="1600">
                <a:solidFill>
                  <a:srgbClr val="00CC00"/>
                </a:solidFill>
              </a:rPr>
              <a:t>2</a:t>
            </a:r>
          </a:p>
        </p:txBody>
      </p:sp>
      <p:sp>
        <p:nvSpPr>
          <p:cNvPr id="38962" name="Rectangle 50"/>
          <p:cNvSpPr>
            <a:spLocks noChangeArrowheads="1"/>
          </p:cNvSpPr>
          <p:nvPr/>
        </p:nvSpPr>
        <p:spPr bwMode="auto">
          <a:xfrm>
            <a:off x="4275138" y="4394200"/>
            <a:ext cx="382587" cy="29686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63" name="Rectangle 51"/>
          <p:cNvSpPr>
            <a:spLocks noChangeArrowheads="1"/>
          </p:cNvSpPr>
          <p:nvPr/>
        </p:nvSpPr>
        <p:spPr bwMode="auto">
          <a:xfrm>
            <a:off x="7138988" y="2068513"/>
            <a:ext cx="339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sz="1600">
                <a:solidFill>
                  <a:srgbClr val="00CC00"/>
                </a:solidFill>
              </a:rPr>
              <a:t>5</a:t>
            </a:r>
          </a:p>
        </p:txBody>
      </p:sp>
      <p:sp>
        <p:nvSpPr>
          <p:cNvPr id="38964" name="Rectangle 52"/>
          <p:cNvSpPr>
            <a:spLocks noChangeArrowheads="1"/>
          </p:cNvSpPr>
          <p:nvPr/>
        </p:nvSpPr>
        <p:spPr bwMode="auto">
          <a:xfrm>
            <a:off x="7083425" y="2063750"/>
            <a:ext cx="382588" cy="29686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65" name="Rectangle 53"/>
          <p:cNvSpPr>
            <a:spLocks noChangeArrowheads="1"/>
          </p:cNvSpPr>
          <p:nvPr/>
        </p:nvSpPr>
        <p:spPr bwMode="auto">
          <a:xfrm>
            <a:off x="7137400" y="4892675"/>
            <a:ext cx="339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sz="1600">
                <a:solidFill>
                  <a:srgbClr val="00CC00"/>
                </a:solidFill>
              </a:rPr>
              <a:t>4</a:t>
            </a:r>
          </a:p>
        </p:txBody>
      </p:sp>
      <p:sp>
        <p:nvSpPr>
          <p:cNvPr id="38966" name="Rectangle 54"/>
          <p:cNvSpPr>
            <a:spLocks noChangeArrowheads="1"/>
          </p:cNvSpPr>
          <p:nvPr/>
        </p:nvSpPr>
        <p:spPr bwMode="auto">
          <a:xfrm>
            <a:off x="7081838" y="4887913"/>
            <a:ext cx="382587" cy="29686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67" name="Rectangle 55"/>
          <p:cNvSpPr>
            <a:spLocks noChangeArrowheads="1"/>
          </p:cNvSpPr>
          <p:nvPr/>
        </p:nvSpPr>
        <p:spPr bwMode="auto">
          <a:xfrm>
            <a:off x="4400550" y="5573713"/>
            <a:ext cx="339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sz="1600">
                <a:solidFill>
                  <a:srgbClr val="00CC00"/>
                </a:solidFill>
              </a:rPr>
              <a:t>2</a:t>
            </a:r>
          </a:p>
        </p:txBody>
      </p:sp>
      <p:sp>
        <p:nvSpPr>
          <p:cNvPr id="38968" name="Rectangle 56"/>
          <p:cNvSpPr>
            <a:spLocks noChangeArrowheads="1"/>
          </p:cNvSpPr>
          <p:nvPr/>
        </p:nvSpPr>
        <p:spPr bwMode="auto">
          <a:xfrm>
            <a:off x="4344988" y="5568950"/>
            <a:ext cx="382587" cy="296863"/>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Footer Placeholder 1"/>
          <p:cNvSpPr>
            <a:spLocks noGrp="1"/>
          </p:cNvSpPr>
          <p:nvPr>
            <p:ph type="ftr" sz="quarter" idx="11"/>
          </p:nvPr>
        </p:nvSpPr>
        <p:spPr>
          <a:xfrm>
            <a:off x="3124200" y="6362753"/>
            <a:ext cx="2895600" cy="393595"/>
          </a:xfrm>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609600" y="377825"/>
            <a:ext cx="7772400" cy="990600"/>
          </a:xfrm>
        </p:spPr>
        <p:txBody>
          <a:bodyPr/>
          <a:lstStyle/>
          <a:p>
            <a:r>
              <a:rPr lang="en-US" sz="4000" i="1">
                <a:solidFill>
                  <a:schemeClr val="hlink"/>
                </a:solidFill>
              </a:rPr>
              <a:t>Special Modeling Considerations:</a:t>
            </a:r>
            <a:br>
              <a:rPr lang="en-US" sz="4000" i="1">
                <a:solidFill>
                  <a:schemeClr val="hlink"/>
                </a:solidFill>
              </a:rPr>
            </a:br>
            <a:r>
              <a:rPr lang="en-US" sz="4000" i="1">
                <a:solidFill>
                  <a:schemeClr val="hlink"/>
                </a:solidFill>
              </a:rPr>
              <a:t>Flow Aggregation</a:t>
            </a:r>
            <a:endParaRPr lang="en-US" sz="4000">
              <a:solidFill>
                <a:schemeClr val="hlink"/>
              </a:solidFill>
            </a:endParaRPr>
          </a:p>
        </p:txBody>
      </p:sp>
      <p:sp>
        <p:nvSpPr>
          <p:cNvPr id="50180" name="Oval 4"/>
          <p:cNvSpPr>
            <a:spLocks noChangeArrowheads="1"/>
          </p:cNvSpPr>
          <p:nvPr/>
        </p:nvSpPr>
        <p:spPr bwMode="auto">
          <a:xfrm>
            <a:off x="1676400" y="2133600"/>
            <a:ext cx="609600" cy="685800"/>
          </a:xfrm>
          <a:prstGeom prst="ellipse">
            <a:avLst/>
          </a:prstGeom>
          <a:solidFill>
            <a:schemeClr val="accent1"/>
          </a:solidFill>
          <a:ln w="254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181" name="Text Box 5"/>
          <p:cNvSpPr txBox="1">
            <a:spLocks noChangeArrowheads="1"/>
          </p:cNvSpPr>
          <p:nvPr/>
        </p:nvSpPr>
        <p:spPr bwMode="auto">
          <a:xfrm>
            <a:off x="1828800" y="22098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sz="2400"/>
              <a:t>1</a:t>
            </a:r>
          </a:p>
        </p:txBody>
      </p:sp>
      <p:sp>
        <p:nvSpPr>
          <p:cNvPr id="50182" name="Oval 6"/>
          <p:cNvSpPr>
            <a:spLocks noChangeArrowheads="1"/>
          </p:cNvSpPr>
          <p:nvPr/>
        </p:nvSpPr>
        <p:spPr bwMode="auto">
          <a:xfrm>
            <a:off x="1676400" y="3352800"/>
            <a:ext cx="609600" cy="685800"/>
          </a:xfrm>
          <a:prstGeom prst="ellipse">
            <a:avLst/>
          </a:prstGeom>
          <a:solidFill>
            <a:schemeClr val="accent1"/>
          </a:solidFill>
          <a:ln w="254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183" name="Text Box 7"/>
          <p:cNvSpPr txBox="1">
            <a:spLocks noChangeArrowheads="1"/>
          </p:cNvSpPr>
          <p:nvPr/>
        </p:nvSpPr>
        <p:spPr bwMode="auto">
          <a:xfrm>
            <a:off x="1828800" y="34290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2</a:t>
            </a:r>
          </a:p>
        </p:txBody>
      </p:sp>
      <p:sp>
        <p:nvSpPr>
          <p:cNvPr id="50184" name="Oval 8"/>
          <p:cNvSpPr>
            <a:spLocks noChangeArrowheads="1"/>
          </p:cNvSpPr>
          <p:nvPr/>
        </p:nvSpPr>
        <p:spPr bwMode="auto">
          <a:xfrm>
            <a:off x="4343400" y="2133600"/>
            <a:ext cx="609600" cy="685800"/>
          </a:xfrm>
          <a:prstGeom prst="ellipse">
            <a:avLst/>
          </a:prstGeom>
          <a:solidFill>
            <a:schemeClr val="accent1"/>
          </a:solidFill>
          <a:ln w="25400" algn="ctr">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185" name="Text Box 9"/>
          <p:cNvSpPr txBox="1">
            <a:spLocks noChangeArrowheads="1"/>
          </p:cNvSpPr>
          <p:nvPr/>
        </p:nvSpPr>
        <p:spPr bwMode="auto">
          <a:xfrm>
            <a:off x="4495800" y="22098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3</a:t>
            </a:r>
          </a:p>
        </p:txBody>
      </p:sp>
      <p:sp>
        <p:nvSpPr>
          <p:cNvPr id="50186" name="Oval 10"/>
          <p:cNvSpPr>
            <a:spLocks noChangeArrowheads="1"/>
          </p:cNvSpPr>
          <p:nvPr/>
        </p:nvSpPr>
        <p:spPr bwMode="auto">
          <a:xfrm>
            <a:off x="4343400" y="3352800"/>
            <a:ext cx="609600" cy="685800"/>
          </a:xfrm>
          <a:prstGeom prst="ellipse">
            <a:avLst/>
          </a:prstGeom>
          <a:solidFill>
            <a:schemeClr val="accent1"/>
          </a:solidFill>
          <a:ln w="25400" algn="ctr">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187" name="Text Box 11"/>
          <p:cNvSpPr txBox="1">
            <a:spLocks noChangeArrowheads="1"/>
          </p:cNvSpPr>
          <p:nvPr/>
        </p:nvSpPr>
        <p:spPr bwMode="auto">
          <a:xfrm>
            <a:off x="4495800" y="34290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4</a:t>
            </a:r>
          </a:p>
        </p:txBody>
      </p:sp>
      <p:sp>
        <p:nvSpPr>
          <p:cNvPr id="50188" name="Oval 12"/>
          <p:cNvSpPr>
            <a:spLocks noChangeArrowheads="1"/>
          </p:cNvSpPr>
          <p:nvPr/>
        </p:nvSpPr>
        <p:spPr bwMode="auto">
          <a:xfrm>
            <a:off x="7010400" y="2133600"/>
            <a:ext cx="609600" cy="685800"/>
          </a:xfrm>
          <a:prstGeom prst="ellipse">
            <a:avLst/>
          </a:prstGeom>
          <a:solidFill>
            <a:schemeClr val="accent1"/>
          </a:solidFill>
          <a:ln w="25400" algn="ctr">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189" name="Text Box 13"/>
          <p:cNvSpPr txBox="1">
            <a:spLocks noChangeArrowheads="1"/>
          </p:cNvSpPr>
          <p:nvPr/>
        </p:nvSpPr>
        <p:spPr bwMode="auto">
          <a:xfrm>
            <a:off x="7162800" y="22098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5</a:t>
            </a:r>
          </a:p>
        </p:txBody>
      </p:sp>
      <p:sp>
        <p:nvSpPr>
          <p:cNvPr id="50190" name="Oval 14"/>
          <p:cNvSpPr>
            <a:spLocks noChangeArrowheads="1"/>
          </p:cNvSpPr>
          <p:nvPr/>
        </p:nvSpPr>
        <p:spPr bwMode="auto">
          <a:xfrm>
            <a:off x="7010400" y="3352800"/>
            <a:ext cx="609600" cy="685800"/>
          </a:xfrm>
          <a:prstGeom prst="ellipse">
            <a:avLst/>
          </a:prstGeom>
          <a:solidFill>
            <a:schemeClr val="accent1"/>
          </a:solidFill>
          <a:ln w="25400" algn="ctr">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191" name="Text Box 15"/>
          <p:cNvSpPr txBox="1">
            <a:spLocks noChangeArrowheads="1"/>
          </p:cNvSpPr>
          <p:nvPr/>
        </p:nvSpPr>
        <p:spPr bwMode="auto">
          <a:xfrm>
            <a:off x="7162800" y="34290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6</a:t>
            </a:r>
          </a:p>
        </p:txBody>
      </p:sp>
      <p:sp>
        <p:nvSpPr>
          <p:cNvPr id="50192" name="Text Box 16"/>
          <p:cNvSpPr txBox="1">
            <a:spLocks noChangeArrowheads="1"/>
          </p:cNvSpPr>
          <p:nvPr/>
        </p:nvSpPr>
        <p:spPr bwMode="auto">
          <a:xfrm>
            <a:off x="838200" y="220980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-100</a:t>
            </a:r>
          </a:p>
        </p:txBody>
      </p:sp>
      <p:sp>
        <p:nvSpPr>
          <p:cNvPr id="50193" name="Text Box 17"/>
          <p:cNvSpPr txBox="1">
            <a:spLocks noChangeArrowheads="1"/>
          </p:cNvSpPr>
          <p:nvPr/>
        </p:nvSpPr>
        <p:spPr bwMode="auto">
          <a:xfrm>
            <a:off x="838200" y="350520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-100</a:t>
            </a:r>
          </a:p>
        </p:txBody>
      </p:sp>
      <p:sp>
        <p:nvSpPr>
          <p:cNvPr id="50194" name="Text Box 18"/>
          <p:cNvSpPr txBox="1">
            <a:spLocks noChangeArrowheads="1"/>
          </p:cNvSpPr>
          <p:nvPr/>
        </p:nvSpPr>
        <p:spPr bwMode="auto">
          <a:xfrm>
            <a:off x="7696200" y="220980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+75</a:t>
            </a:r>
          </a:p>
        </p:txBody>
      </p:sp>
      <p:sp>
        <p:nvSpPr>
          <p:cNvPr id="50195" name="Text Box 19"/>
          <p:cNvSpPr txBox="1">
            <a:spLocks noChangeArrowheads="1"/>
          </p:cNvSpPr>
          <p:nvPr/>
        </p:nvSpPr>
        <p:spPr bwMode="auto">
          <a:xfrm>
            <a:off x="7696200" y="342900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+50</a:t>
            </a:r>
          </a:p>
        </p:txBody>
      </p:sp>
      <p:sp>
        <p:nvSpPr>
          <p:cNvPr id="50196" name="Text Box 20"/>
          <p:cNvSpPr txBox="1">
            <a:spLocks noChangeArrowheads="1"/>
          </p:cNvSpPr>
          <p:nvPr/>
        </p:nvSpPr>
        <p:spPr bwMode="auto">
          <a:xfrm>
            <a:off x="4267200" y="41148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+0</a:t>
            </a:r>
          </a:p>
        </p:txBody>
      </p:sp>
      <p:sp>
        <p:nvSpPr>
          <p:cNvPr id="50197" name="Text Box 21"/>
          <p:cNvSpPr txBox="1">
            <a:spLocks noChangeArrowheads="1"/>
          </p:cNvSpPr>
          <p:nvPr/>
        </p:nvSpPr>
        <p:spPr bwMode="auto">
          <a:xfrm>
            <a:off x="4267200" y="16764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+0</a:t>
            </a:r>
          </a:p>
        </p:txBody>
      </p:sp>
      <p:sp>
        <p:nvSpPr>
          <p:cNvPr id="50198" name="Line 22"/>
          <p:cNvSpPr>
            <a:spLocks noChangeShapeType="1"/>
          </p:cNvSpPr>
          <p:nvPr/>
        </p:nvSpPr>
        <p:spPr bwMode="auto">
          <a:xfrm>
            <a:off x="2286000" y="2438400"/>
            <a:ext cx="198120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199" name="Line 23"/>
          <p:cNvSpPr>
            <a:spLocks noChangeShapeType="1"/>
          </p:cNvSpPr>
          <p:nvPr/>
        </p:nvSpPr>
        <p:spPr bwMode="auto">
          <a:xfrm>
            <a:off x="2286000" y="2438400"/>
            <a:ext cx="1981200" cy="114300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200" name="Line 24"/>
          <p:cNvSpPr>
            <a:spLocks noChangeShapeType="1"/>
          </p:cNvSpPr>
          <p:nvPr/>
        </p:nvSpPr>
        <p:spPr bwMode="auto">
          <a:xfrm>
            <a:off x="2286000" y="3733800"/>
            <a:ext cx="198120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201" name="Line 25"/>
          <p:cNvSpPr>
            <a:spLocks noChangeShapeType="1"/>
          </p:cNvSpPr>
          <p:nvPr/>
        </p:nvSpPr>
        <p:spPr bwMode="auto">
          <a:xfrm flipV="1">
            <a:off x="2286000" y="2667000"/>
            <a:ext cx="1905000" cy="106680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202" name="Line 26"/>
          <p:cNvSpPr>
            <a:spLocks noChangeShapeType="1"/>
          </p:cNvSpPr>
          <p:nvPr/>
        </p:nvSpPr>
        <p:spPr bwMode="auto">
          <a:xfrm>
            <a:off x="4953000" y="2438400"/>
            <a:ext cx="198120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203" name="Line 27"/>
          <p:cNvSpPr>
            <a:spLocks noChangeShapeType="1"/>
          </p:cNvSpPr>
          <p:nvPr/>
        </p:nvSpPr>
        <p:spPr bwMode="auto">
          <a:xfrm>
            <a:off x="4953000" y="2438400"/>
            <a:ext cx="1981200" cy="106680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204" name="Line 28"/>
          <p:cNvSpPr>
            <a:spLocks noChangeShapeType="1"/>
          </p:cNvSpPr>
          <p:nvPr/>
        </p:nvSpPr>
        <p:spPr bwMode="auto">
          <a:xfrm>
            <a:off x="4953000" y="3733800"/>
            <a:ext cx="198120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205" name="Line 29"/>
          <p:cNvSpPr>
            <a:spLocks noChangeShapeType="1"/>
          </p:cNvSpPr>
          <p:nvPr/>
        </p:nvSpPr>
        <p:spPr bwMode="auto">
          <a:xfrm flipV="1">
            <a:off x="4953000" y="2590800"/>
            <a:ext cx="1905000" cy="114300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206" name="Text Box 30"/>
          <p:cNvSpPr txBox="1">
            <a:spLocks noChangeArrowheads="1"/>
          </p:cNvSpPr>
          <p:nvPr/>
        </p:nvSpPr>
        <p:spPr bwMode="auto">
          <a:xfrm>
            <a:off x="2209800" y="19812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$3</a:t>
            </a:r>
          </a:p>
        </p:txBody>
      </p:sp>
      <p:sp>
        <p:nvSpPr>
          <p:cNvPr id="50207" name="Text Box 31"/>
          <p:cNvSpPr txBox="1">
            <a:spLocks noChangeArrowheads="1"/>
          </p:cNvSpPr>
          <p:nvPr/>
        </p:nvSpPr>
        <p:spPr bwMode="auto">
          <a:xfrm>
            <a:off x="2209800" y="25908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$4</a:t>
            </a:r>
          </a:p>
        </p:txBody>
      </p:sp>
      <p:sp>
        <p:nvSpPr>
          <p:cNvPr id="50208" name="Text Box 32"/>
          <p:cNvSpPr txBox="1">
            <a:spLocks noChangeArrowheads="1"/>
          </p:cNvSpPr>
          <p:nvPr/>
        </p:nvSpPr>
        <p:spPr bwMode="auto">
          <a:xfrm>
            <a:off x="2209800" y="3290888"/>
            <a:ext cx="53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$4</a:t>
            </a:r>
          </a:p>
        </p:txBody>
      </p:sp>
      <p:sp>
        <p:nvSpPr>
          <p:cNvPr id="50209" name="Text Box 33"/>
          <p:cNvSpPr txBox="1">
            <a:spLocks noChangeArrowheads="1"/>
          </p:cNvSpPr>
          <p:nvPr/>
        </p:nvSpPr>
        <p:spPr bwMode="auto">
          <a:xfrm>
            <a:off x="2286000" y="3748088"/>
            <a:ext cx="53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$5</a:t>
            </a:r>
          </a:p>
        </p:txBody>
      </p:sp>
      <p:sp>
        <p:nvSpPr>
          <p:cNvPr id="50210" name="Text Box 34"/>
          <p:cNvSpPr txBox="1">
            <a:spLocks noChangeArrowheads="1"/>
          </p:cNvSpPr>
          <p:nvPr/>
        </p:nvSpPr>
        <p:spPr bwMode="auto">
          <a:xfrm>
            <a:off x="4876800" y="20574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$5</a:t>
            </a:r>
          </a:p>
        </p:txBody>
      </p:sp>
      <p:sp>
        <p:nvSpPr>
          <p:cNvPr id="50211" name="Text Box 35"/>
          <p:cNvSpPr txBox="1">
            <a:spLocks noChangeArrowheads="1"/>
          </p:cNvSpPr>
          <p:nvPr/>
        </p:nvSpPr>
        <p:spPr bwMode="auto">
          <a:xfrm>
            <a:off x="4876800" y="3214688"/>
            <a:ext cx="53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$5</a:t>
            </a:r>
          </a:p>
        </p:txBody>
      </p:sp>
      <p:sp>
        <p:nvSpPr>
          <p:cNvPr id="50212" name="Text Box 36"/>
          <p:cNvSpPr txBox="1">
            <a:spLocks noChangeArrowheads="1"/>
          </p:cNvSpPr>
          <p:nvPr/>
        </p:nvSpPr>
        <p:spPr bwMode="auto">
          <a:xfrm>
            <a:off x="4876800" y="25146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$3</a:t>
            </a:r>
          </a:p>
        </p:txBody>
      </p:sp>
      <p:sp>
        <p:nvSpPr>
          <p:cNvPr id="50213" name="Text Box 37"/>
          <p:cNvSpPr txBox="1">
            <a:spLocks noChangeArrowheads="1"/>
          </p:cNvSpPr>
          <p:nvPr/>
        </p:nvSpPr>
        <p:spPr bwMode="auto">
          <a:xfrm>
            <a:off x="5029200" y="3748088"/>
            <a:ext cx="53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$6</a:t>
            </a:r>
          </a:p>
        </p:txBody>
      </p:sp>
      <p:sp>
        <p:nvSpPr>
          <p:cNvPr id="50214" name="Text Box 38"/>
          <p:cNvSpPr txBox="1">
            <a:spLocks noChangeArrowheads="1"/>
          </p:cNvSpPr>
          <p:nvPr/>
        </p:nvSpPr>
        <p:spPr bwMode="auto">
          <a:xfrm>
            <a:off x="457200" y="4892675"/>
            <a:ext cx="8305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dirty="0"/>
              <a:t>Suppose the total flow into nodes 3 &amp; 4 must be at least 50 and 60, respectively. How would you model this?</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3" name="Oval 3"/>
          <p:cNvSpPr>
            <a:spLocks noChangeArrowheads="1"/>
          </p:cNvSpPr>
          <p:nvPr/>
        </p:nvSpPr>
        <p:spPr bwMode="auto">
          <a:xfrm>
            <a:off x="1676400" y="2362200"/>
            <a:ext cx="609600" cy="685800"/>
          </a:xfrm>
          <a:prstGeom prst="ellipse">
            <a:avLst/>
          </a:prstGeom>
          <a:solidFill>
            <a:schemeClr val="accent1"/>
          </a:solidFill>
          <a:ln w="254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04" name="Text Box 4"/>
          <p:cNvSpPr txBox="1">
            <a:spLocks noChangeArrowheads="1"/>
          </p:cNvSpPr>
          <p:nvPr/>
        </p:nvSpPr>
        <p:spPr bwMode="auto">
          <a:xfrm>
            <a:off x="1828800" y="24384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1</a:t>
            </a:r>
          </a:p>
        </p:txBody>
      </p:sp>
      <p:sp>
        <p:nvSpPr>
          <p:cNvPr id="51205" name="Oval 5"/>
          <p:cNvSpPr>
            <a:spLocks noChangeArrowheads="1"/>
          </p:cNvSpPr>
          <p:nvPr/>
        </p:nvSpPr>
        <p:spPr bwMode="auto">
          <a:xfrm>
            <a:off x="1676400" y="3581400"/>
            <a:ext cx="609600" cy="685800"/>
          </a:xfrm>
          <a:prstGeom prst="ellipse">
            <a:avLst/>
          </a:prstGeom>
          <a:solidFill>
            <a:schemeClr val="accent1"/>
          </a:solidFill>
          <a:ln w="25400" algn="ctr">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06" name="Text Box 6"/>
          <p:cNvSpPr txBox="1">
            <a:spLocks noChangeArrowheads="1"/>
          </p:cNvSpPr>
          <p:nvPr/>
        </p:nvSpPr>
        <p:spPr bwMode="auto">
          <a:xfrm>
            <a:off x="1828800" y="36576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2</a:t>
            </a:r>
          </a:p>
        </p:txBody>
      </p:sp>
      <p:sp>
        <p:nvSpPr>
          <p:cNvPr id="51207" name="Oval 7"/>
          <p:cNvSpPr>
            <a:spLocks noChangeArrowheads="1"/>
          </p:cNvSpPr>
          <p:nvPr/>
        </p:nvSpPr>
        <p:spPr bwMode="auto">
          <a:xfrm>
            <a:off x="5181600" y="2362200"/>
            <a:ext cx="609600" cy="685800"/>
          </a:xfrm>
          <a:prstGeom prst="ellipse">
            <a:avLst/>
          </a:prstGeom>
          <a:solidFill>
            <a:schemeClr val="accent1"/>
          </a:solidFill>
          <a:ln w="25400" algn="ctr">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08" name="Text Box 8"/>
          <p:cNvSpPr txBox="1">
            <a:spLocks noChangeArrowheads="1"/>
          </p:cNvSpPr>
          <p:nvPr/>
        </p:nvSpPr>
        <p:spPr bwMode="auto">
          <a:xfrm>
            <a:off x="5334000" y="24384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3</a:t>
            </a:r>
          </a:p>
        </p:txBody>
      </p:sp>
      <p:sp>
        <p:nvSpPr>
          <p:cNvPr id="51209" name="Oval 9"/>
          <p:cNvSpPr>
            <a:spLocks noChangeArrowheads="1"/>
          </p:cNvSpPr>
          <p:nvPr/>
        </p:nvSpPr>
        <p:spPr bwMode="auto">
          <a:xfrm>
            <a:off x="5181600" y="3581400"/>
            <a:ext cx="609600" cy="685800"/>
          </a:xfrm>
          <a:prstGeom prst="ellipse">
            <a:avLst/>
          </a:prstGeom>
          <a:solidFill>
            <a:schemeClr val="accent1"/>
          </a:solidFill>
          <a:ln w="25400" algn="ctr">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10" name="Text Box 10"/>
          <p:cNvSpPr txBox="1">
            <a:spLocks noChangeArrowheads="1"/>
          </p:cNvSpPr>
          <p:nvPr/>
        </p:nvSpPr>
        <p:spPr bwMode="auto">
          <a:xfrm>
            <a:off x="5334000" y="36576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4</a:t>
            </a:r>
          </a:p>
        </p:txBody>
      </p:sp>
      <p:sp>
        <p:nvSpPr>
          <p:cNvPr id="51211" name="Oval 11"/>
          <p:cNvSpPr>
            <a:spLocks noChangeArrowheads="1"/>
          </p:cNvSpPr>
          <p:nvPr/>
        </p:nvSpPr>
        <p:spPr bwMode="auto">
          <a:xfrm>
            <a:off x="7010400" y="2362200"/>
            <a:ext cx="609600" cy="685800"/>
          </a:xfrm>
          <a:prstGeom prst="ellipse">
            <a:avLst/>
          </a:prstGeom>
          <a:solidFill>
            <a:schemeClr val="accent1"/>
          </a:solidFill>
          <a:ln w="25400" algn="ctr">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12" name="Text Box 12"/>
          <p:cNvSpPr txBox="1">
            <a:spLocks noChangeArrowheads="1"/>
          </p:cNvSpPr>
          <p:nvPr/>
        </p:nvSpPr>
        <p:spPr bwMode="auto">
          <a:xfrm>
            <a:off x="7162800" y="24384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5</a:t>
            </a:r>
          </a:p>
        </p:txBody>
      </p:sp>
      <p:sp>
        <p:nvSpPr>
          <p:cNvPr id="51213" name="Oval 13"/>
          <p:cNvSpPr>
            <a:spLocks noChangeArrowheads="1"/>
          </p:cNvSpPr>
          <p:nvPr/>
        </p:nvSpPr>
        <p:spPr bwMode="auto">
          <a:xfrm>
            <a:off x="7010400" y="3581400"/>
            <a:ext cx="609600" cy="685800"/>
          </a:xfrm>
          <a:prstGeom prst="ellipse">
            <a:avLst/>
          </a:prstGeom>
          <a:solidFill>
            <a:schemeClr val="accent1"/>
          </a:solidFill>
          <a:ln w="25400" algn="ctr">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14" name="Text Box 14"/>
          <p:cNvSpPr txBox="1">
            <a:spLocks noChangeArrowheads="1"/>
          </p:cNvSpPr>
          <p:nvPr/>
        </p:nvSpPr>
        <p:spPr bwMode="auto">
          <a:xfrm>
            <a:off x="7162800" y="36576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6</a:t>
            </a:r>
          </a:p>
        </p:txBody>
      </p:sp>
      <p:sp>
        <p:nvSpPr>
          <p:cNvPr id="51215" name="Text Box 15"/>
          <p:cNvSpPr txBox="1">
            <a:spLocks noChangeArrowheads="1"/>
          </p:cNvSpPr>
          <p:nvPr/>
        </p:nvSpPr>
        <p:spPr bwMode="auto">
          <a:xfrm>
            <a:off x="838200" y="243840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-100</a:t>
            </a:r>
          </a:p>
        </p:txBody>
      </p:sp>
      <p:sp>
        <p:nvSpPr>
          <p:cNvPr id="51216" name="Text Box 16"/>
          <p:cNvSpPr txBox="1">
            <a:spLocks noChangeArrowheads="1"/>
          </p:cNvSpPr>
          <p:nvPr/>
        </p:nvSpPr>
        <p:spPr bwMode="auto">
          <a:xfrm>
            <a:off x="838200" y="373380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-100</a:t>
            </a:r>
          </a:p>
        </p:txBody>
      </p:sp>
      <p:sp>
        <p:nvSpPr>
          <p:cNvPr id="51217" name="Text Box 17"/>
          <p:cNvSpPr txBox="1">
            <a:spLocks noChangeArrowheads="1"/>
          </p:cNvSpPr>
          <p:nvPr/>
        </p:nvSpPr>
        <p:spPr bwMode="auto">
          <a:xfrm>
            <a:off x="7696200" y="243840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+75</a:t>
            </a:r>
          </a:p>
        </p:txBody>
      </p:sp>
      <p:sp>
        <p:nvSpPr>
          <p:cNvPr id="51218" name="Text Box 18"/>
          <p:cNvSpPr txBox="1">
            <a:spLocks noChangeArrowheads="1"/>
          </p:cNvSpPr>
          <p:nvPr/>
        </p:nvSpPr>
        <p:spPr bwMode="auto">
          <a:xfrm>
            <a:off x="7696200" y="365760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+50</a:t>
            </a:r>
          </a:p>
        </p:txBody>
      </p:sp>
      <p:sp>
        <p:nvSpPr>
          <p:cNvPr id="51219" name="Text Box 19"/>
          <p:cNvSpPr txBox="1">
            <a:spLocks noChangeArrowheads="1"/>
          </p:cNvSpPr>
          <p:nvPr/>
        </p:nvSpPr>
        <p:spPr bwMode="auto">
          <a:xfrm>
            <a:off x="5105400" y="43434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+0</a:t>
            </a:r>
          </a:p>
        </p:txBody>
      </p:sp>
      <p:sp>
        <p:nvSpPr>
          <p:cNvPr id="51220" name="Text Box 20"/>
          <p:cNvSpPr txBox="1">
            <a:spLocks noChangeArrowheads="1"/>
          </p:cNvSpPr>
          <p:nvPr/>
        </p:nvSpPr>
        <p:spPr bwMode="auto">
          <a:xfrm>
            <a:off x="5105400" y="19050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+0</a:t>
            </a:r>
          </a:p>
        </p:txBody>
      </p:sp>
      <p:sp>
        <p:nvSpPr>
          <p:cNvPr id="51221" name="Line 21"/>
          <p:cNvSpPr>
            <a:spLocks noChangeShapeType="1"/>
          </p:cNvSpPr>
          <p:nvPr/>
        </p:nvSpPr>
        <p:spPr bwMode="auto">
          <a:xfrm>
            <a:off x="2286000" y="2667000"/>
            <a:ext cx="83820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22" name="Line 22"/>
          <p:cNvSpPr>
            <a:spLocks noChangeShapeType="1"/>
          </p:cNvSpPr>
          <p:nvPr/>
        </p:nvSpPr>
        <p:spPr bwMode="auto">
          <a:xfrm>
            <a:off x="2286000" y="2667000"/>
            <a:ext cx="838200" cy="106680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23" name="Line 23"/>
          <p:cNvSpPr>
            <a:spLocks noChangeShapeType="1"/>
          </p:cNvSpPr>
          <p:nvPr/>
        </p:nvSpPr>
        <p:spPr bwMode="auto">
          <a:xfrm>
            <a:off x="2286000" y="3962400"/>
            <a:ext cx="83820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24" name="Line 24"/>
          <p:cNvSpPr>
            <a:spLocks noChangeShapeType="1"/>
          </p:cNvSpPr>
          <p:nvPr/>
        </p:nvSpPr>
        <p:spPr bwMode="auto">
          <a:xfrm flipV="1">
            <a:off x="2286000" y="2971800"/>
            <a:ext cx="838200" cy="99060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25" name="Line 25"/>
          <p:cNvSpPr>
            <a:spLocks noChangeShapeType="1"/>
          </p:cNvSpPr>
          <p:nvPr/>
        </p:nvSpPr>
        <p:spPr bwMode="auto">
          <a:xfrm>
            <a:off x="5791200" y="2667000"/>
            <a:ext cx="114300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26" name="Line 26"/>
          <p:cNvSpPr>
            <a:spLocks noChangeShapeType="1"/>
          </p:cNvSpPr>
          <p:nvPr/>
        </p:nvSpPr>
        <p:spPr bwMode="auto">
          <a:xfrm>
            <a:off x="5791200" y="2667000"/>
            <a:ext cx="1143000" cy="106680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27" name="Line 27"/>
          <p:cNvSpPr>
            <a:spLocks noChangeShapeType="1"/>
          </p:cNvSpPr>
          <p:nvPr/>
        </p:nvSpPr>
        <p:spPr bwMode="auto">
          <a:xfrm>
            <a:off x="5791200" y="3962400"/>
            <a:ext cx="114300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28" name="Line 28"/>
          <p:cNvSpPr>
            <a:spLocks noChangeShapeType="1"/>
          </p:cNvSpPr>
          <p:nvPr/>
        </p:nvSpPr>
        <p:spPr bwMode="auto">
          <a:xfrm flipV="1">
            <a:off x="5791200" y="2819400"/>
            <a:ext cx="1066800" cy="114300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29" name="Text Box 29"/>
          <p:cNvSpPr txBox="1">
            <a:spLocks noChangeArrowheads="1"/>
          </p:cNvSpPr>
          <p:nvPr/>
        </p:nvSpPr>
        <p:spPr bwMode="auto">
          <a:xfrm>
            <a:off x="2209800" y="22098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$3</a:t>
            </a:r>
          </a:p>
        </p:txBody>
      </p:sp>
      <p:sp>
        <p:nvSpPr>
          <p:cNvPr id="51230" name="Text Box 30"/>
          <p:cNvSpPr txBox="1">
            <a:spLocks noChangeArrowheads="1"/>
          </p:cNvSpPr>
          <p:nvPr/>
        </p:nvSpPr>
        <p:spPr bwMode="auto">
          <a:xfrm>
            <a:off x="2133600" y="28956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$4</a:t>
            </a:r>
          </a:p>
        </p:txBody>
      </p:sp>
      <p:sp>
        <p:nvSpPr>
          <p:cNvPr id="51231" name="Text Box 31"/>
          <p:cNvSpPr txBox="1">
            <a:spLocks noChangeArrowheads="1"/>
          </p:cNvSpPr>
          <p:nvPr/>
        </p:nvSpPr>
        <p:spPr bwMode="auto">
          <a:xfrm>
            <a:off x="2133600" y="33528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$4</a:t>
            </a:r>
          </a:p>
        </p:txBody>
      </p:sp>
      <p:sp>
        <p:nvSpPr>
          <p:cNvPr id="51232" name="Text Box 32"/>
          <p:cNvSpPr txBox="1">
            <a:spLocks noChangeArrowheads="1"/>
          </p:cNvSpPr>
          <p:nvPr/>
        </p:nvSpPr>
        <p:spPr bwMode="auto">
          <a:xfrm>
            <a:off x="2286000" y="3976688"/>
            <a:ext cx="53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$5</a:t>
            </a:r>
          </a:p>
        </p:txBody>
      </p:sp>
      <p:sp>
        <p:nvSpPr>
          <p:cNvPr id="51233" name="Text Box 33"/>
          <p:cNvSpPr txBox="1">
            <a:spLocks noChangeArrowheads="1"/>
          </p:cNvSpPr>
          <p:nvPr/>
        </p:nvSpPr>
        <p:spPr bwMode="auto">
          <a:xfrm>
            <a:off x="5715000" y="22860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$5</a:t>
            </a:r>
          </a:p>
        </p:txBody>
      </p:sp>
      <p:sp>
        <p:nvSpPr>
          <p:cNvPr id="51234" name="Text Box 34"/>
          <p:cNvSpPr txBox="1">
            <a:spLocks noChangeArrowheads="1"/>
          </p:cNvSpPr>
          <p:nvPr/>
        </p:nvSpPr>
        <p:spPr bwMode="auto">
          <a:xfrm>
            <a:off x="5638800" y="33528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$5</a:t>
            </a:r>
          </a:p>
        </p:txBody>
      </p:sp>
      <p:sp>
        <p:nvSpPr>
          <p:cNvPr id="51235" name="Text Box 35"/>
          <p:cNvSpPr txBox="1">
            <a:spLocks noChangeArrowheads="1"/>
          </p:cNvSpPr>
          <p:nvPr/>
        </p:nvSpPr>
        <p:spPr bwMode="auto">
          <a:xfrm>
            <a:off x="5638800" y="28956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$3</a:t>
            </a:r>
          </a:p>
        </p:txBody>
      </p:sp>
      <p:sp>
        <p:nvSpPr>
          <p:cNvPr id="51236" name="Text Box 36"/>
          <p:cNvSpPr txBox="1">
            <a:spLocks noChangeArrowheads="1"/>
          </p:cNvSpPr>
          <p:nvPr/>
        </p:nvSpPr>
        <p:spPr bwMode="auto">
          <a:xfrm>
            <a:off x="5867400" y="3976688"/>
            <a:ext cx="53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$6</a:t>
            </a:r>
          </a:p>
        </p:txBody>
      </p:sp>
      <p:sp>
        <p:nvSpPr>
          <p:cNvPr id="51238" name="Oval 38"/>
          <p:cNvSpPr>
            <a:spLocks noChangeArrowheads="1"/>
          </p:cNvSpPr>
          <p:nvPr/>
        </p:nvSpPr>
        <p:spPr bwMode="auto">
          <a:xfrm>
            <a:off x="3200400" y="2362200"/>
            <a:ext cx="609600" cy="685800"/>
          </a:xfrm>
          <a:prstGeom prst="ellipse">
            <a:avLst/>
          </a:prstGeom>
          <a:solidFill>
            <a:schemeClr val="accent1"/>
          </a:solidFill>
          <a:ln w="25400" algn="ctr">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39" name="Text Box 39"/>
          <p:cNvSpPr txBox="1">
            <a:spLocks noChangeArrowheads="1"/>
          </p:cNvSpPr>
          <p:nvPr/>
        </p:nvSpPr>
        <p:spPr bwMode="auto">
          <a:xfrm>
            <a:off x="3200400" y="24384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30</a:t>
            </a:r>
          </a:p>
        </p:txBody>
      </p:sp>
      <p:sp>
        <p:nvSpPr>
          <p:cNvPr id="51240" name="Oval 40"/>
          <p:cNvSpPr>
            <a:spLocks noChangeArrowheads="1"/>
          </p:cNvSpPr>
          <p:nvPr/>
        </p:nvSpPr>
        <p:spPr bwMode="auto">
          <a:xfrm>
            <a:off x="3200400" y="3581400"/>
            <a:ext cx="609600" cy="685800"/>
          </a:xfrm>
          <a:prstGeom prst="ellipse">
            <a:avLst/>
          </a:prstGeom>
          <a:solidFill>
            <a:schemeClr val="accent1"/>
          </a:solidFill>
          <a:ln w="25400" algn="ctr">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41" name="Text Box 41"/>
          <p:cNvSpPr txBox="1">
            <a:spLocks noChangeArrowheads="1"/>
          </p:cNvSpPr>
          <p:nvPr/>
        </p:nvSpPr>
        <p:spPr bwMode="auto">
          <a:xfrm>
            <a:off x="3200400" y="36576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40</a:t>
            </a:r>
          </a:p>
        </p:txBody>
      </p:sp>
      <p:sp>
        <p:nvSpPr>
          <p:cNvPr id="51242" name="Text Box 42"/>
          <p:cNvSpPr txBox="1">
            <a:spLocks noChangeArrowheads="1"/>
          </p:cNvSpPr>
          <p:nvPr/>
        </p:nvSpPr>
        <p:spPr bwMode="auto">
          <a:xfrm>
            <a:off x="3124200" y="43434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+0</a:t>
            </a:r>
          </a:p>
        </p:txBody>
      </p:sp>
      <p:sp>
        <p:nvSpPr>
          <p:cNvPr id="51243" name="Text Box 43"/>
          <p:cNvSpPr txBox="1">
            <a:spLocks noChangeArrowheads="1"/>
          </p:cNvSpPr>
          <p:nvPr/>
        </p:nvSpPr>
        <p:spPr bwMode="auto">
          <a:xfrm>
            <a:off x="3124200" y="19050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+0</a:t>
            </a:r>
          </a:p>
        </p:txBody>
      </p:sp>
      <p:sp>
        <p:nvSpPr>
          <p:cNvPr id="51248" name="Line 48"/>
          <p:cNvSpPr>
            <a:spLocks noChangeShapeType="1"/>
          </p:cNvSpPr>
          <p:nvPr/>
        </p:nvSpPr>
        <p:spPr bwMode="auto">
          <a:xfrm>
            <a:off x="3810000" y="2667000"/>
            <a:ext cx="129540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49" name="Line 49"/>
          <p:cNvSpPr>
            <a:spLocks noChangeShapeType="1"/>
          </p:cNvSpPr>
          <p:nvPr/>
        </p:nvSpPr>
        <p:spPr bwMode="auto">
          <a:xfrm>
            <a:off x="3810000" y="3962400"/>
            <a:ext cx="129540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50" name="Text Box 50"/>
          <p:cNvSpPr txBox="1">
            <a:spLocks noChangeArrowheads="1"/>
          </p:cNvSpPr>
          <p:nvPr/>
        </p:nvSpPr>
        <p:spPr bwMode="auto">
          <a:xfrm>
            <a:off x="3886200" y="2667000"/>
            <a:ext cx="1066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t>L.B.=50</a:t>
            </a:r>
          </a:p>
        </p:txBody>
      </p:sp>
      <p:sp>
        <p:nvSpPr>
          <p:cNvPr id="51251" name="Text Box 51"/>
          <p:cNvSpPr txBox="1">
            <a:spLocks noChangeArrowheads="1"/>
          </p:cNvSpPr>
          <p:nvPr/>
        </p:nvSpPr>
        <p:spPr bwMode="auto">
          <a:xfrm>
            <a:off x="3886200" y="3962400"/>
            <a:ext cx="1066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t>L.B.=60</a:t>
            </a:r>
          </a:p>
        </p:txBody>
      </p:sp>
      <p:sp>
        <p:nvSpPr>
          <p:cNvPr id="51252" name="Text Box 52"/>
          <p:cNvSpPr txBox="1">
            <a:spLocks noChangeArrowheads="1"/>
          </p:cNvSpPr>
          <p:nvPr/>
        </p:nvSpPr>
        <p:spPr bwMode="auto">
          <a:xfrm>
            <a:off x="990600" y="5197475"/>
            <a:ext cx="7162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dirty="0"/>
              <a:t>Nodes 30 &amp; 40 aggregate the total flow into nodes 3 &amp; 4, respectively.</a:t>
            </a:r>
          </a:p>
        </p:txBody>
      </p:sp>
      <p:sp>
        <p:nvSpPr>
          <p:cNvPr id="51253" name="Rectangle 53"/>
          <p:cNvSpPr>
            <a:spLocks noChangeArrowheads="1"/>
          </p:cNvSpPr>
          <p:nvPr/>
        </p:nvSpPr>
        <p:spPr bwMode="auto">
          <a:xfrm>
            <a:off x="533400" y="609600"/>
            <a:ext cx="77724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ctr"/>
            <a:r>
              <a:rPr lang="en-US" sz="4000" i="1">
                <a:solidFill>
                  <a:schemeClr val="hlink"/>
                </a:solidFill>
              </a:rPr>
              <a:t>Special Modeling Considerations:</a:t>
            </a:r>
            <a:br>
              <a:rPr lang="en-US" sz="4000" i="1">
                <a:solidFill>
                  <a:schemeClr val="hlink"/>
                </a:solidFill>
              </a:rPr>
            </a:br>
            <a:r>
              <a:rPr lang="en-US" sz="4000" i="1">
                <a:solidFill>
                  <a:schemeClr val="hlink"/>
                </a:solidFill>
              </a:rPr>
              <a:t>Flow Aggregation</a:t>
            </a:r>
            <a:endParaRPr lang="en-US" sz="4000">
              <a:solidFill>
                <a:schemeClr val="hlink"/>
              </a:solidFill>
            </a:endParaRP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457200" y="538163"/>
            <a:ext cx="8229600" cy="703262"/>
          </a:xfrm>
        </p:spPr>
        <p:txBody>
          <a:bodyPr/>
          <a:lstStyle/>
          <a:p>
            <a:r>
              <a:rPr lang="en-US" sz="4000" i="1">
                <a:solidFill>
                  <a:schemeClr val="hlink"/>
                </a:solidFill>
              </a:rPr>
              <a:t>Special Modeling Considerations:</a:t>
            </a:r>
            <a:br>
              <a:rPr lang="en-US" sz="4000" i="1">
                <a:solidFill>
                  <a:schemeClr val="hlink"/>
                </a:solidFill>
              </a:rPr>
            </a:br>
            <a:r>
              <a:rPr lang="en-US" sz="4000" i="1">
                <a:solidFill>
                  <a:schemeClr val="hlink"/>
                </a:solidFill>
              </a:rPr>
              <a:t>Multiple Arcs Between Nodes</a:t>
            </a:r>
            <a:endParaRPr lang="en-US" sz="4000">
              <a:solidFill>
                <a:schemeClr val="hlink"/>
              </a:solidFill>
            </a:endParaRPr>
          </a:p>
        </p:txBody>
      </p:sp>
      <p:sp>
        <p:nvSpPr>
          <p:cNvPr id="52227" name="Oval 3"/>
          <p:cNvSpPr>
            <a:spLocks noChangeArrowheads="1"/>
          </p:cNvSpPr>
          <p:nvPr/>
        </p:nvSpPr>
        <p:spPr bwMode="auto">
          <a:xfrm>
            <a:off x="2438400" y="1995488"/>
            <a:ext cx="609600" cy="685800"/>
          </a:xfrm>
          <a:prstGeom prst="ellipse">
            <a:avLst/>
          </a:prstGeom>
          <a:solidFill>
            <a:schemeClr val="accent1"/>
          </a:solidFill>
          <a:ln w="254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28" name="Text Box 4"/>
          <p:cNvSpPr txBox="1">
            <a:spLocks noChangeArrowheads="1"/>
          </p:cNvSpPr>
          <p:nvPr/>
        </p:nvSpPr>
        <p:spPr bwMode="auto">
          <a:xfrm>
            <a:off x="2514600" y="2071688"/>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1</a:t>
            </a:r>
          </a:p>
        </p:txBody>
      </p:sp>
      <p:sp>
        <p:nvSpPr>
          <p:cNvPr id="52233" name="Oval 9"/>
          <p:cNvSpPr>
            <a:spLocks noChangeArrowheads="1"/>
          </p:cNvSpPr>
          <p:nvPr/>
        </p:nvSpPr>
        <p:spPr bwMode="auto">
          <a:xfrm>
            <a:off x="2286000" y="5486400"/>
            <a:ext cx="609600" cy="685800"/>
          </a:xfrm>
          <a:prstGeom prst="ellipse">
            <a:avLst/>
          </a:prstGeom>
          <a:solidFill>
            <a:schemeClr val="accent1"/>
          </a:solidFill>
          <a:ln w="25400" algn="ctr">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34" name="Text Box 10"/>
          <p:cNvSpPr txBox="1">
            <a:spLocks noChangeArrowheads="1"/>
          </p:cNvSpPr>
          <p:nvPr/>
        </p:nvSpPr>
        <p:spPr bwMode="auto">
          <a:xfrm>
            <a:off x="2438400" y="55626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1</a:t>
            </a:r>
          </a:p>
        </p:txBody>
      </p:sp>
      <p:sp>
        <p:nvSpPr>
          <p:cNvPr id="52235" name="Oval 11"/>
          <p:cNvSpPr>
            <a:spLocks noChangeArrowheads="1"/>
          </p:cNvSpPr>
          <p:nvPr/>
        </p:nvSpPr>
        <p:spPr bwMode="auto">
          <a:xfrm>
            <a:off x="4343400" y="3962400"/>
            <a:ext cx="609600" cy="685800"/>
          </a:xfrm>
          <a:prstGeom prst="ellipse">
            <a:avLst/>
          </a:prstGeom>
          <a:solidFill>
            <a:schemeClr val="accent1"/>
          </a:solidFill>
          <a:ln w="25400" algn="ctr">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36" name="Text Box 12"/>
          <p:cNvSpPr txBox="1">
            <a:spLocks noChangeArrowheads="1"/>
          </p:cNvSpPr>
          <p:nvPr/>
        </p:nvSpPr>
        <p:spPr bwMode="auto">
          <a:xfrm>
            <a:off x="4419600" y="40386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10</a:t>
            </a:r>
          </a:p>
        </p:txBody>
      </p:sp>
      <p:sp>
        <p:nvSpPr>
          <p:cNvPr id="52237" name="Oval 13"/>
          <p:cNvSpPr>
            <a:spLocks noChangeArrowheads="1"/>
          </p:cNvSpPr>
          <p:nvPr/>
        </p:nvSpPr>
        <p:spPr bwMode="auto">
          <a:xfrm>
            <a:off x="6324600" y="5486400"/>
            <a:ext cx="609600" cy="685800"/>
          </a:xfrm>
          <a:prstGeom prst="ellipse">
            <a:avLst/>
          </a:prstGeom>
          <a:solidFill>
            <a:schemeClr val="accent1"/>
          </a:solidFill>
          <a:ln w="25400" algn="ctr">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38" name="Text Box 14"/>
          <p:cNvSpPr txBox="1">
            <a:spLocks noChangeArrowheads="1"/>
          </p:cNvSpPr>
          <p:nvPr/>
        </p:nvSpPr>
        <p:spPr bwMode="auto">
          <a:xfrm>
            <a:off x="6477000" y="55626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2</a:t>
            </a:r>
          </a:p>
        </p:txBody>
      </p:sp>
      <p:sp>
        <p:nvSpPr>
          <p:cNvPr id="52239" name="Text Box 15"/>
          <p:cNvSpPr txBox="1">
            <a:spLocks noChangeArrowheads="1"/>
          </p:cNvSpPr>
          <p:nvPr/>
        </p:nvSpPr>
        <p:spPr bwMode="auto">
          <a:xfrm>
            <a:off x="1752600" y="2071688"/>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-75</a:t>
            </a:r>
          </a:p>
        </p:txBody>
      </p:sp>
      <p:sp>
        <p:nvSpPr>
          <p:cNvPr id="52241" name="Text Box 17"/>
          <p:cNvSpPr txBox="1">
            <a:spLocks noChangeArrowheads="1"/>
          </p:cNvSpPr>
          <p:nvPr/>
        </p:nvSpPr>
        <p:spPr bwMode="auto">
          <a:xfrm>
            <a:off x="4876800" y="373380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+0</a:t>
            </a:r>
          </a:p>
        </p:txBody>
      </p:sp>
      <p:sp>
        <p:nvSpPr>
          <p:cNvPr id="52242" name="Text Box 18"/>
          <p:cNvSpPr txBox="1">
            <a:spLocks noChangeArrowheads="1"/>
          </p:cNvSpPr>
          <p:nvPr/>
        </p:nvSpPr>
        <p:spPr bwMode="auto">
          <a:xfrm>
            <a:off x="7010400" y="55626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+50</a:t>
            </a:r>
          </a:p>
        </p:txBody>
      </p:sp>
      <p:sp>
        <p:nvSpPr>
          <p:cNvPr id="52243" name="Text Box 19"/>
          <p:cNvSpPr txBox="1">
            <a:spLocks noChangeArrowheads="1"/>
          </p:cNvSpPr>
          <p:nvPr/>
        </p:nvSpPr>
        <p:spPr bwMode="auto">
          <a:xfrm>
            <a:off x="1676400" y="56388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-75</a:t>
            </a:r>
          </a:p>
        </p:txBody>
      </p:sp>
      <p:sp>
        <p:nvSpPr>
          <p:cNvPr id="52245" name="Line 21"/>
          <p:cNvSpPr>
            <a:spLocks noChangeShapeType="1"/>
          </p:cNvSpPr>
          <p:nvPr/>
        </p:nvSpPr>
        <p:spPr bwMode="auto">
          <a:xfrm>
            <a:off x="2971800" y="2147888"/>
            <a:ext cx="281940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48" name="Line 24"/>
          <p:cNvSpPr>
            <a:spLocks noChangeShapeType="1"/>
          </p:cNvSpPr>
          <p:nvPr/>
        </p:nvSpPr>
        <p:spPr bwMode="auto">
          <a:xfrm flipV="1">
            <a:off x="2971800" y="2528888"/>
            <a:ext cx="281940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50" name="Line 26"/>
          <p:cNvSpPr>
            <a:spLocks noChangeShapeType="1"/>
          </p:cNvSpPr>
          <p:nvPr/>
        </p:nvSpPr>
        <p:spPr bwMode="auto">
          <a:xfrm>
            <a:off x="4953000" y="4419600"/>
            <a:ext cx="1371600" cy="114300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51" name="Line 27"/>
          <p:cNvSpPr>
            <a:spLocks noChangeShapeType="1"/>
          </p:cNvSpPr>
          <p:nvPr/>
        </p:nvSpPr>
        <p:spPr bwMode="auto">
          <a:xfrm>
            <a:off x="2895600" y="5867400"/>
            <a:ext cx="3276600" cy="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52" name="Line 28"/>
          <p:cNvSpPr>
            <a:spLocks noChangeShapeType="1"/>
          </p:cNvSpPr>
          <p:nvPr/>
        </p:nvSpPr>
        <p:spPr bwMode="auto">
          <a:xfrm flipV="1">
            <a:off x="2819400" y="4419600"/>
            <a:ext cx="1447800" cy="1219200"/>
          </a:xfrm>
          <a:prstGeom prst="line">
            <a:avLst/>
          </a:prstGeom>
          <a:noFill/>
          <a:ln w="254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53" name="Text Box 29"/>
          <p:cNvSpPr txBox="1">
            <a:spLocks noChangeArrowheads="1"/>
          </p:cNvSpPr>
          <p:nvPr/>
        </p:nvSpPr>
        <p:spPr bwMode="auto">
          <a:xfrm>
            <a:off x="4267200" y="1690688"/>
            <a:ext cx="53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$8</a:t>
            </a:r>
          </a:p>
        </p:txBody>
      </p:sp>
      <p:sp>
        <p:nvSpPr>
          <p:cNvPr id="52258" name="Text Box 34"/>
          <p:cNvSpPr txBox="1">
            <a:spLocks noChangeArrowheads="1"/>
          </p:cNvSpPr>
          <p:nvPr/>
        </p:nvSpPr>
        <p:spPr bwMode="auto">
          <a:xfrm>
            <a:off x="3124200" y="4738688"/>
            <a:ext cx="53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$0</a:t>
            </a:r>
          </a:p>
        </p:txBody>
      </p:sp>
      <p:sp>
        <p:nvSpPr>
          <p:cNvPr id="52260" name="Text Box 36"/>
          <p:cNvSpPr txBox="1">
            <a:spLocks noChangeArrowheads="1"/>
          </p:cNvSpPr>
          <p:nvPr/>
        </p:nvSpPr>
        <p:spPr bwMode="auto">
          <a:xfrm>
            <a:off x="4343400" y="54864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$6</a:t>
            </a:r>
          </a:p>
        </p:txBody>
      </p:sp>
      <p:sp>
        <p:nvSpPr>
          <p:cNvPr id="52261" name="Oval 37"/>
          <p:cNvSpPr>
            <a:spLocks noChangeArrowheads="1"/>
          </p:cNvSpPr>
          <p:nvPr/>
        </p:nvSpPr>
        <p:spPr bwMode="auto">
          <a:xfrm>
            <a:off x="5867400" y="1995488"/>
            <a:ext cx="609600" cy="685800"/>
          </a:xfrm>
          <a:prstGeom prst="ellipse">
            <a:avLst/>
          </a:prstGeom>
          <a:solidFill>
            <a:schemeClr val="accent1"/>
          </a:solidFill>
          <a:ln w="25400" algn="ctr">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62" name="Text Box 38"/>
          <p:cNvSpPr txBox="1">
            <a:spLocks noChangeArrowheads="1"/>
          </p:cNvSpPr>
          <p:nvPr/>
        </p:nvSpPr>
        <p:spPr bwMode="auto">
          <a:xfrm>
            <a:off x="5867400" y="2071688"/>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sz="2400"/>
              <a:t>2</a:t>
            </a:r>
          </a:p>
        </p:txBody>
      </p:sp>
      <p:sp>
        <p:nvSpPr>
          <p:cNvPr id="52266" name="Text Box 42"/>
          <p:cNvSpPr txBox="1">
            <a:spLocks noChangeArrowheads="1"/>
          </p:cNvSpPr>
          <p:nvPr/>
        </p:nvSpPr>
        <p:spPr bwMode="auto">
          <a:xfrm>
            <a:off x="6477000" y="2147888"/>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a:t>+50</a:t>
            </a:r>
          </a:p>
        </p:txBody>
      </p:sp>
      <p:sp>
        <p:nvSpPr>
          <p:cNvPr id="52271" name="Text Box 47"/>
          <p:cNvSpPr txBox="1">
            <a:spLocks noChangeArrowheads="1"/>
          </p:cNvSpPr>
          <p:nvPr/>
        </p:nvSpPr>
        <p:spPr bwMode="auto">
          <a:xfrm>
            <a:off x="1524000" y="2971800"/>
            <a:ext cx="7162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sz="2400" dirty="0"/>
              <a:t>Two </a:t>
            </a:r>
            <a:r>
              <a:rPr lang="en-US" sz="2400" dirty="0" err="1"/>
              <a:t>two</a:t>
            </a:r>
            <a:r>
              <a:rPr lang="en-US" sz="2400" dirty="0"/>
              <a:t> (or more) arcs cannot share the same beginning and ending nodes.  Instead, try...</a:t>
            </a:r>
          </a:p>
        </p:txBody>
      </p:sp>
      <p:sp>
        <p:nvSpPr>
          <p:cNvPr id="52272" name="Text Box 48"/>
          <p:cNvSpPr txBox="1">
            <a:spLocks noChangeArrowheads="1"/>
          </p:cNvSpPr>
          <p:nvPr/>
        </p:nvSpPr>
        <p:spPr bwMode="auto">
          <a:xfrm>
            <a:off x="4267200" y="2162175"/>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$6</a:t>
            </a:r>
          </a:p>
        </p:txBody>
      </p:sp>
      <p:sp>
        <p:nvSpPr>
          <p:cNvPr id="52273" name="Text Box 49"/>
          <p:cNvSpPr txBox="1">
            <a:spLocks noChangeArrowheads="1"/>
          </p:cNvSpPr>
          <p:nvPr/>
        </p:nvSpPr>
        <p:spPr bwMode="auto">
          <a:xfrm>
            <a:off x="3810000" y="5957888"/>
            <a:ext cx="1752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t>U.B. = 35</a:t>
            </a:r>
          </a:p>
        </p:txBody>
      </p:sp>
      <p:sp>
        <p:nvSpPr>
          <p:cNvPr id="52274" name="Text Box 50"/>
          <p:cNvSpPr txBox="1">
            <a:spLocks noChangeArrowheads="1"/>
          </p:cNvSpPr>
          <p:nvPr/>
        </p:nvSpPr>
        <p:spPr bwMode="auto">
          <a:xfrm>
            <a:off x="5715000" y="4738688"/>
            <a:ext cx="53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t>$8</a:t>
            </a:r>
          </a:p>
        </p:txBody>
      </p:sp>
      <p:sp>
        <p:nvSpPr>
          <p:cNvPr id="52275" name="Text Box 51"/>
          <p:cNvSpPr txBox="1">
            <a:spLocks noChangeArrowheads="1"/>
          </p:cNvSpPr>
          <p:nvPr/>
        </p:nvSpPr>
        <p:spPr bwMode="auto">
          <a:xfrm>
            <a:off x="3733800" y="2528888"/>
            <a:ext cx="1752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t>U.B. = 35</a:t>
            </a:r>
          </a:p>
        </p:txBody>
      </p:sp>
      <p:sp>
        <p:nvSpPr>
          <p:cNvPr id="2" name="Footer Placeholder 1"/>
          <p:cNvSpPr>
            <a:spLocks noGrp="1"/>
          </p:cNvSpPr>
          <p:nvPr>
            <p:ph type="ftr" sz="quarter" idx="11"/>
          </p:nvPr>
        </p:nvSpPr>
        <p:spPr>
          <a:xfrm>
            <a:off x="3124200" y="6367943"/>
            <a:ext cx="2895600" cy="357814"/>
          </a:xfrm>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228600" y="304800"/>
            <a:ext cx="8686800" cy="703263"/>
          </a:xfrm>
        </p:spPr>
        <p:txBody>
          <a:bodyPr/>
          <a:lstStyle/>
          <a:p>
            <a:r>
              <a:rPr lang="en-US" sz="4000" i="1">
                <a:solidFill>
                  <a:schemeClr val="hlink"/>
                </a:solidFill>
              </a:rPr>
              <a:t>Special Modeling Considerations:</a:t>
            </a:r>
            <a:br>
              <a:rPr lang="en-US" sz="4000" i="1">
                <a:solidFill>
                  <a:schemeClr val="hlink"/>
                </a:solidFill>
              </a:rPr>
            </a:br>
            <a:r>
              <a:rPr lang="en-US" sz="4000" i="1">
                <a:solidFill>
                  <a:schemeClr val="hlink"/>
                </a:solidFill>
              </a:rPr>
              <a:t>Capacity Restrictions on Total</a:t>
            </a:r>
            <a:r>
              <a:rPr lang="en-US" sz="3900" i="1">
                <a:solidFill>
                  <a:schemeClr val="hlink"/>
                </a:solidFill>
              </a:rPr>
              <a:t> Supply</a:t>
            </a:r>
            <a:endParaRPr lang="en-US" sz="3900">
              <a:solidFill>
                <a:schemeClr val="hlink"/>
              </a:solidFill>
            </a:endParaRPr>
          </a:p>
        </p:txBody>
      </p:sp>
      <p:grpSp>
        <p:nvGrpSpPr>
          <p:cNvPr id="60506" name="Group 90"/>
          <p:cNvGrpSpPr>
            <a:grpSpLocks/>
          </p:cNvGrpSpPr>
          <p:nvPr/>
        </p:nvGrpSpPr>
        <p:grpSpPr bwMode="auto">
          <a:xfrm>
            <a:off x="1600200" y="1447800"/>
            <a:ext cx="6019800" cy="3429000"/>
            <a:chOff x="1200" y="1296"/>
            <a:chExt cx="3792" cy="2160"/>
          </a:xfrm>
        </p:grpSpPr>
        <p:sp>
          <p:nvSpPr>
            <p:cNvPr id="60488" name="Oval 72"/>
            <p:cNvSpPr>
              <a:spLocks noChangeArrowheads="1"/>
            </p:cNvSpPr>
            <p:nvPr/>
          </p:nvSpPr>
          <p:spPr bwMode="auto">
            <a:xfrm>
              <a:off x="1728" y="1488"/>
              <a:ext cx="480" cy="528"/>
            </a:xfrm>
            <a:prstGeom prst="ellipse">
              <a:avLst/>
            </a:prstGeom>
            <a:solidFill>
              <a:schemeClr val="accent1"/>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latin typeface="Tahoma" pitchFamily="34" charset="0"/>
                </a:rPr>
                <a:t>1</a:t>
              </a:r>
            </a:p>
          </p:txBody>
        </p:sp>
        <p:sp>
          <p:nvSpPr>
            <p:cNvPr id="60489" name="Rectangle 73"/>
            <p:cNvSpPr>
              <a:spLocks noChangeArrowheads="1"/>
            </p:cNvSpPr>
            <p:nvPr/>
          </p:nvSpPr>
          <p:spPr bwMode="auto">
            <a:xfrm>
              <a:off x="1248" y="1344"/>
              <a:ext cx="57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latin typeface="Tahoma" pitchFamily="34" charset="0"/>
                </a:rPr>
                <a:t>-100</a:t>
              </a:r>
            </a:p>
          </p:txBody>
        </p:sp>
        <p:sp>
          <p:nvSpPr>
            <p:cNvPr id="60490" name="Oval 74"/>
            <p:cNvSpPr>
              <a:spLocks noChangeArrowheads="1"/>
            </p:cNvSpPr>
            <p:nvPr/>
          </p:nvSpPr>
          <p:spPr bwMode="auto">
            <a:xfrm>
              <a:off x="1680" y="2784"/>
              <a:ext cx="480" cy="528"/>
            </a:xfrm>
            <a:prstGeom prst="ellipse">
              <a:avLst/>
            </a:prstGeom>
            <a:solidFill>
              <a:schemeClr val="accent1"/>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latin typeface="Tahoma" pitchFamily="34" charset="0"/>
                </a:rPr>
                <a:t>2</a:t>
              </a:r>
            </a:p>
          </p:txBody>
        </p:sp>
        <p:sp>
          <p:nvSpPr>
            <p:cNvPr id="60491" name="Rectangle 75"/>
            <p:cNvSpPr>
              <a:spLocks noChangeArrowheads="1"/>
            </p:cNvSpPr>
            <p:nvPr/>
          </p:nvSpPr>
          <p:spPr bwMode="auto">
            <a:xfrm>
              <a:off x="1200" y="3216"/>
              <a:ext cx="57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latin typeface="Tahoma" pitchFamily="34" charset="0"/>
                </a:rPr>
                <a:t>-100</a:t>
              </a:r>
            </a:p>
          </p:txBody>
        </p:sp>
        <p:sp>
          <p:nvSpPr>
            <p:cNvPr id="60492" name="Oval 76"/>
            <p:cNvSpPr>
              <a:spLocks noChangeArrowheads="1"/>
            </p:cNvSpPr>
            <p:nvPr/>
          </p:nvSpPr>
          <p:spPr bwMode="auto">
            <a:xfrm>
              <a:off x="4080" y="1488"/>
              <a:ext cx="480" cy="528"/>
            </a:xfrm>
            <a:prstGeom prst="ellipse">
              <a:avLst/>
            </a:prstGeom>
            <a:solidFill>
              <a:schemeClr val="accent1"/>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latin typeface="Tahoma" pitchFamily="34" charset="0"/>
                </a:rPr>
                <a:t>3</a:t>
              </a:r>
            </a:p>
          </p:txBody>
        </p:sp>
        <p:sp>
          <p:nvSpPr>
            <p:cNvPr id="60493" name="Rectangle 77"/>
            <p:cNvSpPr>
              <a:spLocks noChangeArrowheads="1"/>
            </p:cNvSpPr>
            <p:nvPr/>
          </p:nvSpPr>
          <p:spPr bwMode="auto">
            <a:xfrm>
              <a:off x="4416" y="1296"/>
              <a:ext cx="57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latin typeface="Tahoma" pitchFamily="34" charset="0"/>
                </a:rPr>
                <a:t>+75</a:t>
              </a:r>
            </a:p>
          </p:txBody>
        </p:sp>
        <p:sp>
          <p:nvSpPr>
            <p:cNvPr id="60494" name="Oval 78"/>
            <p:cNvSpPr>
              <a:spLocks noChangeArrowheads="1"/>
            </p:cNvSpPr>
            <p:nvPr/>
          </p:nvSpPr>
          <p:spPr bwMode="auto">
            <a:xfrm>
              <a:off x="4032" y="2784"/>
              <a:ext cx="480" cy="528"/>
            </a:xfrm>
            <a:prstGeom prst="ellipse">
              <a:avLst/>
            </a:prstGeom>
            <a:solidFill>
              <a:schemeClr val="accent1"/>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latin typeface="Tahoma" pitchFamily="34" charset="0"/>
                </a:rPr>
                <a:t>4</a:t>
              </a:r>
            </a:p>
          </p:txBody>
        </p:sp>
        <p:sp>
          <p:nvSpPr>
            <p:cNvPr id="60496" name="Rectangle 80"/>
            <p:cNvSpPr>
              <a:spLocks noChangeArrowheads="1"/>
            </p:cNvSpPr>
            <p:nvPr/>
          </p:nvSpPr>
          <p:spPr bwMode="auto">
            <a:xfrm>
              <a:off x="4368" y="3168"/>
              <a:ext cx="57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latin typeface="Tahoma" pitchFamily="34" charset="0"/>
                </a:rPr>
                <a:t>+80</a:t>
              </a:r>
            </a:p>
          </p:txBody>
        </p:sp>
        <p:sp>
          <p:nvSpPr>
            <p:cNvPr id="60497" name="Line 81"/>
            <p:cNvSpPr>
              <a:spLocks noChangeShapeType="1"/>
            </p:cNvSpPr>
            <p:nvPr/>
          </p:nvSpPr>
          <p:spPr bwMode="auto">
            <a:xfrm>
              <a:off x="2208" y="1728"/>
              <a:ext cx="1824" cy="0"/>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0498" name="Line 82"/>
            <p:cNvSpPr>
              <a:spLocks noChangeShapeType="1"/>
            </p:cNvSpPr>
            <p:nvPr/>
          </p:nvSpPr>
          <p:spPr bwMode="auto">
            <a:xfrm>
              <a:off x="2208" y="1728"/>
              <a:ext cx="1776" cy="1152"/>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0499" name="Line 83"/>
            <p:cNvSpPr>
              <a:spLocks noChangeShapeType="1"/>
            </p:cNvSpPr>
            <p:nvPr/>
          </p:nvSpPr>
          <p:spPr bwMode="auto">
            <a:xfrm flipV="1">
              <a:off x="2160" y="1968"/>
              <a:ext cx="1872" cy="1056"/>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0500" name="Line 84"/>
            <p:cNvSpPr>
              <a:spLocks noChangeShapeType="1"/>
            </p:cNvSpPr>
            <p:nvPr/>
          </p:nvSpPr>
          <p:spPr bwMode="auto">
            <a:xfrm>
              <a:off x="2160" y="3024"/>
              <a:ext cx="1824" cy="0"/>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0502" name="Rectangle 86"/>
            <p:cNvSpPr>
              <a:spLocks noChangeArrowheads="1"/>
            </p:cNvSpPr>
            <p:nvPr/>
          </p:nvSpPr>
          <p:spPr bwMode="auto">
            <a:xfrm>
              <a:off x="2736" y="1392"/>
              <a:ext cx="57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Tahoma" pitchFamily="34" charset="0"/>
                </a:rPr>
                <a:t>$5, UB=40</a:t>
              </a:r>
            </a:p>
          </p:txBody>
        </p:sp>
        <p:sp>
          <p:nvSpPr>
            <p:cNvPr id="60503" name="Rectangle 87"/>
            <p:cNvSpPr>
              <a:spLocks noChangeArrowheads="1"/>
            </p:cNvSpPr>
            <p:nvPr/>
          </p:nvSpPr>
          <p:spPr bwMode="auto">
            <a:xfrm>
              <a:off x="2832" y="3072"/>
              <a:ext cx="57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Tahoma" pitchFamily="34" charset="0"/>
                </a:rPr>
                <a:t>$3, UB=35</a:t>
              </a:r>
            </a:p>
          </p:txBody>
        </p:sp>
        <p:sp>
          <p:nvSpPr>
            <p:cNvPr id="60504" name="Rectangle 88"/>
            <p:cNvSpPr>
              <a:spLocks noChangeArrowheads="1"/>
            </p:cNvSpPr>
            <p:nvPr/>
          </p:nvSpPr>
          <p:spPr bwMode="auto">
            <a:xfrm>
              <a:off x="2064" y="2496"/>
              <a:ext cx="57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Tahoma" pitchFamily="34" charset="0"/>
                </a:rPr>
                <a:t>$6, UB=35</a:t>
              </a:r>
            </a:p>
          </p:txBody>
        </p:sp>
        <p:sp>
          <p:nvSpPr>
            <p:cNvPr id="60505" name="Rectangle 89"/>
            <p:cNvSpPr>
              <a:spLocks noChangeArrowheads="1"/>
            </p:cNvSpPr>
            <p:nvPr/>
          </p:nvSpPr>
          <p:spPr bwMode="auto">
            <a:xfrm>
              <a:off x="2064" y="2016"/>
              <a:ext cx="576"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Tahoma" pitchFamily="34" charset="0"/>
                </a:rPr>
                <a:t>$4, UB=30</a:t>
              </a:r>
            </a:p>
          </p:txBody>
        </p:sp>
      </p:grpSp>
      <p:sp>
        <p:nvSpPr>
          <p:cNvPr id="60507" name="Text Box 91"/>
          <p:cNvSpPr txBox="1">
            <a:spLocks noChangeArrowheads="1"/>
          </p:cNvSpPr>
          <p:nvPr/>
        </p:nvSpPr>
        <p:spPr bwMode="auto">
          <a:xfrm>
            <a:off x="1066800" y="5105400"/>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sz="2400">
              <a:latin typeface="Times New Roman" pitchFamily="18" charset="0"/>
            </a:endParaRPr>
          </a:p>
        </p:txBody>
      </p:sp>
      <p:sp>
        <p:nvSpPr>
          <p:cNvPr id="60508" name="Rectangle 92"/>
          <p:cNvSpPr>
            <a:spLocks noGrp="1" noChangeArrowheads="1"/>
          </p:cNvSpPr>
          <p:nvPr>
            <p:ph type="body" idx="1"/>
          </p:nvPr>
        </p:nvSpPr>
        <p:spPr>
          <a:xfrm>
            <a:off x="1600200" y="5159664"/>
            <a:ext cx="6553200" cy="831273"/>
          </a:xfrm>
          <a:solidFill>
            <a:srgbClr val="FFFFFF"/>
          </a:solidFill>
          <a:ln/>
        </p:spPr>
        <p:txBody>
          <a:bodyPr/>
          <a:lstStyle/>
          <a:p>
            <a:pPr marL="0" indent="0" algn="ctr">
              <a:buFont typeface="Wingdings" pitchFamily="2" charset="2"/>
              <a:buNone/>
            </a:pPr>
            <a:r>
              <a:rPr lang="en-US" sz="2400" dirty="0">
                <a:solidFill>
                  <a:schemeClr val="bg1"/>
                </a:solidFill>
              </a:rPr>
              <a:t>Supply exceeds demand, but the upper bounds prevent the demand from being met.</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60508">
                                            <p:bg/>
                                          </p:spTgt>
                                        </p:tgtEl>
                                        <p:attrNameLst>
                                          <p:attrName>style.visibility</p:attrName>
                                        </p:attrNameLst>
                                      </p:cBhvr>
                                      <p:to>
                                        <p:strVal val="visible"/>
                                      </p:to>
                                    </p:set>
                                    <p:anim calcmode="lin" valueType="num">
                                      <p:cBhvr>
                                        <p:cTn id="7" dur="500" fill="hold"/>
                                        <p:tgtEl>
                                          <p:spTgt spid="60508">
                                            <p:bg/>
                                          </p:spTgt>
                                        </p:tgtEl>
                                        <p:attrNameLst>
                                          <p:attrName>ppt_w</p:attrName>
                                        </p:attrNameLst>
                                      </p:cBhvr>
                                      <p:tavLst>
                                        <p:tav tm="0">
                                          <p:val>
                                            <p:fltVal val="0"/>
                                          </p:val>
                                        </p:tav>
                                        <p:tav tm="100000">
                                          <p:val>
                                            <p:strVal val="#ppt_w"/>
                                          </p:val>
                                        </p:tav>
                                      </p:tavLst>
                                    </p:anim>
                                    <p:anim calcmode="lin" valueType="num">
                                      <p:cBhvr>
                                        <p:cTn id="8" dur="500" fill="hold"/>
                                        <p:tgtEl>
                                          <p:spTgt spid="60508">
                                            <p:bg/>
                                          </p:spTgt>
                                        </p:tgtEl>
                                        <p:attrNameLst>
                                          <p:attrName>ppt_h</p:attrName>
                                        </p:attrNameLst>
                                      </p:cBhvr>
                                      <p:tavLst>
                                        <p:tav tm="0">
                                          <p:val>
                                            <p:fltVal val="0"/>
                                          </p:val>
                                        </p:tav>
                                        <p:tav tm="100000">
                                          <p:val>
                                            <p:strVal val="#ppt_h"/>
                                          </p:val>
                                        </p:tav>
                                      </p:tavLst>
                                    </p:anim>
                                    <p:animEffect transition="in" filter="fade">
                                      <p:cBhvr>
                                        <p:cTn id="9" dur="500"/>
                                        <p:tgtEl>
                                          <p:spTgt spid="60508">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508" grpId="0" uiExpand="1" build="p"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228600" y="454025"/>
            <a:ext cx="8915400" cy="703263"/>
          </a:xfrm>
        </p:spPr>
        <p:txBody>
          <a:bodyPr/>
          <a:lstStyle/>
          <a:p>
            <a:r>
              <a:rPr lang="en-US" sz="4000" i="1">
                <a:solidFill>
                  <a:schemeClr val="hlink"/>
                </a:solidFill>
              </a:rPr>
              <a:t>Special Modeling Considerations:</a:t>
            </a:r>
            <a:br>
              <a:rPr lang="en-US" sz="4000" i="1">
                <a:solidFill>
                  <a:schemeClr val="hlink"/>
                </a:solidFill>
              </a:rPr>
            </a:br>
            <a:r>
              <a:rPr lang="en-US" sz="4000" i="1">
                <a:solidFill>
                  <a:schemeClr val="hlink"/>
                </a:solidFill>
              </a:rPr>
              <a:t>Capacity Restrictions on Total Supply</a:t>
            </a:r>
            <a:endParaRPr lang="en-US" sz="4000">
              <a:solidFill>
                <a:schemeClr val="hlink"/>
              </a:solidFill>
            </a:endParaRPr>
          </a:p>
        </p:txBody>
      </p:sp>
      <p:sp>
        <p:nvSpPr>
          <p:cNvPr id="62468" name="Oval 4"/>
          <p:cNvSpPr>
            <a:spLocks noChangeArrowheads="1"/>
          </p:cNvSpPr>
          <p:nvPr/>
        </p:nvSpPr>
        <p:spPr bwMode="auto">
          <a:xfrm>
            <a:off x="3581400" y="1968500"/>
            <a:ext cx="762000" cy="838200"/>
          </a:xfrm>
          <a:prstGeom prst="ellipse">
            <a:avLst/>
          </a:prstGeom>
          <a:solidFill>
            <a:schemeClr val="accent1"/>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latin typeface="Tahoma" pitchFamily="34" charset="0"/>
              </a:rPr>
              <a:t>1</a:t>
            </a:r>
          </a:p>
        </p:txBody>
      </p:sp>
      <p:sp>
        <p:nvSpPr>
          <p:cNvPr id="62469" name="Rectangle 5"/>
          <p:cNvSpPr>
            <a:spLocks noChangeArrowheads="1"/>
          </p:cNvSpPr>
          <p:nvPr/>
        </p:nvSpPr>
        <p:spPr bwMode="auto">
          <a:xfrm>
            <a:off x="2819400" y="1739900"/>
            <a:ext cx="914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latin typeface="Tahoma" pitchFamily="34" charset="0"/>
              </a:rPr>
              <a:t>-100</a:t>
            </a:r>
          </a:p>
        </p:txBody>
      </p:sp>
      <p:sp>
        <p:nvSpPr>
          <p:cNvPr id="62470" name="Oval 6"/>
          <p:cNvSpPr>
            <a:spLocks noChangeArrowheads="1"/>
          </p:cNvSpPr>
          <p:nvPr/>
        </p:nvSpPr>
        <p:spPr bwMode="auto">
          <a:xfrm>
            <a:off x="3505200" y="4025900"/>
            <a:ext cx="762000" cy="838200"/>
          </a:xfrm>
          <a:prstGeom prst="ellipse">
            <a:avLst/>
          </a:prstGeom>
          <a:solidFill>
            <a:schemeClr val="accent1"/>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latin typeface="Tahoma" pitchFamily="34" charset="0"/>
              </a:rPr>
              <a:t>2</a:t>
            </a:r>
          </a:p>
        </p:txBody>
      </p:sp>
      <p:sp>
        <p:nvSpPr>
          <p:cNvPr id="62471" name="Rectangle 7"/>
          <p:cNvSpPr>
            <a:spLocks noChangeArrowheads="1"/>
          </p:cNvSpPr>
          <p:nvPr/>
        </p:nvSpPr>
        <p:spPr bwMode="auto">
          <a:xfrm>
            <a:off x="2743200" y="4711700"/>
            <a:ext cx="914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latin typeface="Tahoma" pitchFamily="34" charset="0"/>
              </a:rPr>
              <a:t>-100</a:t>
            </a:r>
          </a:p>
        </p:txBody>
      </p:sp>
      <p:sp>
        <p:nvSpPr>
          <p:cNvPr id="62472" name="Oval 8"/>
          <p:cNvSpPr>
            <a:spLocks noChangeArrowheads="1"/>
          </p:cNvSpPr>
          <p:nvPr/>
        </p:nvSpPr>
        <p:spPr bwMode="auto">
          <a:xfrm>
            <a:off x="7315200" y="1968500"/>
            <a:ext cx="762000" cy="838200"/>
          </a:xfrm>
          <a:prstGeom prst="ellipse">
            <a:avLst/>
          </a:prstGeom>
          <a:solidFill>
            <a:schemeClr val="accent1"/>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latin typeface="Tahoma" pitchFamily="34" charset="0"/>
              </a:rPr>
              <a:t>3</a:t>
            </a:r>
          </a:p>
        </p:txBody>
      </p:sp>
      <p:sp>
        <p:nvSpPr>
          <p:cNvPr id="62473" name="Rectangle 9"/>
          <p:cNvSpPr>
            <a:spLocks noChangeArrowheads="1"/>
          </p:cNvSpPr>
          <p:nvPr/>
        </p:nvSpPr>
        <p:spPr bwMode="auto">
          <a:xfrm>
            <a:off x="7848600" y="1663700"/>
            <a:ext cx="914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latin typeface="Tahoma" pitchFamily="34" charset="0"/>
              </a:rPr>
              <a:t>+75</a:t>
            </a:r>
          </a:p>
        </p:txBody>
      </p:sp>
      <p:sp>
        <p:nvSpPr>
          <p:cNvPr id="62474" name="Oval 10"/>
          <p:cNvSpPr>
            <a:spLocks noChangeArrowheads="1"/>
          </p:cNvSpPr>
          <p:nvPr/>
        </p:nvSpPr>
        <p:spPr bwMode="auto">
          <a:xfrm>
            <a:off x="7239000" y="4025900"/>
            <a:ext cx="762000" cy="838200"/>
          </a:xfrm>
          <a:prstGeom prst="ellipse">
            <a:avLst/>
          </a:prstGeom>
          <a:solidFill>
            <a:schemeClr val="accent1"/>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latin typeface="Tahoma" pitchFamily="34" charset="0"/>
              </a:rPr>
              <a:t>4</a:t>
            </a:r>
          </a:p>
        </p:txBody>
      </p:sp>
      <p:sp>
        <p:nvSpPr>
          <p:cNvPr id="62475" name="Rectangle 11"/>
          <p:cNvSpPr>
            <a:spLocks noChangeArrowheads="1"/>
          </p:cNvSpPr>
          <p:nvPr/>
        </p:nvSpPr>
        <p:spPr bwMode="auto">
          <a:xfrm>
            <a:off x="7772400" y="4635500"/>
            <a:ext cx="914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latin typeface="Tahoma" pitchFamily="34" charset="0"/>
              </a:rPr>
              <a:t>+80</a:t>
            </a:r>
          </a:p>
        </p:txBody>
      </p:sp>
      <p:sp>
        <p:nvSpPr>
          <p:cNvPr id="62476" name="Line 12"/>
          <p:cNvSpPr>
            <a:spLocks noChangeShapeType="1"/>
          </p:cNvSpPr>
          <p:nvPr/>
        </p:nvSpPr>
        <p:spPr bwMode="auto">
          <a:xfrm>
            <a:off x="4343400" y="2349500"/>
            <a:ext cx="2895600" cy="0"/>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2477" name="Line 13"/>
          <p:cNvSpPr>
            <a:spLocks noChangeShapeType="1"/>
          </p:cNvSpPr>
          <p:nvPr/>
        </p:nvSpPr>
        <p:spPr bwMode="auto">
          <a:xfrm>
            <a:off x="4343400" y="2349500"/>
            <a:ext cx="2819400" cy="1828800"/>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2478" name="Line 14"/>
          <p:cNvSpPr>
            <a:spLocks noChangeShapeType="1"/>
          </p:cNvSpPr>
          <p:nvPr/>
        </p:nvSpPr>
        <p:spPr bwMode="auto">
          <a:xfrm flipV="1">
            <a:off x="4267200" y="2730500"/>
            <a:ext cx="2971800" cy="1676400"/>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2479" name="Line 15"/>
          <p:cNvSpPr>
            <a:spLocks noChangeShapeType="1"/>
          </p:cNvSpPr>
          <p:nvPr/>
        </p:nvSpPr>
        <p:spPr bwMode="auto">
          <a:xfrm>
            <a:off x="4267200" y="4406900"/>
            <a:ext cx="2895600" cy="0"/>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2480" name="Rectangle 16"/>
          <p:cNvSpPr>
            <a:spLocks noChangeArrowheads="1"/>
          </p:cNvSpPr>
          <p:nvPr/>
        </p:nvSpPr>
        <p:spPr bwMode="auto">
          <a:xfrm>
            <a:off x="5181600" y="1816100"/>
            <a:ext cx="914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Tahoma" pitchFamily="34" charset="0"/>
              </a:rPr>
              <a:t>$5, UB=40</a:t>
            </a:r>
          </a:p>
        </p:txBody>
      </p:sp>
      <p:sp>
        <p:nvSpPr>
          <p:cNvPr id="62481" name="Rectangle 17"/>
          <p:cNvSpPr>
            <a:spLocks noChangeArrowheads="1"/>
          </p:cNvSpPr>
          <p:nvPr/>
        </p:nvSpPr>
        <p:spPr bwMode="auto">
          <a:xfrm>
            <a:off x="5334000" y="4483100"/>
            <a:ext cx="914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Tahoma" pitchFamily="34" charset="0"/>
              </a:rPr>
              <a:t>$3, UB=35</a:t>
            </a:r>
          </a:p>
        </p:txBody>
      </p:sp>
      <p:sp>
        <p:nvSpPr>
          <p:cNvPr id="62482" name="Rectangle 18"/>
          <p:cNvSpPr>
            <a:spLocks noChangeArrowheads="1"/>
          </p:cNvSpPr>
          <p:nvPr/>
        </p:nvSpPr>
        <p:spPr bwMode="auto">
          <a:xfrm>
            <a:off x="4114800" y="3568700"/>
            <a:ext cx="914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Tahoma" pitchFamily="34" charset="0"/>
              </a:rPr>
              <a:t>$6, UB=35</a:t>
            </a:r>
          </a:p>
        </p:txBody>
      </p:sp>
      <p:sp>
        <p:nvSpPr>
          <p:cNvPr id="62483" name="Rectangle 19"/>
          <p:cNvSpPr>
            <a:spLocks noChangeArrowheads="1"/>
          </p:cNvSpPr>
          <p:nvPr/>
        </p:nvSpPr>
        <p:spPr bwMode="auto">
          <a:xfrm>
            <a:off x="4114800" y="2806700"/>
            <a:ext cx="914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Tahoma" pitchFamily="34" charset="0"/>
              </a:rPr>
              <a:t>$4, UB=30</a:t>
            </a:r>
          </a:p>
        </p:txBody>
      </p:sp>
      <p:sp>
        <p:nvSpPr>
          <p:cNvPr id="62487" name="Oval 23"/>
          <p:cNvSpPr>
            <a:spLocks noChangeArrowheads="1"/>
          </p:cNvSpPr>
          <p:nvPr/>
        </p:nvSpPr>
        <p:spPr bwMode="auto">
          <a:xfrm>
            <a:off x="1524000" y="3035300"/>
            <a:ext cx="762000" cy="838200"/>
          </a:xfrm>
          <a:prstGeom prst="ellipse">
            <a:avLst/>
          </a:prstGeom>
          <a:solidFill>
            <a:schemeClr val="accent1"/>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latin typeface="Tahoma" pitchFamily="34" charset="0"/>
              </a:rPr>
              <a:t>0</a:t>
            </a:r>
          </a:p>
        </p:txBody>
      </p:sp>
      <p:sp>
        <p:nvSpPr>
          <p:cNvPr id="62488" name="Rectangle 24"/>
          <p:cNvSpPr>
            <a:spLocks noChangeArrowheads="1"/>
          </p:cNvSpPr>
          <p:nvPr/>
        </p:nvSpPr>
        <p:spPr bwMode="auto">
          <a:xfrm>
            <a:off x="762000" y="2806700"/>
            <a:ext cx="914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latin typeface="Tahoma" pitchFamily="34" charset="0"/>
              </a:rPr>
              <a:t>+200</a:t>
            </a:r>
          </a:p>
        </p:txBody>
      </p:sp>
      <p:sp>
        <p:nvSpPr>
          <p:cNvPr id="62489" name="Line 25"/>
          <p:cNvSpPr>
            <a:spLocks noChangeShapeType="1"/>
          </p:cNvSpPr>
          <p:nvPr/>
        </p:nvSpPr>
        <p:spPr bwMode="auto">
          <a:xfrm flipH="1">
            <a:off x="2286000" y="2425700"/>
            <a:ext cx="1295400" cy="762000"/>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2490" name="Line 26"/>
          <p:cNvSpPr>
            <a:spLocks noChangeShapeType="1"/>
          </p:cNvSpPr>
          <p:nvPr/>
        </p:nvSpPr>
        <p:spPr bwMode="auto">
          <a:xfrm flipH="1" flipV="1">
            <a:off x="2286000" y="3797300"/>
            <a:ext cx="1219200" cy="685800"/>
          </a:xfrm>
          <a:prstGeom prst="line">
            <a:avLst/>
          </a:prstGeom>
          <a:noFill/>
          <a:ln w="9525">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2491" name="Rectangle 27"/>
          <p:cNvSpPr>
            <a:spLocks noChangeArrowheads="1"/>
          </p:cNvSpPr>
          <p:nvPr/>
        </p:nvSpPr>
        <p:spPr bwMode="auto">
          <a:xfrm>
            <a:off x="1524000" y="4178300"/>
            <a:ext cx="1295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Tahoma" pitchFamily="34" charset="0"/>
              </a:rPr>
              <a:t>$999, UB=100</a:t>
            </a:r>
          </a:p>
        </p:txBody>
      </p:sp>
      <p:sp>
        <p:nvSpPr>
          <p:cNvPr id="62492" name="Rectangle 28"/>
          <p:cNvSpPr>
            <a:spLocks noChangeArrowheads="1"/>
          </p:cNvSpPr>
          <p:nvPr/>
        </p:nvSpPr>
        <p:spPr bwMode="auto">
          <a:xfrm>
            <a:off x="1676400" y="2349500"/>
            <a:ext cx="1295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000">
                <a:latin typeface="Tahoma" pitchFamily="34" charset="0"/>
              </a:rPr>
              <a:t>$999, UB=100</a:t>
            </a:r>
          </a:p>
        </p:txBody>
      </p:sp>
      <p:sp>
        <p:nvSpPr>
          <p:cNvPr id="62493" name="Rectangle 29"/>
          <p:cNvSpPr>
            <a:spLocks noGrp="1" noChangeArrowheads="1"/>
          </p:cNvSpPr>
          <p:nvPr>
            <p:ph type="body" idx="1"/>
          </p:nvPr>
        </p:nvSpPr>
        <p:spPr>
          <a:xfrm>
            <a:off x="838200" y="5194300"/>
            <a:ext cx="7620000" cy="838200"/>
          </a:xfrm>
          <a:solidFill>
            <a:srgbClr val="FFFFFF"/>
          </a:solidFill>
          <a:ln/>
        </p:spPr>
        <p:txBody>
          <a:bodyPr/>
          <a:lstStyle/>
          <a:p>
            <a:pPr marL="0" indent="0">
              <a:buFont typeface="Wingdings" pitchFamily="2" charset="2"/>
              <a:buNone/>
            </a:pPr>
            <a:r>
              <a:rPr lang="en-US" sz="2400">
                <a:solidFill>
                  <a:schemeClr val="bg1"/>
                </a:solidFill>
              </a:rPr>
              <a:t>Now demand exceeds supply. As much “real” demand as possible will be met in the least costly way.</a:t>
            </a:r>
            <a:endParaRPr lang="en-US" sz="2400"/>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62493">
                                            <p:bg/>
                                          </p:spTgt>
                                        </p:tgtEl>
                                        <p:attrNameLst>
                                          <p:attrName>style.visibility</p:attrName>
                                        </p:attrNameLst>
                                      </p:cBhvr>
                                      <p:to>
                                        <p:strVal val="visible"/>
                                      </p:to>
                                    </p:set>
                                    <p:anim calcmode="lin" valueType="num">
                                      <p:cBhvr>
                                        <p:cTn id="7" dur="500" fill="hold"/>
                                        <p:tgtEl>
                                          <p:spTgt spid="62493">
                                            <p:bg/>
                                          </p:spTgt>
                                        </p:tgtEl>
                                        <p:attrNameLst>
                                          <p:attrName>ppt_w</p:attrName>
                                        </p:attrNameLst>
                                      </p:cBhvr>
                                      <p:tavLst>
                                        <p:tav tm="0">
                                          <p:val>
                                            <p:fltVal val="0"/>
                                          </p:val>
                                        </p:tav>
                                        <p:tav tm="100000">
                                          <p:val>
                                            <p:strVal val="#ppt_w"/>
                                          </p:val>
                                        </p:tav>
                                      </p:tavLst>
                                    </p:anim>
                                    <p:anim calcmode="lin" valueType="num">
                                      <p:cBhvr>
                                        <p:cTn id="8" dur="500" fill="hold"/>
                                        <p:tgtEl>
                                          <p:spTgt spid="62493">
                                            <p:bg/>
                                          </p:spTgt>
                                        </p:tgtEl>
                                        <p:attrNameLst>
                                          <p:attrName>ppt_h</p:attrName>
                                        </p:attrNameLst>
                                      </p:cBhvr>
                                      <p:tavLst>
                                        <p:tav tm="0">
                                          <p:val>
                                            <p:fltVal val="0"/>
                                          </p:val>
                                        </p:tav>
                                        <p:tav tm="100000">
                                          <p:val>
                                            <p:strVal val="#ppt_h"/>
                                          </p:val>
                                        </p:tav>
                                      </p:tavLst>
                                    </p:anim>
                                    <p:animEffect transition="in" filter="fade">
                                      <p:cBhvr>
                                        <p:cTn id="9" dur="500"/>
                                        <p:tgtEl>
                                          <p:spTgt spid="62493">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93" grpId="0" uiExpand="1" build="p" animBg="1"/>
    </p:bldLst>
  </p:timing>
</p:sld>
</file>

<file path=ppt/slides/slide3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228600" y="533400"/>
            <a:ext cx="8686800" cy="608013"/>
          </a:xfrm>
          <a:noFill/>
          <a:ln/>
        </p:spPr>
        <p:txBody>
          <a:bodyPr lIns="92075" tIns="46038" rIns="92075" bIns="46038"/>
          <a:lstStyle/>
          <a:p>
            <a:r>
              <a:rPr lang="en-US" sz="4000" i="1">
                <a:solidFill>
                  <a:schemeClr val="hlink"/>
                </a:solidFill>
              </a:rPr>
              <a:t>The Minimal </a:t>
            </a:r>
            <a:br>
              <a:rPr lang="en-US" sz="4000" i="1">
                <a:solidFill>
                  <a:schemeClr val="hlink"/>
                </a:solidFill>
              </a:rPr>
            </a:br>
            <a:r>
              <a:rPr lang="en-US" sz="4000" i="1">
                <a:solidFill>
                  <a:schemeClr val="hlink"/>
                </a:solidFill>
              </a:rPr>
              <a:t>Spanning Tree Problem</a:t>
            </a:r>
          </a:p>
        </p:txBody>
      </p:sp>
      <p:sp>
        <p:nvSpPr>
          <p:cNvPr id="39939" name="Rectangle 3"/>
          <p:cNvSpPr>
            <a:spLocks noGrp="1" noChangeArrowheads="1"/>
          </p:cNvSpPr>
          <p:nvPr>
            <p:ph type="body" idx="1"/>
          </p:nvPr>
        </p:nvSpPr>
        <p:spPr>
          <a:xfrm>
            <a:off x="320675" y="1638300"/>
            <a:ext cx="8213725" cy="4152900"/>
          </a:xfrm>
          <a:noFill/>
          <a:ln/>
        </p:spPr>
        <p:txBody>
          <a:bodyPr lIns="92075" tIns="46038" rIns="92075" bIns="46038"/>
          <a:lstStyle/>
          <a:p>
            <a:r>
              <a:rPr lang="en-US" dirty="0"/>
              <a:t>For a network with </a:t>
            </a:r>
            <a:r>
              <a:rPr lang="en-US" i="1" dirty="0">
                <a:latin typeface="Times New Roman" pitchFamily="18" charset="0"/>
              </a:rPr>
              <a:t>n</a:t>
            </a:r>
            <a:r>
              <a:rPr lang="en-US" dirty="0"/>
              <a:t> nodes, a </a:t>
            </a:r>
            <a:r>
              <a:rPr lang="en-US" i="1" u="sng" dirty="0">
                <a:solidFill>
                  <a:srgbClr val="FFFF00"/>
                </a:solidFill>
              </a:rPr>
              <a:t>spanning tree</a:t>
            </a:r>
            <a:r>
              <a:rPr lang="en-US" dirty="0"/>
              <a:t> is a set of </a:t>
            </a:r>
            <a:r>
              <a:rPr lang="en-US" i="1" dirty="0">
                <a:latin typeface="Times New Roman" pitchFamily="18" charset="0"/>
              </a:rPr>
              <a:t>n-1</a:t>
            </a:r>
            <a:r>
              <a:rPr lang="en-US" dirty="0"/>
              <a:t> arcs that connects all the nodes and contains no loops.</a:t>
            </a:r>
          </a:p>
          <a:p>
            <a:r>
              <a:rPr lang="en-US" dirty="0"/>
              <a:t>The minimal spanning tree problem involves determining the set of arcs that connects all the nodes at minimum cost.</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85800" y="301625"/>
            <a:ext cx="7772400" cy="804863"/>
          </a:xfrm>
          <a:noFill/>
          <a:ln/>
        </p:spPr>
        <p:txBody>
          <a:bodyPr lIns="92075" tIns="46038" rIns="92075" bIns="46038"/>
          <a:lstStyle/>
          <a:p>
            <a:pPr>
              <a:lnSpc>
                <a:spcPct val="70000"/>
              </a:lnSpc>
            </a:pPr>
            <a:br>
              <a:rPr lang="en-US" sz="4000" i="1">
                <a:solidFill>
                  <a:schemeClr val="hlink"/>
                </a:solidFill>
              </a:rPr>
            </a:br>
            <a:r>
              <a:rPr lang="en-US" sz="4000" i="1">
                <a:solidFill>
                  <a:schemeClr val="hlink"/>
                </a:solidFill>
              </a:rPr>
              <a:t>Minimal Spanning Tree Example:</a:t>
            </a:r>
            <a:br>
              <a:rPr lang="en-US" sz="4000" i="1">
                <a:solidFill>
                  <a:schemeClr val="hlink"/>
                </a:solidFill>
              </a:rPr>
            </a:br>
            <a:r>
              <a:rPr lang="en-US" sz="4000" i="1">
                <a:solidFill>
                  <a:schemeClr val="hlink"/>
                </a:solidFill>
              </a:rPr>
              <a:t>Windstar Aerospace Company</a:t>
            </a:r>
            <a:br>
              <a:rPr lang="en-US" sz="4000">
                <a:solidFill>
                  <a:schemeClr val="hlink"/>
                </a:solidFill>
              </a:rPr>
            </a:br>
            <a:endParaRPr lang="en-US" sz="4000">
              <a:solidFill>
                <a:schemeClr val="hlink"/>
              </a:solidFill>
            </a:endParaRPr>
          </a:p>
        </p:txBody>
      </p:sp>
      <p:sp>
        <p:nvSpPr>
          <p:cNvPr id="40963" name="Freeform 3"/>
          <p:cNvSpPr>
            <a:spLocks/>
          </p:cNvSpPr>
          <p:nvPr/>
        </p:nvSpPr>
        <p:spPr bwMode="auto">
          <a:xfrm>
            <a:off x="2460625" y="1333500"/>
            <a:ext cx="866775" cy="808038"/>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4 w 546"/>
              <a:gd name="T11" fmla="*/ 44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4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3 h 509"/>
              <a:gd name="T38" fmla="*/ 46 w 546"/>
              <a:gd name="T39" fmla="*/ 396 h 509"/>
              <a:gd name="T40" fmla="*/ 79 w 546"/>
              <a:gd name="T41" fmla="*/ 433 h 509"/>
              <a:gd name="T42" fmla="*/ 120 w 546"/>
              <a:gd name="T43" fmla="*/ 464 h 509"/>
              <a:gd name="T44" fmla="*/ 166 w 546"/>
              <a:gd name="T45" fmla="*/ 488 h 509"/>
              <a:gd name="T46" fmla="*/ 217 w 546"/>
              <a:gd name="T47" fmla="*/ 503 h 509"/>
              <a:gd name="T48" fmla="*/ 272 w 546"/>
              <a:gd name="T49" fmla="*/ 508 h 509"/>
              <a:gd name="T50" fmla="*/ 327 w 546"/>
              <a:gd name="T51" fmla="*/ 503 h 509"/>
              <a:gd name="T52" fmla="*/ 378 w 546"/>
              <a:gd name="T53" fmla="*/ 488 h 509"/>
              <a:gd name="T54" fmla="*/ 424 w 546"/>
              <a:gd name="T55" fmla="*/ 464 h 509"/>
              <a:gd name="T56" fmla="*/ 465 w 546"/>
              <a:gd name="T57" fmla="*/ 433 h 509"/>
              <a:gd name="T58" fmla="*/ 498 w 546"/>
              <a:gd name="T59" fmla="*/ 396 h 509"/>
              <a:gd name="T60" fmla="*/ 523 w 546"/>
              <a:gd name="T61" fmla="*/ 353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4" y="44"/>
                </a:lnTo>
                <a:lnTo>
                  <a:pt x="378" y="20"/>
                </a:lnTo>
                <a:lnTo>
                  <a:pt x="327" y="5"/>
                </a:lnTo>
                <a:lnTo>
                  <a:pt x="272" y="0"/>
                </a:lnTo>
                <a:lnTo>
                  <a:pt x="217" y="5"/>
                </a:lnTo>
                <a:lnTo>
                  <a:pt x="166" y="20"/>
                </a:lnTo>
                <a:lnTo>
                  <a:pt x="120" y="44"/>
                </a:lnTo>
                <a:lnTo>
                  <a:pt x="79" y="74"/>
                </a:lnTo>
                <a:lnTo>
                  <a:pt x="46" y="112"/>
                </a:lnTo>
                <a:lnTo>
                  <a:pt x="21" y="155"/>
                </a:lnTo>
                <a:lnTo>
                  <a:pt x="5" y="203"/>
                </a:lnTo>
                <a:lnTo>
                  <a:pt x="0" y="254"/>
                </a:lnTo>
                <a:lnTo>
                  <a:pt x="5" y="305"/>
                </a:lnTo>
                <a:lnTo>
                  <a:pt x="21" y="353"/>
                </a:lnTo>
                <a:lnTo>
                  <a:pt x="46" y="396"/>
                </a:lnTo>
                <a:lnTo>
                  <a:pt x="79" y="433"/>
                </a:lnTo>
                <a:lnTo>
                  <a:pt x="120" y="464"/>
                </a:lnTo>
                <a:lnTo>
                  <a:pt x="166" y="488"/>
                </a:lnTo>
                <a:lnTo>
                  <a:pt x="217" y="503"/>
                </a:lnTo>
                <a:lnTo>
                  <a:pt x="272" y="508"/>
                </a:lnTo>
                <a:lnTo>
                  <a:pt x="327" y="503"/>
                </a:lnTo>
                <a:lnTo>
                  <a:pt x="378" y="488"/>
                </a:lnTo>
                <a:lnTo>
                  <a:pt x="424" y="464"/>
                </a:lnTo>
                <a:lnTo>
                  <a:pt x="465" y="433"/>
                </a:lnTo>
                <a:lnTo>
                  <a:pt x="498" y="396"/>
                </a:lnTo>
                <a:lnTo>
                  <a:pt x="523" y="353"/>
                </a:lnTo>
                <a:lnTo>
                  <a:pt x="539" y="305"/>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4" name="Rectangle 4"/>
          <p:cNvSpPr>
            <a:spLocks noChangeArrowheads="1"/>
          </p:cNvSpPr>
          <p:nvPr/>
        </p:nvSpPr>
        <p:spPr bwMode="auto">
          <a:xfrm>
            <a:off x="2673350" y="1500188"/>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2</a:t>
            </a:r>
          </a:p>
        </p:txBody>
      </p:sp>
      <p:sp>
        <p:nvSpPr>
          <p:cNvPr id="40965" name="Freeform 5"/>
          <p:cNvSpPr>
            <a:spLocks/>
          </p:cNvSpPr>
          <p:nvPr/>
        </p:nvSpPr>
        <p:spPr bwMode="auto">
          <a:xfrm>
            <a:off x="1630363" y="4487863"/>
            <a:ext cx="866775" cy="806450"/>
          </a:xfrm>
          <a:custGeom>
            <a:avLst/>
            <a:gdLst>
              <a:gd name="T0" fmla="*/ 545 w 546"/>
              <a:gd name="T1" fmla="*/ 254 h 508"/>
              <a:gd name="T2" fmla="*/ 539 w 546"/>
              <a:gd name="T3" fmla="*/ 202 h 508"/>
              <a:gd name="T4" fmla="*/ 523 w 546"/>
              <a:gd name="T5" fmla="*/ 155 h 508"/>
              <a:gd name="T6" fmla="*/ 498 w 546"/>
              <a:gd name="T7" fmla="*/ 112 h 508"/>
              <a:gd name="T8" fmla="*/ 465 w 546"/>
              <a:gd name="T9" fmla="*/ 74 h 508"/>
              <a:gd name="T10" fmla="*/ 425 w 546"/>
              <a:gd name="T11" fmla="*/ 43 h 508"/>
              <a:gd name="T12" fmla="*/ 378 w 546"/>
              <a:gd name="T13" fmla="*/ 19 h 508"/>
              <a:gd name="T14" fmla="*/ 327 w 546"/>
              <a:gd name="T15" fmla="*/ 5 h 508"/>
              <a:gd name="T16" fmla="*/ 273 w 546"/>
              <a:gd name="T17" fmla="*/ 0 h 508"/>
              <a:gd name="T18" fmla="*/ 217 w 546"/>
              <a:gd name="T19" fmla="*/ 5 h 508"/>
              <a:gd name="T20" fmla="*/ 166 w 546"/>
              <a:gd name="T21" fmla="*/ 19 h 508"/>
              <a:gd name="T22" fmla="*/ 120 w 546"/>
              <a:gd name="T23" fmla="*/ 43 h 508"/>
              <a:gd name="T24" fmla="*/ 79 w 546"/>
              <a:gd name="T25" fmla="*/ 74 h 508"/>
              <a:gd name="T26" fmla="*/ 46 w 546"/>
              <a:gd name="T27" fmla="*/ 112 h 508"/>
              <a:gd name="T28" fmla="*/ 21 w 546"/>
              <a:gd name="T29" fmla="*/ 155 h 508"/>
              <a:gd name="T30" fmla="*/ 5 w 546"/>
              <a:gd name="T31" fmla="*/ 202 h 508"/>
              <a:gd name="T32" fmla="*/ 0 w 546"/>
              <a:gd name="T33" fmla="*/ 254 h 508"/>
              <a:gd name="T34" fmla="*/ 5 w 546"/>
              <a:gd name="T35" fmla="*/ 304 h 508"/>
              <a:gd name="T36" fmla="*/ 21 w 546"/>
              <a:gd name="T37" fmla="*/ 352 h 508"/>
              <a:gd name="T38" fmla="*/ 46 w 546"/>
              <a:gd name="T39" fmla="*/ 395 h 508"/>
              <a:gd name="T40" fmla="*/ 79 w 546"/>
              <a:gd name="T41" fmla="*/ 433 h 508"/>
              <a:gd name="T42" fmla="*/ 120 w 546"/>
              <a:gd name="T43" fmla="*/ 464 h 508"/>
              <a:gd name="T44" fmla="*/ 166 w 546"/>
              <a:gd name="T45" fmla="*/ 487 h 508"/>
              <a:gd name="T46" fmla="*/ 217 w 546"/>
              <a:gd name="T47" fmla="*/ 502 h 508"/>
              <a:gd name="T48" fmla="*/ 273 w 546"/>
              <a:gd name="T49" fmla="*/ 507 h 508"/>
              <a:gd name="T50" fmla="*/ 327 w 546"/>
              <a:gd name="T51" fmla="*/ 502 h 508"/>
              <a:gd name="T52" fmla="*/ 378 w 546"/>
              <a:gd name="T53" fmla="*/ 487 h 508"/>
              <a:gd name="T54" fmla="*/ 425 w 546"/>
              <a:gd name="T55" fmla="*/ 464 h 508"/>
              <a:gd name="T56" fmla="*/ 465 w 546"/>
              <a:gd name="T57" fmla="*/ 433 h 508"/>
              <a:gd name="T58" fmla="*/ 498 w 546"/>
              <a:gd name="T59" fmla="*/ 395 h 508"/>
              <a:gd name="T60" fmla="*/ 523 w 546"/>
              <a:gd name="T61" fmla="*/ 352 h 508"/>
              <a:gd name="T62" fmla="*/ 539 w 546"/>
              <a:gd name="T63" fmla="*/ 304 h 508"/>
              <a:gd name="T64" fmla="*/ 545 w 546"/>
              <a:gd name="T65" fmla="*/ 254 h 508"/>
              <a:gd name="T66" fmla="*/ 545 w 546"/>
              <a:gd name="T67" fmla="*/ 254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8">
                <a:moveTo>
                  <a:pt x="545" y="254"/>
                </a:moveTo>
                <a:lnTo>
                  <a:pt x="539" y="202"/>
                </a:lnTo>
                <a:lnTo>
                  <a:pt x="523" y="155"/>
                </a:lnTo>
                <a:lnTo>
                  <a:pt x="498" y="112"/>
                </a:lnTo>
                <a:lnTo>
                  <a:pt x="465" y="74"/>
                </a:lnTo>
                <a:lnTo>
                  <a:pt x="425" y="43"/>
                </a:lnTo>
                <a:lnTo>
                  <a:pt x="378" y="19"/>
                </a:lnTo>
                <a:lnTo>
                  <a:pt x="327" y="5"/>
                </a:lnTo>
                <a:lnTo>
                  <a:pt x="273" y="0"/>
                </a:lnTo>
                <a:lnTo>
                  <a:pt x="217" y="5"/>
                </a:lnTo>
                <a:lnTo>
                  <a:pt x="166" y="19"/>
                </a:lnTo>
                <a:lnTo>
                  <a:pt x="120" y="43"/>
                </a:lnTo>
                <a:lnTo>
                  <a:pt x="79" y="74"/>
                </a:lnTo>
                <a:lnTo>
                  <a:pt x="46" y="112"/>
                </a:lnTo>
                <a:lnTo>
                  <a:pt x="21" y="155"/>
                </a:lnTo>
                <a:lnTo>
                  <a:pt x="5" y="202"/>
                </a:lnTo>
                <a:lnTo>
                  <a:pt x="0" y="254"/>
                </a:lnTo>
                <a:lnTo>
                  <a:pt x="5" y="304"/>
                </a:lnTo>
                <a:lnTo>
                  <a:pt x="21" y="352"/>
                </a:lnTo>
                <a:lnTo>
                  <a:pt x="46" y="395"/>
                </a:lnTo>
                <a:lnTo>
                  <a:pt x="79" y="433"/>
                </a:lnTo>
                <a:lnTo>
                  <a:pt x="120" y="464"/>
                </a:lnTo>
                <a:lnTo>
                  <a:pt x="166" y="487"/>
                </a:lnTo>
                <a:lnTo>
                  <a:pt x="217" y="502"/>
                </a:lnTo>
                <a:lnTo>
                  <a:pt x="273" y="507"/>
                </a:lnTo>
                <a:lnTo>
                  <a:pt x="327" y="502"/>
                </a:lnTo>
                <a:lnTo>
                  <a:pt x="378" y="487"/>
                </a:lnTo>
                <a:lnTo>
                  <a:pt x="425" y="464"/>
                </a:lnTo>
                <a:lnTo>
                  <a:pt x="465" y="433"/>
                </a:lnTo>
                <a:lnTo>
                  <a:pt x="498" y="395"/>
                </a:lnTo>
                <a:lnTo>
                  <a:pt x="523" y="352"/>
                </a:lnTo>
                <a:lnTo>
                  <a:pt x="539" y="304"/>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6" name="Rectangle 6"/>
          <p:cNvSpPr>
            <a:spLocks noChangeArrowheads="1"/>
          </p:cNvSpPr>
          <p:nvPr/>
        </p:nvSpPr>
        <p:spPr bwMode="auto">
          <a:xfrm>
            <a:off x="1844675" y="4654550"/>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3</a:t>
            </a:r>
          </a:p>
        </p:txBody>
      </p:sp>
      <p:sp>
        <p:nvSpPr>
          <p:cNvPr id="40967" name="Freeform 7"/>
          <p:cNvSpPr>
            <a:spLocks/>
          </p:cNvSpPr>
          <p:nvPr/>
        </p:nvSpPr>
        <p:spPr bwMode="auto">
          <a:xfrm>
            <a:off x="4027488" y="3144838"/>
            <a:ext cx="866775" cy="808037"/>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5 w 546"/>
              <a:gd name="T11" fmla="*/ 43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3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2 h 509"/>
              <a:gd name="T38" fmla="*/ 46 w 546"/>
              <a:gd name="T39" fmla="*/ 395 h 509"/>
              <a:gd name="T40" fmla="*/ 79 w 546"/>
              <a:gd name="T41" fmla="*/ 433 h 509"/>
              <a:gd name="T42" fmla="*/ 120 w 546"/>
              <a:gd name="T43" fmla="*/ 464 h 509"/>
              <a:gd name="T44" fmla="*/ 166 w 546"/>
              <a:gd name="T45" fmla="*/ 488 h 509"/>
              <a:gd name="T46" fmla="*/ 217 w 546"/>
              <a:gd name="T47" fmla="*/ 502 h 509"/>
              <a:gd name="T48" fmla="*/ 272 w 546"/>
              <a:gd name="T49" fmla="*/ 508 h 509"/>
              <a:gd name="T50" fmla="*/ 327 w 546"/>
              <a:gd name="T51" fmla="*/ 502 h 509"/>
              <a:gd name="T52" fmla="*/ 378 w 546"/>
              <a:gd name="T53" fmla="*/ 488 h 509"/>
              <a:gd name="T54" fmla="*/ 425 w 546"/>
              <a:gd name="T55" fmla="*/ 464 h 509"/>
              <a:gd name="T56" fmla="*/ 465 w 546"/>
              <a:gd name="T57" fmla="*/ 433 h 509"/>
              <a:gd name="T58" fmla="*/ 498 w 546"/>
              <a:gd name="T59" fmla="*/ 395 h 509"/>
              <a:gd name="T60" fmla="*/ 523 w 546"/>
              <a:gd name="T61" fmla="*/ 352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5" y="43"/>
                </a:lnTo>
                <a:lnTo>
                  <a:pt x="378" y="20"/>
                </a:lnTo>
                <a:lnTo>
                  <a:pt x="327" y="5"/>
                </a:lnTo>
                <a:lnTo>
                  <a:pt x="272" y="0"/>
                </a:lnTo>
                <a:lnTo>
                  <a:pt x="217" y="5"/>
                </a:lnTo>
                <a:lnTo>
                  <a:pt x="166" y="20"/>
                </a:lnTo>
                <a:lnTo>
                  <a:pt x="120" y="43"/>
                </a:lnTo>
                <a:lnTo>
                  <a:pt x="79" y="74"/>
                </a:lnTo>
                <a:lnTo>
                  <a:pt x="46" y="112"/>
                </a:lnTo>
                <a:lnTo>
                  <a:pt x="21" y="155"/>
                </a:lnTo>
                <a:lnTo>
                  <a:pt x="5" y="203"/>
                </a:lnTo>
                <a:lnTo>
                  <a:pt x="0" y="254"/>
                </a:lnTo>
                <a:lnTo>
                  <a:pt x="5" y="305"/>
                </a:lnTo>
                <a:lnTo>
                  <a:pt x="21" y="352"/>
                </a:lnTo>
                <a:lnTo>
                  <a:pt x="46" y="395"/>
                </a:lnTo>
                <a:lnTo>
                  <a:pt x="79" y="433"/>
                </a:lnTo>
                <a:lnTo>
                  <a:pt x="120" y="464"/>
                </a:lnTo>
                <a:lnTo>
                  <a:pt x="166" y="488"/>
                </a:lnTo>
                <a:lnTo>
                  <a:pt x="217" y="502"/>
                </a:lnTo>
                <a:lnTo>
                  <a:pt x="272" y="508"/>
                </a:lnTo>
                <a:lnTo>
                  <a:pt x="327" y="502"/>
                </a:lnTo>
                <a:lnTo>
                  <a:pt x="378" y="488"/>
                </a:lnTo>
                <a:lnTo>
                  <a:pt x="425" y="464"/>
                </a:lnTo>
                <a:lnTo>
                  <a:pt x="465" y="433"/>
                </a:lnTo>
                <a:lnTo>
                  <a:pt x="498" y="395"/>
                </a:lnTo>
                <a:lnTo>
                  <a:pt x="523" y="352"/>
                </a:lnTo>
                <a:lnTo>
                  <a:pt x="539" y="305"/>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8" name="Rectangle 8"/>
          <p:cNvSpPr>
            <a:spLocks noChangeArrowheads="1"/>
          </p:cNvSpPr>
          <p:nvPr/>
        </p:nvSpPr>
        <p:spPr bwMode="auto">
          <a:xfrm>
            <a:off x="4241800" y="3311525"/>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1</a:t>
            </a:r>
          </a:p>
        </p:txBody>
      </p:sp>
      <p:sp>
        <p:nvSpPr>
          <p:cNvPr id="40969" name="Freeform 9"/>
          <p:cNvSpPr>
            <a:spLocks/>
          </p:cNvSpPr>
          <p:nvPr/>
        </p:nvSpPr>
        <p:spPr bwMode="auto">
          <a:xfrm>
            <a:off x="6272213" y="1287463"/>
            <a:ext cx="866775" cy="808037"/>
          </a:xfrm>
          <a:custGeom>
            <a:avLst/>
            <a:gdLst>
              <a:gd name="T0" fmla="*/ 545 w 546"/>
              <a:gd name="T1" fmla="*/ 254 h 509"/>
              <a:gd name="T2" fmla="*/ 540 w 546"/>
              <a:gd name="T3" fmla="*/ 203 h 509"/>
              <a:gd name="T4" fmla="*/ 524 w 546"/>
              <a:gd name="T5" fmla="*/ 155 h 509"/>
              <a:gd name="T6" fmla="*/ 498 w 546"/>
              <a:gd name="T7" fmla="*/ 112 h 509"/>
              <a:gd name="T8" fmla="*/ 465 w 546"/>
              <a:gd name="T9" fmla="*/ 74 h 509"/>
              <a:gd name="T10" fmla="*/ 425 w 546"/>
              <a:gd name="T11" fmla="*/ 44 h 509"/>
              <a:gd name="T12" fmla="*/ 379 w 546"/>
              <a:gd name="T13" fmla="*/ 20 h 509"/>
              <a:gd name="T14" fmla="*/ 327 w 546"/>
              <a:gd name="T15" fmla="*/ 5 h 509"/>
              <a:gd name="T16" fmla="*/ 273 w 546"/>
              <a:gd name="T17" fmla="*/ 0 h 509"/>
              <a:gd name="T18" fmla="*/ 218 w 546"/>
              <a:gd name="T19" fmla="*/ 5 h 509"/>
              <a:gd name="T20" fmla="*/ 167 w 546"/>
              <a:gd name="T21" fmla="*/ 20 h 509"/>
              <a:gd name="T22" fmla="*/ 120 w 546"/>
              <a:gd name="T23" fmla="*/ 44 h 509"/>
              <a:gd name="T24" fmla="*/ 80 w 546"/>
              <a:gd name="T25" fmla="*/ 74 h 509"/>
              <a:gd name="T26" fmla="*/ 47 w 546"/>
              <a:gd name="T27" fmla="*/ 112 h 509"/>
              <a:gd name="T28" fmla="*/ 22 w 546"/>
              <a:gd name="T29" fmla="*/ 155 h 509"/>
              <a:gd name="T30" fmla="*/ 6 w 546"/>
              <a:gd name="T31" fmla="*/ 203 h 509"/>
              <a:gd name="T32" fmla="*/ 0 w 546"/>
              <a:gd name="T33" fmla="*/ 254 h 509"/>
              <a:gd name="T34" fmla="*/ 6 w 546"/>
              <a:gd name="T35" fmla="*/ 305 h 509"/>
              <a:gd name="T36" fmla="*/ 22 w 546"/>
              <a:gd name="T37" fmla="*/ 353 h 509"/>
              <a:gd name="T38" fmla="*/ 47 w 546"/>
              <a:gd name="T39" fmla="*/ 396 h 509"/>
              <a:gd name="T40" fmla="*/ 80 w 546"/>
              <a:gd name="T41" fmla="*/ 433 h 509"/>
              <a:gd name="T42" fmla="*/ 120 w 546"/>
              <a:gd name="T43" fmla="*/ 464 h 509"/>
              <a:gd name="T44" fmla="*/ 167 w 546"/>
              <a:gd name="T45" fmla="*/ 488 h 509"/>
              <a:gd name="T46" fmla="*/ 218 w 546"/>
              <a:gd name="T47" fmla="*/ 503 h 509"/>
              <a:gd name="T48" fmla="*/ 273 w 546"/>
              <a:gd name="T49" fmla="*/ 508 h 509"/>
              <a:gd name="T50" fmla="*/ 327 w 546"/>
              <a:gd name="T51" fmla="*/ 503 h 509"/>
              <a:gd name="T52" fmla="*/ 379 w 546"/>
              <a:gd name="T53" fmla="*/ 488 h 509"/>
              <a:gd name="T54" fmla="*/ 425 w 546"/>
              <a:gd name="T55" fmla="*/ 464 h 509"/>
              <a:gd name="T56" fmla="*/ 465 w 546"/>
              <a:gd name="T57" fmla="*/ 433 h 509"/>
              <a:gd name="T58" fmla="*/ 498 w 546"/>
              <a:gd name="T59" fmla="*/ 396 h 509"/>
              <a:gd name="T60" fmla="*/ 524 w 546"/>
              <a:gd name="T61" fmla="*/ 353 h 509"/>
              <a:gd name="T62" fmla="*/ 540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40" y="203"/>
                </a:lnTo>
                <a:lnTo>
                  <a:pt x="524" y="155"/>
                </a:lnTo>
                <a:lnTo>
                  <a:pt x="498" y="112"/>
                </a:lnTo>
                <a:lnTo>
                  <a:pt x="465" y="74"/>
                </a:lnTo>
                <a:lnTo>
                  <a:pt x="425" y="44"/>
                </a:lnTo>
                <a:lnTo>
                  <a:pt x="379" y="20"/>
                </a:lnTo>
                <a:lnTo>
                  <a:pt x="327" y="5"/>
                </a:lnTo>
                <a:lnTo>
                  <a:pt x="273" y="0"/>
                </a:lnTo>
                <a:lnTo>
                  <a:pt x="218" y="5"/>
                </a:lnTo>
                <a:lnTo>
                  <a:pt x="167" y="20"/>
                </a:lnTo>
                <a:lnTo>
                  <a:pt x="120" y="44"/>
                </a:lnTo>
                <a:lnTo>
                  <a:pt x="80" y="74"/>
                </a:lnTo>
                <a:lnTo>
                  <a:pt x="47" y="112"/>
                </a:lnTo>
                <a:lnTo>
                  <a:pt x="22" y="155"/>
                </a:lnTo>
                <a:lnTo>
                  <a:pt x="6" y="203"/>
                </a:lnTo>
                <a:lnTo>
                  <a:pt x="0" y="254"/>
                </a:lnTo>
                <a:lnTo>
                  <a:pt x="6" y="305"/>
                </a:lnTo>
                <a:lnTo>
                  <a:pt x="22" y="353"/>
                </a:lnTo>
                <a:lnTo>
                  <a:pt x="47" y="396"/>
                </a:lnTo>
                <a:lnTo>
                  <a:pt x="80" y="433"/>
                </a:lnTo>
                <a:lnTo>
                  <a:pt x="120" y="464"/>
                </a:lnTo>
                <a:lnTo>
                  <a:pt x="167" y="488"/>
                </a:lnTo>
                <a:lnTo>
                  <a:pt x="218" y="503"/>
                </a:lnTo>
                <a:lnTo>
                  <a:pt x="273" y="508"/>
                </a:lnTo>
                <a:lnTo>
                  <a:pt x="327" y="503"/>
                </a:lnTo>
                <a:lnTo>
                  <a:pt x="379" y="488"/>
                </a:lnTo>
                <a:lnTo>
                  <a:pt x="425" y="464"/>
                </a:lnTo>
                <a:lnTo>
                  <a:pt x="465" y="433"/>
                </a:lnTo>
                <a:lnTo>
                  <a:pt x="498" y="396"/>
                </a:lnTo>
                <a:lnTo>
                  <a:pt x="524" y="353"/>
                </a:lnTo>
                <a:lnTo>
                  <a:pt x="540" y="305"/>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0" name="Rectangle 10"/>
          <p:cNvSpPr>
            <a:spLocks noChangeArrowheads="1"/>
          </p:cNvSpPr>
          <p:nvPr/>
        </p:nvSpPr>
        <p:spPr bwMode="auto">
          <a:xfrm>
            <a:off x="6488113" y="1454150"/>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4</a:t>
            </a:r>
          </a:p>
        </p:txBody>
      </p:sp>
      <p:sp>
        <p:nvSpPr>
          <p:cNvPr id="40971" name="Freeform 11"/>
          <p:cNvSpPr>
            <a:spLocks/>
          </p:cNvSpPr>
          <p:nvPr/>
        </p:nvSpPr>
        <p:spPr bwMode="auto">
          <a:xfrm>
            <a:off x="6670675" y="3343275"/>
            <a:ext cx="866775" cy="808038"/>
          </a:xfrm>
          <a:custGeom>
            <a:avLst/>
            <a:gdLst>
              <a:gd name="T0" fmla="*/ 545 w 546"/>
              <a:gd name="T1" fmla="*/ 254 h 509"/>
              <a:gd name="T2" fmla="*/ 540 w 546"/>
              <a:gd name="T3" fmla="*/ 203 h 509"/>
              <a:gd name="T4" fmla="*/ 524 w 546"/>
              <a:gd name="T5" fmla="*/ 155 h 509"/>
              <a:gd name="T6" fmla="*/ 498 w 546"/>
              <a:gd name="T7" fmla="*/ 112 h 509"/>
              <a:gd name="T8" fmla="*/ 465 w 546"/>
              <a:gd name="T9" fmla="*/ 74 h 509"/>
              <a:gd name="T10" fmla="*/ 425 w 546"/>
              <a:gd name="T11" fmla="*/ 43 h 509"/>
              <a:gd name="T12" fmla="*/ 379 w 546"/>
              <a:gd name="T13" fmla="*/ 20 h 509"/>
              <a:gd name="T14" fmla="*/ 327 w 546"/>
              <a:gd name="T15" fmla="*/ 5 h 509"/>
              <a:gd name="T16" fmla="*/ 273 w 546"/>
              <a:gd name="T17" fmla="*/ 0 h 509"/>
              <a:gd name="T18" fmla="*/ 218 w 546"/>
              <a:gd name="T19" fmla="*/ 5 h 509"/>
              <a:gd name="T20" fmla="*/ 166 w 546"/>
              <a:gd name="T21" fmla="*/ 20 h 509"/>
              <a:gd name="T22" fmla="*/ 120 w 546"/>
              <a:gd name="T23" fmla="*/ 43 h 509"/>
              <a:gd name="T24" fmla="*/ 80 w 546"/>
              <a:gd name="T25" fmla="*/ 74 h 509"/>
              <a:gd name="T26" fmla="*/ 47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2 h 509"/>
              <a:gd name="T38" fmla="*/ 47 w 546"/>
              <a:gd name="T39" fmla="*/ 396 h 509"/>
              <a:gd name="T40" fmla="*/ 80 w 546"/>
              <a:gd name="T41" fmla="*/ 433 h 509"/>
              <a:gd name="T42" fmla="*/ 120 w 546"/>
              <a:gd name="T43" fmla="*/ 464 h 509"/>
              <a:gd name="T44" fmla="*/ 166 w 546"/>
              <a:gd name="T45" fmla="*/ 488 h 509"/>
              <a:gd name="T46" fmla="*/ 218 w 546"/>
              <a:gd name="T47" fmla="*/ 502 h 509"/>
              <a:gd name="T48" fmla="*/ 273 w 546"/>
              <a:gd name="T49" fmla="*/ 508 h 509"/>
              <a:gd name="T50" fmla="*/ 327 w 546"/>
              <a:gd name="T51" fmla="*/ 502 h 509"/>
              <a:gd name="T52" fmla="*/ 379 w 546"/>
              <a:gd name="T53" fmla="*/ 488 h 509"/>
              <a:gd name="T54" fmla="*/ 425 w 546"/>
              <a:gd name="T55" fmla="*/ 464 h 509"/>
              <a:gd name="T56" fmla="*/ 465 w 546"/>
              <a:gd name="T57" fmla="*/ 433 h 509"/>
              <a:gd name="T58" fmla="*/ 498 w 546"/>
              <a:gd name="T59" fmla="*/ 396 h 509"/>
              <a:gd name="T60" fmla="*/ 524 w 546"/>
              <a:gd name="T61" fmla="*/ 352 h 509"/>
              <a:gd name="T62" fmla="*/ 540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40" y="203"/>
                </a:lnTo>
                <a:lnTo>
                  <a:pt x="524" y="155"/>
                </a:lnTo>
                <a:lnTo>
                  <a:pt x="498" y="112"/>
                </a:lnTo>
                <a:lnTo>
                  <a:pt x="465" y="74"/>
                </a:lnTo>
                <a:lnTo>
                  <a:pt x="425" y="43"/>
                </a:lnTo>
                <a:lnTo>
                  <a:pt x="379" y="20"/>
                </a:lnTo>
                <a:lnTo>
                  <a:pt x="327" y="5"/>
                </a:lnTo>
                <a:lnTo>
                  <a:pt x="273" y="0"/>
                </a:lnTo>
                <a:lnTo>
                  <a:pt x="218" y="5"/>
                </a:lnTo>
                <a:lnTo>
                  <a:pt x="166" y="20"/>
                </a:lnTo>
                <a:lnTo>
                  <a:pt x="120" y="43"/>
                </a:lnTo>
                <a:lnTo>
                  <a:pt x="80" y="74"/>
                </a:lnTo>
                <a:lnTo>
                  <a:pt x="47" y="112"/>
                </a:lnTo>
                <a:lnTo>
                  <a:pt x="21" y="155"/>
                </a:lnTo>
                <a:lnTo>
                  <a:pt x="5" y="203"/>
                </a:lnTo>
                <a:lnTo>
                  <a:pt x="0" y="254"/>
                </a:lnTo>
                <a:lnTo>
                  <a:pt x="5" y="305"/>
                </a:lnTo>
                <a:lnTo>
                  <a:pt x="21" y="352"/>
                </a:lnTo>
                <a:lnTo>
                  <a:pt x="47" y="396"/>
                </a:lnTo>
                <a:lnTo>
                  <a:pt x="80" y="433"/>
                </a:lnTo>
                <a:lnTo>
                  <a:pt x="120" y="464"/>
                </a:lnTo>
                <a:lnTo>
                  <a:pt x="166" y="488"/>
                </a:lnTo>
                <a:lnTo>
                  <a:pt x="218" y="502"/>
                </a:lnTo>
                <a:lnTo>
                  <a:pt x="273" y="508"/>
                </a:lnTo>
                <a:lnTo>
                  <a:pt x="327" y="502"/>
                </a:lnTo>
                <a:lnTo>
                  <a:pt x="379" y="488"/>
                </a:lnTo>
                <a:lnTo>
                  <a:pt x="425" y="464"/>
                </a:lnTo>
                <a:lnTo>
                  <a:pt x="465" y="433"/>
                </a:lnTo>
                <a:lnTo>
                  <a:pt x="498" y="396"/>
                </a:lnTo>
                <a:lnTo>
                  <a:pt x="524" y="352"/>
                </a:lnTo>
                <a:lnTo>
                  <a:pt x="540" y="305"/>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2" name="Rectangle 12"/>
          <p:cNvSpPr>
            <a:spLocks noChangeArrowheads="1"/>
          </p:cNvSpPr>
          <p:nvPr/>
        </p:nvSpPr>
        <p:spPr bwMode="auto">
          <a:xfrm>
            <a:off x="6884988" y="3509963"/>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5</a:t>
            </a:r>
          </a:p>
        </p:txBody>
      </p:sp>
      <p:sp>
        <p:nvSpPr>
          <p:cNvPr id="40973" name="Freeform 13"/>
          <p:cNvSpPr>
            <a:spLocks/>
          </p:cNvSpPr>
          <p:nvPr/>
        </p:nvSpPr>
        <p:spPr bwMode="auto">
          <a:xfrm>
            <a:off x="5314950" y="4908550"/>
            <a:ext cx="866775" cy="808038"/>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4 w 546"/>
              <a:gd name="T11" fmla="*/ 44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4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3 h 509"/>
              <a:gd name="T38" fmla="*/ 46 w 546"/>
              <a:gd name="T39" fmla="*/ 396 h 509"/>
              <a:gd name="T40" fmla="*/ 79 w 546"/>
              <a:gd name="T41" fmla="*/ 433 h 509"/>
              <a:gd name="T42" fmla="*/ 120 w 546"/>
              <a:gd name="T43" fmla="*/ 464 h 509"/>
              <a:gd name="T44" fmla="*/ 166 w 546"/>
              <a:gd name="T45" fmla="*/ 488 h 509"/>
              <a:gd name="T46" fmla="*/ 217 w 546"/>
              <a:gd name="T47" fmla="*/ 503 h 509"/>
              <a:gd name="T48" fmla="*/ 272 w 546"/>
              <a:gd name="T49" fmla="*/ 508 h 509"/>
              <a:gd name="T50" fmla="*/ 327 w 546"/>
              <a:gd name="T51" fmla="*/ 503 h 509"/>
              <a:gd name="T52" fmla="*/ 378 w 546"/>
              <a:gd name="T53" fmla="*/ 488 h 509"/>
              <a:gd name="T54" fmla="*/ 424 w 546"/>
              <a:gd name="T55" fmla="*/ 464 h 509"/>
              <a:gd name="T56" fmla="*/ 465 w 546"/>
              <a:gd name="T57" fmla="*/ 433 h 509"/>
              <a:gd name="T58" fmla="*/ 498 w 546"/>
              <a:gd name="T59" fmla="*/ 396 h 509"/>
              <a:gd name="T60" fmla="*/ 523 w 546"/>
              <a:gd name="T61" fmla="*/ 353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4" y="44"/>
                </a:lnTo>
                <a:lnTo>
                  <a:pt x="378" y="20"/>
                </a:lnTo>
                <a:lnTo>
                  <a:pt x="327" y="5"/>
                </a:lnTo>
                <a:lnTo>
                  <a:pt x="272" y="0"/>
                </a:lnTo>
                <a:lnTo>
                  <a:pt x="217" y="5"/>
                </a:lnTo>
                <a:lnTo>
                  <a:pt x="166" y="20"/>
                </a:lnTo>
                <a:lnTo>
                  <a:pt x="120" y="44"/>
                </a:lnTo>
                <a:lnTo>
                  <a:pt x="79" y="74"/>
                </a:lnTo>
                <a:lnTo>
                  <a:pt x="46" y="112"/>
                </a:lnTo>
                <a:lnTo>
                  <a:pt x="21" y="155"/>
                </a:lnTo>
                <a:lnTo>
                  <a:pt x="5" y="203"/>
                </a:lnTo>
                <a:lnTo>
                  <a:pt x="0" y="254"/>
                </a:lnTo>
                <a:lnTo>
                  <a:pt x="5" y="305"/>
                </a:lnTo>
                <a:lnTo>
                  <a:pt x="21" y="353"/>
                </a:lnTo>
                <a:lnTo>
                  <a:pt x="46" y="396"/>
                </a:lnTo>
                <a:lnTo>
                  <a:pt x="79" y="433"/>
                </a:lnTo>
                <a:lnTo>
                  <a:pt x="120" y="464"/>
                </a:lnTo>
                <a:lnTo>
                  <a:pt x="166" y="488"/>
                </a:lnTo>
                <a:lnTo>
                  <a:pt x="217" y="503"/>
                </a:lnTo>
                <a:lnTo>
                  <a:pt x="272" y="508"/>
                </a:lnTo>
                <a:lnTo>
                  <a:pt x="327" y="503"/>
                </a:lnTo>
                <a:lnTo>
                  <a:pt x="378" y="488"/>
                </a:lnTo>
                <a:lnTo>
                  <a:pt x="424" y="464"/>
                </a:lnTo>
                <a:lnTo>
                  <a:pt x="465" y="433"/>
                </a:lnTo>
                <a:lnTo>
                  <a:pt x="498" y="396"/>
                </a:lnTo>
                <a:lnTo>
                  <a:pt x="523" y="353"/>
                </a:lnTo>
                <a:lnTo>
                  <a:pt x="539" y="305"/>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4" name="Rectangle 14"/>
          <p:cNvSpPr>
            <a:spLocks noChangeArrowheads="1"/>
          </p:cNvSpPr>
          <p:nvPr/>
        </p:nvSpPr>
        <p:spPr bwMode="auto">
          <a:xfrm>
            <a:off x="5529263" y="5075238"/>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6</a:t>
            </a:r>
          </a:p>
        </p:txBody>
      </p:sp>
      <p:sp>
        <p:nvSpPr>
          <p:cNvPr id="40975" name="Line 15"/>
          <p:cNvSpPr>
            <a:spLocks noChangeShapeType="1"/>
          </p:cNvSpPr>
          <p:nvPr/>
        </p:nvSpPr>
        <p:spPr bwMode="auto">
          <a:xfrm flipV="1">
            <a:off x="3325813" y="1671638"/>
            <a:ext cx="2946400" cy="58737"/>
          </a:xfrm>
          <a:prstGeom prst="line">
            <a:avLst/>
          </a:prstGeom>
          <a:noFill/>
          <a:ln w="25400">
            <a:solidFill>
              <a:srgbClr val="FF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76" name="Line 16"/>
          <p:cNvSpPr>
            <a:spLocks noChangeShapeType="1"/>
          </p:cNvSpPr>
          <p:nvPr/>
        </p:nvSpPr>
        <p:spPr bwMode="auto">
          <a:xfrm flipH="1">
            <a:off x="2062163" y="2081213"/>
            <a:ext cx="642937" cy="2393950"/>
          </a:xfrm>
          <a:prstGeom prst="line">
            <a:avLst/>
          </a:prstGeom>
          <a:noFill/>
          <a:ln w="25400">
            <a:solidFill>
              <a:srgbClr val="FF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77" name="Line 17"/>
          <p:cNvSpPr>
            <a:spLocks noChangeShapeType="1"/>
          </p:cNvSpPr>
          <p:nvPr/>
        </p:nvSpPr>
        <p:spPr bwMode="auto">
          <a:xfrm>
            <a:off x="3197225" y="2000250"/>
            <a:ext cx="969963" cy="1214438"/>
          </a:xfrm>
          <a:prstGeom prst="line">
            <a:avLst/>
          </a:prstGeom>
          <a:noFill/>
          <a:ln w="25400">
            <a:solidFill>
              <a:srgbClr val="FF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78" name="Line 18"/>
          <p:cNvSpPr>
            <a:spLocks noChangeShapeType="1"/>
          </p:cNvSpPr>
          <p:nvPr/>
        </p:nvSpPr>
        <p:spPr bwMode="auto">
          <a:xfrm flipV="1">
            <a:off x="4822825" y="1987550"/>
            <a:ext cx="1590675" cy="1343025"/>
          </a:xfrm>
          <a:prstGeom prst="line">
            <a:avLst/>
          </a:prstGeom>
          <a:noFill/>
          <a:ln w="25400">
            <a:solidFill>
              <a:srgbClr val="FF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79" name="Line 19"/>
          <p:cNvSpPr>
            <a:spLocks noChangeShapeType="1"/>
          </p:cNvSpPr>
          <p:nvPr/>
        </p:nvSpPr>
        <p:spPr bwMode="auto">
          <a:xfrm flipV="1">
            <a:off x="2460625" y="3810000"/>
            <a:ext cx="1660525" cy="957263"/>
          </a:xfrm>
          <a:prstGeom prst="line">
            <a:avLst/>
          </a:prstGeom>
          <a:noFill/>
          <a:ln w="25400">
            <a:solidFill>
              <a:srgbClr val="FF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80" name="Line 20"/>
          <p:cNvSpPr>
            <a:spLocks noChangeShapeType="1"/>
          </p:cNvSpPr>
          <p:nvPr/>
        </p:nvSpPr>
        <p:spPr bwMode="auto">
          <a:xfrm>
            <a:off x="2471738" y="5000625"/>
            <a:ext cx="2830512" cy="327025"/>
          </a:xfrm>
          <a:prstGeom prst="line">
            <a:avLst/>
          </a:prstGeom>
          <a:noFill/>
          <a:ln w="25400">
            <a:solidFill>
              <a:srgbClr val="FF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81" name="Line 21"/>
          <p:cNvSpPr>
            <a:spLocks noChangeShapeType="1"/>
          </p:cNvSpPr>
          <p:nvPr/>
        </p:nvSpPr>
        <p:spPr bwMode="auto">
          <a:xfrm>
            <a:off x="4775200" y="3821113"/>
            <a:ext cx="760413" cy="1120775"/>
          </a:xfrm>
          <a:prstGeom prst="line">
            <a:avLst/>
          </a:prstGeom>
          <a:noFill/>
          <a:ln w="25400">
            <a:solidFill>
              <a:srgbClr val="FF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82" name="Line 22"/>
          <p:cNvSpPr>
            <a:spLocks noChangeShapeType="1"/>
          </p:cNvSpPr>
          <p:nvPr/>
        </p:nvSpPr>
        <p:spPr bwMode="auto">
          <a:xfrm>
            <a:off x="4892675" y="3563938"/>
            <a:ext cx="1765300" cy="187325"/>
          </a:xfrm>
          <a:prstGeom prst="line">
            <a:avLst/>
          </a:prstGeom>
          <a:noFill/>
          <a:ln w="25400">
            <a:solidFill>
              <a:srgbClr val="FF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83" name="Line 23"/>
          <p:cNvSpPr>
            <a:spLocks noChangeShapeType="1"/>
          </p:cNvSpPr>
          <p:nvPr/>
        </p:nvSpPr>
        <p:spPr bwMode="auto">
          <a:xfrm>
            <a:off x="6915150" y="2057400"/>
            <a:ext cx="222250" cy="1273175"/>
          </a:xfrm>
          <a:prstGeom prst="line">
            <a:avLst/>
          </a:prstGeom>
          <a:noFill/>
          <a:ln w="25400">
            <a:solidFill>
              <a:srgbClr val="FF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84" name="Line 24"/>
          <p:cNvSpPr>
            <a:spLocks noChangeShapeType="1"/>
          </p:cNvSpPr>
          <p:nvPr/>
        </p:nvSpPr>
        <p:spPr bwMode="auto">
          <a:xfrm flipV="1">
            <a:off x="6154738" y="4148138"/>
            <a:ext cx="889000" cy="1016000"/>
          </a:xfrm>
          <a:prstGeom prst="line">
            <a:avLst/>
          </a:prstGeom>
          <a:noFill/>
          <a:ln w="25400">
            <a:solidFill>
              <a:srgbClr val="FF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85" name="Rectangle 25"/>
          <p:cNvSpPr>
            <a:spLocks noChangeArrowheads="1"/>
          </p:cNvSpPr>
          <p:nvPr/>
        </p:nvSpPr>
        <p:spPr bwMode="auto">
          <a:xfrm>
            <a:off x="4240213" y="1346200"/>
            <a:ext cx="6365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$150</a:t>
            </a:r>
          </a:p>
        </p:txBody>
      </p:sp>
      <p:sp>
        <p:nvSpPr>
          <p:cNvPr id="40986" name="Rectangle 26"/>
          <p:cNvSpPr>
            <a:spLocks noChangeArrowheads="1"/>
          </p:cNvSpPr>
          <p:nvPr/>
        </p:nvSpPr>
        <p:spPr bwMode="auto">
          <a:xfrm>
            <a:off x="3656013" y="2363788"/>
            <a:ext cx="6365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$100</a:t>
            </a:r>
          </a:p>
        </p:txBody>
      </p:sp>
      <p:sp>
        <p:nvSpPr>
          <p:cNvPr id="40987" name="Rectangle 27"/>
          <p:cNvSpPr>
            <a:spLocks noChangeArrowheads="1"/>
          </p:cNvSpPr>
          <p:nvPr/>
        </p:nvSpPr>
        <p:spPr bwMode="auto">
          <a:xfrm>
            <a:off x="1868488" y="2865438"/>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$40</a:t>
            </a:r>
          </a:p>
        </p:txBody>
      </p:sp>
      <p:sp>
        <p:nvSpPr>
          <p:cNvPr id="40988" name="Rectangle 28"/>
          <p:cNvSpPr>
            <a:spLocks noChangeArrowheads="1"/>
          </p:cNvSpPr>
          <p:nvPr/>
        </p:nvSpPr>
        <p:spPr bwMode="auto">
          <a:xfrm>
            <a:off x="2665413" y="4068763"/>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$85</a:t>
            </a:r>
          </a:p>
        </p:txBody>
      </p:sp>
      <p:sp>
        <p:nvSpPr>
          <p:cNvPr id="40989" name="Rectangle 29"/>
          <p:cNvSpPr>
            <a:spLocks noChangeArrowheads="1"/>
          </p:cNvSpPr>
          <p:nvPr/>
        </p:nvSpPr>
        <p:spPr bwMode="auto">
          <a:xfrm>
            <a:off x="3508375" y="5224463"/>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$65</a:t>
            </a:r>
          </a:p>
        </p:txBody>
      </p:sp>
      <p:sp>
        <p:nvSpPr>
          <p:cNvPr id="40990" name="Rectangle 30"/>
          <p:cNvSpPr>
            <a:spLocks noChangeArrowheads="1"/>
          </p:cNvSpPr>
          <p:nvPr/>
        </p:nvSpPr>
        <p:spPr bwMode="auto">
          <a:xfrm>
            <a:off x="6573838" y="4700588"/>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$50</a:t>
            </a:r>
          </a:p>
        </p:txBody>
      </p:sp>
      <p:sp>
        <p:nvSpPr>
          <p:cNvPr id="40991" name="Rectangle 31"/>
          <p:cNvSpPr>
            <a:spLocks noChangeArrowheads="1"/>
          </p:cNvSpPr>
          <p:nvPr/>
        </p:nvSpPr>
        <p:spPr bwMode="auto">
          <a:xfrm>
            <a:off x="5114925" y="4197350"/>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$90</a:t>
            </a:r>
          </a:p>
        </p:txBody>
      </p:sp>
      <p:sp>
        <p:nvSpPr>
          <p:cNvPr id="40992" name="Rectangle 32"/>
          <p:cNvSpPr>
            <a:spLocks noChangeArrowheads="1"/>
          </p:cNvSpPr>
          <p:nvPr/>
        </p:nvSpPr>
        <p:spPr bwMode="auto">
          <a:xfrm>
            <a:off x="5456238" y="3322638"/>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$80</a:t>
            </a:r>
          </a:p>
        </p:txBody>
      </p:sp>
      <p:sp>
        <p:nvSpPr>
          <p:cNvPr id="40993" name="Rectangle 33"/>
          <p:cNvSpPr>
            <a:spLocks noChangeArrowheads="1"/>
          </p:cNvSpPr>
          <p:nvPr/>
        </p:nvSpPr>
        <p:spPr bwMode="auto">
          <a:xfrm>
            <a:off x="7024688" y="2563813"/>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$75</a:t>
            </a:r>
          </a:p>
        </p:txBody>
      </p:sp>
      <p:sp>
        <p:nvSpPr>
          <p:cNvPr id="40994" name="Rectangle 34"/>
          <p:cNvSpPr>
            <a:spLocks noChangeArrowheads="1"/>
          </p:cNvSpPr>
          <p:nvPr/>
        </p:nvSpPr>
        <p:spPr bwMode="auto">
          <a:xfrm>
            <a:off x="5099050" y="2387600"/>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$85</a:t>
            </a:r>
          </a:p>
        </p:txBody>
      </p:sp>
      <p:sp>
        <p:nvSpPr>
          <p:cNvPr id="40995" name="Rectangle 35"/>
          <p:cNvSpPr>
            <a:spLocks noChangeArrowheads="1"/>
          </p:cNvSpPr>
          <p:nvPr/>
        </p:nvSpPr>
        <p:spPr bwMode="auto">
          <a:xfrm>
            <a:off x="1238250" y="5741988"/>
            <a:ext cx="7432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eaLnBrk="0" hangingPunct="0">
              <a:spcBef>
                <a:spcPct val="50000"/>
              </a:spcBef>
            </a:pPr>
            <a:r>
              <a:rPr lang="en-US" sz="2400" dirty="0"/>
              <a:t>Nodes represent computers in a local area network.</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57200" y="274638"/>
            <a:ext cx="8229600" cy="657225"/>
          </a:xfrm>
          <a:noFill/>
          <a:ln/>
        </p:spPr>
        <p:txBody>
          <a:bodyPr lIns="92075" tIns="46038" rIns="92075" bIns="46038"/>
          <a:lstStyle/>
          <a:p>
            <a:r>
              <a:rPr lang="en-US" sz="3600">
                <a:solidFill>
                  <a:schemeClr val="hlink"/>
                </a:solidFill>
              </a:rPr>
              <a:t>The Minimal Spanning Tree Algorithm</a:t>
            </a:r>
          </a:p>
        </p:txBody>
      </p:sp>
      <p:sp>
        <p:nvSpPr>
          <p:cNvPr id="41987" name="Rectangle 3"/>
          <p:cNvSpPr>
            <a:spLocks noGrp="1" noChangeArrowheads="1"/>
          </p:cNvSpPr>
          <p:nvPr>
            <p:ph type="body" idx="1"/>
          </p:nvPr>
        </p:nvSpPr>
        <p:spPr>
          <a:xfrm>
            <a:off x="669925" y="1084263"/>
            <a:ext cx="7772400" cy="4152900"/>
          </a:xfrm>
          <a:noFill/>
          <a:ln/>
        </p:spPr>
        <p:txBody>
          <a:bodyPr lIns="92075" tIns="46038" rIns="92075" bIns="46038"/>
          <a:lstStyle/>
          <a:p>
            <a:pPr marL="577850" indent="-577850">
              <a:lnSpc>
                <a:spcPct val="120000"/>
              </a:lnSpc>
              <a:buFont typeface="Wingdings" pitchFamily="2" charset="2"/>
              <a:buNone/>
            </a:pPr>
            <a:r>
              <a:rPr lang="en-US" sz="2400" dirty="0"/>
              <a:t>1.	Select any node.  Call this the current subnetwork.</a:t>
            </a:r>
          </a:p>
          <a:p>
            <a:pPr marL="577850" indent="-577850">
              <a:lnSpc>
                <a:spcPct val="120000"/>
              </a:lnSpc>
              <a:buFont typeface="Wingdings" pitchFamily="2" charset="2"/>
              <a:buNone/>
            </a:pPr>
            <a:r>
              <a:rPr lang="en-US" sz="2400" dirty="0"/>
              <a:t>2.	Add to the current subnetwork the cheapest arc that connects any node within the current subnetwork to any node not in the current subnetwork. (Ties for the cheapest arc can be broken arbitrarily.) Call this the current subnetwork.</a:t>
            </a:r>
          </a:p>
          <a:p>
            <a:pPr marL="577850" indent="-577850">
              <a:lnSpc>
                <a:spcPct val="120000"/>
              </a:lnSpc>
              <a:buFont typeface="Wingdings" pitchFamily="2" charset="2"/>
              <a:buNone/>
            </a:pPr>
            <a:r>
              <a:rPr lang="en-US" sz="2400" dirty="0"/>
              <a:t>3.</a:t>
            </a:r>
            <a:r>
              <a:rPr lang="en-US" sz="2400" b="1" dirty="0"/>
              <a:t> 	</a:t>
            </a:r>
            <a:r>
              <a:rPr lang="en-US" sz="2400" dirty="0"/>
              <a:t>If all the nodes are in the subnetwork, stop; this is the optimal solution. Otherwise, return to step 2.</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19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19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19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685800" y="377825"/>
            <a:ext cx="7772400" cy="749300"/>
          </a:xfrm>
          <a:noFill/>
          <a:ln/>
        </p:spPr>
        <p:txBody>
          <a:bodyPr lIns="92075" tIns="46038" rIns="92075" bIns="46038"/>
          <a:lstStyle/>
          <a:p>
            <a:r>
              <a:rPr lang="en-US" sz="4000" i="1">
                <a:solidFill>
                  <a:schemeClr val="hlink"/>
                </a:solidFill>
              </a:rPr>
              <a:t>Solving the Example Problem - 1</a:t>
            </a:r>
          </a:p>
        </p:txBody>
      </p:sp>
      <p:sp>
        <p:nvSpPr>
          <p:cNvPr id="43011" name="Freeform 3"/>
          <p:cNvSpPr>
            <a:spLocks/>
          </p:cNvSpPr>
          <p:nvPr/>
        </p:nvSpPr>
        <p:spPr bwMode="auto">
          <a:xfrm>
            <a:off x="2460625" y="1333500"/>
            <a:ext cx="866775" cy="808038"/>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4 w 546"/>
              <a:gd name="T11" fmla="*/ 44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4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3 h 509"/>
              <a:gd name="T38" fmla="*/ 46 w 546"/>
              <a:gd name="T39" fmla="*/ 396 h 509"/>
              <a:gd name="T40" fmla="*/ 79 w 546"/>
              <a:gd name="T41" fmla="*/ 433 h 509"/>
              <a:gd name="T42" fmla="*/ 120 w 546"/>
              <a:gd name="T43" fmla="*/ 464 h 509"/>
              <a:gd name="T44" fmla="*/ 166 w 546"/>
              <a:gd name="T45" fmla="*/ 488 h 509"/>
              <a:gd name="T46" fmla="*/ 217 w 546"/>
              <a:gd name="T47" fmla="*/ 503 h 509"/>
              <a:gd name="T48" fmla="*/ 272 w 546"/>
              <a:gd name="T49" fmla="*/ 508 h 509"/>
              <a:gd name="T50" fmla="*/ 327 w 546"/>
              <a:gd name="T51" fmla="*/ 503 h 509"/>
              <a:gd name="T52" fmla="*/ 378 w 546"/>
              <a:gd name="T53" fmla="*/ 488 h 509"/>
              <a:gd name="T54" fmla="*/ 424 w 546"/>
              <a:gd name="T55" fmla="*/ 464 h 509"/>
              <a:gd name="T56" fmla="*/ 465 w 546"/>
              <a:gd name="T57" fmla="*/ 433 h 509"/>
              <a:gd name="T58" fmla="*/ 498 w 546"/>
              <a:gd name="T59" fmla="*/ 396 h 509"/>
              <a:gd name="T60" fmla="*/ 523 w 546"/>
              <a:gd name="T61" fmla="*/ 353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4" y="44"/>
                </a:lnTo>
                <a:lnTo>
                  <a:pt x="378" y="20"/>
                </a:lnTo>
                <a:lnTo>
                  <a:pt x="327" y="5"/>
                </a:lnTo>
                <a:lnTo>
                  <a:pt x="272" y="0"/>
                </a:lnTo>
                <a:lnTo>
                  <a:pt x="217" y="5"/>
                </a:lnTo>
                <a:lnTo>
                  <a:pt x="166" y="20"/>
                </a:lnTo>
                <a:lnTo>
                  <a:pt x="120" y="44"/>
                </a:lnTo>
                <a:lnTo>
                  <a:pt x="79" y="74"/>
                </a:lnTo>
                <a:lnTo>
                  <a:pt x="46" y="112"/>
                </a:lnTo>
                <a:lnTo>
                  <a:pt x="21" y="155"/>
                </a:lnTo>
                <a:lnTo>
                  <a:pt x="5" y="203"/>
                </a:lnTo>
                <a:lnTo>
                  <a:pt x="0" y="254"/>
                </a:lnTo>
                <a:lnTo>
                  <a:pt x="5" y="305"/>
                </a:lnTo>
                <a:lnTo>
                  <a:pt x="21" y="353"/>
                </a:lnTo>
                <a:lnTo>
                  <a:pt x="46" y="396"/>
                </a:lnTo>
                <a:lnTo>
                  <a:pt x="79" y="433"/>
                </a:lnTo>
                <a:lnTo>
                  <a:pt x="120" y="464"/>
                </a:lnTo>
                <a:lnTo>
                  <a:pt x="166" y="488"/>
                </a:lnTo>
                <a:lnTo>
                  <a:pt x="217" y="503"/>
                </a:lnTo>
                <a:lnTo>
                  <a:pt x="272" y="508"/>
                </a:lnTo>
                <a:lnTo>
                  <a:pt x="327" y="503"/>
                </a:lnTo>
                <a:lnTo>
                  <a:pt x="378" y="488"/>
                </a:lnTo>
                <a:lnTo>
                  <a:pt x="424" y="464"/>
                </a:lnTo>
                <a:lnTo>
                  <a:pt x="465" y="433"/>
                </a:lnTo>
                <a:lnTo>
                  <a:pt x="498" y="396"/>
                </a:lnTo>
                <a:lnTo>
                  <a:pt x="523" y="353"/>
                </a:lnTo>
                <a:lnTo>
                  <a:pt x="539" y="305"/>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2" name="Rectangle 4"/>
          <p:cNvSpPr>
            <a:spLocks noChangeArrowheads="1"/>
          </p:cNvSpPr>
          <p:nvPr/>
        </p:nvSpPr>
        <p:spPr bwMode="auto">
          <a:xfrm>
            <a:off x="2673350" y="1500188"/>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2</a:t>
            </a:r>
          </a:p>
        </p:txBody>
      </p:sp>
      <p:sp>
        <p:nvSpPr>
          <p:cNvPr id="43013" name="Freeform 5"/>
          <p:cNvSpPr>
            <a:spLocks/>
          </p:cNvSpPr>
          <p:nvPr/>
        </p:nvSpPr>
        <p:spPr bwMode="auto">
          <a:xfrm>
            <a:off x="1630363" y="4487863"/>
            <a:ext cx="866775" cy="806450"/>
          </a:xfrm>
          <a:custGeom>
            <a:avLst/>
            <a:gdLst>
              <a:gd name="T0" fmla="*/ 545 w 546"/>
              <a:gd name="T1" fmla="*/ 254 h 508"/>
              <a:gd name="T2" fmla="*/ 539 w 546"/>
              <a:gd name="T3" fmla="*/ 202 h 508"/>
              <a:gd name="T4" fmla="*/ 523 w 546"/>
              <a:gd name="T5" fmla="*/ 155 h 508"/>
              <a:gd name="T6" fmla="*/ 498 w 546"/>
              <a:gd name="T7" fmla="*/ 112 h 508"/>
              <a:gd name="T8" fmla="*/ 465 w 546"/>
              <a:gd name="T9" fmla="*/ 74 h 508"/>
              <a:gd name="T10" fmla="*/ 425 w 546"/>
              <a:gd name="T11" fmla="*/ 43 h 508"/>
              <a:gd name="T12" fmla="*/ 378 w 546"/>
              <a:gd name="T13" fmla="*/ 19 h 508"/>
              <a:gd name="T14" fmla="*/ 327 w 546"/>
              <a:gd name="T15" fmla="*/ 5 h 508"/>
              <a:gd name="T16" fmla="*/ 273 w 546"/>
              <a:gd name="T17" fmla="*/ 0 h 508"/>
              <a:gd name="T18" fmla="*/ 217 w 546"/>
              <a:gd name="T19" fmla="*/ 5 h 508"/>
              <a:gd name="T20" fmla="*/ 166 w 546"/>
              <a:gd name="T21" fmla="*/ 19 h 508"/>
              <a:gd name="T22" fmla="*/ 120 w 546"/>
              <a:gd name="T23" fmla="*/ 43 h 508"/>
              <a:gd name="T24" fmla="*/ 79 w 546"/>
              <a:gd name="T25" fmla="*/ 74 h 508"/>
              <a:gd name="T26" fmla="*/ 46 w 546"/>
              <a:gd name="T27" fmla="*/ 112 h 508"/>
              <a:gd name="T28" fmla="*/ 21 w 546"/>
              <a:gd name="T29" fmla="*/ 155 h 508"/>
              <a:gd name="T30" fmla="*/ 5 w 546"/>
              <a:gd name="T31" fmla="*/ 202 h 508"/>
              <a:gd name="T32" fmla="*/ 0 w 546"/>
              <a:gd name="T33" fmla="*/ 254 h 508"/>
              <a:gd name="T34" fmla="*/ 5 w 546"/>
              <a:gd name="T35" fmla="*/ 304 h 508"/>
              <a:gd name="T36" fmla="*/ 21 w 546"/>
              <a:gd name="T37" fmla="*/ 352 h 508"/>
              <a:gd name="T38" fmla="*/ 46 w 546"/>
              <a:gd name="T39" fmla="*/ 395 h 508"/>
              <a:gd name="T40" fmla="*/ 79 w 546"/>
              <a:gd name="T41" fmla="*/ 433 h 508"/>
              <a:gd name="T42" fmla="*/ 120 w 546"/>
              <a:gd name="T43" fmla="*/ 464 h 508"/>
              <a:gd name="T44" fmla="*/ 166 w 546"/>
              <a:gd name="T45" fmla="*/ 487 h 508"/>
              <a:gd name="T46" fmla="*/ 217 w 546"/>
              <a:gd name="T47" fmla="*/ 502 h 508"/>
              <a:gd name="T48" fmla="*/ 273 w 546"/>
              <a:gd name="T49" fmla="*/ 507 h 508"/>
              <a:gd name="T50" fmla="*/ 327 w 546"/>
              <a:gd name="T51" fmla="*/ 502 h 508"/>
              <a:gd name="T52" fmla="*/ 378 w 546"/>
              <a:gd name="T53" fmla="*/ 487 h 508"/>
              <a:gd name="T54" fmla="*/ 425 w 546"/>
              <a:gd name="T55" fmla="*/ 464 h 508"/>
              <a:gd name="T56" fmla="*/ 465 w 546"/>
              <a:gd name="T57" fmla="*/ 433 h 508"/>
              <a:gd name="T58" fmla="*/ 498 w 546"/>
              <a:gd name="T59" fmla="*/ 395 h 508"/>
              <a:gd name="T60" fmla="*/ 523 w 546"/>
              <a:gd name="T61" fmla="*/ 352 h 508"/>
              <a:gd name="T62" fmla="*/ 539 w 546"/>
              <a:gd name="T63" fmla="*/ 304 h 508"/>
              <a:gd name="T64" fmla="*/ 545 w 546"/>
              <a:gd name="T65" fmla="*/ 254 h 508"/>
              <a:gd name="T66" fmla="*/ 545 w 546"/>
              <a:gd name="T67" fmla="*/ 254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8">
                <a:moveTo>
                  <a:pt x="545" y="254"/>
                </a:moveTo>
                <a:lnTo>
                  <a:pt x="539" y="202"/>
                </a:lnTo>
                <a:lnTo>
                  <a:pt x="523" y="155"/>
                </a:lnTo>
                <a:lnTo>
                  <a:pt x="498" y="112"/>
                </a:lnTo>
                <a:lnTo>
                  <a:pt x="465" y="74"/>
                </a:lnTo>
                <a:lnTo>
                  <a:pt x="425" y="43"/>
                </a:lnTo>
                <a:lnTo>
                  <a:pt x="378" y="19"/>
                </a:lnTo>
                <a:lnTo>
                  <a:pt x="327" y="5"/>
                </a:lnTo>
                <a:lnTo>
                  <a:pt x="273" y="0"/>
                </a:lnTo>
                <a:lnTo>
                  <a:pt x="217" y="5"/>
                </a:lnTo>
                <a:lnTo>
                  <a:pt x="166" y="19"/>
                </a:lnTo>
                <a:lnTo>
                  <a:pt x="120" y="43"/>
                </a:lnTo>
                <a:lnTo>
                  <a:pt x="79" y="74"/>
                </a:lnTo>
                <a:lnTo>
                  <a:pt x="46" y="112"/>
                </a:lnTo>
                <a:lnTo>
                  <a:pt x="21" y="155"/>
                </a:lnTo>
                <a:lnTo>
                  <a:pt x="5" y="202"/>
                </a:lnTo>
                <a:lnTo>
                  <a:pt x="0" y="254"/>
                </a:lnTo>
                <a:lnTo>
                  <a:pt x="5" y="304"/>
                </a:lnTo>
                <a:lnTo>
                  <a:pt x="21" y="352"/>
                </a:lnTo>
                <a:lnTo>
                  <a:pt x="46" y="395"/>
                </a:lnTo>
                <a:lnTo>
                  <a:pt x="79" y="433"/>
                </a:lnTo>
                <a:lnTo>
                  <a:pt x="120" y="464"/>
                </a:lnTo>
                <a:lnTo>
                  <a:pt x="166" y="487"/>
                </a:lnTo>
                <a:lnTo>
                  <a:pt x="217" y="502"/>
                </a:lnTo>
                <a:lnTo>
                  <a:pt x="273" y="507"/>
                </a:lnTo>
                <a:lnTo>
                  <a:pt x="327" y="502"/>
                </a:lnTo>
                <a:lnTo>
                  <a:pt x="378" y="487"/>
                </a:lnTo>
                <a:lnTo>
                  <a:pt x="425" y="464"/>
                </a:lnTo>
                <a:lnTo>
                  <a:pt x="465" y="433"/>
                </a:lnTo>
                <a:lnTo>
                  <a:pt x="498" y="395"/>
                </a:lnTo>
                <a:lnTo>
                  <a:pt x="523" y="352"/>
                </a:lnTo>
                <a:lnTo>
                  <a:pt x="539" y="304"/>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4" name="Rectangle 6"/>
          <p:cNvSpPr>
            <a:spLocks noChangeArrowheads="1"/>
          </p:cNvSpPr>
          <p:nvPr/>
        </p:nvSpPr>
        <p:spPr bwMode="auto">
          <a:xfrm>
            <a:off x="1844675" y="4654550"/>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3</a:t>
            </a:r>
          </a:p>
        </p:txBody>
      </p:sp>
      <p:sp>
        <p:nvSpPr>
          <p:cNvPr id="43015" name="Freeform 7"/>
          <p:cNvSpPr>
            <a:spLocks/>
          </p:cNvSpPr>
          <p:nvPr/>
        </p:nvSpPr>
        <p:spPr bwMode="auto">
          <a:xfrm>
            <a:off x="4027488" y="3144838"/>
            <a:ext cx="866775" cy="808037"/>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5 w 546"/>
              <a:gd name="T11" fmla="*/ 43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3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2 h 509"/>
              <a:gd name="T38" fmla="*/ 46 w 546"/>
              <a:gd name="T39" fmla="*/ 395 h 509"/>
              <a:gd name="T40" fmla="*/ 79 w 546"/>
              <a:gd name="T41" fmla="*/ 433 h 509"/>
              <a:gd name="T42" fmla="*/ 120 w 546"/>
              <a:gd name="T43" fmla="*/ 464 h 509"/>
              <a:gd name="T44" fmla="*/ 166 w 546"/>
              <a:gd name="T45" fmla="*/ 488 h 509"/>
              <a:gd name="T46" fmla="*/ 217 w 546"/>
              <a:gd name="T47" fmla="*/ 502 h 509"/>
              <a:gd name="T48" fmla="*/ 272 w 546"/>
              <a:gd name="T49" fmla="*/ 508 h 509"/>
              <a:gd name="T50" fmla="*/ 327 w 546"/>
              <a:gd name="T51" fmla="*/ 502 h 509"/>
              <a:gd name="T52" fmla="*/ 378 w 546"/>
              <a:gd name="T53" fmla="*/ 488 h 509"/>
              <a:gd name="T54" fmla="*/ 425 w 546"/>
              <a:gd name="T55" fmla="*/ 464 h 509"/>
              <a:gd name="T56" fmla="*/ 465 w 546"/>
              <a:gd name="T57" fmla="*/ 433 h 509"/>
              <a:gd name="T58" fmla="*/ 498 w 546"/>
              <a:gd name="T59" fmla="*/ 395 h 509"/>
              <a:gd name="T60" fmla="*/ 523 w 546"/>
              <a:gd name="T61" fmla="*/ 352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5" y="43"/>
                </a:lnTo>
                <a:lnTo>
                  <a:pt x="378" y="20"/>
                </a:lnTo>
                <a:lnTo>
                  <a:pt x="327" y="5"/>
                </a:lnTo>
                <a:lnTo>
                  <a:pt x="272" y="0"/>
                </a:lnTo>
                <a:lnTo>
                  <a:pt x="217" y="5"/>
                </a:lnTo>
                <a:lnTo>
                  <a:pt x="166" y="20"/>
                </a:lnTo>
                <a:lnTo>
                  <a:pt x="120" y="43"/>
                </a:lnTo>
                <a:lnTo>
                  <a:pt x="79" y="74"/>
                </a:lnTo>
                <a:lnTo>
                  <a:pt x="46" y="112"/>
                </a:lnTo>
                <a:lnTo>
                  <a:pt x="21" y="155"/>
                </a:lnTo>
                <a:lnTo>
                  <a:pt x="5" y="203"/>
                </a:lnTo>
                <a:lnTo>
                  <a:pt x="0" y="254"/>
                </a:lnTo>
                <a:lnTo>
                  <a:pt x="5" y="305"/>
                </a:lnTo>
                <a:lnTo>
                  <a:pt x="21" y="352"/>
                </a:lnTo>
                <a:lnTo>
                  <a:pt x="46" y="395"/>
                </a:lnTo>
                <a:lnTo>
                  <a:pt x="79" y="433"/>
                </a:lnTo>
                <a:lnTo>
                  <a:pt x="120" y="464"/>
                </a:lnTo>
                <a:lnTo>
                  <a:pt x="166" y="488"/>
                </a:lnTo>
                <a:lnTo>
                  <a:pt x="217" y="502"/>
                </a:lnTo>
                <a:lnTo>
                  <a:pt x="272" y="508"/>
                </a:lnTo>
                <a:lnTo>
                  <a:pt x="327" y="502"/>
                </a:lnTo>
                <a:lnTo>
                  <a:pt x="378" y="488"/>
                </a:lnTo>
                <a:lnTo>
                  <a:pt x="425" y="464"/>
                </a:lnTo>
                <a:lnTo>
                  <a:pt x="465" y="433"/>
                </a:lnTo>
                <a:lnTo>
                  <a:pt x="498" y="395"/>
                </a:lnTo>
                <a:lnTo>
                  <a:pt x="523" y="352"/>
                </a:lnTo>
                <a:lnTo>
                  <a:pt x="539" y="305"/>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6" name="Rectangle 8"/>
          <p:cNvSpPr>
            <a:spLocks noChangeArrowheads="1"/>
          </p:cNvSpPr>
          <p:nvPr/>
        </p:nvSpPr>
        <p:spPr bwMode="auto">
          <a:xfrm>
            <a:off x="4241800" y="3311525"/>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1</a:t>
            </a:r>
          </a:p>
        </p:txBody>
      </p:sp>
      <p:sp>
        <p:nvSpPr>
          <p:cNvPr id="43017" name="Freeform 9"/>
          <p:cNvSpPr>
            <a:spLocks/>
          </p:cNvSpPr>
          <p:nvPr/>
        </p:nvSpPr>
        <p:spPr bwMode="auto">
          <a:xfrm>
            <a:off x="6272213" y="1287463"/>
            <a:ext cx="866775" cy="808037"/>
          </a:xfrm>
          <a:custGeom>
            <a:avLst/>
            <a:gdLst>
              <a:gd name="T0" fmla="*/ 545 w 546"/>
              <a:gd name="T1" fmla="*/ 254 h 509"/>
              <a:gd name="T2" fmla="*/ 540 w 546"/>
              <a:gd name="T3" fmla="*/ 203 h 509"/>
              <a:gd name="T4" fmla="*/ 524 w 546"/>
              <a:gd name="T5" fmla="*/ 155 h 509"/>
              <a:gd name="T6" fmla="*/ 498 w 546"/>
              <a:gd name="T7" fmla="*/ 112 h 509"/>
              <a:gd name="T8" fmla="*/ 465 w 546"/>
              <a:gd name="T9" fmla="*/ 74 h 509"/>
              <a:gd name="T10" fmla="*/ 425 w 546"/>
              <a:gd name="T11" fmla="*/ 44 h 509"/>
              <a:gd name="T12" fmla="*/ 379 w 546"/>
              <a:gd name="T13" fmla="*/ 20 h 509"/>
              <a:gd name="T14" fmla="*/ 327 w 546"/>
              <a:gd name="T15" fmla="*/ 5 h 509"/>
              <a:gd name="T16" fmla="*/ 273 w 546"/>
              <a:gd name="T17" fmla="*/ 0 h 509"/>
              <a:gd name="T18" fmla="*/ 218 w 546"/>
              <a:gd name="T19" fmla="*/ 5 h 509"/>
              <a:gd name="T20" fmla="*/ 167 w 546"/>
              <a:gd name="T21" fmla="*/ 20 h 509"/>
              <a:gd name="T22" fmla="*/ 120 w 546"/>
              <a:gd name="T23" fmla="*/ 44 h 509"/>
              <a:gd name="T24" fmla="*/ 80 w 546"/>
              <a:gd name="T25" fmla="*/ 74 h 509"/>
              <a:gd name="T26" fmla="*/ 47 w 546"/>
              <a:gd name="T27" fmla="*/ 112 h 509"/>
              <a:gd name="T28" fmla="*/ 22 w 546"/>
              <a:gd name="T29" fmla="*/ 155 h 509"/>
              <a:gd name="T30" fmla="*/ 6 w 546"/>
              <a:gd name="T31" fmla="*/ 203 h 509"/>
              <a:gd name="T32" fmla="*/ 0 w 546"/>
              <a:gd name="T33" fmla="*/ 254 h 509"/>
              <a:gd name="T34" fmla="*/ 6 w 546"/>
              <a:gd name="T35" fmla="*/ 305 h 509"/>
              <a:gd name="T36" fmla="*/ 22 w 546"/>
              <a:gd name="T37" fmla="*/ 353 h 509"/>
              <a:gd name="T38" fmla="*/ 47 w 546"/>
              <a:gd name="T39" fmla="*/ 396 h 509"/>
              <a:gd name="T40" fmla="*/ 80 w 546"/>
              <a:gd name="T41" fmla="*/ 433 h 509"/>
              <a:gd name="T42" fmla="*/ 120 w 546"/>
              <a:gd name="T43" fmla="*/ 464 h 509"/>
              <a:gd name="T44" fmla="*/ 167 w 546"/>
              <a:gd name="T45" fmla="*/ 488 h 509"/>
              <a:gd name="T46" fmla="*/ 218 w 546"/>
              <a:gd name="T47" fmla="*/ 503 h 509"/>
              <a:gd name="T48" fmla="*/ 273 w 546"/>
              <a:gd name="T49" fmla="*/ 508 h 509"/>
              <a:gd name="T50" fmla="*/ 327 w 546"/>
              <a:gd name="T51" fmla="*/ 503 h 509"/>
              <a:gd name="T52" fmla="*/ 379 w 546"/>
              <a:gd name="T53" fmla="*/ 488 h 509"/>
              <a:gd name="T54" fmla="*/ 425 w 546"/>
              <a:gd name="T55" fmla="*/ 464 h 509"/>
              <a:gd name="T56" fmla="*/ 465 w 546"/>
              <a:gd name="T57" fmla="*/ 433 h 509"/>
              <a:gd name="T58" fmla="*/ 498 w 546"/>
              <a:gd name="T59" fmla="*/ 396 h 509"/>
              <a:gd name="T60" fmla="*/ 524 w 546"/>
              <a:gd name="T61" fmla="*/ 353 h 509"/>
              <a:gd name="T62" fmla="*/ 540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40" y="203"/>
                </a:lnTo>
                <a:lnTo>
                  <a:pt x="524" y="155"/>
                </a:lnTo>
                <a:lnTo>
                  <a:pt x="498" y="112"/>
                </a:lnTo>
                <a:lnTo>
                  <a:pt x="465" y="74"/>
                </a:lnTo>
                <a:lnTo>
                  <a:pt x="425" y="44"/>
                </a:lnTo>
                <a:lnTo>
                  <a:pt x="379" y="20"/>
                </a:lnTo>
                <a:lnTo>
                  <a:pt x="327" y="5"/>
                </a:lnTo>
                <a:lnTo>
                  <a:pt x="273" y="0"/>
                </a:lnTo>
                <a:lnTo>
                  <a:pt x="218" y="5"/>
                </a:lnTo>
                <a:lnTo>
                  <a:pt x="167" y="20"/>
                </a:lnTo>
                <a:lnTo>
                  <a:pt x="120" y="44"/>
                </a:lnTo>
                <a:lnTo>
                  <a:pt x="80" y="74"/>
                </a:lnTo>
                <a:lnTo>
                  <a:pt x="47" y="112"/>
                </a:lnTo>
                <a:lnTo>
                  <a:pt x="22" y="155"/>
                </a:lnTo>
                <a:lnTo>
                  <a:pt x="6" y="203"/>
                </a:lnTo>
                <a:lnTo>
                  <a:pt x="0" y="254"/>
                </a:lnTo>
                <a:lnTo>
                  <a:pt x="6" y="305"/>
                </a:lnTo>
                <a:lnTo>
                  <a:pt x="22" y="353"/>
                </a:lnTo>
                <a:lnTo>
                  <a:pt x="47" y="396"/>
                </a:lnTo>
                <a:lnTo>
                  <a:pt x="80" y="433"/>
                </a:lnTo>
                <a:lnTo>
                  <a:pt x="120" y="464"/>
                </a:lnTo>
                <a:lnTo>
                  <a:pt x="167" y="488"/>
                </a:lnTo>
                <a:lnTo>
                  <a:pt x="218" y="503"/>
                </a:lnTo>
                <a:lnTo>
                  <a:pt x="273" y="508"/>
                </a:lnTo>
                <a:lnTo>
                  <a:pt x="327" y="503"/>
                </a:lnTo>
                <a:lnTo>
                  <a:pt x="379" y="488"/>
                </a:lnTo>
                <a:lnTo>
                  <a:pt x="425" y="464"/>
                </a:lnTo>
                <a:lnTo>
                  <a:pt x="465" y="433"/>
                </a:lnTo>
                <a:lnTo>
                  <a:pt x="498" y="396"/>
                </a:lnTo>
                <a:lnTo>
                  <a:pt x="524" y="353"/>
                </a:lnTo>
                <a:lnTo>
                  <a:pt x="540" y="305"/>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8" name="Rectangle 10"/>
          <p:cNvSpPr>
            <a:spLocks noChangeArrowheads="1"/>
          </p:cNvSpPr>
          <p:nvPr/>
        </p:nvSpPr>
        <p:spPr bwMode="auto">
          <a:xfrm>
            <a:off x="6488113" y="1454150"/>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4</a:t>
            </a:r>
          </a:p>
        </p:txBody>
      </p:sp>
      <p:sp>
        <p:nvSpPr>
          <p:cNvPr id="43019" name="Freeform 11"/>
          <p:cNvSpPr>
            <a:spLocks/>
          </p:cNvSpPr>
          <p:nvPr/>
        </p:nvSpPr>
        <p:spPr bwMode="auto">
          <a:xfrm>
            <a:off x="6670675" y="3343275"/>
            <a:ext cx="866775" cy="808038"/>
          </a:xfrm>
          <a:custGeom>
            <a:avLst/>
            <a:gdLst>
              <a:gd name="T0" fmla="*/ 545 w 546"/>
              <a:gd name="T1" fmla="*/ 254 h 509"/>
              <a:gd name="T2" fmla="*/ 540 w 546"/>
              <a:gd name="T3" fmla="*/ 203 h 509"/>
              <a:gd name="T4" fmla="*/ 524 w 546"/>
              <a:gd name="T5" fmla="*/ 155 h 509"/>
              <a:gd name="T6" fmla="*/ 498 w 546"/>
              <a:gd name="T7" fmla="*/ 112 h 509"/>
              <a:gd name="T8" fmla="*/ 465 w 546"/>
              <a:gd name="T9" fmla="*/ 74 h 509"/>
              <a:gd name="T10" fmla="*/ 425 w 546"/>
              <a:gd name="T11" fmla="*/ 43 h 509"/>
              <a:gd name="T12" fmla="*/ 379 w 546"/>
              <a:gd name="T13" fmla="*/ 20 h 509"/>
              <a:gd name="T14" fmla="*/ 327 w 546"/>
              <a:gd name="T15" fmla="*/ 5 h 509"/>
              <a:gd name="T16" fmla="*/ 273 w 546"/>
              <a:gd name="T17" fmla="*/ 0 h 509"/>
              <a:gd name="T18" fmla="*/ 218 w 546"/>
              <a:gd name="T19" fmla="*/ 5 h 509"/>
              <a:gd name="T20" fmla="*/ 166 w 546"/>
              <a:gd name="T21" fmla="*/ 20 h 509"/>
              <a:gd name="T22" fmla="*/ 120 w 546"/>
              <a:gd name="T23" fmla="*/ 43 h 509"/>
              <a:gd name="T24" fmla="*/ 80 w 546"/>
              <a:gd name="T25" fmla="*/ 74 h 509"/>
              <a:gd name="T26" fmla="*/ 47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2 h 509"/>
              <a:gd name="T38" fmla="*/ 47 w 546"/>
              <a:gd name="T39" fmla="*/ 396 h 509"/>
              <a:gd name="T40" fmla="*/ 80 w 546"/>
              <a:gd name="T41" fmla="*/ 433 h 509"/>
              <a:gd name="T42" fmla="*/ 120 w 546"/>
              <a:gd name="T43" fmla="*/ 464 h 509"/>
              <a:gd name="T44" fmla="*/ 166 w 546"/>
              <a:gd name="T45" fmla="*/ 488 h 509"/>
              <a:gd name="T46" fmla="*/ 218 w 546"/>
              <a:gd name="T47" fmla="*/ 502 h 509"/>
              <a:gd name="T48" fmla="*/ 273 w 546"/>
              <a:gd name="T49" fmla="*/ 508 h 509"/>
              <a:gd name="T50" fmla="*/ 327 w 546"/>
              <a:gd name="T51" fmla="*/ 502 h 509"/>
              <a:gd name="T52" fmla="*/ 379 w 546"/>
              <a:gd name="T53" fmla="*/ 488 h 509"/>
              <a:gd name="T54" fmla="*/ 425 w 546"/>
              <a:gd name="T55" fmla="*/ 464 h 509"/>
              <a:gd name="T56" fmla="*/ 465 w 546"/>
              <a:gd name="T57" fmla="*/ 433 h 509"/>
              <a:gd name="T58" fmla="*/ 498 w 546"/>
              <a:gd name="T59" fmla="*/ 396 h 509"/>
              <a:gd name="T60" fmla="*/ 524 w 546"/>
              <a:gd name="T61" fmla="*/ 352 h 509"/>
              <a:gd name="T62" fmla="*/ 540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40" y="203"/>
                </a:lnTo>
                <a:lnTo>
                  <a:pt x="524" y="155"/>
                </a:lnTo>
                <a:lnTo>
                  <a:pt x="498" y="112"/>
                </a:lnTo>
                <a:lnTo>
                  <a:pt x="465" y="74"/>
                </a:lnTo>
                <a:lnTo>
                  <a:pt x="425" y="43"/>
                </a:lnTo>
                <a:lnTo>
                  <a:pt x="379" y="20"/>
                </a:lnTo>
                <a:lnTo>
                  <a:pt x="327" y="5"/>
                </a:lnTo>
                <a:lnTo>
                  <a:pt x="273" y="0"/>
                </a:lnTo>
                <a:lnTo>
                  <a:pt x="218" y="5"/>
                </a:lnTo>
                <a:lnTo>
                  <a:pt x="166" y="20"/>
                </a:lnTo>
                <a:lnTo>
                  <a:pt x="120" y="43"/>
                </a:lnTo>
                <a:lnTo>
                  <a:pt x="80" y="74"/>
                </a:lnTo>
                <a:lnTo>
                  <a:pt x="47" y="112"/>
                </a:lnTo>
                <a:lnTo>
                  <a:pt x="21" y="155"/>
                </a:lnTo>
                <a:lnTo>
                  <a:pt x="5" y="203"/>
                </a:lnTo>
                <a:lnTo>
                  <a:pt x="0" y="254"/>
                </a:lnTo>
                <a:lnTo>
                  <a:pt x="5" y="305"/>
                </a:lnTo>
                <a:lnTo>
                  <a:pt x="21" y="352"/>
                </a:lnTo>
                <a:lnTo>
                  <a:pt x="47" y="396"/>
                </a:lnTo>
                <a:lnTo>
                  <a:pt x="80" y="433"/>
                </a:lnTo>
                <a:lnTo>
                  <a:pt x="120" y="464"/>
                </a:lnTo>
                <a:lnTo>
                  <a:pt x="166" y="488"/>
                </a:lnTo>
                <a:lnTo>
                  <a:pt x="218" y="502"/>
                </a:lnTo>
                <a:lnTo>
                  <a:pt x="273" y="508"/>
                </a:lnTo>
                <a:lnTo>
                  <a:pt x="327" y="502"/>
                </a:lnTo>
                <a:lnTo>
                  <a:pt x="379" y="488"/>
                </a:lnTo>
                <a:lnTo>
                  <a:pt x="425" y="464"/>
                </a:lnTo>
                <a:lnTo>
                  <a:pt x="465" y="433"/>
                </a:lnTo>
                <a:lnTo>
                  <a:pt x="498" y="396"/>
                </a:lnTo>
                <a:lnTo>
                  <a:pt x="524" y="352"/>
                </a:lnTo>
                <a:lnTo>
                  <a:pt x="540" y="305"/>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0" name="Rectangle 12"/>
          <p:cNvSpPr>
            <a:spLocks noChangeArrowheads="1"/>
          </p:cNvSpPr>
          <p:nvPr/>
        </p:nvSpPr>
        <p:spPr bwMode="auto">
          <a:xfrm>
            <a:off x="6884988" y="3509963"/>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5</a:t>
            </a:r>
          </a:p>
        </p:txBody>
      </p:sp>
      <p:sp>
        <p:nvSpPr>
          <p:cNvPr id="43021" name="Freeform 13"/>
          <p:cNvSpPr>
            <a:spLocks/>
          </p:cNvSpPr>
          <p:nvPr/>
        </p:nvSpPr>
        <p:spPr bwMode="auto">
          <a:xfrm>
            <a:off x="5314950" y="4908550"/>
            <a:ext cx="866775" cy="808038"/>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4 w 546"/>
              <a:gd name="T11" fmla="*/ 44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4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3 h 509"/>
              <a:gd name="T38" fmla="*/ 46 w 546"/>
              <a:gd name="T39" fmla="*/ 396 h 509"/>
              <a:gd name="T40" fmla="*/ 79 w 546"/>
              <a:gd name="T41" fmla="*/ 433 h 509"/>
              <a:gd name="T42" fmla="*/ 120 w 546"/>
              <a:gd name="T43" fmla="*/ 464 h 509"/>
              <a:gd name="T44" fmla="*/ 166 w 546"/>
              <a:gd name="T45" fmla="*/ 488 h 509"/>
              <a:gd name="T46" fmla="*/ 217 w 546"/>
              <a:gd name="T47" fmla="*/ 503 h 509"/>
              <a:gd name="T48" fmla="*/ 272 w 546"/>
              <a:gd name="T49" fmla="*/ 508 h 509"/>
              <a:gd name="T50" fmla="*/ 327 w 546"/>
              <a:gd name="T51" fmla="*/ 503 h 509"/>
              <a:gd name="T52" fmla="*/ 378 w 546"/>
              <a:gd name="T53" fmla="*/ 488 h 509"/>
              <a:gd name="T54" fmla="*/ 424 w 546"/>
              <a:gd name="T55" fmla="*/ 464 h 509"/>
              <a:gd name="T56" fmla="*/ 465 w 546"/>
              <a:gd name="T57" fmla="*/ 433 h 509"/>
              <a:gd name="T58" fmla="*/ 498 w 546"/>
              <a:gd name="T59" fmla="*/ 396 h 509"/>
              <a:gd name="T60" fmla="*/ 523 w 546"/>
              <a:gd name="T61" fmla="*/ 353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4" y="44"/>
                </a:lnTo>
                <a:lnTo>
                  <a:pt x="378" y="20"/>
                </a:lnTo>
                <a:lnTo>
                  <a:pt x="327" y="5"/>
                </a:lnTo>
                <a:lnTo>
                  <a:pt x="272" y="0"/>
                </a:lnTo>
                <a:lnTo>
                  <a:pt x="217" y="5"/>
                </a:lnTo>
                <a:lnTo>
                  <a:pt x="166" y="20"/>
                </a:lnTo>
                <a:lnTo>
                  <a:pt x="120" y="44"/>
                </a:lnTo>
                <a:lnTo>
                  <a:pt x="79" y="74"/>
                </a:lnTo>
                <a:lnTo>
                  <a:pt x="46" y="112"/>
                </a:lnTo>
                <a:lnTo>
                  <a:pt x="21" y="155"/>
                </a:lnTo>
                <a:lnTo>
                  <a:pt x="5" y="203"/>
                </a:lnTo>
                <a:lnTo>
                  <a:pt x="0" y="254"/>
                </a:lnTo>
                <a:lnTo>
                  <a:pt x="5" y="305"/>
                </a:lnTo>
                <a:lnTo>
                  <a:pt x="21" y="353"/>
                </a:lnTo>
                <a:lnTo>
                  <a:pt x="46" y="396"/>
                </a:lnTo>
                <a:lnTo>
                  <a:pt x="79" y="433"/>
                </a:lnTo>
                <a:lnTo>
                  <a:pt x="120" y="464"/>
                </a:lnTo>
                <a:lnTo>
                  <a:pt x="166" y="488"/>
                </a:lnTo>
                <a:lnTo>
                  <a:pt x="217" y="503"/>
                </a:lnTo>
                <a:lnTo>
                  <a:pt x="272" y="508"/>
                </a:lnTo>
                <a:lnTo>
                  <a:pt x="327" y="503"/>
                </a:lnTo>
                <a:lnTo>
                  <a:pt x="378" y="488"/>
                </a:lnTo>
                <a:lnTo>
                  <a:pt x="424" y="464"/>
                </a:lnTo>
                <a:lnTo>
                  <a:pt x="465" y="433"/>
                </a:lnTo>
                <a:lnTo>
                  <a:pt x="498" y="396"/>
                </a:lnTo>
                <a:lnTo>
                  <a:pt x="523" y="353"/>
                </a:lnTo>
                <a:lnTo>
                  <a:pt x="539" y="305"/>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2" name="Rectangle 14"/>
          <p:cNvSpPr>
            <a:spLocks noChangeArrowheads="1"/>
          </p:cNvSpPr>
          <p:nvPr/>
        </p:nvSpPr>
        <p:spPr bwMode="auto">
          <a:xfrm>
            <a:off x="5529263" y="5075238"/>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6</a:t>
            </a:r>
          </a:p>
        </p:txBody>
      </p:sp>
      <p:sp>
        <p:nvSpPr>
          <p:cNvPr id="43023" name="Rectangle 15"/>
          <p:cNvSpPr>
            <a:spLocks noChangeArrowheads="1"/>
          </p:cNvSpPr>
          <p:nvPr/>
        </p:nvSpPr>
        <p:spPr bwMode="auto">
          <a:xfrm>
            <a:off x="3656013" y="2363788"/>
            <a:ext cx="6365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$100</a:t>
            </a:r>
          </a:p>
        </p:txBody>
      </p:sp>
      <p:sp>
        <p:nvSpPr>
          <p:cNvPr id="43024" name="Rectangle 16"/>
          <p:cNvSpPr>
            <a:spLocks noChangeArrowheads="1"/>
          </p:cNvSpPr>
          <p:nvPr/>
        </p:nvSpPr>
        <p:spPr bwMode="auto">
          <a:xfrm>
            <a:off x="2665413" y="4068763"/>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$85</a:t>
            </a:r>
          </a:p>
        </p:txBody>
      </p:sp>
      <p:sp>
        <p:nvSpPr>
          <p:cNvPr id="43025" name="Rectangle 17"/>
          <p:cNvSpPr>
            <a:spLocks noChangeArrowheads="1"/>
          </p:cNvSpPr>
          <p:nvPr/>
        </p:nvSpPr>
        <p:spPr bwMode="auto">
          <a:xfrm>
            <a:off x="5114925" y="4197350"/>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$90</a:t>
            </a:r>
          </a:p>
        </p:txBody>
      </p:sp>
      <p:sp>
        <p:nvSpPr>
          <p:cNvPr id="43026" name="Rectangle 18"/>
          <p:cNvSpPr>
            <a:spLocks noChangeArrowheads="1"/>
          </p:cNvSpPr>
          <p:nvPr/>
        </p:nvSpPr>
        <p:spPr bwMode="auto">
          <a:xfrm>
            <a:off x="5456238" y="3322638"/>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$80</a:t>
            </a:r>
          </a:p>
        </p:txBody>
      </p:sp>
      <p:sp>
        <p:nvSpPr>
          <p:cNvPr id="43027" name="Rectangle 19"/>
          <p:cNvSpPr>
            <a:spLocks noChangeArrowheads="1"/>
          </p:cNvSpPr>
          <p:nvPr/>
        </p:nvSpPr>
        <p:spPr bwMode="auto">
          <a:xfrm>
            <a:off x="5099050" y="2387600"/>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$85</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685800" y="301625"/>
            <a:ext cx="7772400" cy="749300"/>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lIns="92075" tIns="46038" rIns="92075" bIns="46038"/>
          <a:lstStyle/>
          <a:p>
            <a:r>
              <a:rPr lang="en-US" sz="4000" i="1">
                <a:solidFill>
                  <a:schemeClr val="hlink"/>
                </a:solidFill>
              </a:rPr>
              <a:t>Solving the Example Problem - 2</a:t>
            </a:r>
          </a:p>
        </p:txBody>
      </p:sp>
      <p:sp>
        <p:nvSpPr>
          <p:cNvPr id="44035" name="Freeform 3"/>
          <p:cNvSpPr>
            <a:spLocks/>
          </p:cNvSpPr>
          <p:nvPr/>
        </p:nvSpPr>
        <p:spPr bwMode="auto">
          <a:xfrm>
            <a:off x="2460625" y="1333500"/>
            <a:ext cx="866775" cy="808038"/>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4 w 546"/>
              <a:gd name="T11" fmla="*/ 44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4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3 h 509"/>
              <a:gd name="T38" fmla="*/ 46 w 546"/>
              <a:gd name="T39" fmla="*/ 396 h 509"/>
              <a:gd name="T40" fmla="*/ 79 w 546"/>
              <a:gd name="T41" fmla="*/ 433 h 509"/>
              <a:gd name="T42" fmla="*/ 120 w 546"/>
              <a:gd name="T43" fmla="*/ 464 h 509"/>
              <a:gd name="T44" fmla="*/ 166 w 546"/>
              <a:gd name="T45" fmla="*/ 488 h 509"/>
              <a:gd name="T46" fmla="*/ 217 w 546"/>
              <a:gd name="T47" fmla="*/ 503 h 509"/>
              <a:gd name="T48" fmla="*/ 272 w 546"/>
              <a:gd name="T49" fmla="*/ 508 h 509"/>
              <a:gd name="T50" fmla="*/ 327 w 546"/>
              <a:gd name="T51" fmla="*/ 503 h 509"/>
              <a:gd name="T52" fmla="*/ 378 w 546"/>
              <a:gd name="T53" fmla="*/ 488 h 509"/>
              <a:gd name="T54" fmla="*/ 424 w 546"/>
              <a:gd name="T55" fmla="*/ 464 h 509"/>
              <a:gd name="T56" fmla="*/ 465 w 546"/>
              <a:gd name="T57" fmla="*/ 433 h 509"/>
              <a:gd name="T58" fmla="*/ 498 w 546"/>
              <a:gd name="T59" fmla="*/ 396 h 509"/>
              <a:gd name="T60" fmla="*/ 523 w 546"/>
              <a:gd name="T61" fmla="*/ 353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4" y="44"/>
                </a:lnTo>
                <a:lnTo>
                  <a:pt x="378" y="20"/>
                </a:lnTo>
                <a:lnTo>
                  <a:pt x="327" y="5"/>
                </a:lnTo>
                <a:lnTo>
                  <a:pt x="272" y="0"/>
                </a:lnTo>
                <a:lnTo>
                  <a:pt x="217" y="5"/>
                </a:lnTo>
                <a:lnTo>
                  <a:pt x="166" y="20"/>
                </a:lnTo>
                <a:lnTo>
                  <a:pt x="120" y="44"/>
                </a:lnTo>
                <a:lnTo>
                  <a:pt x="79" y="74"/>
                </a:lnTo>
                <a:lnTo>
                  <a:pt x="46" y="112"/>
                </a:lnTo>
                <a:lnTo>
                  <a:pt x="21" y="155"/>
                </a:lnTo>
                <a:lnTo>
                  <a:pt x="5" y="203"/>
                </a:lnTo>
                <a:lnTo>
                  <a:pt x="0" y="254"/>
                </a:lnTo>
                <a:lnTo>
                  <a:pt x="5" y="305"/>
                </a:lnTo>
                <a:lnTo>
                  <a:pt x="21" y="353"/>
                </a:lnTo>
                <a:lnTo>
                  <a:pt x="46" y="396"/>
                </a:lnTo>
                <a:lnTo>
                  <a:pt x="79" y="433"/>
                </a:lnTo>
                <a:lnTo>
                  <a:pt x="120" y="464"/>
                </a:lnTo>
                <a:lnTo>
                  <a:pt x="166" y="488"/>
                </a:lnTo>
                <a:lnTo>
                  <a:pt x="217" y="503"/>
                </a:lnTo>
                <a:lnTo>
                  <a:pt x="272" y="508"/>
                </a:lnTo>
                <a:lnTo>
                  <a:pt x="327" y="503"/>
                </a:lnTo>
                <a:lnTo>
                  <a:pt x="378" y="488"/>
                </a:lnTo>
                <a:lnTo>
                  <a:pt x="424" y="464"/>
                </a:lnTo>
                <a:lnTo>
                  <a:pt x="465" y="433"/>
                </a:lnTo>
                <a:lnTo>
                  <a:pt x="498" y="396"/>
                </a:lnTo>
                <a:lnTo>
                  <a:pt x="523" y="353"/>
                </a:lnTo>
                <a:lnTo>
                  <a:pt x="539" y="305"/>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36" name="Rectangle 4"/>
          <p:cNvSpPr>
            <a:spLocks noChangeArrowheads="1"/>
          </p:cNvSpPr>
          <p:nvPr/>
        </p:nvSpPr>
        <p:spPr bwMode="auto">
          <a:xfrm>
            <a:off x="2673350" y="1500188"/>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2</a:t>
            </a:r>
          </a:p>
        </p:txBody>
      </p:sp>
      <p:sp>
        <p:nvSpPr>
          <p:cNvPr id="44037" name="Freeform 5"/>
          <p:cNvSpPr>
            <a:spLocks/>
          </p:cNvSpPr>
          <p:nvPr/>
        </p:nvSpPr>
        <p:spPr bwMode="auto">
          <a:xfrm>
            <a:off x="1630363" y="4487863"/>
            <a:ext cx="866775" cy="806450"/>
          </a:xfrm>
          <a:custGeom>
            <a:avLst/>
            <a:gdLst>
              <a:gd name="T0" fmla="*/ 545 w 546"/>
              <a:gd name="T1" fmla="*/ 254 h 508"/>
              <a:gd name="T2" fmla="*/ 539 w 546"/>
              <a:gd name="T3" fmla="*/ 202 h 508"/>
              <a:gd name="T4" fmla="*/ 523 w 546"/>
              <a:gd name="T5" fmla="*/ 155 h 508"/>
              <a:gd name="T6" fmla="*/ 498 w 546"/>
              <a:gd name="T7" fmla="*/ 112 h 508"/>
              <a:gd name="T8" fmla="*/ 465 w 546"/>
              <a:gd name="T9" fmla="*/ 74 h 508"/>
              <a:gd name="T10" fmla="*/ 425 w 546"/>
              <a:gd name="T11" fmla="*/ 43 h 508"/>
              <a:gd name="T12" fmla="*/ 378 w 546"/>
              <a:gd name="T13" fmla="*/ 19 h 508"/>
              <a:gd name="T14" fmla="*/ 327 w 546"/>
              <a:gd name="T15" fmla="*/ 5 h 508"/>
              <a:gd name="T16" fmla="*/ 273 w 546"/>
              <a:gd name="T17" fmla="*/ 0 h 508"/>
              <a:gd name="T18" fmla="*/ 217 w 546"/>
              <a:gd name="T19" fmla="*/ 5 h 508"/>
              <a:gd name="T20" fmla="*/ 166 w 546"/>
              <a:gd name="T21" fmla="*/ 19 h 508"/>
              <a:gd name="T22" fmla="*/ 120 w 546"/>
              <a:gd name="T23" fmla="*/ 43 h 508"/>
              <a:gd name="T24" fmla="*/ 79 w 546"/>
              <a:gd name="T25" fmla="*/ 74 h 508"/>
              <a:gd name="T26" fmla="*/ 46 w 546"/>
              <a:gd name="T27" fmla="*/ 112 h 508"/>
              <a:gd name="T28" fmla="*/ 21 w 546"/>
              <a:gd name="T29" fmla="*/ 155 h 508"/>
              <a:gd name="T30" fmla="*/ 5 w 546"/>
              <a:gd name="T31" fmla="*/ 202 h 508"/>
              <a:gd name="T32" fmla="*/ 0 w 546"/>
              <a:gd name="T33" fmla="*/ 254 h 508"/>
              <a:gd name="T34" fmla="*/ 5 w 546"/>
              <a:gd name="T35" fmla="*/ 304 h 508"/>
              <a:gd name="T36" fmla="*/ 21 w 546"/>
              <a:gd name="T37" fmla="*/ 352 h 508"/>
              <a:gd name="T38" fmla="*/ 46 w 546"/>
              <a:gd name="T39" fmla="*/ 395 h 508"/>
              <a:gd name="T40" fmla="*/ 79 w 546"/>
              <a:gd name="T41" fmla="*/ 433 h 508"/>
              <a:gd name="T42" fmla="*/ 120 w 546"/>
              <a:gd name="T43" fmla="*/ 464 h 508"/>
              <a:gd name="T44" fmla="*/ 166 w 546"/>
              <a:gd name="T45" fmla="*/ 487 h 508"/>
              <a:gd name="T46" fmla="*/ 217 w 546"/>
              <a:gd name="T47" fmla="*/ 502 h 508"/>
              <a:gd name="T48" fmla="*/ 273 w 546"/>
              <a:gd name="T49" fmla="*/ 507 h 508"/>
              <a:gd name="T50" fmla="*/ 327 w 546"/>
              <a:gd name="T51" fmla="*/ 502 h 508"/>
              <a:gd name="T52" fmla="*/ 378 w 546"/>
              <a:gd name="T53" fmla="*/ 487 h 508"/>
              <a:gd name="T54" fmla="*/ 425 w 546"/>
              <a:gd name="T55" fmla="*/ 464 h 508"/>
              <a:gd name="T56" fmla="*/ 465 w 546"/>
              <a:gd name="T57" fmla="*/ 433 h 508"/>
              <a:gd name="T58" fmla="*/ 498 w 546"/>
              <a:gd name="T59" fmla="*/ 395 h 508"/>
              <a:gd name="T60" fmla="*/ 523 w 546"/>
              <a:gd name="T61" fmla="*/ 352 h 508"/>
              <a:gd name="T62" fmla="*/ 539 w 546"/>
              <a:gd name="T63" fmla="*/ 304 h 508"/>
              <a:gd name="T64" fmla="*/ 545 w 546"/>
              <a:gd name="T65" fmla="*/ 254 h 508"/>
              <a:gd name="T66" fmla="*/ 545 w 546"/>
              <a:gd name="T67" fmla="*/ 254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8">
                <a:moveTo>
                  <a:pt x="545" y="254"/>
                </a:moveTo>
                <a:lnTo>
                  <a:pt x="539" y="202"/>
                </a:lnTo>
                <a:lnTo>
                  <a:pt x="523" y="155"/>
                </a:lnTo>
                <a:lnTo>
                  <a:pt x="498" y="112"/>
                </a:lnTo>
                <a:lnTo>
                  <a:pt x="465" y="74"/>
                </a:lnTo>
                <a:lnTo>
                  <a:pt x="425" y="43"/>
                </a:lnTo>
                <a:lnTo>
                  <a:pt x="378" y="19"/>
                </a:lnTo>
                <a:lnTo>
                  <a:pt x="327" y="5"/>
                </a:lnTo>
                <a:lnTo>
                  <a:pt x="273" y="0"/>
                </a:lnTo>
                <a:lnTo>
                  <a:pt x="217" y="5"/>
                </a:lnTo>
                <a:lnTo>
                  <a:pt x="166" y="19"/>
                </a:lnTo>
                <a:lnTo>
                  <a:pt x="120" y="43"/>
                </a:lnTo>
                <a:lnTo>
                  <a:pt x="79" y="74"/>
                </a:lnTo>
                <a:lnTo>
                  <a:pt x="46" y="112"/>
                </a:lnTo>
                <a:lnTo>
                  <a:pt x="21" y="155"/>
                </a:lnTo>
                <a:lnTo>
                  <a:pt x="5" y="202"/>
                </a:lnTo>
                <a:lnTo>
                  <a:pt x="0" y="254"/>
                </a:lnTo>
                <a:lnTo>
                  <a:pt x="5" y="304"/>
                </a:lnTo>
                <a:lnTo>
                  <a:pt x="21" y="352"/>
                </a:lnTo>
                <a:lnTo>
                  <a:pt x="46" y="395"/>
                </a:lnTo>
                <a:lnTo>
                  <a:pt x="79" y="433"/>
                </a:lnTo>
                <a:lnTo>
                  <a:pt x="120" y="464"/>
                </a:lnTo>
                <a:lnTo>
                  <a:pt x="166" y="487"/>
                </a:lnTo>
                <a:lnTo>
                  <a:pt x="217" y="502"/>
                </a:lnTo>
                <a:lnTo>
                  <a:pt x="273" y="507"/>
                </a:lnTo>
                <a:lnTo>
                  <a:pt x="327" y="502"/>
                </a:lnTo>
                <a:lnTo>
                  <a:pt x="378" y="487"/>
                </a:lnTo>
                <a:lnTo>
                  <a:pt x="425" y="464"/>
                </a:lnTo>
                <a:lnTo>
                  <a:pt x="465" y="433"/>
                </a:lnTo>
                <a:lnTo>
                  <a:pt x="498" y="395"/>
                </a:lnTo>
                <a:lnTo>
                  <a:pt x="523" y="352"/>
                </a:lnTo>
                <a:lnTo>
                  <a:pt x="539" y="304"/>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38" name="Rectangle 6"/>
          <p:cNvSpPr>
            <a:spLocks noChangeArrowheads="1"/>
          </p:cNvSpPr>
          <p:nvPr/>
        </p:nvSpPr>
        <p:spPr bwMode="auto">
          <a:xfrm>
            <a:off x="1844675" y="4654550"/>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3</a:t>
            </a:r>
          </a:p>
        </p:txBody>
      </p:sp>
      <p:sp>
        <p:nvSpPr>
          <p:cNvPr id="44039" name="Freeform 7"/>
          <p:cNvSpPr>
            <a:spLocks/>
          </p:cNvSpPr>
          <p:nvPr/>
        </p:nvSpPr>
        <p:spPr bwMode="auto">
          <a:xfrm>
            <a:off x="4027488" y="3144838"/>
            <a:ext cx="866775" cy="808037"/>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5 w 546"/>
              <a:gd name="T11" fmla="*/ 43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3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2 h 509"/>
              <a:gd name="T38" fmla="*/ 46 w 546"/>
              <a:gd name="T39" fmla="*/ 395 h 509"/>
              <a:gd name="T40" fmla="*/ 79 w 546"/>
              <a:gd name="T41" fmla="*/ 433 h 509"/>
              <a:gd name="T42" fmla="*/ 120 w 546"/>
              <a:gd name="T43" fmla="*/ 464 h 509"/>
              <a:gd name="T44" fmla="*/ 166 w 546"/>
              <a:gd name="T45" fmla="*/ 488 h 509"/>
              <a:gd name="T46" fmla="*/ 217 w 546"/>
              <a:gd name="T47" fmla="*/ 502 h 509"/>
              <a:gd name="T48" fmla="*/ 272 w 546"/>
              <a:gd name="T49" fmla="*/ 508 h 509"/>
              <a:gd name="T50" fmla="*/ 327 w 546"/>
              <a:gd name="T51" fmla="*/ 502 h 509"/>
              <a:gd name="T52" fmla="*/ 378 w 546"/>
              <a:gd name="T53" fmla="*/ 488 h 509"/>
              <a:gd name="T54" fmla="*/ 425 w 546"/>
              <a:gd name="T55" fmla="*/ 464 h 509"/>
              <a:gd name="T56" fmla="*/ 465 w 546"/>
              <a:gd name="T57" fmla="*/ 433 h 509"/>
              <a:gd name="T58" fmla="*/ 498 w 546"/>
              <a:gd name="T59" fmla="*/ 395 h 509"/>
              <a:gd name="T60" fmla="*/ 523 w 546"/>
              <a:gd name="T61" fmla="*/ 352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5" y="43"/>
                </a:lnTo>
                <a:lnTo>
                  <a:pt x="378" y="20"/>
                </a:lnTo>
                <a:lnTo>
                  <a:pt x="327" y="5"/>
                </a:lnTo>
                <a:lnTo>
                  <a:pt x="272" y="0"/>
                </a:lnTo>
                <a:lnTo>
                  <a:pt x="217" y="5"/>
                </a:lnTo>
                <a:lnTo>
                  <a:pt x="166" y="20"/>
                </a:lnTo>
                <a:lnTo>
                  <a:pt x="120" y="43"/>
                </a:lnTo>
                <a:lnTo>
                  <a:pt x="79" y="74"/>
                </a:lnTo>
                <a:lnTo>
                  <a:pt x="46" y="112"/>
                </a:lnTo>
                <a:lnTo>
                  <a:pt x="21" y="155"/>
                </a:lnTo>
                <a:lnTo>
                  <a:pt x="5" y="203"/>
                </a:lnTo>
                <a:lnTo>
                  <a:pt x="0" y="254"/>
                </a:lnTo>
                <a:lnTo>
                  <a:pt x="5" y="305"/>
                </a:lnTo>
                <a:lnTo>
                  <a:pt x="21" y="352"/>
                </a:lnTo>
                <a:lnTo>
                  <a:pt x="46" y="395"/>
                </a:lnTo>
                <a:lnTo>
                  <a:pt x="79" y="433"/>
                </a:lnTo>
                <a:lnTo>
                  <a:pt x="120" y="464"/>
                </a:lnTo>
                <a:lnTo>
                  <a:pt x="166" y="488"/>
                </a:lnTo>
                <a:lnTo>
                  <a:pt x="217" y="502"/>
                </a:lnTo>
                <a:lnTo>
                  <a:pt x="272" y="508"/>
                </a:lnTo>
                <a:lnTo>
                  <a:pt x="327" y="502"/>
                </a:lnTo>
                <a:lnTo>
                  <a:pt x="378" y="488"/>
                </a:lnTo>
                <a:lnTo>
                  <a:pt x="425" y="464"/>
                </a:lnTo>
                <a:lnTo>
                  <a:pt x="465" y="433"/>
                </a:lnTo>
                <a:lnTo>
                  <a:pt x="498" y="395"/>
                </a:lnTo>
                <a:lnTo>
                  <a:pt x="523" y="352"/>
                </a:lnTo>
                <a:lnTo>
                  <a:pt x="539" y="305"/>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0" name="Rectangle 8"/>
          <p:cNvSpPr>
            <a:spLocks noChangeArrowheads="1"/>
          </p:cNvSpPr>
          <p:nvPr/>
        </p:nvSpPr>
        <p:spPr bwMode="auto">
          <a:xfrm>
            <a:off x="4241800" y="3311525"/>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1</a:t>
            </a:r>
          </a:p>
        </p:txBody>
      </p:sp>
      <p:sp>
        <p:nvSpPr>
          <p:cNvPr id="44041" name="Freeform 9"/>
          <p:cNvSpPr>
            <a:spLocks/>
          </p:cNvSpPr>
          <p:nvPr/>
        </p:nvSpPr>
        <p:spPr bwMode="auto">
          <a:xfrm>
            <a:off x="6272213" y="1287463"/>
            <a:ext cx="866775" cy="808037"/>
          </a:xfrm>
          <a:custGeom>
            <a:avLst/>
            <a:gdLst>
              <a:gd name="T0" fmla="*/ 545 w 546"/>
              <a:gd name="T1" fmla="*/ 254 h 509"/>
              <a:gd name="T2" fmla="*/ 540 w 546"/>
              <a:gd name="T3" fmla="*/ 203 h 509"/>
              <a:gd name="T4" fmla="*/ 524 w 546"/>
              <a:gd name="T5" fmla="*/ 155 h 509"/>
              <a:gd name="T6" fmla="*/ 498 w 546"/>
              <a:gd name="T7" fmla="*/ 112 h 509"/>
              <a:gd name="T8" fmla="*/ 465 w 546"/>
              <a:gd name="T9" fmla="*/ 74 h 509"/>
              <a:gd name="T10" fmla="*/ 425 w 546"/>
              <a:gd name="T11" fmla="*/ 44 h 509"/>
              <a:gd name="T12" fmla="*/ 379 w 546"/>
              <a:gd name="T13" fmla="*/ 20 h 509"/>
              <a:gd name="T14" fmla="*/ 327 w 546"/>
              <a:gd name="T15" fmla="*/ 5 h 509"/>
              <a:gd name="T16" fmla="*/ 273 w 546"/>
              <a:gd name="T17" fmla="*/ 0 h 509"/>
              <a:gd name="T18" fmla="*/ 218 w 546"/>
              <a:gd name="T19" fmla="*/ 5 h 509"/>
              <a:gd name="T20" fmla="*/ 167 w 546"/>
              <a:gd name="T21" fmla="*/ 20 h 509"/>
              <a:gd name="T22" fmla="*/ 120 w 546"/>
              <a:gd name="T23" fmla="*/ 44 h 509"/>
              <a:gd name="T24" fmla="*/ 80 w 546"/>
              <a:gd name="T25" fmla="*/ 74 h 509"/>
              <a:gd name="T26" fmla="*/ 47 w 546"/>
              <a:gd name="T27" fmla="*/ 112 h 509"/>
              <a:gd name="T28" fmla="*/ 22 w 546"/>
              <a:gd name="T29" fmla="*/ 155 h 509"/>
              <a:gd name="T30" fmla="*/ 6 w 546"/>
              <a:gd name="T31" fmla="*/ 203 h 509"/>
              <a:gd name="T32" fmla="*/ 0 w 546"/>
              <a:gd name="T33" fmla="*/ 254 h 509"/>
              <a:gd name="T34" fmla="*/ 6 w 546"/>
              <a:gd name="T35" fmla="*/ 305 h 509"/>
              <a:gd name="T36" fmla="*/ 22 w 546"/>
              <a:gd name="T37" fmla="*/ 353 h 509"/>
              <a:gd name="T38" fmla="*/ 47 w 546"/>
              <a:gd name="T39" fmla="*/ 396 h 509"/>
              <a:gd name="T40" fmla="*/ 80 w 546"/>
              <a:gd name="T41" fmla="*/ 433 h 509"/>
              <a:gd name="T42" fmla="*/ 120 w 546"/>
              <a:gd name="T43" fmla="*/ 464 h 509"/>
              <a:gd name="T44" fmla="*/ 167 w 546"/>
              <a:gd name="T45" fmla="*/ 488 h 509"/>
              <a:gd name="T46" fmla="*/ 218 w 546"/>
              <a:gd name="T47" fmla="*/ 503 h 509"/>
              <a:gd name="T48" fmla="*/ 273 w 546"/>
              <a:gd name="T49" fmla="*/ 508 h 509"/>
              <a:gd name="T50" fmla="*/ 327 w 546"/>
              <a:gd name="T51" fmla="*/ 503 h 509"/>
              <a:gd name="T52" fmla="*/ 379 w 546"/>
              <a:gd name="T53" fmla="*/ 488 h 509"/>
              <a:gd name="T54" fmla="*/ 425 w 546"/>
              <a:gd name="T55" fmla="*/ 464 h 509"/>
              <a:gd name="T56" fmla="*/ 465 w 546"/>
              <a:gd name="T57" fmla="*/ 433 h 509"/>
              <a:gd name="T58" fmla="*/ 498 w 546"/>
              <a:gd name="T59" fmla="*/ 396 h 509"/>
              <a:gd name="T60" fmla="*/ 524 w 546"/>
              <a:gd name="T61" fmla="*/ 353 h 509"/>
              <a:gd name="T62" fmla="*/ 540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40" y="203"/>
                </a:lnTo>
                <a:lnTo>
                  <a:pt x="524" y="155"/>
                </a:lnTo>
                <a:lnTo>
                  <a:pt x="498" y="112"/>
                </a:lnTo>
                <a:lnTo>
                  <a:pt x="465" y="74"/>
                </a:lnTo>
                <a:lnTo>
                  <a:pt x="425" y="44"/>
                </a:lnTo>
                <a:lnTo>
                  <a:pt x="379" y="20"/>
                </a:lnTo>
                <a:lnTo>
                  <a:pt x="327" y="5"/>
                </a:lnTo>
                <a:lnTo>
                  <a:pt x="273" y="0"/>
                </a:lnTo>
                <a:lnTo>
                  <a:pt x="218" y="5"/>
                </a:lnTo>
                <a:lnTo>
                  <a:pt x="167" y="20"/>
                </a:lnTo>
                <a:lnTo>
                  <a:pt x="120" y="44"/>
                </a:lnTo>
                <a:lnTo>
                  <a:pt x="80" y="74"/>
                </a:lnTo>
                <a:lnTo>
                  <a:pt x="47" y="112"/>
                </a:lnTo>
                <a:lnTo>
                  <a:pt x="22" y="155"/>
                </a:lnTo>
                <a:lnTo>
                  <a:pt x="6" y="203"/>
                </a:lnTo>
                <a:lnTo>
                  <a:pt x="0" y="254"/>
                </a:lnTo>
                <a:lnTo>
                  <a:pt x="6" y="305"/>
                </a:lnTo>
                <a:lnTo>
                  <a:pt x="22" y="353"/>
                </a:lnTo>
                <a:lnTo>
                  <a:pt x="47" y="396"/>
                </a:lnTo>
                <a:lnTo>
                  <a:pt x="80" y="433"/>
                </a:lnTo>
                <a:lnTo>
                  <a:pt x="120" y="464"/>
                </a:lnTo>
                <a:lnTo>
                  <a:pt x="167" y="488"/>
                </a:lnTo>
                <a:lnTo>
                  <a:pt x="218" y="503"/>
                </a:lnTo>
                <a:lnTo>
                  <a:pt x="273" y="508"/>
                </a:lnTo>
                <a:lnTo>
                  <a:pt x="327" y="503"/>
                </a:lnTo>
                <a:lnTo>
                  <a:pt x="379" y="488"/>
                </a:lnTo>
                <a:lnTo>
                  <a:pt x="425" y="464"/>
                </a:lnTo>
                <a:lnTo>
                  <a:pt x="465" y="433"/>
                </a:lnTo>
                <a:lnTo>
                  <a:pt x="498" y="396"/>
                </a:lnTo>
                <a:lnTo>
                  <a:pt x="524" y="353"/>
                </a:lnTo>
                <a:lnTo>
                  <a:pt x="540" y="305"/>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2" name="Rectangle 10"/>
          <p:cNvSpPr>
            <a:spLocks noChangeArrowheads="1"/>
          </p:cNvSpPr>
          <p:nvPr/>
        </p:nvSpPr>
        <p:spPr bwMode="auto">
          <a:xfrm>
            <a:off x="6488113" y="1454150"/>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4</a:t>
            </a:r>
          </a:p>
        </p:txBody>
      </p:sp>
      <p:sp>
        <p:nvSpPr>
          <p:cNvPr id="44043" name="Freeform 11"/>
          <p:cNvSpPr>
            <a:spLocks/>
          </p:cNvSpPr>
          <p:nvPr/>
        </p:nvSpPr>
        <p:spPr bwMode="auto">
          <a:xfrm>
            <a:off x="6670675" y="3343275"/>
            <a:ext cx="866775" cy="808038"/>
          </a:xfrm>
          <a:custGeom>
            <a:avLst/>
            <a:gdLst>
              <a:gd name="T0" fmla="*/ 545 w 546"/>
              <a:gd name="T1" fmla="*/ 254 h 509"/>
              <a:gd name="T2" fmla="*/ 540 w 546"/>
              <a:gd name="T3" fmla="*/ 203 h 509"/>
              <a:gd name="T4" fmla="*/ 524 w 546"/>
              <a:gd name="T5" fmla="*/ 155 h 509"/>
              <a:gd name="T6" fmla="*/ 498 w 546"/>
              <a:gd name="T7" fmla="*/ 112 h 509"/>
              <a:gd name="T8" fmla="*/ 465 w 546"/>
              <a:gd name="T9" fmla="*/ 74 h 509"/>
              <a:gd name="T10" fmla="*/ 425 w 546"/>
              <a:gd name="T11" fmla="*/ 43 h 509"/>
              <a:gd name="T12" fmla="*/ 379 w 546"/>
              <a:gd name="T13" fmla="*/ 20 h 509"/>
              <a:gd name="T14" fmla="*/ 327 w 546"/>
              <a:gd name="T15" fmla="*/ 5 h 509"/>
              <a:gd name="T16" fmla="*/ 273 w 546"/>
              <a:gd name="T17" fmla="*/ 0 h 509"/>
              <a:gd name="T18" fmla="*/ 218 w 546"/>
              <a:gd name="T19" fmla="*/ 5 h 509"/>
              <a:gd name="T20" fmla="*/ 166 w 546"/>
              <a:gd name="T21" fmla="*/ 20 h 509"/>
              <a:gd name="T22" fmla="*/ 120 w 546"/>
              <a:gd name="T23" fmla="*/ 43 h 509"/>
              <a:gd name="T24" fmla="*/ 80 w 546"/>
              <a:gd name="T25" fmla="*/ 74 h 509"/>
              <a:gd name="T26" fmla="*/ 47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2 h 509"/>
              <a:gd name="T38" fmla="*/ 47 w 546"/>
              <a:gd name="T39" fmla="*/ 396 h 509"/>
              <a:gd name="T40" fmla="*/ 80 w 546"/>
              <a:gd name="T41" fmla="*/ 433 h 509"/>
              <a:gd name="T42" fmla="*/ 120 w 546"/>
              <a:gd name="T43" fmla="*/ 464 h 509"/>
              <a:gd name="T44" fmla="*/ 166 w 546"/>
              <a:gd name="T45" fmla="*/ 488 h 509"/>
              <a:gd name="T46" fmla="*/ 218 w 546"/>
              <a:gd name="T47" fmla="*/ 502 h 509"/>
              <a:gd name="T48" fmla="*/ 273 w 546"/>
              <a:gd name="T49" fmla="*/ 508 h 509"/>
              <a:gd name="T50" fmla="*/ 327 w 546"/>
              <a:gd name="T51" fmla="*/ 502 h 509"/>
              <a:gd name="T52" fmla="*/ 379 w 546"/>
              <a:gd name="T53" fmla="*/ 488 h 509"/>
              <a:gd name="T54" fmla="*/ 425 w 546"/>
              <a:gd name="T55" fmla="*/ 464 h 509"/>
              <a:gd name="T56" fmla="*/ 465 w 546"/>
              <a:gd name="T57" fmla="*/ 433 h 509"/>
              <a:gd name="T58" fmla="*/ 498 w 546"/>
              <a:gd name="T59" fmla="*/ 396 h 509"/>
              <a:gd name="T60" fmla="*/ 524 w 546"/>
              <a:gd name="T61" fmla="*/ 352 h 509"/>
              <a:gd name="T62" fmla="*/ 540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40" y="203"/>
                </a:lnTo>
                <a:lnTo>
                  <a:pt x="524" y="155"/>
                </a:lnTo>
                <a:lnTo>
                  <a:pt x="498" y="112"/>
                </a:lnTo>
                <a:lnTo>
                  <a:pt x="465" y="74"/>
                </a:lnTo>
                <a:lnTo>
                  <a:pt x="425" y="43"/>
                </a:lnTo>
                <a:lnTo>
                  <a:pt x="379" y="20"/>
                </a:lnTo>
                <a:lnTo>
                  <a:pt x="327" y="5"/>
                </a:lnTo>
                <a:lnTo>
                  <a:pt x="273" y="0"/>
                </a:lnTo>
                <a:lnTo>
                  <a:pt x="218" y="5"/>
                </a:lnTo>
                <a:lnTo>
                  <a:pt x="166" y="20"/>
                </a:lnTo>
                <a:lnTo>
                  <a:pt x="120" y="43"/>
                </a:lnTo>
                <a:lnTo>
                  <a:pt x="80" y="74"/>
                </a:lnTo>
                <a:lnTo>
                  <a:pt x="47" y="112"/>
                </a:lnTo>
                <a:lnTo>
                  <a:pt x="21" y="155"/>
                </a:lnTo>
                <a:lnTo>
                  <a:pt x="5" y="203"/>
                </a:lnTo>
                <a:lnTo>
                  <a:pt x="0" y="254"/>
                </a:lnTo>
                <a:lnTo>
                  <a:pt x="5" y="305"/>
                </a:lnTo>
                <a:lnTo>
                  <a:pt x="21" y="352"/>
                </a:lnTo>
                <a:lnTo>
                  <a:pt x="47" y="396"/>
                </a:lnTo>
                <a:lnTo>
                  <a:pt x="80" y="433"/>
                </a:lnTo>
                <a:lnTo>
                  <a:pt x="120" y="464"/>
                </a:lnTo>
                <a:lnTo>
                  <a:pt x="166" y="488"/>
                </a:lnTo>
                <a:lnTo>
                  <a:pt x="218" y="502"/>
                </a:lnTo>
                <a:lnTo>
                  <a:pt x="273" y="508"/>
                </a:lnTo>
                <a:lnTo>
                  <a:pt x="327" y="502"/>
                </a:lnTo>
                <a:lnTo>
                  <a:pt x="379" y="488"/>
                </a:lnTo>
                <a:lnTo>
                  <a:pt x="425" y="464"/>
                </a:lnTo>
                <a:lnTo>
                  <a:pt x="465" y="433"/>
                </a:lnTo>
                <a:lnTo>
                  <a:pt x="498" y="396"/>
                </a:lnTo>
                <a:lnTo>
                  <a:pt x="524" y="352"/>
                </a:lnTo>
                <a:lnTo>
                  <a:pt x="540" y="305"/>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4" name="Rectangle 12"/>
          <p:cNvSpPr>
            <a:spLocks noChangeArrowheads="1"/>
          </p:cNvSpPr>
          <p:nvPr/>
        </p:nvSpPr>
        <p:spPr bwMode="auto">
          <a:xfrm>
            <a:off x="6884988" y="3509963"/>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5</a:t>
            </a:r>
          </a:p>
        </p:txBody>
      </p:sp>
      <p:sp>
        <p:nvSpPr>
          <p:cNvPr id="44045" name="Freeform 13"/>
          <p:cNvSpPr>
            <a:spLocks/>
          </p:cNvSpPr>
          <p:nvPr/>
        </p:nvSpPr>
        <p:spPr bwMode="auto">
          <a:xfrm>
            <a:off x="5314950" y="4908550"/>
            <a:ext cx="866775" cy="808038"/>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4 w 546"/>
              <a:gd name="T11" fmla="*/ 44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4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3 h 509"/>
              <a:gd name="T38" fmla="*/ 46 w 546"/>
              <a:gd name="T39" fmla="*/ 396 h 509"/>
              <a:gd name="T40" fmla="*/ 79 w 546"/>
              <a:gd name="T41" fmla="*/ 433 h 509"/>
              <a:gd name="T42" fmla="*/ 120 w 546"/>
              <a:gd name="T43" fmla="*/ 464 h 509"/>
              <a:gd name="T44" fmla="*/ 166 w 546"/>
              <a:gd name="T45" fmla="*/ 488 h 509"/>
              <a:gd name="T46" fmla="*/ 217 w 546"/>
              <a:gd name="T47" fmla="*/ 503 h 509"/>
              <a:gd name="T48" fmla="*/ 272 w 546"/>
              <a:gd name="T49" fmla="*/ 508 h 509"/>
              <a:gd name="T50" fmla="*/ 327 w 546"/>
              <a:gd name="T51" fmla="*/ 503 h 509"/>
              <a:gd name="T52" fmla="*/ 378 w 546"/>
              <a:gd name="T53" fmla="*/ 488 h 509"/>
              <a:gd name="T54" fmla="*/ 424 w 546"/>
              <a:gd name="T55" fmla="*/ 464 h 509"/>
              <a:gd name="T56" fmla="*/ 465 w 546"/>
              <a:gd name="T57" fmla="*/ 433 h 509"/>
              <a:gd name="T58" fmla="*/ 498 w 546"/>
              <a:gd name="T59" fmla="*/ 396 h 509"/>
              <a:gd name="T60" fmla="*/ 523 w 546"/>
              <a:gd name="T61" fmla="*/ 353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4" y="44"/>
                </a:lnTo>
                <a:lnTo>
                  <a:pt x="378" y="20"/>
                </a:lnTo>
                <a:lnTo>
                  <a:pt x="327" y="5"/>
                </a:lnTo>
                <a:lnTo>
                  <a:pt x="272" y="0"/>
                </a:lnTo>
                <a:lnTo>
                  <a:pt x="217" y="5"/>
                </a:lnTo>
                <a:lnTo>
                  <a:pt x="166" y="20"/>
                </a:lnTo>
                <a:lnTo>
                  <a:pt x="120" y="44"/>
                </a:lnTo>
                <a:lnTo>
                  <a:pt x="79" y="74"/>
                </a:lnTo>
                <a:lnTo>
                  <a:pt x="46" y="112"/>
                </a:lnTo>
                <a:lnTo>
                  <a:pt x="21" y="155"/>
                </a:lnTo>
                <a:lnTo>
                  <a:pt x="5" y="203"/>
                </a:lnTo>
                <a:lnTo>
                  <a:pt x="0" y="254"/>
                </a:lnTo>
                <a:lnTo>
                  <a:pt x="5" y="305"/>
                </a:lnTo>
                <a:lnTo>
                  <a:pt x="21" y="353"/>
                </a:lnTo>
                <a:lnTo>
                  <a:pt x="46" y="396"/>
                </a:lnTo>
                <a:lnTo>
                  <a:pt x="79" y="433"/>
                </a:lnTo>
                <a:lnTo>
                  <a:pt x="120" y="464"/>
                </a:lnTo>
                <a:lnTo>
                  <a:pt x="166" y="488"/>
                </a:lnTo>
                <a:lnTo>
                  <a:pt x="217" y="503"/>
                </a:lnTo>
                <a:lnTo>
                  <a:pt x="272" y="508"/>
                </a:lnTo>
                <a:lnTo>
                  <a:pt x="327" y="503"/>
                </a:lnTo>
                <a:lnTo>
                  <a:pt x="378" y="488"/>
                </a:lnTo>
                <a:lnTo>
                  <a:pt x="424" y="464"/>
                </a:lnTo>
                <a:lnTo>
                  <a:pt x="465" y="433"/>
                </a:lnTo>
                <a:lnTo>
                  <a:pt x="498" y="396"/>
                </a:lnTo>
                <a:lnTo>
                  <a:pt x="523" y="353"/>
                </a:lnTo>
                <a:lnTo>
                  <a:pt x="539" y="305"/>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6" name="Rectangle 14"/>
          <p:cNvSpPr>
            <a:spLocks noChangeArrowheads="1"/>
          </p:cNvSpPr>
          <p:nvPr/>
        </p:nvSpPr>
        <p:spPr bwMode="auto">
          <a:xfrm>
            <a:off x="5529263" y="5075238"/>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6</a:t>
            </a:r>
          </a:p>
        </p:txBody>
      </p:sp>
      <p:sp>
        <p:nvSpPr>
          <p:cNvPr id="44047" name="Rectangle 15"/>
          <p:cNvSpPr>
            <a:spLocks noChangeArrowheads="1"/>
          </p:cNvSpPr>
          <p:nvPr/>
        </p:nvSpPr>
        <p:spPr bwMode="auto">
          <a:xfrm>
            <a:off x="3656013" y="2363788"/>
            <a:ext cx="6365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$100</a:t>
            </a:r>
          </a:p>
        </p:txBody>
      </p:sp>
      <p:sp>
        <p:nvSpPr>
          <p:cNvPr id="44048" name="Rectangle 16"/>
          <p:cNvSpPr>
            <a:spLocks noChangeArrowheads="1"/>
          </p:cNvSpPr>
          <p:nvPr/>
        </p:nvSpPr>
        <p:spPr bwMode="auto">
          <a:xfrm>
            <a:off x="2665413" y="4068763"/>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$85</a:t>
            </a:r>
          </a:p>
        </p:txBody>
      </p:sp>
      <p:sp>
        <p:nvSpPr>
          <p:cNvPr id="44049" name="Rectangle 17"/>
          <p:cNvSpPr>
            <a:spLocks noChangeArrowheads="1"/>
          </p:cNvSpPr>
          <p:nvPr/>
        </p:nvSpPr>
        <p:spPr bwMode="auto">
          <a:xfrm>
            <a:off x="5114925" y="4197350"/>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$90</a:t>
            </a:r>
          </a:p>
        </p:txBody>
      </p:sp>
      <p:sp>
        <p:nvSpPr>
          <p:cNvPr id="44050" name="Rectangle 18"/>
          <p:cNvSpPr>
            <a:spLocks noChangeArrowheads="1"/>
          </p:cNvSpPr>
          <p:nvPr/>
        </p:nvSpPr>
        <p:spPr bwMode="auto">
          <a:xfrm>
            <a:off x="5456238" y="3322638"/>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$80</a:t>
            </a:r>
          </a:p>
        </p:txBody>
      </p:sp>
      <p:sp>
        <p:nvSpPr>
          <p:cNvPr id="44051" name="Rectangle 19"/>
          <p:cNvSpPr>
            <a:spLocks noChangeArrowheads="1"/>
          </p:cNvSpPr>
          <p:nvPr/>
        </p:nvSpPr>
        <p:spPr bwMode="auto">
          <a:xfrm>
            <a:off x="5099050" y="2387600"/>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$85</a:t>
            </a:r>
          </a:p>
        </p:txBody>
      </p:sp>
      <p:sp>
        <p:nvSpPr>
          <p:cNvPr id="44052" name="Line 20"/>
          <p:cNvSpPr>
            <a:spLocks noChangeShapeType="1"/>
          </p:cNvSpPr>
          <p:nvPr/>
        </p:nvSpPr>
        <p:spPr bwMode="auto">
          <a:xfrm>
            <a:off x="4911725" y="3581400"/>
            <a:ext cx="1752600" cy="15398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53" name="Rectangle 21"/>
          <p:cNvSpPr>
            <a:spLocks noChangeArrowheads="1"/>
          </p:cNvSpPr>
          <p:nvPr/>
        </p:nvSpPr>
        <p:spPr bwMode="auto">
          <a:xfrm>
            <a:off x="7024688" y="2563813"/>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$75</a:t>
            </a:r>
          </a:p>
        </p:txBody>
      </p:sp>
      <p:sp>
        <p:nvSpPr>
          <p:cNvPr id="44054" name="Rectangle 22"/>
          <p:cNvSpPr>
            <a:spLocks noChangeArrowheads="1"/>
          </p:cNvSpPr>
          <p:nvPr/>
        </p:nvSpPr>
        <p:spPr bwMode="auto">
          <a:xfrm>
            <a:off x="6573838" y="4700588"/>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$50</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685800" y="301625"/>
            <a:ext cx="7772400" cy="749300"/>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lIns="92075" tIns="46038" rIns="92075" bIns="46038"/>
          <a:lstStyle/>
          <a:p>
            <a:r>
              <a:rPr lang="en-US" sz="4000" i="1">
                <a:solidFill>
                  <a:schemeClr val="hlink"/>
                </a:solidFill>
              </a:rPr>
              <a:t>Solving the Example Problem - 3</a:t>
            </a:r>
          </a:p>
        </p:txBody>
      </p:sp>
      <p:sp>
        <p:nvSpPr>
          <p:cNvPr id="45059" name="Freeform 3"/>
          <p:cNvSpPr>
            <a:spLocks/>
          </p:cNvSpPr>
          <p:nvPr/>
        </p:nvSpPr>
        <p:spPr bwMode="auto">
          <a:xfrm>
            <a:off x="2460625" y="1333500"/>
            <a:ext cx="866775" cy="808038"/>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4 w 546"/>
              <a:gd name="T11" fmla="*/ 44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4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3 h 509"/>
              <a:gd name="T38" fmla="*/ 46 w 546"/>
              <a:gd name="T39" fmla="*/ 396 h 509"/>
              <a:gd name="T40" fmla="*/ 79 w 546"/>
              <a:gd name="T41" fmla="*/ 433 h 509"/>
              <a:gd name="T42" fmla="*/ 120 w 546"/>
              <a:gd name="T43" fmla="*/ 464 h 509"/>
              <a:gd name="T44" fmla="*/ 166 w 546"/>
              <a:gd name="T45" fmla="*/ 488 h 509"/>
              <a:gd name="T46" fmla="*/ 217 w 546"/>
              <a:gd name="T47" fmla="*/ 503 h 509"/>
              <a:gd name="T48" fmla="*/ 272 w 546"/>
              <a:gd name="T49" fmla="*/ 508 h 509"/>
              <a:gd name="T50" fmla="*/ 327 w 546"/>
              <a:gd name="T51" fmla="*/ 503 h 509"/>
              <a:gd name="T52" fmla="*/ 378 w 546"/>
              <a:gd name="T53" fmla="*/ 488 h 509"/>
              <a:gd name="T54" fmla="*/ 424 w 546"/>
              <a:gd name="T55" fmla="*/ 464 h 509"/>
              <a:gd name="T56" fmla="*/ 465 w 546"/>
              <a:gd name="T57" fmla="*/ 433 h 509"/>
              <a:gd name="T58" fmla="*/ 498 w 546"/>
              <a:gd name="T59" fmla="*/ 396 h 509"/>
              <a:gd name="T60" fmla="*/ 523 w 546"/>
              <a:gd name="T61" fmla="*/ 353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4" y="44"/>
                </a:lnTo>
                <a:lnTo>
                  <a:pt x="378" y="20"/>
                </a:lnTo>
                <a:lnTo>
                  <a:pt x="327" y="5"/>
                </a:lnTo>
                <a:lnTo>
                  <a:pt x="272" y="0"/>
                </a:lnTo>
                <a:lnTo>
                  <a:pt x="217" y="5"/>
                </a:lnTo>
                <a:lnTo>
                  <a:pt x="166" y="20"/>
                </a:lnTo>
                <a:lnTo>
                  <a:pt x="120" y="44"/>
                </a:lnTo>
                <a:lnTo>
                  <a:pt x="79" y="74"/>
                </a:lnTo>
                <a:lnTo>
                  <a:pt x="46" y="112"/>
                </a:lnTo>
                <a:lnTo>
                  <a:pt x="21" y="155"/>
                </a:lnTo>
                <a:lnTo>
                  <a:pt x="5" y="203"/>
                </a:lnTo>
                <a:lnTo>
                  <a:pt x="0" y="254"/>
                </a:lnTo>
                <a:lnTo>
                  <a:pt x="5" y="305"/>
                </a:lnTo>
                <a:lnTo>
                  <a:pt x="21" y="353"/>
                </a:lnTo>
                <a:lnTo>
                  <a:pt x="46" y="396"/>
                </a:lnTo>
                <a:lnTo>
                  <a:pt x="79" y="433"/>
                </a:lnTo>
                <a:lnTo>
                  <a:pt x="120" y="464"/>
                </a:lnTo>
                <a:lnTo>
                  <a:pt x="166" y="488"/>
                </a:lnTo>
                <a:lnTo>
                  <a:pt x="217" y="503"/>
                </a:lnTo>
                <a:lnTo>
                  <a:pt x="272" y="508"/>
                </a:lnTo>
                <a:lnTo>
                  <a:pt x="327" y="503"/>
                </a:lnTo>
                <a:lnTo>
                  <a:pt x="378" y="488"/>
                </a:lnTo>
                <a:lnTo>
                  <a:pt x="424" y="464"/>
                </a:lnTo>
                <a:lnTo>
                  <a:pt x="465" y="433"/>
                </a:lnTo>
                <a:lnTo>
                  <a:pt x="498" y="396"/>
                </a:lnTo>
                <a:lnTo>
                  <a:pt x="523" y="353"/>
                </a:lnTo>
                <a:lnTo>
                  <a:pt x="539" y="305"/>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0" name="Rectangle 4"/>
          <p:cNvSpPr>
            <a:spLocks noChangeArrowheads="1"/>
          </p:cNvSpPr>
          <p:nvPr/>
        </p:nvSpPr>
        <p:spPr bwMode="auto">
          <a:xfrm>
            <a:off x="2673350" y="1500188"/>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2</a:t>
            </a:r>
          </a:p>
        </p:txBody>
      </p:sp>
      <p:sp>
        <p:nvSpPr>
          <p:cNvPr id="45061" name="Freeform 5"/>
          <p:cNvSpPr>
            <a:spLocks/>
          </p:cNvSpPr>
          <p:nvPr/>
        </p:nvSpPr>
        <p:spPr bwMode="auto">
          <a:xfrm>
            <a:off x="1630363" y="4487863"/>
            <a:ext cx="866775" cy="806450"/>
          </a:xfrm>
          <a:custGeom>
            <a:avLst/>
            <a:gdLst>
              <a:gd name="T0" fmla="*/ 545 w 546"/>
              <a:gd name="T1" fmla="*/ 254 h 508"/>
              <a:gd name="T2" fmla="*/ 539 w 546"/>
              <a:gd name="T3" fmla="*/ 202 h 508"/>
              <a:gd name="T4" fmla="*/ 523 w 546"/>
              <a:gd name="T5" fmla="*/ 155 h 508"/>
              <a:gd name="T6" fmla="*/ 498 w 546"/>
              <a:gd name="T7" fmla="*/ 112 h 508"/>
              <a:gd name="T8" fmla="*/ 465 w 546"/>
              <a:gd name="T9" fmla="*/ 74 h 508"/>
              <a:gd name="T10" fmla="*/ 425 w 546"/>
              <a:gd name="T11" fmla="*/ 43 h 508"/>
              <a:gd name="T12" fmla="*/ 378 w 546"/>
              <a:gd name="T13" fmla="*/ 19 h 508"/>
              <a:gd name="T14" fmla="*/ 327 w 546"/>
              <a:gd name="T15" fmla="*/ 5 h 508"/>
              <a:gd name="T16" fmla="*/ 273 w 546"/>
              <a:gd name="T17" fmla="*/ 0 h 508"/>
              <a:gd name="T18" fmla="*/ 217 w 546"/>
              <a:gd name="T19" fmla="*/ 5 h 508"/>
              <a:gd name="T20" fmla="*/ 166 w 546"/>
              <a:gd name="T21" fmla="*/ 19 h 508"/>
              <a:gd name="T22" fmla="*/ 120 w 546"/>
              <a:gd name="T23" fmla="*/ 43 h 508"/>
              <a:gd name="T24" fmla="*/ 79 w 546"/>
              <a:gd name="T25" fmla="*/ 74 h 508"/>
              <a:gd name="T26" fmla="*/ 46 w 546"/>
              <a:gd name="T27" fmla="*/ 112 h 508"/>
              <a:gd name="T28" fmla="*/ 21 w 546"/>
              <a:gd name="T29" fmla="*/ 155 h 508"/>
              <a:gd name="T30" fmla="*/ 5 w 546"/>
              <a:gd name="T31" fmla="*/ 202 h 508"/>
              <a:gd name="T32" fmla="*/ 0 w 546"/>
              <a:gd name="T33" fmla="*/ 254 h 508"/>
              <a:gd name="T34" fmla="*/ 5 w 546"/>
              <a:gd name="T35" fmla="*/ 304 h 508"/>
              <a:gd name="T36" fmla="*/ 21 w 546"/>
              <a:gd name="T37" fmla="*/ 352 h 508"/>
              <a:gd name="T38" fmla="*/ 46 w 546"/>
              <a:gd name="T39" fmla="*/ 395 h 508"/>
              <a:gd name="T40" fmla="*/ 79 w 546"/>
              <a:gd name="T41" fmla="*/ 433 h 508"/>
              <a:gd name="T42" fmla="*/ 120 w 546"/>
              <a:gd name="T43" fmla="*/ 464 h 508"/>
              <a:gd name="T44" fmla="*/ 166 w 546"/>
              <a:gd name="T45" fmla="*/ 487 h 508"/>
              <a:gd name="T46" fmla="*/ 217 w 546"/>
              <a:gd name="T47" fmla="*/ 502 h 508"/>
              <a:gd name="T48" fmla="*/ 273 w 546"/>
              <a:gd name="T49" fmla="*/ 507 h 508"/>
              <a:gd name="T50" fmla="*/ 327 w 546"/>
              <a:gd name="T51" fmla="*/ 502 h 508"/>
              <a:gd name="T52" fmla="*/ 378 w 546"/>
              <a:gd name="T53" fmla="*/ 487 h 508"/>
              <a:gd name="T54" fmla="*/ 425 w 546"/>
              <a:gd name="T55" fmla="*/ 464 h 508"/>
              <a:gd name="T56" fmla="*/ 465 w 546"/>
              <a:gd name="T57" fmla="*/ 433 h 508"/>
              <a:gd name="T58" fmla="*/ 498 w 546"/>
              <a:gd name="T59" fmla="*/ 395 h 508"/>
              <a:gd name="T60" fmla="*/ 523 w 546"/>
              <a:gd name="T61" fmla="*/ 352 h 508"/>
              <a:gd name="T62" fmla="*/ 539 w 546"/>
              <a:gd name="T63" fmla="*/ 304 h 508"/>
              <a:gd name="T64" fmla="*/ 545 w 546"/>
              <a:gd name="T65" fmla="*/ 254 h 508"/>
              <a:gd name="T66" fmla="*/ 545 w 546"/>
              <a:gd name="T67" fmla="*/ 254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8">
                <a:moveTo>
                  <a:pt x="545" y="254"/>
                </a:moveTo>
                <a:lnTo>
                  <a:pt x="539" y="202"/>
                </a:lnTo>
                <a:lnTo>
                  <a:pt x="523" y="155"/>
                </a:lnTo>
                <a:lnTo>
                  <a:pt x="498" y="112"/>
                </a:lnTo>
                <a:lnTo>
                  <a:pt x="465" y="74"/>
                </a:lnTo>
                <a:lnTo>
                  <a:pt x="425" y="43"/>
                </a:lnTo>
                <a:lnTo>
                  <a:pt x="378" y="19"/>
                </a:lnTo>
                <a:lnTo>
                  <a:pt x="327" y="5"/>
                </a:lnTo>
                <a:lnTo>
                  <a:pt x="273" y="0"/>
                </a:lnTo>
                <a:lnTo>
                  <a:pt x="217" y="5"/>
                </a:lnTo>
                <a:lnTo>
                  <a:pt x="166" y="19"/>
                </a:lnTo>
                <a:lnTo>
                  <a:pt x="120" y="43"/>
                </a:lnTo>
                <a:lnTo>
                  <a:pt x="79" y="74"/>
                </a:lnTo>
                <a:lnTo>
                  <a:pt x="46" y="112"/>
                </a:lnTo>
                <a:lnTo>
                  <a:pt x="21" y="155"/>
                </a:lnTo>
                <a:lnTo>
                  <a:pt x="5" y="202"/>
                </a:lnTo>
                <a:lnTo>
                  <a:pt x="0" y="254"/>
                </a:lnTo>
                <a:lnTo>
                  <a:pt x="5" y="304"/>
                </a:lnTo>
                <a:lnTo>
                  <a:pt x="21" y="352"/>
                </a:lnTo>
                <a:lnTo>
                  <a:pt x="46" y="395"/>
                </a:lnTo>
                <a:lnTo>
                  <a:pt x="79" y="433"/>
                </a:lnTo>
                <a:lnTo>
                  <a:pt x="120" y="464"/>
                </a:lnTo>
                <a:lnTo>
                  <a:pt x="166" y="487"/>
                </a:lnTo>
                <a:lnTo>
                  <a:pt x="217" y="502"/>
                </a:lnTo>
                <a:lnTo>
                  <a:pt x="273" y="507"/>
                </a:lnTo>
                <a:lnTo>
                  <a:pt x="327" y="502"/>
                </a:lnTo>
                <a:lnTo>
                  <a:pt x="378" y="487"/>
                </a:lnTo>
                <a:lnTo>
                  <a:pt x="425" y="464"/>
                </a:lnTo>
                <a:lnTo>
                  <a:pt x="465" y="433"/>
                </a:lnTo>
                <a:lnTo>
                  <a:pt x="498" y="395"/>
                </a:lnTo>
                <a:lnTo>
                  <a:pt x="523" y="352"/>
                </a:lnTo>
                <a:lnTo>
                  <a:pt x="539" y="304"/>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2" name="Rectangle 6"/>
          <p:cNvSpPr>
            <a:spLocks noChangeArrowheads="1"/>
          </p:cNvSpPr>
          <p:nvPr/>
        </p:nvSpPr>
        <p:spPr bwMode="auto">
          <a:xfrm>
            <a:off x="1844675" y="4654550"/>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3</a:t>
            </a:r>
          </a:p>
        </p:txBody>
      </p:sp>
      <p:sp>
        <p:nvSpPr>
          <p:cNvPr id="45063" name="Freeform 7"/>
          <p:cNvSpPr>
            <a:spLocks/>
          </p:cNvSpPr>
          <p:nvPr/>
        </p:nvSpPr>
        <p:spPr bwMode="auto">
          <a:xfrm>
            <a:off x="4027488" y="3144838"/>
            <a:ext cx="866775" cy="808037"/>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5 w 546"/>
              <a:gd name="T11" fmla="*/ 43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3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2 h 509"/>
              <a:gd name="T38" fmla="*/ 46 w 546"/>
              <a:gd name="T39" fmla="*/ 395 h 509"/>
              <a:gd name="T40" fmla="*/ 79 w 546"/>
              <a:gd name="T41" fmla="*/ 433 h 509"/>
              <a:gd name="T42" fmla="*/ 120 w 546"/>
              <a:gd name="T43" fmla="*/ 464 h 509"/>
              <a:gd name="T44" fmla="*/ 166 w 546"/>
              <a:gd name="T45" fmla="*/ 488 h 509"/>
              <a:gd name="T46" fmla="*/ 217 w 546"/>
              <a:gd name="T47" fmla="*/ 502 h 509"/>
              <a:gd name="T48" fmla="*/ 272 w 546"/>
              <a:gd name="T49" fmla="*/ 508 h 509"/>
              <a:gd name="T50" fmla="*/ 327 w 546"/>
              <a:gd name="T51" fmla="*/ 502 h 509"/>
              <a:gd name="T52" fmla="*/ 378 w 546"/>
              <a:gd name="T53" fmla="*/ 488 h 509"/>
              <a:gd name="T54" fmla="*/ 425 w 546"/>
              <a:gd name="T55" fmla="*/ 464 h 509"/>
              <a:gd name="T56" fmla="*/ 465 w 546"/>
              <a:gd name="T57" fmla="*/ 433 h 509"/>
              <a:gd name="T58" fmla="*/ 498 w 546"/>
              <a:gd name="T59" fmla="*/ 395 h 509"/>
              <a:gd name="T60" fmla="*/ 523 w 546"/>
              <a:gd name="T61" fmla="*/ 352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5" y="43"/>
                </a:lnTo>
                <a:lnTo>
                  <a:pt x="378" y="20"/>
                </a:lnTo>
                <a:lnTo>
                  <a:pt x="327" y="5"/>
                </a:lnTo>
                <a:lnTo>
                  <a:pt x="272" y="0"/>
                </a:lnTo>
                <a:lnTo>
                  <a:pt x="217" y="5"/>
                </a:lnTo>
                <a:lnTo>
                  <a:pt x="166" y="20"/>
                </a:lnTo>
                <a:lnTo>
                  <a:pt x="120" y="43"/>
                </a:lnTo>
                <a:lnTo>
                  <a:pt x="79" y="74"/>
                </a:lnTo>
                <a:lnTo>
                  <a:pt x="46" y="112"/>
                </a:lnTo>
                <a:lnTo>
                  <a:pt x="21" y="155"/>
                </a:lnTo>
                <a:lnTo>
                  <a:pt x="5" y="203"/>
                </a:lnTo>
                <a:lnTo>
                  <a:pt x="0" y="254"/>
                </a:lnTo>
                <a:lnTo>
                  <a:pt x="5" y="305"/>
                </a:lnTo>
                <a:lnTo>
                  <a:pt x="21" y="352"/>
                </a:lnTo>
                <a:lnTo>
                  <a:pt x="46" y="395"/>
                </a:lnTo>
                <a:lnTo>
                  <a:pt x="79" y="433"/>
                </a:lnTo>
                <a:lnTo>
                  <a:pt x="120" y="464"/>
                </a:lnTo>
                <a:lnTo>
                  <a:pt x="166" y="488"/>
                </a:lnTo>
                <a:lnTo>
                  <a:pt x="217" y="502"/>
                </a:lnTo>
                <a:lnTo>
                  <a:pt x="272" y="508"/>
                </a:lnTo>
                <a:lnTo>
                  <a:pt x="327" y="502"/>
                </a:lnTo>
                <a:lnTo>
                  <a:pt x="378" y="488"/>
                </a:lnTo>
                <a:lnTo>
                  <a:pt x="425" y="464"/>
                </a:lnTo>
                <a:lnTo>
                  <a:pt x="465" y="433"/>
                </a:lnTo>
                <a:lnTo>
                  <a:pt x="498" y="395"/>
                </a:lnTo>
                <a:lnTo>
                  <a:pt x="523" y="352"/>
                </a:lnTo>
                <a:lnTo>
                  <a:pt x="539" y="305"/>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4" name="Rectangle 8"/>
          <p:cNvSpPr>
            <a:spLocks noChangeArrowheads="1"/>
          </p:cNvSpPr>
          <p:nvPr/>
        </p:nvSpPr>
        <p:spPr bwMode="auto">
          <a:xfrm>
            <a:off x="4241800" y="3311525"/>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1</a:t>
            </a:r>
          </a:p>
        </p:txBody>
      </p:sp>
      <p:sp>
        <p:nvSpPr>
          <p:cNvPr id="45065" name="Freeform 9"/>
          <p:cNvSpPr>
            <a:spLocks/>
          </p:cNvSpPr>
          <p:nvPr/>
        </p:nvSpPr>
        <p:spPr bwMode="auto">
          <a:xfrm>
            <a:off x="6272213" y="1287463"/>
            <a:ext cx="866775" cy="808037"/>
          </a:xfrm>
          <a:custGeom>
            <a:avLst/>
            <a:gdLst>
              <a:gd name="T0" fmla="*/ 545 w 546"/>
              <a:gd name="T1" fmla="*/ 254 h 509"/>
              <a:gd name="T2" fmla="*/ 540 w 546"/>
              <a:gd name="T3" fmla="*/ 203 h 509"/>
              <a:gd name="T4" fmla="*/ 524 w 546"/>
              <a:gd name="T5" fmla="*/ 155 h 509"/>
              <a:gd name="T6" fmla="*/ 498 w 546"/>
              <a:gd name="T7" fmla="*/ 112 h 509"/>
              <a:gd name="T8" fmla="*/ 465 w 546"/>
              <a:gd name="T9" fmla="*/ 74 h 509"/>
              <a:gd name="T10" fmla="*/ 425 w 546"/>
              <a:gd name="T11" fmla="*/ 44 h 509"/>
              <a:gd name="T12" fmla="*/ 379 w 546"/>
              <a:gd name="T13" fmla="*/ 20 h 509"/>
              <a:gd name="T14" fmla="*/ 327 w 546"/>
              <a:gd name="T15" fmla="*/ 5 h 509"/>
              <a:gd name="T16" fmla="*/ 273 w 546"/>
              <a:gd name="T17" fmla="*/ 0 h 509"/>
              <a:gd name="T18" fmla="*/ 218 w 546"/>
              <a:gd name="T19" fmla="*/ 5 h 509"/>
              <a:gd name="T20" fmla="*/ 167 w 546"/>
              <a:gd name="T21" fmla="*/ 20 h 509"/>
              <a:gd name="T22" fmla="*/ 120 w 546"/>
              <a:gd name="T23" fmla="*/ 44 h 509"/>
              <a:gd name="T24" fmla="*/ 80 w 546"/>
              <a:gd name="T25" fmla="*/ 74 h 509"/>
              <a:gd name="T26" fmla="*/ 47 w 546"/>
              <a:gd name="T27" fmla="*/ 112 h 509"/>
              <a:gd name="T28" fmla="*/ 22 w 546"/>
              <a:gd name="T29" fmla="*/ 155 h 509"/>
              <a:gd name="T30" fmla="*/ 6 w 546"/>
              <a:gd name="T31" fmla="*/ 203 h 509"/>
              <a:gd name="T32" fmla="*/ 0 w 546"/>
              <a:gd name="T33" fmla="*/ 254 h 509"/>
              <a:gd name="T34" fmla="*/ 6 w 546"/>
              <a:gd name="T35" fmla="*/ 305 h 509"/>
              <a:gd name="T36" fmla="*/ 22 w 546"/>
              <a:gd name="T37" fmla="*/ 353 h 509"/>
              <a:gd name="T38" fmla="*/ 47 w 546"/>
              <a:gd name="T39" fmla="*/ 396 h 509"/>
              <a:gd name="T40" fmla="*/ 80 w 546"/>
              <a:gd name="T41" fmla="*/ 433 h 509"/>
              <a:gd name="T42" fmla="*/ 120 w 546"/>
              <a:gd name="T43" fmla="*/ 464 h 509"/>
              <a:gd name="T44" fmla="*/ 167 w 546"/>
              <a:gd name="T45" fmla="*/ 488 h 509"/>
              <a:gd name="T46" fmla="*/ 218 w 546"/>
              <a:gd name="T47" fmla="*/ 503 h 509"/>
              <a:gd name="T48" fmla="*/ 273 w 546"/>
              <a:gd name="T49" fmla="*/ 508 h 509"/>
              <a:gd name="T50" fmla="*/ 327 w 546"/>
              <a:gd name="T51" fmla="*/ 503 h 509"/>
              <a:gd name="T52" fmla="*/ 379 w 546"/>
              <a:gd name="T53" fmla="*/ 488 h 509"/>
              <a:gd name="T54" fmla="*/ 425 w 546"/>
              <a:gd name="T55" fmla="*/ 464 h 509"/>
              <a:gd name="T56" fmla="*/ 465 w 546"/>
              <a:gd name="T57" fmla="*/ 433 h 509"/>
              <a:gd name="T58" fmla="*/ 498 w 546"/>
              <a:gd name="T59" fmla="*/ 396 h 509"/>
              <a:gd name="T60" fmla="*/ 524 w 546"/>
              <a:gd name="T61" fmla="*/ 353 h 509"/>
              <a:gd name="T62" fmla="*/ 540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40" y="203"/>
                </a:lnTo>
                <a:lnTo>
                  <a:pt x="524" y="155"/>
                </a:lnTo>
                <a:lnTo>
                  <a:pt x="498" y="112"/>
                </a:lnTo>
                <a:lnTo>
                  <a:pt x="465" y="74"/>
                </a:lnTo>
                <a:lnTo>
                  <a:pt x="425" y="44"/>
                </a:lnTo>
                <a:lnTo>
                  <a:pt x="379" y="20"/>
                </a:lnTo>
                <a:lnTo>
                  <a:pt x="327" y="5"/>
                </a:lnTo>
                <a:lnTo>
                  <a:pt x="273" y="0"/>
                </a:lnTo>
                <a:lnTo>
                  <a:pt x="218" y="5"/>
                </a:lnTo>
                <a:lnTo>
                  <a:pt x="167" y="20"/>
                </a:lnTo>
                <a:lnTo>
                  <a:pt x="120" y="44"/>
                </a:lnTo>
                <a:lnTo>
                  <a:pt x="80" y="74"/>
                </a:lnTo>
                <a:lnTo>
                  <a:pt x="47" y="112"/>
                </a:lnTo>
                <a:lnTo>
                  <a:pt x="22" y="155"/>
                </a:lnTo>
                <a:lnTo>
                  <a:pt x="6" y="203"/>
                </a:lnTo>
                <a:lnTo>
                  <a:pt x="0" y="254"/>
                </a:lnTo>
                <a:lnTo>
                  <a:pt x="6" y="305"/>
                </a:lnTo>
                <a:lnTo>
                  <a:pt x="22" y="353"/>
                </a:lnTo>
                <a:lnTo>
                  <a:pt x="47" y="396"/>
                </a:lnTo>
                <a:lnTo>
                  <a:pt x="80" y="433"/>
                </a:lnTo>
                <a:lnTo>
                  <a:pt x="120" y="464"/>
                </a:lnTo>
                <a:lnTo>
                  <a:pt x="167" y="488"/>
                </a:lnTo>
                <a:lnTo>
                  <a:pt x="218" y="503"/>
                </a:lnTo>
                <a:lnTo>
                  <a:pt x="273" y="508"/>
                </a:lnTo>
                <a:lnTo>
                  <a:pt x="327" y="503"/>
                </a:lnTo>
                <a:lnTo>
                  <a:pt x="379" y="488"/>
                </a:lnTo>
                <a:lnTo>
                  <a:pt x="425" y="464"/>
                </a:lnTo>
                <a:lnTo>
                  <a:pt x="465" y="433"/>
                </a:lnTo>
                <a:lnTo>
                  <a:pt x="498" y="396"/>
                </a:lnTo>
                <a:lnTo>
                  <a:pt x="524" y="353"/>
                </a:lnTo>
                <a:lnTo>
                  <a:pt x="540" y="305"/>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6" name="Rectangle 10"/>
          <p:cNvSpPr>
            <a:spLocks noChangeArrowheads="1"/>
          </p:cNvSpPr>
          <p:nvPr/>
        </p:nvSpPr>
        <p:spPr bwMode="auto">
          <a:xfrm>
            <a:off x="6488113" y="1454150"/>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4</a:t>
            </a:r>
          </a:p>
        </p:txBody>
      </p:sp>
      <p:sp>
        <p:nvSpPr>
          <p:cNvPr id="45067" name="Freeform 11"/>
          <p:cNvSpPr>
            <a:spLocks/>
          </p:cNvSpPr>
          <p:nvPr/>
        </p:nvSpPr>
        <p:spPr bwMode="auto">
          <a:xfrm>
            <a:off x="6670675" y="3343275"/>
            <a:ext cx="866775" cy="808038"/>
          </a:xfrm>
          <a:custGeom>
            <a:avLst/>
            <a:gdLst>
              <a:gd name="T0" fmla="*/ 545 w 546"/>
              <a:gd name="T1" fmla="*/ 254 h 509"/>
              <a:gd name="T2" fmla="*/ 540 w 546"/>
              <a:gd name="T3" fmla="*/ 203 h 509"/>
              <a:gd name="T4" fmla="*/ 524 w 546"/>
              <a:gd name="T5" fmla="*/ 155 h 509"/>
              <a:gd name="T6" fmla="*/ 498 w 546"/>
              <a:gd name="T7" fmla="*/ 112 h 509"/>
              <a:gd name="T8" fmla="*/ 465 w 546"/>
              <a:gd name="T9" fmla="*/ 74 h 509"/>
              <a:gd name="T10" fmla="*/ 425 w 546"/>
              <a:gd name="T11" fmla="*/ 43 h 509"/>
              <a:gd name="T12" fmla="*/ 379 w 546"/>
              <a:gd name="T13" fmla="*/ 20 h 509"/>
              <a:gd name="T14" fmla="*/ 327 w 546"/>
              <a:gd name="T15" fmla="*/ 5 h 509"/>
              <a:gd name="T16" fmla="*/ 273 w 546"/>
              <a:gd name="T17" fmla="*/ 0 h 509"/>
              <a:gd name="T18" fmla="*/ 218 w 546"/>
              <a:gd name="T19" fmla="*/ 5 h 509"/>
              <a:gd name="T20" fmla="*/ 166 w 546"/>
              <a:gd name="T21" fmla="*/ 20 h 509"/>
              <a:gd name="T22" fmla="*/ 120 w 546"/>
              <a:gd name="T23" fmla="*/ 43 h 509"/>
              <a:gd name="T24" fmla="*/ 80 w 546"/>
              <a:gd name="T25" fmla="*/ 74 h 509"/>
              <a:gd name="T26" fmla="*/ 47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2 h 509"/>
              <a:gd name="T38" fmla="*/ 47 w 546"/>
              <a:gd name="T39" fmla="*/ 396 h 509"/>
              <a:gd name="T40" fmla="*/ 80 w 546"/>
              <a:gd name="T41" fmla="*/ 433 h 509"/>
              <a:gd name="T42" fmla="*/ 120 w 546"/>
              <a:gd name="T43" fmla="*/ 464 h 509"/>
              <a:gd name="T44" fmla="*/ 166 w 546"/>
              <a:gd name="T45" fmla="*/ 488 h 509"/>
              <a:gd name="T46" fmla="*/ 218 w 546"/>
              <a:gd name="T47" fmla="*/ 502 h 509"/>
              <a:gd name="T48" fmla="*/ 273 w 546"/>
              <a:gd name="T49" fmla="*/ 508 h 509"/>
              <a:gd name="T50" fmla="*/ 327 w 546"/>
              <a:gd name="T51" fmla="*/ 502 h 509"/>
              <a:gd name="T52" fmla="*/ 379 w 546"/>
              <a:gd name="T53" fmla="*/ 488 h 509"/>
              <a:gd name="T54" fmla="*/ 425 w 546"/>
              <a:gd name="T55" fmla="*/ 464 h 509"/>
              <a:gd name="T56" fmla="*/ 465 w 546"/>
              <a:gd name="T57" fmla="*/ 433 h 509"/>
              <a:gd name="T58" fmla="*/ 498 w 546"/>
              <a:gd name="T59" fmla="*/ 396 h 509"/>
              <a:gd name="T60" fmla="*/ 524 w 546"/>
              <a:gd name="T61" fmla="*/ 352 h 509"/>
              <a:gd name="T62" fmla="*/ 540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40" y="203"/>
                </a:lnTo>
                <a:lnTo>
                  <a:pt x="524" y="155"/>
                </a:lnTo>
                <a:lnTo>
                  <a:pt x="498" y="112"/>
                </a:lnTo>
                <a:lnTo>
                  <a:pt x="465" y="74"/>
                </a:lnTo>
                <a:lnTo>
                  <a:pt x="425" y="43"/>
                </a:lnTo>
                <a:lnTo>
                  <a:pt x="379" y="20"/>
                </a:lnTo>
                <a:lnTo>
                  <a:pt x="327" y="5"/>
                </a:lnTo>
                <a:lnTo>
                  <a:pt x="273" y="0"/>
                </a:lnTo>
                <a:lnTo>
                  <a:pt x="218" y="5"/>
                </a:lnTo>
                <a:lnTo>
                  <a:pt x="166" y="20"/>
                </a:lnTo>
                <a:lnTo>
                  <a:pt x="120" y="43"/>
                </a:lnTo>
                <a:lnTo>
                  <a:pt x="80" y="74"/>
                </a:lnTo>
                <a:lnTo>
                  <a:pt x="47" y="112"/>
                </a:lnTo>
                <a:lnTo>
                  <a:pt x="21" y="155"/>
                </a:lnTo>
                <a:lnTo>
                  <a:pt x="5" y="203"/>
                </a:lnTo>
                <a:lnTo>
                  <a:pt x="0" y="254"/>
                </a:lnTo>
                <a:lnTo>
                  <a:pt x="5" y="305"/>
                </a:lnTo>
                <a:lnTo>
                  <a:pt x="21" y="352"/>
                </a:lnTo>
                <a:lnTo>
                  <a:pt x="47" y="396"/>
                </a:lnTo>
                <a:lnTo>
                  <a:pt x="80" y="433"/>
                </a:lnTo>
                <a:lnTo>
                  <a:pt x="120" y="464"/>
                </a:lnTo>
                <a:lnTo>
                  <a:pt x="166" y="488"/>
                </a:lnTo>
                <a:lnTo>
                  <a:pt x="218" y="502"/>
                </a:lnTo>
                <a:lnTo>
                  <a:pt x="273" y="508"/>
                </a:lnTo>
                <a:lnTo>
                  <a:pt x="327" y="502"/>
                </a:lnTo>
                <a:lnTo>
                  <a:pt x="379" y="488"/>
                </a:lnTo>
                <a:lnTo>
                  <a:pt x="425" y="464"/>
                </a:lnTo>
                <a:lnTo>
                  <a:pt x="465" y="433"/>
                </a:lnTo>
                <a:lnTo>
                  <a:pt x="498" y="396"/>
                </a:lnTo>
                <a:lnTo>
                  <a:pt x="524" y="352"/>
                </a:lnTo>
                <a:lnTo>
                  <a:pt x="540" y="305"/>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8" name="Rectangle 12"/>
          <p:cNvSpPr>
            <a:spLocks noChangeArrowheads="1"/>
          </p:cNvSpPr>
          <p:nvPr/>
        </p:nvSpPr>
        <p:spPr bwMode="auto">
          <a:xfrm>
            <a:off x="6884988" y="3509963"/>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5</a:t>
            </a:r>
          </a:p>
        </p:txBody>
      </p:sp>
      <p:sp>
        <p:nvSpPr>
          <p:cNvPr id="45069" name="Freeform 13"/>
          <p:cNvSpPr>
            <a:spLocks/>
          </p:cNvSpPr>
          <p:nvPr/>
        </p:nvSpPr>
        <p:spPr bwMode="auto">
          <a:xfrm>
            <a:off x="5314950" y="4908550"/>
            <a:ext cx="866775" cy="808038"/>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4 w 546"/>
              <a:gd name="T11" fmla="*/ 44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4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3 h 509"/>
              <a:gd name="T38" fmla="*/ 46 w 546"/>
              <a:gd name="T39" fmla="*/ 396 h 509"/>
              <a:gd name="T40" fmla="*/ 79 w 546"/>
              <a:gd name="T41" fmla="*/ 433 h 509"/>
              <a:gd name="T42" fmla="*/ 120 w 546"/>
              <a:gd name="T43" fmla="*/ 464 h 509"/>
              <a:gd name="T44" fmla="*/ 166 w 546"/>
              <a:gd name="T45" fmla="*/ 488 h 509"/>
              <a:gd name="T46" fmla="*/ 217 w 546"/>
              <a:gd name="T47" fmla="*/ 503 h 509"/>
              <a:gd name="T48" fmla="*/ 272 w 546"/>
              <a:gd name="T49" fmla="*/ 508 h 509"/>
              <a:gd name="T50" fmla="*/ 327 w 546"/>
              <a:gd name="T51" fmla="*/ 503 h 509"/>
              <a:gd name="T52" fmla="*/ 378 w 546"/>
              <a:gd name="T53" fmla="*/ 488 h 509"/>
              <a:gd name="T54" fmla="*/ 424 w 546"/>
              <a:gd name="T55" fmla="*/ 464 h 509"/>
              <a:gd name="T56" fmla="*/ 465 w 546"/>
              <a:gd name="T57" fmla="*/ 433 h 509"/>
              <a:gd name="T58" fmla="*/ 498 w 546"/>
              <a:gd name="T59" fmla="*/ 396 h 509"/>
              <a:gd name="T60" fmla="*/ 523 w 546"/>
              <a:gd name="T61" fmla="*/ 353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4" y="44"/>
                </a:lnTo>
                <a:lnTo>
                  <a:pt x="378" y="20"/>
                </a:lnTo>
                <a:lnTo>
                  <a:pt x="327" y="5"/>
                </a:lnTo>
                <a:lnTo>
                  <a:pt x="272" y="0"/>
                </a:lnTo>
                <a:lnTo>
                  <a:pt x="217" y="5"/>
                </a:lnTo>
                <a:lnTo>
                  <a:pt x="166" y="20"/>
                </a:lnTo>
                <a:lnTo>
                  <a:pt x="120" y="44"/>
                </a:lnTo>
                <a:lnTo>
                  <a:pt x="79" y="74"/>
                </a:lnTo>
                <a:lnTo>
                  <a:pt x="46" y="112"/>
                </a:lnTo>
                <a:lnTo>
                  <a:pt x="21" y="155"/>
                </a:lnTo>
                <a:lnTo>
                  <a:pt x="5" y="203"/>
                </a:lnTo>
                <a:lnTo>
                  <a:pt x="0" y="254"/>
                </a:lnTo>
                <a:lnTo>
                  <a:pt x="5" y="305"/>
                </a:lnTo>
                <a:lnTo>
                  <a:pt x="21" y="353"/>
                </a:lnTo>
                <a:lnTo>
                  <a:pt x="46" y="396"/>
                </a:lnTo>
                <a:lnTo>
                  <a:pt x="79" y="433"/>
                </a:lnTo>
                <a:lnTo>
                  <a:pt x="120" y="464"/>
                </a:lnTo>
                <a:lnTo>
                  <a:pt x="166" y="488"/>
                </a:lnTo>
                <a:lnTo>
                  <a:pt x="217" y="503"/>
                </a:lnTo>
                <a:lnTo>
                  <a:pt x="272" y="508"/>
                </a:lnTo>
                <a:lnTo>
                  <a:pt x="327" y="503"/>
                </a:lnTo>
                <a:lnTo>
                  <a:pt x="378" y="488"/>
                </a:lnTo>
                <a:lnTo>
                  <a:pt x="424" y="464"/>
                </a:lnTo>
                <a:lnTo>
                  <a:pt x="465" y="433"/>
                </a:lnTo>
                <a:lnTo>
                  <a:pt x="498" y="396"/>
                </a:lnTo>
                <a:lnTo>
                  <a:pt x="523" y="353"/>
                </a:lnTo>
                <a:lnTo>
                  <a:pt x="539" y="305"/>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0" name="Rectangle 14"/>
          <p:cNvSpPr>
            <a:spLocks noChangeArrowheads="1"/>
          </p:cNvSpPr>
          <p:nvPr/>
        </p:nvSpPr>
        <p:spPr bwMode="auto">
          <a:xfrm>
            <a:off x="5529263" y="5075238"/>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6</a:t>
            </a:r>
          </a:p>
        </p:txBody>
      </p:sp>
      <p:sp>
        <p:nvSpPr>
          <p:cNvPr id="45071" name="Rectangle 15"/>
          <p:cNvSpPr>
            <a:spLocks noChangeArrowheads="1"/>
          </p:cNvSpPr>
          <p:nvPr/>
        </p:nvSpPr>
        <p:spPr bwMode="auto">
          <a:xfrm>
            <a:off x="3656013" y="2363788"/>
            <a:ext cx="6365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$100</a:t>
            </a:r>
          </a:p>
        </p:txBody>
      </p:sp>
      <p:sp>
        <p:nvSpPr>
          <p:cNvPr id="45072" name="Rectangle 16"/>
          <p:cNvSpPr>
            <a:spLocks noChangeArrowheads="1"/>
          </p:cNvSpPr>
          <p:nvPr/>
        </p:nvSpPr>
        <p:spPr bwMode="auto">
          <a:xfrm>
            <a:off x="2665413" y="4068763"/>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$85</a:t>
            </a:r>
          </a:p>
        </p:txBody>
      </p:sp>
      <p:sp>
        <p:nvSpPr>
          <p:cNvPr id="45073" name="Rectangle 17"/>
          <p:cNvSpPr>
            <a:spLocks noChangeArrowheads="1"/>
          </p:cNvSpPr>
          <p:nvPr/>
        </p:nvSpPr>
        <p:spPr bwMode="auto">
          <a:xfrm>
            <a:off x="5456238" y="3322638"/>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$80</a:t>
            </a:r>
          </a:p>
        </p:txBody>
      </p:sp>
      <p:sp>
        <p:nvSpPr>
          <p:cNvPr id="45074" name="Rectangle 18"/>
          <p:cNvSpPr>
            <a:spLocks noChangeArrowheads="1"/>
          </p:cNvSpPr>
          <p:nvPr/>
        </p:nvSpPr>
        <p:spPr bwMode="auto">
          <a:xfrm>
            <a:off x="5099050" y="2387600"/>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$85</a:t>
            </a:r>
          </a:p>
        </p:txBody>
      </p:sp>
      <p:sp>
        <p:nvSpPr>
          <p:cNvPr id="45075" name="Line 19"/>
          <p:cNvSpPr>
            <a:spLocks noChangeShapeType="1"/>
          </p:cNvSpPr>
          <p:nvPr/>
        </p:nvSpPr>
        <p:spPr bwMode="auto">
          <a:xfrm>
            <a:off x="4911725" y="3581400"/>
            <a:ext cx="1752600" cy="15398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76" name="Rectangle 20"/>
          <p:cNvSpPr>
            <a:spLocks noChangeArrowheads="1"/>
          </p:cNvSpPr>
          <p:nvPr/>
        </p:nvSpPr>
        <p:spPr bwMode="auto">
          <a:xfrm>
            <a:off x="7024688" y="2563813"/>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$75</a:t>
            </a:r>
          </a:p>
        </p:txBody>
      </p:sp>
      <p:sp>
        <p:nvSpPr>
          <p:cNvPr id="45077" name="Rectangle 21"/>
          <p:cNvSpPr>
            <a:spLocks noChangeArrowheads="1"/>
          </p:cNvSpPr>
          <p:nvPr/>
        </p:nvSpPr>
        <p:spPr bwMode="auto">
          <a:xfrm>
            <a:off x="6573838" y="4700588"/>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$50</a:t>
            </a:r>
          </a:p>
        </p:txBody>
      </p:sp>
      <p:sp>
        <p:nvSpPr>
          <p:cNvPr id="45078" name="Line 22"/>
          <p:cNvSpPr>
            <a:spLocks noChangeShapeType="1"/>
          </p:cNvSpPr>
          <p:nvPr/>
        </p:nvSpPr>
        <p:spPr bwMode="auto">
          <a:xfrm flipH="1">
            <a:off x="6051550" y="4125913"/>
            <a:ext cx="866775" cy="90170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79" name="Rectangle 23"/>
          <p:cNvSpPr>
            <a:spLocks noChangeArrowheads="1"/>
          </p:cNvSpPr>
          <p:nvPr/>
        </p:nvSpPr>
        <p:spPr bwMode="auto">
          <a:xfrm>
            <a:off x="3508375" y="5224463"/>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$65</a:t>
            </a:r>
          </a:p>
        </p:txBody>
      </p:sp>
      <p:sp>
        <p:nvSpPr>
          <p:cNvPr id="2" name="Footer Placeholder 1"/>
          <p:cNvSpPr>
            <a:spLocks noGrp="1"/>
          </p:cNvSpPr>
          <p:nvPr>
            <p:ph type="ftr" sz="quarter" idx="11"/>
          </p:nvPr>
        </p:nvSpPr>
        <p:spPr/>
        <p:txBody>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762000" y="301625"/>
            <a:ext cx="7772400" cy="749300"/>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lIns="92075" tIns="46038" rIns="92075" bIns="46038"/>
          <a:lstStyle/>
          <a:p>
            <a:r>
              <a:rPr lang="en-US" sz="4000" i="1">
                <a:solidFill>
                  <a:schemeClr val="hlink"/>
                </a:solidFill>
              </a:rPr>
              <a:t>Solving the Example Problem - 4</a:t>
            </a:r>
          </a:p>
        </p:txBody>
      </p:sp>
      <p:sp>
        <p:nvSpPr>
          <p:cNvPr id="46083" name="Freeform 3"/>
          <p:cNvSpPr>
            <a:spLocks/>
          </p:cNvSpPr>
          <p:nvPr/>
        </p:nvSpPr>
        <p:spPr bwMode="auto">
          <a:xfrm>
            <a:off x="2460625" y="1333500"/>
            <a:ext cx="866775" cy="808038"/>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4 w 546"/>
              <a:gd name="T11" fmla="*/ 44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4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3 h 509"/>
              <a:gd name="T38" fmla="*/ 46 w 546"/>
              <a:gd name="T39" fmla="*/ 396 h 509"/>
              <a:gd name="T40" fmla="*/ 79 w 546"/>
              <a:gd name="T41" fmla="*/ 433 h 509"/>
              <a:gd name="T42" fmla="*/ 120 w 546"/>
              <a:gd name="T43" fmla="*/ 464 h 509"/>
              <a:gd name="T44" fmla="*/ 166 w 546"/>
              <a:gd name="T45" fmla="*/ 488 h 509"/>
              <a:gd name="T46" fmla="*/ 217 w 546"/>
              <a:gd name="T47" fmla="*/ 503 h 509"/>
              <a:gd name="T48" fmla="*/ 272 w 546"/>
              <a:gd name="T49" fmla="*/ 508 h 509"/>
              <a:gd name="T50" fmla="*/ 327 w 546"/>
              <a:gd name="T51" fmla="*/ 503 h 509"/>
              <a:gd name="T52" fmla="*/ 378 w 546"/>
              <a:gd name="T53" fmla="*/ 488 h 509"/>
              <a:gd name="T54" fmla="*/ 424 w 546"/>
              <a:gd name="T55" fmla="*/ 464 h 509"/>
              <a:gd name="T56" fmla="*/ 465 w 546"/>
              <a:gd name="T57" fmla="*/ 433 h 509"/>
              <a:gd name="T58" fmla="*/ 498 w 546"/>
              <a:gd name="T59" fmla="*/ 396 h 509"/>
              <a:gd name="T60" fmla="*/ 523 w 546"/>
              <a:gd name="T61" fmla="*/ 353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4" y="44"/>
                </a:lnTo>
                <a:lnTo>
                  <a:pt x="378" y="20"/>
                </a:lnTo>
                <a:lnTo>
                  <a:pt x="327" y="5"/>
                </a:lnTo>
                <a:lnTo>
                  <a:pt x="272" y="0"/>
                </a:lnTo>
                <a:lnTo>
                  <a:pt x="217" y="5"/>
                </a:lnTo>
                <a:lnTo>
                  <a:pt x="166" y="20"/>
                </a:lnTo>
                <a:lnTo>
                  <a:pt x="120" y="44"/>
                </a:lnTo>
                <a:lnTo>
                  <a:pt x="79" y="74"/>
                </a:lnTo>
                <a:lnTo>
                  <a:pt x="46" y="112"/>
                </a:lnTo>
                <a:lnTo>
                  <a:pt x="21" y="155"/>
                </a:lnTo>
                <a:lnTo>
                  <a:pt x="5" y="203"/>
                </a:lnTo>
                <a:lnTo>
                  <a:pt x="0" y="254"/>
                </a:lnTo>
                <a:lnTo>
                  <a:pt x="5" y="305"/>
                </a:lnTo>
                <a:lnTo>
                  <a:pt x="21" y="353"/>
                </a:lnTo>
                <a:lnTo>
                  <a:pt x="46" y="396"/>
                </a:lnTo>
                <a:lnTo>
                  <a:pt x="79" y="433"/>
                </a:lnTo>
                <a:lnTo>
                  <a:pt x="120" y="464"/>
                </a:lnTo>
                <a:lnTo>
                  <a:pt x="166" y="488"/>
                </a:lnTo>
                <a:lnTo>
                  <a:pt x="217" y="503"/>
                </a:lnTo>
                <a:lnTo>
                  <a:pt x="272" y="508"/>
                </a:lnTo>
                <a:lnTo>
                  <a:pt x="327" y="503"/>
                </a:lnTo>
                <a:lnTo>
                  <a:pt x="378" y="488"/>
                </a:lnTo>
                <a:lnTo>
                  <a:pt x="424" y="464"/>
                </a:lnTo>
                <a:lnTo>
                  <a:pt x="465" y="433"/>
                </a:lnTo>
                <a:lnTo>
                  <a:pt x="498" y="396"/>
                </a:lnTo>
                <a:lnTo>
                  <a:pt x="523" y="353"/>
                </a:lnTo>
                <a:lnTo>
                  <a:pt x="539" y="305"/>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84" name="Rectangle 4"/>
          <p:cNvSpPr>
            <a:spLocks noChangeArrowheads="1"/>
          </p:cNvSpPr>
          <p:nvPr/>
        </p:nvSpPr>
        <p:spPr bwMode="auto">
          <a:xfrm>
            <a:off x="2673350" y="1500188"/>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2</a:t>
            </a:r>
          </a:p>
        </p:txBody>
      </p:sp>
      <p:sp>
        <p:nvSpPr>
          <p:cNvPr id="46085" name="Freeform 5"/>
          <p:cNvSpPr>
            <a:spLocks/>
          </p:cNvSpPr>
          <p:nvPr/>
        </p:nvSpPr>
        <p:spPr bwMode="auto">
          <a:xfrm>
            <a:off x="1630363" y="4487863"/>
            <a:ext cx="866775" cy="806450"/>
          </a:xfrm>
          <a:custGeom>
            <a:avLst/>
            <a:gdLst>
              <a:gd name="T0" fmla="*/ 545 w 546"/>
              <a:gd name="T1" fmla="*/ 254 h 508"/>
              <a:gd name="T2" fmla="*/ 539 w 546"/>
              <a:gd name="T3" fmla="*/ 202 h 508"/>
              <a:gd name="T4" fmla="*/ 523 w 546"/>
              <a:gd name="T5" fmla="*/ 155 h 508"/>
              <a:gd name="T6" fmla="*/ 498 w 546"/>
              <a:gd name="T7" fmla="*/ 112 h 508"/>
              <a:gd name="T8" fmla="*/ 465 w 546"/>
              <a:gd name="T9" fmla="*/ 74 h 508"/>
              <a:gd name="T10" fmla="*/ 425 w 546"/>
              <a:gd name="T11" fmla="*/ 43 h 508"/>
              <a:gd name="T12" fmla="*/ 378 w 546"/>
              <a:gd name="T13" fmla="*/ 19 h 508"/>
              <a:gd name="T14" fmla="*/ 327 w 546"/>
              <a:gd name="T15" fmla="*/ 5 h 508"/>
              <a:gd name="T16" fmla="*/ 273 w 546"/>
              <a:gd name="T17" fmla="*/ 0 h 508"/>
              <a:gd name="T18" fmla="*/ 217 w 546"/>
              <a:gd name="T19" fmla="*/ 5 h 508"/>
              <a:gd name="T20" fmla="*/ 166 w 546"/>
              <a:gd name="T21" fmla="*/ 19 h 508"/>
              <a:gd name="T22" fmla="*/ 120 w 546"/>
              <a:gd name="T23" fmla="*/ 43 h 508"/>
              <a:gd name="T24" fmla="*/ 79 w 546"/>
              <a:gd name="T25" fmla="*/ 74 h 508"/>
              <a:gd name="T26" fmla="*/ 46 w 546"/>
              <a:gd name="T27" fmla="*/ 112 h 508"/>
              <a:gd name="T28" fmla="*/ 21 w 546"/>
              <a:gd name="T29" fmla="*/ 155 h 508"/>
              <a:gd name="T30" fmla="*/ 5 w 546"/>
              <a:gd name="T31" fmla="*/ 202 h 508"/>
              <a:gd name="T32" fmla="*/ 0 w 546"/>
              <a:gd name="T33" fmla="*/ 254 h 508"/>
              <a:gd name="T34" fmla="*/ 5 w 546"/>
              <a:gd name="T35" fmla="*/ 304 h 508"/>
              <a:gd name="T36" fmla="*/ 21 w 546"/>
              <a:gd name="T37" fmla="*/ 352 h 508"/>
              <a:gd name="T38" fmla="*/ 46 w 546"/>
              <a:gd name="T39" fmla="*/ 395 h 508"/>
              <a:gd name="T40" fmla="*/ 79 w 546"/>
              <a:gd name="T41" fmla="*/ 433 h 508"/>
              <a:gd name="T42" fmla="*/ 120 w 546"/>
              <a:gd name="T43" fmla="*/ 464 h 508"/>
              <a:gd name="T44" fmla="*/ 166 w 546"/>
              <a:gd name="T45" fmla="*/ 487 h 508"/>
              <a:gd name="T46" fmla="*/ 217 w 546"/>
              <a:gd name="T47" fmla="*/ 502 h 508"/>
              <a:gd name="T48" fmla="*/ 273 w 546"/>
              <a:gd name="T49" fmla="*/ 507 h 508"/>
              <a:gd name="T50" fmla="*/ 327 w 546"/>
              <a:gd name="T51" fmla="*/ 502 h 508"/>
              <a:gd name="T52" fmla="*/ 378 w 546"/>
              <a:gd name="T53" fmla="*/ 487 h 508"/>
              <a:gd name="T54" fmla="*/ 425 w 546"/>
              <a:gd name="T55" fmla="*/ 464 h 508"/>
              <a:gd name="T56" fmla="*/ 465 w 546"/>
              <a:gd name="T57" fmla="*/ 433 h 508"/>
              <a:gd name="T58" fmla="*/ 498 w 546"/>
              <a:gd name="T59" fmla="*/ 395 h 508"/>
              <a:gd name="T60" fmla="*/ 523 w 546"/>
              <a:gd name="T61" fmla="*/ 352 h 508"/>
              <a:gd name="T62" fmla="*/ 539 w 546"/>
              <a:gd name="T63" fmla="*/ 304 h 508"/>
              <a:gd name="T64" fmla="*/ 545 w 546"/>
              <a:gd name="T65" fmla="*/ 254 h 508"/>
              <a:gd name="T66" fmla="*/ 545 w 546"/>
              <a:gd name="T67" fmla="*/ 254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8">
                <a:moveTo>
                  <a:pt x="545" y="254"/>
                </a:moveTo>
                <a:lnTo>
                  <a:pt x="539" y="202"/>
                </a:lnTo>
                <a:lnTo>
                  <a:pt x="523" y="155"/>
                </a:lnTo>
                <a:lnTo>
                  <a:pt x="498" y="112"/>
                </a:lnTo>
                <a:lnTo>
                  <a:pt x="465" y="74"/>
                </a:lnTo>
                <a:lnTo>
                  <a:pt x="425" y="43"/>
                </a:lnTo>
                <a:lnTo>
                  <a:pt x="378" y="19"/>
                </a:lnTo>
                <a:lnTo>
                  <a:pt x="327" y="5"/>
                </a:lnTo>
                <a:lnTo>
                  <a:pt x="273" y="0"/>
                </a:lnTo>
                <a:lnTo>
                  <a:pt x="217" y="5"/>
                </a:lnTo>
                <a:lnTo>
                  <a:pt x="166" y="19"/>
                </a:lnTo>
                <a:lnTo>
                  <a:pt x="120" y="43"/>
                </a:lnTo>
                <a:lnTo>
                  <a:pt x="79" y="74"/>
                </a:lnTo>
                <a:lnTo>
                  <a:pt x="46" y="112"/>
                </a:lnTo>
                <a:lnTo>
                  <a:pt x="21" y="155"/>
                </a:lnTo>
                <a:lnTo>
                  <a:pt x="5" y="202"/>
                </a:lnTo>
                <a:lnTo>
                  <a:pt x="0" y="254"/>
                </a:lnTo>
                <a:lnTo>
                  <a:pt x="5" y="304"/>
                </a:lnTo>
                <a:lnTo>
                  <a:pt x="21" y="352"/>
                </a:lnTo>
                <a:lnTo>
                  <a:pt x="46" y="395"/>
                </a:lnTo>
                <a:lnTo>
                  <a:pt x="79" y="433"/>
                </a:lnTo>
                <a:lnTo>
                  <a:pt x="120" y="464"/>
                </a:lnTo>
                <a:lnTo>
                  <a:pt x="166" y="487"/>
                </a:lnTo>
                <a:lnTo>
                  <a:pt x="217" y="502"/>
                </a:lnTo>
                <a:lnTo>
                  <a:pt x="273" y="507"/>
                </a:lnTo>
                <a:lnTo>
                  <a:pt x="327" y="502"/>
                </a:lnTo>
                <a:lnTo>
                  <a:pt x="378" y="487"/>
                </a:lnTo>
                <a:lnTo>
                  <a:pt x="425" y="464"/>
                </a:lnTo>
                <a:lnTo>
                  <a:pt x="465" y="433"/>
                </a:lnTo>
                <a:lnTo>
                  <a:pt x="498" y="395"/>
                </a:lnTo>
                <a:lnTo>
                  <a:pt x="523" y="352"/>
                </a:lnTo>
                <a:lnTo>
                  <a:pt x="539" y="304"/>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86" name="Rectangle 6"/>
          <p:cNvSpPr>
            <a:spLocks noChangeArrowheads="1"/>
          </p:cNvSpPr>
          <p:nvPr/>
        </p:nvSpPr>
        <p:spPr bwMode="auto">
          <a:xfrm>
            <a:off x="1844675" y="4654550"/>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3</a:t>
            </a:r>
          </a:p>
        </p:txBody>
      </p:sp>
      <p:sp>
        <p:nvSpPr>
          <p:cNvPr id="46087" name="Freeform 7"/>
          <p:cNvSpPr>
            <a:spLocks/>
          </p:cNvSpPr>
          <p:nvPr/>
        </p:nvSpPr>
        <p:spPr bwMode="auto">
          <a:xfrm>
            <a:off x="4027488" y="3144838"/>
            <a:ext cx="866775" cy="808037"/>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5 w 546"/>
              <a:gd name="T11" fmla="*/ 43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3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2 h 509"/>
              <a:gd name="T38" fmla="*/ 46 w 546"/>
              <a:gd name="T39" fmla="*/ 395 h 509"/>
              <a:gd name="T40" fmla="*/ 79 w 546"/>
              <a:gd name="T41" fmla="*/ 433 h 509"/>
              <a:gd name="T42" fmla="*/ 120 w 546"/>
              <a:gd name="T43" fmla="*/ 464 h 509"/>
              <a:gd name="T44" fmla="*/ 166 w 546"/>
              <a:gd name="T45" fmla="*/ 488 h 509"/>
              <a:gd name="T46" fmla="*/ 217 w 546"/>
              <a:gd name="T47" fmla="*/ 502 h 509"/>
              <a:gd name="T48" fmla="*/ 272 w 546"/>
              <a:gd name="T49" fmla="*/ 508 h 509"/>
              <a:gd name="T50" fmla="*/ 327 w 546"/>
              <a:gd name="T51" fmla="*/ 502 h 509"/>
              <a:gd name="T52" fmla="*/ 378 w 546"/>
              <a:gd name="T53" fmla="*/ 488 h 509"/>
              <a:gd name="T54" fmla="*/ 425 w 546"/>
              <a:gd name="T55" fmla="*/ 464 h 509"/>
              <a:gd name="T56" fmla="*/ 465 w 546"/>
              <a:gd name="T57" fmla="*/ 433 h 509"/>
              <a:gd name="T58" fmla="*/ 498 w 546"/>
              <a:gd name="T59" fmla="*/ 395 h 509"/>
              <a:gd name="T60" fmla="*/ 523 w 546"/>
              <a:gd name="T61" fmla="*/ 352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5" y="43"/>
                </a:lnTo>
                <a:lnTo>
                  <a:pt x="378" y="20"/>
                </a:lnTo>
                <a:lnTo>
                  <a:pt x="327" y="5"/>
                </a:lnTo>
                <a:lnTo>
                  <a:pt x="272" y="0"/>
                </a:lnTo>
                <a:lnTo>
                  <a:pt x="217" y="5"/>
                </a:lnTo>
                <a:lnTo>
                  <a:pt x="166" y="20"/>
                </a:lnTo>
                <a:lnTo>
                  <a:pt x="120" y="43"/>
                </a:lnTo>
                <a:lnTo>
                  <a:pt x="79" y="74"/>
                </a:lnTo>
                <a:lnTo>
                  <a:pt x="46" y="112"/>
                </a:lnTo>
                <a:lnTo>
                  <a:pt x="21" y="155"/>
                </a:lnTo>
                <a:lnTo>
                  <a:pt x="5" y="203"/>
                </a:lnTo>
                <a:lnTo>
                  <a:pt x="0" y="254"/>
                </a:lnTo>
                <a:lnTo>
                  <a:pt x="5" y="305"/>
                </a:lnTo>
                <a:lnTo>
                  <a:pt x="21" y="352"/>
                </a:lnTo>
                <a:lnTo>
                  <a:pt x="46" y="395"/>
                </a:lnTo>
                <a:lnTo>
                  <a:pt x="79" y="433"/>
                </a:lnTo>
                <a:lnTo>
                  <a:pt x="120" y="464"/>
                </a:lnTo>
                <a:lnTo>
                  <a:pt x="166" y="488"/>
                </a:lnTo>
                <a:lnTo>
                  <a:pt x="217" y="502"/>
                </a:lnTo>
                <a:lnTo>
                  <a:pt x="272" y="508"/>
                </a:lnTo>
                <a:lnTo>
                  <a:pt x="327" y="502"/>
                </a:lnTo>
                <a:lnTo>
                  <a:pt x="378" y="488"/>
                </a:lnTo>
                <a:lnTo>
                  <a:pt x="425" y="464"/>
                </a:lnTo>
                <a:lnTo>
                  <a:pt x="465" y="433"/>
                </a:lnTo>
                <a:lnTo>
                  <a:pt x="498" y="395"/>
                </a:lnTo>
                <a:lnTo>
                  <a:pt x="523" y="352"/>
                </a:lnTo>
                <a:lnTo>
                  <a:pt x="539" y="305"/>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88" name="Rectangle 8"/>
          <p:cNvSpPr>
            <a:spLocks noChangeArrowheads="1"/>
          </p:cNvSpPr>
          <p:nvPr/>
        </p:nvSpPr>
        <p:spPr bwMode="auto">
          <a:xfrm>
            <a:off x="4241800" y="3311525"/>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1</a:t>
            </a:r>
          </a:p>
        </p:txBody>
      </p:sp>
      <p:sp>
        <p:nvSpPr>
          <p:cNvPr id="46089" name="Freeform 9"/>
          <p:cNvSpPr>
            <a:spLocks/>
          </p:cNvSpPr>
          <p:nvPr/>
        </p:nvSpPr>
        <p:spPr bwMode="auto">
          <a:xfrm>
            <a:off x="6272213" y="1287463"/>
            <a:ext cx="866775" cy="808037"/>
          </a:xfrm>
          <a:custGeom>
            <a:avLst/>
            <a:gdLst>
              <a:gd name="T0" fmla="*/ 545 w 546"/>
              <a:gd name="T1" fmla="*/ 254 h 509"/>
              <a:gd name="T2" fmla="*/ 540 w 546"/>
              <a:gd name="T3" fmla="*/ 203 h 509"/>
              <a:gd name="T4" fmla="*/ 524 w 546"/>
              <a:gd name="T5" fmla="*/ 155 h 509"/>
              <a:gd name="T6" fmla="*/ 498 w 546"/>
              <a:gd name="T7" fmla="*/ 112 h 509"/>
              <a:gd name="T8" fmla="*/ 465 w 546"/>
              <a:gd name="T9" fmla="*/ 74 h 509"/>
              <a:gd name="T10" fmla="*/ 425 w 546"/>
              <a:gd name="T11" fmla="*/ 44 h 509"/>
              <a:gd name="T12" fmla="*/ 379 w 546"/>
              <a:gd name="T13" fmla="*/ 20 h 509"/>
              <a:gd name="T14" fmla="*/ 327 w 546"/>
              <a:gd name="T15" fmla="*/ 5 h 509"/>
              <a:gd name="T16" fmla="*/ 273 w 546"/>
              <a:gd name="T17" fmla="*/ 0 h 509"/>
              <a:gd name="T18" fmla="*/ 218 w 546"/>
              <a:gd name="T19" fmla="*/ 5 h 509"/>
              <a:gd name="T20" fmla="*/ 167 w 546"/>
              <a:gd name="T21" fmla="*/ 20 h 509"/>
              <a:gd name="T22" fmla="*/ 120 w 546"/>
              <a:gd name="T23" fmla="*/ 44 h 509"/>
              <a:gd name="T24" fmla="*/ 80 w 546"/>
              <a:gd name="T25" fmla="*/ 74 h 509"/>
              <a:gd name="T26" fmla="*/ 47 w 546"/>
              <a:gd name="T27" fmla="*/ 112 h 509"/>
              <a:gd name="T28" fmla="*/ 22 w 546"/>
              <a:gd name="T29" fmla="*/ 155 h 509"/>
              <a:gd name="T30" fmla="*/ 6 w 546"/>
              <a:gd name="T31" fmla="*/ 203 h 509"/>
              <a:gd name="T32" fmla="*/ 0 w 546"/>
              <a:gd name="T33" fmla="*/ 254 h 509"/>
              <a:gd name="T34" fmla="*/ 6 w 546"/>
              <a:gd name="T35" fmla="*/ 305 h 509"/>
              <a:gd name="T36" fmla="*/ 22 w 546"/>
              <a:gd name="T37" fmla="*/ 353 h 509"/>
              <a:gd name="T38" fmla="*/ 47 w 546"/>
              <a:gd name="T39" fmla="*/ 396 h 509"/>
              <a:gd name="T40" fmla="*/ 80 w 546"/>
              <a:gd name="T41" fmla="*/ 433 h 509"/>
              <a:gd name="T42" fmla="*/ 120 w 546"/>
              <a:gd name="T43" fmla="*/ 464 h 509"/>
              <a:gd name="T44" fmla="*/ 167 w 546"/>
              <a:gd name="T45" fmla="*/ 488 h 509"/>
              <a:gd name="T46" fmla="*/ 218 w 546"/>
              <a:gd name="T47" fmla="*/ 503 h 509"/>
              <a:gd name="T48" fmla="*/ 273 w 546"/>
              <a:gd name="T49" fmla="*/ 508 h 509"/>
              <a:gd name="T50" fmla="*/ 327 w 546"/>
              <a:gd name="T51" fmla="*/ 503 h 509"/>
              <a:gd name="T52" fmla="*/ 379 w 546"/>
              <a:gd name="T53" fmla="*/ 488 h 509"/>
              <a:gd name="T54" fmla="*/ 425 w 546"/>
              <a:gd name="T55" fmla="*/ 464 h 509"/>
              <a:gd name="T56" fmla="*/ 465 w 546"/>
              <a:gd name="T57" fmla="*/ 433 h 509"/>
              <a:gd name="T58" fmla="*/ 498 w 546"/>
              <a:gd name="T59" fmla="*/ 396 h 509"/>
              <a:gd name="T60" fmla="*/ 524 w 546"/>
              <a:gd name="T61" fmla="*/ 353 h 509"/>
              <a:gd name="T62" fmla="*/ 540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40" y="203"/>
                </a:lnTo>
                <a:lnTo>
                  <a:pt x="524" y="155"/>
                </a:lnTo>
                <a:lnTo>
                  <a:pt x="498" y="112"/>
                </a:lnTo>
                <a:lnTo>
                  <a:pt x="465" y="74"/>
                </a:lnTo>
                <a:lnTo>
                  <a:pt x="425" y="44"/>
                </a:lnTo>
                <a:lnTo>
                  <a:pt x="379" y="20"/>
                </a:lnTo>
                <a:lnTo>
                  <a:pt x="327" y="5"/>
                </a:lnTo>
                <a:lnTo>
                  <a:pt x="273" y="0"/>
                </a:lnTo>
                <a:lnTo>
                  <a:pt x="218" y="5"/>
                </a:lnTo>
                <a:lnTo>
                  <a:pt x="167" y="20"/>
                </a:lnTo>
                <a:lnTo>
                  <a:pt x="120" y="44"/>
                </a:lnTo>
                <a:lnTo>
                  <a:pt x="80" y="74"/>
                </a:lnTo>
                <a:lnTo>
                  <a:pt x="47" y="112"/>
                </a:lnTo>
                <a:lnTo>
                  <a:pt x="22" y="155"/>
                </a:lnTo>
                <a:lnTo>
                  <a:pt x="6" y="203"/>
                </a:lnTo>
                <a:lnTo>
                  <a:pt x="0" y="254"/>
                </a:lnTo>
                <a:lnTo>
                  <a:pt x="6" y="305"/>
                </a:lnTo>
                <a:lnTo>
                  <a:pt x="22" y="353"/>
                </a:lnTo>
                <a:lnTo>
                  <a:pt x="47" y="396"/>
                </a:lnTo>
                <a:lnTo>
                  <a:pt x="80" y="433"/>
                </a:lnTo>
                <a:lnTo>
                  <a:pt x="120" y="464"/>
                </a:lnTo>
                <a:lnTo>
                  <a:pt x="167" y="488"/>
                </a:lnTo>
                <a:lnTo>
                  <a:pt x="218" y="503"/>
                </a:lnTo>
                <a:lnTo>
                  <a:pt x="273" y="508"/>
                </a:lnTo>
                <a:lnTo>
                  <a:pt x="327" y="503"/>
                </a:lnTo>
                <a:lnTo>
                  <a:pt x="379" y="488"/>
                </a:lnTo>
                <a:lnTo>
                  <a:pt x="425" y="464"/>
                </a:lnTo>
                <a:lnTo>
                  <a:pt x="465" y="433"/>
                </a:lnTo>
                <a:lnTo>
                  <a:pt x="498" y="396"/>
                </a:lnTo>
                <a:lnTo>
                  <a:pt x="524" y="353"/>
                </a:lnTo>
                <a:lnTo>
                  <a:pt x="540" y="305"/>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0" name="Rectangle 10"/>
          <p:cNvSpPr>
            <a:spLocks noChangeArrowheads="1"/>
          </p:cNvSpPr>
          <p:nvPr/>
        </p:nvSpPr>
        <p:spPr bwMode="auto">
          <a:xfrm>
            <a:off x="6488113" y="1454150"/>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4</a:t>
            </a:r>
          </a:p>
        </p:txBody>
      </p:sp>
      <p:sp>
        <p:nvSpPr>
          <p:cNvPr id="46091" name="Freeform 11"/>
          <p:cNvSpPr>
            <a:spLocks/>
          </p:cNvSpPr>
          <p:nvPr/>
        </p:nvSpPr>
        <p:spPr bwMode="auto">
          <a:xfrm>
            <a:off x="6670675" y="3343275"/>
            <a:ext cx="866775" cy="808038"/>
          </a:xfrm>
          <a:custGeom>
            <a:avLst/>
            <a:gdLst>
              <a:gd name="T0" fmla="*/ 545 w 546"/>
              <a:gd name="T1" fmla="*/ 254 h 509"/>
              <a:gd name="T2" fmla="*/ 540 w 546"/>
              <a:gd name="T3" fmla="*/ 203 h 509"/>
              <a:gd name="T4" fmla="*/ 524 w 546"/>
              <a:gd name="T5" fmla="*/ 155 h 509"/>
              <a:gd name="T6" fmla="*/ 498 w 546"/>
              <a:gd name="T7" fmla="*/ 112 h 509"/>
              <a:gd name="T8" fmla="*/ 465 w 546"/>
              <a:gd name="T9" fmla="*/ 74 h 509"/>
              <a:gd name="T10" fmla="*/ 425 w 546"/>
              <a:gd name="T11" fmla="*/ 43 h 509"/>
              <a:gd name="T12" fmla="*/ 379 w 546"/>
              <a:gd name="T13" fmla="*/ 20 h 509"/>
              <a:gd name="T14" fmla="*/ 327 w 546"/>
              <a:gd name="T15" fmla="*/ 5 h 509"/>
              <a:gd name="T16" fmla="*/ 273 w 546"/>
              <a:gd name="T17" fmla="*/ 0 h 509"/>
              <a:gd name="T18" fmla="*/ 218 w 546"/>
              <a:gd name="T19" fmla="*/ 5 h 509"/>
              <a:gd name="T20" fmla="*/ 166 w 546"/>
              <a:gd name="T21" fmla="*/ 20 h 509"/>
              <a:gd name="T22" fmla="*/ 120 w 546"/>
              <a:gd name="T23" fmla="*/ 43 h 509"/>
              <a:gd name="T24" fmla="*/ 80 w 546"/>
              <a:gd name="T25" fmla="*/ 74 h 509"/>
              <a:gd name="T26" fmla="*/ 47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2 h 509"/>
              <a:gd name="T38" fmla="*/ 47 w 546"/>
              <a:gd name="T39" fmla="*/ 396 h 509"/>
              <a:gd name="T40" fmla="*/ 80 w 546"/>
              <a:gd name="T41" fmla="*/ 433 h 509"/>
              <a:gd name="T42" fmla="*/ 120 w 546"/>
              <a:gd name="T43" fmla="*/ 464 h 509"/>
              <a:gd name="T44" fmla="*/ 166 w 546"/>
              <a:gd name="T45" fmla="*/ 488 h 509"/>
              <a:gd name="T46" fmla="*/ 218 w 546"/>
              <a:gd name="T47" fmla="*/ 502 h 509"/>
              <a:gd name="T48" fmla="*/ 273 w 546"/>
              <a:gd name="T49" fmla="*/ 508 h 509"/>
              <a:gd name="T50" fmla="*/ 327 w 546"/>
              <a:gd name="T51" fmla="*/ 502 h 509"/>
              <a:gd name="T52" fmla="*/ 379 w 546"/>
              <a:gd name="T53" fmla="*/ 488 h 509"/>
              <a:gd name="T54" fmla="*/ 425 w 546"/>
              <a:gd name="T55" fmla="*/ 464 h 509"/>
              <a:gd name="T56" fmla="*/ 465 w 546"/>
              <a:gd name="T57" fmla="*/ 433 h 509"/>
              <a:gd name="T58" fmla="*/ 498 w 546"/>
              <a:gd name="T59" fmla="*/ 396 h 509"/>
              <a:gd name="T60" fmla="*/ 524 w 546"/>
              <a:gd name="T61" fmla="*/ 352 h 509"/>
              <a:gd name="T62" fmla="*/ 540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40" y="203"/>
                </a:lnTo>
                <a:lnTo>
                  <a:pt x="524" y="155"/>
                </a:lnTo>
                <a:lnTo>
                  <a:pt x="498" y="112"/>
                </a:lnTo>
                <a:lnTo>
                  <a:pt x="465" y="74"/>
                </a:lnTo>
                <a:lnTo>
                  <a:pt x="425" y="43"/>
                </a:lnTo>
                <a:lnTo>
                  <a:pt x="379" y="20"/>
                </a:lnTo>
                <a:lnTo>
                  <a:pt x="327" y="5"/>
                </a:lnTo>
                <a:lnTo>
                  <a:pt x="273" y="0"/>
                </a:lnTo>
                <a:lnTo>
                  <a:pt x="218" y="5"/>
                </a:lnTo>
                <a:lnTo>
                  <a:pt x="166" y="20"/>
                </a:lnTo>
                <a:lnTo>
                  <a:pt x="120" y="43"/>
                </a:lnTo>
                <a:lnTo>
                  <a:pt x="80" y="74"/>
                </a:lnTo>
                <a:lnTo>
                  <a:pt x="47" y="112"/>
                </a:lnTo>
                <a:lnTo>
                  <a:pt x="21" y="155"/>
                </a:lnTo>
                <a:lnTo>
                  <a:pt x="5" y="203"/>
                </a:lnTo>
                <a:lnTo>
                  <a:pt x="0" y="254"/>
                </a:lnTo>
                <a:lnTo>
                  <a:pt x="5" y="305"/>
                </a:lnTo>
                <a:lnTo>
                  <a:pt x="21" y="352"/>
                </a:lnTo>
                <a:lnTo>
                  <a:pt x="47" y="396"/>
                </a:lnTo>
                <a:lnTo>
                  <a:pt x="80" y="433"/>
                </a:lnTo>
                <a:lnTo>
                  <a:pt x="120" y="464"/>
                </a:lnTo>
                <a:lnTo>
                  <a:pt x="166" y="488"/>
                </a:lnTo>
                <a:lnTo>
                  <a:pt x="218" y="502"/>
                </a:lnTo>
                <a:lnTo>
                  <a:pt x="273" y="508"/>
                </a:lnTo>
                <a:lnTo>
                  <a:pt x="327" y="502"/>
                </a:lnTo>
                <a:lnTo>
                  <a:pt x="379" y="488"/>
                </a:lnTo>
                <a:lnTo>
                  <a:pt x="425" y="464"/>
                </a:lnTo>
                <a:lnTo>
                  <a:pt x="465" y="433"/>
                </a:lnTo>
                <a:lnTo>
                  <a:pt x="498" y="396"/>
                </a:lnTo>
                <a:lnTo>
                  <a:pt x="524" y="352"/>
                </a:lnTo>
                <a:lnTo>
                  <a:pt x="540" y="305"/>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2" name="Rectangle 12"/>
          <p:cNvSpPr>
            <a:spLocks noChangeArrowheads="1"/>
          </p:cNvSpPr>
          <p:nvPr/>
        </p:nvSpPr>
        <p:spPr bwMode="auto">
          <a:xfrm>
            <a:off x="6884988" y="3509963"/>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5</a:t>
            </a:r>
          </a:p>
        </p:txBody>
      </p:sp>
      <p:sp>
        <p:nvSpPr>
          <p:cNvPr id="46093" name="Freeform 13"/>
          <p:cNvSpPr>
            <a:spLocks/>
          </p:cNvSpPr>
          <p:nvPr/>
        </p:nvSpPr>
        <p:spPr bwMode="auto">
          <a:xfrm>
            <a:off x="5314950" y="4908550"/>
            <a:ext cx="866775" cy="808038"/>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4 w 546"/>
              <a:gd name="T11" fmla="*/ 44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4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3 h 509"/>
              <a:gd name="T38" fmla="*/ 46 w 546"/>
              <a:gd name="T39" fmla="*/ 396 h 509"/>
              <a:gd name="T40" fmla="*/ 79 w 546"/>
              <a:gd name="T41" fmla="*/ 433 h 509"/>
              <a:gd name="T42" fmla="*/ 120 w 546"/>
              <a:gd name="T43" fmla="*/ 464 h 509"/>
              <a:gd name="T44" fmla="*/ 166 w 546"/>
              <a:gd name="T45" fmla="*/ 488 h 509"/>
              <a:gd name="T46" fmla="*/ 217 w 546"/>
              <a:gd name="T47" fmla="*/ 503 h 509"/>
              <a:gd name="T48" fmla="*/ 272 w 546"/>
              <a:gd name="T49" fmla="*/ 508 h 509"/>
              <a:gd name="T50" fmla="*/ 327 w 546"/>
              <a:gd name="T51" fmla="*/ 503 h 509"/>
              <a:gd name="T52" fmla="*/ 378 w 546"/>
              <a:gd name="T53" fmla="*/ 488 h 509"/>
              <a:gd name="T54" fmla="*/ 424 w 546"/>
              <a:gd name="T55" fmla="*/ 464 h 509"/>
              <a:gd name="T56" fmla="*/ 465 w 546"/>
              <a:gd name="T57" fmla="*/ 433 h 509"/>
              <a:gd name="T58" fmla="*/ 498 w 546"/>
              <a:gd name="T59" fmla="*/ 396 h 509"/>
              <a:gd name="T60" fmla="*/ 523 w 546"/>
              <a:gd name="T61" fmla="*/ 353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4" y="44"/>
                </a:lnTo>
                <a:lnTo>
                  <a:pt x="378" y="20"/>
                </a:lnTo>
                <a:lnTo>
                  <a:pt x="327" y="5"/>
                </a:lnTo>
                <a:lnTo>
                  <a:pt x="272" y="0"/>
                </a:lnTo>
                <a:lnTo>
                  <a:pt x="217" y="5"/>
                </a:lnTo>
                <a:lnTo>
                  <a:pt x="166" y="20"/>
                </a:lnTo>
                <a:lnTo>
                  <a:pt x="120" y="44"/>
                </a:lnTo>
                <a:lnTo>
                  <a:pt x="79" y="74"/>
                </a:lnTo>
                <a:lnTo>
                  <a:pt x="46" y="112"/>
                </a:lnTo>
                <a:lnTo>
                  <a:pt x="21" y="155"/>
                </a:lnTo>
                <a:lnTo>
                  <a:pt x="5" y="203"/>
                </a:lnTo>
                <a:lnTo>
                  <a:pt x="0" y="254"/>
                </a:lnTo>
                <a:lnTo>
                  <a:pt x="5" y="305"/>
                </a:lnTo>
                <a:lnTo>
                  <a:pt x="21" y="353"/>
                </a:lnTo>
                <a:lnTo>
                  <a:pt x="46" y="396"/>
                </a:lnTo>
                <a:lnTo>
                  <a:pt x="79" y="433"/>
                </a:lnTo>
                <a:lnTo>
                  <a:pt x="120" y="464"/>
                </a:lnTo>
                <a:lnTo>
                  <a:pt x="166" y="488"/>
                </a:lnTo>
                <a:lnTo>
                  <a:pt x="217" y="503"/>
                </a:lnTo>
                <a:lnTo>
                  <a:pt x="272" y="508"/>
                </a:lnTo>
                <a:lnTo>
                  <a:pt x="327" y="503"/>
                </a:lnTo>
                <a:lnTo>
                  <a:pt x="378" y="488"/>
                </a:lnTo>
                <a:lnTo>
                  <a:pt x="424" y="464"/>
                </a:lnTo>
                <a:lnTo>
                  <a:pt x="465" y="433"/>
                </a:lnTo>
                <a:lnTo>
                  <a:pt x="498" y="396"/>
                </a:lnTo>
                <a:lnTo>
                  <a:pt x="523" y="353"/>
                </a:lnTo>
                <a:lnTo>
                  <a:pt x="539" y="305"/>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4" name="Rectangle 14"/>
          <p:cNvSpPr>
            <a:spLocks noChangeArrowheads="1"/>
          </p:cNvSpPr>
          <p:nvPr/>
        </p:nvSpPr>
        <p:spPr bwMode="auto">
          <a:xfrm>
            <a:off x="5529263" y="5075238"/>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6</a:t>
            </a:r>
          </a:p>
        </p:txBody>
      </p:sp>
      <p:sp>
        <p:nvSpPr>
          <p:cNvPr id="46095" name="Rectangle 15"/>
          <p:cNvSpPr>
            <a:spLocks noChangeArrowheads="1"/>
          </p:cNvSpPr>
          <p:nvPr/>
        </p:nvSpPr>
        <p:spPr bwMode="auto">
          <a:xfrm>
            <a:off x="3656013" y="2363788"/>
            <a:ext cx="6365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$100</a:t>
            </a:r>
          </a:p>
        </p:txBody>
      </p:sp>
      <p:sp>
        <p:nvSpPr>
          <p:cNvPr id="46096" name="Rectangle 16"/>
          <p:cNvSpPr>
            <a:spLocks noChangeArrowheads="1"/>
          </p:cNvSpPr>
          <p:nvPr/>
        </p:nvSpPr>
        <p:spPr bwMode="auto">
          <a:xfrm>
            <a:off x="5456238" y="3322638"/>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$80</a:t>
            </a:r>
          </a:p>
        </p:txBody>
      </p:sp>
      <p:sp>
        <p:nvSpPr>
          <p:cNvPr id="46097" name="Rectangle 17"/>
          <p:cNvSpPr>
            <a:spLocks noChangeArrowheads="1"/>
          </p:cNvSpPr>
          <p:nvPr/>
        </p:nvSpPr>
        <p:spPr bwMode="auto">
          <a:xfrm>
            <a:off x="5099050" y="2387600"/>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$85</a:t>
            </a:r>
          </a:p>
        </p:txBody>
      </p:sp>
      <p:sp>
        <p:nvSpPr>
          <p:cNvPr id="46098" name="Line 18"/>
          <p:cNvSpPr>
            <a:spLocks noChangeShapeType="1"/>
          </p:cNvSpPr>
          <p:nvPr/>
        </p:nvSpPr>
        <p:spPr bwMode="auto">
          <a:xfrm>
            <a:off x="4911725" y="3581400"/>
            <a:ext cx="1752600" cy="15398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099" name="Rectangle 19"/>
          <p:cNvSpPr>
            <a:spLocks noChangeArrowheads="1"/>
          </p:cNvSpPr>
          <p:nvPr/>
        </p:nvSpPr>
        <p:spPr bwMode="auto">
          <a:xfrm>
            <a:off x="7024688" y="2563813"/>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$75</a:t>
            </a:r>
          </a:p>
        </p:txBody>
      </p:sp>
      <p:sp>
        <p:nvSpPr>
          <p:cNvPr id="46100" name="Rectangle 20"/>
          <p:cNvSpPr>
            <a:spLocks noChangeArrowheads="1"/>
          </p:cNvSpPr>
          <p:nvPr/>
        </p:nvSpPr>
        <p:spPr bwMode="auto">
          <a:xfrm>
            <a:off x="6573838" y="4700588"/>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$50</a:t>
            </a:r>
          </a:p>
        </p:txBody>
      </p:sp>
      <p:sp>
        <p:nvSpPr>
          <p:cNvPr id="46101" name="Line 21"/>
          <p:cNvSpPr>
            <a:spLocks noChangeShapeType="1"/>
          </p:cNvSpPr>
          <p:nvPr/>
        </p:nvSpPr>
        <p:spPr bwMode="auto">
          <a:xfrm flipH="1">
            <a:off x="6051550" y="4125913"/>
            <a:ext cx="866775" cy="90170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102" name="Rectangle 22"/>
          <p:cNvSpPr>
            <a:spLocks noChangeArrowheads="1"/>
          </p:cNvSpPr>
          <p:nvPr/>
        </p:nvSpPr>
        <p:spPr bwMode="auto">
          <a:xfrm>
            <a:off x="3508375" y="5224463"/>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$65</a:t>
            </a:r>
          </a:p>
        </p:txBody>
      </p:sp>
      <p:sp>
        <p:nvSpPr>
          <p:cNvPr id="46103" name="Line 23"/>
          <p:cNvSpPr>
            <a:spLocks noChangeShapeType="1"/>
          </p:cNvSpPr>
          <p:nvPr/>
        </p:nvSpPr>
        <p:spPr bwMode="auto">
          <a:xfrm>
            <a:off x="2479675" y="4891088"/>
            <a:ext cx="2824163" cy="42545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104" name="Rectangle 24"/>
          <p:cNvSpPr>
            <a:spLocks noChangeArrowheads="1"/>
          </p:cNvSpPr>
          <p:nvPr/>
        </p:nvSpPr>
        <p:spPr bwMode="auto">
          <a:xfrm>
            <a:off x="1868488" y="2865438"/>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$40</a:t>
            </a:r>
          </a:p>
        </p:txBody>
      </p:sp>
      <p:sp>
        <p:nvSpPr>
          <p:cNvPr id="2" name="Footer Placeholder 1"/>
          <p:cNvSpPr>
            <a:spLocks noGrp="1"/>
          </p:cNvSpPr>
          <p:nvPr>
            <p:ph type="ftr" sz="quarter" idx="1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762000" y="241300"/>
            <a:ext cx="7772400" cy="749300"/>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lIns="92075" tIns="46038" rIns="92075" bIns="46038"/>
          <a:lstStyle/>
          <a:p>
            <a:r>
              <a:rPr lang="en-US" sz="4000" i="1">
                <a:solidFill>
                  <a:schemeClr val="hlink"/>
                </a:solidFill>
              </a:rPr>
              <a:t>Solving the Example Problem - 5</a:t>
            </a:r>
          </a:p>
        </p:txBody>
      </p:sp>
      <p:sp>
        <p:nvSpPr>
          <p:cNvPr id="47107" name="Freeform 3"/>
          <p:cNvSpPr>
            <a:spLocks/>
          </p:cNvSpPr>
          <p:nvPr/>
        </p:nvSpPr>
        <p:spPr bwMode="auto">
          <a:xfrm>
            <a:off x="2460625" y="1333500"/>
            <a:ext cx="866775" cy="808038"/>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4 w 546"/>
              <a:gd name="T11" fmla="*/ 44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4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3 h 509"/>
              <a:gd name="T38" fmla="*/ 46 w 546"/>
              <a:gd name="T39" fmla="*/ 396 h 509"/>
              <a:gd name="T40" fmla="*/ 79 w 546"/>
              <a:gd name="T41" fmla="*/ 433 h 509"/>
              <a:gd name="T42" fmla="*/ 120 w 546"/>
              <a:gd name="T43" fmla="*/ 464 h 509"/>
              <a:gd name="T44" fmla="*/ 166 w 546"/>
              <a:gd name="T45" fmla="*/ 488 h 509"/>
              <a:gd name="T46" fmla="*/ 217 w 546"/>
              <a:gd name="T47" fmla="*/ 503 h 509"/>
              <a:gd name="T48" fmla="*/ 272 w 546"/>
              <a:gd name="T49" fmla="*/ 508 h 509"/>
              <a:gd name="T50" fmla="*/ 327 w 546"/>
              <a:gd name="T51" fmla="*/ 503 h 509"/>
              <a:gd name="T52" fmla="*/ 378 w 546"/>
              <a:gd name="T53" fmla="*/ 488 h 509"/>
              <a:gd name="T54" fmla="*/ 424 w 546"/>
              <a:gd name="T55" fmla="*/ 464 h 509"/>
              <a:gd name="T56" fmla="*/ 465 w 546"/>
              <a:gd name="T57" fmla="*/ 433 h 509"/>
              <a:gd name="T58" fmla="*/ 498 w 546"/>
              <a:gd name="T59" fmla="*/ 396 h 509"/>
              <a:gd name="T60" fmla="*/ 523 w 546"/>
              <a:gd name="T61" fmla="*/ 353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4" y="44"/>
                </a:lnTo>
                <a:lnTo>
                  <a:pt x="378" y="20"/>
                </a:lnTo>
                <a:lnTo>
                  <a:pt x="327" y="5"/>
                </a:lnTo>
                <a:lnTo>
                  <a:pt x="272" y="0"/>
                </a:lnTo>
                <a:lnTo>
                  <a:pt x="217" y="5"/>
                </a:lnTo>
                <a:lnTo>
                  <a:pt x="166" y="20"/>
                </a:lnTo>
                <a:lnTo>
                  <a:pt x="120" y="44"/>
                </a:lnTo>
                <a:lnTo>
                  <a:pt x="79" y="74"/>
                </a:lnTo>
                <a:lnTo>
                  <a:pt x="46" y="112"/>
                </a:lnTo>
                <a:lnTo>
                  <a:pt x="21" y="155"/>
                </a:lnTo>
                <a:lnTo>
                  <a:pt x="5" y="203"/>
                </a:lnTo>
                <a:lnTo>
                  <a:pt x="0" y="254"/>
                </a:lnTo>
                <a:lnTo>
                  <a:pt x="5" y="305"/>
                </a:lnTo>
                <a:lnTo>
                  <a:pt x="21" y="353"/>
                </a:lnTo>
                <a:lnTo>
                  <a:pt x="46" y="396"/>
                </a:lnTo>
                <a:lnTo>
                  <a:pt x="79" y="433"/>
                </a:lnTo>
                <a:lnTo>
                  <a:pt x="120" y="464"/>
                </a:lnTo>
                <a:lnTo>
                  <a:pt x="166" y="488"/>
                </a:lnTo>
                <a:lnTo>
                  <a:pt x="217" y="503"/>
                </a:lnTo>
                <a:lnTo>
                  <a:pt x="272" y="508"/>
                </a:lnTo>
                <a:lnTo>
                  <a:pt x="327" y="503"/>
                </a:lnTo>
                <a:lnTo>
                  <a:pt x="378" y="488"/>
                </a:lnTo>
                <a:lnTo>
                  <a:pt x="424" y="464"/>
                </a:lnTo>
                <a:lnTo>
                  <a:pt x="465" y="433"/>
                </a:lnTo>
                <a:lnTo>
                  <a:pt x="498" y="396"/>
                </a:lnTo>
                <a:lnTo>
                  <a:pt x="523" y="353"/>
                </a:lnTo>
                <a:lnTo>
                  <a:pt x="539" y="305"/>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08" name="Rectangle 4"/>
          <p:cNvSpPr>
            <a:spLocks noChangeArrowheads="1"/>
          </p:cNvSpPr>
          <p:nvPr/>
        </p:nvSpPr>
        <p:spPr bwMode="auto">
          <a:xfrm>
            <a:off x="2673350" y="1500188"/>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2</a:t>
            </a:r>
          </a:p>
        </p:txBody>
      </p:sp>
      <p:sp>
        <p:nvSpPr>
          <p:cNvPr id="47109" name="Freeform 5"/>
          <p:cNvSpPr>
            <a:spLocks/>
          </p:cNvSpPr>
          <p:nvPr/>
        </p:nvSpPr>
        <p:spPr bwMode="auto">
          <a:xfrm>
            <a:off x="1630363" y="4487863"/>
            <a:ext cx="866775" cy="806450"/>
          </a:xfrm>
          <a:custGeom>
            <a:avLst/>
            <a:gdLst>
              <a:gd name="T0" fmla="*/ 545 w 546"/>
              <a:gd name="T1" fmla="*/ 254 h 508"/>
              <a:gd name="T2" fmla="*/ 539 w 546"/>
              <a:gd name="T3" fmla="*/ 202 h 508"/>
              <a:gd name="T4" fmla="*/ 523 w 546"/>
              <a:gd name="T5" fmla="*/ 155 h 508"/>
              <a:gd name="T6" fmla="*/ 498 w 546"/>
              <a:gd name="T7" fmla="*/ 112 h 508"/>
              <a:gd name="T8" fmla="*/ 465 w 546"/>
              <a:gd name="T9" fmla="*/ 74 h 508"/>
              <a:gd name="T10" fmla="*/ 425 w 546"/>
              <a:gd name="T11" fmla="*/ 43 h 508"/>
              <a:gd name="T12" fmla="*/ 378 w 546"/>
              <a:gd name="T13" fmla="*/ 19 h 508"/>
              <a:gd name="T14" fmla="*/ 327 w 546"/>
              <a:gd name="T15" fmla="*/ 5 h 508"/>
              <a:gd name="T16" fmla="*/ 273 w 546"/>
              <a:gd name="T17" fmla="*/ 0 h 508"/>
              <a:gd name="T18" fmla="*/ 217 w 546"/>
              <a:gd name="T19" fmla="*/ 5 h 508"/>
              <a:gd name="T20" fmla="*/ 166 w 546"/>
              <a:gd name="T21" fmla="*/ 19 h 508"/>
              <a:gd name="T22" fmla="*/ 120 w 546"/>
              <a:gd name="T23" fmla="*/ 43 h 508"/>
              <a:gd name="T24" fmla="*/ 79 w 546"/>
              <a:gd name="T25" fmla="*/ 74 h 508"/>
              <a:gd name="T26" fmla="*/ 46 w 546"/>
              <a:gd name="T27" fmla="*/ 112 h 508"/>
              <a:gd name="T28" fmla="*/ 21 w 546"/>
              <a:gd name="T29" fmla="*/ 155 h 508"/>
              <a:gd name="T30" fmla="*/ 5 w 546"/>
              <a:gd name="T31" fmla="*/ 202 h 508"/>
              <a:gd name="T32" fmla="*/ 0 w 546"/>
              <a:gd name="T33" fmla="*/ 254 h 508"/>
              <a:gd name="T34" fmla="*/ 5 w 546"/>
              <a:gd name="T35" fmla="*/ 304 h 508"/>
              <a:gd name="T36" fmla="*/ 21 w 546"/>
              <a:gd name="T37" fmla="*/ 352 h 508"/>
              <a:gd name="T38" fmla="*/ 46 w 546"/>
              <a:gd name="T39" fmla="*/ 395 h 508"/>
              <a:gd name="T40" fmla="*/ 79 w 546"/>
              <a:gd name="T41" fmla="*/ 433 h 508"/>
              <a:gd name="T42" fmla="*/ 120 w 546"/>
              <a:gd name="T43" fmla="*/ 464 h 508"/>
              <a:gd name="T44" fmla="*/ 166 w 546"/>
              <a:gd name="T45" fmla="*/ 487 h 508"/>
              <a:gd name="T46" fmla="*/ 217 w 546"/>
              <a:gd name="T47" fmla="*/ 502 h 508"/>
              <a:gd name="T48" fmla="*/ 273 w 546"/>
              <a:gd name="T49" fmla="*/ 507 h 508"/>
              <a:gd name="T50" fmla="*/ 327 w 546"/>
              <a:gd name="T51" fmla="*/ 502 h 508"/>
              <a:gd name="T52" fmla="*/ 378 w 546"/>
              <a:gd name="T53" fmla="*/ 487 h 508"/>
              <a:gd name="T54" fmla="*/ 425 w 546"/>
              <a:gd name="T55" fmla="*/ 464 h 508"/>
              <a:gd name="T56" fmla="*/ 465 w 546"/>
              <a:gd name="T57" fmla="*/ 433 h 508"/>
              <a:gd name="T58" fmla="*/ 498 w 546"/>
              <a:gd name="T59" fmla="*/ 395 h 508"/>
              <a:gd name="T60" fmla="*/ 523 w 546"/>
              <a:gd name="T61" fmla="*/ 352 h 508"/>
              <a:gd name="T62" fmla="*/ 539 w 546"/>
              <a:gd name="T63" fmla="*/ 304 h 508"/>
              <a:gd name="T64" fmla="*/ 545 w 546"/>
              <a:gd name="T65" fmla="*/ 254 h 508"/>
              <a:gd name="T66" fmla="*/ 545 w 546"/>
              <a:gd name="T67" fmla="*/ 254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8">
                <a:moveTo>
                  <a:pt x="545" y="254"/>
                </a:moveTo>
                <a:lnTo>
                  <a:pt x="539" y="202"/>
                </a:lnTo>
                <a:lnTo>
                  <a:pt x="523" y="155"/>
                </a:lnTo>
                <a:lnTo>
                  <a:pt x="498" y="112"/>
                </a:lnTo>
                <a:lnTo>
                  <a:pt x="465" y="74"/>
                </a:lnTo>
                <a:lnTo>
                  <a:pt x="425" y="43"/>
                </a:lnTo>
                <a:lnTo>
                  <a:pt x="378" y="19"/>
                </a:lnTo>
                <a:lnTo>
                  <a:pt x="327" y="5"/>
                </a:lnTo>
                <a:lnTo>
                  <a:pt x="273" y="0"/>
                </a:lnTo>
                <a:lnTo>
                  <a:pt x="217" y="5"/>
                </a:lnTo>
                <a:lnTo>
                  <a:pt x="166" y="19"/>
                </a:lnTo>
                <a:lnTo>
                  <a:pt x="120" y="43"/>
                </a:lnTo>
                <a:lnTo>
                  <a:pt x="79" y="74"/>
                </a:lnTo>
                <a:lnTo>
                  <a:pt x="46" y="112"/>
                </a:lnTo>
                <a:lnTo>
                  <a:pt x="21" y="155"/>
                </a:lnTo>
                <a:lnTo>
                  <a:pt x="5" y="202"/>
                </a:lnTo>
                <a:lnTo>
                  <a:pt x="0" y="254"/>
                </a:lnTo>
                <a:lnTo>
                  <a:pt x="5" y="304"/>
                </a:lnTo>
                <a:lnTo>
                  <a:pt x="21" y="352"/>
                </a:lnTo>
                <a:lnTo>
                  <a:pt x="46" y="395"/>
                </a:lnTo>
                <a:lnTo>
                  <a:pt x="79" y="433"/>
                </a:lnTo>
                <a:lnTo>
                  <a:pt x="120" y="464"/>
                </a:lnTo>
                <a:lnTo>
                  <a:pt x="166" y="487"/>
                </a:lnTo>
                <a:lnTo>
                  <a:pt x="217" y="502"/>
                </a:lnTo>
                <a:lnTo>
                  <a:pt x="273" y="507"/>
                </a:lnTo>
                <a:lnTo>
                  <a:pt x="327" y="502"/>
                </a:lnTo>
                <a:lnTo>
                  <a:pt x="378" y="487"/>
                </a:lnTo>
                <a:lnTo>
                  <a:pt x="425" y="464"/>
                </a:lnTo>
                <a:lnTo>
                  <a:pt x="465" y="433"/>
                </a:lnTo>
                <a:lnTo>
                  <a:pt x="498" y="395"/>
                </a:lnTo>
                <a:lnTo>
                  <a:pt x="523" y="352"/>
                </a:lnTo>
                <a:lnTo>
                  <a:pt x="539" y="304"/>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0" name="Rectangle 6"/>
          <p:cNvSpPr>
            <a:spLocks noChangeArrowheads="1"/>
          </p:cNvSpPr>
          <p:nvPr/>
        </p:nvSpPr>
        <p:spPr bwMode="auto">
          <a:xfrm>
            <a:off x="1844675" y="4654550"/>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3</a:t>
            </a:r>
          </a:p>
        </p:txBody>
      </p:sp>
      <p:sp>
        <p:nvSpPr>
          <p:cNvPr id="47111" name="Freeform 7"/>
          <p:cNvSpPr>
            <a:spLocks/>
          </p:cNvSpPr>
          <p:nvPr/>
        </p:nvSpPr>
        <p:spPr bwMode="auto">
          <a:xfrm>
            <a:off x="4027488" y="3144838"/>
            <a:ext cx="866775" cy="808037"/>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5 w 546"/>
              <a:gd name="T11" fmla="*/ 43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3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2 h 509"/>
              <a:gd name="T38" fmla="*/ 46 w 546"/>
              <a:gd name="T39" fmla="*/ 395 h 509"/>
              <a:gd name="T40" fmla="*/ 79 w 546"/>
              <a:gd name="T41" fmla="*/ 433 h 509"/>
              <a:gd name="T42" fmla="*/ 120 w 546"/>
              <a:gd name="T43" fmla="*/ 464 h 509"/>
              <a:gd name="T44" fmla="*/ 166 w 546"/>
              <a:gd name="T45" fmla="*/ 488 h 509"/>
              <a:gd name="T46" fmla="*/ 217 w 546"/>
              <a:gd name="T47" fmla="*/ 502 h 509"/>
              <a:gd name="T48" fmla="*/ 272 w 546"/>
              <a:gd name="T49" fmla="*/ 508 h 509"/>
              <a:gd name="T50" fmla="*/ 327 w 546"/>
              <a:gd name="T51" fmla="*/ 502 h 509"/>
              <a:gd name="T52" fmla="*/ 378 w 546"/>
              <a:gd name="T53" fmla="*/ 488 h 509"/>
              <a:gd name="T54" fmla="*/ 425 w 546"/>
              <a:gd name="T55" fmla="*/ 464 h 509"/>
              <a:gd name="T56" fmla="*/ 465 w 546"/>
              <a:gd name="T57" fmla="*/ 433 h 509"/>
              <a:gd name="T58" fmla="*/ 498 w 546"/>
              <a:gd name="T59" fmla="*/ 395 h 509"/>
              <a:gd name="T60" fmla="*/ 523 w 546"/>
              <a:gd name="T61" fmla="*/ 352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5" y="43"/>
                </a:lnTo>
                <a:lnTo>
                  <a:pt x="378" y="20"/>
                </a:lnTo>
                <a:lnTo>
                  <a:pt x="327" y="5"/>
                </a:lnTo>
                <a:lnTo>
                  <a:pt x="272" y="0"/>
                </a:lnTo>
                <a:lnTo>
                  <a:pt x="217" y="5"/>
                </a:lnTo>
                <a:lnTo>
                  <a:pt x="166" y="20"/>
                </a:lnTo>
                <a:lnTo>
                  <a:pt x="120" y="43"/>
                </a:lnTo>
                <a:lnTo>
                  <a:pt x="79" y="74"/>
                </a:lnTo>
                <a:lnTo>
                  <a:pt x="46" y="112"/>
                </a:lnTo>
                <a:lnTo>
                  <a:pt x="21" y="155"/>
                </a:lnTo>
                <a:lnTo>
                  <a:pt x="5" y="203"/>
                </a:lnTo>
                <a:lnTo>
                  <a:pt x="0" y="254"/>
                </a:lnTo>
                <a:lnTo>
                  <a:pt x="5" y="305"/>
                </a:lnTo>
                <a:lnTo>
                  <a:pt x="21" y="352"/>
                </a:lnTo>
                <a:lnTo>
                  <a:pt x="46" y="395"/>
                </a:lnTo>
                <a:lnTo>
                  <a:pt x="79" y="433"/>
                </a:lnTo>
                <a:lnTo>
                  <a:pt x="120" y="464"/>
                </a:lnTo>
                <a:lnTo>
                  <a:pt x="166" y="488"/>
                </a:lnTo>
                <a:lnTo>
                  <a:pt x="217" y="502"/>
                </a:lnTo>
                <a:lnTo>
                  <a:pt x="272" y="508"/>
                </a:lnTo>
                <a:lnTo>
                  <a:pt x="327" y="502"/>
                </a:lnTo>
                <a:lnTo>
                  <a:pt x="378" y="488"/>
                </a:lnTo>
                <a:lnTo>
                  <a:pt x="425" y="464"/>
                </a:lnTo>
                <a:lnTo>
                  <a:pt x="465" y="433"/>
                </a:lnTo>
                <a:lnTo>
                  <a:pt x="498" y="395"/>
                </a:lnTo>
                <a:lnTo>
                  <a:pt x="523" y="352"/>
                </a:lnTo>
                <a:lnTo>
                  <a:pt x="539" y="305"/>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2" name="Rectangle 8"/>
          <p:cNvSpPr>
            <a:spLocks noChangeArrowheads="1"/>
          </p:cNvSpPr>
          <p:nvPr/>
        </p:nvSpPr>
        <p:spPr bwMode="auto">
          <a:xfrm>
            <a:off x="4241800" y="3311525"/>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1</a:t>
            </a:r>
          </a:p>
        </p:txBody>
      </p:sp>
      <p:sp>
        <p:nvSpPr>
          <p:cNvPr id="47113" name="Freeform 9"/>
          <p:cNvSpPr>
            <a:spLocks/>
          </p:cNvSpPr>
          <p:nvPr/>
        </p:nvSpPr>
        <p:spPr bwMode="auto">
          <a:xfrm>
            <a:off x="6272213" y="1287463"/>
            <a:ext cx="866775" cy="808037"/>
          </a:xfrm>
          <a:custGeom>
            <a:avLst/>
            <a:gdLst>
              <a:gd name="T0" fmla="*/ 545 w 546"/>
              <a:gd name="T1" fmla="*/ 254 h 509"/>
              <a:gd name="T2" fmla="*/ 540 w 546"/>
              <a:gd name="T3" fmla="*/ 203 h 509"/>
              <a:gd name="T4" fmla="*/ 524 w 546"/>
              <a:gd name="T5" fmla="*/ 155 h 509"/>
              <a:gd name="T6" fmla="*/ 498 w 546"/>
              <a:gd name="T7" fmla="*/ 112 h 509"/>
              <a:gd name="T8" fmla="*/ 465 w 546"/>
              <a:gd name="T9" fmla="*/ 74 h 509"/>
              <a:gd name="T10" fmla="*/ 425 w 546"/>
              <a:gd name="T11" fmla="*/ 44 h 509"/>
              <a:gd name="T12" fmla="*/ 379 w 546"/>
              <a:gd name="T13" fmla="*/ 20 h 509"/>
              <a:gd name="T14" fmla="*/ 327 w 546"/>
              <a:gd name="T15" fmla="*/ 5 h 509"/>
              <a:gd name="T16" fmla="*/ 273 w 546"/>
              <a:gd name="T17" fmla="*/ 0 h 509"/>
              <a:gd name="T18" fmla="*/ 218 w 546"/>
              <a:gd name="T19" fmla="*/ 5 h 509"/>
              <a:gd name="T20" fmla="*/ 167 w 546"/>
              <a:gd name="T21" fmla="*/ 20 h 509"/>
              <a:gd name="T22" fmla="*/ 120 w 546"/>
              <a:gd name="T23" fmla="*/ 44 h 509"/>
              <a:gd name="T24" fmla="*/ 80 w 546"/>
              <a:gd name="T25" fmla="*/ 74 h 509"/>
              <a:gd name="T26" fmla="*/ 47 w 546"/>
              <a:gd name="T27" fmla="*/ 112 h 509"/>
              <a:gd name="T28" fmla="*/ 22 w 546"/>
              <a:gd name="T29" fmla="*/ 155 h 509"/>
              <a:gd name="T30" fmla="*/ 6 w 546"/>
              <a:gd name="T31" fmla="*/ 203 h 509"/>
              <a:gd name="T32" fmla="*/ 0 w 546"/>
              <a:gd name="T33" fmla="*/ 254 h 509"/>
              <a:gd name="T34" fmla="*/ 6 w 546"/>
              <a:gd name="T35" fmla="*/ 305 h 509"/>
              <a:gd name="T36" fmla="*/ 22 w 546"/>
              <a:gd name="T37" fmla="*/ 353 h 509"/>
              <a:gd name="T38" fmla="*/ 47 w 546"/>
              <a:gd name="T39" fmla="*/ 396 h 509"/>
              <a:gd name="T40" fmla="*/ 80 w 546"/>
              <a:gd name="T41" fmla="*/ 433 h 509"/>
              <a:gd name="T42" fmla="*/ 120 w 546"/>
              <a:gd name="T43" fmla="*/ 464 h 509"/>
              <a:gd name="T44" fmla="*/ 167 w 546"/>
              <a:gd name="T45" fmla="*/ 488 h 509"/>
              <a:gd name="T46" fmla="*/ 218 w 546"/>
              <a:gd name="T47" fmla="*/ 503 h 509"/>
              <a:gd name="T48" fmla="*/ 273 w 546"/>
              <a:gd name="T49" fmla="*/ 508 h 509"/>
              <a:gd name="T50" fmla="*/ 327 w 546"/>
              <a:gd name="T51" fmla="*/ 503 h 509"/>
              <a:gd name="T52" fmla="*/ 379 w 546"/>
              <a:gd name="T53" fmla="*/ 488 h 509"/>
              <a:gd name="T54" fmla="*/ 425 w 546"/>
              <a:gd name="T55" fmla="*/ 464 h 509"/>
              <a:gd name="T56" fmla="*/ 465 w 546"/>
              <a:gd name="T57" fmla="*/ 433 h 509"/>
              <a:gd name="T58" fmla="*/ 498 w 546"/>
              <a:gd name="T59" fmla="*/ 396 h 509"/>
              <a:gd name="T60" fmla="*/ 524 w 546"/>
              <a:gd name="T61" fmla="*/ 353 h 509"/>
              <a:gd name="T62" fmla="*/ 540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40" y="203"/>
                </a:lnTo>
                <a:lnTo>
                  <a:pt x="524" y="155"/>
                </a:lnTo>
                <a:lnTo>
                  <a:pt x="498" y="112"/>
                </a:lnTo>
                <a:lnTo>
                  <a:pt x="465" y="74"/>
                </a:lnTo>
                <a:lnTo>
                  <a:pt x="425" y="44"/>
                </a:lnTo>
                <a:lnTo>
                  <a:pt x="379" y="20"/>
                </a:lnTo>
                <a:lnTo>
                  <a:pt x="327" y="5"/>
                </a:lnTo>
                <a:lnTo>
                  <a:pt x="273" y="0"/>
                </a:lnTo>
                <a:lnTo>
                  <a:pt x="218" y="5"/>
                </a:lnTo>
                <a:lnTo>
                  <a:pt x="167" y="20"/>
                </a:lnTo>
                <a:lnTo>
                  <a:pt x="120" y="44"/>
                </a:lnTo>
                <a:lnTo>
                  <a:pt x="80" y="74"/>
                </a:lnTo>
                <a:lnTo>
                  <a:pt x="47" y="112"/>
                </a:lnTo>
                <a:lnTo>
                  <a:pt x="22" y="155"/>
                </a:lnTo>
                <a:lnTo>
                  <a:pt x="6" y="203"/>
                </a:lnTo>
                <a:lnTo>
                  <a:pt x="0" y="254"/>
                </a:lnTo>
                <a:lnTo>
                  <a:pt x="6" y="305"/>
                </a:lnTo>
                <a:lnTo>
                  <a:pt x="22" y="353"/>
                </a:lnTo>
                <a:lnTo>
                  <a:pt x="47" y="396"/>
                </a:lnTo>
                <a:lnTo>
                  <a:pt x="80" y="433"/>
                </a:lnTo>
                <a:lnTo>
                  <a:pt x="120" y="464"/>
                </a:lnTo>
                <a:lnTo>
                  <a:pt x="167" y="488"/>
                </a:lnTo>
                <a:lnTo>
                  <a:pt x="218" y="503"/>
                </a:lnTo>
                <a:lnTo>
                  <a:pt x="273" y="508"/>
                </a:lnTo>
                <a:lnTo>
                  <a:pt x="327" y="503"/>
                </a:lnTo>
                <a:lnTo>
                  <a:pt x="379" y="488"/>
                </a:lnTo>
                <a:lnTo>
                  <a:pt x="425" y="464"/>
                </a:lnTo>
                <a:lnTo>
                  <a:pt x="465" y="433"/>
                </a:lnTo>
                <a:lnTo>
                  <a:pt x="498" y="396"/>
                </a:lnTo>
                <a:lnTo>
                  <a:pt x="524" y="353"/>
                </a:lnTo>
                <a:lnTo>
                  <a:pt x="540" y="305"/>
                </a:lnTo>
                <a:lnTo>
                  <a:pt x="545" y="254"/>
                </a:lnTo>
                <a:lnTo>
                  <a:pt x="545" y="254"/>
                </a:lnTo>
              </a:path>
            </a:pathLst>
          </a:custGeom>
          <a:noFill/>
          <a:ln w="254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4" name="Rectangle 10"/>
          <p:cNvSpPr>
            <a:spLocks noChangeArrowheads="1"/>
          </p:cNvSpPr>
          <p:nvPr/>
        </p:nvSpPr>
        <p:spPr bwMode="auto">
          <a:xfrm>
            <a:off x="6488113" y="1454150"/>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4</a:t>
            </a:r>
          </a:p>
        </p:txBody>
      </p:sp>
      <p:sp>
        <p:nvSpPr>
          <p:cNvPr id="47115" name="Freeform 11"/>
          <p:cNvSpPr>
            <a:spLocks/>
          </p:cNvSpPr>
          <p:nvPr/>
        </p:nvSpPr>
        <p:spPr bwMode="auto">
          <a:xfrm>
            <a:off x="6670675" y="3343275"/>
            <a:ext cx="866775" cy="808038"/>
          </a:xfrm>
          <a:custGeom>
            <a:avLst/>
            <a:gdLst>
              <a:gd name="T0" fmla="*/ 545 w 546"/>
              <a:gd name="T1" fmla="*/ 254 h 509"/>
              <a:gd name="T2" fmla="*/ 540 w 546"/>
              <a:gd name="T3" fmla="*/ 203 h 509"/>
              <a:gd name="T4" fmla="*/ 524 w 546"/>
              <a:gd name="T5" fmla="*/ 155 h 509"/>
              <a:gd name="T6" fmla="*/ 498 w 546"/>
              <a:gd name="T7" fmla="*/ 112 h 509"/>
              <a:gd name="T8" fmla="*/ 465 w 546"/>
              <a:gd name="T9" fmla="*/ 74 h 509"/>
              <a:gd name="T10" fmla="*/ 425 w 546"/>
              <a:gd name="T11" fmla="*/ 43 h 509"/>
              <a:gd name="T12" fmla="*/ 379 w 546"/>
              <a:gd name="T13" fmla="*/ 20 h 509"/>
              <a:gd name="T14" fmla="*/ 327 w 546"/>
              <a:gd name="T15" fmla="*/ 5 h 509"/>
              <a:gd name="T16" fmla="*/ 273 w 546"/>
              <a:gd name="T17" fmla="*/ 0 h 509"/>
              <a:gd name="T18" fmla="*/ 218 w 546"/>
              <a:gd name="T19" fmla="*/ 5 h 509"/>
              <a:gd name="T20" fmla="*/ 166 w 546"/>
              <a:gd name="T21" fmla="*/ 20 h 509"/>
              <a:gd name="T22" fmla="*/ 120 w 546"/>
              <a:gd name="T23" fmla="*/ 43 h 509"/>
              <a:gd name="T24" fmla="*/ 80 w 546"/>
              <a:gd name="T25" fmla="*/ 74 h 509"/>
              <a:gd name="T26" fmla="*/ 47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2 h 509"/>
              <a:gd name="T38" fmla="*/ 47 w 546"/>
              <a:gd name="T39" fmla="*/ 396 h 509"/>
              <a:gd name="T40" fmla="*/ 80 w 546"/>
              <a:gd name="T41" fmla="*/ 433 h 509"/>
              <a:gd name="T42" fmla="*/ 120 w 546"/>
              <a:gd name="T43" fmla="*/ 464 h 509"/>
              <a:gd name="T44" fmla="*/ 166 w 546"/>
              <a:gd name="T45" fmla="*/ 488 h 509"/>
              <a:gd name="T46" fmla="*/ 218 w 546"/>
              <a:gd name="T47" fmla="*/ 502 h 509"/>
              <a:gd name="T48" fmla="*/ 273 w 546"/>
              <a:gd name="T49" fmla="*/ 508 h 509"/>
              <a:gd name="T50" fmla="*/ 327 w 546"/>
              <a:gd name="T51" fmla="*/ 502 h 509"/>
              <a:gd name="T52" fmla="*/ 379 w 546"/>
              <a:gd name="T53" fmla="*/ 488 h 509"/>
              <a:gd name="T54" fmla="*/ 425 w 546"/>
              <a:gd name="T55" fmla="*/ 464 h 509"/>
              <a:gd name="T56" fmla="*/ 465 w 546"/>
              <a:gd name="T57" fmla="*/ 433 h 509"/>
              <a:gd name="T58" fmla="*/ 498 w 546"/>
              <a:gd name="T59" fmla="*/ 396 h 509"/>
              <a:gd name="T60" fmla="*/ 524 w 546"/>
              <a:gd name="T61" fmla="*/ 352 h 509"/>
              <a:gd name="T62" fmla="*/ 540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40" y="203"/>
                </a:lnTo>
                <a:lnTo>
                  <a:pt x="524" y="155"/>
                </a:lnTo>
                <a:lnTo>
                  <a:pt x="498" y="112"/>
                </a:lnTo>
                <a:lnTo>
                  <a:pt x="465" y="74"/>
                </a:lnTo>
                <a:lnTo>
                  <a:pt x="425" y="43"/>
                </a:lnTo>
                <a:lnTo>
                  <a:pt x="379" y="20"/>
                </a:lnTo>
                <a:lnTo>
                  <a:pt x="327" y="5"/>
                </a:lnTo>
                <a:lnTo>
                  <a:pt x="273" y="0"/>
                </a:lnTo>
                <a:lnTo>
                  <a:pt x="218" y="5"/>
                </a:lnTo>
                <a:lnTo>
                  <a:pt x="166" y="20"/>
                </a:lnTo>
                <a:lnTo>
                  <a:pt x="120" y="43"/>
                </a:lnTo>
                <a:lnTo>
                  <a:pt x="80" y="74"/>
                </a:lnTo>
                <a:lnTo>
                  <a:pt x="47" y="112"/>
                </a:lnTo>
                <a:lnTo>
                  <a:pt x="21" y="155"/>
                </a:lnTo>
                <a:lnTo>
                  <a:pt x="5" y="203"/>
                </a:lnTo>
                <a:lnTo>
                  <a:pt x="0" y="254"/>
                </a:lnTo>
                <a:lnTo>
                  <a:pt x="5" y="305"/>
                </a:lnTo>
                <a:lnTo>
                  <a:pt x="21" y="352"/>
                </a:lnTo>
                <a:lnTo>
                  <a:pt x="47" y="396"/>
                </a:lnTo>
                <a:lnTo>
                  <a:pt x="80" y="433"/>
                </a:lnTo>
                <a:lnTo>
                  <a:pt x="120" y="464"/>
                </a:lnTo>
                <a:lnTo>
                  <a:pt x="166" y="488"/>
                </a:lnTo>
                <a:lnTo>
                  <a:pt x="218" y="502"/>
                </a:lnTo>
                <a:lnTo>
                  <a:pt x="273" y="508"/>
                </a:lnTo>
                <a:lnTo>
                  <a:pt x="327" y="502"/>
                </a:lnTo>
                <a:lnTo>
                  <a:pt x="379" y="488"/>
                </a:lnTo>
                <a:lnTo>
                  <a:pt x="425" y="464"/>
                </a:lnTo>
                <a:lnTo>
                  <a:pt x="465" y="433"/>
                </a:lnTo>
                <a:lnTo>
                  <a:pt x="498" y="396"/>
                </a:lnTo>
                <a:lnTo>
                  <a:pt x="524" y="352"/>
                </a:lnTo>
                <a:lnTo>
                  <a:pt x="540" y="305"/>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6" name="Rectangle 12"/>
          <p:cNvSpPr>
            <a:spLocks noChangeArrowheads="1"/>
          </p:cNvSpPr>
          <p:nvPr/>
        </p:nvSpPr>
        <p:spPr bwMode="auto">
          <a:xfrm>
            <a:off x="6884988" y="3509963"/>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5</a:t>
            </a:r>
          </a:p>
        </p:txBody>
      </p:sp>
      <p:sp>
        <p:nvSpPr>
          <p:cNvPr id="47117" name="Freeform 13"/>
          <p:cNvSpPr>
            <a:spLocks/>
          </p:cNvSpPr>
          <p:nvPr/>
        </p:nvSpPr>
        <p:spPr bwMode="auto">
          <a:xfrm>
            <a:off x="5314950" y="4908550"/>
            <a:ext cx="866775" cy="808038"/>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4 w 546"/>
              <a:gd name="T11" fmla="*/ 44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4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3 h 509"/>
              <a:gd name="T38" fmla="*/ 46 w 546"/>
              <a:gd name="T39" fmla="*/ 396 h 509"/>
              <a:gd name="T40" fmla="*/ 79 w 546"/>
              <a:gd name="T41" fmla="*/ 433 h 509"/>
              <a:gd name="T42" fmla="*/ 120 w 546"/>
              <a:gd name="T43" fmla="*/ 464 h 509"/>
              <a:gd name="T44" fmla="*/ 166 w 546"/>
              <a:gd name="T45" fmla="*/ 488 h 509"/>
              <a:gd name="T46" fmla="*/ 217 w 546"/>
              <a:gd name="T47" fmla="*/ 503 h 509"/>
              <a:gd name="T48" fmla="*/ 272 w 546"/>
              <a:gd name="T49" fmla="*/ 508 h 509"/>
              <a:gd name="T50" fmla="*/ 327 w 546"/>
              <a:gd name="T51" fmla="*/ 503 h 509"/>
              <a:gd name="T52" fmla="*/ 378 w 546"/>
              <a:gd name="T53" fmla="*/ 488 h 509"/>
              <a:gd name="T54" fmla="*/ 424 w 546"/>
              <a:gd name="T55" fmla="*/ 464 h 509"/>
              <a:gd name="T56" fmla="*/ 465 w 546"/>
              <a:gd name="T57" fmla="*/ 433 h 509"/>
              <a:gd name="T58" fmla="*/ 498 w 546"/>
              <a:gd name="T59" fmla="*/ 396 h 509"/>
              <a:gd name="T60" fmla="*/ 523 w 546"/>
              <a:gd name="T61" fmla="*/ 353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4" y="44"/>
                </a:lnTo>
                <a:lnTo>
                  <a:pt x="378" y="20"/>
                </a:lnTo>
                <a:lnTo>
                  <a:pt x="327" y="5"/>
                </a:lnTo>
                <a:lnTo>
                  <a:pt x="272" y="0"/>
                </a:lnTo>
                <a:lnTo>
                  <a:pt x="217" y="5"/>
                </a:lnTo>
                <a:lnTo>
                  <a:pt x="166" y="20"/>
                </a:lnTo>
                <a:lnTo>
                  <a:pt x="120" y="44"/>
                </a:lnTo>
                <a:lnTo>
                  <a:pt x="79" y="74"/>
                </a:lnTo>
                <a:lnTo>
                  <a:pt x="46" y="112"/>
                </a:lnTo>
                <a:lnTo>
                  <a:pt x="21" y="155"/>
                </a:lnTo>
                <a:lnTo>
                  <a:pt x="5" y="203"/>
                </a:lnTo>
                <a:lnTo>
                  <a:pt x="0" y="254"/>
                </a:lnTo>
                <a:lnTo>
                  <a:pt x="5" y="305"/>
                </a:lnTo>
                <a:lnTo>
                  <a:pt x="21" y="353"/>
                </a:lnTo>
                <a:lnTo>
                  <a:pt x="46" y="396"/>
                </a:lnTo>
                <a:lnTo>
                  <a:pt x="79" y="433"/>
                </a:lnTo>
                <a:lnTo>
                  <a:pt x="120" y="464"/>
                </a:lnTo>
                <a:lnTo>
                  <a:pt x="166" y="488"/>
                </a:lnTo>
                <a:lnTo>
                  <a:pt x="217" y="503"/>
                </a:lnTo>
                <a:lnTo>
                  <a:pt x="272" y="508"/>
                </a:lnTo>
                <a:lnTo>
                  <a:pt x="327" y="503"/>
                </a:lnTo>
                <a:lnTo>
                  <a:pt x="378" y="488"/>
                </a:lnTo>
                <a:lnTo>
                  <a:pt x="424" y="464"/>
                </a:lnTo>
                <a:lnTo>
                  <a:pt x="465" y="433"/>
                </a:lnTo>
                <a:lnTo>
                  <a:pt x="498" y="396"/>
                </a:lnTo>
                <a:lnTo>
                  <a:pt x="523" y="353"/>
                </a:lnTo>
                <a:lnTo>
                  <a:pt x="539" y="305"/>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8" name="Rectangle 14"/>
          <p:cNvSpPr>
            <a:spLocks noChangeArrowheads="1"/>
          </p:cNvSpPr>
          <p:nvPr/>
        </p:nvSpPr>
        <p:spPr bwMode="auto">
          <a:xfrm>
            <a:off x="5529263" y="5075238"/>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6</a:t>
            </a:r>
          </a:p>
        </p:txBody>
      </p:sp>
      <p:sp>
        <p:nvSpPr>
          <p:cNvPr id="47119" name="Rectangle 15"/>
          <p:cNvSpPr>
            <a:spLocks noChangeArrowheads="1"/>
          </p:cNvSpPr>
          <p:nvPr/>
        </p:nvSpPr>
        <p:spPr bwMode="auto">
          <a:xfrm>
            <a:off x="5456238" y="3322638"/>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$80</a:t>
            </a:r>
          </a:p>
        </p:txBody>
      </p:sp>
      <p:sp>
        <p:nvSpPr>
          <p:cNvPr id="47120" name="Rectangle 16"/>
          <p:cNvSpPr>
            <a:spLocks noChangeArrowheads="1"/>
          </p:cNvSpPr>
          <p:nvPr/>
        </p:nvSpPr>
        <p:spPr bwMode="auto">
          <a:xfrm>
            <a:off x="5099050" y="2387600"/>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$85</a:t>
            </a:r>
          </a:p>
        </p:txBody>
      </p:sp>
      <p:sp>
        <p:nvSpPr>
          <p:cNvPr id="47121" name="Line 17"/>
          <p:cNvSpPr>
            <a:spLocks noChangeShapeType="1"/>
          </p:cNvSpPr>
          <p:nvPr/>
        </p:nvSpPr>
        <p:spPr bwMode="auto">
          <a:xfrm>
            <a:off x="4911725" y="3581400"/>
            <a:ext cx="1752600" cy="15398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22" name="Rectangle 18"/>
          <p:cNvSpPr>
            <a:spLocks noChangeArrowheads="1"/>
          </p:cNvSpPr>
          <p:nvPr/>
        </p:nvSpPr>
        <p:spPr bwMode="auto">
          <a:xfrm>
            <a:off x="7024688" y="2563813"/>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$75</a:t>
            </a:r>
          </a:p>
        </p:txBody>
      </p:sp>
      <p:sp>
        <p:nvSpPr>
          <p:cNvPr id="47123" name="Rectangle 19"/>
          <p:cNvSpPr>
            <a:spLocks noChangeArrowheads="1"/>
          </p:cNvSpPr>
          <p:nvPr/>
        </p:nvSpPr>
        <p:spPr bwMode="auto">
          <a:xfrm>
            <a:off x="6573838" y="4700588"/>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$50</a:t>
            </a:r>
          </a:p>
        </p:txBody>
      </p:sp>
      <p:sp>
        <p:nvSpPr>
          <p:cNvPr id="47124" name="Line 20"/>
          <p:cNvSpPr>
            <a:spLocks noChangeShapeType="1"/>
          </p:cNvSpPr>
          <p:nvPr/>
        </p:nvSpPr>
        <p:spPr bwMode="auto">
          <a:xfrm flipH="1">
            <a:off x="6051550" y="4125913"/>
            <a:ext cx="866775" cy="90170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25" name="Rectangle 21"/>
          <p:cNvSpPr>
            <a:spLocks noChangeArrowheads="1"/>
          </p:cNvSpPr>
          <p:nvPr/>
        </p:nvSpPr>
        <p:spPr bwMode="auto">
          <a:xfrm>
            <a:off x="3508375" y="5224463"/>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$65</a:t>
            </a:r>
          </a:p>
        </p:txBody>
      </p:sp>
      <p:sp>
        <p:nvSpPr>
          <p:cNvPr id="47126" name="Line 22"/>
          <p:cNvSpPr>
            <a:spLocks noChangeShapeType="1"/>
          </p:cNvSpPr>
          <p:nvPr/>
        </p:nvSpPr>
        <p:spPr bwMode="auto">
          <a:xfrm>
            <a:off x="2479675" y="4891088"/>
            <a:ext cx="2824163" cy="42545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27" name="Rectangle 23"/>
          <p:cNvSpPr>
            <a:spLocks noChangeArrowheads="1"/>
          </p:cNvSpPr>
          <p:nvPr/>
        </p:nvSpPr>
        <p:spPr bwMode="auto">
          <a:xfrm>
            <a:off x="1868488" y="2865438"/>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$40</a:t>
            </a:r>
          </a:p>
        </p:txBody>
      </p:sp>
      <p:sp>
        <p:nvSpPr>
          <p:cNvPr id="47128" name="Line 24"/>
          <p:cNvSpPr>
            <a:spLocks noChangeShapeType="1"/>
          </p:cNvSpPr>
          <p:nvPr/>
        </p:nvSpPr>
        <p:spPr bwMode="auto">
          <a:xfrm flipH="1">
            <a:off x="2139950" y="2154238"/>
            <a:ext cx="731838" cy="234632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29" name="Rectangle 25"/>
          <p:cNvSpPr>
            <a:spLocks noChangeArrowheads="1"/>
          </p:cNvSpPr>
          <p:nvPr/>
        </p:nvSpPr>
        <p:spPr bwMode="auto">
          <a:xfrm>
            <a:off x="4240213" y="1346200"/>
            <a:ext cx="6365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$150</a:t>
            </a:r>
          </a:p>
        </p:txBody>
      </p:sp>
      <p:sp>
        <p:nvSpPr>
          <p:cNvPr id="2" name="Footer Placeholder 1"/>
          <p:cNvSpPr>
            <a:spLocks noGrp="1"/>
          </p:cNvSpPr>
          <p:nvPr>
            <p:ph type="ftr" sz="quarter" idx="1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762000" y="301625"/>
            <a:ext cx="7772400" cy="749300"/>
          </a:xfrm>
          <a:noFill/>
          <a:ln/>
        </p:spPr>
        <p:txBody>
          <a:bodyPr lIns="92075" tIns="46038" rIns="92075" bIns="46038"/>
          <a:lstStyle/>
          <a:p>
            <a:r>
              <a:rPr lang="en-US" sz="4000" i="1">
                <a:solidFill>
                  <a:schemeClr val="hlink"/>
                </a:solidFill>
              </a:rPr>
              <a:t>Solving the Example Problem - 6</a:t>
            </a:r>
          </a:p>
        </p:txBody>
      </p:sp>
      <p:sp>
        <p:nvSpPr>
          <p:cNvPr id="48131" name="Freeform 3"/>
          <p:cNvSpPr>
            <a:spLocks/>
          </p:cNvSpPr>
          <p:nvPr/>
        </p:nvSpPr>
        <p:spPr bwMode="auto">
          <a:xfrm>
            <a:off x="2460625" y="1333500"/>
            <a:ext cx="866775" cy="808038"/>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4 w 546"/>
              <a:gd name="T11" fmla="*/ 44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4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3 h 509"/>
              <a:gd name="T38" fmla="*/ 46 w 546"/>
              <a:gd name="T39" fmla="*/ 396 h 509"/>
              <a:gd name="T40" fmla="*/ 79 w 546"/>
              <a:gd name="T41" fmla="*/ 433 h 509"/>
              <a:gd name="T42" fmla="*/ 120 w 546"/>
              <a:gd name="T43" fmla="*/ 464 h 509"/>
              <a:gd name="T44" fmla="*/ 166 w 546"/>
              <a:gd name="T45" fmla="*/ 488 h 509"/>
              <a:gd name="T46" fmla="*/ 217 w 546"/>
              <a:gd name="T47" fmla="*/ 503 h 509"/>
              <a:gd name="T48" fmla="*/ 272 w 546"/>
              <a:gd name="T49" fmla="*/ 508 h 509"/>
              <a:gd name="T50" fmla="*/ 327 w 546"/>
              <a:gd name="T51" fmla="*/ 503 h 509"/>
              <a:gd name="T52" fmla="*/ 378 w 546"/>
              <a:gd name="T53" fmla="*/ 488 h 509"/>
              <a:gd name="T54" fmla="*/ 424 w 546"/>
              <a:gd name="T55" fmla="*/ 464 h 509"/>
              <a:gd name="T56" fmla="*/ 465 w 546"/>
              <a:gd name="T57" fmla="*/ 433 h 509"/>
              <a:gd name="T58" fmla="*/ 498 w 546"/>
              <a:gd name="T59" fmla="*/ 396 h 509"/>
              <a:gd name="T60" fmla="*/ 523 w 546"/>
              <a:gd name="T61" fmla="*/ 353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4" y="44"/>
                </a:lnTo>
                <a:lnTo>
                  <a:pt x="378" y="20"/>
                </a:lnTo>
                <a:lnTo>
                  <a:pt x="327" y="5"/>
                </a:lnTo>
                <a:lnTo>
                  <a:pt x="272" y="0"/>
                </a:lnTo>
                <a:lnTo>
                  <a:pt x="217" y="5"/>
                </a:lnTo>
                <a:lnTo>
                  <a:pt x="166" y="20"/>
                </a:lnTo>
                <a:lnTo>
                  <a:pt x="120" y="44"/>
                </a:lnTo>
                <a:lnTo>
                  <a:pt x="79" y="74"/>
                </a:lnTo>
                <a:lnTo>
                  <a:pt x="46" y="112"/>
                </a:lnTo>
                <a:lnTo>
                  <a:pt x="21" y="155"/>
                </a:lnTo>
                <a:lnTo>
                  <a:pt x="5" y="203"/>
                </a:lnTo>
                <a:lnTo>
                  <a:pt x="0" y="254"/>
                </a:lnTo>
                <a:lnTo>
                  <a:pt x="5" y="305"/>
                </a:lnTo>
                <a:lnTo>
                  <a:pt x="21" y="353"/>
                </a:lnTo>
                <a:lnTo>
                  <a:pt x="46" y="396"/>
                </a:lnTo>
                <a:lnTo>
                  <a:pt x="79" y="433"/>
                </a:lnTo>
                <a:lnTo>
                  <a:pt x="120" y="464"/>
                </a:lnTo>
                <a:lnTo>
                  <a:pt x="166" y="488"/>
                </a:lnTo>
                <a:lnTo>
                  <a:pt x="217" y="503"/>
                </a:lnTo>
                <a:lnTo>
                  <a:pt x="272" y="508"/>
                </a:lnTo>
                <a:lnTo>
                  <a:pt x="327" y="503"/>
                </a:lnTo>
                <a:lnTo>
                  <a:pt x="378" y="488"/>
                </a:lnTo>
                <a:lnTo>
                  <a:pt x="424" y="464"/>
                </a:lnTo>
                <a:lnTo>
                  <a:pt x="465" y="433"/>
                </a:lnTo>
                <a:lnTo>
                  <a:pt x="498" y="396"/>
                </a:lnTo>
                <a:lnTo>
                  <a:pt x="523" y="353"/>
                </a:lnTo>
                <a:lnTo>
                  <a:pt x="539" y="305"/>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132" name="Rectangle 4"/>
          <p:cNvSpPr>
            <a:spLocks noChangeArrowheads="1"/>
          </p:cNvSpPr>
          <p:nvPr/>
        </p:nvSpPr>
        <p:spPr bwMode="auto">
          <a:xfrm>
            <a:off x="2673350" y="1500188"/>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2</a:t>
            </a:r>
          </a:p>
        </p:txBody>
      </p:sp>
      <p:sp>
        <p:nvSpPr>
          <p:cNvPr id="48133" name="Freeform 5"/>
          <p:cNvSpPr>
            <a:spLocks/>
          </p:cNvSpPr>
          <p:nvPr/>
        </p:nvSpPr>
        <p:spPr bwMode="auto">
          <a:xfrm>
            <a:off x="1630363" y="4487863"/>
            <a:ext cx="866775" cy="806450"/>
          </a:xfrm>
          <a:custGeom>
            <a:avLst/>
            <a:gdLst>
              <a:gd name="T0" fmla="*/ 545 w 546"/>
              <a:gd name="T1" fmla="*/ 254 h 508"/>
              <a:gd name="T2" fmla="*/ 539 w 546"/>
              <a:gd name="T3" fmla="*/ 202 h 508"/>
              <a:gd name="T4" fmla="*/ 523 w 546"/>
              <a:gd name="T5" fmla="*/ 155 h 508"/>
              <a:gd name="T6" fmla="*/ 498 w 546"/>
              <a:gd name="T7" fmla="*/ 112 h 508"/>
              <a:gd name="T8" fmla="*/ 465 w 546"/>
              <a:gd name="T9" fmla="*/ 74 h 508"/>
              <a:gd name="T10" fmla="*/ 425 w 546"/>
              <a:gd name="T11" fmla="*/ 43 h 508"/>
              <a:gd name="T12" fmla="*/ 378 w 546"/>
              <a:gd name="T13" fmla="*/ 19 h 508"/>
              <a:gd name="T14" fmla="*/ 327 w 546"/>
              <a:gd name="T15" fmla="*/ 5 h 508"/>
              <a:gd name="T16" fmla="*/ 273 w 546"/>
              <a:gd name="T17" fmla="*/ 0 h 508"/>
              <a:gd name="T18" fmla="*/ 217 w 546"/>
              <a:gd name="T19" fmla="*/ 5 h 508"/>
              <a:gd name="T20" fmla="*/ 166 w 546"/>
              <a:gd name="T21" fmla="*/ 19 h 508"/>
              <a:gd name="T22" fmla="*/ 120 w 546"/>
              <a:gd name="T23" fmla="*/ 43 h 508"/>
              <a:gd name="T24" fmla="*/ 79 w 546"/>
              <a:gd name="T25" fmla="*/ 74 h 508"/>
              <a:gd name="T26" fmla="*/ 46 w 546"/>
              <a:gd name="T27" fmla="*/ 112 h 508"/>
              <a:gd name="T28" fmla="*/ 21 w 546"/>
              <a:gd name="T29" fmla="*/ 155 h 508"/>
              <a:gd name="T30" fmla="*/ 5 w 546"/>
              <a:gd name="T31" fmla="*/ 202 h 508"/>
              <a:gd name="T32" fmla="*/ 0 w 546"/>
              <a:gd name="T33" fmla="*/ 254 h 508"/>
              <a:gd name="T34" fmla="*/ 5 w 546"/>
              <a:gd name="T35" fmla="*/ 304 h 508"/>
              <a:gd name="T36" fmla="*/ 21 w 546"/>
              <a:gd name="T37" fmla="*/ 352 h 508"/>
              <a:gd name="T38" fmla="*/ 46 w 546"/>
              <a:gd name="T39" fmla="*/ 395 h 508"/>
              <a:gd name="T40" fmla="*/ 79 w 546"/>
              <a:gd name="T41" fmla="*/ 433 h 508"/>
              <a:gd name="T42" fmla="*/ 120 w 546"/>
              <a:gd name="T43" fmla="*/ 464 h 508"/>
              <a:gd name="T44" fmla="*/ 166 w 546"/>
              <a:gd name="T45" fmla="*/ 487 h 508"/>
              <a:gd name="T46" fmla="*/ 217 w 546"/>
              <a:gd name="T47" fmla="*/ 502 h 508"/>
              <a:gd name="T48" fmla="*/ 273 w 546"/>
              <a:gd name="T49" fmla="*/ 507 h 508"/>
              <a:gd name="T50" fmla="*/ 327 w 546"/>
              <a:gd name="T51" fmla="*/ 502 h 508"/>
              <a:gd name="T52" fmla="*/ 378 w 546"/>
              <a:gd name="T53" fmla="*/ 487 h 508"/>
              <a:gd name="T54" fmla="*/ 425 w 546"/>
              <a:gd name="T55" fmla="*/ 464 h 508"/>
              <a:gd name="T56" fmla="*/ 465 w 546"/>
              <a:gd name="T57" fmla="*/ 433 h 508"/>
              <a:gd name="T58" fmla="*/ 498 w 546"/>
              <a:gd name="T59" fmla="*/ 395 h 508"/>
              <a:gd name="T60" fmla="*/ 523 w 546"/>
              <a:gd name="T61" fmla="*/ 352 h 508"/>
              <a:gd name="T62" fmla="*/ 539 w 546"/>
              <a:gd name="T63" fmla="*/ 304 h 508"/>
              <a:gd name="T64" fmla="*/ 545 w 546"/>
              <a:gd name="T65" fmla="*/ 254 h 508"/>
              <a:gd name="T66" fmla="*/ 545 w 546"/>
              <a:gd name="T67" fmla="*/ 254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8">
                <a:moveTo>
                  <a:pt x="545" y="254"/>
                </a:moveTo>
                <a:lnTo>
                  <a:pt x="539" y="202"/>
                </a:lnTo>
                <a:lnTo>
                  <a:pt x="523" y="155"/>
                </a:lnTo>
                <a:lnTo>
                  <a:pt x="498" y="112"/>
                </a:lnTo>
                <a:lnTo>
                  <a:pt x="465" y="74"/>
                </a:lnTo>
                <a:lnTo>
                  <a:pt x="425" y="43"/>
                </a:lnTo>
                <a:lnTo>
                  <a:pt x="378" y="19"/>
                </a:lnTo>
                <a:lnTo>
                  <a:pt x="327" y="5"/>
                </a:lnTo>
                <a:lnTo>
                  <a:pt x="273" y="0"/>
                </a:lnTo>
                <a:lnTo>
                  <a:pt x="217" y="5"/>
                </a:lnTo>
                <a:lnTo>
                  <a:pt x="166" y="19"/>
                </a:lnTo>
                <a:lnTo>
                  <a:pt x="120" y="43"/>
                </a:lnTo>
                <a:lnTo>
                  <a:pt x="79" y="74"/>
                </a:lnTo>
                <a:lnTo>
                  <a:pt x="46" y="112"/>
                </a:lnTo>
                <a:lnTo>
                  <a:pt x="21" y="155"/>
                </a:lnTo>
                <a:lnTo>
                  <a:pt x="5" y="202"/>
                </a:lnTo>
                <a:lnTo>
                  <a:pt x="0" y="254"/>
                </a:lnTo>
                <a:lnTo>
                  <a:pt x="5" y="304"/>
                </a:lnTo>
                <a:lnTo>
                  <a:pt x="21" y="352"/>
                </a:lnTo>
                <a:lnTo>
                  <a:pt x="46" y="395"/>
                </a:lnTo>
                <a:lnTo>
                  <a:pt x="79" y="433"/>
                </a:lnTo>
                <a:lnTo>
                  <a:pt x="120" y="464"/>
                </a:lnTo>
                <a:lnTo>
                  <a:pt x="166" y="487"/>
                </a:lnTo>
                <a:lnTo>
                  <a:pt x="217" y="502"/>
                </a:lnTo>
                <a:lnTo>
                  <a:pt x="273" y="507"/>
                </a:lnTo>
                <a:lnTo>
                  <a:pt x="327" y="502"/>
                </a:lnTo>
                <a:lnTo>
                  <a:pt x="378" y="487"/>
                </a:lnTo>
                <a:lnTo>
                  <a:pt x="425" y="464"/>
                </a:lnTo>
                <a:lnTo>
                  <a:pt x="465" y="433"/>
                </a:lnTo>
                <a:lnTo>
                  <a:pt x="498" y="395"/>
                </a:lnTo>
                <a:lnTo>
                  <a:pt x="523" y="352"/>
                </a:lnTo>
                <a:lnTo>
                  <a:pt x="539" y="304"/>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134" name="Rectangle 6"/>
          <p:cNvSpPr>
            <a:spLocks noChangeArrowheads="1"/>
          </p:cNvSpPr>
          <p:nvPr/>
        </p:nvSpPr>
        <p:spPr bwMode="auto">
          <a:xfrm>
            <a:off x="1844675" y="4654550"/>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3</a:t>
            </a:r>
          </a:p>
        </p:txBody>
      </p:sp>
      <p:sp>
        <p:nvSpPr>
          <p:cNvPr id="48135" name="Freeform 7"/>
          <p:cNvSpPr>
            <a:spLocks/>
          </p:cNvSpPr>
          <p:nvPr/>
        </p:nvSpPr>
        <p:spPr bwMode="auto">
          <a:xfrm>
            <a:off x="4027488" y="3144838"/>
            <a:ext cx="866775" cy="808037"/>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5 w 546"/>
              <a:gd name="T11" fmla="*/ 43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3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2 h 509"/>
              <a:gd name="T38" fmla="*/ 46 w 546"/>
              <a:gd name="T39" fmla="*/ 395 h 509"/>
              <a:gd name="T40" fmla="*/ 79 w 546"/>
              <a:gd name="T41" fmla="*/ 433 h 509"/>
              <a:gd name="T42" fmla="*/ 120 w 546"/>
              <a:gd name="T43" fmla="*/ 464 h 509"/>
              <a:gd name="T44" fmla="*/ 166 w 546"/>
              <a:gd name="T45" fmla="*/ 488 h 509"/>
              <a:gd name="T46" fmla="*/ 217 w 546"/>
              <a:gd name="T47" fmla="*/ 502 h 509"/>
              <a:gd name="T48" fmla="*/ 272 w 546"/>
              <a:gd name="T49" fmla="*/ 508 h 509"/>
              <a:gd name="T50" fmla="*/ 327 w 546"/>
              <a:gd name="T51" fmla="*/ 502 h 509"/>
              <a:gd name="T52" fmla="*/ 378 w 546"/>
              <a:gd name="T53" fmla="*/ 488 h 509"/>
              <a:gd name="T54" fmla="*/ 425 w 546"/>
              <a:gd name="T55" fmla="*/ 464 h 509"/>
              <a:gd name="T56" fmla="*/ 465 w 546"/>
              <a:gd name="T57" fmla="*/ 433 h 509"/>
              <a:gd name="T58" fmla="*/ 498 w 546"/>
              <a:gd name="T59" fmla="*/ 395 h 509"/>
              <a:gd name="T60" fmla="*/ 523 w 546"/>
              <a:gd name="T61" fmla="*/ 352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5" y="43"/>
                </a:lnTo>
                <a:lnTo>
                  <a:pt x="378" y="20"/>
                </a:lnTo>
                <a:lnTo>
                  <a:pt x="327" y="5"/>
                </a:lnTo>
                <a:lnTo>
                  <a:pt x="272" y="0"/>
                </a:lnTo>
                <a:lnTo>
                  <a:pt x="217" y="5"/>
                </a:lnTo>
                <a:lnTo>
                  <a:pt x="166" y="20"/>
                </a:lnTo>
                <a:lnTo>
                  <a:pt x="120" y="43"/>
                </a:lnTo>
                <a:lnTo>
                  <a:pt x="79" y="74"/>
                </a:lnTo>
                <a:lnTo>
                  <a:pt x="46" y="112"/>
                </a:lnTo>
                <a:lnTo>
                  <a:pt x="21" y="155"/>
                </a:lnTo>
                <a:lnTo>
                  <a:pt x="5" y="203"/>
                </a:lnTo>
                <a:lnTo>
                  <a:pt x="0" y="254"/>
                </a:lnTo>
                <a:lnTo>
                  <a:pt x="5" y="305"/>
                </a:lnTo>
                <a:lnTo>
                  <a:pt x="21" y="352"/>
                </a:lnTo>
                <a:lnTo>
                  <a:pt x="46" y="395"/>
                </a:lnTo>
                <a:lnTo>
                  <a:pt x="79" y="433"/>
                </a:lnTo>
                <a:lnTo>
                  <a:pt x="120" y="464"/>
                </a:lnTo>
                <a:lnTo>
                  <a:pt x="166" y="488"/>
                </a:lnTo>
                <a:lnTo>
                  <a:pt x="217" y="502"/>
                </a:lnTo>
                <a:lnTo>
                  <a:pt x="272" y="508"/>
                </a:lnTo>
                <a:lnTo>
                  <a:pt x="327" y="502"/>
                </a:lnTo>
                <a:lnTo>
                  <a:pt x="378" y="488"/>
                </a:lnTo>
                <a:lnTo>
                  <a:pt x="425" y="464"/>
                </a:lnTo>
                <a:lnTo>
                  <a:pt x="465" y="433"/>
                </a:lnTo>
                <a:lnTo>
                  <a:pt x="498" y="395"/>
                </a:lnTo>
                <a:lnTo>
                  <a:pt x="523" y="352"/>
                </a:lnTo>
                <a:lnTo>
                  <a:pt x="539" y="305"/>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136" name="Rectangle 8"/>
          <p:cNvSpPr>
            <a:spLocks noChangeArrowheads="1"/>
          </p:cNvSpPr>
          <p:nvPr/>
        </p:nvSpPr>
        <p:spPr bwMode="auto">
          <a:xfrm>
            <a:off x="4241800" y="3311525"/>
            <a:ext cx="360363"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1</a:t>
            </a:r>
          </a:p>
        </p:txBody>
      </p:sp>
      <p:sp>
        <p:nvSpPr>
          <p:cNvPr id="48137" name="Freeform 9"/>
          <p:cNvSpPr>
            <a:spLocks/>
          </p:cNvSpPr>
          <p:nvPr/>
        </p:nvSpPr>
        <p:spPr bwMode="auto">
          <a:xfrm>
            <a:off x="6272213" y="1287463"/>
            <a:ext cx="866775" cy="808037"/>
          </a:xfrm>
          <a:custGeom>
            <a:avLst/>
            <a:gdLst>
              <a:gd name="T0" fmla="*/ 545 w 546"/>
              <a:gd name="T1" fmla="*/ 254 h 509"/>
              <a:gd name="T2" fmla="*/ 540 w 546"/>
              <a:gd name="T3" fmla="*/ 203 h 509"/>
              <a:gd name="T4" fmla="*/ 524 w 546"/>
              <a:gd name="T5" fmla="*/ 155 h 509"/>
              <a:gd name="T6" fmla="*/ 498 w 546"/>
              <a:gd name="T7" fmla="*/ 112 h 509"/>
              <a:gd name="T8" fmla="*/ 465 w 546"/>
              <a:gd name="T9" fmla="*/ 74 h 509"/>
              <a:gd name="T10" fmla="*/ 425 w 546"/>
              <a:gd name="T11" fmla="*/ 44 h 509"/>
              <a:gd name="T12" fmla="*/ 379 w 546"/>
              <a:gd name="T13" fmla="*/ 20 h 509"/>
              <a:gd name="T14" fmla="*/ 327 w 546"/>
              <a:gd name="T15" fmla="*/ 5 h 509"/>
              <a:gd name="T16" fmla="*/ 273 w 546"/>
              <a:gd name="T17" fmla="*/ 0 h 509"/>
              <a:gd name="T18" fmla="*/ 218 w 546"/>
              <a:gd name="T19" fmla="*/ 5 h 509"/>
              <a:gd name="T20" fmla="*/ 167 w 546"/>
              <a:gd name="T21" fmla="*/ 20 h 509"/>
              <a:gd name="T22" fmla="*/ 120 w 546"/>
              <a:gd name="T23" fmla="*/ 44 h 509"/>
              <a:gd name="T24" fmla="*/ 80 w 546"/>
              <a:gd name="T25" fmla="*/ 74 h 509"/>
              <a:gd name="T26" fmla="*/ 47 w 546"/>
              <a:gd name="T27" fmla="*/ 112 h 509"/>
              <a:gd name="T28" fmla="*/ 22 w 546"/>
              <a:gd name="T29" fmla="*/ 155 h 509"/>
              <a:gd name="T30" fmla="*/ 6 w 546"/>
              <a:gd name="T31" fmla="*/ 203 h 509"/>
              <a:gd name="T32" fmla="*/ 0 w 546"/>
              <a:gd name="T33" fmla="*/ 254 h 509"/>
              <a:gd name="T34" fmla="*/ 6 w 546"/>
              <a:gd name="T35" fmla="*/ 305 h 509"/>
              <a:gd name="T36" fmla="*/ 22 w 546"/>
              <a:gd name="T37" fmla="*/ 353 h 509"/>
              <a:gd name="T38" fmla="*/ 47 w 546"/>
              <a:gd name="T39" fmla="*/ 396 h 509"/>
              <a:gd name="T40" fmla="*/ 80 w 546"/>
              <a:gd name="T41" fmla="*/ 433 h 509"/>
              <a:gd name="T42" fmla="*/ 120 w 546"/>
              <a:gd name="T43" fmla="*/ 464 h 509"/>
              <a:gd name="T44" fmla="*/ 167 w 546"/>
              <a:gd name="T45" fmla="*/ 488 h 509"/>
              <a:gd name="T46" fmla="*/ 218 w 546"/>
              <a:gd name="T47" fmla="*/ 503 h 509"/>
              <a:gd name="T48" fmla="*/ 273 w 546"/>
              <a:gd name="T49" fmla="*/ 508 h 509"/>
              <a:gd name="T50" fmla="*/ 327 w 546"/>
              <a:gd name="T51" fmla="*/ 503 h 509"/>
              <a:gd name="T52" fmla="*/ 379 w 546"/>
              <a:gd name="T53" fmla="*/ 488 h 509"/>
              <a:gd name="T54" fmla="*/ 425 w 546"/>
              <a:gd name="T55" fmla="*/ 464 h 509"/>
              <a:gd name="T56" fmla="*/ 465 w 546"/>
              <a:gd name="T57" fmla="*/ 433 h 509"/>
              <a:gd name="T58" fmla="*/ 498 w 546"/>
              <a:gd name="T59" fmla="*/ 396 h 509"/>
              <a:gd name="T60" fmla="*/ 524 w 546"/>
              <a:gd name="T61" fmla="*/ 353 h 509"/>
              <a:gd name="T62" fmla="*/ 540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40" y="203"/>
                </a:lnTo>
                <a:lnTo>
                  <a:pt x="524" y="155"/>
                </a:lnTo>
                <a:lnTo>
                  <a:pt x="498" y="112"/>
                </a:lnTo>
                <a:lnTo>
                  <a:pt x="465" y="74"/>
                </a:lnTo>
                <a:lnTo>
                  <a:pt x="425" y="44"/>
                </a:lnTo>
                <a:lnTo>
                  <a:pt x="379" y="20"/>
                </a:lnTo>
                <a:lnTo>
                  <a:pt x="327" y="5"/>
                </a:lnTo>
                <a:lnTo>
                  <a:pt x="273" y="0"/>
                </a:lnTo>
                <a:lnTo>
                  <a:pt x="218" y="5"/>
                </a:lnTo>
                <a:lnTo>
                  <a:pt x="167" y="20"/>
                </a:lnTo>
                <a:lnTo>
                  <a:pt x="120" y="44"/>
                </a:lnTo>
                <a:lnTo>
                  <a:pt x="80" y="74"/>
                </a:lnTo>
                <a:lnTo>
                  <a:pt x="47" y="112"/>
                </a:lnTo>
                <a:lnTo>
                  <a:pt x="22" y="155"/>
                </a:lnTo>
                <a:lnTo>
                  <a:pt x="6" y="203"/>
                </a:lnTo>
                <a:lnTo>
                  <a:pt x="0" y="254"/>
                </a:lnTo>
                <a:lnTo>
                  <a:pt x="6" y="305"/>
                </a:lnTo>
                <a:lnTo>
                  <a:pt x="22" y="353"/>
                </a:lnTo>
                <a:lnTo>
                  <a:pt x="47" y="396"/>
                </a:lnTo>
                <a:lnTo>
                  <a:pt x="80" y="433"/>
                </a:lnTo>
                <a:lnTo>
                  <a:pt x="120" y="464"/>
                </a:lnTo>
                <a:lnTo>
                  <a:pt x="167" y="488"/>
                </a:lnTo>
                <a:lnTo>
                  <a:pt x="218" y="503"/>
                </a:lnTo>
                <a:lnTo>
                  <a:pt x="273" y="508"/>
                </a:lnTo>
                <a:lnTo>
                  <a:pt x="327" y="503"/>
                </a:lnTo>
                <a:lnTo>
                  <a:pt x="379" y="488"/>
                </a:lnTo>
                <a:lnTo>
                  <a:pt x="425" y="464"/>
                </a:lnTo>
                <a:lnTo>
                  <a:pt x="465" y="433"/>
                </a:lnTo>
                <a:lnTo>
                  <a:pt x="498" y="396"/>
                </a:lnTo>
                <a:lnTo>
                  <a:pt x="524" y="353"/>
                </a:lnTo>
                <a:lnTo>
                  <a:pt x="540" y="305"/>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138" name="Rectangle 10"/>
          <p:cNvSpPr>
            <a:spLocks noChangeArrowheads="1"/>
          </p:cNvSpPr>
          <p:nvPr/>
        </p:nvSpPr>
        <p:spPr bwMode="auto">
          <a:xfrm>
            <a:off x="6488113" y="1454150"/>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4</a:t>
            </a:r>
          </a:p>
        </p:txBody>
      </p:sp>
      <p:sp>
        <p:nvSpPr>
          <p:cNvPr id="48139" name="Freeform 11"/>
          <p:cNvSpPr>
            <a:spLocks/>
          </p:cNvSpPr>
          <p:nvPr/>
        </p:nvSpPr>
        <p:spPr bwMode="auto">
          <a:xfrm>
            <a:off x="6670675" y="3343275"/>
            <a:ext cx="866775" cy="808038"/>
          </a:xfrm>
          <a:custGeom>
            <a:avLst/>
            <a:gdLst>
              <a:gd name="T0" fmla="*/ 545 w 546"/>
              <a:gd name="T1" fmla="*/ 254 h 509"/>
              <a:gd name="T2" fmla="*/ 540 w 546"/>
              <a:gd name="T3" fmla="*/ 203 h 509"/>
              <a:gd name="T4" fmla="*/ 524 w 546"/>
              <a:gd name="T5" fmla="*/ 155 h 509"/>
              <a:gd name="T6" fmla="*/ 498 w 546"/>
              <a:gd name="T7" fmla="*/ 112 h 509"/>
              <a:gd name="T8" fmla="*/ 465 w 546"/>
              <a:gd name="T9" fmla="*/ 74 h 509"/>
              <a:gd name="T10" fmla="*/ 425 w 546"/>
              <a:gd name="T11" fmla="*/ 43 h 509"/>
              <a:gd name="T12" fmla="*/ 379 w 546"/>
              <a:gd name="T13" fmla="*/ 20 h 509"/>
              <a:gd name="T14" fmla="*/ 327 w 546"/>
              <a:gd name="T15" fmla="*/ 5 h 509"/>
              <a:gd name="T16" fmla="*/ 273 w 546"/>
              <a:gd name="T17" fmla="*/ 0 h 509"/>
              <a:gd name="T18" fmla="*/ 218 w 546"/>
              <a:gd name="T19" fmla="*/ 5 h 509"/>
              <a:gd name="T20" fmla="*/ 166 w 546"/>
              <a:gd name="T21" fmla="*/ 20 h 509"/>
              <a:gd name="T22" fmla="*/ 120 w 546"/>
              <a:gd name="T23" fmla="*/ 43 h 509"/>
              <a:gd name="T24" fmla="*/ 80 w 546"/>
              <a:gd name="T25" fmla="*/ 74 h 509"/>
              <a:gd name="T26" fmla="*/ 47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2 h 509"/>
              <a:gd name="T38" fmla="*/ 47 w 546"/>
              <a:gd name="T39" fmla="*/ 396 h 509"/>
              <a:gd name="T40" fmla="*/ 80 w 546"/>
              <a:gd name="T41" fmla="*/ 433 h 509"/>
              <a:gd name="T42" fmla="*/ 120 w 546"/>
              <a:gd name="T43" fmla="*/ 464 h 509"/>
              <a:gd name="T44" fmla="*/ 166 w 546"/>
              <a:gd name="T45" fmla="*/ 488 h 509"/>
              <a:gd name="T46" fmla="*/ 218 w 546"/>
              <a:gd name="T47" fmla="*/ 502 h 509"/>
              <a:gd name="T48" fmla="*/ 273 w 546"/>
              <a:gd name="T49" fmla="*/ 508 h 509"/>
              <a:gd name="T50" fmla="*/ 327 w 546"/>
              <a:gd name="T51" fmla="*/ 502 h 509"/>
              <a:gd name="T52" fmla="*/ 379 w 546"/>
              <a:gd name="T53" fmla="*/ 488 h 509"/>
              <a:gd name="T54" fmla="*/ 425 w 546"/>
              <a:gd name="T55" fmla="*/ 464 h 509"/>
              <a:gd name="T56" fmla="*/ 465 w 546"/>
              <a:gd name="T57" fmla="*/ 433 h 509"/>
              <a:gd name="T58" fmla="*/ 498 w 546"/>
              <a:gd name="T59" fmla="*/ 396 h 509"/>
              <a:gd name="T60" fmla="*/ 524 w 546"/>
              <a:gd name="T61" fmla="*/ 352 h 509"/>
              <a:gd name="T62" fmla="*/ 540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40" y="203"/>
                </a:lnTo>
                <a:lnTo>
                  <a:pt x="524" y="155"/>
                </a:lnTo>
                <a:lnTo>
                  <a:pt x="498" y="112"/>
                </a:lnTo>
                <a:lnTo>
                  <a:pt x="465" y="74"/>
                </a:lnTo>
                <a:lnTo>
                  <a:pt x="425" y="43"/>
                </a:lnTo>
                <a:lnTo>
                  <a:pt x="379" y="20"/>
                </a:lnTo>
                <a:lnTo>
                  <a:pt x="327" y="5"/>
                </a:lnTo>
                <a:lnTo>
                  <a:pt x="273" y="0"/>
                </a:lnTo>
                <a:lnTo>
                  <a:pt x="218" y="5"/>
                </a:lnTo>
                <a:lnTo>
                  <a:pt x="166" y="20"/>
                </a:lnTo>
                <a:lnTo>
                  <a:pt x="120" y="43"/>
                </a:lnTo>
                <a:lnTo>
                  <a:pt x="80" y="74"/>
                </a:lnTo>
                <a:lnTo>
                  <a:pt x="47" y="112"/>
                </a:lnTo>
                <a:lnTo>
                  <a:pt x="21" y="155"/>
                </a:lnTo>
                <a:lnTo>
                  <a:pt x="5" y="203"/>
                </a:lnTo>
                <a:lnTo>
                  <a:pt x="0" y="254"/>
                </a:lnTo>
                <a:lnTo>
                  <a:pt x="5" y="305"/>
                </a:lnTo>
                <a:lnTo>
                  <a:pt x="21" y="352"/>
                </a:lnTo>
                <a:lnTo>
                  <a:pt x="47" y="396"/>
                </a:lnTo>
                <a:lnTo>
                  <a:pt x="80" y="433"/>
                </a:lnTo>
                <a:lnTo>
                  <a:pt x="120" y="464"/>
                </a:lnTo>
                <a:lnTo>
                  <a:pt x="166" y="488"/>
                </a:lnTo>
                <a:lnTo>
                  <a:pt x="218" y="502"/>
                </a:lnTo>
                <a:lnTo>
                  <a:pt x="273" y="508"/>
                </a:lnTo>
                <a:lnTo>
                  <a:pt x="327" y="502"/>
                </a:lnTo>
                <a:lnTo>
                  <a:pt x="379" y="488"/>
                </a:lnTo>
                <a:lnTo>
                  <a:pt x="425" y="464"/>
                </a:lnTo>
                <a:lnTo>
                  <a:pt x="465" y="433"/>
                </a:lnTo>
                <a:lnTo>
                  <a:pt x="498" y="396"/>
                </a:lnTo>
                <a:lnTo>
                  <a:pt x="524" y="352"/>
                </a:lnTo>
                <a:lnTo>
                  <a:pt x="540" y="305"/>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140" name="Rectangle 12"/>
          <p:cNvSpPr>
            <a:spLocks noChangeArrowheads="1"/>
          </p:cNvSpPr>
          <p:nvPr/>
        </p:nvSpPr>
        <p:spPr bwMode="auto">
          <a:xfrm>
            <a:off x="6884988" y="3509963"/>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5</a:t>
            </a:r>
          </a:p>
        </p:txBody>
      </p:sp>
      <p:sp>
        <p:nvSpPr>
          <p:cNvPr id="48141" name="Freeform 13"/>
          <p:cNvSpPr>
            <a:spLocks/>
          </p:cNvSpPr>
          <p:nvPr/>
        </p:nvSpPr>
        <p:spPr bwMode="auto">
          <a:xfrm>
            <a:off x="5314950" y="4908550"/>
            <a:ext cx="866775" cy="808038"/>
          </a:xfrm>
          <a:custGeom>
            <a:avLst/>
            <a:gdLst>
              <a:gd name="T0" fmla="*/ 545 w 546"/>
              <a:gd name="T1" fmla="*/ 254 h 509"/>
              <a:gd name="T2" fmla="*/ 539 w 546"/>
              <a:gd name="T3" fmla="*/ 203 h 509"/>
              <a:gd name="T4" fmla="*/ 523 w 546"/>
              <a:gd name="T5" fmla="*/ 155 h 509"/>
              <a:gd name="T6" fmla="*/ 498 w 546"/>
              <a:gd name="T7" fmla="*/ 112 h 509"/>
              <a:gd name="T8" fmla="*/ 465 w 546"/>
              <a:gd name="T9" fmla="*/ 74 h 509"/>
              <a:gd name="T10" fmla="*/ 424 w 546"/>
              <a:gd name="T11" fmla="*/ 44 h 509"/>
              <a:gd name="T12" fmla="*/ 378 w 546"/>
              <a:gd name="T13" fmla="*/ 20 h 509"/>
              <a:gd name="T14" fmla="*/ 327 w 546"/>
              <a:gd name="T15" fmla="*/ 5 h 509"/>
              <a:gd name="T16" fmla="*/ 272 w 546"/>
              <a:gd name="T17" fmla="*/ 0 h 509"/>
              <a:gd name="T18" fmla="*/ 217 w 546"/>
              <a:gd name="T19" fmla="*/ 5 h 509"/>
              <a:gd name="T20" fmla="*/ 166 w 546"/>
              <a:gd name="T21" fmla="*/ 20 h 509"/>
              <a:gd name="T22" fmla="*/ 120 w 546"/>
              <a:gd name="T23" fmla="*/ 44 h 509"/>
              <a:gd name="T24" fmla="*/ 79 w 546"/>
              <a:gd name="T25" fmla="*/ 74 h 509"/>
              <a:gd name="T26" fmla="*/ 46 w 546"/>
              <a:gd name="T27" fmla="*/ 112 h 509"/>
              <a:gd name="T28" fmla="*/ 21 w 546"/>
              <a:gd name="T29" fmla="*/ 155 h 509"/>
              <a:gd name="T30" fmla="*/ 5 w 546"/>
              <a:gd name="T31" fmla="*/ 203 h 509"/>
              <a:gd name="T32" fmla="*/ 0 w 546"/>
              <a:gd name="T33" fmla="*/ 254 h 509"/>
              <a:gd name="T34" fmla="*/ 5 w 546"/>
              <a:gd name="T35" fmla="*/ 305 h 509"/>
              <a:gd name="T36" fmla="*/ 21 w 546"/>
              <a:gd name="T37" fmla="*/ 353 h 509"/>
              <a:gd name="T38" fmla="*/ 46 w 546"/>
              <a:gd name="T39" fmla="*/ 396 h 509"/>
              <a:gd name="T40" fmla="*/ 79 w 546"/>
              <a:gd name="T41" fmla="*/ 433 h 509"/>
              <a:gd name="T42" fmla="*/ 120 w 546"/>
              <a:gd name="T43" fmla="*/ 464 h 509"/>
              <a:gd name="T44" fmla="*/ 166 w 546"/>
              <a:gd name="T45" fmla="*/ 488 h 509"/>
              <a:gd name="T46" fmla="*/ 217 w 546"/>
              <a:gd name="T47" fmla="*/ 503 h 509"/>
              <a:gd name="T48" fmla="*/ 272 w 546"/>
              <a:gd name="T49" fmla="*/ 508 h 509"/>
              <a:gd name="T50" fmla="*/ 327 w 546"/>
              <a:gd name="T51" fmla="*/ 503 h 509"/>
              <a:gd name="T52" fmla="*/ 378 w 546"/>
              <a:gd name="T53" fmla="*/ 488 h 509"/>
              <a:gd name="T54" fmla="*/ 424 w 546"/>
              <a:gd name="T55" fmla="*/ 464 h 509"/>
              <a:gd name="T56" fmla="*/ 465 w 546"/>
              <a:gd name="T57" fmla="*/ 433 h 509"/>
              <a:gd name="T58" fmla="*/ 498 w 546"/>
              <a:gd name="T59" fmla="*/ 396 h 509"/>
              <a:gd name="T60" fmla="*/ 523 w 546"/>
              <a:gd name="T61" fmla="*/ 353 h 509"/>
              <a:gd name="T62" fmla="*/ 539 w 546"/>
              <a:gd name="T63" fmla="*/ 305 h 509"/>
              <a:gd name="T64" fmla="*/ 545 w 546"/>
              <a:gd name="T65" fmla="*/ 254 h 509"/>
              <a:gd name="T66" fmla="*/ 545 w 546"/>
              <a:gd name="T67" fmla="*/ 254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6" h="509">
                <a:moveTo>
                  <a:pt x="545" y="254"/>
                </a:moveTo>
                <a:lnTo>
                  <a:pt x="539" y="203"/>
                </a:lnTo>
                <a:lnTo>
                  <a:pt x="523" y="155"/>
                </a:lnTo>
                <a:lnTo>
                  <a:pt x="498" y="112"/>
                </a:lnTo>
                <a:lnTo>
                  <a:pt x="465" y="74"/>
                </a:lnTo>
                <a:lnTo>
                  <a:pt x="424" y="44"/>
                </a:lnTo>
                <a:lnTo>
                  <a:pt x="378" y="20"/>
                </a:lnTo>
                <a:lnTo>
                  <a:pt x="327" y="5"/>
                </a:lnTo>
                <a:lnTo>
                  <a:pt x="272" y="0"/>
                </a:lnTo>
                <a:lnTo>
                  <a:pt x="217" y="5"/>
                </a:lnTo>
                <a:lnTo>
                  <a:pt x="166" y="20"/>
                </a:lnTo>
                <a:lnTo>
                  <a:pt x="120" y="44"/>
                </a:lnTo>
                <a:lnTo>
                  <a:pt x="79" y="74"/>
                </a:lnTo>
                <a:lnTo>
                  <a:pt x="46" y="112"/>
                </a:lnTo>
                <a:lnTo>
                  <a:pt x="21" y="155"/>
                </a:lnTo>
                <a:lnTo>
                  <a:pt x="5" y="203"/>
                </a:lnTo>
                <a:lnTo>
                  <a:pt x="0" y="254"/>
                </a:lnTo>
                <a:lnTo>
                  <a:pt x="5" y="305"/>
                </a:lnTo>
                <a:lnTo>
                  <a:pt x="21" y="353"/>
                </a:lnTo>
                <a:lnTo>
                  <a:pt x="46" y="396"/>
                </a:lnTo>
                <a:lnTo>
                  <a:pt x="79" y="433"/>
                </a:lnTo>
                <a:lnTo>
                  <a:pt x="120" y="464"/>
                </a:lnTo>
                <a:lnTo>
                  <a:pt x="166" y="488"/>
                </a:lnTo>
                <a:lnTo>
                  <a:pt x="217" y="503"/>
                </a:lnTo>
                <a:lnTo>
                  <a:pt x="272" y="508"/>
                </a:lnTo>
                <a:lnTo>
                  <a:pt x="327" y="503"/>
                </a:lnTo>
                <a:lnTo>
                  <a:pt x="378" y="488"/>
                </a:lnTo>
                <a:lnTo>
                  <a:pt x="424" y="464"/>
                </a:lnTo>
                <a:lnTo>
                  <a:pt x="465" y="433"/>
                </a:lnTo>
                <a:lnTo>
                  <a:pt x="498" y="396"/>
                </a:lnTo>
                <a:lnTo>
                  <a:pt x="523" y="353"/>
                </a:lnTo>
                <a:lnTo>
                  <a:pt x="539" y="305"/>
                </a:lnTo>
                <a:lnTo>
                  <a:pt x="545" y="254"/>
                </a:lnTo>
                <a:lnTo>
                  <a:pt x="545" y="254"/>
                </a:lnTo>
              </a:path>
            </a:pathLst>
          </a:custGeom>
          <a:noFill/>
          <a:ln w="50800" cap="rnd" cmpd="sng">
            <a:solidFill>
              <a:srgbClr val="FFFFFF"/>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142" name="Rectangle 14"/>
          <p:cNvSpPr>
            <a:spLocks noChangeArrowheads="1"/>
          </p:cNvSpPr>
          <p:nvPr/>
        </p:nvSpPr>
        <p:spPr bwMode="auto">
          <a:xfrm>
            <a:off x="5529263" y="5075238"/>
            <a:ext cx="3603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2500">
                <a:solidFill>
                  <a:srgbClr val="3399FF"/>
                </a:solidFill>
              </a:rPr>
              <a:t>6</a:t>
            </a:r>
          </a:p>
        </p:txBody>
      </p:sp>
      <p:sp>
        <p:nvSpPr>
          <p:cNvPr id="48143" name="Rectangle 15"/>
          <p:cNvSpPr>
            <a:spLocks noChangeArrowheads="1"/>
          </p:cNvSpPr>
          <p:nvPr/>
        </p:nvSpPr>
        <p:spPr bwMode="auto">
          <a:xfrm>
            <a:off x="5456238" y="3322638"/>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$80</a:t>
            </a:r>
          </a:p>
        </p:txBody>
      </p:sp>
      <p:sp>
        <p:nvSpPr>
          <p:cNvPr id="48144" name="Line 16"/>
          <p:cNvSpPr>
            <a:spLocks noChangeShapeType="1"/>
          </p:cNvSpPr>
          <p:nvPr/>
        </p:nvSpPr>
        <p:spPr bwMode="auto">
          <a:xfrm>
            <a:off x="4911725" y="3581400"/>
            <a:ext cx="1752600" cy="15398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45" name="Rectangle 17"/>
          <p:cNvSpPr>
            <a:spLocks noChangeArrowheads="1"/>
          </p:cNvSpPr>
          <p:nvPr/>
        </p:nvSpPr>
        <p:spPr bwMode="auto">
          <a:xfrm>
            <a:off x="7024688" y="2563813"/>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$75</a:t>
            </a:r>
          </a:p>
        </p:txBody>
      </p:sp>
      <p:sp>
        <p:nvSpPr>
          <p:cNvPr id="48146" name="Rectangle 18"/>
          <p:cNvSpPr>
            <a:spLocks noChangeArrowheads="1"/>
          </p:cNvSpPr>
          <p:nvPr/>
        </p:nvSpPr>
        <p:spPr bwMode="auto">
          <a:xfrm>
            <a:off x="6573838" y="4700588"/>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$50</a:t>
            </a:r>
          </a:p>
        </p:txBody>
      </p:sp>
      <p:sp>
        <p:nvSpPr>
          <p:cNvPr id="48147" name="Line 19"/>
          <p:cNvSpPr>
            <a:spLocks noChangeShapeType="1"/>
          </p:cNvSpPr>
          <p:nvPr/>
        </p:nvSpPr>
        <p:spPr bwMode="auto">
          <a:xfrm flipH="1">
            <a:off x="6051550" y="4125913"/>
            <a:ext cx="866775" cy="90170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48" name="Rectangle 20"/>
          <p:cNvSpPr>
            <a:spLocks noChangeArrowheads="1"/>
          </p:cNvSpPr>
          <p:nvPr/>
        </p:nvSpPr>
        <p:spPr bwMode="auto">
          <a:xfrm>
            <a:off x="3508375" y="5224463"/>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$65</a:t>
            </a:r>
          </a:p>
        </p:txBody>
      </p:sp>
      <p:sp>
        <p:nvSpPr>
          <p:cNvPr id="48149" name="Line 21"/>
          <p:cNvSpPr>
            <a:spLocks noChangeShapeType="1"/>
          </p:cNvSpPr>
          <p:nvPr/>
        </p:nvSpPr>
        <p:spPr bwMode="auto">
          <a:xfrm>
            <a:off x="2479675" y="4891088"/>
            <a:ext cx="2824163" cy="42545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50" name="Rectangle 22"/>
          <p:cNvSpPr>
            <a:spLocks noChangeArrowheads="1"/>
          </p:cNvSpPr>
          <p:nvPr/>
        </p:nvSpPr>
        <p:spPr bwMode="auto">
          <a:xfrm>
            <a:off x="1868488" y="2865438"/>
            <a:ext cx="52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sz="1600">
                <a:solidFill>
                  <a:srgbClr val="00CC00"/>
                </a:solidFill>
              </a:rPr>
              <a:t>$40</a:t>
            </a:r>
          </a:p>
        </p:txBody>
      </p:sp>
      <p:sp>
        <p:nvSpPr>
          <p:cNvPr id="48151" name="Line 23"/>
          <p:cNvSpPr>
            <a:spLocks noChangeShapeType="1"/>
          </p:cNvSpPr>
          <p:nvPr/>
        </p:nvSpPr>
        <p:spPr bwMode="auto">
          <a:xfrm flipH="1">
            <a:off x="2139950" y="2154238"/>
            <a:ext cx="731838" cy="234632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52" name="Line 24"/>
          <p:cNvSpPr>
            <a:spLocks noChangeShapeType="1"/>
          </p:cNvSpPr>
          <p:nvPr/>
        </p:nvSpPr>
        <p:spPr bwMode="auto">
          <a:xfrm>
            <a:off x="6867525" y="2103438"/>
            <a:ext cx="238125" cy="1239837"/>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Footer Placeholder 1"/>
          <p:cNvSpPr>
            <a:spLocks noGrp="1"/>
          </p:cNvSpPr>
          <p:nvPr>
            <p:ph type="ftr" sz="quarter" idx="1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685800" y="2667000"/>
            <a:ext cx="7772400" cy="1219200"/>
          </a:xfrm>
          <a:noFill/>
          <a:ln/>
        </p:spPr>
        <p:txBody>
          <a:bodyPr lIns="92075" tIns="46038" rIns="92075" bIns="46038"/>
          <a:lstStyle/>
          <a:p>
            <a:r>
              <a:rPr lang="en-US">
                <a:solidFill>
                  <a:schemeClr val="hlink"/>
                </a:solidFill>
              </a:rPr>
              <a:t>End of Chapter 5</a:t>
            </a:r>
          </a:p>
        </p:txBody>
      </p:sp>
      <p:sp>
        <p:nvSpPr>
          <p:cNvPr id="2" name="Footer Placeholder 1"/>
          <p:cNvSpPr>
            <a:spLocks noGrp="1"/>
          </p:cNvSpPr>
          <p:nvPr>
            <p:ph type="ftr" sz="quarter" idx="1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sz="800" dirty="0"/>
              <a:t>© 2017 Cengage Learning. All Rights Reserved. May not be scanned, copied or duplicated, or posted to a publicly accessible website, in whole or in part.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466725" y="1752600"/>
            <a:ext cx="8001000" cy="1905000"/>
          </a:xfrm>
          <a:noFill/>
        </p:spPr>
        <p:txBody>
          <a:bodyPr lIns="92075" tIns="46038" rIns="92075" bIns="46038"/>
          <a:lstStyle/>
          <a:p>
            <a:pPr eaLnBrk="1" hangingPunct="1"/>
            <a:r>
              <a:rPr lang="en-US" sz="4000" dirty="0">
                <a:solidFill>
                  <a:schemeClr val="tx1"/>
                </a:solidFill>
              </a:rPr>
              <a:t>The Analytic Solver Platform software featured in this book is provided by Frontline Systems.</a:t>
            </a:r>
            <a:br>
              <a:rPr lang="en-US" sz="4000" dirty="0">
                <a:solidFill>
                  <a:schemeClr val="tx1"/>
                </a:solidFill>
              </a:rPr>
            </a:br>
            <a:br>
              <a:rPr lang="en-US" sz="4000" dirty="0">
                <a:solidFill>
                  <a:schemeClr val="tx1"/>
                </a:solidFill>
              </a:rPr>
            </a:br>
            <a:r>
              <a:rPr lang="en-US" sz="4000" dirty="0">
                <a:solidFill>
                  <a:schemeClr val="tx1"/>
                </a:solidFill>
              </a:rPr>
              <a:t>http://www.solver.com</a:t>
            </a:r>
            <a:br>
              <a:rPr lang="en-US" sz="4000" dirty="0">
                <a:solidFill>
                  <a:schemeClr val="tx1"/>
                </a:solidFill>
              </a:rPr>
            </a:br>
            <a:endParaRPr lang="en-US" sz="4000" dirty="0">
              <a:solidFill>
                <a:schemeClr val="tx1"/>
              </a:solidFill>
            </a:endParaRPr>
          </a:p>
        </p:txBody>
      </p:sp>
      <p:pic>
        <p:nvPicPr>
          <p:cNvPr id="2051" name="Picture 2" descr="C:\Users\BIT\Documents\My Dropbox\SMDA\frontline-system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9625" y="4495800"/>
            <a:ext cx="2235200"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sz="800" dirty="0"/>
              <a: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275744060"/>
      </p:ext>
    </p:extLst>
  </p:cSld>
  <p:clrMapOvr>
    <a:masterClrMapping/>
  </p:clrMapOvr>
</p:sld>
</file>

<file path=ppt/theme/theme1.xml><?xml version="1.0" encoding="utf-8"?>
<a:theme xmlns:a="http://schemas.openxmlformats.org/drawingml/2006/main" name="SMDA5">
  <a:themeElements>
    <a:clrScheme name="SMDA5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fontScheme name="SMDA5">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SMDA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MDA5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MDA5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MDA5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MDA5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MDA5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MDA5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MDA5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MDA5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MDA5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MDA5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MDA5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SMDA5</Template>
  <TotalTime>1639</TotalTime>
  <Words>4215</Words>
  <Application>Microsoft Office PowerPoint</Application>
  <PresentationFormat>On-screen Show (4:3)</PresentationFormat>
  <Paragraphs>786</Paragraphs>
  <Slides>48</Slides>
  <Notes>48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Tahoma</vt:lpstr>
      <vt:lpstr>Times New Roman</vt:lpstr>
      <vt:lpstr>Wingdings</vt:lpstr>
      <vt:lpstr>SMDA5</vt:lpstr>
      <vt:lpstr>Spreadsheet Modeling  &amp; Decision Analysis</vt:lpstr>
      <vt:lpstr>Network Modeling</vt:lpstr>
      <vt:lpstr>Introduction</vt:lpstr>
      <vt:lpstr>Network Flow Problem Characteristics</vt:lpstr>
      <vt:lpstr>A Transshipment Problem: The Bavarian Motor Company</vt:lpstr>
      <vt:lpstr>Defining the Decision Variables</vt:lpstr>
      <vt:lpstr>Defining the Objective Function</vt:lpstr>
      <vt:lpstr>Constraints for Network Flow  Problems: The Balance-of-Flow Rules</vt:lpstr>
      <vt:lpstr>Defining the Constraints</vt:lpstr>
      <vt:lpstr>Defining the Constraints</vt:lpstr>
      <vt:lpstr>Implementing the Model</vt:lpstr>
      <vt:lpstr>Optimal Solution to the BMC Problem</vt:lpstr>
      <vt:lpstr>The Shortest Path Problem</vt:lpstr>
      <vt:lpstr> The American Car Association</vt:lpstr>
      <vt:lpstr>Solving the Problem</vt:lpstr>
      <vt:lpstr>Transportation  &amp; Assignment Problems</vt:lpstr>
      <vt:lpstr>Generalized  Network Flow Problems</vt:lpstr>
      <vt:lpstr>Coal Bank Hollow Recycling</vt:lpstr>
      <vt:lpstr>Network for Recycling Problem</vt:lpstr>
      <vt:lpstr>Defining the Objective Function</vt:lpstr>
      <vt:lpstr>Defining the Constraints-I</vt:lpstr>
      <vt:lpstr>Defining the Constraints-II</vt:lpstr>
      <vt:lpstr>Defining the Constraints-III</vt:lpstr>
      <vt:lpstr>Implementing the Model</vt:lpstr>
      <vt:lpstr>Important Modeling Point - I</vt:lpstr>
      <vt:lpstr>Important Modeling Point - II</vt:lpstr>
      <vt:lpstr>The Maximal Flow Problem</vt:lpstr>
      <vt:lpstr>The Northwest Petroleum Company</vt:lpstr>
      <vt:lpstr>The Northwest Petroleum Company</vt:lpstr>
      <vt:lpstr>Formulation of the Max Flow Problem</vt:lpstr>
      <vt:lpstr>Implementing the Model</vt:lpstr>
      <vt:lpstr>Optimal Solution</vt:lpstr>
      <vt:lpstr>Special Modeling Considerations: Flow Aggregation</vt:lpstr>
      <vt:lpstr>PowerPoint Presentation</vt:lpstr>
      <vt:lpstr>Special Modeling Considerations: Multiple Arcs Between Nodes</vt:lpstr>
      <vt:lpstr>Special Modeling Considerations: Capacity Restrictions on Total Supply</vt:lpstr>
      <vt:lpstr>Special Modeling Considerations: Capacity Restrictions on Total Supply</vt:lpstr>
      <vt:lpstr>The Minimal  Spanning Tree Problem</vt:lpstr>
      <vt:lpstr> Minimal Spanning Tree Example: Windstar Aerospace Company </vt:lpstr>
      <vt:lpstr>The Minimal Spanning Tree Algorithm</vt:lpstr>
      <vt:lpstr>Solving the Example Problem - 1</vt:lpstr>
      <vt:lpstr>Solving the Example Problem - 2</vt:lpstr>
      <vt:lpstr>Solving the Example Problem - 3</vt:lpstr>
      <vt:lpstr>Solving the Example Problem - 4</vt:lpstr>
      <vt:lpstr>Solving the Example Problem - 5</vt:lpstr>
      <vt:lpstr>Solving the Example Problem - 6</vt:lpstr>
      <vt:lpstr>End of Chapter 5</vt:lpstr>
      <vt:lpstr>The Analytic Solver Platform software featured in this book is provided by Frontline Systems.  http://www.solver.com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Spreadsheet Modeling &amp; Decision Analysis:</dc:title>
  <dc:creator>Cliff Ragsdale</dc:creator>
  <cp:lastModifiedBy>Arie Harel</cp:lastModifiedBy>
  <cp:revision>112</cp:revision>
  <dcterms:created xsi:type="dcterms:W3CDTF">1995-06-17T23:31:02Z</dcterms:created>
  <dcterms:modified xsi:type="dcterms:W3CDTF">2020-11-08T22:10:28Z</dcterms:modified>
</cp:coreProperties>
</file>