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62" r:id="rId1"/>
  </p:sldMasterIdLst>
  <p:notesMasterIdLst>
    <p:notesMasterId r:id="rId30"/>
  </p:notesMasterIdLst>
  <p:handoutMasterIdLst>
    <p:handoutMasterId r:id="rId31"/>
  </p:handoutMasterIdLst>
  <p:sldIdLst>
    <p:sldId id="257" r:id="rId2"/>
    <p:sldId id="256" r:id="rId3"/>
    <p:sldId id="258" r:id="rId4"/>
    <p:sldId id="279" r:id="rId5"/>
    <p:sldId id="281" r:id="rId6"/>
    <p:sldId id="282" r:id="rId7"/>
    <p:sldId id="283" r:id="rId8"/>
    <p:sldId id="284" r:id="rId9"/>
    <p:sldId id="294" r:id="rId10"/>
    <p:sldId id="259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86" r:id="rId20"/>
    <p:sldId id="285" r:id="rId21"/>
    <p:sldId id="287" r:id="rId22"/>
    <p:sldId id="288" r:id="rId23"/>
    <p:sldId id="289" r:id="rId24"/>
    <p:sldId id="277" r:id="rId25"/>
    <p:sldId id="291" r:id="rId26"/>
    <p:sldId id="292" r:id="rId27"/>
    <p:sldId id="278" r:id="rId28"/>
    <p:sldId id="290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FFFF66"/>
    <a:srgbClr val="3399FF"/>
    <a:srgbClr val="CC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7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 varScale="1">
        <p:scale>
          <a:sx n="45" d="100"/>
          <a:sy n="45" d="100"/>
        </p:scale>
        <p:origin x="-1272" y="-9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804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 smtClean="0"/>
            </a:lvl1pPr>
          </a:lstStyle>
          <a:p>
            <a:pPr>
              <a:defRPr/>
            </a:pPr>
            <a:fld id="{EE7BABA2-2311-42BD-87EC-41DF855AEE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920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2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5FE857A4-8BCA-4C2F-80C9-2F9CC80F4CA7}" type="slidenum">
              <a:rPr lang="en-US"/>
              <a:pPr/>
              <a:t>2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0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1700BE5-6469-41DE-A9C9-54A075ED002E}" type="slidenum">
              <a:rPr lang="en-US"/>
              <a:pPr/>
              <a:t>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82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FF1A0D3B-1AFA-4A17-8F50-1DFF37A10B84}" type="slidenum">
              <a:rPr lang="en-US"/>
              <a:pPr/>
              <a:t>4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77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D5A298CE-DEE6-4405-98D7-CAC70F85712A}" type="slidenum">
              <a:rPr lang="en-US"/>
              <a:pPr/>
              <a:t>5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5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3D1A1ACF-8B32-4BF8-9267-0DAD4D985630}" type="slidenum">
              <a:rPr lang="en-US"/>
              <a:pPr/>
              <a:t>6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52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FEA13575-47B3-4E21-827D-DDDA4D285E4F}" type="slidenum">
              <a:rPr lang="en-US"/>
              <a:pPr/>
              <a:t>7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2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D00D8A19-C7CB-4827-9872-E3CC9472C5CF}" type="slidenum">
              <a:rPr lang="en-US"/>
              <a:pPr/>
              <a:t>8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22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FEA13575-47B3-4E21-827D-DDDA4D285E4F}" type="slidenum">
              <a:rPr lang="en-US"/>
              <a:pPr/>
              <a:t>9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94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113D0F13-B13A-43FE-B202-498395F84027}" type="slidenum">
              <a:rPr lang="en-US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2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AEC15C5-51A9-465F-A2E1-BE947BD30362}" type="slidenum">
              <a:rPr lang="en-US"/>
              <a:pPr/>
              <a:t>11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85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F8B5B9B8-4851-4AF2-95CB-6CC7A74E2157}" type="slidenum">
              <a:rPr lang="en-US"/>
              <a:pPr/>
              <a:t>12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47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785AEC46-61BA-49D1-9353-FA9C76039B31}" type="slidenum">
              <a:rPr lang="en-US"/>
              <a:pPr/>
              <a:t>13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01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B339B63-0415-46E0-AB05-717729B4038B}" type="slidenum">
              <a:rPr lang="en-US"/>
              <a:pPr/>
              <a:t>14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95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5863C70-8940-47C7-82B3-74246B409E8B}" type="slidenum">
              <a:rPr lang="en-US"/>
              <a:pPr/>
              <a:t>15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1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9EA4CB4-8472-46D2-B564-9263259CF2EE}" type="slidenum">
              <a:rPr lang="en-US"/>
              <a:pPr/>
              <a:t>16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50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5B601FD-E27A-4580-B3AE-A72076038EB4}" type="slidenum">
              <a:rPr lang="en-US"/>
              <a:pPr/>
              <a:t>17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3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7E642C8F-66E3-403D-A05D-71949DDD487F}" type="slidenum">
              <a:rPr lang="en-US"/>
              <a:pPr/>
              <a:t>18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21D8D8F-FDD7-4A9A-8F26-C3B656090A1F}" type="slidenum">
              <a:rPr lang="en-US"/>
              <a:pPr/>
              <a:t>19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69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8FBF8CD-1F92-402D-AE09-7DCDA5A1683E}" type="slidenum">
              <a:rPr lang="en-US"/>
              <a:pPr/>
              <a:t>20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3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9BDBBC6-02CB-495E-9359-373F015D7EAD}" type="slidenum">
              <a:rPr lang="en-US"/>
              <a:pPr/>
              <a:t>21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971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1A94C14D-BF19-4CB7-BE9D-B5AEEAF59E2E}" type="slidenum">
              <a:rPr lang="en-US"/>
              <a:pPr/>
              <a:t>22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498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8C2B411-8CDE-4D98-955D-F38CD7AE3754}" type="slidenum">
              <a:rPr lang="en-US"/>
              <a:pPr/>
              <a:t>23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245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F0796E06-A6BF-4954-BB02-B70A1F3EBD5E}" type="slidenum">
              <a:rPr lang="en-US"/>
              <a:pPr/>
              <a:t>24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98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7BABA2-2311-42BD-87EC-41DF855AEE1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91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8FBF8CD-1F92-402D-AE09-7DCDA5A1683E}" type="slidenum">
              <a:rPr lang="en-US"/>
              <a:pPr/>
              <a:t>26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01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ADE3504A-6495-4C34-AC8E-60E62901F51A}" type="slidenum">
              <a:rPr lang="en-US"/>
              <a:pPr/>
              <a:t>27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80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E2A59D82-6C7D-43DD-9107-1F6E801B1F3A}" type="slidenum">
              <a:rPr lang="en-US"/>
              <a:pPr/>
              <a:t>28</a:t>
            </a:fld>
            <a:endParaRPr 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4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46151-2180-48E4-A40B-E8886CAB57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5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CB1FD-A344-4171-B1DE-F3628F3E5B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764A6-D2E4-4C1E-B2FF-863FBC4AF9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A9E5C-38AD-47F5-B923-CB5EADF65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2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99198-E155-4655-B27E-1B8AC7A510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3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97CBD-DEF4-4429-A437-FE3AA8C585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CA3B2-9FED-4AF8-BCB3-BE4A20709C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1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028ED-5002-4645-A6CF-206CB8451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0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E67897-8696-4578-9CE3-4A8EBD276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F8DE1-037F-4DF1-8487-302C4DDD2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3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0E2BE-EFDD-4022-885F-EBCB17E153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2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2375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654AC0F1-7DE5-49D6-A714-13BC8C302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notesSlide" Target="../notesSlides/notesSlide2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 dirty="0">
                <a:solidFill>
                  <a:schemeClr val="hlink"/>
                </a:solidFill>
              </a:rPr>
              <a:t>Spreadsheet Modeling </a:t>
            </a:r>
            <a:br>
              <a:rPr lang="en-US" b="1" i="1" dirty="0">
                <a:solidFill>
                  <a:schemeClr val="hlink"/>
                </a:solidFill>
              </a:rPr>
            </a:br>
            <a:r>
              <a:rPr lang="en-US" b="1" i="1" dirty="0">
                <a:solidFill>
                  <a:schemeClr val="hlink"/>
                </a:solidFill>
              </a:rPr>
              <a:t>&amp; Decision Analysis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Practical Introduction to Business Analytics </a:t>
            </a:r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T. Ragsdale</a:t>
            </a:r>
          </a:p>
          <a:p>
            <a:pPr eaLnBrk="1" hangingPunct="1"/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 bwMode="auto">
          <a:xfrm>
            <a:off x="3124200" y="63246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495800"/>
            <a:ext cx="161544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752600"/>
            <a:ext cx="7772400" cy="2362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Introduction to Modeling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&amp; Decision Analysis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>
                <a:solidFill>
                  <a:schemeClr val="hlink"/>
                </a:solidFill>
                <a:latin typeface="Tahoma" pitchFamily="34" charset="0"/>
              </a:rPr>
              <a:t>Chapter 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85750"/>
            <a:ext cx="7775575" cy="100965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4000" i="1">
                <a:solidFill>
                  <a:schemeClr val="hlink"/>
                </a:solidFill>
              </a:rPr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0038"/>
          </a:xfrm>
          <a:noFill/>
        </p:spPr>
        <p:txBody>
          <a:bodyPr lIns="92075" tIns="46038" rIns="92075" bIns="46038"/>
          <a:lstStyle/>
          <a:p>
            <a:pPr marL="466725" indent="-466725" eaLnBrk="1" hangingPunct="1"/>
            <a:r>
              <a:rPr lang="en-US" dirty="0"/>
              <a:t>We face numerous decisions in life &amp; business.</a:t>
            </a:r>
          </a:p>
          <a:p>
            <a:pPr marL="466725" indent="-466725" eaLnBrk="1" hangingPunct="1"/>
            <a:r>
              <a:rPr lang="en-US" dirty="0"/>
              <a:t>We can use computers to analyze the potential outcomes of decision alternatives.</a:t>
            </a:r>
          </a:p>
          <a:p>
            <a:pPr marL="466725" indent="-466725" eaLnBrk="1" hangingPunct="1"/>
            <a:r>
              <a:rPr lang="en-US" dirty="0"/>
              <a:t>Spreadsheets are the tool of choice for today’s managers.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77887"/>
          </a:xfrm>
        </p:spPr>
        <p:txBody>
          <a:bodyPr/>
          <a:lstStyle/>
          <a:p>
            <a:pPr eaLnBrk="1" hangingPunct="1"/>
            <a:r>
              <a:rPr lang="en-US" sz="4000" i="1" dirty="0">
                <a:solidFill>
                  <a:schemeClr val="hlink"/>
                </a:solidFill>
              </a:rPr>
              <a:t>What is Business Analytics?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 field of study that uses computers, statistics, and mathematics to solve business problems.</a:t>
            </a:r>
          </a:p>
          <a:p>
            <a:pPr eaLnBrk="1" hangingPunct="1"/>
            <a:r>
              <a:rPr lang="en-US" dirty="0"/>
              <a:t>Considerable overlap with:</a:t>
            </a:r>
          </a:p>
          <a:p>
            <a:pPr lvl="1" eaLnBrk="1" hangingPunct="1"/>
            <a:r>
              <a:rPr lang="en-US" dirty="0"/>
              <a:t>Operations Research</a:t>
            </a:r>
          </a:p>
          <a:p>
            <a:pPr lvl="1" eaLnBrk="1" hangingPunct="1"/>
            <a:r>
              <a:rPr lang="en-US" dirty="0"/>
              <a:t>Management Science</a:t>
            </a:r>
          </a:p>
          <a:p>
            <a:pPr lvl="1" eaLnBrk="1" hangingPunct="1"/>
            <a:r>
              <a:rPr lang="en-US" dirty="0"/>
              <a:t>Decision Science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Home Runs 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in Business Analytics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91000"/>
          </a:xfrm>
        </p:spPr>
        <p:txBody>
          <a:bodyPr/>
          <a:lstStyle/>
          <a:p>
            <a:pPr eaLnBrk="1" hangingPunct="1"/>
            <a:r>
              <a:rPr lang="en-US" dirty="0"/>
              <a:t>Chevron</a:t>
            </a:r>
          </a:p>
          <a:p>
            <a:pPr lvl="1" eaLnBrk="1" hangingPunct="1"/>
            <a:r>
              <a:rPr lang="en-US" dirty="0"/>
              <a:t>Developed optimization tool for</a:t>
            </a:r>
          </a:p>
          <a:p>
            <a:pPr lvl="2" eaLnBrk="1" hangingPunct="1"/>
            <a:r>
              <a:rPr lang="en-US" dirty="0"/>
              <a:t>Operational &amp; strategic planning </a:t>
            </a:r>
          </a:p>
          <a:p>
            <a:pPr lvl="2" eaLnBrk="1" hangingPunct="1"/>
            <a:r>
              <a:rPr lang="en-US" dirty="0"/>
              <a:t>Mixing crude oils</a:t>
            </a:r>
          </a:p>
          <a:p>
            <a:pPr lvl="2" eaLnBrk="1" hangingPunct="1"/>
            <a:r>
              <a:rPr lang="en-US" dirty="0"/>
              <a:t>Planning capital expenditures</a:t>
            </a:r>
          </a:p>
          <a:p>
            <a:pPr lvl="1" eaLnBrk="1" hangingPunct="1"/>
            <a:r>
              <a:rPr lang="en-US" dirty="0"/>
              <a:t>Benefits: </a:t>
            </a:r>
          </a:p>
          <a:p>
            <a:pPr lvl="2" eaLnBrk="1" hangingPunct="1"/>
            <a:r>
              <a:rPr lang="en-US" dirty="0"/>
              <a:t>Annual savings of $1.0 billion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2"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088"/>
            <a:ext cx="8229600" cy="617537"/>
          </a:xfrm>
        </p:spPr>
        <p:txBody>
          <a:bodyPr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Home Runs 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in Business Analytics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191000"/>
          </a:xfrm>
        </p:spPr>
        <p:txBody>
          <a:bodyPr/>
          <a:lstStyle/>
          <a:p>
            <a:pPr eaLnBrk="1" hangingPunct="1"/>
            <a:r>
              <a:rPr lang="en-US" dirty="0"/>
              <a:t>Dell</a:t>
            </a:r>
          </a:p>
          <a:p>
            <a:pPr lvl="1" eaLnBrk="1" hangingPunct="1"/>
            <a:r>
              <a:rPr lang="en-US" dirty="0"/>
              <a:t>Built analytics models to</a:t>
            </a:r>
          </a:p>
          <a:p>
            <a:pPr lvl="2" eaLnBrk="1" hangingPunct="1"/>
            <a:r>
              <a:rPr lang="en-US" dirty="0"/>
              <a:t>Optimize hardware configurations</a:t>
            </a:r>
          </a:p>
          <a:p>
            <a:pPr lvl="2" eaLnBrk="1" hangingPunct="1"/>
            <a:r>
              <a:rPr lang="en-US" dirty="0"/>
              <a:t>Optimize its website’s design </a:t>
            </a:r>
          </a:p>
          <a:p>
            <a:pPr lvl="2" eaLnBrk="1" hangingPunct="1"/>
            <a:r>
              <a:rPr lang="en-US" dirty="0"/>
              <a:t>Optimize promotion design and timing</a:t>
            </a:r>
          </a:p>
          <a:p>
            <a:pPr lvl="1" eaLnBrk="1" hangingPunct="1"/>
            <a:r>
              <a:rPr lang="en-US" dirty="0"/>
              <a:t>Benefits:</a:t>
            </a:r>
          </a:p>
          <a:p>
            <a:pPr lvl="2" eaLnBrk="1" hangingPunct="1">
              <a:buClr>
                <a:srgbClr val="FFFFFF"/>
              </a:buClr>
            </a:pPr>
            <a:r>
              <a:rPr lang="en-US" dirty="0"/>
              <a:t>Increased profit by $142 million </a:t>
            </a:r>
          </a:p>
          <a:p>
            <a:pPr lvl="1" eaLnBrk="1" hangingPunct="1"/>
            <a:endParaRPr lang="en-US" dirty="0"/>
          </a:p>
          <a:p>
            <a:pPr lvl="2"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1625"/>
            <a:ext cx="8229600" cy="617538"/>
          </a:xfrm>
        </p:spPr>
        <p:txBody>
          <a:bodyPr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Home Runs 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in Business Analytics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001000" cy="4191000"/>
          </a:xfrm>
        </p:spPr>
        <p:txBody>
          <a:bodyPr/>
          <a:lstStyle/>
          <a:p>
            <a:pPr eaLnBrk="1" hangingPunct="1"/>
            <a:r>
              <a:rPr lang="en-US" dirty="0"/>
              <a:t>Kroger</a:t>
            </a:r>
          </a:p>
          <a:p>
            <a:pPr lvl="1" eaLnBrk="1" hangingPunct="1"/>
            <a:r>
              <a:rPr lang="en-US" dirty="0"/>
              <a:t>Analytics team created models to determine reorder point &amp; order up to quantities for items in 1,950 in-store pharmacies</a:t>
            </a:r>
          </a:p>
          <a:p>
            <a:pPr lvl="1" eaLnBrk="1" hangingPunct="1"/>
            <a:r>
              <a:rPr lang="en-US" dirty="0"/>
              <a:t>Benefits:</a:t>
            </a:r>
          </a:p>
          <a:p>
            <a:pPr lvl="2" eaLnBrk="1" hangingPunct="1"/>
            <a:r>
              <a:rPr lang="en-US" dirty="0"/>
              <a:t>Reduced prescription stock outs by 1.6 million</a:t>
            </a:r>
          </a:p>
          <a:p>
            <a:pPr lvl="2" eaLnBrk="1" hangingPunct="1"/>
            <a:r>
              <a:rPr lang="en-US" dirty="0"/>
              <a:t>Lowered inventory by over $120 million</a:t>
            </a:r>
          </a:p>
          <a:p>
            <a:pPr lvl="2" eaLnBrk="1" hangingPunct="1"/>
            <a:r>
              <a:rPr lang="en-US" dirty="0"/>
              <a:t>Increased revenue by $80 million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3688"/>
            <a:ext cx="8229600" cy="617537"/>
          </a:xfrm>
        </p:spPr>
        <p:txBody>
          <a:bodyPr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Home Runs in 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Business Analytics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153400" cy="4191000"/>
          </a:xfrm>
        </p:spPr>
        <p:txBody>
          <a:bodyPr/>
          <a:lstStyle/>
          <a:p>
            <a:pPr eaLnBrk="1" hangingPunct="1"/>
            <a:r>
              <a:rPr lang="en-US" dirty="0"/>
              <a:t>National Broadcast Network Company</a:t>
            </a:r>
          </a:p>
          <a:p>
            <a:pPr lvl="1" eaLnBrk="1" hangingPunct="1"/>
            <a:r>
              <a:rPr lang="en-US" dirty="0"/>
              <a:t>Gov’t owned broadband provider in Australia</a:t>
            </a:r>
          </a:p>
          <a:p>
            <a:pPr lvl="1" eaLnBrk="1" hangingPunct="1"/>
            <a:r>
              <a:rPr lang="en-US" dirty="0"/>
              <a:t>Developed tool to optimize design of network servicing 8 million locations</a:t>
            </a:r>
          </a:p>
          <a:p>
            <a:pPr lvl="1" eaLnBrk="1" hangingPunct="1"/>
            <a:r>
              <a:rPr lang="en-US" dirty="0"/>
              <a:t>Benefits:</a:t>
            </a:r>
          </a:p>
          <a:p>
            <a:pPr lvl="2" eaLnBrk="1" hangingPunct="1"/>
            <a:r>
              <a:rPr lang="en-US" dirty="0"/>
              <a:t> Reduction in network design time</a:t>
            </a:r>
          </a:p>
          <a:p>
            <a:pPr lvl="2" eaLnBrk="1" hangingPunct="1"/>
            <a:r>
              <a:rPr lang="en-US" dirty="0"/>
              <a:t> Savings of ~$1.7 billion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1625"/>
            <a:ext cx="8229600" cy="617538"/>
          </a:xfrm>
        </p:spPr>
        <p:txBody>
          <a:bodyPr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Home Runs 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in Business Analytics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001000" cy="4191000"/>
          </a:xfrm>
        </p:spPr>
        <p:txBody>
          <a:bodyPr/>
          <a:lstStyle/>
          <a:p>
            <a:pPr eaLnBrk="1" hangingPunct="1"/>
            <a:r>
              <a:rPr lang="en-US" dirty="0"/>
              <a:t>Alliance for Paired Donations (APD)</a:t>
            </a:r>
          </a:p>
          <a:p>
            <a:pPr lvl="1" eaLnBrk="1" hangingPunct="1"/>
            <a:r>
              <a:rPr lang="en-US" dirty="0"/>
              <a:t>Transplant patients needing a kidney often have potential donors who are incompatible</a:t>
            </a:r>
          </a:p>
          <a:p>
            <a:pPr lvl="1" eaLnBrk="1" hangingPunct="1"/>
            <a:r>
              <a:rPr lang="en-US" dirty="0"/>
              <a:t>APD finds exchanges with other patient-donor pairs to optimize paired matches </a:t>
            </a:r>
          </a:p>
          <a:p>
            <a:pPr lvl="1" eaLnBrk="1" hangingPunct="1"/>
            <a:r>
              <a:rPr lang="en-US" dirty="0"/>
              <a:t>Benefits:</a:t>
            </a:r>
          </a:p>
          <a:p>
            <a:pPr lvl="2" eaLnBrk="1" hangingPunct="1"/>
            <a:r>
              <a:rPr lang="en-US" dirty="0"/>
              <a:t>220 lives saved since 2006</a:t>
            </a:r>
          </a:p>
          <a:p>
            <a:pPr lvl="2" eaLnBrk="1" hangingPunct="1"/>
            <a:r>
              <a:rPr lang="en-US" dirty="0"/>
              <a:t>Value of savings: </a:t>
            </a:r>
            <a:r>
              <a:rPr lang="en-US" sz="3200" i="1" u="sng" dirty="0"/>
              <a:t>priceless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  <p:extLst>
      <p:ext uri="{BB962C8B-B14F-4D97-AF65-F5344CB8AC3E}">
        <p14:creationId xmlns:p14="http://schemas.microsoft.com/office/powerpoint/2010/main" val="412713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What is a “Computer Model”?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set of mathematical relationships and logical assumptions implemented in a computer as an abstract representation of a real-world object of phenomenon.</a:t>
            </a:r>
          </a:p>
          <a:p>
            <a:pPr eaLnBrk="1" hangingPunct="1"/>
            <a:r>
              <a:rPr lang="en-US" dirty="0"/>
              <a:t>Spreadsheets provide the most convenient way for business people to build computer models.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77838" y="539750"/>
            <a:ext cx="7999412" cy="7588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The Modeling Approach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to Decision Making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862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Everyone uses models to make decisions.</a:t>
            </a:r>
          </a:p>
          <a:p>
            <a:pPr eaLnBrk="1" hangingPunct="1"/>
            <a:r>
              <a:rPr lang="en-US" dirty="0"/>
              <a:t>Types of models:</a:t>
            </a:r>
          </a:p>
          <a:p>
            <a:pPr lvl="1" eaLnBrk="1" hangingPunct="1">
              <a:buFont typeface="Tahoma" pitchFamily="34" charset="0"/>
              <a:buChar char="–"/>
            </a:pPr>
            <a:r>
              <a:rPr lang="en-US" dirty="0"/>
              <a:t>Mental (arranging furniture)</a:t>
            </a:r>
          </a:p>
          <a:p>
            <a:pPr lvl="1" eaLnBrk="1" hangingPunct="1">
              <a:buFont typeface="Tahoma" pitchFamily="34" charset="0"/>
              <a:buChar char="–"/>
            </a:pPr>
            <a:r>
              <a:rPr lang="en-US" dirty="0"/>
              <a:t>Visual (blueprints, road maps)</a:t>
            </a:r>
          </a:p>
          <a:p>
            <a:pPr lvl="1" eaLnBrk="1" hangingPunct="1">
              <a:buFont typeface="Tahoma" pitchFamily="34" charset="0"/>
              <a:buChar char="–"/>
            </a:pPr>
            <a:r>
              <a:rPr lang="en-US" dirty="0"/>
              <a:t>Physical/Scale (aerodynamics, buildings)</a:t>
            </a:r>
          </a:p>
          <a:p>
            <a:pPr lvl="1" eaLnBrk="1" hangingPunct="1">
              <a:buFont typeface="Tahoma" pitchFamily="34" charset="0"/>
              <a:buChar char="–"/>
            </a:pPr>
            <a:r>
              <a:rPr lang="en-US" dirty="0"/>
              <a:t>Mathematical (what we’ll be studying)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Characteristics of Models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7675"/>
            <a:ext cx="8229600" cy="4530725"/>
          </a:xfrm>
          <a:noFill/>
        </p:spPr>
        <p:txBody>
          <a:bodyPr lIns="92075" tIns="46038" rIns="92075" bIns="46038"/>
          <a:lstStyle/>
          <a:p>
            <a:pPr marL="466725" indent="-466725" eaLnBrk="1" hangingPunct="1"/>
            <a:r>
              <a:rPr lang="en-US" dirty="0"/>
              <a:t>Models are usually </a:t>
            </a:r>
            <a:r>
              <a:rPr lang="en-US" u="sng" dirty="0"/>
              <a:t>simplified</a:t>
            </a:r>
            <a:r>
              <a:rPr lang="en-US" dirty="0"/>
              <a:t> versions of the things they represent</a:t>
            </a:r>
          </a:p>
          <a:p>
            <a:pPr marL="466725" indent="-466725" eaLnBrk="1" hangingPunct="1"/>
            <a:r>
              <a:rPr lang="en-US" dirty="0"/>
              <a:t>A </a:t>
            </a:r>
            <a:r>
              <a:rPr lang="en-US" u="sng" dirty="0"/>
              <a:t>valid</a:t>
            </a:r>
            <a:r>
              <a:rPr lang="en-US" dirty="0"/>
              <a:t> model accurately represents the relevant characteristics of the object or decision being studied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76238"/>
            <a:ext cx="7772400" cy="5619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Benefits of Modeling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52500"/>
            <a:ext cx="7772400" cy="5372100"/>
          </a:xfrm>
          <a:noFill/>
        </p:spPr>
        <p:txBody>
          <a:bodyPr lIns="92075" tIns="46038" rIns="92075" bIns="46038"/>
          <a:lstStyle/>
          <a:p>
            <a:pPr marL="466725" indent="-466725" eaLnBrk="1" hangingPunct="1"/>
            <a:r>
              <a:rPr lang="en-US" u="sng" dirty="0"/>
              <a:t>Economy</a:t>
            </a:r>
            <a:r>
              <a:rPr lang="en-US" dirty="0"/>
              <a:t> - It is often less costly to analyze decision problems using models.</a:t>
            </a:r>
          </a:p>
          <a:p>
            <a:pPr marL="466725" indent="-466725" eaLnBrk="1" hangingPunct="1"/>
            <a:r>
              <a:rPr lang="en-US" u="sng" dirty="0"/>
              <a:t>Timeliness</a:t>
            </a:r>
            <a:r>
              <a:rPr lang="en-US" dirty="0"/>
              <a:t> - Models often deliver needed information more quickly than their real-world counterparts.</a:t>
            </a:r>
          </a:p>
          <a:p>
            <a:pPr marL="466725" indent="-466725" eaLnBrk="1" hangingPunct="1"/>
            <a:r>
              <a:rPr lang="en-US" u="sng" dirty="0"/>
              <a:t>Feasibility</a:t>
            </a:r>
            <a:r>
              <a:rPr lang="en-US" dirty="0"/>
              <a:t> - Models can be used to do things that would be impossible.</a:t>
            </a:r>
          </a:p>
          <a:p>
            <a:pPr marL="466725" indent="-466725" eaLnBrk="1" hangingPunct="1"/>
            <a:r>
              <a:rPr lang="en-US" dirty="0"/>
              <a:t>Models give us </a:t>
            </a:r>
            <a:r>
              <a:rPr lang="en-US" u="sng" dirty="0"/>
              <a:t>insight</a:t>
            </a:r>
            <a:r>
              <a:rPr lang="en-US" dirty="0"/>
              <a:t> &amp; </a:t>
            </a:r>
            <a:r>
              <a:rPr lang="en-US" u="sng" dirty="0"/>
              <a:t>understanding</a:t>
            </a:r>
            <a:r>
              <a:rPr lang="en-US" dirty="0"/>
              <a:t> that improves decision making.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42900"/>
            <a:ext cx="7696200" cy="104933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sz="3600" i="1">
                <a:solidFill>
                  <a:schemeClr val="hlink"/>
                </a:solidFill>
              </a:rPr>
              <a:t>Example of a Mathematical Model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81100"/>
            <a:ext cx="7772400" cy="41529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	Profit = Revenue - Expenses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or 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	Profit = </a:t>
            </a:r>
            <a:r>
              <a:rPr lang="en-US" b="1" i="1" dirty="0">
                <a:latin typeface="Times New Roman" pitchFamily="18" charset="0"/>
              </a:rPr>
              <a:t>f</a:t>
            </a:r>
            <a:r>
              <a:rPr lang="en-US" dirty="0"/>
              <a:t>(Revenue, Expenses)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or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	Y = 	</a:t>
            </a:r>
            <a:r>
              <a:rPr lang="en-US" b="1" i="1" dirty="0">
                <a:latin typeface="Times New Roman" pitchFamily="18" charset="0"/>
              </a:rPr>
              <a:t>f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A</a:t>
            </a:r>
            <a:r>
              <a:rPr lang="en-US" sz="3600" i="1"/>
              <a:t> </a:t>
            </a:r>
            <a:r>
              <a:rPr lang="en-US" sz="3600" i="1">
                <a:solidFill>
                  <a:schemeClr val="hlink"/>
                </a:solidFill>
              </a:rPr>
              <a:t>Generic Mathematical Model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524125" y="1584325"/>
            <a:ext cx="4333875" cy="53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3200" dirty="0"/>
              <a:t>Y = 	</a:t>
            </a:r>
            <a:r>
              <a:rPr lang="en-US" sz="3200" b="1" i="1" dirty="0">
                <a:latin typeface="Times New Roman" pitchFamily="18" charset="0"/>
              </a:rPr>
              <a:t>f </a:t>
            </a:r>
            <a:r>
              <a:rPr lang="en-US" sz="3200" dirty="0"/>
              <a:t>(X</a:t>
            </a:r>
            <a:r>
              <a:rPr lang="en-US" sz="3200" baseline="-25000" dirty="0"/>
              <a:t>1</a:t>
            </a:r>
            <a:r>
              <a:rPr lang="en-US" sz="3200" dirty="0"/>
              <a:t>, X</a:t>
            </a:r>
            <a:r>
              <a:rPr lang="en-US" sz="3200" baseline="-25000" dirty="0"/>
              <a:t>2</a:t>
            </a:r>
            <a:r>
              <a:rPr lang="en-US" sz="3200" dirty="0"/>
              <a:t>,</a:t>
            </a:r>
            <a:r>
              <a:rPr lang="en-US" sz="3200" baseline="-25000" dirty="0"/>
              <a:t> </a:t>
            </a:r>
            <a:r>
              <a:rPr lang="en-US" sz="3200" dirty="0"/>
              <a:t>…,</a:t>
            </a:r>
            <a:r>
              <a:rPr lang="en-US" sz="3200" baseline="-25000" dirty="0"/>
              <a:t> </a:t>
            </a:r>
            <a:r>
              <a:rPr lang="en-US" sz="3200" dirty="0" err="1"/>
              <a:t>X</a:t>
            </a:r>
            <a:r>
              <a:rPr lang="en-US" sz="3200" baseline="-25000" dirty="0" err="1"/>
              <a:t>n</a:t>
            </a:r>
            <a:r>
              <a:rPr lang="en-US" sz="3200" dirty="0"/>
              <a:t>)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28600" y="2971800"/>
            <a:ext cx="8839200" cy="3284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500" dirty="0">
                <a:latin typeface="Tahoma" pitchFamily="34" charset="0"/>
              </a:rPr>
              <a:t>   Y = dependent variable 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500" dirty="0">
                <a:latin typeface="Tahoma" pitchFamily="34" charset="0"/>
              </a:rPr>
              <a:t>         (</a:t>
            </a:r>
            <a:r>
              <a:rPr lang="en-US" sz="2500" b="1" i="1" dirty="0">
                <a:latin typeface="Times New Roman" pitchFamily="18" charset="0"/>
                <a:cs typeface="Times New Roman" pitchFamily="18" charset="0"/>
              </a:rPr>
              <a:t>aka</a:t>
            </a:r>
            <a:r>
              <a:rPr lang="en-US" sz="2500" dirty="0">
                <a:latin typeface="Tahoma" pitchFamily="34" charset="0"/>
              </a:rPr>
              <a:t> bottom-line performance measure)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endParaRPr lang="en-US" sz="2500" dirty="0">
              <a:latin typeface="Tahoma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   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ahoma" pitchFamily="34" charset="0"/>
              </a:rPr>
              <a:t> = independent variables (inputs having an impact on Y)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endParaRPr lang="en-US" sz="2400" dirty="0">
              <a:latin typeface="Tahoma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400" b="1" i="1" dirty="0">
                <a:latin typeface="Tahoma" pitchFamily="34" charset="0"/>
              </a:rPr>
              <a:t>   </a:t>
            </a:r>
            <a:r>
              <a:rPr lang="en-US" sz="2400" b="1" i="1" dirty="0">
                <a:latin typeface="Times New Roman" pitchFamily="18" charset="0"/>
              </a:rPr>
              <a:t>f </a:t>
            </a:r>
            <a:r>
              <a:rPr lang="en-US" sz="2400" dirty="0">
                <a:latin typeface="Tahoma" pitchFamily="34" charset="0"/>
              </a:rPr>
              <a:t>(</a:t>
            </a:r>
            <a:r>
              <a:rPr lang="en-US" sz="2800" b="1" baseline="24000" dirty="0">
                <a:latin typeface="Tahoma" pitchFamily="34" charset="0"/>
              </a:rPr>
              <a:t>.</a:t>
            </a:r>
            <a:r>
              <a:rPr lang="en-US" sz="2400" dirty="0">
                <a:latin typeface="Tahoma" pitchFamily="34" charset="0"/>
              </a:rPr>
              <a:t>) = function defining the relationship between the 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ahoma" pitchFamily="34" charset="0"/>
              </a:rPr>
              <a:t> &amp; Y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endParaRPr lang="en-US" sz="2400" dirty="0">
              <a:latin typeface="Tahoma" pitchFamily="34" charset="0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57200" y="2270125"/>
            <a:ext cx="1166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>
                <a:latin typeface="Tahoma" pitchFamily="34" charset="0"/>
              </a:rPr>
              <a:t>Where: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Mathematical Models &amp; Spreadsheets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38300"/>
            <a:ext cx="8382000" cy="2324100"/>
          </a:xfrm>
          <a:noFill/>
        </p:spPr>
        <p:txBody>
          <a:bodyPr lIns="92075" tIns="46038" rIns="92075" bIns="46038"/>
          <a:lstStyle/>
          <a:p>
            <a:pPr marL="407988" indent="-407988" eaLnBrk="1" hangingPunct="1"/>
            <a:r>
              <a:rPr lang="en-US" dirty="0"/>
              <a:t>Most spreadsheet models are very similar  to our generic mathematical model: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447925" y="3260725"/>
            <a:ext cx="38766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3200"/>
              <a:t>Y = 	</a:t>
            </a:r>
            <a:r>
              <a:rPr lang="en-US" sz="3200" b="1" i="1">
                <a:latin typeface="Times New Roman" pitchFamily="18" charset="0"/>
              </a:rPr>
              <a:t>f</a:t>
            </a:r>
            <a:r>
              <a:rPr lang="en-US" sz="3200"/>
              <a:t>(X</a:t>
            </a:r>
            <a:r>
              <a:rPr lang="en-US" sz="3200" baseline="-25000"/>
              <a:t>1</a:t>
            </a:r>
            <a:r>
              <a:rPr lang="en-US" sz="3200"/>
              <a:t>, X</a:t>
            </a:r>
            <a:r>
              <a:rPr lang="en-US" sz="3200" baseline="-25000"/>
              <a:t>2</a:t>
            </a:r>
            <a:r>
              <a:rPr lang="en-US" sz="3200"/>
              <a:t>,</a:t>
            </a:r>
            <a:r>
              <a:rPr lang="en-US" sz="3200" baseline="-25000"/>
              <a:t> </a:t>
            </a:r>
            <a:r>
              <a:rPr lang="en-US" sz="3200"/>
              <a:t>…,</a:t>
            </a:r>
            <a:r>
              <a:rPr lang="en-US" sz="3200" baseline="-25000"/>
              <a:t> </a:t>
            </a:r>
            <a:r>
              <a:rPr lang="en-US" sz="3200"/>
              <a:t>X</a:t>
            </a:r>
            <a:r>
              <a:rPr lang="en-US" sz="3200" baseline="-25000"/>
              <a:t>n</a:t>
            </a:r>
            <a:r>
              <a:rPr lang="en-US" sz="3200"/>
              <a:t>)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533400" y="4000500"/>
            <a:ext cx="84582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07988" indent="-407988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>
                <a:latin typeface="Tahoma" pitchFamily="34" charset="0"/>
              </a:rPr>
              <a:t>Most spreadsheets have input cells (representing X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ahoma" pitchFamily="34" charset="0"/>
              </a:rPr>
              <a:t>) to which mathematical functions,  </a:t>
            </a:r>
            <a:r>
              <a:rPr lang="en-US" sz="3200" i="1" dirty="0">
                <a:latin typeface="Times New Roman" pitchFamily="18" charset="0"/>
              </a:rPr>
              <a:t>f </a:t>
            </a:r>
            <a:r>
              <a:rPr lang="en-US" sz="3200" dirty="0">
                <a:latin typeface="Tahoma" pitchFamily="34" charset="0"/>
              </a:rPr>
              <a:t>(</a:t>
            </a:r>
            <a:r>
              <a:rPr lang="en-US" sz="3200" baseline="30000" dirty="0">
                <a:latin typeface="Tahoma" pitchFamily="34" charset="0"/>
              </a:rPr>
              <a:t>.</a:t>
            </a:r>
            <a:r>
              <a:rPr lang="en-US" sz="3200" dirty="0">
                <a:latin typeface="Tahoma" pitchFamily="34" charset="0"/>
              </a:rPr>
              <a:t>) , are applied to compute a bottom-line performance measure (or Y).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274638"/>
            <a:ext cx="7515225" cy="5937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Categories of Analytical Models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399"/>
            <a:ext cx="8534400" cy="4568821"/>
          </a:xfrm>
          <a:noFill/>
        </p:spPr>
        <p:txBody>
          <a:bodyPr lIns="92075" tIns="46038" rIns="92075" bIns="46038"/>
          <a:lstStyle/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Prescriptive	known,	known or under	LP, Networks, IP,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		well-defined	decision maker’s	CPM, EOQ, NLP,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			control	GAs, GP, MOLP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endParaRPr lang="en-US" sz="2000" dirty="0"/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Predictive	unknown,	known or under	Regression Analysis, 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		ill-defined	decision maker’s	Time Series Analysis,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		 	control	 Discriminant Analysis,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				Neural Networks, </a:t>
            </a:r>
            <a:br>
              <a:rPr lang="en-US" sz="2000" dirty="0"/>
            </a:br>
            <a:r>
              <a:rPr lang="en-US" sz="2000" dirty="0"/>
              <a:t>				Affinity Analysis, etc.</a:t>
            </a:r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endParaRPr lang="en-US" sz="2000" dirty="0"/>
          </a:p>
          <a:p>
            <a:pPr marL="0" indent="0" defTabSz="1001713" eaLnBrk="1" hangingPunct="1">
              <a:buFont typeface="Wingdings" pitchFamily="2" charset="2"/>
              <a:buNone/>
              <a:tabLst>
                <a:tab pos="119063" algn="l"/>
                <a:tab pos="2347913" algn="ctr"/>
                <a:tab pos="4286250" algn="ctr"/>
                <a:tab pos="6923088" algn="ctr"/>
              </a:tabLst>
            </a:pPr>
            <a:r>
              <a:rPr lang="en-US" sz="2000" dirty="0"/>
              <a:t>Descriptive	known,	unknown or	Simulation, PERT,			well-defined	uncertain	Queueing, Statistics,</a:t>
            </a:r>
            <a:br>
              <a:rPr lang="en-US" sz="2000" dirty="0"/>
            </a:br>
            <a:r>
              <a:rPr lang="en-US" sz="2000" dirty="0"/>
              <a:t>				Inventory Models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533400" y="838200"/>
            <a:ext cx="8001000" cy="770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tabLst>
                <a:tab pos="628650" algn="ctr"/>
                <a:tab pos="2228850" algn="ctr"/>
                <a:tab pos="4167188" algn="ctr"/>
                <a:tab pos="6565900" algn="ctr"/>
              </a:tabLst>
            </a:pPr>
            <a:r>
              <a:rPr lang="en-US" sz="2000" b="1" dirty="0"/>
              <a:t>			Independent 	Analytic</a:t>
            </a:r>
          </a:p>
          <a:p>
            <a:pPr eaLnBrk="0" hangingPunct="0">
              <a:spcBef>
                <a:spcPct val="20000"/>
              </a:spcBef>
              <a:tabLst>
                <a:tab pos="628650" algn="ctr"/>
                <a:tab pos="2228850" algn="ctr"/>
                <a:tab pos="4167188" algn="ctr"/>
                <a:tab pos="6565900" algn="ctr"/>
              </a:tabLst>
            </a:pPr>
            <a:r>
              <a:rPr lang="en-US" sz="2000" b="1" dirty="0"/>
              <a:t>	Category	Form of </a:t>
            </a:r>
            <a:r>
              <a:rPr lang="en-US" sz="2000" b="1" i="1" dirty="0">
                <a:latin typeface="Times New Roman" pitchFamily="18" charset="0"/>
              </a:rPr>
              <a:t>f</a:t>
            </a:r>
            <a:r>
              <a:rPr lang="en-US" sz="2000" b="1" dirty="0"/>
              <a:t>(</a:t>
            </a:r>
            <a:r>
              <a:rPr lang="en-US" sz="2000" b="1" baseline="24000" dirty="0"/>
              <a:t>.</a:t>
            </a:r>
            <a:r>
              <a:rPr lang="en-US" sz="2000" b="1" dirty="0"/>
              <a:t>)	Variables	 Techniques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457200" y="1600200"/>
            <a:ext cx="83058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14"/>
          <p:cNvSpPr>
            <a:spLocks noChangeShapeType="1"/>
          </p:cNvSpPr>
          <p:nvPr/>
        </p:nvSpPr>
        <p:spPr bwMode="auto">
          <a:xfrm>
            <a:off x="3810000" y="32893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Line 13"/>
          <p:cNvSpPr>
            <a:spLocks noChangeShapeType="1"/>
          </p:cNvSpPr>
          <p:nvPr/>
        </p:nvSpPr>
        <p:spPr bwMode="auto">
          <a:xfrm>
            <a:off x="1600200" y="3238500"/>
            <a:ext cx="533400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9425"/>
            <a:ext cx="7772400" cy="8159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The Problem-Solving Framework for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Leveraging Business Opportunities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17500" y="2743200"/>
            <a:ext cx="1524000" cy="939361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 dirty="0"/>
              <a:t>Identify Problem</a:t>
            </a:r>
            <a:br>
              <a:rPr lang="en-US" sz="2000" b="1" dirty="0"/>
            </a:br>
            <a:r>
              <a:rPr lang="en-US" sz="1500" b="1" dirty="0"/>
              <a:t>“</a:t>
            </a:r>
            <a:r>
              <a:rPr lang="en-US" sz="1500" b="1" dirty="0" err="1"/>
              <a:t>Probortunity</a:t>
            </a:r>
            <a:r>
              <a:rPr lang="en-US" sz="1500" b="1" dirty="0"/>
              <a:t>”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133600" y="2743200"/>
            <a:ext cx="1752600" cy="10318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 dirty="0"/>
              <a:t>Formulate &amp; Implement Model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114800" y="3048000"/>
            <a:ext cx="1219200" cy="7270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/>
              <a:t>Analyze Model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5626100" y="3048000"/>
            <a:ext cx="1143000" cy="7270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/>
              <a:t>Test Results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7086600" y="3048000"/>
            <a:ext cx="1600200" cy="7270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/>
              <a:t>Implement Solution</a:t>
            </a:r>
          </a:p>
        </p:txBody>
      </p:sp>
      <p:sp>
        <p:nvSpPr>
          <p:cNvPr id="18442" name="Rectangle 8"/>
          <p:cNvSpPr>
            <a:spLocks noChangeArrowheads="1"/>
          </p:cNvSpPr>
          <p:nvPr/>
        </p:nvSpPr>
        <p:spPr bwMode="auto">
          <a:xfrm>
            <a:off x="3505200" y="4508500"/>
            <a:ext cx="2133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/>
              <a:t>unsatisfactory</a:t>
            </a:r>
          </a:p>
          <a:p>
            <a:pPr algn="ctr"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sz="2400"/>
              <a:t>results</a:t>
            </a:r>
          </a:p>
        </p:txBody>
      </p:sp>
      <p:sp>
        <p:nvSpPr>
          <p:cNvPr id="18443" name="Line 9"/>
          <p:cNvSpPr>
            <a:spLocks noChangeShapeType="1"/>
          </p:cNvSpPr>
          <p:nvPr/>
        </p:nvSpPr>
        <p:spPr bwMode="auto">
          <a:xfrm>
            <a:off x="6172200" y="3822700"/>
            <a:ext cx="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Line 10"/>
          <p:cNvSpPr>
            <a:spLocks noChangeShapeType="1"/>
          </p:cNvSpPr>
          <p:nvPr/>
        </p:nvSpPr>
        <p:spPr bwMode="auto">
          <a:xfrm flipH="1">
            <a:off x="5638800" y="48133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Line 11"/>
          <p:cNvSpPr>
            <a:spLocks noChangeShapeType="1"/>
          </p:cNvSpPr>
          <p:nvPr/>
        </p:nvSpPr>
        <p:spPr bwMode="auto">
          <a:xfrm flipH="1">
            <a:off x="2819400" y="48133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2"/>
          <p:cNvSpPr>
            <a:spLocks noChangeShapeType="1"/>
          </p:cNvSpPr>
          <p:nvPr/>
        </p:nvSpPr>
        <p:spPr bwMode="auto">
          <a:xfrm flipV="1">
            <a:off x="2819400" y="3822700"/>
            <a:ext cx="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5334000" y="33655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6781800" y="33655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The Psychology of Decision Making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191000"/>
          </a:xfrm>
        </p:spPr>
        <p:txBody>
          <a:bodyPr/>
          <a:lstStyle/>
          <a:p>
            <a:pPr eaLnBrk="1" hangingPunct="1"/>
            <a:r>
              <a:rPr lang="en-US" dirty="0"/>
              <a:t>Models can be used for </a:t>
            </a:r>
            <a:r>
              <a:rPr lang="en-US" dirty="0" err="1"/>
              <a:t>structurable</a:t>
            </a:r>
            <a:r>
              <a:rPr lang="en-US" dirty="0"/>
              <a:t> aspects of decision problems.</a:t>
            </a:r>
          </a:p>
          <a:p>
            <a:pPr eaLnBrk="1" hangingPunct="1"/>
            <a:r>
              <a:rPr lang="en-US" dirty="0"/>
              <a:t>Other aspects cannot be structured easily, requiring intuition and judgment.</a:t>
            </a:r>
          </a:p>
          <a:p>
            <a:pPr eaLnBrk="1" hangingPunct="1"/>
            <a:r>
              <a:rPr lang="en-US" i="1" dirty="0"/>
              <a:t>Caution</a:t>
            </a:r>
            <a:r>
              <a:rPr lang="en-US" dirty="0"/>
              <a:t>: Human judgment and intuition is not always rational!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Anchoring Effects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191000"/>
          </a:xfrm>
        </p:spPr>
        <p:txBody>
          <a:bodyPr/>
          <a:lstStyle/>
          <a:p>
            <a:pPr eaLnBrk="1" hangingPunct="1"/>
            <a:r>
              <a:rPr lang="en-US" dirty="0"/>
              <a:t>Arise when trivial factors influence initial thinking about a problem.</a:t>
            </a:r>
          </a:p>
          <a:p>
            <a:pPr eaLnBrk="1" hangingPunct="1"/>
            <a:r>
              <a:rPr lang="en-US" dirty="0"/>
              <a:t>Decision-makers usually under-adjust from their initial “anchor”.</a:t>
            </a:r>
          </a:p>
          <a:p>
            <a:pPr eaLnBrk="1" hangingPunct="1"/>
            <a:r>
              <a:rPr lang="en-US" dirty="0"/>
              <a:t>Example:</a:t>
            </a:r>
          </a:p>
          <a:p>
            <a:pPr lvl="1" eaLnBrk="1" hangingPunct="1"/>
            <a:r>
              <a:rPr lang="en-US" dirty="0"/>
              <a:t>What is 1x2x3x4x5x6x7x8 ?</a:t>
            </a:r>
          </a:p>
          <a:p>
            <a:pPr lvl="1" eaLnBrk="1" hangingPunct="1"/>
            <a:r>
              <a:rPr lang="en-US" dirty="0"/>
              <a:t>What is 8x7x6x5x4x3x2x1 ?</a:t>
            </a:r>
          </a:p>
          <a:p>
            <a:pPr lvl="1" eaLnBrk="1" hangingPunct="1">
              <a:buFontTx/>
              <a:buNone/>
            </a:pP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Framing Effects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7772400" cy="4572000"/>
          </a:xfrm>
        </p:spPr>
        <p:txBody>
          <a:bodyPr/>
          <a:lstStyle/>
          <a:p>
            <a:pPr eaLnBrk="1" hangingPunct="1"/>
            <a:r>
              <a:rPr lang="en-US" dirty="0"/>
              <a:t>Refers to how decision-makers view a problem from a win-loss perspective.</a:t>
            </a:r>
          </a:p>
          <a:p>
            <a:pPr eaLnBrk="1" hangingPunct="1"/>
            <a:r>
              <a:rPr lang="en-US" dirty="0"/>
              <a:t>The way a problem is framed often influences choices in irrational ways…</a:t>
            </a:r>
          </a:p>
          <a:p>
            <a:pPr eaLnBrk="1" hangingPunct="1"/>
            <a:r>
              <a:rPr lang="en-US" dirty="0"/>
              <a:t>Suppose you’ve been given $1000 and must choose between:</a:t>
            </a:r>
          </a:p>
          <a:p>
            <a:pPr lvl="2" eaLnBrk="1" hangingPunct="1">
              <a:buFont typeface="Tahoma" pitchFamily="34" charset="0"/>
              <a:buChar char="–"/>
            </a:pPr>
            <a:r>
              <a:rPr lang="en-US" dirty="0"/>
              <a:t>A. Receive $500 more immediately</a:t>
            </a:r>
          </a:p>
          <a:p>
            <a:pPr lvl="2" eaLnBrk="1" hangingPunct="1">
              <a:buFont typeface="Tahoma" pitchFamily="34" charset="0"/>
              <a:buChar char="–"/>
            </a:pPr>
            <a:r>
              <a:rPr lang="en-US" dirty="0"/>
              <a:t>B. Flip a coin and receive $1000 more if heads occurs or $0 more if tails occurs</a:t>
            </a:r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Framing Effects</a:t>
            </a:r>
            <a:r>
              <a:rPr lang="en-US" i="1">
                <a:solidFill>
                  <a:schemeClr val="hlink"/>
                </a:solidFill>
              </a:rPr>
              <a:t> </a:t>
            </a:r>
            <a:r>
              <a:rPr lang="en-US" sz="3600" i="1">
                <a:solidFill>
                  <a:schemeClr val="hlink"/>
                </a:solidFill>
              </a:rPr>
              <a:t>(Example)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191000"/>
          </a:xfrm>
        </p:spPr>
        <p:txBody>
          <a:bodyPr/>
          <a:lstStyle/>
          <a:p>
            <a:pPr eaLnBrk="1" hangingPunct="1"/>
            <a:r>
              <a:rPr lang="en-US" dirty="0"/>
              <a:t>Now suppose you’ve been given $2000 and must choose between:</a:t>
            </a:r>
          </a:p>
          <a:p>
            <a:pPr lvl="2" eaLnBrk="1" hangingPunct="1">
              <a:buFont typeface="Tahoma" pitchFamily="34" charset="0"/>
              <a:buChar char="–"/>
            </a:pPr>
            <a:r>
              <a:rPr lang="en-US" dirty="0"/>
              <a:t>A. Give back $500 immediately</a:t>
            </a:r>
          </a:p>
          <a:p>
            <a:pPr lvl="2" eaLnBrk="1" hangingPunct="1">
              <a:buFont typeface="Tahoma" pitchFamily="34" charset="0"/>
              <a:buChar char="–"/>
            </a:pPr>
            <a:r>
              <a:rPr lang="en-US" dirty="0"/>
              <a:t>B. Flip a coin and give back $0 if heads occurs or give back $1000 if tails occurs</a:t>
            </a:r>
          </a:p>
          <a:p>
            <a:pPr lvl="2" eaLnBrk="1" hangingPunct="1">
              <a:buFont typeface="Tahoma" pitchFamily="34" charset="0"/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i="1">
                <a:solidFill>
                  <a:schemeClr val="hlink"/>
                </a:solidFill>
              </a:rPr>
              <a:t>A Decision Tree for Both Examples</a:t>
            </a:r>
          </a:p>
        </p:txBody>
      </p:sp>
      <p:grpSp>
        <p:nvGrpSpPr>
          <p:cNvPr id="23555" name="Group 5"/>
          <p:cNvGrpSpPr>
            <a:grpSpLocks noChangeAspect="1"/>
          </p:cNvGrpSpPr>
          <p:nvPr/>
        </p:nvGrpSpPr>
        <p:grpSpPr bwMode="auto">
          <a:xfrm>
            <a:off x="1524000" y="2209800"/>
            <a:ext cx="6096000" cy="2986088"/>
            <a:chOff x="2979" y="813"/>
            <a:chExt cx="8875" cy="4320"/>
          </a:xfrm>
        </p:grpSpPr>
        <p:sp>
          <p:nvSpPr>
            <p:cNvPr id="23556" name="AutoShape 6"/>
            <p:cNvSpPr>
              <a:spLocks noChangeAspect="1" noChangeArrowheads="1"/>
            </p:cNvSpPr>
            <p:nvPr/>
          </p:nvSpPr>
          <p:spPr bwMode="auto">
            <a:xfrm>
              <a:off x="2979" y="813"/>
              <a:ext cx="8875" cy="4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7" name="Line 7"/>
            <p:cNvSpPr>
              <a:spLocks noChangeShapeType="1"/>
            </p:cNvSpPr>
            <p:nvPr/>
          </p:nvSpPr>
          <p:spPr bwMode="auto">
            <a:xfrm>
              <a:off x="6873" y="4143"/>
              <a:ext cx="543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Line 8"/>
            <p:cNvSpPr>
              <a:spLocks noChangeShapeType="1"/>
            </p:cNvSpPr>
            <p:nvPr/>
          </p:nvSpPr>
          <p:spPr bwMode="auto">
            <a:xfrm>
              <a:off x="5152" y="2973"/>
              <a:ext cx="1449" cy="11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Line 9"/>
            <p:cNvSpPr>
              <a:spLocks noChangeShapeType="1"/>
            </p:cNvSpPr>
            <p:nvPr/>
          </p:nvSpPr>
          <p:spPr bwMode="auto">
            <a:xfrm>
              <a:off x="6902" y="1679"/>
              <a:ext cx="27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Line 10"/>
            <p:cNvSpPr>
              <a:spLocks noChangeShapeType="1"/>
            </p:cNvSpPr>
            <p:nvPr/>
          </p:nvSpPr>
          <p:spPr bwMode="auto">
            <a:xfrm flipV="1">
              <a:off x="5243" y="1713"/>
              <a:ext cx="1358" cy="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Oval 11"/>
            <p:cNvSpPr>
              <a:spLocks noChangeArrowheads="1"/>
            </p:cNvSpPr>
            <p:nvPr/>
          </p:nvSpPr>
          <p:spPr bwMode="auto">
            <a:xfrm>
              <a:off x="6511" y="1443"/>
              <a:ext cx="453" cy="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4981" tIns="37490" rIns="74981" bIns="37490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62" name="Rectangle 12"/>
            <p:cNvSpPr>
              <a:spLocks noChangeArrowheads="1"/>
            </p:cNvSpPr>
            <p:nvPr/>
          </p:nvSpPr>
          <p:spPr bwMode="auto">
            <a:xfrm>
              <a:off x="4881" y="2703"/>
              <a:ext cx="362" cy="3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563" name="Line 13"/>
            <p:cNvSpPr>
              <a:spLocks noChangeShapeType="1"/>
            </p:cNvSpPr>
            <p:nvPr/>
          </p:nvSpPr>
          <p:spPr bwMode="auto">
            <a:xfrm flipV="1">
              <a:off x="6902" y="3693"/>
              <a:ext cx="514" cy="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Oval 14"/>
            <p:cNvSpPr>
              <a:spLocks noChangeArrowheads="1"/>
            </p:cNvSpPr>
            <p:nvPr/>
          </p:nvSpPr>
          <p:spPr bwMode="auto">
            <a:xfrm>
              <a:off x="6511" y="3873"/>
              <a:ext cx="453" cy="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4981" tIns="37490" rIns="74981" bIns="37490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65" name="Line 15"/>
            <p:cNvSpPr>
              <a:spLocks noChangeShapeType="1"/>
            </p:cNvSpPr>
            <p:nvPr/>
          </p:nvSpPr>
          <p:spPr bwMode="auto">
            <a:xfrm>
              <a:off x="7417" y="3693"/>
              <a:ext cx="2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Line 16"/>
            <p:cNvSpPr>
              <a:spLocks noChangeShapeType="1"/>
            </p:cNvSpPr>
            <p:nvPr/>
          </p:nvSpPr>
          <p:spPr bwMode="auto">
            <a:xfrm>
              <a:off x="7417" y="4593"/>
              <a:ext cx="2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Text Box 17"/>
            <p:cNvSpPr txBox="1">
              <a:spLocks noChangeArrowheads="1"/>
            </p:cNvSpPr>
            <p:nvPr/>
          </p:nvSpPr>
          <p:spPr bwMode="auto">
            <a:xfrm>
              <a:off x="2979" y="2613"/>
              <a:ext cx="2807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Initial state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68" name="Text Box 18"/>
            <p:cNvSpPr txBox="1">
              <a:spLocks noChangeArrowheads="1"/>
            </p:cNvSpPr>
            <p:nvPr/>
          </p:nvSpPr>
          <p:spPr bwMode="auto">
            <a:xfrm>
              <a:off x="9681" y="1443"/>
              <a:ext cx="2082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$1,500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69" name="Text Box 19"/>
            <p:cNvSpPr txBox="1">
              <a:spLocks noChangeArrowheads="1"/>
            </p:cNvSpPr>
            <p:nvPr/>
          </p:nvSpPr>
          <p:spPr bwMode="auto">
            <a:xfrm>
              <a:off x="7598" y="3153"/>
              <a:ext cx="2354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Heads (50%)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0" name="Text Box 20"/>
            <p:cNvSpPr txBox="1">
              <a:spLocks noChangeArrowheads="1"/>
            </p:cNvSpPr>
            <p:nvPr/>
          </p:nvSpPr>
          <p:spPr bwMode="auto">
            <a:xfrm>
              <a:off x="7598" y="4593"/>
              <a:ext cx="1992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Tails (50%)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1" name="Text Box 21"/>
            <p:cNvSpPr txBox="1">
              <a:spLocks noChangeArrowheads="1"/>
            </p:cNvSpPr>
            <p:nvPr/>
          </p:nvSpPr>
          <p:spPr bwMode="auto">
            <a:xfrm>
              <a:off x="9771" y="3423"/>
              <a:ext cx="2083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$2,000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2" name="Text Box 22"/>
            <p:cNvSpPr txBox="1">
              <a:spLocks noChangeArrowheads="1"/>
            </p:cNvSpPr>
            <p:nvPr/>
          </p:nvSpPr>
          <p:spPr bwMode="auto">
            <a:xfrm>
              <a:off x="9771" y="4323"/>
              <a:ext cx="2083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$1,000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3" name="Text Box 23"/>
            <p:cNvSpPr txBox="1">
              <a:spLocks noChangeArrowheads="1"/>
            </p:cNvSpPr>
            <p:nvPr/>
          </p:nvSpPr>
          <p:spPr bwMode="auto">
            <a:xfrm>
              <a:off x="4066" y="1533"/>
              <a:ext cx="2626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Alternative 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4" name="Text Box 24"/>
            <p:cNvSpPr txBox="1">
              <a:spLocks noChangeArrowheads="1"/>
            </p:cNvSpPr>
            <p:nvPr/>
          </p:nvSpPr>
          <p:spPr bwMode="auto">
            <a:xfrm>
              <a:off x="4247" y="3873"/>
              <a:ext cx="2626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Alternative B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5" name="Text Box 25"/>
            <p:cNvSpPr txBox="1">
              <a:spLocks noChangeArrowheads="1"/>
            </p:cNvSpPr>
            <p:nvPr/>
          </p:nvSpPr>
          <p:spPr bwMode="auto">
            <a:xfrm>
              <a:off x="4428" y="4323"/>
              <a:ext cx="2626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(Flip coin)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3576" name="Text Box 26"/>
            <p:cNvSpPr txBox="1">
              <a:spLocks noChangeArrowheads="1"/>
            </p:cNvSpPr>
            <p:nvPr/>
          </p:nvSpPr>
          <p:spPr bwMode="auto">
            <a:xfrm>
              <a:off x="9681" y="813"/>
              <a:ext cx="1539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981" tIns="37490" rIns="74981" bIns="3749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Payoffs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77825"/>
            <a:ext cx="7772400" cy="68421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Good Decisions vs. Good Outcomes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990600"/>
          </a:xfrm>
          <a:noFill/>
        </p:spPr>
        <p:txBody>
          <a:bodyPr lIns="92075" tIns="46038" rIns="92075" bIns="46038"/>
          <a:lstStyle/>
          <a:p>
            <a:pPr marL="466725" indent="-466725" eaLnBrk="1" hangingPunct="1">
              <a:lnSpc>
                <a:spcPct val="90000"/>
              </a:lnSpc>
            </a:pPr>
            <a:r>
              <a:rPr lang="en-US" dirty="0"/>
              <a:t>Good decisions do not always lead to good outcomes...</a:t>
            </a:r>
          </a:p>
          <a:p>
            <a:pPr marL="466725" indent="-466725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 marL="466725" indent="-466725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 marL="466725" indent="-466725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3429000" y="2286000"/>
          <a:ext cx="1619250" cy="163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2" name="Clip" r:id="rId5" imgW="1620317" imgH="1630375" progId="MS_ClipArt_Gallery.5">
                  <p:embed/>
                </p:oleObj>
              </mc:Choice>
              <mc:Fallback>
                <p:oleObj name="Clip" r:id="rId5" imgW="1620317" imgH="1630375" progId="MS_ClipArt_Gallery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86000"/>
                        <a:ext cx="1619250" cy="163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457200" y="4191000"/>
            <a:ext cx="83820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466725" indent="-466725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>
                <a:latin typeface="Tahoma" pitchFamily="34" charset="0"/>
              </a:rPr>
              <a:t>A structured, modeling approach to decision making helps us make good decisions, but can’t guarantee good outcomes.</a:t>
            </a: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3505200" y="2133600"/>
          <a:ext cx="1373188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3" name="Clip" r:id="rId7" imgW="2744709" imgH="3468986" progId="MS_ClipArt_Gallery.5">
                  <p:embed/>
                </p:oleObj>
              </mc:Choice>
              <mc:Fallback>
                <p:oleObj name="Clip" r:id="rId7" imgW="2744709" imgH="3468986" progId="MS_ClipArt_Gallery.5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133600"/>
                        <a:ext cx="1373188" cy="173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AutoShape 10"/>
          <p:cNvSpPr>
            <a:spLocks noChangeArrowheads="1"/>
          </p:cNvSpPr>
          <p:nvPr/>
        </p:nvSpPr>
        <p:spPr bwMode="auto">
          <a:xfrm rot="6771801">
            <a:off x="2286000" y="2514600"/>
            <a:ext cx="3276600" cy="685800"/>
          </a:xfrm>
          <a:prstGeom prst="lightningBol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AutoShape 11"/>
          <p:cNvSpPr>
            <a:spLocks noChangeArrowheads="1"/>
          </p:cNvSpPr>
          <p:nvPr/>
        </p:nvSpPr>
        <p:spPr bwMode="auto">
          <a:xfrm rot="6771801">
            <a:off x="2667000" y="2590800"/>
            <a:ext cx="3276600" cy="685800"/>
          </a:xfrm>
          <a:prstGeom prst="lightningBol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AutoShape 12"/>
          <p:cNvSpPr>
            <a:spLocks noChangeArrowheads="1"/>
          </p:cNvSpPr>
          <p:nvPr/>
        </p:nvSpPr>
        <p:spPr bwMode="auto">
          <a:xfrm rot="6771801">
            <a:off x="2895600" y="2743200"/>
            <a:ext cx="3276600" cy="685800"/>
          </a:xfrm>
          <a:prstGeom prst="lightningBol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7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2" autoUpdateAnimBg="0" advAuto="0"/>
      <p:bldP spid="24583" grpId="0" autoUpdateAnimBg="0"/>
      <p:bldP spid="24586" grpId="0" animBg="1"/>
      <p:bldP spid="24587" grpId="0" animBg="1"/>
      <p:bldP spid="2458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i="1" dirty="0">
                <a:solidFill>
                  <a:schemeClr val="hlink"/>
                </a:solidFill>
              </a:rPr>
              <a:t>Decisions &amp; Outcomes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931941"/>
              </p:ext>
            </p:extLst>
          </p:nvPr>
        </p:nvGraphicFramePr>
        <p:xfrm>
          <a:off x="609600" y="1752600"/>
          <a:ext cx="7543800" cy="1584960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18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Outcome Quality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Decision 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Quality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Deserved Success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Bad Luck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Dumb Luck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Poetic Justice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  <p:extLst>
      <p:ext uri="{BB962C8B-B14F-4D97-AF65-F5344CB8AC3E}">
        <p14:creationId xmlns:p14="http://schemas.microsoft.com/office/powerpoint/2010/main" val="3374995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8987"/>
          </a:xfrm>
        </p:spPr>
        <p:txBody>
          <a:bodyPr/>
          <a:lstStyle/>
          <a:p>
            <a:pPr eaLnBrk="1" hangingPunct="1"/>
            <a:r>
              <a:rPr lang="en-US" sz="3600" i="1" dirty="0">
                <a:solidFill>
                  <a:schemeClr val="hlink"/>
                </a:solidFill>
              </a:rPr>
              <a:t>Good Decisions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191000"/>
          </a:xfrm>
        </p:spPr>
        <p:txBody>
          <a:bodyPr/>
          <a:lstStyle/>
          <a:p>
            <a:pPr eaLnBrk="1" hangingPunct="1"/>
            <a:r>
              <a:rPr lang="en-US" dirty="0"/>
              <a:t>A good decision is one that harmonizes</a:t>
            </a:r>
          </a:p>
          <a:p>
            <a:pPr lvl="1" eaLnBrk="1" hangingPunct="1"/>
            <a:r>
              <a:rPr lang="en-US" dirty="0"/>
              <a:t>What we can do</a:t>
            </a:r>
          </a:p>
          <a:p>
            <a:pPr lvl="1" eaLnBrk="1" hangingPunct="1"/>
            <a:r>
              <a:rPr lang="en-US" dirty="0"/>
              <a:t>What we know</a:t>
            </a:r>
          </a:p>
          <a:p>
            <a:pPr lvl="1" eaLnBrk="1" hangingPunct="1"/>
            <a:r>
              <a:rPr lang="en-US" dirty="0"/>
              <a:t>What we want</a:t>
            </a:r>
          </a:p>
          <a:p>
            <a:pPr eaLnBrk="1" hangingPunct="1"/>
            <a:r>
              <a:rPr lang="en-US" dirty="0"/>
              <a:t>And to which we are committed</a:t>
            </a:r>
          </a:p>
          <a:p>
            <a:pPr lvl="1" eaLnBrk="1" hangingPunct="1">
              <a:buFontTx/>
              <a:buNone/>
            </a:pP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  <p:extLst>
      <p:ext uri="{BB962C8B-B14F-4D97-AF65-F5344CB8AC3E}">
        <p14:creationId xmlns:p14="http://schemas.microsoft.com/office/powerpoint/2010/main" val="3263062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0"/>
            <a:ext cx="7772400" cy="1219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>
                <a:solidFill>
                  <a:schemeClr val="hlink"/>
                </a:solidFill>
              </a:rPr>
              <a:t>End of Chapter 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1752600"/>
            <a:ext cx="8001000" cy="1905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4000" dirty="0">
                <a:solidFill>
                  <a:schemeClr val="tx1"/>
                </a:solidFill>
              </a:rPr>
              <a:t>The Analytic Solver Platform software featured in this book is provided by Frontline Systems.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http://www.solver.com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051" name="Picture 2" descr="C:\Users\BIT\Documents\My Dropbox\SMDA\frontline-syste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4495800"/>
            <a:ext cx="2235200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  <p:extLst>
      <p:ext uri="{BB962C8B-B14F-4D97-AF65-F5344CB8AC3E}">
        <p14:creationId xmlns:p14="http://schemas.microsoft.com/office/powerpoint/2010/main" val="50905332"/>
      </p:ext>
    </p:extLst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MDA5 8">
    <a:dk1>
      <a:srgbClr val="003366"/>
    </a:dk1>
    <a:lt1>
      <a:srgbClr val="FFFFFF"/>
    </a:lt1>
    <a:dk2>
      <a:srgbClr val="000099"/>
    </a:dk2>
    <a:lt2>
      <a:srgbClr val="CCFFFF"/>
    </a:lt2>
    <a:accent1>
      <a:srgbClr val="3366CC"/>
    </a:accent1>
    <a:accent2>
      <a:srgbClr val="00B000"/>
    </a:accent2>
    <a:accent3>
      <a:srgbClr val="AAAACA"/>
    </a:accent3>
    <a:accent4>
      <a:srgbClr val="DADADA"/>
    </a:accent4>
    <a:accent5>
      <a:srgbClr val="ADB8E2"/>
    </a:accent5>
    <a:accent6>
      <a:srgbClr val="009F00"/>
    </a:accent6>
    <a:hlink>
      <a:srgbClr val="66CCFF"/>
    </a:hlink>
    <a:folHlink>
      <a:srgbClr val="FFE701"/>
    </a:folHlink>
  </a:clrScheme>
</a:themeOverride>
</file>

<file path=ppt/theme/themeOverride2.xml><?xml version="1.0" encoding="utf-8"?>
<a:themeOverride xmlns:a="http://schemas.openxmlformats.org/drawingml/2006/main">
  <a:clrScheme name="SMDA5 8">
    <a:dk1>
      <a:srgbClr val="003366"/>
    </a:dk1>
    <a:lt1>
      <a:srgbClr val="FFFFFF"/>
    </a:lt1>
    <a:dk2>
      <a:srgbClr val="000099"/>
    </a:dk2>
    <a:lt2>
      <a:srgbClr val="CCFFFF"/>
    </a:lt2>
    <a:accent1>
      <a:srgbClr val="3366CC"/>
    </a:accent1>
    <a:accent2>
      <a:srgbClr val="00B000"/>
    </a:accent2>
    <a:accent3>
      <a:srgbClr val="AAAACA"/>
    </a:accent3>
    <a:accent4>
      <a:srgbClr val="DADADA"/>
    </a:accent4>
    <a:accent5>
      <a:srgbClr val="ADB8E2"/>
    </a:accent5>
    <a:accent6>
      <a:srgbClr val="009F00"/>
    </a:accent6>
    <a:hlink>
      <a:srgbClr val="66CCFF"/>
    </a:hlink>
    <a:folHlink>
      <a:srgbClr val="FFE70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687</TotalTime>
  <Words>2026</Words>
  <Application>Microsoft Office PowerPoint</Application>
  <PresentationFormat>On-screen Show (4:3)</PresentationFormat>
  <Paragraphs>224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Tahoma</vt:lpstr>
      <vt:lpstr>Times New Roman</vt:lpstr>
      <vt:lpstr>Wingdings</vt:lpstr>
      <vt:lpstr>SMDA5</vt:lpstr>
      <vt:lpstr>Clip</vt:lpstr>
      <vt:lpstr>Spreadsheet Modeling  &amp; Decision Analysis</vt:lpstr>
      <vt:lpstr>Introduction to Modeling  &amp; Decision Analysis</vt:lpstr>
      <vt:lpstr>Introduction</vt:lpstr>
      <vt:lpstr>What is Business Analytics?</vt:lpstr>
      <vt:lpstr>Home Runs  in Business Analytics</vt:lpstr>
      <vt:lpstr>Home Runs  in Business Analytics</vt:lpstr>
      <vt:lpstr>Home Runs  in Business Analytics</vt:lpstr>
      <vt:lpstr>Home Runs in  Business Analytics</vt:lpstr>
      <vt:lpstr>Home Runs  in Business Analytics</vt:lpstr>
      <vt:lpstr>What is a “Computer Model”?</vt:lpstr>
      <vt:lpstr>The Modeling Approach  to Decision Making</vt:lpstr>
      <vt:lpstr>Characteristics of Models</vt:lpstr>
      <vt:lpstr>Benefits of Modeling</vt:lpstr>
      <vt:lpstr>Example of a Mathematical Model</vt:lpstr>
      <vt:lpstr>A Generic Mathematical Model</vt:lpstr>
      <vt:lpstr>Mathematical Models &amp; Spreadsheets</vt:lpstr>
      <vt:lpstr>Categories of Analytical Models</vt:lpstr>
      <vt:lpstr>The Problem-Solving Framework for Leveraging Business Opportunities</vt:lpstr>
      <vt:lpstr>The Psychology of Decision Making</vt:lpstr>
      <vt:lpstr>Anchoring Effects</vt:lpstr>
      <vt:lpstr>Framing Effects</vt:lpstr>
      <vt:lpstr>Framing Effects (Example)</vt:lpstr>
      <vt:lpstr>A Decision Tree for Both Examples</vt:lpstr>
      <vt:lpstr>Good Decisions vs. Good Outcomes</vt:lpstr>
      <vt:lpstr>Decisions &amp; Outcomes</vt:lpstr>
      <vt:lpstr>Good Decisions</vt:lpstr>
      <vt:lpstr>End of Chapter 1</vt:lpstr>
      <vt:lpstr>The Analytic Solver Platform software featured in this book is provided by Frontline Systems.  http://www.solver.com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105</cp:revision>
  <dcterms:created xsi:type="dcterms:W3CDTF">1995-06-17T23:31:02Z</dcterms:created>
  <dcterms:modified xsi:type="dcterms:W3CDTF">2020-11-09T00:50:47Z</dcterms:modified>
</cp:coreProperties>
</file>