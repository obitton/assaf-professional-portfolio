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4" r:id="rId1"/>
  </p:sldMasterIdLst>
  <p:notesMasterIdLst>
    <p:notesMasterId r:id="rId68"/>
  </p:notesMasterIdLst>
  <p:handoutMasterIdLst>
    <p:handoutMasterId r:id="rId69"/>
  </p:handoutMasterIdLst>
  <p:sldIdLst>
    <p:sldId id="354" r:id="rId2"/>
    <p:sldId id="256" r:id="rId3"/>
    <p:sldId id="279" r:id="rId4"/>
    <p:sldId id="284" r:id="rId5"/>
    <p:sldId id="289" r:id="rId6"/>
    <p:sldId id="303" r:id="rId7"/>
    <p:sldId id="304" r:id="rId8"/>
    <p:sldId id="305" r:id="rId9"/>
    <p:sldId id="306" r:id="rId10"/>
    <p:sldId id="307" r:id="rId11"/>
    <p:sldId id="308" r:id="rId12"/>
    <p:sldId id="309" r:id="rId13"/>
    <p:sldId id="310" r:id="rId14"/>
    <p:sldId id="329" r:id="rId15"/>
    <p:sldId id="330" r:id="rId16"/>
    <p:sldId id="331" r:id="rId17"/>
    <p:sldId id="332" r:id="rId18"/>
    <p:sldId id="333" r:id="rId19"/>
    <p:sldId id="311" r:id="rId20"/>
    <p:sldId id="312" r:id="rId21"/>
    <p:sldId id="313" r:id="rId22"/>
    <p:sldId id="314" r:id="rId23"/>
    <p:sldId id="315" r:id="rId24"/>
    <p:sldId id="316" r:id="rId25"/>
    <p:sldId id="318" r:id="rId26"/>
    <p:sldId id="359" r:id="rId27"/>
    <p:sldId id="360" r:id="rId28"/>
    <p:sldId id="362" r:id="rId29"/>
    <p:sldId id="363" r:id="rId30"/>
    <p:sldId id="364" r:id="rId31"/>
    <p:sldId id="361" r:id="rId32"/>
    <p:sldId id="365" r:id="rId33"/>
    <p:sldId id="367" r:id="rId34"/>
    <p:sldId id="366" r:id="rId35"/>
    <p:sldId id="319" r:id="rId36"/>
    <p:sldId id="320" r:id="rId37"/>
    <p:sldId id="321" r:id="rId38"/>
    <p:sldId id="322" r:id="rId39"/>
    <p:sldId id="323" r:id="rId40"/>
    <p:sldId id="324" r:id="rId41"/>
    <p:sldId id="325" r:id="rId42"/>
    <p:sldId id="326" r:id="rId43"/>
    <p:sldId id="327" r:id="rId44"/>
    <p:sldId id="328" r:id="rId45"/>
    <p:sldId id="334" r:id="rId46"/>
    <p:sldId id="335" r:id="rId47"/>
    <p:sldId id="336" r:id="rId48"/>
    <p:sldId id="337" r:id="rId49"/>
    <p:sldId id="338" r:id="rId50"/>
    <p:sldId id="339" r:id="rId51"/>
    <p:sldId id="340" r:id="rId52"/>
    <p:sldId id="342" r:id="rId53"/>
    <p:sldId id="346" r:id="rId54"/>
    <p:sldId id="343" r:id="rId55"/>
    <p:sldId id="344" r:id="rId56"/>
    <p:sldId id="345" r:id="rId57"/>
    <p:sldId id="347" r:id="rId58"/>
    <p:sldId id="341" r:id="rId59"/>
    <p:sldId id="348" r:id="rId60"/>
    <p:sldId id="350" r:id="rId61"/>
    <p:sldId id="349" r:id="rId62"/>
    <p:sldId id="351" r:id="rId63"/>
    <p:sldId id="352" r:id="rId64"/>
    <p:sldId id="353" r:id="rId65"/>
    <p:sldId id="278" r:id="rId66"/>
    <p:sldId id="355" r:id="rId6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592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C0C0"/>
    <a:srgbClr val="FFFF00"/>
    <a:srgbClr val="3399FF"/>
    <a:srgbClr val="CC0000"/>
    <a:srgbClr val="FFFFFF"/>
    <a:srgbClr val="856EF8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91" autoAdjust="0"/>
    <p:restoredTop sz="94677" autoAdjust="0"/>
  </p:normalViewPr>
  <p:slideViewPr>
    <p:cSldViewPr>
      <p:cViewPr varScale="1">
        <p:scale>
          <a:sx n="86" d="100"/>
          <a:sy n="86" d="100"/>
        </p:scale>
        <p:origin x="102" y="306"/>
      </p:cViewPr>
      <p:guideLst>
        <p:guide orient="horz" pos="2592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430"/>
    </p:cViewPr>
  </p:sorterViewPr>
  <p:notesViewPr>
    <p:cSldViewPr>
      <p:cViewPr varScale="1">
        <p:scale>
          <a:sx n="45" d="100"/>
          <a:sy n="45" d="100"/>
        </p:scale>
        <p:origin x="-1272" y="-90"/>
      </p:cViewPr>
      <p:guideLst>
        <p:guide orient="horz" pos="2160"/>
        <p:guide pos="288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70126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000" i="1"/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000" i="1"/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9350" y="692150"/>
            <a:ext cx="4559300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000" i="1"/>
            </a:lvl1pPr>
          </a:lstStyle>
          <a:p>
            <a:endParaRPr lang="en-US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000" i="1"/>
            </a:lvl1pPr>
          </a:lstStyle>
          <a:p>
            <a:fld id="{BB45D38F-12C8-4AD0-A4AE-2980B66314D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5220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C2589D30-6639-4274-9B42-3F9D5FCCD1DC}" type="slidenum">
              <a:rPr lang="en-US"/>
              <a:pPr/>
              <a:t>1</a:t>
            </a:fld>
            <a:endParaRPr lang="en-US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1857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640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2247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2224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1240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8134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9626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4297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0814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1901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0601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7188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3326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758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1995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8223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4327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906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3605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1934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3430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8235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1650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9134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109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107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32540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8285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1568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32587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1918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25966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01936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03987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29088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3365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2077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8911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15982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62997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43817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4357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30776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24170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73553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16826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31442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05673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52263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39783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5870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86628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09421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70943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77086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52126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20363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6286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25100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11685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60314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560884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328603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04992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5D38F-12C8-4AD0-A4AE-2980B66314D6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66786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E2A59D82-6C7D-43DD-9107-1F6E801B1F3A}" type="slidenum">
              <a:rPr lang="en-US"/>
              <a:pPr/>
              <a:t>66</a:t>
            </a:fld>
            <a:endParaRPr lang="en-US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001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</a:t>
            </a:r>
            <a:r>
              <a:rPr lang="en-US"/>
              <a:t>2017 Cengage Learning. All </a:t>
            </a:r>
            <a:r>
              <a:rPr lang="en-US" dirty="0"/>
              <a:t>Rights Reserved</a:t>
            </a:r>
            <a:r>
              <a:rPr lang="en-US"/>
              <a:t>. May </a:t>
            </a:r>
            <a:r>
              <a:rPr lang="en-US" dirty="0"/>
              <a:t>not </a:t>
            </a:r>
            <a:r>
              <a:rPr lang="en-US"/>
              <a:t>be scanned</a:t>
            </a:r>
            <a:r>
              <a:rPr lang="en-US" dirty="0"/>
              <a:t>, copied </a:t>
            </a:r>
            <a:r>
              <a:rPr lang="en-US"/>
              <a:t>or duplicated</a:t>
            </a:r>
            <a:r>
              <a:rPr lang="en-US" dirty="0"/>
              <a:t>, or posted </a:t>
            </a:r>
            <a:r>
              <a:rPr lang="en-US"/>
              <a:t>to a publicly accessible </a:t>
            </a:r>
            <a:r>
              <a:rPr lang="en-US" dirty="0"/>
              <a:t>website, in whole or </a:t>
            </a:r>
            <a:r>
              <a:rPr lang="en-US"/>
              <a:t>in part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BF0E59-1927-4ABA-8E33-44EFE55B42F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412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</a:t>
            </a:r>
            <a:r>
              <a:rPr lang="en-US"/>
              <a:t>2017 Cengage Learning. All </a:t>
            </a:r>
            <a:r>
              <a:rPr lang="en-US" dirty="0"/>
              <a:t>Rights Reserved</a:t>
            </a:r>
            <a:r>
              <a:rPr lang="en-US"/>
              <a:t>. May </a:t>
            </a:r>
            <a:r>
              <a:rPr lang="en-US" dirty="0"/>
              <a:t>not </a:t>
            </a:r>
            <a:r>
              <a:rPr lang="en-US"/>
              <a:t>be scanned</a:t>
            </a:r>
            <a:r>
              <a:rPr lang="en-US" dirty="0"/>
              <a:t>, copied </a:t>
            </a:r>
            <a:r>
              <a:rPr lang="en-US"/>
              <a:t>or duplicated</a:t>
            </a:r>
            <a:r>
              <a:rPr lang="en-US" dirty="0"/>
              <a:t>, or posted </a:t>
            </a:r>
            <a:r>
              <a:rPr lang="en-US"/>
              <a:t>to a publicly accessible </a:t>
            </a:r>
            <a:r>
              <a:rPr lang="en-US" dirty="0"/>
              <a:t>website, in whole or </a:t>
            </a:r>
            <a:r>
              <a:rPr lang="en-US"/>
              <a:t>in part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59E817-5E12-41B7-BBED-E32E36A789D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427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</a:t>
            </a:r>
            <a:r>
              <a:rPr lang="en-US"/>
              <a:t>2017 Cengage Learning. All </a:t>
            </a:r>
            <a:r>
              <a:rPr lang="en-US" dirty="0"/>
              <a:t>Rights Reserved</a:t>
            </a:r>
            <a:r>
              <a:rPr lang="en-US"/>
              <a:t>. May </a:t>
            </a:r>
            <a:r>
              <a:rPr lang="en-US" dirty="0"/>
              <a:t>not </a:t>
            </a:r>
            <a:r>
              <a:rPr lang="en-US"/>
              <a:t>be scanned</a:t>
            </a:r>
            <a:r>
              <a:rPr lang="en-US" dirty="0"/>
              <a:t>, copied </a:t>
            </a:r>
            <a:r>
              <a:rPr lang="en-US"/>
              <a:t>or duplicated</a:t>
            </a:r>
            <a:r>
              <a:rPr lang="en-US" dirty="0"/>
              <a:t>, or posted </a:t>
            </a:r>
            <a:r>
              <a:rPr lang="en-US"/>
              <a:t>to a publicly accessible </a:t>
            </a:r>
            <a:r>
              <a:rPr lang="en-US" dirty="0"/>
              <a:t>website, in whole or </a:t>
            </a:r>
            <a:r>
              <a:rPr lang="en-US"/>
              <a:t>in part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0E7CBE-72E0-4F22-8752-DFED2D31149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25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</a:t>
            </a:r>
            <a:r>
              <a:rPr lang="en-US"/>
              <a:t>2017 Cengage Learning. All </a:t>
            </a:r>
            <a:r>
              <a:rPr lang="en-US" dirty="0"/>
              <a:t>Rights Reserved</a:t>
            </a:r>
            <a:r>
              <a:rPr lang="en-US"/>
              <a:t>. May </a:t>
            </a:r>
            <a:r>
              <a:rPr lang="en-US" dirty="0"/>
              <a:t>not </a:t>
            </a:r>
            <a:r>
              <a:rPr lang="en-US"/>
              <a:t>be scanned</a:t>
            </a:r>
            <a:r>
              <a:rPr lang="en-US" dirty="0"/>
              <a:t>, copied </a:t>
            </a:r>
            <a:r>
              <a:rPr lang="en-US"/>
              <a:t>or duplicated</a:t>
            </a:r>
            <a:r>
              <a:rPr lang="en-US" dirty="0"/>
              <a:t>, or posted </a:t>
            </a:r>
            <a:r>
              <a:rPr lang="en-US"/>
              <a:t>to a publicly accessible </a:t>
            </a:r>
            <a:r>
              <a:rPr lang="en-US" dirty="0"/>
              <a:t>website, in whole or </a:t>
            </a:r>
            <a:r>
              <a:rPr lang="en-US"/>
              <a:t>in part</a:t>
            </a:r>
            <a:r>
              <a:rPr lang="en-US" dirty="0"/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01E16-DA77-4B53-AECF-07D7C8000A8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906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</a:t>
            </a:r>
            <a:r>
              <a:rPr lang="en-US"/>
              <a:t>2017 Cengage Learning. All </a:t>
            </a:r>
            <a:r>
              <a:rPr lang="en-US" dirty="0"/>
              <a:t>Rights Reserved</a:t>
            </a:r>
            <a:r>
              <a:rPr lang="en-US"/>
              <a:t>. May </a:t>
            </a:r>
            <a:r>
              <a:rPr lang="en-US" dirty="0"/>
              <a:t>not </a:t>
            </a:r>
            <a:r>
              <a:rPr lang="en-US"/>
              <a:t>be scanned</a:t>
            </a:r>
            <a:r>
              <a:rPr lang="en-US" dirty="0"/>
              <a:t>, copied </a:t>
            </a:r>
            <a:r>
              <a:rPr lang="en-US"/>
              <a:t>or duplicated</a:t>
            </a:r>
            <a:r>
              <a:rPr lang="en-US" dirty="0"/>
              <a:t>, or posted </a:t>
            </a:r>
            <a:r>
              <a:rPr lang="en-US"/>
              <a:t>to a publicly accessible </a:t>
            </a:r>
            <a:r>
              <a:rPr lang="en-US" dirty="0"/>
              <a:t>website, in whole or </a:t>
            </a:r>
            <a:r>
              <a:rPr lang="en-US"/>
              <a:t>in part</a:t>
            </a:r>
            <a:r>
              <a:rPr lang="en-US" dirty="0"/>
              <a:t>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FCCC39-7E9F-4CB8-B4CB-935F7325806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360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</a:t>
            </a:r>
            <a:r>
              <a:rPr lang="en-US"/>
              <a:t>2017 Cengage Learning. All </a:t>
            </a:r>
            <a:r>
              <a:rPr lang="en-US" dirty="0"/>
              <a:t>Rights Reserved</a:t>
            </a:r>
            <a:r>
              <a:rPr lang="en-US"/>
              <a:t>. May </a:t>
            </a:r>
            <a:r>
              <a:rPr lang="en-US" dirty="0"/>
              <a:t>not </a:t>
            </a:r>
            <a:r>
              <a:rPr lang="en-US"/>
              <a:t>be scanned</a:t>
            </a:r>
            <a:r>
              <a:rPr lang="en-US" dirty="0"/>
              <a:t>, copied </a:t>
            </a:r>
            <a:r>
              <a:rPr lang="en-US"/>
              <a:t>or duplicated</a:t>
            </a:r>
            <a:r>
              <a:rPr lang="en-US" dirty="0"/>
              <a:t>, or posted </a:t>
            </a:r>
            <a:r>
              <a:rPr lang="en-US"/>
              <a:t>to a publicly accessible </a:t>
            </a:r>
            <a:r>
              <a:rPr lang="en-US" dirty="0"/>
              <a:t>website, in whole or </a:t>
            </a:r>
            <a:r>
              <a:rPr lang="en-US"/>
              <a:t>in part</a:t>
            </a:r>
            <a:r>
              <a:rPr lang="en-US" dirty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36E6EE-10D7-45B0-92D1-BA3676259CB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450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</a:t>
            </a:r>
            <a:r>
              <a:rPr lang="en-US"/>
              <a:t>2017 Cengage Learning. All </a:t>
            </a:r>
            <a:r>
              <a:rPr lang="en-US" dirty="0"/>
              <a:t>Rights Reserved</a:t>
            </a:r>
            <a:r>
              <a:rPr lang="en-US"/>
              <a:t>. May </a:t>
            </a:r>
            <a:r>
              <a:rPr lang="en-US" dirty="0"/>
              <a:t>not </a:t>
            </a:r>
            <a:r>
              <a:rPr lang="en-US"/>
              <a:t>be scanned</a:t>
            </a:r>
            <a:r>
              <a:rPr lang="en-US" dirty="0"/>
              <a:t>, copied </a:t>
            </a:r>
            <a:r>
              <a:rPr lang="en-US"/>
              <a:t>or duplicated</a:t>
            </a:r>
            <a:r>
              <a:rPr lang="en-US" dirty="0"/>
              <a:t>, or posted </a:t>
            </a:r>
            <a:r>
              <a:rPr lang="en-US"/>
              <a:t>to a publicly accessible </a:t>
            </a:r>
            <a:r>
              <a:rPr lang="en-US" dirty="0"/>
              <a:t>website, in whole or </a:t>
            </a:r>
            <a:r>
              <a:rPr lang="en-US"/>
              <a:t>in part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711F1B-65FA-4217-9407-938261BCB9A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</a:t>
            </a:r>
            <a:r>
              <a:rPr lang="en-US"/>
              <a:t>2017 Cengage Learning. All </a:t>
            </a:r>
            <a:r>
              <a:rPr lang="en-US" dirty="0"/>
              <a:t>Rights Reserved</a:t>
            </a:r>
            <a:r>
              <a:rPr lang="en-US"/>
              <a:t>. May </a:t>
            </a:r>
            <a:r>
              <a:rPr lang="en-US" dirty="0"/>
              <a:t>not </a:t>
            </a:r>
            <a:r>
              <a:rPr lang="en-US"/>
              <a:t>be scanned</a:t>
            </a:r>
            <a:r>
              <a:rPr lang="en-US" dirty="0"/>
              <a:t>, copied </a:t>
            </a:r>
            <a:r>
              <a:rPr lang="en-US"/>
              <a:t>or duplicated</a:t>
            </a:r>
            <a:r>
              <a:rPr lang="en-US" dirty="0"/>
              <a:t>, or posted </a:t>
            </a:r>
            <a:r>
              <a:rPr lang="en-US"/>
              <a:t>to a publicly accessible </a:t>
            </a:r>
            <a:r>
              <a:rPr lang="en-US" dirty="0"/>
              <a:t>website, in whole or </a:t>
            </a:r>
            <a:r>
              <a:rPr lang="en-US"/>
              <a:t>in part</a:t>
            </a:r>
            <a:r>
              <a:rPr lang="en-US" dirty="0"/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8D5449-EB63-45A7-936C-D2F4428204A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22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</a:t>
            </a:r>
            <a:r>
              <a:rPr lang="en-US"/>
              <a:t>2017 Cengage Learning. All </a:t>
            </a:r>
            <a:r>
              <a:rPr lang="en-US" dirty="0"/>
              <a:t>Rights Reserved</a:t>
            </a:r>
            <a:r>
              <a:rPr lang="en-US"/>
              <a:t>. May </a:t>
            </a:r>
            <a:r>
              <a:rPr lang="en-US" dirty="0"/>
              <a:t>not </a:t>
            </a:r>
            <a:r>
              <a:rPr lang="en-US"/>
              <a:t>be scanned</a:t>
            </a:r>
            <a:r>
              <a:rPr lang="en-US" dirty="0"/>
              <a:t>, copied </a:t>
            </a:r>
            <a:r>
              <a:rPr lang="en-US"/>
              <a:t>or duplicated</a:t>
            </a:r>
            <a:r>
              <a:rPr lang="en-US" dirty="0"/>
              <a:t>, or posted </a:t>
            </a:r>
            <a:r>
              <a:rPr lang="en-US"/>
              <a:t>to a publicly accessible </a:t>
            </a:r>
            <a:r>
              <a:rPr lang="en-US" dirty="0"/>
              <a:t>website, in whole or </a:t>
            </a:r>
            <a:r>
              <a:rPr lang="en-US"/>
              <a:t>in part</a:t>
            </a:r>
            <a:r>
              <a:rPr lang="en-US" dirty="0"/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0E84B5-5B3E-4E96-A9C2-6FBB4311A14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80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</a:t>
            </a:r>
            <a:r>
              <a:rPr lang="en-US"/>
              <a:t>2017 Cengage Learning. All </a:t>
            </a:r>
            <a:r>
              <a:rPr lang="en-US" dirty="0"/>
              <a:t>Rights Reserved</a:t>
            </a:r>
            <a:r>
              <a:rPr lang="en-US"/>
              <a:t>. May </a:t>
            </a:r>
            <a:r>
              <a:rPr lang="en-US" dirty="0"/>
              <a:t>not </a:t>
            </a:r>
            <a:r>
              <a:rPr lang="en-US"/>
              <a:t>be scanned</a:t>
            </a:r>
            <a:r>
              <a:rPr lang="en-US" dirty="0"/>
              <a:t>, copied </a:t>
            </a:r>
            <a:r>
              <a:rPr lang="en-US"/>
              <a:t>or duplicated</a:t>
            </a:r>
            <a:r>
              <a:rPr lang="en-US" dirty="0"/>
              <a:t>, or posted </a:t>
            </a:r>
            <a:r>
              <a:rPr lang="en-US"/>
              <a:t>to a publicly accessible </a:t>
            </a:r>
            <a:r>
              <a:rPr lang="en-US" dirty="0"/>
              <a:t>website, in whole or </a:t>
            </a:r>
            <a:r>
              <a:rPr lang="en-US"/>
              <a:t>in part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3B9F7B-22A0-416F-831C-3AC9241FF87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522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</a:t>
            </a:r>
            <a:r>
              <a:rPr lang="en-US"/>
              <a:t>2017 Cengage Learning. All </a:t>
            </a:r>
            <a:r>
              <a:rPr lang="en-US" dirty="0"/>
              <a:t>Rights Reserved</a:t>
            </a:r>
            <a:r>
              <a:rPr lang="en-US"/>
              <a:t>. May </a:t>
            </a:r>
            <a:r>
              <a:rPr lang="en-US" dirty="0"/>
              <a:t>not </a:t>
            </a:r>
            <a:r>
              <a:rPr lang="en-US"/>
              <a:t>be scanned</a:t>
            </a:r>
            <a:r>
              <a:rPr lang="en-US" dirty="0"/>
              <a:t>, copied </a:t>
            </a:r>
            <a:r>
              <a:rPr lang="en-US"/>
              <a:t>or duplicated</a:t>
            </a:r>
            <a:r>
              <a:rPr lang="en-US" dirty="0"/>
              <a:t>, or posted </a:t>
            </a:r>
            <a:r>
              <a:rPr lang="en-US"/>
              <a:t>to a publicly accessible </a:t>
            </a:r>
            <a:r>
              <a:rPr lang="en-US" dirty="0"/>
              <a:t>website, in whole or </a:t>
            </a:r>
            <a:r>
              <a:rPr lang="en-US"/>
              <a:t>in part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EFA83B-4D2E-4884-92A7-79BA1EE3C99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87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475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7475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r>
              <a:rPr lang="en-US" dirty="0"/>
              <a:t>© </a:t>
            </a:r>
            <a:r>
              <a:rPr lang="en-US"/>
              <a:t>2017 Cengage Learning. All </a:t>
            </a:r>
            <a:r>
              <a:rPr lang="en-US" dirty="0"/>
              <a:t>Rights Reserved</a:t>
            </a:r>
            <a:r>
              <a:rPr lang="en-US"/>
              <a:t>. May </a:t>
            </a:r>
            <a:r>
              <a:rPr lang="en-US" dirty="0"/>
              <a:t>not </a:t>
            </a:r>
            <a:r>
              <a:rPr lang="en-US"/>
              <a:t>be scanned</a:t>
            </a:r>
            <a:r>
              <a:rPr lang="en-US" dirty="0"/>
              <a:t>, copied </a:t>
            </a:r>
            <a:r>
              <a:rPr lang="en-US"/>
              <a:t>or duplicated</a:t>
            </a:r>
            <a:r>
              <a:rPr lang="en-US" dirty="0"/>
              <a:t>, or posted </a:t>
            </a:r>
            <a:r>
              <a:rPr lang="en-US"/>
              <a:t>to a publicly accessible </a:t>
            </a:r>
            <a:r>
              <a:rPr lang="en-US" dirty="0"/>
              <a:t>website, in whole or </a:t>
            </a:r>
            <a:r>
              <a:rPr lang="en-US"/>
              <a:t>in part</a:t>
            </a:r>
            <a:r>
              <a:rPr lang="en-US" dirty="0"/>
              <a:t>.</a:t>
            </a:r>
          </a:p>
        </p:txBody>
      </p:sp>
      <p:sp>
        <p:nvSpPr>
          <p:cNvPr id="7475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64C5944-BDE8-4362-947D-017A6B72FF51}" type="slidenum">
              <a:rPr lang="en-US"/>
              <a:pPr/>
              <a:t>‹#›</a:t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hf sldNum="0" hd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Ø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Fig6-2.xlsm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Fig6-8.xlsm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Fig6-13.xlsm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Fig6-16.xlsm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Fig6-21.xlsm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Fig6-24.xlsm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Fig6-28.xlsm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Fig6-32.xlsm" TargetMode="External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Fig6-32.xlsm" TargetMode="External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219200"/>
            <a:ext cx="7772400" cy="11430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b="1" i="1">
                <a:solidFill>
                  <a:schemeClr val="hlink"/>
                </a:solidFill>
              </a:rPr>
              <a:t>Spreadsheet </a:t>
            </a:r>
            <a:r>
              <a:rPr lang="en-US" b="1" i="1" dirty="0">
                <a:solidFill>
                  <a:schemeClr val="hlink"/>
                </a:solidFill>
              </a:rPr>
              <a:t>Modeling </a:t>
            </a:r>
            <a:br>
              <a:rPr lang="en-US" b="1" i="1" dirty="0">
                <a:solidFill>
                  <a:schemeClr val="hlink"/>
                </a:solidFill>
              </a:rPr>
            </a:br>
            <a:r>
              <a:rPr lang="en-US" b="1" i="1" dirty="0">
                <a:solidFill>
                  <a:schemeClr val="hlink"/>
                </a:solidFill>
              </a:rPr>
              <a:t>&amp; </a:t>
            </a:r>
            <a:r>
              <a:rPr lang="en-US" b="1" i="1">
                <a:solidFill>
                  <a:schemeClr val="hlink"/>
                </a:solidFill>
              </a:rPr>
              <a:t>Decision Analysis</a:t>
            </a:r>
            <a:endParaRPr lang="en-US" b="1" i="1" dirty="0">
              <a:solidFill>
                <a:schemeClr val="hlink"/>
              </a:solidFill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895600"/>
            <a:ext cx="6400800" cy="17526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/>
              <a:t>A Practical </a:t>
            </a:r>
            <a:r>
              <a:rPr lang="en-US" dirty="0"/>
              <a:t>Introduction to </a:t>
            </a:r>
            <a:r>
              <a:rPr lang="en-US"/>
              <a:t>Business Analytics </a:t>
            </a:r>
            <a:endParaRPr lang="en-US" dirty="0"/>
          </a:p>
          <a:p>
            <a:pPr eaLnBrk="1" hangingPunct="1"/>
            <a:r>
              <a:rPr lang="en-US" sz="2400" dirty="0"/>
              <a:t>8</a:t>
            </a:r>
            <a:r>
              <a:rPr lang="en-US" sz="2400" baseline="30000" dirty="0"/>
              <a:t>th</a:t>
            </a:r>
            <a:r>
              <a:rPr lang="en-US" sz="2400" dirty="0"/>
              <a:t> edition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Cliff T</a:t>
            </a:r>
            <a:r>
              <a:rPr lang="en-US"/>
              <a:t>. Ragsdale</a:t>
            </a:r>
            <a:endParaRPr lang="en-US" dirty="0"/>
          </a:p>
          <a:p>
            <a:pPr eaLnBrk="1" hangingPunct="1"/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4680" y="4247390"/>
            <a:ext cx="161544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772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438400"/>
            <a:ext cx="7772400" cy="990600"/>
          </a:xfrm>
          <a:noFill/>
          <a:ln/>
        </p:spPr>
        <p:txBody>
          <a:bodyPr lIns="92075" tIns="46038" rIns="92075" bIns="46038"/>
          <a:lstStyle/>
          <a:p>
            <a:r>
              <a:rPr lang="en-US">
                <a:solidFill>
                  <a:schemeClr val="tx1"/>
                </a:solidFill>
              </a:rPr>
              <a:t>Integer Linear Programming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762000" y="228600"/>
            <a:ext cx="7772400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/>
            <a:r>
              <a:rPr lang="en-US" sz="4400" b="1" i="1">
                <a:solidFill>
                  <a:schemeClr val="hlink"/>
                </a:solidFill>
                <a:latin typeface="Tahoma" pitchFamily="34" charset="0"/>
              </a:rPr>
              <a:t>Chapter </a:t>
            </a:r>
            <a:r>
              <a:rPr lang="en-US" sz="4400" b="1" i="1" dirty="0">
                <a:solidFill>
                  <a:schemeClr val="hlink"/>
                </a:solidFill>
                <a:latin typeface="Tahoma" pitchFamily="34" charset="0"/>
              </a:rPr>
              <a:t>6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76262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Introduction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1475" y="1260475"/>
            <a:ext cx="8367713" cy="4911725"/>
          </a:xfrm>
          <a:noFill/>
          <a:ln/>
        </p:spPr>
        <p:txBody>
          <a:bodyPr lIns="92075" tIns="46038" rIns="92075" bIns="46038"/>
          <a:lstStyle/>
          <a:p>
            <a:r>
              <a:rPr lang="en-US" sz="3000" dirty="0"/>
              <a:t>When one or </a:t>
            </a:r>
            <a:r>
              <a:rPr lang="en-US" sz="3000"/>
              <a:t>more variables in an </a:t>
            </a:r>
            <a:r>
              <a:rPr lang="en-US" sz="3000" dirty="0"/>
              <a:t>LP problem </a:t>
            </a:r>
            <a:r>
              <a:rPr lang="en-US" sz="3000"/>
              <a:t>must assume an integer value we have an Integer Linear Programming </a:t>
            </a:r>
            <a:r>
              <a:rPr lang="en-US" sz="3000" dirty="0"/>
              <a:t>(ILP) problem.</a:t>
            </a:r>
          </a:p>
          <a:p>
            <a:r>
              <a:rPr lang="en-US" dirty="0"/>
              <a:t>ILPs occur frequently…</a:t>
            </a:r>
          </a:p>
          <a:p>
            <a:pPr marL="1362075" lvl="1"/>
            <a:r>
              <a:rPr lang="en-US" dirty="0"/>
              <a:t>Scheduling workers</a:t>
            </a:r>
          </a:p>
          <a:p>
            <a:pPr marL="1362075" lvl="1"/>
            <a:r>
              <a:rPr lang="en-US"/>
              <a:t>Manufacturing airplanes</a:t>
            </a:r>
            <a:endParaRPr lang="en-US" dirty="0"/>
          </a:p>
          <a:p>
            <a:r>
              <a:rPr lang="en-US" sz="3000"/>
              <a:t>Integer variables also allow </a:t>
            </a:r>
            <a:r>
              <a:rPr lang="en-US" sz="3000" dirty="0"/>
              <a:t>us to build </a:t>
            </a:r>
            <a:r>
              <a:rPr lang="en-US" sz="3000"/>
              <a:t>more accurate </a:t>
            </a:r>
            <a:r>
              <a:rPr lang="en-US" sz="3000" dirty="0"/>
              <a:t>models </a:t>
            </a:r>
            <a:r>
              <a:rPr lang="en-US" sz="3000"/>
              <a:t>for a </a:t>
            </a:r>
            <a:r>
              <a:rPr lang="en-US" sz="3000" dirty="0"/>
              <a:t>number of common business problems.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4850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Integrality </a:t>
            </a:r>
            <a:r>
              <a:rPr lang="en-US" sz="4000" i="1" dirty="0">
                <a:solidFill>
                  <a:schemeClr val="hlink"/>
                </a:solidFill>
              </a:rPr>
              <a:t>Conditions</a:t>
            </a:r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1289050" y="1284288"/>
            <a:ext cx="7227888" cy="337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/>
            <a:r>
              <a:rPr lang="en-US" sz="2800">
                <a:solidFill>
                  <a:srgbClr val="FFFFFF"/>
                </a:solidFill>
                <a:latin typeface="Tahoma" pitchFamily="34" charset="0"/>
              </a:rPr>
              <a:t>MAX</a:t>
            </a:r>
            <a:r>
              <a:rPr lang="en-US" sz="2800" dirty="0">
                <a:solidFill>
                  <a:srgbClr val="FFFFFF"/>
                </a:solidFill>
                <a:latin typeface="Tahoma" pitchFamily="34" charset="0"/>
              </a:rPr>
              <a:t>: 350X</a:t>
            </a:r>
            <a:r>
              <a:rPr lang="en-US" sz="2800" baseline="-25000" dirty="0">
                <a:solidFill>
                  <a:srgbClr val="FFFFFF"/>
                </a:solidFill>
                <a:latin typeface="Tahoma" pitchFamily="34" charset="0"/>
              </a:rPr>
              <a:t>1</a:t>
            </a:r>
            <a:r>
              <a:rPr lang="en-US" sz="2800" dirty="0">
                <a:solidFill>
                  <a:srgbClr val="FFFFFF"/>
                </a:solidFill>
                <a:latin typeface="Tahoma" pitchFamily="34" charset="0"/>
              </a:rPr>
              <a:t> + 300X</a:t>
            </a:r>
            <a:r>
              <a:rPr lang="en-US" sz="2800" baseline="-25000" dirty="0">
                <a:solidFill>
                  <a:srgbClr val="FFFFFF"/>
                </a:solidFill>
                <a:latin typeface="Tahoma" pitchFamily="34" charset="0"/>
              </a:rPr>
              <a:t>2</a:t>
            </a:r>
            <a:r>
              <a:rPr lang="en-US" sz="2800" dirty="0">
                <a:solidFill>
                  <a:srgbClr val="FFFFFF"/>
                </a:solidFill>
                <a:latin typeface="Tahoma" pitchFamily="34" charset="0"/>
              </a:rPr>
              <a:t>		} profit</a:t>
            </a:r>
          </a:p>
          <a:p>
            <a:pPr eaLnBrk="0" hangingPunct="0">
              <a:spcBef>
                <a:spcPct val="20000"/>
              </a:spcBef>
            </a:pPr>
            <a:r>
              <a:rPr lang="en-US" sz="2800" dirty="0">
                <a:solidFill>
                  <a:srgbClr val="FFFFFF"/>
                </a:solidFill>
                <a:latin typeface="Tahoma" pitchFamily="34" charset="0"/>
              </a:rPr>
              <a:t>S.T.:	1X</a:t>
            </a:r>
            <a:r>
              <a:rPr lang="en-US" sz="2800" baseline="-25000" dirty="0">
                <a:solidFill>
                  <a:srgbClr val="FFFFFF"/>
                </a:solidFill>
                <a:latin typeface="Tahoma" pitchFamily="34" charset="0"/>
              </a:rPr>
              <a:t>1</a:t>
            </a:r>
            <a:r>
              <a:rPr lang="en-US" sz="2800" dirty="0">
                <a:solidFill>
                  <a:srgbClr val="FFFFFF"/>
                </a:solidFill>
                <a:latin typeface="Tahoma" pitchFamily="34" charset="0"/>
              </a:rPr>
              <a:t> + 1X</a:t>
            </a:r>
            <a:r>
              <a:rPr lang="en-US" sz="2800" baseline="-25000" dirty="0">
                <a:solidFill>
                  <a:srgbClr val="FFFFFF"/>
                </a:solidFill>
                <a:latin typeface="Tahoma" pitchFamily="34" charset="0"/>
              </a:rPr>
              <a:t>2</a:t>
            </a:r>
            <a:r>
              <a:rPr lang="en-US" sz="2800" dirty="0">
                <a:solidFill>
                  <a:srgbClr val="FFFFFF"/>
                </a:solidFill>
                <a:latin typeface="Tahoma" pitchFamily="34" charset="0"/>
              </a:rPr>
              <a:t> &lt;= 200	} pumps</a:t>
            </a:r>
          </a:p>
          <a:p>
            <a:pPr eaLnBrk="0" hangingPunct="0">
              <a:spcBef>
                <a:spcPct val="20000"/>
              </a:spcBef>
            </a:pPr>
            <a:r>
              <a:rPr lang="en-US" sz="2800" dirty="0">
                <a:solidFill>
                  <a:srgbClr val="FFFFFF"/>
                </a:solidFill>
                <a:latin typeface="Tahoma" pitchFamily="34" charset="0"/>
              </a:rPr>
              <a:t>	9X</a:t>
            </a:r>
            <a:r>
              <a:rPr lang="en-US" sz="2800" baseline="-25000" dirty="0">
                <a:solidFill>
                  <a:srgbClr val="FFFFFF"/>
                </a:solidFill>
                <a:latin typeface="Tahoma" pitchFamily="34" charset="0"/>
              </a:rPr>
              <a:t>1</a:t>
            </a:r>
            <a:r>
              <a:rPr lang="en-US" sz="2800" dirty="0">
                <a:solidFill>
                  <a:srgbClr val="FFFFFF"/>
                </a:solidFill>
                <a:latin typeface="Tahoma" pitchFamily="34" charset="0"/>
              </a:rPr>
              <a:t> + 6X</a:t>
            </a:r>
            <a:r>
              <a:rPr lang="en-US" sz="2800" baseline="-25000" dirty="0">
                <a:solidFill>
                  <a:srgbClr val="FFFFFF"/>
                </a:solidFill>
                <a:latin typeface="Tahoma" pitchFamily="34" charset="0"/>
              </a:rPr>
              <a:t>2</a:t>
            </a:r>
            <a:r>
              <a:rPr lang="en-US" sz="2800" dirty="0">
                <a:solidFill>
                  <a:srgbClr val="FFFFFF"/>
                </a:solidFill>
                <a:latin typeface="Tahoma" pitchFamily="34" charset="0"/>
              </a:rPr>
              <a:t> &lt;= 1566	</a:t>
            </a:r>
            <a:r>
              <a:rPr lang="en-US" sz="2800">
                <a:solidFill>
                  <a:srgbClr val="FFFFFF"/>
                </a:solidFill>
                <a:latin typeface="Tahoma" pitchFamily="34" charset="0"/>
              </a:rPr>
              <a:t>} labor</a:t>
            </a:r>
            <a:endParaRPr lang="en-US" sz="2800" dirty="0">
              <a:solidFill>
                <a:srgbClr val="FFFFFF"/>
              </a:solidFill>
              <a:latin typeface="Tahoma" pitchFamily="34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sz="2800" dirty="0">
                <a:solidFill>
                  <a:srgbClr val="FFFFFF"/>
                </a:solidFill>
                <a:latin typeface="Tahoma" pitchFamily="34" charset="0"/>
              </a:rPr>
              <a:t>	12X</a:t>
            </a:r>
            <a:r>
              <a:rPr lang="en-US" sz="2800" baseline="-25000" dirty="0">
                <a:solidFill>
                  <a:srgbClr val="FFFFFF"/>
                </a:solidFill>
                <a:latin typeface="Tahoma" pitchFamily="34" charset="0"/>
              </a:rPr>
              <a:t>1</a:t>
            </a:r>
            <a:r>
              <a:rPr lang="en-US" sz="2800" dirty="0">
                <a:solidFill>
                  <a:srgbClr val="FFFFFF"/>
                </a:solidFill>
                <a:latin typeface="Tahoma" pitchFamily="34" charset="0"/>
              </a:rPr>
              <a:t> + 16X</a:t>
            </a:r>
            <a:r>
              <a:rPr lang="en-US" sz="2800" baseline="-25000" dirty="0">
                <a:solidFill>
                  <a:srgbClr val="FFFFFF"/>
                </a:solidFill>
                <a:latin typeface="Tahoma" pitchFamily="34" charset="0"/>
              </a:rPr>
              <a:t>2</a:t>
            </a:r>
            <a:r>
              <a:rPr lang="en-US" sz="2800" dirty="0">
                <a:solidFill>
                  <a:srgbClr val="FFFFFF"/>
                </a:solidFill>
                <a:latin typeface="Tahoma" pitchFamily="34" charset="0"/>
              </a:rPr>
              <a:t> &lt;= 2880	} tubing</a:t>
            </a:r>
          </a:p>
          <a:p>
            <a:pPr eaLnBrk="0" hangingPunct="0">
              <a:spcBef>
                <a:spcPct val="20000"/>
              </a:spcBef>
            </a:pPr>
            <a:r>
              <a:rPr lang="en-US" sz="2800" dirty="0">
                <a:solidFill>
                  <a:srgbClr val="FFFFFF"/>
                </a:solidFill>
                <a:latin typeface="Tahoma" pitchFamily="34" charset="0"/>
              </a:rPr>
              <a:t>	X</a:t>
            </a:r>
            <a:r>
              <a:rPr lang="en-US" sz="2800" baseline="-25000" dirty="0">
                <a:solidFill>
                  <a:srgbClr val="FFFFFF"/>
                </a:solidFill>
                <a:latin typeface="Tahoma" pitchFamily="34" charset="0"/>
              </a:rPr>
              <a:t>1</a:t>
            </a:r>
            <a:r>
              <a:rPr lang="en-US" sz="2800" dirty="0">
                <a:solidFill>
                  <a:srgbClr val="FFFFFF"/>
                </a:solidFill>
                <a:latin typeface="Tahoma" pitchFamily="34" charset="0"/>
              </a:rPr>
              <a:t>, X</a:t>
            </a:r>
            <a:r>
              <a:rPr lang="en-US" sz="2800" baseline="-25000" dirty="0">
                <a:solidFill>
                  <a:srgbClr val="FFFFFF"/>
                </a:solidFill>
                <a:latin typeface="Tahoma" pitchFamily="34" charset="0"/>
              </a:rPr>
              <a:t>2</a:t>
            </a:r>
            <a:r>
              <a:rPr lang="en-US" sz="2800" dirty="0">
                <a:solidFill>
                  <a:srgbClr val="FFFFFF"/>
                </a:solidFill>
                <a:latin typeface="Tahoma" pitchFamily="34" charset="0"/>
              </a:rPr>
              <a:t>&gt;= 0			</a:t>
            </a:r>
            <a:r>
              <a:rPr lang="en-US" sz="2800">
                <a:solidFill>
                  <a:srgbClr val="FFFFFF"/>
                </a:solidFill>
                <a:latin typeface="Tahoma" pitchFamily="34" charset="0"/>
              </a:rPr>
              <a:t>} nonnegativity</a:t>
            </a:r>
            <a:endParaRPr lang="en-US" sz="2800" dirty="0">
              <a:solidFill>
                <a:srgbClr val="FFFFFF"/>
              </a:solidFill>
              <a:latin typeface="Tahoma" pitchFamily="34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sz="2800" baseline="-25000" dirty="0">
                <a:solidFill>
                  <a:srgbClr val="FFFFFF"/>
                </a:solidFill>
                <a:latin typeface="Tahoma" pitchFamily="34" charset="0"/>
              </a:rPr>
              <a:t>	 </a:t>
            </a:r>
            <a:r>
              <a:rPr lang="en-US" sz="2800" dirty="0">
                <a:solidFill>
                  <a:srgbClr val="FFFF00"/>
                </a:solidFill>
                <a:latin typeface="Tahoma" pitchFamily="34" charset="0"/>
              </a:rPr>
              <a:t>X</a:t>
            </a:r>
            <a:r>
              <a:rPr lang="en-US" sz="2800" baseline="-25000" dirty="0">
                <a:solidFill>
                  <a:srgbClr val="FFFF00"/>
                </a:solidFill>
                <a:latin typeface="Tahoma" pitchFamily="34" charset="0"/>
              </a:rPr>
              <a:t>1</a:t>
            </a:r>
            <a:r>
              <a:rPr lang="en-US" sz="2800" dirty="0">
                <a:solidFill>
                  <a:srgbClr val="FFFF00"/>
                </a:solidFill>
                <a:latin typeface="Tahoma" pitchFamily="34" charset="0"/>
              </a:rPr>
              <a:t>, X</a:t>
            </a:r>
            <a:r>
              <a:rPr lang="en-US" sz="2800" baseline="-25000" dirty="0">
                <a:solidFill>
                  <a:srgbClr val="FFFF00"/>
                </a:solidFill>
                <a:latin typeface="Tahoma" pitchFamily="34" charset="0"/>
              </a:rPr>
              <a:t>2</a:t>
            </a:r>
            <a:r>
              <a:rPr lang="en-US" sz="2800" dirty="0">
                <a:solidFill>
                  <a:srgbClr val="FFFF00"/>
                </a:solidFill>
                <a:latin typeface="Tahoma" pitchFamily="34" charset="0"/>
              </a:rPr>
              <a:t> </a:t>
            </a:r>
            <a:r>
              <a:rPr lang="en-US" sz="2400" dirty="0">
                <a:solidFill>
                  <a:srgbClr val="FFFF00"/>
                </a:solidFill>
                <a:latin typeface="Tahoma" pitchFamily="34" charset="0"/>
              </a:rPr>
              <a:t>must be integers	</a:t>
            </a:r>
            <a:r>
              <a:rPr lang="en-US" sz="2800">
                <a:solidFill>
                  <a:srgbClr val="FFFF00"/>
                </a:solidFill>
                <a:latin typeface="Tahoma" pitchFamily="34" charset="0"/>
              </a:rPr>
              <a:t>} integrality</a:t>
            </a:r>
            <a:endParaRPr lang="en-US" sz="2800" baseline="-25000" dirty="0">
              <a:solidFill>
                <a:srgbClr val="FFFF00"/>
              </a:solidFill>
              <a:latin typeface="Tahoma" pitchFamily="34" charset="0"/>
            </a:endParaRPr>
          </a:p>
          <a:p>
            <a:pPr eaLnBrk="0" hangingPunct="0"/>
            <a:endParaRPr lang="en-US" sz="2800" baseline="-25000" dirty="0">
              <a:solidFill>
                <a:srgbClr val="FFFF00"/>
              </a:solidFill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490538" y="4891088"/>
            <a:ext cx="8196262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>
                <a:latin typeface="Tahoma" pitchFamily="34" charset="0"/>
              </a:rPr>
              <a:t>Integrality conditions are easy to state but make </a:t>
            </a:r>
            <a:r>
              <a:rPr lang="en-US" sz="2400" dirty="0">
                <a:latin typeface="Tahoma" pitchFamily="34" charset="0"/>
              </a:rPr>
              <a:t>the problem much more </a:t>
            </a:r>
            <a:r>
              <a:rPr lang="en-US" sz="2400">
                <a:latin typeface="Tahoma" pitchFamily="34" charset="0"/>
              </a:rPr>
              <a:t>difficult (and </a:t>
            </a:r>
            <a:r>
              <a:rPr lang="en-US" sz="2400" dirty="0">
                <a:latin typeface="Tahoma" pitchFamily="34" charset="0"/>
              </a:rPr>
              <a:t>sometimes impossible) to solve.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12762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70000"/>
              </a:lnSpc>
            </a:pPr>
            <a:r>
              <a:rPr lang="en-US" sz="4000" i="1">
                <a:solidFill>
                  <a:schemeClr val="hlink"/>
                </a:solidFill>
              </a:rPr>
              <a:t>Relaxation</a:t>
            </a:r>
            <a:endParaRPr lang="en-US" sz="4000" i="1" dirty="0">
              <a:solidFill>
                <a:schemeClr val="hlink"/>
              </a:solidFill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990600"/>
            <a:ext cx="5281613" cy="5113338"/>
          </a:xfrm>
          <a:ln/>
        </p:spPr>
        <p:txBody>
          <a:bodyPr lIns="92075" tIns="46038" rIns="92075" bIns="46038"/>
          <a:lstStyle/>
          <a:p>
            <a:r>
              <a:rPr lang="en-US"/>
              <a:t>Original </a:t>
            </a:r>
            <a:r>
              <a:rPr lang="en-US" dirty="0"/>
              <a:t>ILP</a:t>
            </a:r>
          </a:p>
          <a:p>
            <a:pPr lvl="1">
              <a:buFontTx/>
              <a:buNone/>
            </a:pPr>
            <a:r>
              <a:rPr lang="en-US"/>
              <a:t>	</a:t>
            </a:r>
            <a:r>
              <a:rPr lang="en-US" sz="2400"/>
              <a:t>MAX</a:t>
            </a:r>
            <a:r>
              <a:rPr lang="en-US" sz="2400" dirty="0"/>
              <a:t>:	2X</a:t>
            </a:r>
            <a:r>
              <a:rPr lang="en-US" sz="2400" baseline="-25000" dirty="0"/>
              <a:t>1</a:t>
            </a:r>
            <a:r>
              <a:rPr lang="en-US" sz="2400" dirty="0"/>
              <a:t> + 3X</a:t>
            </a:r>
            <a:r>
              <a:rPr lang="en-US" sz="2400" baseline="-25000" dirty="0"/>
              <a:t>2</a:t>
            </a:r>
            <a:endParaRPr lang="en-US" sz="2400" dirty="0"/>
          </a:p>
          <a:p>
            <a:pPr lvl="1">
              <a:buFontTx/>
              <a:buNone/>
            </a:pPr>
            <a:r>
              <a:rPr lang="en-US" sz="2400" dirty="0"/>
              <a:t>	S.T.:	X</a:t>
            </a:r>
            <a:r>
              <a:rPr lang="en-US" sz="2400" baseline="-25000" dirty="0"/>
              <a:t>1</a:t>
            </a:r>
            <a:r>
              <a:rPr lang="en-US" sz="2400" dirty="0"/>
              <a:t> + 3X</a:t>
            </a:r>
            <a:r>
              <a:rPr lang="en-US" sz="2400" baseline="-25000" dirty="0"/>
              <a:t>2</a:t>
            </a:r>
            <a:r>
              <a:rPr lang="en-US" sz="2400" dirty="0"/>
              <a:t> &lt;= 8.25</a:t>
            </a:r>
          </a:p>
          <a:p>
            <a:pPr lvl="1">
              <a:buFontTx/>
              <a:buNone/>
            </a:pPr>
            <a:r>
              <a:rPr lang="en-US" sz="2400" dirty="0"/>
              <a:t>			2.5X</a:t>
            </a:r>
            <a:r>
              <a:rPr lang="en-US" sz="2400" baseline="-25000" dirty="0"/>
              <a:t>1</a:t>
            </a:r>
            <a:r>
              <a:rPr lang="en-US" sz="2400" dirty="0"/>
              <a:t> +  X</a:t>
            </a:r>
            <a:r>
              <a:rPr lang="en-US" sz="2400" baseline="-25000" dirty="0"/>
              <a:t>2</a:t>
            </a:r>
            <a:r>
              <a:rPr lang="en-US" sz="2400" dirty="0"/>
              <a:t> &lt;= 8.75</a:t>
            </a:r>
          </a:p>
          <a:p>
            <a:pPr lvl="1">
              <a:buFontTx/>
              <a:buNone/>
            </a:pPr>
            <a:r>
              <a:rPr lang="en-US" sz="2400" dirty="0"/>
              <a:t>			X</a:t>
            </a:r>
            <a:r>
              <a:rPr lang="en-US" sz="2400" baseline="-25000" dirty="0"/>
              <a:t>1</a:t>
            </a:r>
            <a:r>
              <a:rPr lang="en-US" sz="2400" dirty="0"/>
              <a:t>, X</a:t>
            </a:r>
            <a:r>
              <a:rPr lang="en-US" sz="2400" baseline="-25000" dirty="0"/>
              <a:t>2</a:t>
            </a:r>
            <a:r>
              <a:rPr lang="en-US" sz="2400" dirty="0"/>
              <a:t> &gt;= 0</a:t>
            </a:r>
          </a:p>
          <a:p>
            <a:pPr lvl="1">
              <a:buFontTx/>
              <a:buNone/>
            </a:pPr>
            <a:r>
              <a:rPr lang="en-US" sz="2400" dirty="0"/>
              <a:t>			X</a:t>
            </a:r>
            <a:r>
              <a:rPr lang="en-US" sz="2400" baseline="-25000" dirty="0"/>
              <a:t>1</a:t>
            </a:r>
            <a:r>
              <a:rPr lang="en-US" sz="2400" dirty="0"/>
              <a:t>, X</a:t>
            </a:r>
            <a:r>
              <a:rPr lang="en-US" sz="2400" baseline="-25000" dirty="0"/>
              <a:t>2</a:t>
            </a:r>
            <a:r>
              <a:rPr lang="en-US" sz="2400" dirty="0"/>
              <a:t> must be integers</a:t>
            </a:r>
            <a:endParaRPr lang="en-US" dirty="0"/>
          </a:p>
          <a:p>
            <a:r>
              <a:rPr lang="en-US"/>
              <a:t>LP Relaxation</a:t>
            </a:r>
            <a:endParaRPr lang="en-US" dirty="0"/>
          </a:p>
          <a:p>
            <a:pPr lvl="1">
              <a:buFontTx/>
              <a:buNone/>
            </a:pPr>
            <a:r>
              <a:rPr lang="en-US"/>
              <a:t>	</a:t>
            </a:r>
            <a:r>
              <a:rPr lang="en-US" sz="2400"/>
              <a:t>MAX</a:t>
            </a:r>
            <a:r>
              <a:rPr lang="en-US" sz="2400" dirty="0"/>
              <a:t>:	2X</a:t>
            </a:r>
            <a:r>
              <a:rPr lang="en-US" sz="2400" baseline="-25000" dirty="0"/>
              <a:t>1</a:t>
            </a:r>
            <a:r>
              <a:rPr lang="en-US" sz="2400" dirty="0"/>
              <a:t> + 3X</a:t>
            </a:r>
            <a:r>
              <a:rPr lang="en-US" sz="2400" baseline="-25000" dirty="0"/>
              <a:t>2</a:t>
            </a:r>
            <a:endParaRPr lang="en-US" sz="2400" dirty="0"/>
          </a:p>
          <a:p>
            <a:pPr lvl="1">
              <a:buFontTx/>
              <a:buNone/>
            </a:pPr>
            <a:r>
              <a:rPr lang="en-US" sz="2400" dirty="0"/>
              <a:t>	S.T.:	X</a:t>
            </a:r>
            <a:r>
              <a:rPr lang="en-US" sz="2400" baseline="-25000" dirty="0"/>
              <a:t>1</a:t>
            </a:r>
            <a:r>
              <a:rPr lang="en-US" sz="2400" dirty="0"/>
              <a:t> + 3X</a:t>
            </a:r>
            <a:r>
              <a:rPr lang="en-US" sz="2400" baseline="-25000" dirty="0"/>
              <a:t>2</a:t>
            </a:r>
            <a:r>
              <a:rPr lang="en-US" sz="2400" dirty="0"/>
              <a:t> &lt;= 8.25</a:t>
            </a:r>
          </a:p>
          <a:p>
            <a:pPr lvl="1">
              <a:buFontTx/>
              <a:buNone/>
            </a:pPr>
            <a:r>
              <a:rPr lang="en-US" sz="2400" dirty="0"/>
              <a:t>			2.5X</a:t>
            </a:r>
            <a:r>
              <a:rPr lang="en-US" sz="2400" baseline="-25000" dirty="0"/>
              <a:t>1</a:t>
            </a:r>
            <a:r>
              <a:rPr lang="en-US" sz="2400" dirty="0"/>
              <a:t> +  X</a:t>
            </a:r>
            <a:r>
              <a:rPr lang="en-US" sz="2400" baseline="-25000" dirty="0"/>
              <a:t>2</a:t>
            </a:r>
            <a:r>
              <a:rPr lang="en-US" sz="2400" dirty="0"/>
              <a:t> &lt;= 8.75</a:t>
            </a:r>
          </a:p>
          <a:p>
            <a:pPr lvl="1">
              <a:buFontTx/>
              <a:buNone/>
            </a:pPr>
            <a:r>
              <a:rPr lang="en-US" sz="2400" dirty="0"/>
              <a:t>			X</a:t>
            </a:r>
            <a:r>
              <a:rPr lang="en-US" sz="2400" baseline="-25000" dirty="0"/>
              <a:t>1</a:t>
            </a:r>
            <a:r>
              <a:rPr lang="en-US" sz="2400" dirty="0"/>
              <a:t>, X</a:t>
            </a:r>
            <a:r>
              <a:rPr lang="en-US" sz="2400" baseline="-25000" dirty="0"/>
              <a:t>2</a:t>
            </a:r>
            <a:r>
              <a:rPr lang="en-US" sz="2400" dirty="0"/>
              <a:t> &gt;= 0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458200" cy="623887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Integer Feasible </a:t>
            </a:r>
            <a:r>
              <a:rPr lang="en-US" sz="4000" i="1" dirty="0">
                <a:solidFill>
                  <a:schemeClr val="hlink"/>
                </a:solidFill>
              </a:rPr>
              <a:t>vs. </a:t>
            </a:r>
            <a:br>
              <a:rPr lang="en-US" sz="4000" i="1" dirty="0">
                <a:solidFill>
                  <a:schemeClr val="hlink"/>
                </a:solidFill>
              </a:rPr>
            </a:br>
            <a:r>
              <a:rPr lang="en-US" sz="4000" i="1">
                <a:solidFill>
                  <a:schemeClr val="hlink"/>
                </a:solidFill>
              </a:rPr>
              <a:t>LP Feasible </a:t>
            </a:r>
            <a:r>
              <a:rPr lang="en-US" sz="4000" i="1" dirty="0">
                <a:solidFill>
                  <a:schemeClr val="hlink"/>
                </a:solidFill>
              </a:rPr>
              <a:t>Region</a:t>
            </a:r>
          </a:p>
        </p:txBody>
      </p:sp>
      <p:grpSp>
        <p:nvGrpSpPr>
          <p:cNvPr id="10299" name="Group 59"/>
          <p:cNvGrpSpPr>
            <a:grpSpLocks/>
          </p:cNvGrpSpPr>
          <p:nvPr/>
        </p:nvGrpSpPr>
        <p:grpSpPr bwMode="auto">
          <a:xfrm>
            <a:off x="1358900" y="887413"/>
            <a:ext cx="6345238" cy="5372100"/>
            <a:chOff x="856" y="735"/>
            <a:chExt cx="3997" cy="3384"/>
          </a:xfrm>
        </p:grpSpPr>
        <p:sp>
          <p:nvSpPr>
            <p:cNvPr id="10243" name="Freeform 3" descr="70%"/>
            <p:cNvSpPr>
              <a:spLocks/>
            </p:cNvSpPr>
            <p:nvPr/>
          </p:nvSpPr>
          <p:spPr bwMode="auto">
            <a:xfrm>
              <a:off x="1173" y="1724"/>
              <a:ext cx="2691" cy="2069"/>
            </a:xfrm>
            <a:custGeom>
              <a:avLst/>
              <a:gdLst>
                <a:gd name="T0" fmla="*/ 0 w 2691"/>
                <a:gd name="T1" fmla="*/ 0 h 2069"/>
                <a:gd name="T2" fmla="*/ 2096 w 2691"/>
                <a:gd name="T3" fmla="*/ 690 h 2069"/>
                <a:gd name="T4" fmla="*/ 2690 w 2691"/>
                <a:gd name="T5" fmla="*/ 2068 h 2069"/>
                <a:gd name="T6" fmla="*/ 0 w 2691"/>
                <a:gd name="T7" fmla="*/ 2068 h 2069"/>
                <a:gd name="T8" fmla="*/ 0 w 2691"/>
                <a:gd name="T9" fmla="*/ 0 h 2069"/>
                <a:gd name="T10" fmla="*/ 0 w 2691"/>
                <a:gd name="T11" fmla="*/ 0 h 2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91" h="2069">
                  <a:moveTo>
                    <a:pt x="0" y="0"/>
                  </a:moveTo>
                  <a:lnTo>
                    <a:pt x="2096" y="690"/>
                  </a:lnTo>
                  <a:lnTo>
                    <a:pt x="2690" y="2068"/>
                  </a:lnTo>
                  <a:lnTo>
                    <a:pt x="0" y="206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pattFill prst="pct70">
              <a:fgClr>
                <a:srgbClr val="3399FF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44" name="Freeform 4"/>
            <p:cNvSpPr>
              <a:spLocks/>
            </p:cNvSpPr>
            <p:nvPr/>
          </p:nvSpPr>
          <p:spPr bwMode="auto">
            <a:xfrm>
              <a:off x="1173" y="1724"/>
              <a:ext cx="2691" cy="2069"/>
            </a:xfrm>
            <a:custGeom>
              <a:avLst/>
              <a:gdLst>
                <a:gd name="T0" fmla="*/ 0 w 2691"/>
                <a:gd name="T1" fmla="*/ 0 h 2069"/>
                <a:gd name="T2" fmla="*/ 2096 w 2691"/>
                <a:gd name="T3" fmla="*/ 690 h 2069"/>
                <a:gd name="T4" fmla="*/ 2690 w 2691"/>
                <a:gd name="T5" fmla="*/ 2068 h 2069"/>
                <a:gd name="T6" fmla="*/ 0 w 2691"/>
                <a:gd name="T7" fmla="*/ 2068 h 2069"/>
                <a:gd name="T8" fmla="*/ 0 w 2691"/>
                <a:gd name="T9" fmla="*/ 0 h 2069"/>
                <a:gd name="T10" fmla="*/ 0 w 2691"/>
                <a:gd name="T11" fmla="*/ 0 h 2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91" h="2069">
                  <a:moveTo>
                    <a:pt x="0" y="0"/>
                  </a:moveTo>
                  <a:lnTo>
                    <a:pt x="2096" y="690"/>
                  </a:lnTo>
                  <a:lnTo>
                    <a:pt x="2690" y="2068"/>
                  </a:lnTo>
                  <a:lnTo>
                    <a:pt x="0" y="206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254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45" name="Line 5"/>
            <p:cNvSpPr>
              <a:spLocks noChangeShapeType="1"/>
            </p:cNvSpPr>
            <p:nvPr/>
          </p:nvSpPr>
          <p:spPr bwMode="auto">
            <a:xfrm>
              <a:off x="2208" y="1517"/>
              <a:ext cx="469" cy="74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6" name="Line 6"/>
            <p:cNvSpPr>
              <a:spLocks noChangeShapeType="1"/>
            </p:cNvSpPr>
            <p:nvPr/>
          </p:nvSpPr>
          <p:spPr bwMode="auto">
            <a:xfrm>
              <a:off x="2208" y="1517"/>
              <a:ext cx="474" cy="2239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7" name="Line 7"/>
            <p:cNvSpPr>
              <a:spLocks noChangeShapeType="1"/>
            </p:cNvSpPr>
            <p:nvPr/>
          </p:nvSpPr>
          <p:spPr bwMode="auto">
            <a:xfrm flipH="1">
              <a:off x="1938" y="1517"/>
              <a:ext cx="270" cy="2239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8" name="Line 8"/>
            <p:cNvSpPr>
              <a:spLocks noChangeShapeType="1"/>
            </p:cNvSpPr>
            <p:nvPr/>
          </p:nvSpPr>
          <p:spPr bwMode="auto">
            <a:xfrm flipH="1">
              <a:off x="1206" y="1517"/>
              <a:ext cx="1002" cy="2233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9" name="Line 9"/>
            <p:cNvSpPr>
              <a:spLocks noChangeShapeType="1"/>
            </p:cNvSpPr>
            <p:nvPr/>
          </p:nvSpPr>
          <p:spPr bwMode="auto">
            <a:xfrm>
              <a:off x="2208" y="1517"/>
              <a:ext cx="1212" cy="1471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0" name="Line 10"/>
            <p:cNvSpPr>
              <a:spLocks noChangeShapeType="1"/>
            </p:cNvSpPr>
            <p:nvPr/>
          </p:nvSpPr>
          <p:spPr bwMode="auto">
            <a:xfrm flipH="1">
              <a:off x="1212" y="1517"/>
              <a:ext cx="996" cy="1471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1" name="Line 11"/>
            <p:cNvSpPr>
              <a:spLocks noChangeShapeType="1"/>
            </p:cNvSpPr>
            <p:nvPr/>
          </p:nvSpPr>
          <p:spPr bwMode="auto">
            <a:xfrm flipH="1">
              <a:off x="1944" y="1517"/>
              <a:ext cx="264" cy="1465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2" name="Freeform 12"/>
            <p:cNvSpPr>
              <a:spLocks/>
            </p:cNvSpPr>
            <p:nvPr/>
          </p:nvSpPr>
          <p:spPr bwMode="auto">
            <a:xfrm>
              <a:off x="3433" y="3777"/>
              <a:ext cx="32" cy="32"/>
            </a:xfrm>
            <a:custGeom>
              <a:avLst/>
              <a:gdLst>
                <a:gd name="T0" fmla="*/ 31 w 32"/>
                <a:gd name="T1" fmla="*/ 15 h 32"/>
                <a:gd name="T2" fmla="*/ 31 w 32"/>
                <a:gd name="T3" fmla="*/ 14 h 32"/>
                <a:gd name="T4" fmla="*/ 31 w 32"/>
                <a:gd name="T5" fmla="*/ 12 h 32"/>
                <a:gd name="T6" fmla="*/ 30 w 32"/>
                <a:gd name="T7" fmla="*/ 10 h 32"/>
                <a:gd name="T8" fmla="*/ 30 w 32"/>
                <a:gd name="T9" fmla="*/ 8 h 32"/>
                <a:gd name="T10" fmla="*/ 29 w 32"/>
                <a:gd name="T11" fmla="*/ 6 h 32"/>
                <a:gd name="T12" fmla="*/ 28 w 32"/>
                <a:gd name="T13" fmla="*/ 5 h 32"/>
                <a:gd name="T14" fmla="*/ 26 w 32"/>
                <a:gd name="T15" fmla="*/ 4 h 32"/>
                <a:gd name="T16" fmla="*/ 25 w 32"/>
                <a:gd name="T17" fmla="*/ 3 h 32"/>
                <a:gd name="T18" fmla="*/ 22 w 32"/>
                <a:gd name="T19" fmla="*/ 2 h 32"/>
                <a:gd name="T20" fmla="*/ 20 w 32"/>
                <a:gd name="T21" fmla="*/ 1 h 32"/>
                <a:gd name="T22" fmla="*/ 18 w 32"/>
                <a:gd name="T23" fmla="*/ 1 h 32"/>
                <a:gd name="T24" fmla="*/ 16 w 32"/>
                <a:gd name="T25" fmla="*/ 0 h 32"/>
                <a:gd name="T26" fmla="*/ 15 w 32"/>
                <a:gd name="T27" fmla="*/ 1 h 32"/>
                <a:gd name="T28" fmla="*/ 13 w 32"/>
                <a:gd name="T29" fmla="*/ 1 h 32"/>
                <a:gd name="T30" fmla="*/ 10 w 32"/>
                <a:gd name="T31" fmla="*/ 2 h 32"/>
                <a:gd name="T32" fmla="*/ 9 w 32"/>
                <a:gd name="T33" fmla="*/ 3 h 32"/>
                <a:gd name="T34" fmla="*/ 7 w 32"/>
                <a:gd name="T35" fmla="*/ 4 h 32"/>
                <a:gd name="T36" fmla="*/ 6 w 32"/>
                <a:gd name="T37" fmla="*/ 5 h 32"/>
                <a:gd name="T38" fmla="*/ 5 w 32"/>
                <a:gd name="T39" fmla="*/ 6 h 32"/>
                <a:gd name="T40" fmla="*/ 4 w 32"/>
                <a:gd name="T41" fmla="*/ 8 h 32"/>
                <a:gd name="T42" fmla="*/ 3 w 32"/>
                <a:gd name="T43" fmla="*/ 10 h 32"/>
                <a:gd name="T44" fmla="*/ 2 w 32"/>
                <a:gd name="T45" fmla="*/ 12 h 32"/>
                <a:gd name="T46" fmla="*/ 2 w 32"/>
                <a:gd name="T47" fmla="*/ 14 h 32"/>
                <a:gd name="T48" fmla="*/ 0 w 32"/>
                <a:gd name="T49" fmla="*/ 15 h 32"/>
                <a:gd name="T50" fmla="*/ 2 w 32"/>
                <a:gd name="T51" fmla="*/ 17 h 32"/>
                <a:gd name="T52" fmla="*/ 2 w 32"/>
                <a:gd name="T53" fmla="*/ 20 h 32"/>
                <a:gd name="T54" fmla="*/ 3 w 32"/>
                <a:gd name="T55" fmla="*/ 22 h 32"/>
                <a:gd name="T56" fmla="*/ 4 w 32"/>
                <a:gd name="T57" fmla="*/ 24 h 32"/>
                <a:gd name="T58" fmla="*/ 5 w 32"/>
                <a:gd name="T59" fmla="*/ 25 h 32"/>
                <a:gd name="T60" fmla="*/ 6 w 32"/>
                <a:gd name="T61" fmla="*/ 27 h 32"/>
                <a:gd name="T62" fmla="*/ 7 w 32"/>
                <a:gd name="T63" fmla="*/ 28 h 32"/>
                <a:gd name="T64" fmla="*/ 9 w 32"/>
                <a:gd name="T65" fmla="*/ 29 h 32"/>
                <a:gd name="T66" fmla="*/ 10 w 32"/>
                <a:gd name="T67" fmla="*/ 29 h 32"/>
                <a:gd name="T68" fmla="*/ 13 w 32"/>
                <a:gd name="T69" fmla="*/ 31 h 32"/>
                <a:gd name="T70" fmla="*/ 15 w 32"/>
                <a:gd name="T71" fmla="*/ 31 h 32"/>
                <a:gd name="T72" fmla="*/ 16 w 32"/>
                <a:gd name="T73" fmla="*/ 31 h 32"/>
                <a:gd name="T74" fmla="*/ 18 w 32"/>
                <a:gd name="T75" fmla="*/ 31 h 32"/>
                <a:gd name="T76" fmla="*/ 20 w 32"/>
                <a:gd name="T77" fmla="*/ 31 h 32"/>
                <a:gd name="T78" fmla="*/ 22 w 32"/>
                <a:gd name="T79" fmla="*/ 29 h 32"/>
                <a:gd name="T80" fmla="*/ 25 w 32"/>
                <a:gd name="T81" fmla="*/ 29 h 32"/>
                <a:gd name="T82" fmla="*/ 26 w 32"/>
                <a:gd name="T83" fmla="*/ 28 h 32"/>
                <a:gd name="T84" fmla="*/ 28 w 32"/>
                <a:gd name="T85" fmla="*/ 27 h 32"/>
                <a:gd name="T86" fmla="*/ 29 w 32"/>
                <a:gd name="T87" fmla="*/ 25 h 32"/>
                <a:gd name="T88" fmla="*/ 30 w 32"/>
                <a:gd name="T89" fmla="*/ 24 h 32"/>
                <a:gd name="T90" fmla="*/ 30 w 32"/>
                <a:gd name="T91" fmla="*/ 22 h 32"/>
                <a:gd name="T92" fmla="*/ 31 w 32"/>
                <a:gd name="T93" fmla="*/ 20 h 32"/>
                <a:gd name="T94" fmla="*/ 31 w 32"/>
                <a:gd name="T95" fmla="*/ 17 h 32"/>
                <a:gd name="T96" fmla="*/ 31 w 32"/>
                <a:gd name="T97" fmla="*/ 15 h 32"/>
                <a:gd name="T98" fmla="*/ 31 w 32"/>
                <a:gd name="T99" fmla="*/ 15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2" h="32">
                  <a:moveTo>
                    <a:pt x="31" y="15"/>
                  </a:moveTo>
                  <a:lnTo>
                    <a:pt x="31" y="14"/>
                  </a:lnTo>
                  <a:lnTo>
                    <a:pt x="31" y="12"/>
                  </a:lnTo>
                  <a:lnTo>
                    <a:pt x="30" y="10"/>
                  </a:lnTo>
                  <a:lnTo>
                    <a:pt x="30" y="8"/>
                  </a:lnTo>
                  <a:lnTo>
                    <a:pt x="29" y="6"/>
                  </a:lnTo>
                  <a:lnTo>
                    <a:pt x="28" y="5"/>
                  </a:lnTo>
                  <a:lnTo>
                    <a:pt x="26" y="4"/>
                  </a:lnTo>
                  <a:lnTo>
                    <a:pt x="25" y="3"/>
                  </a:lnTo>
                  <a:lnTo>
                    <a:pt x="22" y="2"/>
                  </a:lnTo>
                  <a:lnTo>
                    <a:pt x="20" y="1"/>
                  </a:lnTo>
                  <a:lnTo>
                    <a:pt x="18" y="1"/>
                  </a:lnTo>
                  <a:lnTo>
                    <a:pt x="16" y="0"/>
                  </a:lnTo>
                  <a:lnTo>
                    <a:pt x="15" y="1"/>
                  </a:lnTo>
                  <a:lnTo>
                    <a:pt x="13" y="1"/>
                  </a:lnTo>
                  <a:lnTo>
                    <a:pt x="10" y="2"/>
                  </a:lnTo>
                  <a:lnTo>
                    <a:pt x="9" y="3"/>
                  </a:lnTo>
                  <a:lnTo>
                    <a:pt x="7" y="4"/>
                  </a:lnTo>
                  <a:lnTo>
                    <a:pt x="6" y="5"/>
                  </a:lnTo>
                  <a:lnTo>
                    <a:pt x="5" y="6"/>
                  </a:lnTo>
                  <a:lnTo>
                    <a:pt x="4" y="8"/>
                  </a:lnTo>
                  <a:lnTo>
                    <a:pt x="3" y="10"/>
                  </a:lnTo>
                  <a:lnTo>
                    <a:pt x="2" y="12"/>
                  </a:lnTo>
                  <a:lnTo>
                    <a:pt x="2" y="14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2" y="20"/>
                  </a:lnTo>
                  <a:lnTo>
                    <a:pt x="3" y="22"/>
                  </a:lnTo>
                  <a:lnTo>
                    <a:pt x="4" y="24"/>
                  </a:lnTo>
                  <a:lnTo>
                    <a:pt x="5" y="25"/>
                  </a:lnTo>
                  <a:lnTo>
                    <a:pt x="6" y="27"/>
                  </a:lnTo>
                  <a:lnTo>
                    <a:pt x="7" y="28"/>
                  </a:lnTo>
                  <a:lnTo>
                    <a:pt x="9" y="29"/>
                  </a:lnTo>
                  <a:lnTo>
                    <a:pt x="10" y="29"/>
                  </a:lnTo>
                  <a:lnTo>
                    <a:pt x="13" y="31"/>
                  </a:lnTo>
                  <a:lnTo>
                    <a:pt x="15" y="31"/>
                  </a:lnTo>
                  <a:lnTo>
                    <a:pt x="16" y="31"/>
                  </a:lnTo>
                  <a:lnTo>
                    <a:pt x="18" y="31"/>
                  </a:lnTo>
                  <a:lnTo>
                    <a:pt x="20" y="31"/>
                  </a:lnTo>
                  <a:lnTo>
                    <a:pt x="22" y="29"/>
                  </a:lnTo>
                  <a:lnTo>
                    <a:pt x="25" y="29"/>
                  </a:lnTo>
                  <a:lnTo>
                    <a:pt x="26" y="28"/>
                  </a:lnTo>
                  <a:lnTo>
                    <a:pt x="28" y="27"/>
                  </a:lnTo>
                  <a:lnTo>
                    <a:pt x="29" y="25"/>
                  </a:lnTo>
                  <a:lnTo>
                    <a:pt x="30" y="24"/>
                  </a:lnTo>
                  <a:lnTo>
                    <a:pt x="30" y="22"/>
                  </a:lnTo>
                  <a:lnTo>
                    <a:pt x="31" y="20"/>
                  </a:lnTo>
                  <a:lnTo>
                    <a:pt x="31" y="17"/>
                  </a:lnTo>
                  <a:lnTo>
                    <a:pt x="31" y="15"/>
                  </a:lnTo>
                  <a:lnTo>
                    <a:pt x="31" y="1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3" name="Freeform 13"/>
            <p:cNvSpPr>
              <a:spLocks/>
            </p:cNvSpPr>
            <p:nvPr/>
          </p:nvSpPr>
          <p:spPr bwMode="auto">
            <a:xfrm>
              <a:off x="3433" y="3777"/>
              <a:ext cx="32" cy="32"/>
            </a:xfrm>
            <a:custGeom>
              <a:avLst/>
              <a:gdLst>
                <a:gd name="T0" fmla="*/ 31 w 32"/>
                <a:gd name="T1" fmla="*/ 15 h 32"/>
                <a:gd name="T2" fmla="*/ 31 w 32"/>
                <a:gd name="T3" fmla="*/ 14 h 32"/>
                <a:gd name="T4" fmla="*/ 31 w 32"/>
                <a:gd name="T5" fmla="*/ 12 h 32"/>
                <a:gd name="T6" fmla="*/ 30 w 32"/>
                <a:gd name="T7" fmla="*/ 10 h 32"/>
                <a:gd name="T8" fmla="*/ 30 w 32"/>
                <a:gd name="T9" fmla="*/ 8 h 32"/>
                <a:gd name="T10" fmla="*/ 29 w 32"/>
                <a:gd name="T11" fmla="*/ 6 h 32"/>
                <a:gd name="T12" fmla="*/ 28 w 32"/>
                <a:gd name="T13" fmla="*/ 5 h 32"/>
                <a:gd name="T14" fmla="*/ 26 w 32"/>
                <a:gd name="T15" fmla="*/ 4 h 32"/>
                <a:gd name="T16" fmla="*/ 25 w 32"/>
                <a:gd name="T17" fmla="*/ 3 h 32"/>
                <a:gd name="T18" fmla="*/ 22 w 32"/>
                <a:gd name="T19" fmla="*/ 2 h 32"/>
                <a:gd name="T20" fmla="*/ 20 w 32"/>
                <a:gd name="T21" fmla="*/ 1 h 32"/>
                <a:gd name="T22" fmla="*/ 18 w 32"/>
                <a:gd name="T23" fmla="*/ 1 h 32"/>
                <a:gd name="T24" fmla="*/ 16 w 32"/>
                <a:gd name="T25" fmla="*/ 0 h 32"/>
                <a:gd name="T26" fmla="*/ 15 w 32"/>
                <a:gd name="T27" fmla="*/ 1 h 32"/>
                <a:gd name="T28" fmla="*/ 13 w 32"/>
                <a:gd name="T29" fmla="*/ 1 h 32"/>
                <a:gd name="T30" fmla="*/ 10 w 32"/>
                <a:gd name="T31" fmla="*/ 2 h 32"/>
                <a:gd name="T32" fmla="*/ 9 w 32"/>
                <a:gd name="T33" fmla="*/ 3 h 32"/>
                <a:gd name="T34" fmla="*/ 7 w 32"/>
                <a:gd name="T35" fmla="*/ 4 h 32"/>
                <a:gd name="T36" fmla="*/ 6 w 32"/>
                <a:gd name="T37" fmla="*/ 5 h 32"/>
                <a:gd name="T38" fmla="*/ 5 w 32"/>
                <a:gd name="T39" fmla="*/ 6 h 32"/>
                <a:gd name="T40" fmla="*/ 4 w 32"/>
                <a:gd name="T41" fmla="*/ 8 h 32"/>
                <a:gd name="T42" fmla="*/ 3 w 32"/>
                <a:gd name="T43" fmla="*/ 10 h 32"/>
                <a:gd name="T44" fmla="*/ 2 w 32"/>
                <a:gd name="T45" fmla="*/ 12 h 32"/>
                <a:gd name="T46" fmla="*/ 2 w 32"/>
                <a:gd name="T47" fmla="*/ 14 h 32"/>
                <a:gd name="T48" fmla="*/ 0 w 32"/>
                <a:gd name="T49" fmla="*/ 15 h 32"/>
                <a:gd name="T50" fmla="*/ 2 w 32"/>
                <a:gd name="T51" fmla="*/ 17 h 32"/>
                <a:gd name="T52" fmla="*/ 2 w 32"/>
                <a:gd name="T53" fmla="*/ 20 h 32"/>
                <a:gd name="T54" fmla="*/ 3 w 32"/>
                <a:gd name="T55" fmla="*/ 22 h 32"/>
                <a:gd name="T56" fmla="*/ 4 w 32"/>
                <a:gd name="T57" fmla="*/ 24 h 32"/>
                <a:gd name="T58" fmla="*/ 5 w 32"/>
                <a:gd name="T59" fmla="*/ 25 h 32"/>
                <a:gd name="T60" fmla="*/ 6 w 32"/>
                <a:gd name="T61" fmla="*/ 27 h 32"/>
                <a:gd name="T62" fmla="*/ 7 w 32"/>
                <a:gd name="T63" fmla="*/ 28 h 32"/>
                <a:gd name="T64" fmla="*/ 9 w 32"/>
                <a:gd name="T65" fmla="*/ 29 h 32"/>
                <a:gd name="T66" fmla="*/ 10 w 32"/>
                <a:gd name="T67" fmla="*/ 29 h 32"/>
                <a:gd name="T68" fmla="*/ 13 w 32"/>
                <a:gd name="T69" fmla="*/ 31 h 32"/>
                <a:gd name="T70" fmla="*/ 15 w 32"/>
                <a:gd name="T71" fmla="*/ 31 h 32"/>
                <a:gd name="T72" fmla="*/ 16 w 32"/>
                <a:gd name="T73" fmla="*/ 31 h 32"/>
                <a:gd name="T74" fmla="*/ 18 w 32"/>
                <a:gd name="T75" fmla="*/ 31 h 32"/>
                <a:gd name="T76" fmla="*/ 20 w 32"/>
                <a:gd name="T77" fmla="*/ 31 h 32"/>
                <a:gd name="T78" fmla="*/ 22 w 32"/>
                <a:gd name="T79" fmla="*/ 29 h 32"/>
                <a:gd name="T80" fmla="*/ 25 w 32"/>
                <a:gd name="T81" fmla="*/ 29 h 32"/>
                <a:gd name="T82" fmla="*/ 26 w 32"/>
                <a:gd name="T83" fmla="*/ 28 h 32"/>
                <a:gd name="T84" fmla="*/ 28 w 32"/>
                <a:gd name="T85" fmla="*/ 27 h 32"/>
                <a:gd name="T86" fmla="*/ 29 w 32"/>
                <a:gd name="T87" fmla="*/ 25 h 32"/>
                <a:gd name="T88" fmla="*/ 30 w 32"/>
                <a:gd name="T89" fmla="*/ 24 h 32"/>
                <a:gd name="T90" fmla="*/ 30 w 32"/>
                <a:gd name="T91" fmla="*/ 22 h 32"/>
                <a:gd name="T92" fmla="*/ 31 w 32"/>
                <a:gd name="T93" fmla="*/ 20 h 32"/>
                <a:gd name="T94" fmla="*/ 31 w 32"/>
                <a:gd name="T95" fmla="*/ 17 h 32"/>
                <a:gd name="T96" fmla="*/ 31 w 32"/>
                <a:gd name="T97" fmla="*/ 15 h 32"/>
                <a:gd name="T98" fmla="*/ 31 w 32"/>
                <a:gd name="T99" fmla="*/ 15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2" h="32">
                  <a:moveTo>
                    <a:pt x="31" y="15"/>
                  </a:moveTo>
                  <a:lnTo>
                    <a:pt x="31" y="14"/>
                  </a:lnTo>
                  <a:lnTo>
                    <a:pt x="31" y="12"/>
                  </a:lnTo>
                  <a:lnTo>
                    <a:pt x="30" y="10"/>
                  </a:lnTo>
                  <a:lnTo>
                    <a:pt x="30" y="8"/>
                  </a:lnTo>
                  <a:lnTo>
                    <a:pt x="29" y="6"/>
                  </a:lnTo>
                  <a:lnTo>
                    <a:pt x="28" y="5"/>
                  </a:lnTo>
                  <a:lnTo>
                    <a:pt x="26" y="4"/>
                  </a:lnTo>
                  <a:lnTo>
                    <a:pt x="25" y="3"/>
                  </a:lnTo>
                  <a:lnTo>
                    <a:pt x="22" y="2"/>
                  </a:lnTo>
                  <a:lnTo>
                    <a:pt x="20" y="1"/>
                  </a:lnTo>
                  <a:lnTo>
                    <a:pt x="18" y="1"/>
                  </a:lnTo>
                  <a:lnTo>
                    <a:pt x="16" y="0"/>
                  </a:lnTo>
                  <a:lnTo>
                    <a:pt x="15" y="1"/>
                  </a:lnTo>
                  <a:lnTo>
                    <a:pt x="13" y="1"/>
                  </a:lnTo>
                  <a:lnTo>
                    <a:pt x="10" y="2"/>
                  </a:lnTo>
                  <a:lnTo>
                    <a:pt x="9" y="3"/>
                  </a:lnTo>
                  <a:lnTo>
                    <a:pt x="7" y="4"/>
                  </a:lnTo>
                  <a:lnTo>
                    <a:pt x="6" y="5"/>
                  </a:lnTo>
                  <a:lnTo>
                    <a:pt x="5" y="6"/>
                  </a:lnTo>
                  <a:lnTo>
                    <a:pt x="4" y="8"/>
                  </a:lnTo>
                  <a:lnTo>
                    <a:pt x="3" y="10"/>
                  </a:lnTo>
                  <a:lnTo>
                    <a:pt x="2" y="12"/>
                  </a:lnTo>
                  <a:lnTo>
                    <a:pt x="2" y="14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2" y="20"/>
                  </a:lnTo>
                  <a:lnTo>
                    <a:pt x="3" y="22"/>
                  </a:lnTo>
                  <a:lnTo>
                    <a:pt x="4" y="24"/>
                  </a:lnTo>
                  <a:lnTo>
                    <a:pt x="5" y="25"/>
                  </a:lnTo>
                  <a:lnTo>
                    <a:pt x="6" y="27"/>
                  </a:lnTo>
                  <a:lnTo>
                    <a:pt x="7" y="28"/>
                  </a:lnTo>
                  <a:lnTo>
                    <a:pt x="9" y="29"/>
                  </a:lnTo>
                  <a:lnTo>
                    <a:pt x="10" y="29"/>
                  </a:lnTo>
                  <a:lnTo>
                    <a:pt x="13" y="31"/>
                  </a:lnTo>
                  <a:lnTo>
                    <a:pt x="15" y="31"/>
                  </a:lnTo>
                  <a:lnTo>
                    <a:pt x="16" y="31"/>
                  </a:lnTo>
                  <a:lnTo>
                    <a:pt x="18" y="31"/>
                  </a:lnTo>
                  <a:lnTo>
                    <a:pt x="20" y="31"/>
                  </a:lnTo>
                  <a:lnTo>
                    <a:pt x="22" y="29"/>
                  </a:lnTo>
                  <a:lnTo>
                    <a:pt x="25" y="29"/>
                  </a:lnTo>
                  <a:lnTo>
                    <a:pt x="26" y="28"/>
                  </a:lnTo>
                  <a:lnTo>
                    <a:pt x="28" y="27"/>
                  </a:lnTo>
                  <a:lnTo>
                    <a:pt x="29" y="25"/>
                  </a:lnTo>
                  <a:lnTo>
                    <a:pt x="30" y="24"/>
                  </a:lnTo>
                  <a:lnTo>
                    <a:pt x="30" y="22"/>
                  </a:lnTo>
                  <a:lnTo>
                    <a:pt x="31" y="20"/>
                  </a:lnTo>
                  <a:lnTo>
                    <a:pt x="31" y="17"/>
                  </a:lnTo>
                  <a:lnTo>
                    <a:pt x="31" y="15"/>
                  </a:lnTo>
                  <a:lnTo>
                    <a:pt x="31" y="15"/>
                  </a:lnTo>
                </a:path>
              </a:pathLst>
            </a:custGeom>
            <a:noFill/>
            <a:ln w="127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4" name="Freeform 14"/>
            <p:cNvSpPr>
              <a:spLocks/>
            </p:cNvSpPr>
            <p:nvPr/>
          </p:nvSpPr>
          <p:spPr bwMode="auto">
            <a:xfrm>
              <a:off x="1157" y="3774"/>
              <a:ext cx="32" cy="32"/>
            </a:xfrm>
            <a:custGeom>
              <a:avLst/>
              <a:gdLst>
                <a:gd name="T0" fmla="*/ 31 w 32"/>
                <a:gd name="T1" fmla="*/ 16 h 32"/>
                <a:gd name="T2" fmla="*/ 31 w 32"/>
                <a:gd name="T3" fmla="*/ 15 h 32"/>
                <a:gd name="T4" fmla="*/ 31 w 32"/>
                <a:gd name="T5" fmla="*/ 13 h 32"/>
                <a:gd name="T6" fmla="*/ 30 w 32"/>
                <a:gd name="T7" fmla="*/ 10 h 32"/>
                <a:gd name="T8" fmla="*/ 30 w 32"/>
                <a:gd name="T9" fmla="*/ 9 h 32"/>
                <a:gd name="T10" fmla="*/ 29 w 32"/>
                <a:gd name="T11" fmla="*/ 7 h 32"/>
                <a:gd name="T12" fmla="*/ 28 w 32"/>
                <a:gd name="T13" fmla="*/ 6 h 32"/>
                <a:gd name="T14" fmla="*/ 26 w 32"/>
                <a:gd name="T15" fmla="*/ 5 h 32"/>
                <a:gd name="T16" fmla="*/ 25 w 32"/>
                <a:gd name="T17" fmla="*/ 4 h 32"/>
                <a:gd name="T18" fmla="*/ 22 w 32"/>
                <a:gd name="T19" fmla="*/ 3 h 32"/>
                <a:gd name="T20" fmla="*/ 20 w 32"/>
                <a:gd name="T21" fmla="*/ 2 h 32"/>
                <a:gd name="T22" fmla="*/ 18 w 32"/>
                <a:gd name="T23" fmla="*/ 2 h 32"/>
                <a:gd name="T24" fmla="*/ 16 w 32"/>
                <a:gd name="T25" fmla="*/ 0 h 32"/>
                <a:gd name="T26" fmla="*/ 15 w 32"/>
                <a:gd name="T27" fmla="*/ 2 h 32"/>
                <a:gd name="T28" fmla="*/ 13 w 32"/>
                <a:gd name="T29" fmla="*/ 2 h 32"/>
                <a:gd name="T30" fmla="*/ 10 w 32"/>
                <a:gd name="T31" fmla="*/ 3 h 32"/>
                <a:gd name="T32" fmla="*/ 9 w 32"/>
                <a:gd name="T33" fmla="*/ 4 h 32"/>
                <a:gd name="T34" fmla="*/ 7 w 32"/>
                <a:gd name="T35" fmla="*/ 5 h 32"/>
                <a:gd name="T36" fmla="*/ 6 w 32"/>
                <a:gd name="T37" fmla="*/ 6 h 32"/>
                <a:gd name="T38" fmla="*/ 5 w 32"/>
                <a:gd name="T39" fmla="*/ 7 h 32"/>
                <a:gd name="T40" fmla="*/ 4 w 32"/>
                <a:gd name="T41" fmla="*/ 9 h 32"/>
                <a:gd name="T42" fmla="*/ 3 w 32"/>
                <a:gd name="T43" fmla="*/ 10 h 32"/>
                <a:gd name="T44" fmla="*/ 1 w 32"/>
                <a:gd name="T45" fmla="*/ 13 h 32"/>
                <a:gd name="T46" fmla="*/ 1 w 32"/>
                <a:gd name="T47" fmla="*/ 15 h 32"/>
                <a:gd name="T48" fmla="*/ 0 w 32"/>
                <a:gd name="T49" fmla="*/ 16 h 32"/>
                <a:gd name="T50" fmla="*/ 1 w 32"/>
                <a:gd name="T51" fmla="*/ 18 h 32"/>
                <a:gd name="T52" fmla="*/ 1 w 32"/>
                <a:gd name="T53" fmla="*/ 20 h 32"/>
                <a:gd name="T54" fmla="*/ 3 w 32"/>
                <a:gd name="T55" fmla="*/ 23 h 32"/>
                <a:gd name="T56" fmla="*/ 4 w 32"/>
                <a:gd name="T57" fmla="*/ 25 h 32"/>
                <a:gd name="T58" fmla="*/ 5 w 32"/>
                <a:gd name="T59" fmla="*/ 26 h 32"/>
                <a:gd name="T60" fmla="*/ 6 w 32"/>
                <a:gd name="T61" fmla="*/ 28 h 32"/>
                <a:gd name="T62" fmla="*/ 7 w 32"/>
                <a:gd name="T63" fmla="*/ 29 h 32"/>
                <a:gd name="T64" fmla="*/ 9 w 32"/>
                <a:gd name="T65" fmla="*/ 30 h 32"/>
                <a:gd name="T66" fmla="*/ 10 w 32"/>
                <a:gd name="T67" fmla="*/ 30 h 32"/>
                <a:gd name="T68" fmla="*/ 13 w 32"/>
                <a:gd name="T69" fmla="*/ 31 h 32"/>
                <a:gd name="T70" fmla="*/ 15 w 32"/>
                <a:gd name="T71" fmla="*/ 31 h 32"/>
                <a:gd name="T72" fmla="*/ 16 w 32"/>
                <a:gd name="T73" fmla="*/ 31 h 32"/>
                <a:gd name="T74" fmla="*/ 18 w 32"/>
                <a:gd name="T75" fmla="*/ 31 h 32"/>
                <a:gd name="T76" fmla="*/ 20 w 32"/>
                <a:gd name="T77" fmla="*/ 31 h 32"/>
                <a:gd name="T78" fmla="*/ 22 w 32"/>
                <a:gd name="T79" fmla="*/ 30 h 32"/>
                <a:gd name="T80" fmla="*/ 25 w 32"/>
                <a:gd name="T81" fmla="*/ 30 h 32"/>
                <a:gd name="T82" fmla="*/ 26 w 32"/>
                <a:gd name="T83" fmla="*/ 29 h 32"/>
                <a:gd name="T84" fmla="*/ 28 w 32"/>
                <a:gd name="T85" fmla="*/ 28 h 32"/>
                <a:gd name="T86" fmla="*/ 29 w 32"/>
                <a:gd name="T87" fmla="*/ 26 h 32"/>
                <a:gd name="T88" fmla="*/ 30 w 32"/>
                <a:gd name="T89" fmla="*/ 25 h 32"/>
                <a:gd name="T90" fmla="*/ 30 w 32"/>
                <a:gd name="T91" fmla="*/ 23 h 32"/>
                <a:gd name="T92" fmla="*/ 31 w 32"/>
                <a:gd name="T93" fmla="*/ 20 h 32"/>
                <a:gd name="T94" fmla="*/ 31 w 32"/>
                <a:gd name="T95" fmla="*/ 18 h 32"/>
                <a:gd name="T96" fmla="*/ 31 w 32"/>
                <a:gd name="T97" fmla="*/ 16 h 32"/>
                <a:gd name="T98" fmla="*/ 31 w 32"/>
                <a:gd name="T99" fmla="*/ 16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2" h="32">
                  <a:moveTo>
                    <a:pt x="31" y="16"/>
                  </a:moveTo>
                  <a:lnTo>
                    <a:pt x="31" y="15"/>
                  </a:lnTo>
                  <a:lnTo>
                    <a:pt x="31" y="13"/>
                  </a:lnTo>
                  <a:lnTo>
                    <a:pt x="30" y="10"/>
                  </a:lnTo>
                  <a:lnTo>
                    <a:pt x="30" y="9"/>
                  </a:lnTo>
                  <a:lnTo>
                    <a:pt x="29" y="7"/>
                  </a:lnTo>
                  <a:lnTo>
                    <a:pt x="28" y="6"/>
                  </a:lnTo>
                  <a:lnTo>
                    <a:pt x="26" y="5"/>
                  </a:lnTo>
                  <a:lnTo>
                    <a:pt x="25" y="4"/>
                  </a:lnTo>
                  <a:lnTo>
                    <a:pt x="22" y="3"/>
                  </a:lnTo>
                  <a:lnTo>
                    <a:pt x="20" y="2"/>
                  </a:lnTo>
                  <a:lnTo>
                    <a:pt x="18" y="2"/>
                  </a:lnTo>
                  <a:lnTo>
                    <a:pt x="16" y="0"/>
                  </a:lnTo>
                  <a:lnTo>
                    <a:pt x="15" y="2"/>
                  </a:lnTo>
                  <a:lnTo>
                    <a:pt x="13" y="2"/>
                  </a:lnTo>
                  <a:lnTo>
                    <a:pt x="10" y="3"/>
                  </a:lnTo>
                  <a:lnTo>
                    <a:pt x="9" y="4"/>
                  </a:lnTo>
                  <a:lnTo>
                    <a:pt x="7" y="5"/>
                  </a:lnTo>
                  <a:lnTo>
                    <a:pt x="6" y="6"/>
                  </a:lnTo>
                  <a:lnTo>
                    <a:pt x="5" y="7"/>
                  </a:lnTo>
                  <a:lnTo>
                    <a:pt x="4" y="9"/>
                  </a:lnTo>
                  <a:lnTo>
                    <a:pt x="3" y="10"/>
                  </a:lnTo>
                  <a:lnTo>
                    <a:pt x="1" y="13"/>
                  </a:lnTo>
                  <a:lnTo>
                    <a:pt x="1" y="15"/>
                  </a:lnTo>
                  <a:lnTo>
                    <a:pt x="0" y="16"/>
                  </a:lnTo>
                  <a:lnTo>
                    <a:pt x="1" y="18"/>
                  </a:lnTo>
                  <a:lnTo>
                    <a:pt x="1" y="20"/>
                  </a:lnTo>
                  <a:lnTo>
                    <a:pt x="3" y="23"/>
                  </a:lnTo>
                  <a:lnTo>
                    <a:pt x="4" y="25"/>
                  </a:lnTo>
                  <a:lnTo>
                    <a:pt x="5" y="26"/>
                  </a:lnTo>
                  <a:lnTo>
                    <a:pt x="6" y="28"/>
                  </a:lnTo>
                  <a:lnTo>
                    <a:pt x="7" y="29"/>
                  </a:lnTo>
                  <a:lnTo>
                    <a:pt x="9" y="30"/>
                  </a:lnTo>
                  <a:lnTo>
                    <a:pt x="10" y="30"/>
                  </a:lnTo>
                  <a:lnTo>
                    <a:pt x="13" y="31"/>
                  </a:lnTo>
                  <a:lnTo>
                    <a:pt x="15" y="31"/>
                  </a:lnTo>
                  <a:lnTo>
                    <a:pt x="16" y="31"/>
                  </a:lnTo>
                  <a:lnTo>
                    <a:pt x="18" y="31"/>
                  </a:lnTo>
                  <a:lnTo>
                    <a:pt x="20" y="31"/>
                  </a:lnTo>
                  <a:lnTo>
                    <a:pt x="22" y="30"/>
                  </a:lnTo>
                  <a:lnTo>
                    <a:pt x="25" y="30"/>
                  </a:lnTo>
                  <a:lnTo>
                    <a:pt x="26" y="29"/>
                  </a:lnTo>
                  <a:lnTo>
                    <a:pt x="28" y="28"/>
                  </a:lnTo>
                  <a:lnTo>
                    <a:pt x="29" y="26"/>
                  </a:lnTo>
                  <a:lnTo>
                    <a:pt x="30" y="25"/>
                  </a:lnTo>
                  <a:lnTo>
                    <a:pt x="30" y="23"/>
                  </a:lnTo>
                  <a:lnTo>
                    <a:pt x="31" y="20"/>
                  </a:lnTo>
                  <a:lnTo>
                    <a:pt x="31" y="18"/>
                  </a:lnTo>
                  <a:lnTo>
                    <a:pt x="31" y="16"/>
                  </a:lnTo>
                  <a:lnTo>
                    <a:pt x="31" y="1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5" name="Freeform 15"/>
            <p:cNvSpPr>
              <a:spLocks/>
            </p:cNvSpPr>
            <p:nvPr/>
          </p:nvSpPr>
          <p:spPr bwMode="auto">
            <a:xfrm>
              <a:off x="1157" y="3774"/>
              <a:ext cx="32" cy="32"/>
            </a:xfrm>
            <a:custGeom>
              <a:avLst/>
              <a:gdLst>
                <a:gd name="T0" fmla="*/ 31 w 32"/>
                <a:gd name="T1" fmla="*/ 16 h 32"/>
                <a:gd name="T2" fmla="*/ 31 w 32"/>
                <a:gd name="T3" fmla="*/ 15 h 32"/>
                <a:gd name="T4" fmla="*/ 31 w 32"/>
                <a:gd name="T5" fmla="*/ 13 h 32"/>
                <a:gd name="T6" fmla="*/ 30 w 32"/>
                <a:gd name="T7" fmla="*/ 10 h 32"/>
                <a:gd name="T8" fmla="*/ 30 w 32"/>
                <a:gd name="T9" fmla="*/ 9 h 32"/>
                <a:gd name="T10" fmla="*/ 29 w 32"/>
                <a:gd name="T11" fmla="*/ 7 h 32"/>
                <a:gd name="T12" fmla="*/ 28 w 32"/>
                <a:gd name="T13" fmla="*/ 6 h 32"/>
                <a:gd name="T14" fmla="*/ 26 w 32"/>
                <a:gd name="T15" fmla="*/ 5 h 32"/>
                <a:gd name="T16" fmla="*/ 25 w 32"/>
                <a:gd name="T17" fmla="*/ 4 h 32"/>
                <a:gd name="T18" fmla="*/ 22 w 32"/>
                <a:gd name="T19" fmla="*/ 3 h 32"/>
                <a:gd name="T20" fmla="*/ 20 w 32"/>
                <a:gd name="T21" fmla="*/ 2 h 32"/>
                <a:gd name="T22" fmla="*/ 18 w 32"/>
                <a:gd name="T23" fmla="*/ 2 h 32"/>
                <a:gd name="T24" fmla="*/ 16 w 32"/>
                <a:gd name="T25" fmla="*/ 0 h 32"/>
                <a:gd name="T26" fmla="*/ 15 w 32"/>
                <a:gd name="T27" fmla="*/ 2 h 32"/>
                <a:gd name="T28" fmla="*/ 13 w 32"/>
                <a:gd name="T29" fmla="*/ 2 h 32"/>
                <a:gd name="T30" fmla="*/ 10 w 32"/>
                <a:gd name="T31" fmla="*/ 3 h 32"/>
                <a:gd name="T32" fmla="*/ 9 w 32"/>
                <a:gd name="T33" fmla="*/ 4 h 32"/>
                <a:gd name="T34" fmla="*/ 7 w 32"/>
                <a:gd name="T35" fmla="*/ 5 h 32"/>
                <a:gd name="T36" fmla="*/ 6 w 32"/>
                <a:gd name="T37" fmla="*/ 6 h 32"/>
                <a:gd name="T38" fmla="*/ 5 w 32"/>
                <a:gd name="T39" fmla="*/ 7 h 32"/>
                <a:gd name="T40" fmla="*/ 4 w 32"/>
                <a:gd name="T41" fmla="*/ 9 h 32"/>
                <a:gd name="T42" fmla="*/ 3 w 32"/>
                <a:gd name="T43" fmla="*/ 10 h 32"/>
                <a:gd name="T44" fmla="*/ 1 w 32"/>
                <a:gd name="T45" fmla="*/ 13 h 32"/>
                <a:gd name="T46" fmla="*/ 1 w 32"/>
                <a:gd name="T47" fmla="*/ 15 h 32"/>
                <a:gd name="T48" fmla="*/ 0 w 32"/>
                <a:gd name="T49" fmla="*/ 16 h 32"/>
                <a:gd name="T50" fmla="*/ 1 w 32"/>
                <a:gd name="T51" fmla="*/ 18 h 32"/>
                <a:gd name="T52" fmla="*/ 1 w 32"/>
                <a:gd name="T53" fmla="*/ 20 h 32"/>
                <a:gd name="T54" fmla="*/ 3 w 32"/>
                <a:gd name="T55" fmla="*/ 23 h 32"/>
                <a:gd name="T56" fmla="*/ 4 w 32"/>
                <a:gd name="T57" fmla="*/ 25 h 32"/>
                <a:gd name="T58" fmla="*/ 5 w 32"/>
                <a:gd name="T59" fmla="*/ 26 h 32"/>
                <a:gd name="T60" fmla="*/ 6 w 32"/>
                <a:gd name="T61" fmla="*/ 28 h 32"/>
                <a:gd name="T62" fmla="*/ 7 w 32"/>
                <a:gd name="T63" fmla="*/ 29 h 32"/>
                <a:gd name="T64" fmla="*/ 9 w 32"/>
                <a:gd name="T65" fmla="*/ 30 h 32"/>
                <a:gd name="T66" fmla="*/ 10 w 32"/>
                <a:gd name="T67" fmla="*/ 30 h 32"/>
                <a:gd name="T68" fmla="*/ 13 w 32"/>
                <a:gd name="T69" fmla="*/ 31 h 32"/>
                <a:gd name="T70" fmla="*/ 15 w 32"/>
                <a:gd name="T71" fmla="*/ 31 h 32"/>
                <a:gd name="T72" fmla="*/ 16 w 32"/>
                <a:gd name="T73" fmla="*/ 31 h 32"/>
                <a:gd name="T74" fmla="*/ 18 w 32"/>
                <a:gd name="T75" fmla="*/ 31 h 32"/>
                <a:gd name="T76" fmla="*/ 20 w 32"/>
                <a:gd name="T77" fmla="*/ 31 h 32"/>
                <a:gd name="T78" fmla="*/ 22 w 32"/>
                <a:gd name="T79" fmla="*/ 30 h 32"/>
                <a:gd name="T80" fmla="*/ 25 w 32"/>
                <a:gd name="T81" fmla="*/ 30 h 32"/>
                <a:gd name="T82" fmla="*/ 26 w 32"/>
                <a:gd name="T83" fmla="*/ 29 h 32"/>
                <a:gd name="T84" fmla="*/ 28 w 32"/>
                <a:gd name="T85" fmla="*/ 28 h 32"/>
                <a:gd name="T86" fmla="*/ 29 w 32"/>
                <a:gd name="T87" fmla="*/ 26 h 32"/>
                <a:gd name="T88" fmla="*/ 30 w 32"/>
                <a:gd name="T89" fmla="*/ 25 h 32"/>
                <a:gd name="T90" fmla="*/ 30 w 32"/>
                <a:gd name="T91" fmla="*/ 23 h 32"/>
                <a:gd name="T92" fmla="*/ 31 w 32"/>
                <a:gd name="T93" fmla="*/ 20 h 32"/>
                <a:gd name="T94" fmla="*/ 31 w 32"/>
                <a:gd name="T95" fmla="*/ 18 h 32"/>
                <a:gd name="T96" fmla="*/ 31 w 32"/>
                <a:gd name="T97" fmla="*/ 16 h 32"/>
                <a:gd name="T98" fmla="*/ 31 w 32"/>
                <a:gd name="T99" fmla="*/ 16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2" h="32">
                  <a:moveTo>
                    <a:pt x="31" y="16"/>
                  </a:moveTo>
                  <a:lnTo>
                    <a:pt x="31" y="15"/>
                  </a:lnTo>
                  <a:lnTo>
                    <a:pt x="31" y="13"/>
                  </a:lnTo>
                  <a:lnTo>
                    <a:pt x="30" y="10"/>
                  </a:lnTo>
                  <a:lnTo>
                    <a:pt x="30" y="9"/>
                  </a:lnTo>
                  <a:lnTo>
                    <a:pt x="29" y="7"/>
                  </a:lnTo>
                  <a:lnTo>
                    <a:pt x="28" y="6"/>
                  </a:lnTo>
                  <a:lnTo>
                    <a:pt x="26" y="5"/>
                  </a:lnTo>
                  <a:lnTo>
                    <a:pt x="25" y="4"/>
                  </a:lnTo>
                  <a:lnTo>
                    <a:pt x="22" y="3"/>
                  </a:lnTo>
                  <a:lnTo>
                    <a:pt x="20" y="2"/>
                  </a:lnTo>
                  <a:lnTo>
                    <a:pt x="18" y="2"/>
                  </a:lnTo>
                  <a:lnTo>
                    <a:pt x="16" y="0"/>
                  </a:lnTo>
                  <a:lnTo>
                    <a:pt x="15" y="2"/>
                  </a:lnTo>
                  <a:lnTo>
                    <a:pt x="13" y="2"/>
                  </a:lnTo>
                  <a:lnTo>
                    <a:pt x="10" y="3"/>
                  </a:lnTo>
                  <a:lnTo>
                    <a:pt x="9" y="4"/>
                  </a:lnTo>
                  <a:lnTo>
                    <a:pt x="7" y="5"/>
                  </a:lnTo>
                  <a:lnTo>
                    <a:pt x="6" y="6"/>
                  </a:lnTo>
                  <a:lnTo>
                    <a:pt x="5" y="7"/>
                  </a:lnTo>
                  <a:lnTo>
                    <a:pt x="4" y="9"/>
                  </a:lnTo>
                  <a:lnTo>
                    <a:pt x="3" y="10"/>
                  </a:lnTo>
                  <a:lnTo>
                    <a:pt x="1" y="13"/>
                  </a:lnTo>
                  <a:lnTo>
                    <a:pt x="1" y="15"/>
                  </a:lnTo>
                  <a:lnTo>
                    <a:pt x="0" y="16"/>
                  </a:lnTo>
                  <a:lnTo>
                    <a:pt x="1" y="18"/>
                  </a:lnTo>
                  <a:lnTo>
                    <a:pt x="1" y="20"/>
                  </a:lnTo>
                  <a:lnTo>
                    <a:pt x="3" y="23"/>
                  </a:lnTo>
                  <a:lnTo>
                    <a:pt x="4" y="25"/>
                  </a:lnTo>
                  <a:lnTo>
                    <a:pt x="5" y="26"/>
                  </a:lnTo>
                  <a:lnTo>
                    <a:pt x="6" y="28"/>
                  </a:lnTo>
                  <a:lnTo>
                    <a:pt x="7" y="29"/>
                  </a:lnTo>
                  <a:lnTo>
                    <a:pt x="9" y="30"/>
                  </a:lnTo>
                  <a:lnTo>
                    <a:pt x="10" y="30"/>
                  </a:lnTo>
                  <a:lnTo>
                    <a:pt x="13" y="31"/>
                  </a:lnTo>
                  <a:lnTo>
                    <a:pt x="15" y="31"/>
                  </a:lnTo>
                  <a:lnTo>
                    <a:pt x="16" y="31"/>
                  </a:lnTo>
                  <a:lnTo>
                    <a:pt x="18" y="31"/>
                  </a:lnTo>
                  <a:lnTo>
                    <a:pt x="20" y="31"/>
                  </a:lnTo>
                  <a:lnTo>
                    <a:pt x="22" y="30"/>
                  </a:lnTo>
                  <a:lnTo>
                    <a:pt x="25" y="30"/>
                  </a:lnTo>
                  <a:lnTo>
                    <a:pt x="26" y="29"/>
                  </a:lnTo>
                  <a:lnTo>
                    <a:pt x="28" y="28"/>
                  </a:lnTo>
                  <a:lnTo>
                    <a:pt x="29" y="26"/>
                  </a:lnTo>
                  <a:lnTo>
                    <a:pt x="30" y="25"/>
                  </a:lnTo>
                  <a:lnTo>
                    <a:pt x="30" y="23"/>
                  </a:lnTo>
                  <a:lnTo>
                    <a:pt x="31" y="20"/>
                  </a:lnTo>
                  <a:lnTo>
                    <a:pt x="31" y="18"/>
                  </a:lnTo>
                  <a:lnTo>
                    <a:pt x="31" y="16"/>
                  </a:lnTo>
                  <a:lnTo>
                    <a:pt x="31" y="16"/>
                  </a:lnTo>
                </a:path>
              </a:pathLst>
            </a:custGeom>
            <a:noFill/>
            <a:ln w="127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6" name="Freeform 16"/>
            <p:cNvSpPr>
              <a:spLocks/>
            </p:cNvSpPr>
            <p:nvPr/>
          </p:nvSpPr>
          <p:spPr bwMode="auto">
            <a:xfrm>
              <a:off x="1916" y="3776"/>
              <a:ext cx="32" cy="31"/>
            </a:xfrm>
            <a:custGeom>
              <a:avLst/>
              <a:gdLst>
                <a:gd name="T0" fmla="*/ 31 w 32"/>
                <a:gd name="T1" fmla="*/ 15 h 31"/>
                <a:gd name="T2" fmla="*/ 31 w 32"/>
                <a:gd name="T3" fmla="*/ 14 h 31"/>
                <a:gd name="T4" fmla="*/ 31 w 32"/>
                <a:gd name="T5" fmla="*/ 12 h 31"/>
                <a:gd name="T6" fmla="*/ 30 w 32"/>
                <a:gd name="T7" fmla="*/ 9 h 31"/>
                <a:gd name="T8" fmla="*/ 30 w 32"/>
                <a:gd name="T9" fmla="*/ 8 h 31"/>
                <a:gd name="T10" fmla="*/ 29 w 32"/>
                <a:gd name="T11" fmla="*/ 6 h 31"/>
                <a:gd name="T12" fmla="*/ 28 w 32"/>
                <a:gd name="T13" fmla="*/ 5 h 31"/>
                <a:gd name="T14" fmla="*/ 26 w 32"/>
                <a:gd name="T15" fmla="*/ 4 h 31"/>
                <a:gd name="T16" fmla="*/ 25 w 32"/>
                <a:gd name="T17" fmla="*/ 3 h 31"/>
                <a:gd name="T18" fmla="*/ 22 w 32"/>
                <a:gd name="T19" fmla="*/ 2 h 31"/>
                <a:gd name="T20" fmla="*/ 20 w 32"/>
                <a:gd name="T21" fmla="*/ 1 h 31"/>
                <a:gd name="T22" fmla="*/ 18 w 32"/>
                <a:gd name="T23" fmla="*/ 1 h 31"/>
                <a:gd name="T24" fmla="*/ 16 w 32"/>
                <a:gd name="T25" fmla="*/ 0 h 31"/>
                <a:gd name="T26" fmla="*/ 15 w 32"/>
                <a:gd name="T27" fmla="*/ 1 h 31"/>
                <a:gd name="T28" fmla="*/ 13 w 32"/>
                <a:gd name="T29" fmla="*/ 1 h 31"/>
                <a:gd name="T30" fmla="*/ 10 w 32"/>
                <a:gd name="T31" fmla="*/ 2 h 31"/>
                <a:gd name="T32" fmla="*/ 9 w 32"/>
                <a:gd name="T33" fmla="*/ 3 h 31"/>
                <a:gd name="T34" fmla="*/ 7 w 32"/>
                <a:gd name="T35" fmla="*/ 4 h 31"/>
                <a:gd name="T36" fmla="*/ 6 w 32"/>
                <a:gd name="T37" fmla="*/ 5 h 31"/>
                <a:gd name="T38" fmla="*/ 5 w 32"/>
                <a:gd name="T39" fmla="*/ 6 h 31"/>
                <a:gd name="T40" fmla="*/ 4 w 32"/>
                <a:gd name="T41" fmla="*/ 8 h 31"/>
                <a:gd name="T42" fmla="*/ 3 w 32"/>
                <a:gd name="T43" fmla="*/ 9 h 31"/>
                <a:gd name="T44" fmla="*/ 2 w 32"/>
                <a:gd name="T45" fmla="*/ 12 h 31"/>
                <a:gd name="T46" fmla="*/ 2 w 32"/>
                <a:gd name="T47" fmla="*/ 14 h 31"/>
                <a:gd name="T48" fmla="*/ 0 w 32"/>
                <a:gd name="T49" fmla="*/ 15 h 31"/>
                <a:gd name="T50" fmla="*/ 2 w 32"/>
                <a:gd name="T51" fmla="*/ 17 h 31"/>
                <a:gd name="T52" fmla="*/ 2 w 32"/>
                <a:gd name="T53" fmla="*/ 19 h 31"/>
                <a:gd name="T54" fmla="*/ 3 w 32"/>
                <a:gd name="T55" fmla="*/ 22 h 31"/>
                <a:gd name="T56" fmla="*/ 4 w 32"/>
                <a:gd name="T57" fmla="*/ 24 h 31"/>
                <a:gd name="T58" fmla="*/ 5 w 32"/>
                <a:gd name="T59" fmla="*/ 25 h 31"/>
                <a:gd name="T60" fmla="*/ 6 w 32"/>
                <a:gd name="T61" fmla="*/ 27 h 31"/>
                <a:gd name="T62" fmla="*/ 7 w 32"/>
                <a:gd name="T63" fmla="*/ 28 h 31"/>
                <a:gd name="T64" fmla="*/ 9 w 32"/>
                <a:gd name="T65" fmla="*/ 29 h 31"/>
                <a:gd name="T66" fmla="*/ 10 w 32"/>
                <a:gd name="T67" fmla="*/ 29 h 31"/>
                <a:gd name="T68" fmla="*/ 13 w 32"/>
                <a:gd name="T69" fmla="*/ 30 h 31"/>
                <a:gd name="T70" fmla="*/ 15 w 32"/>
                <a:gd name="T71" fmla="*/ 30 h 31"/>
                <a:gd name="T72" fmla="*/ 16 w 32"/>
                <a:gd name="T73" fmla="*/ 30 h 31"/>
                <a:gd name="T74" fmla="*/ 18 w 32"/>
                <a:gd name="T75" fmla="*/ 30 h 31"/>
                <a:gd name="T76" fmla="*/ 20 w 32"/>
                <a:gd name="T77" fmla="*/ 30 h 31"/>
                <a:gd name="T78" fmla="*/ 22 w 32"/>
                <a:gd name="T79" fmla="*/ 29 h 31"/>
                <a:gd name="T80" fmla="*/ 25 w 32"/>
                <a:gd name="T81" fmla="*/ 29 h 31"/>
                <a:gd name="T82" fmla="*/ 26 w 32"/>
                <a:gd name="T83" fmla="*/ 28 h 31"/>
                <a:gd name="T84" fmla="*/ 28 w 32"/>
                <a:gd name="T85" fmla="*/ 27 h 31"/>
                <a:gd name="T86" fmla="*/ 29 w 32"/>
                <a:gd name="T87" fmla="*/ 25 h 31"/>
                <a:gd name="T88" fmla="*/ 30 w 32"/>
                <a:gd name="T89" fmla="*/ 24 h 31"/>
                <a:gd name="T90" fmla="*/ 30 w 32"/>
                <a:gd name="T91" fmla="*/ 22 h 31"/>
                <a:gd name="T92" fmla="*/ 31 w 32"/>
                <a:gd name="T93" fmla="*/ 19 h 31"/>
                <a:gd name="T94" fmla="*/ 31 w 32"/>
                <a:gd name="T95" fmla="*/ 17 h 31"/>
                <a:gd name="T96" fmla="*/ 31 w 32"/>
                <a:gd name="T97" fmla="*/ 15 h 31"/>
                <a:gd name="T98" fmla="*/ 31 w 32"/>
                <a:gd name="T9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2" h="31">
                  <a:moveTo>
                    <a:pt x="31" y="15"/>
                  </a:moveTo>
                  <a:lnTo>
                    <a:pt x="31" y="14"/>
                  </a:lnTo>
                  <a:lnTo>
                    <a:pt x="31" y="12"/>
                  </a:lnTo>
                  <a:lnTo>
                    <a:pt x="30" y="9"/>
                  </a:lnTo>
                  <a:lnTo>
                    <a:pt x="30" y="8"/>
                  </a:lnTo>
                  <a:lnTo>
                    <a:pt x="29" y="6"/>
                  </a:lnTo>
                  <a:lnTo>
                    <a:pt x="28" y="5"/>
                  </a:lnTo>
                  <a:lnTo>
                    <a:pt x="26" y="4"/>
                  </a:lnTo>
                  <a:lnTo>
                    <a:pt x="25" y="3"/>
                  </a:lnTo>
                  <a:lnTo>
                    <a:pt x="22" y="2"/>
                  </a:lnTo>
                  <a:lnTo>
                    <a:pt x="20" y="1"/>
                  </a:lnTo>
                  <a:lnTo>
                    <a:pt x="18" y="1"/>
                  </a:lnTo>
                  <a:lnTo>
                    <a:pt x="16" y="0"/>
                  </a:lnTo>
                  <a:lnTo>
                    <a:pt x="15" y="1"/>
                  </a:lnTo>
                  <a:lnTo>
                    <a:pt x="13" y="1"/>
                  </a:lnTo>
                  <a:lnTo>
                    <a:pt x="10" y="2"/>
                  </a:lnTo>
                  <a:lnTo>
                    <a:pt x="9" y="3"/>
                  </a:lnTo>
                  <a:lnTo>
                    <a:pt x="7" y="4"/>
                  </a:lnTo>
                  <a:lnTo>
                    <a:pt x="6" y="5"/>
                  </a:lnTo>
                  <a:lnTo>
                    <a:pt x="5" y="6"/>
                  </a:lnTo>
                  <a:lnTo>
                    <a:pt x="4" y="8"/>
                  </a:lnTo>
                  <a:lnTo>
                    <a:pt x="3" y="9"/>
                  </a:lnTo>
                  <a:lnTo>
                    <a:pt x="2" y="12"/>
                  </a:lnTo>
                  <a:lnTo>
                    <a:pt x="2" y="14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3" y="22"/>
                  </a:lnTo>
                  <a:lnTo>
                    <a:pt x="4" y="24"/>
                  </a:lnTo>
                  <a:lnTo>
                    <a:pt x="5" y="25"/>
                  </a:lnTo>
                  <a:lnTo>
                    <a:pt x="6" y="27"/>
                  </a:lnTo>
                  <a:lnTo>
                    <a:pt x="7" y="28"/>
                  </a:lnTo>
                  <a:lnTo>
                    <a:pt x="9" y="29"/>
                  </a:lnTo>
                  <a:lnTo>
                    <a:pt x="10" y="29"/>
                  </a:lnTo>
                  <a:lnTo>
                    <a:pt x="13" y="30"/>
                  </a:lnTo>
                  <a:lnTo>
                    <a:pt x="15" y="30"/>
                  </a:lnTo>
                  <a:lnTo>
                    <a:pt x="16" y="30"/>
                  </a:lnTo>
                  <a:lnTo>
                    <a:pt x="18" y="30"/>
                  </a:lnTo>
                  <a:lnTo>
                    <a:pt x="20" y="30"/>
                  </a:lnTo>
                  <a:lnTo>
                    <a:pt x="22" y="29"/>
                  </a:lnTo>
                  <a:lnTo>
                    <a:pt x="25" y="29"/>
                  </a:lnTo>
                  <a:lnTo>
                    <a:pt x="26" y="28"/>
                  </a:lnTo>
                  <a:lnTo>
                    <a:pt x="28" y="27"/>
                  </a:lnTo>
                  <a:lnTo>
                    <a:pt x="29" y="25"/>
                  </a:lnTo>
                  <a:lnTo>
                    <a:pt x="30" y="24"/>
                  </a:lnTo>
                  <a:lnTo>
                    <a:pt x="30" y="22"/>
                  </a:lnTo>
                  <a:lnTo>
                    <a:pt x="31" y="19"/>
                  </a:lnTo>
                  <a:lnTo>
                    <a:pt x="31" y="17"/>
                  </a:lnTo>
                  <a:lnTo>
                    <a:pt x="31" y="15"/>
                  </a:lnTo>
                  <a:lnTo>
                    <a:pt x="31" y="1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7" name="Freeform 17"/>
            <p:cNvSpPr>
              <a:spLocks/>
            </p:cNvSpPr>
            <p:nvPr/>
          </p:nvSpPr>
          <p:spPr bwMode="auto">
            <a:xfrm>
              <a:off x="1916" y="3776"/>
              <a:ext cx="32" cy="31"/>
            </a:xfrm>
            <a:custGeom>
              <a:avLst/>
              <a:gdLst>
                <a:gd name="T0" fmla="*/ 31 w 32"/>
                <a:gd name="T1" fmla="*/ 15 h 31"/>
                <a:gd name="T2" fmla="*/ 31 w 32"/>
                <a:gd name="T3" fmla="*/ 14 h 31"/>
                <a:gd name="T4" fmla="*/ 31 w 32"/>
                <a:gd name="T5" fmla="*/ 12 h 31"/>
                <a:gd name="T6" fmla="*/ 30 w 32"/>
                <a:gd name="T7" fmla="*/ 9 h 31"/>
                <a:gd name="T8" fmla="*/ 30 w 32"/>
                <a:gd name="T9" fmla="*/ 8 h 31"/>
                <a:gd name="T10" fmla="*/ 29 w 32"/>
                <a:gd name="T11" fmla="*/ 6 h 31"/>
                <a:gd name="T12" fmla="*/ 28 w 32"/>
                <a:gd name="T13" fmla="*/ 5 h 31"/>
                <a:gd name="T14" fmla="*/ 26 w 32"/>
                <a:gd name="T15" fmla="*/ 4 h 31"/>
                <a:gd name="T16" fmla="*/ 25 w 32"/>
                <a:gd name="T17" fmla="*/ 3 h 31"/>
                <a:gd name="T18" fmla="*/ 22 w 32"/>
                <a:gd name="T19" fmla="*/ 2 h 31"/>
                <a:gd name="T20" fmla="*/ 20 w 32"/>
                <a:gd name="T21" fmla="*/ 1 h 31"/>
                <a:gd name="T22" fmla="*/ 18 w 32"/>
                <a:gd name="T23" fmla="*/ 1 h 31"/>
                <a:gd name="T24" fmla="*/ 16 w 32"/>
                <a:gd name="T25" fmla="*/ 0 h 31"/>
                <a:gd name="T26" fmla="*/ 15 w 32"/>
                <a:gd name="T27" fmla="*/ 1 h 31"/>
                <a:gd name="T28" fmla="*/ 13 w 32"/>
                <a:gd name="T29" fmla="*/ 1 h 31"/>
                <a:gd name="T30" fmla="*/ 10 w 32"/>
                <a:gd name="T31" fmla="*/ 2 h 31"/>
                <a:gd name="T32" fmla="*/ 9 w 32"/>
                <a:gd name="T33" fmla="*/ 3 h 31"/>
                <a:gd name="T34" fmla="*/ 7 w 32"/>
                <a:gd name="T35" fmla="*/ 4 h 31"/>
                <a:gd name="T36" fmla="*/ 6 w 32"/>
                <a:gd name="T37" fmla="*/ 5 h 31"/>
                <a:gd name="T38" fmla="*/ 5 w 32"/>
                <a:gd name="T39" fmla="*/ 6 h 31"/>
                <a:gd name="T40" fmla="*/ 4 w 32"/>
                <a:gd name="T41" fmla="*/ 8 h 31"/>
                <a:gd name="T42" fmla="*/ 3 w 32"/>
                <a:gd name="T43" fmla="*/ 9 h 31"/>
                <a:gd name="T44" fmla="*/ 2 w 32"/>
                <a:gd name="T45" fmla="*/ 12 h 31"/>
                <a:gd name="T46" fmla="*/ 2 w 32"/>
                <a:gd name="T47" fmla="*/ 14 h 31"/>
                <a:gd name="T48" fmla="*/ 0 w 32"/>
                <a:gd name="T49" fmla="*/ 15 h 31"/>
                <a:gd name="T50" fmla="*/ 2 w 32"/>
                <a:gd name="T51" fmla="*/ 17 h 31"/>
                <a:gd name="T52" fmla="*/ 2 w 32"/>
                <a:gd name="T53" fmla="*/ 19 h 31"/>
                <a:gd name="T54" fmla="*/ 3 w 32"/>
                <a:gd name="T55" fmla="*/ 22 h 31"/>
                <a:gd name="T56" fmla="*/ 4 w 32"/>
                <a:gd name="T57" fmla="*/ 24 h 31"/>
                <a:gd name="T58" fmla="*/ 5 w 32"/>
                <a:gd name="T59" fmla="*/ 25 h 31"/>
                <a:gd name="T60" fmla="*/ 6 w 32"/>
                <a:gd name="T61" fmla="*/ 27 h 31"/>
                <a:gd name="T62" fmla="*/ 7 w 32"/>
                <a:gd name="T63" fmla="*/ 28 h 31"/>
                <a:gd name="T64" fmla="*/ 9 w 32"/>
                <a:gd name="T65" fmla="*/ 29 h 31"/>
                <a:gd name="T66" fmla="*/ 10 w 32"/>
                <a:gd name="T67" fmla="*/ 29 h 31"/>
                <a:gd name="T68" fmla="*/ 13 w 32"/>
                <a:gd name="T69" fmla="*/ 30 h 31"/>
                <a:gd name="T70" fmla="*/ 15 w 32"/>
                <a:gd name="T71" fmla="*/ 30 h 31"/>
                <a:gd name="T72" fmla="*/ 16 w 32"/>
                <a:gd name="T73" fmla="*/ 30 h 31"/>
                <a:gd name="T74" fmla="*/ 18 w 32"/>
                <a:gd name="T75" fmla="*/ 30 h 31"/>
                <a:gd name="T76" fmla="*/ 20 w 32"/>
                <a:gd name="T77" fmla="*/ 30 h 31"/>
                <a:gd name="T78" fmla="*/ 22 w 32"/>
                <a:gd name="T79" fmla="*/ 29 h 31"/>
                <a:gd name="T80" fmla="*/ 25 w 32"/>
                <a:gd name="T81" fmla="*/ 29 h 31"/>
                <a:gd name="T82" fmla="*/ 26 w 32"/>
                <a:gd name="T83" fmla="*/ 28 h 31"/>
                <a:gd name="T84" fmla="*/ 28 w 32"/>
                <a:gd name="T85" fmla="*/ 27 h 31"/>
                <a:gd name="T86" fmla="*/ 29 w 32"/>
                <a:gd name="T87" fmla="*/ 25 h 31"/>
                <a:gd name="T88" fmla="*/ 30 w 32"/>
                <a:gd name="T89" fmla="*/ 24 h 31"/>
                <a:gd name="T90" fmla="*/ 30 w 32"/>
                <a:gd name="T91" fmla="*/ 22 h 31"/>
                <a:gd name="T92" fmla="*/ 31 w 32"/>
                <a:gd name="T93" fmla="*/ 19 h 31"/>
                <a:gd name="T94" fmla="*/ 31 w 32"/>
                <a:gd name="T95" fmla="*/ 17 h 31"/>
                <a:gd name="T96" fmla="*/ 31 w 32"/>
                <a:gd name="T97" fmla="*/ 15 h 31"/>
                <a:gd name="T98" fmla="*/ 31 w 32"/>
                <a:gd name="T9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2" h="31">
                  <a:moveTo>
                    <a:pt x="31" y="15"/>
                  </a:moveTo>
                  <a:lnTo>
                    <a:pt x="31" y="14"/>
                  </a:lnTo>
                  <a:lnTo>
                    <a:pt x="31" y="12"/>
                  </a:lnTo>
                  <a:lnTo>
                    <a:pt x="30" y="9"/>
                  </a:lnTo>
                  <a:lnTo>
                    <a:pt x="30" y="8"/>
                  </a:lnTo>
                  <a:lnTo>
                    <a:pt x="29" y="6"/>
                  </a:lnTo>
                  <a:lnTo>
                    <a:pt x="28" y="5"/>
                  </a:lnTo>
                  <a:lnTo>
                    <a:pt x="26" y="4"/>
                  </a:lnTo>
                  <a:lnTo>
                    <a:pt x="25" y="3"/>
                  </a:lnTo>
                  <a:lnTo>
                    <a:pt x="22" y="2"/>
                  </a:lnTo>
                  <a:lnTo>
                    <a:pt x="20" y="1"/>
                  </a:lnTo>
                  <a:lnTo>
                    <a:pt x="18" y="1"/>
                  </a:lnTo>
                  <a:lnTo>
                    <a:pt x="16" y="0"/>
                  </a:lnTo>
                  <a:lnTo>
                    <a:pt x="15" y="1"/>
                  </a:lnTo>
                  <a:lnTo>
                    <a:pt x="13" y="1"/>
                  </a:lnTo>
                  <a:lnTo>
                    <a:pt x="10" y="2"/>
                  </a:lnTo>
                  <a:lnTo>
                    <a:pt x="9" y="3"/>
                  </a:lnTo>
                  <a:lnTo>
                    <a:pt x="7" y="4"/>
                  </a:lnTo>
                  <a:lnTo>
                    <a:pt x="6" y="5"/>
                  </a:lnTo>
                  <a:lnTo>
                    <a:pt x="5" y="6"/>
                  </a:lnTo>
                  <a:lnTo>
                    <a:pt x="4" y="8"/>
                  </a:lnTo>
                  <a:lnTo>
                    <a:pt x="3" y="9"/>
                  </a:lnTo>
                  <a:lnTo>
                    <a:pt x="2" y="12"/>
                  </a:lnTo>
                  <a:lnTo>
                    <a:pt x="2" y="14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3" y="22"/>
                  </a:lnTo>
                  <a:lnTo>
                    <a:pt x="4" y="24"/>
                  </a:lnTo>
                  <a:lnTo>
                    <a:pt x="5" y="25"/>
                  </a:lnTo>
                  <a:lnTo>
                    <a:pt x="6" y="27"/>
                  </a:lnTo>
                  <a:lnTo>
                    <a:pt x="7" y="28"/>
                  </a:lnTo>
                  <a:lnTo>
                    <a:pt x="9" y="29"/>
                  </a:lnTo>
                  <a:lnTo>
                    <a:pt x="10" y="29"/>
                  </a:lnTo>
                  <a:lnTo>
                    <a:pt x="13" y="30"/>
                  </a:lnTo>
                  <a:lnTo>
                    <a:pt x="15" y="30"/>
                  </a:lnTo>
                  <a:lnTo>
                    <a:pt x="16" y="30"/>
                  </a:lnTo>
                  <a:lnTo>
                    <a:pt x="18" y="30"/>
                  </a:lnTo>
                  <a:lnTo>
                    <a:pt x="20" y="30"/>
                  </a:lnTo>
                  <a:lnTo>
                    <a:pt x="22" y="29"/>
                  </a:lnTo>
                  <a:lnTo>
                    <a:pt x="25" y="29"/>
                  </a:lnTo>
                  <a:lnTo>
                    <a:pt x="26" y="28"/>
                  </a:lnTo>
                  <a:lnTo>
                    <a:pt x="28" y="27"/>
                  </a:lnTo>
                  <a:lnTo>
                    <a:pt x="29" y="25"/>
                  </a:lnTo>
                  <a:lnTo>
                    <a:pt x="30" y="24"/>
                  </a:lnTo>
                  <a:lnTo>
                    <a:pt x="30" y="22"/>
                  </a:lnTo>
                  <a:lnTo>
                    <a:pt x="31" y="19"/>
                  </a:lnTo>
                  <a:lnTo>
                    <a:pt x="31" y="17"/>
                  </a:lnTo>
                  <a:lnTo>
                    <a:pt x="31" y="15"/>
                  </a:lnTo>
                  <a:lnTo>
                    <a:pt x="31" y="15"/>
                  </a:lnTo>
                </a:path>
              </a:pathLst>
            </a:custGeom>
            <a:noFill/>
            <a:ln w="127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8" name="Freeform 18"/>
            <p:cNvSpPr>
              <a:spLocks/>
            </p:cNvSpPr>
            <p:nvPr/>
          </p:nvSpPr>
          <p:spPr bwMode="auto">
            <a:xfrm>
              <a:off x="2675" y="3774"/>
              <a:ext cx="32" cy="32"/>
            </a:xfrm>
            <a:custGeom>
              <a:avLst/>
              <a:gdLst>
                <a:gd name="T0" fmla="*/ 31 w 32"/>
                <a:gd name="T1" fmla="*/ 16 h 32"/>
                <a:gd name="T2" fmla="*/ 31 w 32"/>
                <a:gd name="T3" fmla="*/ 15 h 32"/>
                <a:gd name="T4" fmla="*/ 31 w 32"/>
                <a:gd name="T5" fmla="*/ 13 h 32"/>
                <a:gd name="T6" fmla="*/ 30 w 32"/>
                <a:gd name="T7" fmla="*/ 10 h 32"/>
                <a:gd name="T8" fmla="*/ 30 w 32"/>
                <a:gd name="T9" fmla="*/ 9 h 32"/>
                <a:gd name="T10" fmla="*/ 29 w 32"/>
                <a:gd name="T11" fmla="*/ 7 h 32"/>
                <a:gd name="T12" fmla="*/ 28 w 32"/>
                <a:gd name="T13" fmla="*/ 6 h 32"/>
                <a:gd name="T14" fmla="*/ 26 w 32"/>
                <a:gd name="T15" fmla="*/ 5 h 32"/>
                <a:gd name="T16" fmla="*/ 25 w 32"/>
                <a:gd name="T17" fmla="*/ 4 h 32"/>
                <a:gd name="T18" fmla="*/ 23 w 32"/>
                <a:gd name="T19" fmla="*/ 3 h 32"/>
                <a:gd name="T20" fmla="*/ 20 w 32"/>
                <a:gd name="T21" fmla="*/ 2 h 32"/>
                <a:gd name="T22" fmla="*/ 18 w 32"/>
                <a:gd name="T23" fmla="*/ 2 h 32"/>
                <a:gd name="T24" fmla="*/ 16 w 32"/>
                <a:gd name="T25" fmla="*/ 0 h 32"/>
                <a:gd name="T26" fmla="*/ 15 w 32"/>
                <a:gd name="T27" fmla="*/ 2 h 32"/>
                <a:gd name="T28" fmla="*/ 13 w 32"/>
                <a:gd name="T29" fmla="*/ 2 h 32"/>
                <a:gd name="T30" fmla="*/ 10 w 32"/>
                <a:gd name="T31" fmla="*/ 3 h 32"/>
                <a:gd name="T32" fmla="*/ 9 w 32"/>
                <a:gd name="T33" fmla="*/ 4 h 32"/>
                <a:gd name="T34" fmla="*/ 7 w 32"/>
                <a:gd name="T35" fmla="*/ 5 h 32"/>
                <a:gd name="T36" fmla="*/ 6 w 32"/>
                <a:gd name="T37" fmla="*/ 6 h 32"/>
                <a:gd name="T38" fmla="*/ 5 w 32"/>
                <a:gd name="T39" fmla="*/ 7 h 32"/>
                <a:gd name="T40" fmla="*/ 4 w 32"/>
                <a:gd name="T41" fmla="*/ 9 h 32"/>
                <a:gd name="T42" fmla="*/ 3 w 32"/>
                <a:gd name="T43" fmla="*/ 10 h 32"/>
                <a:gd name="T44" fmla="*/ 2 w 32"/>
                <a:gd name="T45" fmla="*/ 13 h 32"/>
                <a:gd name="T46" fmla="*/ 2 w 32"/>
                <a:gd name="T47" fmla="*/ 15 h 32"/>
                <a:gd name="T48" fmla="*/ 0 w 32"/>
                <a:gd name="T49" fmla="*/ 16 h 32"/>
                <a:gd name="T50" fmla="*/ 2 w 32"/>
                <a:gd name="T51" fmla="*/ 18 h 32"/>
                <a:gd name="T52" fmla="*/ 2 w 32"/>
                <a:gd name="T53" fmla="*/ 20 h 32"/>
                <a:gd name="T54" fmla="*/ 3 w 32"/>
                <a:gd name="T55" fmla="*/ 23 h 32"/>
                <a:gd name="T56" fmla="*/ 4 w 32"/>
                <a:gd name="T57" fmla="*/ 25 h 32"/>
                <a:gd name="T58" fmla="*/ 5 w 32"/>
                <a:gd name="T59" fmla="*/ 26 h 32"/>
                <a:gd name="T60" fmla="*/ 6 w 32"/>
                <a:gd name="T61" fmla="*/ 28 h 32"/>
                <a:gd name="T62" fmla="*/ 7 w 32"/>
                <a:gd name="T63" fmla="*/ 29 h 32"/>
                <a:gd name="T64" fmla="*/ 9 w 32"/>
                <a:gd name="T65" fmla="*/ 30 h 32"/>
                <a:gd name="T66" fmla="*/ 10 w 32"/>
                <a:gd name="T67" fmla="*/ 30 h 32"/>
                <a:gd name="T68" fmla="*/ 13 w 32"/>
                <a:gd name="T69" fmla="*/ 31 h 32"/>
                <a:gd name="T70" fmla="*/ 15 w 32"/>
                <a:gd name="T71" fmla="*/ 31 h 32"/>
                <a:gd name="T72" fmla="*/ 16 w 32"/>
                <a:gd name="T73" fmla="*/ 31 h 32"/>
                <a:gd name="T74" fmla="*/ 18 w 32"/>
                <a:gd name="T75" fmla="*/ 31 h 32"/>
                <a:gd name="T76" fmla="*/ 20 w 32"/>
                <a:gd name="T77" fmla="*/ 31 h 32"/>
                <a:gd name="T78" fmla="*/ 23 w 32"/>
                <a:gd name="T79" fmla="*/ 30 h 32"/>
                <a:gd name="T80" fmla="*/ 25 w 32"/>
                <a:gd name="T81" fmla="*/ 30 h 32"/>
                <a:gd name="T82" fmla="*/ 26 w 32"/>
                <a:gd name="T83" fmla="*/ 29 h 32"/>
                <a:gd name="T84" fmla="*/ 28 w 32"/>
                <a:gd name="T85" fmla="*/ 28 h 32"/>
                <a:gd name="T86" fmla="*/ 29 w 32"/>
                <a:gd name="T87" fmla="*/ 26 h 32"/>
                <a:gd name="T88" fmla="*/ 30 w 32"/>
                <a:gd name="T89" fmla="*/ 25 h 32"/>
                <a:gd name="T90" fmla="*/ 30 w 32"/>
                <a:gd name="T91" fmla="*/ 23 h 32"/>
                <a:gd name="T92" fmla="*/ 31 w 32"/>
                <a:gd name="T93" fmla="*/ 20 h 32"/>
                <a:gd name="T94" fmla="*/ 31 w 32"/>
                <a:gd name="T95" fmla="*/ 18 h 32"/>
                <a:gd name="T96" fmla="*/ 31 w 32"/>
                <a:gd name="T97" fmla="*/ 16 h 32"/>
                <a:gd name="T98" fmla="*/ 31 w 32"/>
                <a:gd name="T99" fmla="*/ 16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2" h="32">
                  <a:moveTo>
                    <a:pt x="31" y="16"/>
                  </a:moveTo>
                  <a:lnTo>
                    <a:pt x="31" y="15"/>
                  </a:lnTo>
                  <a:lnTo>
                    <a:pt x="31" y="13"/>
                  </a:lnTo>
                  <a:lnTo>
                    <a:pt x="30" y="10"/>
                  </a:lnTo>
                  <a:lnTo>
                    <a:pt x="30" y="9"/>
                  </a:lnTo>
                  <a:lnTo>
                    <a:pt x="29" y="7"/>
                  </a:lnTo>
                  <a:lnTo>
                    <a:pt x="28" y="6"/>
                  </a:lnTo>
                  <a:lnTo>
                    <a:pt x="26" y="5"/>
                  </a:lnTo>
                  <a:lnTo>
                    <a:pt x="25" y="4"/>
                  </a:lnTo>
                  <a:lnTo>
                    <a:pt x="23" y="3"/>
                  </a:lnTo>
                  <a:lnTo>
                    <a:pt x="20" y="2"/>
                  </a:lnTo>
                  <a:lnTo>
                    <a:pt x="18" y="2"/>
                  </a:lnTo>
                  <a:lnTo>
                    <a:pt x="16" y="0"/>
                  </a:lnTo>
                  <a:lnTo>
                    <a:pt x="15" y="2"/>
                  </a:lnTo>
                  <a:lnTo>
                    <a:pt x="13" y="2"/>
                  </a:lnTo>
                  <a:lnTo>
                    <a:pt x="10" y="3"/>
                  </a:lnTo>
                  <a:lnTo>
                    <a:pt x="9" y="4"/>
                  </a:lnTo>
                  <a:lnTo>
                    <a:pt x="7" y="5"/>
                  </a:lnTo>
                  <a:lnTo>
                    <a:pt x="6" y="6"/>
                  </a:lnTo>
                  <a:lnTo>
                    <a:pt x="5" y="7"/>
                  </a:lnTo>
                  <a:lnTo>
                    <a:pt x="4" y="9"/>
                  </a:lnTo>
                  <a:lnTo>
                    <a:pt x="3" y="10"/>
                  </a:lnTo>
                  <a:lnTo>
                    <a:pt x="2" y="13"/>
                  </a:lnTo>
                  <a:lnTo>
                    <a:pt x="2" y="15"/>
                  </a:lnTo>
                  <a:lnTo>
                    <a:pt x="0" y="16"/>
                  </a:lnTo>
                  <a:lnTo>
                    <a:pt x="2" y="18"/>
                  </a:lnTo>
                  <a:lnTo>
                    <a:pt x="2" y="20"/>
                  </a:lnTo>
                  <a:lnTo>
                    <a:pt x="3" y="23"/>
                  </a:lnTo>
                  <a:lnTo>
                    <a:pt x="4" y="25"/>
                  </a:lnTo>
                  <a:lnTo>
                    <a:pt x="5" y="26"/>
                  </a:lnTo>
                  <a:lnTo>
                    <a:pt x="6" y="28"/>
                  </a:lnTo>
                  <a:lnTo>
                    <a:pt x="7" y="29"/>
                  </a:lnTo>
                  <a:lnTo>
                    <a:pt x="9" y="30"/>
                  </a:lnTo>
                  <a:lnTo>
                    <a:pt x="10" y="30"/>
                  </a:lnTo>
                  <a:lnTo>
                    <a:pt x="13" y="31"/>
                  </a:lnTo>
                  <a:lnTo>
                    <a:pt x="15" y="31"/>
                  </a:lnTo>
                  <a:lnTo>
                    <a:pt x="16" y="31"/>
                  </a:lnTo>
                  <a:lnTo>
                    <a:pt x="18" y="31"/>
                  </a:lnTo>
                  <a:lnTo>
                    <a:pt x="20" y="31"/>
                  </a:lnTo>
                  <a:lnTo>
                    <a:pt x="23" y="30"/>
                  </a:lnTo>
                  <a:lnTo>
                    <a:pt x="25" y="30"/>
                  </a:lnTo>
                  <a:lnTo>
                    <a:pt x="26" y="29"/>
                  </a:lnTo>
                  <a:lnTo>
                    <a:pt x="28" y="28"/>
                  </a:lnTo>
                  <a:lnTo>
                    <a:pt x="29" y="26"/>
                  </a:lnTo>
                  <a:lnTo>
                    <a:pt x="30" y="25"/>
                  </a:lnTo>
                  <a:lnTo>
                    <a:pt x="30" y="23"/>
                  </a:lnTo>
                  <a:lnTo>
                    <a:pt x="31" y="20"/>
                  </a:lnTo>
                  <a:lnTo>
                    <a:pt x="31" y="18"/>
                  </a:lnTo>
                  <a:lnTo>
                    <a:pt x="31" y="16"/>
                  </a:lnTo>
                  <a:lnTo>
                    <a:pt x="31" y="1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9" name="Freeform 19"/>
            <p:cNvSpPr>
              <a:spLocks/>
            </p:cNvSpPr>
            <p:nvPr/>
          </p:nvSpPr>
          <p:spPr bwMode="auto">
            <a:xfrm>
              <a:off x="2675" y="3774"/>
              <a:ext cx="32" cy="32"/>
            </a:xfrm>
            <a:custGeom>
              <a:avLst/>
              <a:gdLst>
                <a:gd name="T0" fmla="*/ 31 w 32"/>
                <a:gd name="T1" fmla="*/ 16 h 32"/>
                <a:gd name="T2" fmla="*/ 31 w 32"/>
                <a:gd name="T3" fmla="*/ 15 h 32"/>
                <a:gd name="T4" fmla="*/ 31 w 32"/>
                <a:gd name="T5" fmla="*/ 13 h 32"/>
                <a:gd name="T6" fmla="*/ 30 w 32"/>
                <a:gd name="T7" fmla="*/ 10 h 32"/>
                <a:gd name="T8" fmla="*/ 30 w 32"/>
                <a:gd name="T9" fmla="*/ 9 h 32"/>
                <a:gd name="T10" fmla="*/ 29 w 32"/>
                <a:gd name="T11" fmla="*/ 7 h 32"/>
                <a:gd name="T12" fmla="*/ 28 w 32"/>
                <a:gd name="T13" fmla="*/ 6 h 32"/>
                <a:gd name="T14" fmla="*/ 26 w 32"/>
                <a:gd name="T15" fmla="*/ 5 h 32"/>
                <a:gd name="T16" fmla="*/ 25 w 32"/>
                <a:gd name="T17" fmla="*/ 4 h 32"/>
                <a:gd name="T18" fmla="*/ 23 w 32"/>
                <a:gd name="T19" fmla="*/ 3 h 32"/>
                <a:gd name="T20" fmla="*/ 20 w 32"/>
                <a:gd name="T21" fmla="*/ 2 h 32"/>
                <a:gd name="T22" fmla="*/ 18 w 32"/>
                <a:gd name="T23" fmla="*/ 2 h 32"/>
                <a:gd name="T24" fmla="*/ 16 w 32"/>
                <a:gd name="T25" fmla="*/ 0 h 32"/>
                <a:gd name="T26" fmla="*/ 15 w 32"/>
                <a:gd name="T27" fmla="*/ 2 h 32"/>
                <a:gd name="T28" fmla="*/ 13 w 32"/>
                <a:gd name="T29" fmla="*/ 2 h 32"/>
                <a:gd name="T30" fmla="*/ 10 w 32"/>
                <a:gd name="T31" fmla="*/ 3 h 32"/>
                <a:gd name="T32" fmla="*/ 9 w 32"/>
                <a:gd name="T33" fmla="*/ 4 h 32"/>
                <a:gd name="T34" fmla="*/ 7 w 32"/>
                <a:gd name="T35" fmla="*/ 5 h 32"/>
                <a:gd name="T36" fmla="*/ 6 w 32"/>
                <a:gd name="T37" fmla="*/ 6 h 32"/>
                <a:gd name="T38" fmla="*/ 5 w 32"/>
                <a:gd name="T39" fmla="*/ 7 h 32"/>
                <a:gd name="T40" fmla="*/ 4 w 32"/>
                <a:gd name="T41" fmla="*/ 9 h 32"/>
                <a:gd name="T42" fmla="*/ 3 w 32"/>
                <a:gd name="T43" fmla="*/ 10 h 32"/>
                <a:gd name="T44" fmla="*/ 2 w 32"/>
                <a:gd name="T45" fmla="*/ 13 h 32"/>
                <a:gd name="T46" fmla="*/ 2 w 32"/>
                <a:gd name="T47" fmla="*/ 15 h 32"/>
                <a:gd name="T48" fmla="*/ 0 w 32"/>
                <a:gd name="T49" fmla="*/ 16 h 32"/>
                <a:gd name="T50" fmla="*/ 2 w 32"/>
                <a:gd name="T51" fmla="*/ 18 h 32"/>
                <a:gd name="T52" fmla="*/ 2 w 32"/>
                <a:gd name="T53" fmla="*/ 20 h 32"/>
                <a:gd name="T54" fmla="*/ 3 w 32"/>
                <a:gd name="T55" fmla="*/ 23 h 32"/>
                <a:gd name="T56" fmla="*/ 4 w 32"/>
                <a:gd name="T57" fmla="*/ 25 h 32"/>
                <a:gd name="T58" fmla="*/ 5 w 32"/>
                <a:gd name="T59" fmla="*/ 26 h 32"/>
                <a:gd name="T60" fmla="*/ 6 w 32"/>
                <a:gd name="T61" fmla="*/ 28 h 32"/>
                <a:gd name="T62" fmla="*/ 7 w 32"/>
                <a:gd name="T63" fmla="*/ 29 h 32"/>
                <a:gd name="T64" fmla="*/ 9 w 32"/>
                <a:gd name="T65" fmla="*/ 30 h 32"/>
                <a:gd name="T66" fmla="*/ 10 w 32"/>
                <a:gd name="T67" fmla="*/ 30 h 32"/>
                <a:gd name="T68" fmla="*/ 13 w 32"/>
                <a:gd name="T69" fmla="*/ 31 h 32"/>
                <a:gd name="T70" fmla="*/ 15 w 32"/>
                <a:gd name="T71" fmla="*/ 31 h 32"/>
                <a:gd name="T72" fmla="*/ 16 w 32"/>
                <a:gd name="T73" fmla="*/ 31 h 32"/>
                <a:gd name="T74" fmla="*/ 18 w 32"/>
                <a:gd name="T75" fmla="*/ 31 h 32"/>
                <a:gd name="T76" fmla="*/ 20 w 32"/>
                <a:gd name="T77" fmla="*/ 31 h 32"/>
                <a:gd name="T78" fmla="*/ 23 w 32"/>
                <a:gd name="T79" fmla="*/ 30 h 32"/>
                <a:gd name="T80" fmla="*/ 25 w 32"/>
                <a:gd name="T81" fmla="*/ 30 h 32"/>
                <a:gd name="T82" fmla="*/ 26 w 32"/>
                <a:gd name="T83" fmla="*/ 29 h 32"/>
                <a:gd name="T84" fmla="*/ 28 w 32"/>
                <a:gd name="T85" fmla="*/ 28 h 32"/>
                <a:gd name="T86" fmla="*/ 29 w 32"/>
                <a:gd name="T87" fmla="*/ 26 h 32"/>
                <a:gd name="T88" fmla="*/ 30 w 32"/>
                <a:gd name="T89" fmla="*/ 25 h 32"/>
                <a:gd name="T90" fmla="*/ 30 w 32"/>
                <a:gd name="T91" fmla="*/ 23 h 32"/>
                <a:gd name="T92" fmla="*/ 31 w 32"/>
                <a:gd name="T93" fmla="*/ 20 h 32"/>
                <a:gd name="T94" fmla="*/ 31 w 32"/>
                <a:gd name="T95" fmla="*/ 18 h 32"/>
                <a:gd name="T96" fmla="*/ 31 w 32"/>
                <a:gd name="T97" fmla="*/ 16 h 32"/>
                <a:gd name="T98" fmla="*/ 31 w 32"/>
                <a:gd name="T99" fmla="*/ 16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2" h="32">
                  <a:moveTo>
                    <a:pt x="31" y="16"/>
                  </a:moveTo>
                  <a:lnTo>
                    <a:pt x="31" y="15"/>
                  </a:lnTo>
                  <a:lnTo>
                    <a:pt x="31" y="13"/>
                  </a:lnTo>
                  <a:lnTo>
                    <a:pt x="30" y="10"/>
                  </a:lnTo>
                  <a:lnTo>
                    <a:pt x="30" y="9"/>
                  </a:lnTo>
                  <a:lnTo>
                    <a:pt x="29" y="7"/>
                  </a:lnTo>
                  <a:lnTo>
                    <a:pt x="28" y="6"/>
                  </a:lnTo>
                  <a:lnTo>
                    <a:pt x="26" y="5"/>
                  </a:lnTo>
                  <a:lnTo>
                    <a:pt x="25" y="4"/>
                  </a:lnTo>
                  <a:lnTo>
                    <a:pt x="23" y="3"/>
                  </a:lnTo>
                  <a:lnTo>
                    <a:pt x="20" y="2"/>
                  </a:lnTo>
                  <a:lnTo>
                    <a:pt x="18" y="2"/>
                  </a:lnTo>
                  <a:lnTo>
                    <a:pt x="16" y="0"/>
                  </a:lnTo>
                  <a:lnTo>
                    <a:pt x="15" y="2"/>
                  </a:lnTo>
                  <a:lnTo>
                    <a:pt x="13" y="2"/>
                  </a:lnTo>
                  <a:lnTo>
                    <a:pt x="10" y="3"/>
                  </a:lnTo>
                  <a:lnTo>
                    <a:pt x="9" y="4"/>
                  </a:lnTo>
                  <a:lnTo>
                    <a:pt x="7" y="5"/>
                  </a:lnTo>
                  <a:lnTo>
                    <a:pt x="6" y="6"/>
                  </a:lnTo>
                  <a:lnTo>
                    <a:pt x="5" y="7"/>
                  </a:lnTo>
                  <a:lnTo>
                    <a:pt x="4" y="9"/>
                  </a:lnTo>
                  <a:lnTo>
                    <a:pt x="3" y="10"/>
                  </a:lnTo>
                  <a:lnTo>
                    <a:pt x="2" y="13"/>
                  </a:lnTo>
                  <a:lnTo>
                    <a:pt x="2" y="15"/>
                  </a:lnTo>
                  <a:lnTo>
                    <a:pt x="0" y="16"/>
                  </a:lnTo>
                  <a:lnTo>
                    <a:pt x="2" y="18"/>
                  </a:lnTo>
                  <a:lnTo>
                    <a:pt x="2" y="20"/>
                  </a:lnTo>
                  <a:lnTo>
                    <a:pt x="3" y="23"/>
                  </a:lnTo>
                  <a:lnTo>
                    <a:pt x="4" y="25"/>
                  </a:lnTo>
                  <a:lnTo>
                    <a:pt x="5" y="26"/>
                  </a:lnTo>
                  <a:lnTo>
                    <a:pt x="6" y="28"/>
                  </a:lnTo>
                  <a:lnTo>
                    <a:pt x="7" y="29"/>
                  </a:lnTo>
                  <a:lnTo>
                    <a:pt x="9" y="30"/>
                  </a:lnTo>
                  <a:lnTo>
                    <a:pt x="10" y="30"/>
                  </a:lnTo>
                  <a:lnTo>
                    <a:pt x="13" y="31"/>
                  </a:lnTo>
                  <a:lnTo>
                    <a:pt x="15" y="31"/>
                  </a:lnTo>
                  <a:lnTo>
                    <a:pt x="16" y="31"/>
                  </a:lnTo>
                  <a:lnTo>
                    <a:pt x="18" y="31"/>
                  </a:lnTo>
                  <a:lnTo>
                    <a:pt x="20" y="31"/>
                  </a:lnTo>
                  <a:lnTo>
                    <a:pt x="23" y="30"/>
                  </a:lnTo>
                  <a:lnTo>
                    <a:pt x="25" y="30"/>
                  </a:lnTo>
                  <a:lnTo>
                    <a:pt x="26" y="29"/>
                  </a:lnTo>
                  <a:lnTo>
                    <a:pt x="28" y="28"/>
                  </a:lnTo>
                  <a:lnTo>
                    <a:pt x="29" y="26"/>
                  </a:lnTo>
                  <a:lnTo>
                    <a:pt x="30" y="25"/>
                  </a:lnTo>
                  <a:lnTo>
                    <a:pt x="30" y="23"/>
                  </a:lnTo>
                  <a:lnTo>
                    <a:pt x="31" y="20"/>
                  </a:lnTo>
                  <a:lnTo>
                    <a:pt x="31" y="18"/>
                  </a:lnTo>
                  <a:lnTo>
                    <a:pt x="31" y="16"/>
                  </a:lnTo>
                  <a:lnTo>
                    <a:pt x="31" y="16"/>
                  </a:lnTo>
                </a:path>
              </a:pathLst>
            </a:custGeom>
            <a:noFill/>
            <a:ln w="127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0" name="Freeform 20"/>
            <p:cNvSpPr>
              <a:spLocks/>
            </p:cNvSpPr>
            <p:nvPr/>
          </p:nvSpPr>
          <p:spPr bwMode="auto">
            <a:xfrm>
              <a:off x="3435" y="3016"/>
              <a:ext cx="31" cy="32"/>
            </a:xfrm>
            <a:custGeom>
              <a:avLst/>
              <a:gdLst>
                <a:gd name="T0" fmla="*/ 30 w 31"/>
                <a:gd name="T1" fmla="*/ 15 h 32"/>
                <a:gd name="T2" fmla="*/ 30 w 31"/>
                <a:gd name="T3" fmla="*/ 14 h 32"/>
                <a:gd name="T4" fmla="*/ 30 w 31"/>
                <a:gd name="T5" fmla="*/ 12 h 32"/>
                <a:gd name="T6" fmla="*/ 29 w 31"/>
                <a:gd name="T7" fmla="*/ 10 h 32"/>
                <a:gd name="T8" fmla="*/ 29 w 31"/>
                <a:gd name="T9" fmla="*/ 9 h 32"/>
                <a:gd name="T10" fmla="*/ 28 w 31"/>
                <a:gd name="T11" fmla="*/ 6 h 32"/>
                <a:gd name="T12" fmla="*/ 27 w 31"/>
                <a:gd name="T13" fmla="*/ 5 h 32"/>
                <a:gd name="T14" fmla="*/ 25 w 31"/>
                <a:gd name="T15" fmla="*/ 4 h 32"/>
                <a:gd name="T16" fmla="*/ 24 w 31"/>
                <a:gd name="T17" fmla="*/ 3 h 32"/>
                <a:gd name="T18" fmla="*/ 22 w 31"/>
                <a:gd name="T19" fmla="*/ 2 h 32"/>
                <a:gd name="T20" fmla="*/ 19 w 31"/>
                <a:gd name="T21" fmla="*/ 1 h 32"/>
                <a:gd name="T22" fmla="*/ 17 w 31"/>
                <a:gd name="T23" fmla="*/ 1 h 32"/>
                <a:gd name="T24" fmla="*/ 15 w 31"/>
                <a:gd name="T25" fmla="*/ 0 h 32"/>
                <a:gd name="T26" fmla="*/ 14 w 31"/>
                <a:gd name="T27" fmla="*/ 1 h 32"/>
                <a:gd name="T28" fmla="*/ 12 w 31"/>
                <a:gd name="T29" fmla="*/ 1 h 32"/>
                <a:gd name="T30" fmla="*/ 9 w 31"/>
                <a:gd name="T31" fmla="*/ 2 h 32"/>
                <a:gd name="T32" fmla="*/ 8 w 31"/>
                <a:gd name="T33" fmla="*/ 3 h 32"/>
                <a:gd name="T34" fmla="*/ 6 w 31"/>
                <a:gd name="T35" fmla="*/ 4 h 32"/>
                <a:gd name="T36" fmla="*/ 5 w 31"/>
                <a:gd name="T37" fmla="*/ 5 h 32"/>
                <a:gd name="T38" fmla="*/ 4 w 31"/>
                <a:gd name="T39" fmla="*/ 6 h 32"/>
                <a:gd name="T40" fmla="*/ 3 w 31"/>
                <a:gd name="T41" fmla="*/ 9 h 32"/>
                <a:gd name="T42" fmla="*/ 2 w 31"/>
                <a:gd name="T43" fmla="*/ 10 h 32"/>
                <a:gd name="T44" fmla="*/ 1 w 31"/>
                <a:gd name="T45" fmla="*/ 12 h 32"/>
                <a:gd name="T46" fmla="*/ 1 w 31"/>
                <a:gd name="T47" fmla="*/ 14 h 32"/>
                <a:gd name="T48" fmla="*/ 0 w 31"/>
                <a:gd name="T49" fmla="*/ 15 h 32"/>
                <a:gd name="T50" fmla="*/ 1 w 31"/>
                <a:gd name="T51" fmla="*/ 17 h 32"/>
                <a:gd name="T52" fmla="*/ 1 w 31"/>
                <a:gd name="T53" fmla="*/ 20 h 32"/>
                <a:gd name="T54" fmla="*/ 2 w 31"/>
                <a:gd name="T55" fmla="*/ 22 h 32"/>
                <a:gd name="T56" fmla="*/ 3 w 31"/>
                <a:gd name="T57" fmla="*/ 24 h 32"/>
                <a:gd name="T58" fmla="*/ 4 w 31"/>
                <a:gd name="T59" fmla="*/ 25 h 32"/>
                <a:gd name="T60" fmla="*/ 5 w 31"/>
                <a:gd name="T61" fmla="*/ 27 h 32"/>
                <a:gd name="T62" fmla="*/ 6 w 31"/>
                <a:gd name="T63" fmla="*/ 28 h 32"/>
                <a:gd name="T64" fmla="*/ 8 w 31"/>
                <a:gd name="T65" fmla="*/ 29 h 32"/>
                <a:gd name="T66" fmla="*/ 9 w 31"/>
                <a:gd name="T67" fmla="*/ 29 h 32"/>
                <a:gd name="T68" fmla="*/ 12 w 31"/>
                <a:gd name="T69" fmla="*/ 31 h 32"/>
                <a:gd name="T70" fmla="*/ 14 w 31"/>
                <a:gd name="T71" fmla="*/ 31 h 32"/>
                <a:gd name="T72" fmla="*/ 15 w 31"/>
                <a:gd name="T73" fmla="*/ 31 h 32"/>
                <a:gd name="T74" fmla="*/ 17 w 31"/>
                <a:gd name="T75" fmla="*/ 31 h 32"/>
                <a:gd name="T76" fmla="*/ 19 w 31"/>
                <a:gd name="T77" fmla="*/ 31 h 32"/>
                <a:gd name="T78" fmla="*/ 22 w 31"/>
                <a:gd name="T79" fmla="*/ 29 h 32"/>
                <a:gd name="T80" fmla="*/ 24 w 31"/>
                <a:gd name="T81" fmla="*/ 29 h 32"/>
                <a:gd name="T82" fmla="*/ 25 w 31"/>
                <a:gd name="T83" fmla="*/ 28 h 32"/>
                <a:gd name="T84" fmla="*/ 27 w 31"/>
                <a:gd name="T85" fmla="*/ 27 h 32"/>
                <a:gd name="T86" fmla="*/ 28 w 31"/>
                <a:gd name="T87" fmla="*/ 25 h 32"/>
                <a:gd name="T88" fmla="*/ 29 w 31"/>
                <a:gd name="T89" fmla="*/ 24 h 32"/>
                <a:gd name="T90" fmla="*/ 29 w 31"/>
                <a:gd name="T91" fmla="*/ 22 h 32"/>
                <a:gd name="T92" fmla="*/ 30 w 31"/>
                <a:gd name="T93" fmla="*/ 20 h 32"/>
                <a:gd name="T94" fmla="*/ 30 w 31"/>
                <a:gd name="T95" fmla="*/ 17 h 32"/>
                <a:gd name="T96" fmla="*/ 30 w 31"/>
                <a:gd name="T97" fmla="*/ 15 h 32"/>
                <a:gd name="T98" fmla="*/ 30 w 31"/>
                <a:gd name="T99" fmla="*/ 15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2">
                  <a:moveTo>
                    <a:pt x="30" y="15"/>
                  </a:moveTo>
                  <a:lnTo>
                    <a:pt x="30" y="14"/>
                  </a:lnTo>
                  <a:lnTo>
                    <a:pt x="30" y="12"/>
                  </a:lnTo>
                  <a:lnTo>
                    <a:pt x="29" y="10"/>
                  </a:lnTo>
                  <a:lnTo>
                    <a:pt x="29" y="9"/>
                  </a:lnTo>
                  <a:lnTo>
                    <a:pt x="28" y="6"/>
                  </a:lnTo>
                  <a:lnTo>
                    <a:pt x="27" y="5"/>
                  </a:lnTo>
                  <a:lnTo>
                    <a:pt x="25" y="4"/>
                  </a:lnTo>
                  <a:lnTo>
                    <a:pt x="24" y="3"/>
                  </a:lnTo>
                  <a:lnTo>
                    <a:pt x="22" y="2"/>
                  </a:lnTo>
                  <a:lnTo>
                    <a:pt x="19" y="1"/>
                  </a:lnTo>
                  <a:lnTo>
                    <a:pt x="17" y="1"/>
                  </a:lnTo>
                  <a:lnTo>
                    <a:pt x="15" y="0"/>
                  </a:lnTo>
                  <a:lnTo>
                    <a:pt x="14" y="1"/>
                  </a:lnTo>
                  <a:lnTo>
                    <a:pt x="12" y="1"/>
                  </a:lnTo>
                  <a:lnTo>
                    <a:pt x="9" y="2"/>
                  </a:lnTo>
                  <a:lnTo>
                    <a:pt x="8" y="3"/>
                  </a:lnTo>
                  <a:lnTo>
                    <a:pt x="6" y="4"/>
                  </a:lnTo>
                  <a:lnTo>
                    <a:pt x="5" y="5"/>
                  </a:lnTo>
                  <a:lnTo>
                    <a:pt x="4" y="6"/>
                  </a:lnTo>
                  <a:lnTo>
                    <a:pt x="3" y="9"/>
                  </a:lnTo>
                  <a:lnTo>
                    <a:pt x="2" y="10"/>
                  </a:lnTo>
                  <a:lnTo>
                    <a:pt x="1" y="12"/>
                  </a:lnTo>
                  <a:lnTo>
                    <a:pt x="1" y="14"/>
                  </a:lnTo>
                  <a:lnTo>
                    <a:pt x="0" y="15"/>
                  </a:lnTo>
                  <a:lnTo>
                    <a:pt x="1" y="17"/>
                  </a:lnTo>
                  <a:lnTo>
                    <a:pt x="1" y="20"/>
                  </a:lnTo>
                  <a:lnTo>
                    <a:pt x="2" y="22"/>
                  </a:lnTo>
                  <a:lnTo>
                    <a:pt x="3" y="24"/>
                  </a:lnTo>
                  <a:lnTo>
                    <a:pt x="4" y="25"/>
                  </a:lnTo>
                  <a:lnTo>
                    <a:pt x="5" y="27"/>
                  </a:lnTo>
                  <a:lnTo>
                    <a:pt x="6" y="28"/>
                  </a:lnTo>
                  <a:lnTo>
                    <a:pt x="8" y="29"/>
                  </a:lnTo>
                  <a:lnTo>
                    <a:pt x="9" y="29"/>
                  </a:lnTo>
                  <a:lnTo>
                    <a:pt x="12" y="31"/>
                  </a:lnTo>
                  <a:lnTo>
                    <a:pt x="14" y="31"/>
                  </a:lnTo>
                  <a:lnTo>
                    <a:pt x="15" y="31"/>
                  </a:lnTo>
                  <a:lnTo>
                    <a:pt x="17" y="31"/>
                  </a:lnTo>
                  <a:lnTo>
                    <a:pt x="19" y="31"/>
                  </a:lnTo>
                  <a:lnTo>
                    <a:pt x="22" y="29"/>
                  </a:lnTo>
                  <a:lnTo>
                    <a:pt x="24" y="29"/>
                  </a:lnTo>
                  <a:lnTo>
                    <a:pt x="25" y="28"/>
                  </a:lnTo>
                  <a:lnTo>
                    <a:pt x="27" y="27"/>
                  </a:lnTo>
                  <a:lnTo>
                    <a:pt x="28" y="25"/>
                  </a:lnTo>
                  <a:lnTo>
                    <a:pt x="29" y="24"/>
                  </a:lnTo>
                  <a:lnTo>
                    <a:pt x="29" y="22"/>
                  </a:lnTo>
                  <a:lnTo>
                    <a:pt x="30" y="20"/>
                  </a:lnTo>
                  <a:lnTo>
                    <a:pt x="30" y="17"/>
                  </a:lnTo>
                  <a:lnTo>
                    <a:pt x="30" y="15"/>
                  </a:lnTo>
                  <a:lnTo>
                    <a:pt x="30" y="1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1" name="Freeform 21"/>
            <p:cNvSpPr>
              <a:spLocks/>
            </p:cNvSpPr>
            <p:nvPr/>
          </p:nvSpPr>
          <p:spPr bwMode="auto">
            <a:xfrm>
              <a:off x="3435" y="3016"/>
              <a:ext cx="31" cy="32"/>
            </a:xfrm>
            <a:custGeom>
              <a:avLst/>
              <a:gdLst>
                <a:gd name="T0" fmla="*/ 30 w 31"/>
                <a:gd name="T1" fmla="*/ 15 h 32"/>
                <a:gd name="T2" fmla="*/ 30 w 31"/>
                <a:gd name="T3" fmla="*/ 14 h 32"/>
                <a:gd name="T4" fmla="*/ 30 w 31"/>
                <a:gd name="T5" fmla="*/ 12 h 32"/>
                <a:gd name="T6" fmla="*/ 29 w 31"/>
                <a:gd name="T7" fmla="*/ 10 h 32"/>
                <a:gd name="T8" fmla="*/ 29 w 31"/>
                <a:gd name="T9" fmla="*/ 9 h 32"/>
                <a:gd name="T10" fmla="*/ 28 w 31"/>
                <a:gd name="T11" fmla="*/ 6 h 32"/>
                <a:gd name="T12" fmla="*/ 27 w 31"/>
                <a:gd name="T13" fmla="*/ 5 h 32"/>
                <a:gd name="T14" fmla="*/ 25 w 31"/>
                <a:gd name="T15" fmla="*/ 4 h 32"/>
                <a:gd name="T16" fmla="*/ 24 w 31"/>
                <a:gd name="T17" fmla="*/ 3 h 32"/>
                <a:gd name="T18" fmla="*/ 22 w 31"/>
                <a:gd name="T19" fmla="*/ 2 h 32"/>
                <a:gd name="T20" fmla="*/ 19 w 31"/>
                <a:gd name="T21" fmla="*/ 1 h 32"/>
                <a:gd name="T22" fmla="*/ 17 w 31"/>
                <a:gd name="T23" fmla="*/ 1 h 32"/>
                <a:gd name="T24" fmla="*/ 15 w 31"/>
                <a:gd name="T25" fmla="*/ 0 h 32"/>
                <a:gd name="T26" fmla="*/ 14 w 31"/>
                <a:gd name="T27" fmla="*/ 1 h 32"/>
                <a:gd name="T28" fmla="*/ 12 w 31"/>
                <a:gd name="T29" fmla="*/ 1 h 32"/>
                <a:gd name="T30" fmla="*/ 9 w 31"/>
                <a:gd name="T31" fmla="*/ 2 h 32"/>
                <a:gd name="T32" fmla="*/ 8 w 31"/>
                <a:gd name="T33" fmla="*/ 3 h 32"/>
                <a:gd name="T34" fmla="*/ 6 w 31"/>
                <a:gd name="T35" fmla="*/ 4 h 32"/>
                <a:gd name="T36" fmla="*/ 5 w 31"/>
                <a:gd name="T37" fmla="*/ 5 h 32"/>
                <a:gd name="T38" fmla="*/ 4 w 31"/>
                <a:gd name="T39" fmla="*/ 6 h 32"/>
                <a:gd name="T40" fmla="*/ 3 w 31"/>
                <a:gd name="T41" fmla="*/ 9 h 32"/>
                <a:gd name="T42" fmla="*/ 2 w 31"/>
                <a:gd name="T43" fmla="*/ 10 h 32"/>
                <a:gd name="T44" fmla="*/ 1 w 31"/>
                <a:gd name="T45" fmla="*/ 12 h 32"/>
                <a:gd name="T46" fmla="*/ 1 w 31"/>
                <a:gd name="T47" fmla="*/ 14 h 32"/>
                <a:gd name="T48" fmla="*/ 0 w 31"/>
                <a:gd name="T49" fmla="*/ 15 h 32"/>
                <a:gd name="T50" fmla="*/ 1 w 31"/>
                <a:gd name="T51" fmla="*/ 17 h 32"/>
                <a:gd name="T52" fmla="*/ 1 w 31"/>
                <a:gd name="T53" fmla="*/ 20 h 32"/>
                <a:gd name="T54" fmla="*/ 2 w 31"/>
                <a:gd name="T55" fmla="*/ 22 h 32"/>
                <a:gd name="T56" fmla="*/ 3 w 31"/>
                <a:gd name="T57" fmla="*/ 24 h 32"/>
                <a:gd name="T58" fmla="*/ 4 w 31"/>
                <a:gd name="T59" fmla="*/ 25 h 32"/>
                <a:gd name="T60" fmla="*/ 5 w 31"/>
                <a:gd name="T61" fmla="*/ 27 h 32"/>
                <a:gd name="T62" fmla="*/ 6 w 31"/>
                <a:gd name="T63" fmla="*/ 28 h 32"/>
                <a:gd name="T64" fmla="*/ 8 w 31"/>
                <a:gd name="T65" fmla="*/ 29 h 32"/>
                <a:gd name="T66" fmla="*/ 9 w 31"/>
                <a:gd name="T67" fmla="*/ 29 h 32"/>
                <a:gd name="T68" fmla="*/ 12 w 31"/>
                <a:gd name="T69" fmla="*/ 31 h 32"/>
                <a:gd name="T70" fmla="*/ 14 w 31"/>
                <a:gd name="T71" fmla="*/ 31 h 32"/>
                <a:gd name="T72" fmla="*/ 15 w 31"/>
                <a:gd name="T73" fmla="*/ 31 h 32"/>
                <a:gd name="T74" fmla="*/ 17 w 31"/>
                <a:gd name="T75" fmla="*/ 31 h 32"/>
                <a:gd name="T76" fmla="*/ 19 w 31"/>
                <a:gd name="T77" fmla="*/ 31 h 32"/>
                <a:gd name="T78" fmla="*/ 22 w 31"/>
                <a:gd name="T79" fmla="*/ 29 h 32"/>
                <a:gd name="T80" fmla="*/ 24 w 31"/>
                <a:gd name="T81" fmla="*/ 29 h 32"/>
                <a:gd name="T82" fmla="*/ 25 w 31"/>
                <a:gd name="T83" fmla="*/ 28 h 32"/>
                <a:gd name="T84" fmla="*/ 27 w 31"/>
                <a:gd name="T85" fmla="*/ 27 h 32"/>
                <a:gd name="T86" fmla="*/ 28 w 31"/>
                <a:gd name="T87" fmla="*/ 25 h 32"/>
                <a:gd name="T88" fmla="*/ 29 w 31"/>
                <a:gd name="T89" fmla="*/ 24 h 32"/>
                <a:gd name="T90" fmla="*/ 29 w 31"/>
                <a:gd name="T91" fmla="*/ 22 h 32"/>
                <a:gd name="T92" fmla="*/ 30 w 31"/>
                <a:gd name="T93" fmla="*/ 20 h 32"/>
                <a:gd name="T94" fmla="*/ 30 w 31"/>
                <a:gd name="T95" fmla="*/ 17 h 32"/>
                <a:gd name="T96" fmla="*/ 30 w 31"/>
                <a:gd name="T97" fmla="*/ 15 h 32"/>
                <a:gd name="T98" fmla="*/ 30 w 31"/>
                <a:gd name="T99" fmla="*/ 15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2">
                  <a:moveTo>
                    <a:pt x="30" y="15"/>
                  </a:moveTo>
                  <a:lnTo>
                    <a:pt x="30" y="14"/>
                  </a:lnTo>
                  <a:lnTo>
                    <a:pt x="30" y="12"/>
                  </a:lnTo>
                  <a:lnTo>
                    <a:pt x="29" y="10"/>
                  </a:lnTo>
                  <a:lnTo>
                    <a:pt x="29" y="9"/>
                  </a:lnTo>
                  <a:lnTo>
                    <a:pt x="28" y="6"/>
                  </a:lnTo>
                  <a:lnTo>
                    <a:pt x="27" y="5"/>
                  </a:lnTo>
                  <a:lnTo>
                    <a:pt x="25" y="4"/>
                  </a:lnTo>
                  <a:lnTo>
                    <a:pt x="24" y="3"/>
                  </a:lnTo>
                  <a:lnTo>
                    <a:pt x="22" y="2"/>
                  </a:lnTo>
                  <a:lnTo>
                    <a:pt x="19" y="1"/>
                  </a:lnTo>
                  <a:lnTo>
                    <a:pt x="17" y="1"/>
                  </a:lnTo>
                  <a:lnTo>
                    <a:pt x="15" y="0"/>
                  </a:lnTo>
                  <a:lnTo>
                    <a:pt x="14" y="1"/>
                  </a:lnTo>
                  <a:lnTo>
                    <a:pt x="12" y="1"/>
                  </a:lnTo>
                  <a:lnTo>
                    <a:pt x="9" y="2"/>
                  </a:lnTo>
                  <a:lnTo>
                    <a:pt x="8" y="3"/>
                  </a:lnTo>
                  <a:lnTo>
                    <a:pt x="6" y="4"/>
                  </a:lnTo>
                  <a:lnTo>
                    <a:pt x="5" y="5"/>
                  </a:lnTo>
                  <a:lnTo>
                    <a:pt x="4" y="6"/>
                  </a:lnTo>
                  <a:lnTo>
                    <a:pt x="3" y="9"/>
                  </a:lnTo>
                  <a:lnTo>
                    <a:pt x="2" y="10"/>
                  </a:lnTo>
                  <a:lnTo>
                    <a:pt x="1" y="12"/>
                  </a:lnTo>
                  <a:lnTo>
                    <a:pt x="1" y="14"/>
                  </a:lnTo>
                  <a:lnTo>
                    <a:pt x="0" y="15"/>
                  </a:lnTo>
                  <a:lnTo>
                    <a:pt x="1" y="17"/>
                  </a:lnTo>
                  <a:lnTo>
                    <a:pt x="1" y="20"/>
                  </a:lnTo>
                  <a:lnTo>
                    <a:pt x="2" y="22"/>
                  </a:lnTo>
                  <a:lnTo>
                    <a:pt x="3" y="24"/>
                  </a:lnTo>
                  <a:lnTo>
                    <a:pt x="4" y="25"/>
                  </a:lnTo>
                  <a:lnTo>
                    <a:pt x="5" y="27"/>
                  </a:lnTo>
                  <a:lnTo>
                    <a:pt x="6" y="28"/>
                  </a:lnTo>
                  <a:lnTo>
                    <a:pt x="8" y="29"/>
                  </a:lnTo>
                  <a:lnTo>
                    <a:pt x="9" y="29"/>
                  </a:lnTo>
                  <a:lnTo>
                    <a:pt x="12" y="31"/>
                  </a:lnTo>
                  <a:lnTo>
                    <a:pt x="14" y="31"/>
                  </a:lnTo>
                  <a:lnTo>
                    <a:pt x="15" y="31"/>
                  </a:lnTo>
                  <a:lnTo>
                    <a:pt x="17" y="31"/>
                  </a:lnTo>
                  <a:lnTo>
                    <a:pt x="19" y="31"/>
                  </a:lnTo>
                  <a:lnTo>
                    <a:pt x="22" y="29"/>
                  </a:lnTo>
                  <a:lnTo>
                    <a:pt x="24" y="29"/>
                  </a:lnTo>
                  <a:lnTo>
                    <a:pt x="25" y="28"/>
                  </a:lnTo>
                  <a:lnTo>
                    <a:pt x="27" y="27"/>
                  </a:lnTo>
                  <a:lnTo>
                    <a:pt x="28" y="25"/>
                  </a:lnTo>
                  <a:lnTo>
                    <a:pt x="29" y="24"/>
                  </a:lnTo>
                  <a:lnTo>
                    <a:pt x="29" y="22"/>
                  </a:lnTo>
                  <a:lnTo>
                    <a:pt x="30" y="20"/>
                  </a:lnTo>
                  <a:lnTo>
                    <a:pt x="30" y="17"/>
                  </a:lnTo>
                  <a:lnTo>
                    <a:pt x="30" y="15"/>
                  </a:lnTo>
                  <a:lnTo>
                    <a:pt x="30" y="15"/>
                  </a:lnTo>
                </a:path>
              </a:pathLst>
            </a:custGeom>
            <a:noFill/>
            <a:ln w="127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2" name="Freeform 22"/>
            <p:cNvSpPr>
              <a:spLocks/>
            </p:cNvSpPr>
            <p:nvPr/>
          </p:nvSpPr>
          <p:spPr bwMode="auto">
            <a:xfrm>
              <a:off x="1157" y="3017"/>
              <a:ext cx="32" cy="32"/>
            </a:xfrm>
            <a:custGeom>
              <a:avLst/>
              <a:gdLst>
                <a:gd name="T0" fmla="*/ 31 w 32"/>
                <a:gd name="T1" fmla="*/ 15 h 32"/>
                <a:gd name="T2" fmla="*/ 31 w 32"/>
                <a:gd name="T3" fmla="*/ 14 h 32"/>
                <a:gd name="T4" fmla="*/ 31 w 32"/>
                <a:gd name="T5" fmla="*/ 12 h 32"/>
                <a:gd name="T6" fmla="*/ 30 w 32"/>
                <a:gd name="T7" fmla="*/ 10 h 32"/>
                <a:gd name="T8" fmla="*/ 30 w 32"/>
                <a:gd name="T9" fmla="*/ 9 h 32"/>
                <a:gd name="T10" fmla="*/ 29 w 32"/>
                <a:gd name="T11" fmla="*/ 6 h 32"/>
                <a:gd name="T12" fmla="*/ 28 w 32"/>
                <a:gd name="T13" fmla="*/ 5 h 32"/>
                <a:gd name="T14" fmla="*/ 26 w 32"/>
                <a:gd name="T15" fmla="*/ 4 h 32"/>
                <a:gd name="T16" fmla="*/ 25 w 32"/>
                <a:gd name="T17" fmla="*/ 3 h 32"/>
                <a:gd name="T18" fmla="*/ 22 w 32"/>
                <a:gd name="T19" fmla="*/ 2 h 32"/>
                <a:gd name="T20" fmla="*/ 20 w 32"/>
                <a:gd name="T21" fmla="*/ 1 h 32"/>
                <a:gd name="T22" fmla="*/ 18 w 32"/>
                <a:gd name="T23" fmla="*/ 1 h 32"/>
                <a:gd name="T24" fmla="*/ 16 w 32"/>
                <a:gd name="T25" fmla="*/ 0 h 32"/>
                <a:gd name="T26" fmla="*/ 15 w 32"/>
                <a:gd name="T27" fmla="*/ 1 h 32"/>
                <a:gd name="T28" fmla="*/ 13 w 32"/>
                <a:gd name="T29" fmla="*/ 1 h 32"/>
                <a:gd name="T30" fmla="*/ 10 w 32"/>
                <a:gd name="T31" fmla="*/ 2 h 32"/>
                <a:gd name="T32" fmla="*/ 9 w 32"/>
                <a:gd name="T33" fmla="*/ 3 h 32"/>
                <a:gd name="T34" fmla="*/ 7 w 32"/>
                <a:gd name="T35" fmla="*/ 4 h 32"/>
                <a:gd name="T36" fmla="*/ 6 w 32"/>
                <a:gd name="T37" fmla="*/ 5 h 32"/>
                <a:gd name="T38" fmla="*/ 5 w 32"/>
                <a:gd name="T39" fmla="*/ 6 h 32"/>
                <a:gd name="T40" fmla="*/ 4 w 32"/>
                <a:gd name="T41" fmla="*/ 9 h 32"/>
                <a:gd name="T42" fmla="*/ 3 w 32"/>
                <a:gd name="T43" fmla="*/ 10 h 32"/>
                <a:gd name="T44" fmla="*/ 1 w 32"/>
                <a:gd name="T45" fmla="*/ 12 h 32"/>
                <a:gd name="T46" fmla="*/ 1 w 32"/>
                <a:gd name="T47" fmla="*/ 14 h 32"/>
                <a:gd name="T48" fmla="*/ 0 w 32"/>
                <a:gd name="T49" fmla="*/ 15 h 32"/>
                <a:gd name="T50" fmla="*/ 1 w 32"/>
                <a:gd name="T51" fmla="*/ 17 h 32"/>
                <a:gd name="T52" fmla="*/ 1 w 32"/>
                <a:gd name="T53" fmla="*/ 20 h 32"/>
                <a:gd name="T54" fmla="*/ 3 w 32"/>
                <a:gd name="T55" fmla="*/ 22 h 32"/>
                <a:gd name="T56" fmla="*/ 4 w 32"/>
                <a:gd name="T57" fmla="*/ 24 h 32"/>
                <a:gd name="T58" fmla="*/ 5 w 32"/>
                <a:gd name="T59" fmla="*/ 25 h 32"/>
                <a:gd name="T60" fmla="*/ 6 w 32"/>
                <a:gd name="T61" fmla="*/ 27 h 32"/>
                <a:gd name="T62" fmla="*/ 7 w 32"/>
                <a:gd name="T63" fmla="*/ 28 h 32"/>
                <a:gd name="T64" fmla="*/ 9 w 32"/>
                <a:gd name="T65" fmla="*/ 30 h 32"/>
                <a:gd name="T66" fmla="*/ 10 w 32"/>
                <a:gd name="T67" fmla="*/ 30 h 32"/>
                <a:gd name="T68" fmla="*/ 13 w 32"/>
                <a:gd name="T69" fmla="*/ 31 h 32"/>
                <a:gd name="T70" fmla="*/ 15 w 32"/>
                <a:gd name="T71" fmla="*/ 31 h 32"/>
                <a:gd name="T72" fmla="*/ 16 w 32"/>
                <a:gd name="T73" fmla="*/ 31 h 32"/>
                <a:gd name="T74" fmla="*/ 18 w 32"/>
                <a:gd name="T75" fmla="*/ 31 h 32"/>
                <a:gd name="T76" fmla="*/ 20 w 32"/>
                <a:gd name="T77" fmla="*/ 31 h 32"/>
                <a:gd name="T78" fmla="*/ 22 w 32"/>
                <a:gd name="T79" fmla="*/ 30 h 32"/>
                <a:gd name="T80" fmla="*/ 25 w 32"/>
                <a:gd name="T81" fmla="*/ 30 h 32"/>
                <a:gd name="T82" fmla="*/ 26 w 32"/>
                <a:gd name="T83" fmla="*/ 28 h 32"/>
                <a:gd name="T84" fmla="*/ 28 w 32"/>
                <a:gd name="T85" fmla="*/ 27 h 32"/>
                <a:gd name="T86" fmla="*/ 29 w 32"/>
                <a:gd name="T87" fmla="*/ 25 h 32"/>
                <a:gd name="T88" fmla="*/ 30 w 32"/>
                <a:gd name="T89" fmla="*/ 24 h 32"/>
                <a:gd name="T90" fmla="*/ 30 w 32"/>
                <a:gd name="T91" fmla="*/ 22 h 32"/>
                <a:gd name="T92" fmla="*/ 31 w 32"/>
                <a:gd name="T93" fmla="*/ 20 h 32"/>
                <a:gd name="T94" fmla="*/ 31 w 32"/>
                <a:gd name="T95" fmla="*/ 17 h 32"/>
                <a:gd name="T96" fmla="*/ 31 w 32"/>
                <a:gd name="T97" fmla="*/ 15 h 32"/>
                <a:gd name="T98" fmla="*/ 31 w 32"/>
                <a:gd name="T99" fmla="*/ 15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2" h="32">
                  <a:moveTo>
                    <a:pt x="31" y="15"/>
                  </a:moveTo>
                  <a:lnTo>
                    <a:pt x="31" y="14"/>
                  </a:lnTo>
                  <a:lnTo>
                    <a:pt x="31" y="12"/>
                  </a:lnTo>
                  <a:lnTo>
                    <a:pt x="30" y="10"/>
                  </a:lnTo>
                  <a:lnTo>
                    <a:pt x="30" y="9"/>
                  </a:lnTo>
                  <a:lnTo>
                    <a:pt x="29" y="6"/>
                  </a:lnTo>
                  <a:lnTo>
                    <a:pt x="28" y="5"/>
                  </a:lnTo>
                  <a:lnTo>
                    <a:pt x="26" y="4"/>
                  </a:lnTo>
                  <a:lnTo>
                    <a:pt x="25" y="3"/>
                  </a:lnTo>
                  <a:lnTo>
                    <a:pt x="22" y="2"/>
                  </a:lnTo>
                  <a:lnTo>
                    <a:pt x="20" y="1"/>
                  </a:lnTo>
                  <a:lnTo>
                    <a:pt x="18" y="1"/>
                  </a:lnTo>
                  <a:lnTo>
                    <a:pt x="16" y="0"/>
                  </a:lnTo>
                  <a:lnTo>
                    <a:pt x="15" y="1"/>
                  </a:lnTo>
                  <a:lnTo>
                    <a:pt x="13" y="1"/>
                  </a:lnTo>
                  <a:lnTo>
                    <a:pt x="10" y="2"/>
                  </a:lnTo>
                  <a:lnTo>
                    <a:pt x="9" y="3"/>
                  </a:lnTo>
                  <a:lnTo>
                    <a:pt x="7" y="4"/>
                  </a:lnTo>
                  <a:lnTo>
                    <a:pt x="6" y="5"/>
                  </a:lnTo>
                  <a:lnTo>
                    <a:pt x="5" y="6"/>
                  </a:lnTo>
                  <a:lnTo>
                    <a:pt x="4" y="9"/>
                  </a:lnTo>
                  <a:lnTo>
                    <a:pt x="3" y="10"/>
                  </a:lnTo>
                  <a:lnTo>
                    <a:pt x="1" y="12"/>
                  </a:lnTo>
                  <a:lnTo>
                    <a:pt x="1" y="14"/>
                  </a:lnTo>
                  <a:lnTo>
                    <a:pt x="0" y="15"/>
                  </a:lnTo>
                  <a:lnTo>
                    <a:pt x="1" y="17"/>
                  </a:lnTo>
                  <a:lnTo>
                    <a:pt x="1" y="20"/>
                  </a:lnTo>
                  <a:lnTo>
                    <a:pt x="3" y="22"/>
                  </a:lnTo>
                  <a:lnTo>
                    <a:pt x="4" y="24"/>
                  </a:lnTo>
                  <a:lnTo>
                    <a:pt x="5" y="25"/>
                  </a:lnTo>
                  <a:lnTo>
                    <a:pt x="6" y="27"/>
                  </a:lnTo>
                  <a:lnTo>
                    <a:pt x="7" y="28"/>
                  </a:lnTo>
                  <a:lnTo>
                    <a:pt x="9" y="30"/>
                  </a:lnTo>
                  <a:lnTo>
                    <a:pt x="10" y="30"/>
                  </a:lnTo>
                  <a:lnTo>
                    <a:pt x="13" y="31"/>
                  </a:lnTo>
                  <a:lnTo>
                    <a:pt x="15" y="31"/>
                  </a:lnTo>
                  <a:lnTo>
                    <a:pt x="16" y="31"/>
                  </a:lnTo>
                  <a:lnTo>
                    <a:pt x="18" y="31"/>
                  </a:lnTo>
                  <a:lnTo>
                    <a:pt x="20" y="31"/>
                  </a:lnTo>
                  <a:lnTo>
                    <a:pt x="22" y="30"/>
                  </a:lnTo>
                  <a:lnTo>
                    <a:pt x="25" y="30"/>
                  </a:lnTo>
                  <a:lnTo>
                    <a:pt x="26" y="28"/>
                  </a:lnTo>
                  <a:lnTo>
                    <a:pt x="28" y="27"/>
                  </a:lnTo>
                  <a:lnTo>
                    <a:pt x="29" y="25"/>
                  </a:lnTo>
                  <a:lnTo>
                    <a:pt x="30" y="24"/>
                  </a:lnTo>
                  <a:lnTo>
                    <a:pt x="30" y="22"/>
                  </a:lnTo>
                  <a:lnTo>
                    <a:pt x="31" y="20"/>
                  </a:lnTo>
                  <a:lnTo>
                    <a:pt x="31" y="17"/>
                  </a:lnTo>
                  <a:lnTo>
                    <a:pt x="31" y="15"/>
                  </a:lnTo>
                  <a:lnTo>
                    <a:pt x="31" y="1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3" name="Freeform 23"/>
            <p:cNvSpPr>
              <a:spLocks/>
            </p:cNvSpPr>
            <p:nvPr/>
          </p:nvSpPr>
          <p:spPr bwMode="auto">
            <a:xfrm>
              <a:off x="1157" y="3017"/>
              <a:ext cx="32" cy="32"/>
            </a:xfrm>
            <a:custGeom>
              <a:avLst/>
              <a:gdLst>
                <a:gd name="T0" fmla="*/ 31 w 32"/>
                <a:gd name="T1" fmla="*/ 15 h 32"/>
                <a:gd name="T2" fmla="*/ 31 w 32"/>
                <a:gd name="T3" fmla="*/ 14 h 32"/>
                <a:gd name="T4" fmla="*/ 31 w 32"/>
                <a:gd name="T5" fmla="*/ 12 h 32"/>
                <a:gd name="T6" fmla="*/ 30 w 32"/>
                <a:gd name="T7" fmla="*/ 10 h 32"/>
                <a:gd name="T8" fmla="*/ 30 w 32"/>
                <a:gd name="T9" fmla="*/ 9 h 32"/>
                <a:gd name="T10" fmla="*/ 29 w 32"/>
                <a:gd name="T11" fmla="*/ 6 h 32"/>
                <a:gd name="T12" fmla="*/ 28 w 32"/>
                <a:gd name="T13" fmla="*/ 5 h 32"/>
                <a:gd name="T14" fmla="*/ 26 w 32"/>
                <a:gd name="T15" fmla="*/ 4 h 32"/>
                <a:gd name="T16" fmla="*/ 25 w 32"/>
                <a:gd name="T17" fmla="*/ 3 h 32"/>
                <a:gd name="T18" fmla="*/ 22 w 32"/>
                <a:gd name="T19" fmla="*/ 2 h 32"/>
                <a:gd name="T20" fmla="*/ 20 w 32"/>
                <a:gd name="T21" fmla="*/ 1 h 32"/>
                <a:gd name="T22" fmla="*/ 18 w 32"/>
                <a:gd name="T23" fmla="*/ 1 h 32"/>
                <a:gd name="T24" fmla="*/ 16 w 32"/>
                <a:gd name="T25" fmla="*/ 0 h 32"/>
                <a:gd name="T26" fmla="*/ 15 w 32"/>
                <a:gd name="T27" fmla="*/ 1 h 32"/>
                <a:gd name="T28" fmla="*/ 13 w 32"/>
                <a:gd name="T29" fmla="*/ 1 h 32"/>
                <a:gd name="T30" fmla="*/ 10 w 32"/>
                <a:gd name="T31" fmla="*/ 2 h 32"/>
                <a:gd name="T32" fmla="*/ 9 w 32"/>
                <a:gd name="T33" fmla="*/ 3 h 32"/>
                <a:gd name="T34" fmla="*/ 7 w 32"/>
                <a:gd name="T35" fmla="*/ 4 h 32"/>
                <a:gd name="T36" fmla="*/ 6 w 32"/>
                <a:gd name="T37" fmla="*/ 5 h 32"/>
                <a:gd name="T38" fmla="*/ 5 w 32"/>
                <a:gd name="T39" fmla="*/ 6 h 32"/>
                <a:gd name="T40" fmla="*/ 4 w 32"/>
                <a:gd name="T41" fmla="*/ 9 h 32"/>
                <a:gd name="T42" fmla="*/ 3 w 32"/>
                <a:gd name="T43" fmla="*/ 10 h 32"/>
                <a:gd name="T44" fmla="*/ 1 w 32"/>
                <a:gd name="T45" fmla="*/ 12 h 32"/>
                <a:gd name="T46" fmla="*/ 1 w 32"/>
                <a:gd name="T47" fmla="*/ 14 h 32"/>
                <a:gd name="T48" fmla="*/ 0 w 32"/>
                <a:gd name="T49" fmla="*/ 15 h 32"/>
                <a:gd name="T50" fmla="*/ 1 w 32"/>
                <a:gd name="T51" fmla="*/ 17 h 32"/>
                <a:gd name="T52" fmla="*/ 1 w 32"/>
                <a:gd name="T53" fmla="*/ 20 h 32"/>
                <a:gd name="T54" fmla="*/ 3 w 32"/>
                <a:gd name="T55" fmla="*/ 22 h 32"/>
                <a:gd name="T56" fmla="*/ 4 w 32"/>
                <a:gd name="T57" fmla="*/ 24 h 32"/>
                <a:gd name="T58" fmla="*/ 5 w 32"/>
                <a:gd name="T59" fmla="*/ 25 h 32"/>
                <a:gd name="T60" fmla="*/ 6 w 32"/>
                <a:gd name="T61" fmla="*/ 27 h 32"/>
                <a:gd name="T62" fmla="*/ 7 w 32"/>
                <a:gd name="T63" fmla="*/ 28 h 32"/>
                <a:gd name="T64" fmla="*/ 9 w 32"/>
                <a:gd name="T65" fmla="*/ 30 h 32"/>
                <a:gd name="T66" fmla="*/ 10 w 32"/>
                <a:gd name="T67" fmla="*/ 30 h 32"/>
                <a:gd name="T68" fmla="*/ 13 w 32"/>
                <a:gd name="T69" fmla="*/ 31 h 32"/>
                <a:gd name="T70" fmla="*/ 15 w 32"/>
                <a:gd name="T71" fmla="*/ 31 h 32"/>
                <a:gd name="T72" fmla="*/ 16 w 32"/>
                <a:gd name="T73" fmla="*/ 31 h 32"/>
                <a:gd name="T74" fmla="*/ 18 w 32"/>
                <a:gd name="T75" fmla="*/ 31 h 32"/>
                <a:gd name="T76" fmla="*/ 20 w 32"/>
                <a:gd name="T77" fmla="*/ 31 h 32"/>
                <a:gd name="T78" fmla="*/ 22 w 32"/>
                <a:gd name="T79" fmla="*/ 30 h 32"/>
                <a:gd name="T80" fmla="*/ 25 w 32"/>
                <a:gd name="T81" fmla="*/ 30 h 32"/>
                <a:gd name="T82" fmla="*/ 26 w 32"/>
                <a:gd name="T83" fmla="*/ 28 h 32"/>
                <a:gd name="T84" fmla="*/ 28 w 32"/>
                <a:gd name="T85" fmla="*/ 27 h 32"/>
                <a:gd name="T86" fmla="*/ 29 w 32"/>
                <a:gd name="T87" fmla="*/ 25 h 32"/>
                <a:gd name="T88" fmla="*/ 30 w 32"/>
                <a:gd name="T89" fmla="*/ 24 h 32"/>
                <a:gd name="T90" fmla="*/ 30 w 32"/>
                <a:gd name="T91" fmla="*/ 22 h 32"/>
                <a:gd name="T92" fmla="*/ 31 w 32"/>
                <a:gd name="T93" fmla="*/ 20 h 32"/>
                <a:gd name="T94" fmla="*/ 31 w 32"/>
                <a:gd name="T95" fmla="*/ 17 h 32"/>
                <a:gd name="T96" fmla="*/ 31 w 32"/>
                <a:gd name="T97" fmla="*/ 15 h 32"/>
                <a:gd name="T98" fmla="*/ 31 w 32"/>
                <a:gd name="T99" fmla="*/ 15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2" h="32">
                  <a:moveTo>
                    <a:pt x="31" y="15"/>
                  </a:moveTo>
                  <a:lnTo>
                    <a:pt x="31" y="14"/>
                  </a:lnTo>
                  <a:lnTo>
                    <a:pt x="31" y="12"/>
                  </a:lnTo>
                  <a:lnTo>
                    <a:pt x="30" y="10"/>
                  </a:lnTo>
                  <a:lnTo>
                    <a:pt x="30" y="9"/>
                  </a:lnTo>
                  <a:lnTo>
                    <a:pt x="29" y="6"/>
                  </a:lnTo>
                  <a:lnTo>
                    <a:pt x="28" y="5"/>
                  </a:lnTo>
                  <a:lnTo>
                    <a:pt x="26" y="4"/>
                  </a:lnTo>
                  <a:lnTo>
                    <a:pt x="25" y="3"/>
                  </a:lnTo>
                  <a:lnTo>
                    <a:pt x="22" y="2"/>
                  </a:lnTo>
                  <a:lnTo>
                    <a:pt x="20" y="1"/>
                  </a:lnTo>
                  <a:lnTo>
                    <a:pt x="18" y="1"/>
                  </a:lnTo>
                  <a:lnTo>
                    <a:pt x="16" y="0"/>
                  </a:lnTo>
                  <a:lnTo>
                    <a:pt x="15" y="1"/>
                  </a:lnTo>
                  <a:lnTo>
                    <a:pt x="13" y="1"/>
                  </a:lnTo>
                  <a:lnTo>
                    <a:pt x="10" y="2"/>
                  </a:lnTo>
                  <a:lnTo>
                    <a:pt x="9" y="3"/>
                  </a:lnTo>
                  <a:lnTo>
                    <a:pt x="7" y="4"/>
                  </a:lnTo>
                  <a:lnTo>
                    <a:pt x="6" y="5"/>
                  </a:lnTo>
                  <a:lnTo>
                    <a:pt x="5" y="6"/>
                  </a:lnTo>
                  <a:lnTo>
                    <a:pt x="4" y="9"/>
                  </a:lnTo>
                  <a:lnTo>
                    <a:pt x="3" y="10"/>
                  </a:lnTo>
                  <a:lnTo>
                    <a:pt x="1" y="12"/>
                  </a:lnTo>
                  <a:lnTo>
                    <a:pt x="1" y="14"/>
                  </a:lnTo>
                  <a:lnTo>
                    <a:pt x="0" y="15"/>
                  </a:lnTo>
                  <a:lnTo>
                    <a:pt x="1" y="17"/>
                  </a:lnTo>
                  <a:lnTo>
                    <a:pt x="1" y="20"/>
                  </a:lnTo>
                  <a:lnTo>
                    <a:pt x="3" y="22"/>
                  </a:lnTo>
                  <a:lnTo>
                    <a:pt x="4" y="24"/>
                  </a:lnTo>
                  <a:lnTo>
                    <a:pt x="5" y="25"/>
                  </a:lnTo>
                  <a:lnTo>
                    <a:pt x="6" y="27"/>
                  </a:lnTo>
                  <a:lnTo>
                    <a:pt x="7" y="28"/>
                  </a:lnTo>
                  <a:lnTo>
                    <a:pt x="9" y="30"/>
                  </a:lnTo>
                  <a:lnTo>
                    <a:pt x="10" y="30"/>
                  </a:lnTo>
                  <a:lnTo>
                    <a:pt x="13" y="31"/>
                  </a:lnTo>
                  <a:lnTo>
                    <a:pt x="15" y="31"/>
                  </a:lnTo>
                  <a:lnTo>
                    <a:pt x="16" y="31"/>
                  </a:lnTo>
                  <a:lnTo>
                    <a:pt x="18" y="31"/>
                  </a:lnTo>
                  <a:lnTo>
                    <a:pt x="20" y="31"/>
                  </a:lnTo>
                  <a:lnTo>
                    <a:pt x="22" y="30"/>
                  </a:lnTo>
                  <a:lnTo>
                    <a:pt x="25" y="30"/>
                  </a:lnTo>
                  <a:lnTo>
                    <a:pt x="26" y="28"/>
                  </a:lnTo>
                  <a:lnTo>
                    <a:pt x="28" y="27"/>
                  </a:lnTo>
                  <a:lnTo>
                    <a:pt x="29" y="25"/>
                  </a:lnTo>
                  <a:lnTo>
                    <a:pt x="30" y="24"/>
                  </a:lnTo>
                  <a:lnTo>
                    <a:pt x="30" y="22"/>
                  </a:lnTo>
                  <a:lnTo>
                    <a:pt x="31" y="20"/>
                  </a:lnTo>
                  <a:lnTo>
                    <a:pt x="31" y="17"/>
                  </a:lnTo>
                  <a:lnTo>
                    <a:pt x="31" y="15"/>
                  </a:lnTo>
                  <a:lnTo>
                    <a:pt x="31" y="15"/>
                  </a:lnTo>
                </a:path>
              </a:pathLst>
            </a:custGeom>
            <a:noFill/>
            <a:ln w="127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4" name="Freeform 24"/>
            <p:cNvSpPr>
              <a:spLocks/>
            </p:cNvSpPr>
            <p:nvPr/>
          </p:nvSpPr>
          <p:spPr bwMode="auto">
            <a:xfrm>
              <a:off x="2672" y="3019"/>
              <a:ext cx="32" cy="32"/>
            </a:xfrm>
            <a:custGeom>
              <a:avLst/>
              <a:gdLst>
                <a:gd name="T0" fmla="*/ 31 w 32"/>
                <a:gd name="T1" fmla="*/ 15 h 32"/>
                <a:gd name="T2" fmla="*/ 31 w 32"/>
                <a:gd name="T3" fmla="*/ 14 h 32"/>
                <a:gd name="T4" fmla="*/ 31 w 32"/>
                <a:gd name="T5" fmla="*/ 12 h 32"/>
                <a:gd name="T6" fmla="*/ 30 w 32"/>
                <a:gd name="T7" fmla="*/ 10 h 32"/>
                <a:gd name="T8" fmla="*/ 30 w 32"/>
                <a:gd name="T9" fmla="*/ 9 h 32"/>
                <a:gd name="T10" fmla="*/ 29 w 32"/>
                <a:gd name="T11" fmla="*/ 7 h 32"/>
                <a:gd name="T12" fmla="*/ 28 w 32"/>
                <a:gd name="T13" fmla="*/ 6 h 32"/>
                <a:gd name="T14" fmla="*/ 26 w 32"/>
                <a:gd name="T15" fmla="*/ 4 h 32"/>
                <a:gd name="T16" fmla="*/ 24 w 32"/>
                <a:gd name="T17" fmla="*/ 3 h 32"/>
                <a:gd name="T18" fmla="*/ 22 w 32"/>
                <a:gd name="T19" fmla="*/ 2 h 32"/>
                <a:gd name="T20" fmla="*/ 20 w 32"/>
                <a:gd name="T21" fmla="*/ 1 h 32"/>
                <a:gd name="T22" fmla="*/ 18 w 32"/>
                <a:gd name="T23" fmla="*/ 1 h 32"/>
                <a:gd name="T24" fmla="*/ 16 w 32"/>
                <a:gd name="T25" fmla="*/ 0 h 32"/>
                <a:gd name="T26" fmla="*/ 15 w 32"/>
                <a:gd name="T27" fmla="*/ 1 h 32"/>
                <a:gd name="T28" fmla="*/ 12 w 32"/>
                <a:gd name="T29" fmla="*/ 1 h 32"/>
                <a:gd name="T30" fmla="*/ 10 w 32"/>
                <a:gd name="T31" fmla="*/ 2 h 32"/>
                <a:gd name="T32" fmla="*/ 9 w 32"/>
                <a:gd name="T33" fmla="*/ 3 h 32"/>
                <a:gd name="T34" fmla="*/ 7 w 32"/>
                <a:gd name="T35" fmla="*/ 4 h 32"/>
                <a:gd name="T36" fmla="*/ 6 w 32"/>
                <a:gd name="T37" fmla="*/ 6 h 32"/>
                <a:gd name="T38" fmla="*/ 5 w 32"/>
                <a:gd name="T39" fmla="*/ 7 h 32"/>
                <a:gd name="T40" fmla="*/ 3 w 32"/>
                <a:gd name="T41" fmla="*/ 9 h 32"/>
                <a:gd name="T42" fmla="*/ 2 w 32"/>
                <a:gd name="T43" fmla="*/ 10 h 32"/>
                <a:gd name="T44" fmla="*/ 1 w 32"/>
                <a:gd name="T45" fmla="*/ 12 h 32"/>
                <a:gd name="T46" fmla="*/ 1 w 32"/>
                <a:gd name="T47" fmla="*/ 14 h 32"/>
                <a:gd name="T48" fmla="*/ 0 w 32"/>
                <a:gd name="T49" fmla="*/ 15 h 32"/>
                <a:gd name="T50" fmla="*/ 1 w 32"/>
                <a:gd name="T51" fmla="*/ 18 h 32"/>
                <a:gd name="T52" fmla="*/ 1 w 32"/>
                <a:gd name="T53" fmla="*/ 20 h 32"/>
                <a:gd name="T54" fmla="*/ 2 w 32"/>
                <a:gd name="T55" fmla="*/ 22 h 32"/>
                <a:gd name="T56" fmla="*/ 3 w 32"/>
                <a:gd name="T57" fmla="*/ 24 h 32"/>
                <a:gd name="T58" fmla="*/ 5 w 32"/>
                <a:gd name="T59" fmla="*/ 25 h 32"/>
                <a:gd name="T60" fmla="*/ 6 w 32"/>
                <a:gd name="T61" fmla="*/ 28 h 32"/>
                <a:gd name="T62" fmla="*/ 7 w 32"/>
                <a:gd name="T63" fmla="*/ 29 h 32"/>
                <a:gd name="T64" fmla="*/ 9 w 32"/>
                <a:gd name="T65" fmla="*/ 30 h 32"/>
                <a:gd name="T66" fmla="*/ 10 w 32"/>
                <a:gd name="T67" fmla="*/ 30 h 32"/>
                <a:gd name="T68" fmla="*/ 12 w 32"/>
                <a:gd name="T69" fmla="*/ 31 h 32"/>
                <a:gd name="T70" fmla="*/ 15 w 32"/>
                <a:gd name="T71" fmla="*/ 31 h 32"/>
                <a:gd name="T72" fmla="*/ 16 w 32"/>
                <a:gd name="T73" fmla="*/ 31 h 32"/>
                <a:gd name="T74" fmla="*/ 18 w 32"/>
                <a:gd name="T75" fmla="*/ 31 h 32"/>
                <a:gd name="T76" fmla="*/ 20 w 32"/>
                <a:gd name="T77" fmla="*/ 31 h 32"/>
                <a:gd name="T78" fmla="*/ 22 w 32"/>
                <a:gd name="T79" fmla="*/ 30 h 32"/>
                <a:gd name="T80" fmla="*/ 24 w 32"/>
                <a:gd name="T81" fmla="*/ 30 h 32"/>
                <a:gd name="T82" fmla="*/ 26 w 32"/>
                <a:gd name="T83" fmla="*/ 29 h 32"/>
                <a:gd name="T84" fmla="*/ 28 w 32"/>
                <a:gd name="T85" fmla="*/ 28 h 32"/>
                <a:gd name="T86" fmla="*/ 29 w 32"/>
                <a:gd name="T87" fmla="*/ 25 h 32"/>
                <a:gd name="T88" fmla="*/ 30 w 32"/>
                <a:gd name="T89" fmla="*/ 24 h 32"/>
                <a:gd name="T90" fmla="*/ 30 w 32"/>
                <a:gd name="T91" fmla="*/ 22 h 32"/>
                <a:gd name="T92" fmla="*/ 31 w 32"/>
                <a:gd name="T93" fmla="*/ 20 h 32"/>
                <a:gd name="T94" fmla="*/ 31 w 32"/>
                <a:gd name="T95" fmla="*/ 18 h 32"/>
                <a:gd name="T96" fmla="*/ 31 w 32"/>
                <a:gd name="T97" fmla="*/ 15 h 32"/>
                <a:gd name="T98" fmla="*/ 31 w 32"/>
                <a:gd name="T99" fmla="*/ 15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2" h="32">
                  <a:moveTo>
                    <a:pt x="31" y="15"/>
                  </a:moveTo>
                  <a:lnTo>
                    <a:pt x="31" y="14"/>
                  </a:lnTo>
                  <a:lnTo>
                    <a:pt x="31" y="12"/>
                  </a:lnTo>
                  <a:lnTo>
                    <a:pt x="30" y="10"/>
                  </a:lnTo>
                  <a:lnTo>
                    <a:pt x="30" y="9"/>
                  </a:lnTo>
                  <a:lnTo>
                    <a:pt x="29" y="7"/>
                  </a:lnTo>
                  <a:lnTo>
                    <a:pt x="28" y="6"/>
                  </a:lnTo>
                  <a:lnTo>
                    <a:pt x="26" y="4"/>
                  </a:lnTo>
                  <a:lnTo>
                    <a:pt x="24" y="3"/>
                  </a:lnTo>
                  <a:lnTo>
                    <a:pt x="22" y="2"/>
                  </a:lnTo>
                  <a:lnTo>
                    <a:pt x="20" y="1"/>
                  </a:lnTo>
                  <a:lnTo>
                    <a:pt x="18" y="1"/>
                  </a:lnTo>
                  <a:lnTo>
                    <a:pt x="16" y="0"/>
                  </a:lnTo>
                  <a:lnTo>
                    <a:pt x="15" y="1"/>
                  </a:lnTo>
                  <a:lnTo>
                    <a:pt x="12" y="1"/>
                  </a:lnTo>
                  <a:lnTo>
                    <a:pt x="10" y="2"/>
                  </a:lnTo>
                  <a:lnTo>
                    <a:pt x="9" y="3"/>
                  </a:lnTo>
                  <a:lnTo>
                    <a:pt x="7" y="4"/>
                  </a:lnTo>
                  <a:lnTo>
                    <a:pt x="6" y="6"/>
                  </a:lnTo>
                  <a:lnTo>
                    <a:pt x="5" y="7"/>
                  </a:lnTo>
                  <a:lnTo>
                    <a:pt x="3" y="9"/>
                  </a:lnTo>
                  <a:lnTo>
                    <a:pt x="2" y="10"/>
                  </a:lnTo>
                  <a:lnTo>
                    <a:pt x="1" y="12"/>
                  </a:lnTo>
                  <a:lnTo>
                    <a:pt x="1" y="14"/>
                  </a:lnTo>
                  <a:lnTo>
                    <a:pt x="0" y="15"/>
                  </a:lnTo>
                  <a:lnTo>
                    <a:pt x="1" y="18"/>
                  </a:lnTo>
                  <a:lnTo>
                    <a:pt x="1" y="20"/>
                  </a:lnTo>
                  <a:lnTo>
                    <a:pt x="2" y="22"/>
                  </a:lnTo>
                  <a:lnTo>
                    <a:pt x="3" y="24"/>
                  </a:lnTo>
                  <a:lnTo>
                    <a:pt x="5" y="25"/>
                  </a:lnTo>
                  <a:lnTo>
                    <a:pt x="6" y="28"/>
                  </a:lnTo>
                  <a:lnTo>
                    <a:pt x="7" y="29"/>
                  </a:lnTo>
                  <a:lnTo>
                    <a:pt x="9" y="30"/>
                  </a:lnTo>
                  <a:lnTo>
                    <a:pt x="10" y="30"/>
                  </a:lnTo>
                  <a:lnTo>
                    <a:pt x="12" y="31"/>
                  </a:lnTo>
                  <a:lnTo>
                    <a:pt x="15" y="31"/>
                  </a:lnTo>
                  <a:lnTo>
                    <a:pt x="16" y="31"/>
                  </a:lnTo>
                  <a:lnTo>
                    <a:pt x="18" y="31"/>
                  </a:lnTo>
                  <a:lnTo>
                    <a:pt x="20" y="31"/>
                  </a:lnTo>
                  <a:lnTo>
                    <a:pt x="22" y="30"/>
                  </a:lnTo>
                  <a:lnTo>
                    <a:pt x="24" y="30"/>
                  </a:lnTo>
                  <a:lnTo>
                    <a:pt x="26" y="29"/>
                  </a:lnTo>
                  <a:lnTo>
                    <a:pt x="28" y="28"/>
                  </a:lnTo>
                  <a:lnTo>
                    <a:pt x="29" y="25"/>
                  </a:lnTo>
                  <a:lnTo>
                    <a:pt x="30" y="24"/>
                  </a:lnTo>
                  <a:lnTo>
                    <a:pt x="30" y="22"/>
                  </a:lnTo>
                  <a:lnTo>
                    <a:pt x="31" y="20"/>
                  </a:lnTo>
                  <a:lnTo>
                    <a:pt x="31" y="18"/>
                  </a:lnTo>
                  <a:lnTo>
                    <a:pt x="31" y="15"/>
                  </a:lnTo>
                  <a:lnTo>
                    <a:pt x="31" y="1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5" name="Freeform 25"/>
            <p:cNvSpPr>
              <a:spLocks/>
            </p:cNvSpPr>
            <p:nvPr/>
          </p:nvSpPr>
          <p:spPr bwMode="auto">
            <a:xfrm>
              <a:off x="2672" y="3019"/>
              <a:ext cx="32" cy="32"/>
            </a:xfrm>
            <a:custGeom>
              <a:avLst/>
              <a:gdLst>
                <a:gd name="T0" fmla="*/ 31 w 32"/>
                <a:gd name="T1" fmla="*/ 15 h 32"/>
                <a:gd name="T2" fmla="*/ 31 w 32"/>
                <a:gd name="T3" fmla="*/ 14 h 32"/>
                <a:gd name="T4" fmla="*/ 31 w 32"/>
                <a:gd name="T5" fmla="*/ 12 h 32"/>
                <a:gd name="T6" fmla="*/ 30 w 32"/>
                <a:gd name="T7" fmla="*/ 10 h 32"/>
                <a:gd name="T8" fmla="*/ 30 w 32"/>
                <a:gd name="T9" fmla="*/ 9 h 32"/>
                <a:gd name="T10" fmla="*/ 29 w 32"/>
                <a:gd name="T11" fmla="*/ 7 h 32"/>
                <a:gd name="T12" fmla="*/ 28 w 32"/>
                <a:gd name="T13" fmla="*/ 6 h 32"/>
                <a:gd name="T14" fmla="*/ 26 w 32"/>
                <a:gd name="T15" fmla="*/ 4 h 32"/>
                <a:gd name="T16" fmla="*/ 24 w 32"/>
                <a:gd name="T17" fmla="*/ 3 h 32"/>
                <a:gd name="T18" fmla="*/ 22 w 32"/>
                <a:gd name="T19" fmla="*/ 2 h 32"/>
                <a:gd name="T20" fmla="*/ 20 w 32"/>
                <a:gd name="T21" fmla="*/ 1 h 32"/>
                <a:gd name="T22" fmla="*/ 18 w 32"/>
                <a:gd name="T23" fmla="*/ 1 h 32"/>
                <a:gd name="T24" fmla="*/ 16 w 32"/>
                <a:gd name="T25" fmla="*/ 0 h 32"/>
                <a:gd name="T26" fmla="*/ 15 w 32"/>
                <a:gd name="T27" fmla="*/ 1 h 32"/>
                <a:gd name="T28" fmla="*/ 12 w 32"/>
                <a:gd name="T29" fmla="*/ 1 h 32"/>
                <a:gd name="T30" fmla="*/ 10 w 32"/>
                <a:gd name="T31" fmla="*/ 2 h 32"/>
                <a:gd name="T32" fmla="*/ 9 w 32"/>
                <a:gd name="T33" fmla="*/ 3 h 32"/>
                <a:gd name="T34" fmla="*/ 7 w 32"/>
                <a:gd name="T35" fmla="*/ 4 h 32"/>
                <a:gd name="T36" fmla="*/ 6 w 32"/>
                <a:gd name="T37" fmla="*/ 6 h 32"/>
                <a:gd name="T38" fmla="*/ 5 w 32"/>
                <a:gd name="T39" fmla="*/ 7 h 32"/>
                <a:gd name="T40" fmla="*/ 3 w 32"/>
                <a:gd name="T41" fmla="*/ 9 h 32"/>
                <a:gd name="T42" fmla="*/ 2 w 32"/>
                <a:gd name="T43" fmla="*/ 10 h 32"/>
                <a:gd name="T44" fmla="*/ 1 w 32"/>
                <a:gd name="T45" fmla="*/ 12 h 32"/>
                <a:gd name="T46" fmla="*/ 1 w 32"/>
                <a:gd name="T47" fmla="*/ 14 h 32"/>
                <a:gd name="T48" fmla="*/ 0 w 32"/>
                <a:gd name="T49" fmla="*/ 15 h 32"/>
                <a:gd name="T50" fmla="*/ 1 w 32"/>
                <a:gd name="T51" fmla="*/ 18 h 32"/>
                <a:gd name="T52" fmla="*/ 1 w 32"/>
                <a:gd name="T53" fmla="*/ 20 h 32"/>
                <a:gd name="T54" fmla="*/ 2 w 32"/>
                <a:gd name="T55" fmla="*/ 22 h 32"/>
                <a:gd name="T56" fmla="*/ 3 w 32"/>
                <a:gd name="T57" fmla="*/ 24 h 32"/>
                <a:gd name="T58" fmla="*/ 5 w 32"/>
                <a:gd name="T59" fmla="*/ 25 h 32"/>
                <a:gd name="T60" fmla="*/ 6 w 32"/>
                <a:gd name="T61" fmla="*/ 28 h 32"/>
                <a:gd name="T62" fmla="*/ 7 w 32"/>
                <a:gd name="T63" fmla="*/ 29 h 32"/>
                <a:gd name="T64" fmla="*/ 9 w 32"/>
                <a:gd name="T65" fmla="*/ 30 h 32"/>
                <a:gd name="T66" fmla="*/ 10 w 32"/>
                <a:gd name="T67" fmla="*/ 30 h 32"/>
                <a:gd name="T68" fmla="*/ 12 w 32"/>
                <a:gd name="T69" fmla="*/ 31 h 32"/>
                <a:gd name="T70" fmla="*/ 15 w 32"/>
                <a:gd name="T71" fmla="*/ 31 h 32"/>
                <a:gd name="T72" fmla="*/ 16 w 32"/>
                <a:gd name="T73" fmla="*/ 31 h 32"/>
                <a:gd name="T74" fmla="*/ 18 w 32"/>
                <a:gd name="T75" fmla="*/ 31 h 32"/>
                <a:gd name="T76" fmla="*/ 20 w 32"/>
                <a:gd name="T77" fmla="*/ 31 h 32"/>
                <a:gd name="T78" fmla="*/ 22 w 32"/>
                <a:gd name="T79" fmla="*/ 30 h 32"/>
                <a:gd name="T80" fmla="*/ 24 w 32"/>
                <a:gd name="T81" fmla="*/ 30 h 32"/>
                <a:gd name="T82" fmla="*/ 26 w 32"/>
                <a:gd name="T83" fmla="*/ 29 h 32"/>
                <a:gd name="T84" fmla="*/ 28 w 32"/>
                <a:gd name="T85" fmla="*/ 28 h 32"/>
                <a:gd name="T86" fmla="*/ 29 w 32"/>
                <a:gd name="T87" fmla="*/ 25 h 32"/>
                <a:gd name="T88" fmla="*/ 30 w 32"/>
                <a:gd name="T89" fmla="*/ 24 h 32"/>
                <a:gd name="T90" fmla="*/ 30 w 32"/>
                <a:gd name="T91" fmla="*/ 22 h 32"/>
                <a:gd name="T92" fmla="*/ 31 w 32"/>
                <a:gd name="T93" fmla="*/ 20 h 32"/>
                <a:gd name="T94" fmla="*/ 31 w 32"/>
                <a:gd name="T95" fmla="*/ 18 h 32"/>
                <a:gd name="T96" fmla="*/ 31 w 32"/>
                <a:gd name="T97" fmla="*/ 15 h 32"/>
                <a:gd name="T98" fmla="*/ 31 w 32"/>
                <a:gd name="T99" fmla="*/ 15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2" h="32">
                  <a:moveTo>
                    <a:pt x="31" y="15"/>
                  </a:moveTo>
                  <a:lnTo>
                    <a:pt x="31" y="14"/>
                  </a:lnTo>
                  <a:lnTo>
                    <a:pt x="31" y="12"/>
                  </a:lnTo>
                  <a:lnTo>
                    <a:pt x="30" y="10"/>
                  </a:lnTo>
                  <a:lnTo>
                    <a:pt x="30" y="9"/>
                  </a:lnTo>
                  <a:lnTo>
                    <a:pt x="29" y="7"/>
                  </a:lnTo>
                  <a:lnTo>
                    <a:pt x="28" y="6"/>
                  </a:lnTo>
                  <a:lnTo>
                    <a:pt x="26" y="4"/>
                  </a:lnTo>
                  <a:lnTo>
                    <a:pt x="24" y="3"/>
                  </a:lnTo>
                  <a:lnTo>
                    <a:pt x="22" y="2"/>
                  </a:lnTo>
                  <a:lnTo>
                    <a:pt x="20" y="1"/>
                  </a:lnTo>
                  <a:lnTo>
                    <a:pt x="18" y="1"/>
                  </a:lnTo>
                  <a:lnTo>
                    <a:pt x="16" y="0"/>
                  </a:lnTo>
                  <a:lnTo>
                    <a:pt x="15" y="1"/>
                  </a:lnTo>
                  <a:lnTo>
                    <a:pt x="12" y="1"/>
                  </a:lnTo>
                  <a:lnTo>
                    <a:pt x="10" y="2"/>
                  </a:lnTo>
                  <a:lnTo>
                    <a:pt x="9" y="3"/>
                  </a:lnTo>
                  <a:lnTo>
                    <a:pt x="7" y="4"/>
                  </a:lnTo>
                  <a:lnTo>
                    <a:pt x="6" y="6"/>
                  </a:lnTo>
                  <a:lnTo>
                    <a:pt x="5" y="7"/>
                  </a:lnTo>
                  <a:lnTo>
                    <a:pt x="3" y="9"/>
                  </a:lnTo>
                  <a:lnTo>
                    <a:pt x="2" y="10"/>
                  </a:lnTo>
                  <a:lnTo>
                    <a:pt x="1" y="12"/>
                  </a:lnTo>
                  <a:lnTo>
                    <a:pt x="1" y="14"/>
                  </a:lnTo>
                  <a:lnTo>
                    <a:pt x="0" y="15"/>
                  </a:lnTo>
                  <a:lnTo>
                    <a:pt x="1" y="18"/>
                  </a:lnTo>
                  <a:lnTo>
                    <a:pt x="1" y="20"/>
                  </a:lnTo>
                  <a:lnTo>
                    <a:pt x="2" y="22"/>
                  </a:lnTo>
                  <a:lnTo>
                    <a:pt x="3" y="24"/>
                  </a:lnTo>
                  <a:lnTo>
                    <a:pt x="5" y="25"/>
                  </a:lnTo>
                  <a:lnTo>
                    <a:pt x="6" y="28"/>
                  </a:lnTo>
                  <a:lnTo>
                    <a:pt x="7" y="29"/>
                  </a:lnTo>
                  <a:lnTo>
                    <a:pt x="9" y="30"/>
                  </a:lnTo>
                  <a:lnTo>
                    <a:pt x="10" y="30"/>
                  </a:lnTo>
                  <a:lnTo>
                    <a:pt x="12" y="31"/>
                  </a:lnTo>
                  <a:lnTo>
                    <a:pt x="15" y="31"/>
                  </a:lnTo>
                  <a:lnTo>
                    <a:pt x="16" y="31"/>
                  </a:lnTo>
                  <a:lnTo>
                    <a:pt x="18" y="31"/>
                  </a:lnTo>
                  <a:lnTo>
                    <a:pt x="20" y="31"/>
                  </a:lnTo>
                  <a:lnTo>
                    <a:pt x="22" y="30"/>
                  </a:lnTo>
                  <a:lnTo>
                    <a:pt x="24" y="30"/>
                  </a:lnTo>
                  <a:lnTo>
                    <a:pt x="26" y="29"/>
                  </a:lnTo>
                  <a:lnTo>
                    <a:pt x="28" y="28"/>
                  </a:lnTo>
                  <a:lnTo>
                    <a:pt x="29" y="25"/>
                  </a:lnTo>
                  <a:lnTo>
                    <a:pt x="30" y="24"/>
                  </a:lnTo>
                  <a:lnTo>
                    <a:pt x="30" y="22"/>
                  </a:lnTo>
                  <a:lnTo>
                    <a:pt x="31" y="20"/>
                  </a:lnTo>
                  <a:lnTo>
                    <a:pt x="31" y="18"/>
                  </a:lnTo>
                  <a:lnTo>
                    <a:pt x="31" y="15"/>
                  </a:lnTo>
                  <a:lnTo>
                    <a:pt x="31" y="15"/>
                  </a:lnTo>
                </a:path>
              </a:pathLst>
            </a:custGeom>
            <a:noFill/>
            <a:ln w="127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6" name="Freeform 26"/>
            <p:cNvSpPr>
              <a:spLocks/>
            </p:cNvSpPr>
            <p:nvPr/>
          </p:nvSpPr>
          <p:spPr bwMode="auto">
            <a:xfrm>
              <a:off x="1918" y="2257"/>
              <a:ext cx="31" cy="32"/>
            </a:xfrm>
            <a:custGeom>
              <a:avLst/>
              <a:gdLst>
                <a:gd name="T0" fmla="*/ 30 w 31"/>
                <a:gd name="T1" fmla="*/ 15 h 32"/>
                <a:gd name="T2" fmla="*/ 30 w 31"/>
                <a:gd name="T3" fmla="*/ 14 h 32"/>
                <a:gd name="T4" fmla="*/ 30 w 31"/>
                <a:gd name="T5" fmla="*/ 12 h 32"/>
                <a:gd name="T6" fmla="*/ 29 w 31"/>
                <a:gd name="T7" fmla="*/ 10 h 32"/>
                <a:gd name="T8" fmla="*/ 29 w 31"/>
                <a:gd name="T9" fmla="*/ 9 h 32"/>
                <a:gd name="T10" fmla="*/ 28 w 31"/>
                <a:gd name="T11" fmla="*/ 7 h 32"/>
                <a:gd name="T12" fmla="*/ 27 w 31"/>
                <a:gd name="T13" fmla="*/ 5 h 32"/>
                <a:gd name="T14" fmla="*/ 25 w 31"/>
                <a:gd name="T15" fmla="*/ 4 h 32"/>
                <a:gd name="T16" fmla="*/ 24 w 31"/>
                <a:gd name="T17" fmla="*/ 3 h 32"/>
                <a:gd name="T18" fmla="*/ 22 w 31"/>
                <a:gd name="T19" fmla="*/ 2 h 32"/>
                <a:gd name="T20" fmla="*/ 19 w 31"/>
                <a:gd name="T21" fmla="*/ 1 h 32"/>
                <a:gd name="T22" fmla="*/ 17 w 31"/>
                <a:gd name="T23" fmla="*/ 1 h 32"/>
                <a:gd name="T24" fmla="*/ 15 w 31"/>
                <a:gd name="T25" fmla="*/ 0 h 32"/>
                <a:gd name="T26" fmla="*/ 14 w 31"/>
                <a:gd name="T27" fmla="*/ 1 h 32"/>
                <a:gd name="T28" fmla="*/ 12 w 31"/>
                <a:gd name="T29" fmla="*/ 1 h 32"/>
                <a:gd name="T30" fmla="*/ 9 w 31"/>
                <a:gd name="T31" fmla="*/ 2 h 32"/>
                <a:gd name="T32" fmla="*/ 8 w 31"/>
                <a:gd name="T33" fmla="*/ 3 h 32"/>
                <a:gd name="T34" fmla="*/ 6 w 31"/>
                <a:gd name="T35" fmla="*/ 4 h 32"/>
                <a:gd name="T36" fmla="*/ 5 w 31"/>
                <a:gd name="T37" fmla="*/ 5 h 32"/>
                <a:gd name="T38" fmla="*/ 4 w 31"/>
                <a:gd name="T39" fmla="*/ 7 h 32"/>
                <a:gd name="T40" fmla="*/ 3 w 31"/>
                <a:gd name="T41" fmla="*/ 9 h 32"/>
                <a:gd name="T42" fmla="*/ 2 w 31"/>
                <a:gd name="T43" fmla="*/ 10 h 32"/>
                <a:gd name="T44" fmla="*/ 1 w 31"/>
                <a:gd name="T45" fmla="*/ 12 h 32"/>
                <a:gd name="T46" fmla="*/ 1 w 31"/>
                <a:gd name="T47" fmla="*/ 14 h 32"/>
                <a:gd name="T48" fmla="*/ 0 w 31"/>
                <a:gd name="T49" fmla="*/ 15 h 32"/>
                <a:gd name="T50" fmla="*/ 1 w 31"/>
                <a:gd name="T51" fmla="*/ 18 h 32"/>
                <a:gd name="T52" fmla="*/ 1 w 31"/>
                <a:gd name="T53" fmla="*/ 20 h 32"/>
                <a:gd name="T54" fmla="*/ 2 w 31"/>
                <a:gd name="T55" fmla="*/ 22 h 32"/>
                <a:gd name="T56" fmla="*/ 3 w 31"/>
                <a:gd name="T57" fmla="*/ 24 h 32"/>
                <a:gd name="T58" fmla="*/ 4 w 31"/>
                <a:gd name="T59" fmla="*/ 25 h 32"/>
                <a:gd name="T60" fmla="*/ 5 w 31"/>
                <a:gd name="T61" fmla="*/ 27 h 32"/>
                <a:gd name="T62" fmla="*/ 6 w 31"/>
                <a:gd name="T63" fmla="*/ 29 h 32"/>
                <a:gd name="T64" fmla="*/ 8 w 31"/>
                <a:gd name="T65" fmla="*/ 30 h 32"/>
                <a:gd name="T66" fmla="*/ 9 w 31"/>
                <a:gd name="T67" fmla="*/ 30 h 32"/>
                <a:gd name="T68" fmla="*/ 12 w 31"/>
                <a:gd name="T69" fmla="*/ 31 h 32"/>
                <a:gd name="T70" fmla="*/ 14 w 31"/>
                <a:gd name="T71" fmla="*/ 31 h 32"/>
                <a:gd name="T72" fmla="*/ 15 w 31"/>
                <a:gd name="T73" fmla="*/ 31 h 32"/>
                <a:gd name="T74" fmla="*/ 17 w 31"/>
                <a:gd name="T75" fmla="*/ 31 h 32"/>
                <a:gd name="T76" fmla="*/ 19 w 31"/>
                <a:gd name="T77" fmla="*/ 31 h 32"/>
                <a:gd name="T78" fmla="*/ 22 w 31"/>
                <a:gd name="T79" fmla="*/ 30 h 32"/>
                <a:gd name="T80" fmla="*/ 24 w 31"/>
                <a:gd name="T81" fmla="*/ 30 h 32"/>
                <a:gd name="T82" fmla="*/ 25 w 31"/>
                <a:gd name="T83" fmla="*/ 29 h 32"/>
                <a:gd name="T84" fmla="*/ 27 w 31"/>
                <a:gd name="T85" fmla="*/ 27 h 32"/>
                <a:gd name="T86" fmla="*/ 28 w 31"/>
                <a:gd name="T87" fmla="*/ 25 h 32"/>
                <a:gd name="T88" fmla="*/ 29 w 31"/>
                <a:gd name="T89" fmla="*/ 24 h 32"/>
                <a:gd name="T90" fmla="*/ 29 w 31"/>
                <a:gd name="T91" fmla="*/ 22 h 32"/>
                <a:gd name="T92" fmla="*/ 30 w 31"/>
                <a:gd name="T93" fmla="*/ 20 h 32"/>
                <a:gd name="T94" fmla="*/ 30 w 31"/>
                <a:gd name="T95" fmla="*/ 18 h 32"/>
                <a:gd name="T96" fmla="*/ 30 w 31"/>
                <a:gd name="T97" fmla="*/ 15 h 32"/>
                <a:gd name="T98" fmla="*/ 30 w 31"/>
                <a:gd name="T99" fmla="*/ 15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2">
                  <a:moveTo>
                    <a:pt x="30" y="15"/>
                  </a:moveTo>
                  <a:lnTo>
                    <a:pt x="30" y="14"/>
                  </a:lnTo>
                  <a:lnTo>
                    <a:pt x="30" y="12"/>
                  </a:lnTo>
                  <a:lnTo>
                    <a:pt x="29" y="10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7" y="5"/>
                  </a:lnTo>
                  <a:lnTo>
                    <a:pt x="25" y="4"/>
                  </a:lnTo>
                  <a:lnTo>
                    <a:pt x="24" y="3"/>
                  </a:lnTo>
                  <a:lnTo>
                    <a:pt x="22" y="2"/>
                  </a:lnTo>
                  <a:lnTo>
                    <a:pt x="19" y="1"/>
                  </a:lnTo>
                  <a:lnTo>
                    <a:pt x="17" y="1"/>
                  </a:lnTo>
                  <a:lnTo>
                    <a:pt x="15" y="0"/>
                  </a:lnTo>
                  <a:lnTo>
                    <a:pt x="14" y="1"/>
                  </a:lnTo>
                  <a:lnTo>
                    <a:pt x="12" y="1"/>
                  </a:lnTo>
                  <a:lnTo>
                    <a:pt x="9" y="2"/>
                  </a:lnTo>
                  <a:lnTo>
                    <a:pt x="8" y="3"/>
                  </a:lnTo>
                  <a:lnTo>
                    <a:pt x="6" y="4"/>
                  </a:lnTo>
                  <a:lnTo>
                    <a:pt x="5" y="5"/>
                  </a:lnTo>
                  <a:lnTo>
                    <a:pt x="4" y="7"/>
                  </a:lnTo>
                  <a:lnTo>
                    <a:pt x="3" y="9"/>
                  </a:lnTo>
                  <a:lnTo>
                    <a:pt x="2" y="10"/>
                  </a:lnTo>
                  <a:lnTo>
                    <a:pt x="1" y="12"/>
                  </a:lnTo>
                  <a:lnTo>
                    <a:pt x="1" y="14"/>
                  </a:lnTo>
                  <a:lnTo>
                    <a:pt x="0" y="15"/>
                  </a:lnTo>
                  <a:lnTo>
                    <a:pt x="1" y="18"/>
                  </a:lnTo>
                  <a:lnTo>
                    <a:pt x="1" y="20"/>
                  </a:lnTo>
                  <a:lnTo>
                    <a:pt x="2" y="22"/>
                  </a:lnTo>
                  <a:lnTo>
                    <a:pt x="3" y="24"/>
                  </a:lnTo>
                  <a:lnTo>
                    <a:pt x="4" y="25"/>
                  </a:lnTo>
                  <a:lnTo>
                    <a:pt x="5" y="27"/>
                  </a:lnTo>
                  <a:lnTo>
                    <a:pt x="6" y="29"/>
                  </a:lnTo>
                  <a:lnTo>
                    <a:pt x="8" y="30"/>
                  </a:lnTo>
                  <a:lnTo>
                    <a:pt x="9" y="30"/>
                  </a:lnTo>
                  <a:lnTo>
                    <a:pt x="12" y="31"/>
                  </a:lnTo>
                  <a:lnTo>
                    <a:pt x="14" y="31"/>
                  </a:lnTo>
                  <a:lnTo>
                    <a:pt x="15" y="31"/>
                  </a:lnTo>
                  <a:lnTo>
                    <a:pt x="17" y="31"/>
                  </a:lnTo>
                  <a:lnTo>
                    <a:pt x="19" y="31"/>
                  </a:lnTo>
                  <a:lnTo>
                    <a:pt x="22" y="30"/>
                  </a:lnTo>
                  <a:lnTo>
                    <a:pt x="24" y="30"/>
                  </a:lnTo>
                  <a:lnTo>
                    <a:pt x="25" y="29"/>
                  </a:lnTo>
                  <a:lnTo>
                    <a:pt x="27" y="27"/>
                  </a:lnTo>
                  <a:lnTo>
                    <a:pt x="28" y="25"/>
                  </a:lnTo>
                  <a:lnTo>
                    <a:pt x="29" y="24"/>
                  </a:lnTo>
                  <a:lnTo>
                    <a:pt x="29" y="22"/>
                  </a:lnTo>
                  <a:lnTo>
                    <a:pt x="30" y="20"/>
                  </a:lnTo>
                  <a:lnTo>
                    <a:pt x="30" y="18"/>
                  </a:lnTo>
                  <a:lnTo>
                    <a:pt x="30" y="15"/>
                  </a:lnTo>
                  <a:lnTo>
                    <a:pt x="30" y="1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7" name="Freeform 27"/>
            <p:cNvSpPr>
              <a:spLocks/>
            </p:cNvSpPr>
            <p:nvPr/>
          </p:nvSpPr>
          <p:spPr bwMode="auto">
            <a:xfrm>
              <a:off x="1918" y="2257"/>
              <a:ext cx="31" cy="32"/>
            </a:xfrm>
            <a:custGeom>
              <a:avLst/>
              <a:gdLst>
                <a:gd name="T0" fmla="*/ 30 w 31"/>
                <a:gd name="T1" fmla="*/ 15 h 32"/>
                <a:gd name="T2" fmla="*/ 30 w 31"/>
                <a:gd name="T3" fmla="*/ 14 h 32"/>
                <a:gd name="T4" fmla="*/ 30 w 31"/>
                <a:gd name="T5" fmla="*/ 12 h 32"/>
                <a:gd name="T6" fmla="*/ 29 w 31"/>
                <a:gd name="T7" fmla="*/ 10 h 32"/>
                <a:gd name="T8" fmla="*/ 29 w 31"/>
                <a:gd name="T9" fmla="*/ 9 h 32"/>
                <a:gd name="T10" fmla="*/ 28 w 31"/>
                <a:gd name="T11" fmla="*/ 7 h 32"/>
                <a:gd name="T12" fmla="*/ 27 w 31"/>
                <a:gd name="T13" fmla="*/ 5 h 32"/>
                <a:gd name="T14" fmla="*/ 25 w 31"/>
                <a:gd name="T15" fmla="*/ 4 h 32"/>
                <a:gd name="T16" fmla="*/ 24 w 31"/>
                <a:gd name="T17" fmla="*/ 3 h 32"/>
                <a:gd name="T18" fmla="*/ 22 w 31"/>
                <a:gd name="T19" fmla="*/ 2 h 32"/>
                <a:gd name="T20" fmla="*/ 19 w 31"/>
                <a:gd name="T21" fmla="*/ 1 h 32"/>
                <a:gd name="T22" fmla="*/ 17 w 31"/>
                <a:gd name="T23" fmla="*/ 1 h 32"/>
                <a:gd name="T24" fmla="*/ 15 w 31"/>
                <a:gd name="T25" fmla="*/ 0 h 32"/>
                <a:gd name="T26" fmla="*/ 14 w 31"/>
                <a:gd name="T27" fmla="*/ 1 h 32"/>
                <a:gd name="T28" fmla="*/ 12 w 31"/>
                <a:gd name="T29" fmla="*/ 1 h 32"/>
                <a:gd name="T30" fmla="*/ 9 w 31"/>
                <a:gd name="T31" fmla="*/ 2 h 32"/>
                <a:gd name="T32" fmla="*/ 8 w 31"/>
                <a:gd name="T33" fmla="*/ 3 h 32"/>
                <a:gd name="T34" fmla="*/ 6 w 31"/>
                <a:gd name="T35" fmla="*/ 4 h 32"/>
                <a:gd name="T36" fmla="*/ 5 w 31"/>
                <a:gd name="T37" fmla="*/ 5 h 32"/>
                <a:gd name="T38" fmla="*/ 4 w 31"/>
                <a:gd name="T39" fmla="*/ 7 h 32"/>
                <a:gd name="T40" fmla="*/ 3 w 31"/>
                <a:gd name="T41" fmla="*/ 9 h 32"/>
                <a:gd name="T42" fmla="*/ 2 w 31"/>
                <a:gd name="T43" fmla="*/ 10 h 32"/>
                <a:gd name="T44" fmla="*/ 1 w 31"/>
                <a:gd name="T45" fmla="*/ 12 h 32"/>
                <a:gd name="T46" fmla="*/ 1 w 31"/>
                <a:gd name="T47" fmla="*/ 14 h 32"/>
                <a:gd name="T48" fmla="*/ 0 w 31"/>
                <a:gd name="T49" fmla="*/ 15 h 32"/>
                <a:gd name="T50" fmla="*/ 1 w 31"/>
                <a:gd name="T51" fmla="*/ 18 h 32"/>
                <a:gd name="T52" fmla="*/ 1 w 31"/>
                <a:gd name="T53" fmla="*/ 20 h 32"/>
                <a:gd name="T54" fmla="*/ 2 w 31"/>
                <a:gd name="T55" fmla="*/ 22 h 32"/>
                <a:gd name="T56" fmla="*/ 3 w 31"/>
                <a:gd name="T57" fmla="*/ 24 h 32"/>
                <a:gd name="T58" fmla="*/ 4 w 31"/>
                <a:gd name="T59" fmla="*/ 25 h 32"/>
                <a:gd name="T60" fmla="*/ 5 w 31"/>
                <a:gd name="T61" fmla="*/ 27 h 32"/>
                <a:gd name="T62" fmla="*/ 6 w 31"/>
                <a:gd name="T63" fmla="*/ 29 h 32"/>
                <a:gd name="T64" fmla="*/ 8 w 31"/>
                <a:gd name="T65" fmla="*/ 30 h 32"/>
                <a:gd name="T66" fmla="*/ 9 w 31"/>
                <a:gd name="T67" fmla="*/ 30 h 32"/>
                <a:gd name="T68" fmla="*/ 12 w 31"/>
                <a:gd name="T69" fmla="*/ 31 h 32"/>
                <a:gd name="T70" fmla="*/ 14 w 31"/>
                <a:gd name="T71" fmla="*/ 31 h 32"/>
                <a:gd name="T72" fmla="*/ 15 w 31"/>
                <a:gd name="T73" fmla="*/ 31 h 32"/>
                <a:gd name="T74" fmla="*/ 17 w 31"/>
                <a:gd name="T75" fmla="*/ 31 h 32"/>
                <a:gd name="T76" fmla="*/ 19 w 31"/>
                <a:gd name="T77" fmla="*/ 31 h 32"/>
                <a:gd name="T78" fmla="*/ 22 w 31"/>
                <a:gd name="T79" fmla="*/ 30 h 32"/>
                <a:gd name="T80" fmla="*/ 24 w 31"/>
                <a:gd name="T81" fmla="*/ 30 h 32"/>
                <a:gd name="T82" fmla="*/ 25 w 31"/>
                <a:gd name="T83" fmla="*/ 29 h 32"/>
                <a:gd name="T84" fmla="*/ 27 w 31"/>
                <a:gd name="T85" fmla="*/ 27 h 32"/>
                <a:gd name="T86" fmla="*/ 28 w 31"/>
                <a:gd name="T87" fmla="*/ 25 h 32"/>
                <a:gd name="T88" fmla="*/ 29 w 31"/>
                <a:gd name="T89" fmla="*/ 24 h 32"/>
                <a:gd name="T90" fmla="*/ 29 w 31"/>
                <a:gd name="T91" fmla="*/ 22 h 32"/>
                <a:gd name="T92" fmla="*/ 30 w 31"/>
                <a:gd name="T93" fmla="*/ 20 h 32"/>
                <a:gd name="T94" fmla="*/ 30 w 31"/>
                <a:gd name="T95" fmla="*/ 18 h 32"/>
                <a:gd name="T96" fmla="*/ 30 w 31"/>
                <a:gd name="T97" fmla="*/ 15 h 32"/>
                <a:gd name="T98" fmla="*/ 30 w 31"/>
                <a:gd name="T99" fmla="*/ 15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2">
                  <a:moveTo>
                    <a:pt x="30" y="15"/>
                  </a:moveTo>
                  <a:lnTo>
                    <a:pt x="30" y="14"/>
                  </a:lnTo>
                  <a:lnTo>
                    <a:pt x="30" y="12"/>
                  </a:lnTo>
                  <a:lnTo>
                    <a:pt x="29" y="10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7" y="5"/>
                  </a:lnTo>
                  <a:lnTo>
                    <a:pt x="25" y="4"/>
                  </a:lnTo>
                  <a:lnTo>
                    <a:pt x="24" y="3"/>
                  </a:lnTo>
                  <a:lnTo>
                    <a:pt x="22" y="2"/>
                  </a:lnTo>
                  <a:lnTo>
                    <a:pt x="19" y="1"/>
                  </a:lnTo>
                  <a:lnTo>
                    <a:pt x="17" y="1"/>
                  </a:lnTo>
                  <a:lnTo>
                    <a:pt x="15" y="0"/>
                  </a:lnTo>
                  <a:lnTo>
                    <a:pt x="14" y="1"/>
                  </a:lnTo>
                  <a:lnTo>
                    <a:pt x="12" y="1"/>
                  </a:lnTo>
                  <a:lnTo>
                    <a:pt x="9" y="2"/>
                  </a:lnTo>
                  <a:lnTo>
                    <a:pt x="8" y="3"/>
                  </a:lnTo>
                  <a:lnTo>
                    <a:pt x="6" y="4"/>
                  </a:lnTo>
                  <a:lnTo>
                    <a:pt x="5" y="5"/>
                  </a:lnTo>
                  <a:lnTo>
                    <a:pt x="4" y="7"/>
                  </a:lnTo>
                  <a:lnTo>
                    <a:pt x="3" y="9"/>
                  </a:lnTo>
                  <a:lnTo>
                    <a:pt x="2" y="10"/>
                  </a:lnTo>
                  <a:lnTo>
                    <a:pt x="1" y="12"/>
                  </a:lnTo>
                  <a:lnTo>
                    <a:pt x="1" y="14"/>
                  </a:lnTo>
                  <a:lnTo>
                    <a:pt x="0" y="15"/>
                  </a:lnTo>
                  <a:lnTo>
                    <a:pt x="1" y="18"/>
                  </a:lnTo>
                  <a:lnTo>
                    <a:pt x="1" y="20"/>
                  </a:lnTo>
                  <a:lnTo>
                    <a:pt x="2" y="22"/>
                  </a:lnTo>
                  <a:lnTo>
                    <a:pt x="3" y="24"/>
                  </a:lnTo>
                  <a:lnTo>
                    <a:pt x="4" y="25"/>
                  </a:lnTo>
                  <a:lnTo>
                    <a:pt x="5" y="27"/>
                  </a:lnTo>
                  <a:lnTo>
                    <a:pt x="6" y="29"/>
                  </a:lnTo>
                  <a:lnTo>
                    <a:pt x="8" y="30"/>
                  </a:lnTo>
                  <a:lnTo>
                    <a:pt x="9" y="30"/>
                  </a:lnTo>
                  <a:lnTo>
                    <a:pt x="12" y="31"/>
                  </a:lnTo>
                  <a:lnTo>
                    <a:pt x="14" y="31"/>
                  </a:lnTo>
                  <a:lnTo>
                    <a:pt x="15" y="31"/>
                  </a:lnTo>
                  <a:lnTo>
                    <a:pt x="17" y="31"/>
                  </a:lnTo>
                  <a:lnTo>
                    <a:pt x="19" y="31"/>
                  </a:lnTo>
                  <a:lnTo>
                    <a:pt x="22" y="30"/>
                  </a:lnTo>
                  <a:lnTo>
                    <a:pt x="24" y="30"/>
                  </a:lnTo>
                  <a:lnTo>
                    <a:pt x="25" y="29"/>
                  </a:lnTo>
                  <a:lnTo>
                    <a:pt x="27" y="27"/>
                  </a:lnTo>
                  <a:lnTo>
                    <a:pt x="28" y="25"/>
                  </a:lnTo>
                  <a:lnTo>
                    <a:pt x="29" y="24"/>
                  </a:lnTo>
                  <a:lnTo>
                    <a:pt x="29" y="22"/>
                  </a:lnTo>
                  <a:lnTo>
                    <a:pt x="30" y="20"/>
                  </a:lnTo>
                  <a:lnTo>
                    <a:pt x="30" y="18"/>
                  </a:lnTo>
                  <a:lnTo>
                    <a:pt x="30" y="15"/>
                  </a:lnTo>
                  <a:lnTo>
                    <a:pt x="30" y="15"/>
                  </a:lnTo>
                </a:path>
              </a:pathLst>
            </a:custGeom>
            <a:noFill/>
            <a:ln w="127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8" name="Freeform 28"/>
            <p:cNvSpPr>
              <a:spLocks/>
            </p:cNvSpPr>
            <p:nvPr/>
          </p:nvSpPr>
          <p:spPr bwMode="auto">
            <a:xfrm>
              <a:off x="1914" y="3018"/>
              <a:ext cx="32" cy="32"/>
            </a:xfrm>
            <a:custGeom>
              <a:avLst/>
              <a:gdLst>
                <a:gd name="T0" fmla="*/ 31 w 32"/>
                <a:gd name="T1" fmla="*/ 15 h 32"/>
                <a:gd name="T2" fmla="*/ 31 w 32"/>
                <a:gd name="T3" fmla="*/ 14 h 32"/>
                <a:gd name="T4" fmla="*/ 31 w 32"/>
                <a:gd name="T5" fmla="*/ 12 h 32"/>
                <a:gd name="T6" fmla="*/ 30 w 32"/>
                <a:gd name="T7" fmla="*/ 10 h 32"/>
                <a:gd name="T8" fmla="*/ 30 w 32"/>
                <a:gd name="T9" fmla="*/ 9 h 32"/>
                <a:gd name="T10" fmla="*/ 29 w 32"/>
                <a:gd name="T11" fmla="*/ 7 h 32"/>
                <a:gd name="T12" fmla="*/ 28 w 32"/>
                <a:gd name="T13" fmla="*/ 5 h 32"/>
                <a:gd name="T14" fmla="*/ 26 w 32"/>
                <a:gd name="T15" fmla="*/ 4 h 32"/>
                <a:gd name="T16" fmla="*/ 24 w 32"/>
                <a:gd name="T17" fmla="*/ 3 h 32"/>
                <a:gd name="T18" fmla="*/ 22 w 32"/>
                <a:gd name="T19" fmla="*/ 2 h 32"/>
                <a:gd name="T20" fmla="*/ 20 w 32"/>
                <a:gd name="T21" fmla="*/ 1 h 32"/>
                <a:gd name="T22" fmla="*/ 18 w 32"/>
                <a:gd name="T23" fmla="*/ 1 h 32"/>
                <a:gd name="T24" fmla="*/ 16 w 32"/>
                <a:gd name="T25" fmla="*/ 0 h 32"/>
                <a:gd name="T26" fmla="*/ 15 w 32"/>
                <a:gd name="T27" fmla="*/ 1 h 32"/>
                <a:gd name="T28" fmla="*/ 12 w 32"/>
                <a:gd name="T29" fmla="*/ 1 h 32"/>
                <a:gd name="T30" fmla="*/ 10 w 32"/>
                <a:gd name="T31" fmla="*/ 2 h 32"/>
                <a:gd name="T32" fmla="*/ 9 w 32"/>
                <a:gd name="T33" fmla="*/ 3 h 32"/>
                <a:gd name="T34" fmla="*/ 7 w 32"/>
                <a:gd name="T35" fmla="*/ 4 h 32"/>
                <a:gd name="T36" fmla="*/ 6 w 32"/>
                <a:gd name="T37" fmla="*/ 5 h 32"/>
                <a:gd name="T38" fmla="*/ 5 w 32"/>
                <a:gd name="T39" fmla="*/ 7 h 32"/>
                <a:gd name="T40" fmla="*/ 4 w 32"/>
                <a:gd name="T41" fmla="*/ 9 h 32"/>
                <a:gd name="T42" fmla="*/ 2 w 32"/>
                <a:gd name="T43" fmla="*/ 10 h 32"/>
                <a:gd name="T44" fmla="*/ 1 w 32"/>
                <a:gd name="T45" fmla="*/ 12 h 32"/>
                <a:gd name="T46" fmla="*/ 1 w 32"/>
                <a:gd name="T47" fmla="*/ 14 h 32"/>
                <a:gd name="T48" fmla="*/ 0 w 32"/>
                <a:gd name="T49" fmla="*/ 15 h 32"/>
                <a:gd name="T50" fmla="*/ 1 w 32"/>
                <a:gd name="T51" fmla="*/ 18 h 32"/>
                <a:gd name="T52" fmla="*/ 1 w 32"/>
                <a:gd name="T53" fmla="*/ 20 h 32"/>
                <a:gd name="T54" fmla="*/ 2 w 32"/>
                <a:gd name="T55" fmla="*/ 22 h 32"/>
                <a:gd name="T56" fmla="*/ 4 w 32"/>
                <a:gd name="T57" fmla="*/ 24 h 32"/>
                <a:gd name="T58" fmla="*/ 5 w 32"/>
                <a:gd name="T59" fmla="*/ 25 h 32"/>
                <a:gd name="T60" fmla="*/ 6 w 32"/>
                <a:gd name="T61" fmla="*/ 27 h 32"/>
                <a:gd name="T62" fmla="*/ 7 w 32"/>
                <a:gd name="T63" fmla="*/ 29 h 32"/>
                <a:gd name="T64" fmla="*/ 9 w 32"/>
                <a:gd name="T65" fmla="*/ 30 h 32"/>
                <a:gd name="T66" fmla="*/ 10 w 32"/>
                <a:gd name="T67" fmla="*/ 30 h 32"/>
                <a:gd name="T68" fmla="*/ 12 w 32"/>
                <a:gd name="T69" fmla="*/ 31 h 32"/>
                <a:gd name="T70" fmla="*/ 15 w 32"/>
                <a:gd name="T71" fmla="*/ 31 h 32"/>
                <a:gd name="T72" fmla="*/ 16 w 32"/>
                <a:gd name="T73" fmla="*/ 31 h 32"/>
                <a:gd name="T74" fmla="*/ 18 w 32"/>
                <a:gd name="T75" fmla="*/ 31 h 32"/>
                <a:gd name="T76" fmla="*/ 20 w 32"/>
                <a:gd name="T77" fmla="*/ 31 h 32"/>
                <a:gd name="T78" fmla="*/ 22 w 32"/>
                <a:gd name="T79" fmla="*/ 30 h 32"/>
                <a:gd name="T80" fmla="*/ 24 w 32"/>
                <a:gd name="T81" fmla="*/ 30 h 32"/>
                <a:gd name="T82" fmla="*/ 26 w 32"/>
                <a:gd name="T83" fmla="*/ 29 h 32"/>
                <a:gd name="T84" fmla="*/ 28 w 32"/>
                <a:gd name="T85" fmla="*/ 27 h 32"/>
                <a:gd name="T86" fmla="*/ 29 w 32"/>
                <a:gd name="T87" fmla="*/ 25 h 32"/>
                <a:gd name="T88" fmla="*/ 30 w 32"/>
                <a:gd name="T89" fmla="*/ 24 h 32"/>
                <a:gd name="T90" fmla="*/ 30 w 32"/>
                <a:gd name="T91" fmla="*/ 22 h 32"/>
                <a:gd name="T92" fmla="*/ 31 w 32"/>
                <a:gd name="T93" fmla="*/ 20 h 32"/>
                <a:gd name="T94" fmla="*/ 31 w 32"/>
                <a:gd name="T95" fmla="*/ 18 h 32"/>
                <a:gd name="T96" fmla="*/ 31 w 32"/>
                <a:gd name="T97" fmla="*/ 15 h 32"/>
                <a:gd name="T98" fmla="*/ 31 w 32"/>
                <a:gd name="T99" fmla="*/ 15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2" h="32">
                  <a:moveTo>
                    <a:pt x="31" y="15"/>
                  </a:moveTo>
                  <a:lnTo>
                    <a:pt x="31" y="14"/>
                  </a:lnTo>
                  <a:lnTo>
                    <a:pt x="31" y="12"/>
                  </a:lnTo>
                  <a:lnTo>
                    <a:pt x="30" y="10"/>
                  </a:lnTo>
                  <a:lnTo>
                    <a:pt x="30" y="9"/>
                  </a:lnTo>
                  <a:lnTo>
                    <a:pt x="29" y="7"/>
                  </a:lnTo>
                  <a:lnTo>
                    <a:pt x="28" y="5"/>
                  </a:lnTo>
                  <a:lnTo>
                    <a:pt x="26" y="4"/>
                  </a:lnTo>
                  <a:lnTo>
                    <a:pt x="24" y="3"/>
                  </a:lnTo>
                  <a:lnTo>
                    <a:pt x="22" y="2"/>
                  </a:lnTo>
                  <a:lnTo>
                    <a:pt x="20" y="1"/>
                  </a:lnTo>
                  <a:lnTo>
                    <a:pt x="18" y="1"/>
                  </a:lnTo>
                  <a:lnTo>
                    <a:pt x="16" y="0"/>
                  </a:lnTo>
                  <a:lnTo>
                    <a:pt x="15" y="1"/>
                  </a:lnTo>
                  <a:lnTo>
                    <a:pt x="12" y="1"/>
                  </a:lnTo>
                  <a:lnTo>
                    <a:pt x="10" y="2"/>
                  </a:lnTo>
                  <a:lnTo>
                    <a:pt x="9" y="3"/>
                  </a:lnTo>
                  <a:lnTo>
                    <a:pt x="7" y="4"/>
                  </a:lnTo>
                  <a:lnTo>
                    <a:pt x="6" y="5"/>
                  </a:lnTo>
                  <a:lnTo>
                    <a:pt x="5" y="7"/>
                  </a:lnTo>
                  <a:lnTo>
                    <a:pt x="4" y="9"/>
                  </a:lnTo>
                  <a:lnTo>
                    <a:pt x="2" y="10"/>
                  </a:lnTo>
                  <a:lnTo>
                    <a:pt x="1" y="12"/>
                  </a:lnTo>
                  <a:lnTo>
                    <a:pt x="1" y="14"/>
                  </a:lnTo>
                  <a:lnTo>
                    <a:pt x="0" y="15"/>
                  </a:lnTo>
                  <a:lnTo>
                    <a:pt x="1" y="18"/>
                  </a:lnTo>
                  <a:lnTo>
                    <a:pt x="1" y="20"/>
                  </a:lnTo>
                  <a:lnTo>
                    <a:pt x="2" y="22"/>
                  </a:lnTo>
                  <a:lnTo>
                    <a:pt x="4" y="24"/>
                  </a:lnTo>
                  <a:lnTo>
                    <a:pt x="5" y="25"/>
                  </a:lnTo>
                  <a:lnTo>
                    <a:pt x="6" y="27"/>
                  </a:lnTo>
                  <a:lnTo>
                    <a:pt x="7" y="29"/>
                  </a:lnTo>
                  <a:lnTo>
                    <a:pt x="9" y="30"/>
                  </a:lnTo>
                  <a:lnTo>
                    <a:pt x="10" y="30"/>
                  </a:lnTo>
                  <a:lnTo>
                    <a:pt x="12" y="31"/>
                  </a:lnTo>
                  <a:lnTo>
                    <a:pt x="15" y="31"/>
                  </a:lnTo>
                  <a:lnTo>
                    <a:pt x="16" y="31"/>
                  </a:lnTo>
                  <a:lnTo>
                    <a:pt x="18" y="31"/>
                  </a:lnTo>
                  <a:lnTo>
                    <a:pt x="20" y="31"/>
                  </a:lnTo>
                  <a:lnTo>
                    <a:pt x="22" y="30"/>
                  </a:lnTo>
                  <a:lnTo>
                    <a:pt x="24" y="30"/>
                  </a:lnTo>
                  <a:lnTo>
                    <a:pt x="26" y="29"/>
                  </a:lnTo>
                  <a:lnTo>
                    <a:pt x="28" y="27"/>
                  </a:lnTo>
                  <a:lnTo>
                    <a:pt x="29" y="25"/>
                  </a:lnTo>
                  <a:lnTo>
                    <a:pt x="30" y="24"/>
                  </a:lnTo>
                  <a:lnTo>
                    <a:pt x="30" y="22"/>
                  </a:lnTo>
                  <a:lnTo>
                    <a:pt x="31" y="20"/>
                  </a:lnTo>
                  <a:lnTo>
                    <a:pt x="31" y="18"/>
                  </a:lnTo>
                  <a:lnTo>
                    <a:pt x="31" y="15"/>
                  </a:lnTo>
                  <a:lnTo>
                    <a:pt x="31" y="1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9" name="Freeform 29"/>
            <p:cNvSpPr>
              <a:spLocks/>
            </p:cNvSpPr>
            <p:nvPr/>
          </p:nvSpPr>
          <p:spPr bwMode="auto">
            <a:xfrm>
              <a:off x="1914" y="3018"/>
              <a:ext cx="32" cy="32"/>
            </a:xfrm>
            <a:custGeom>
              <a:avLst/>
              <a:gdLst>
                <a:gd name="T0" fmla="*/ 31 w 32"/>
                <a:gd name="T1" fmla="*/ 15 h 32"/>
                <a:gd name="T2" fmla="*/ 31 w 32"/>
                <a:gd name="T3" fmla="*/ 14 h 32"/>
                <a:gd name="T4" fmla="*/ 31 w 32"/>
                <a:gd name="T5" fmla="*/ 12 h 32"/>
                <a:gd name="T6" fmla="*/ 30 w 32"/>
                <a:gd name="T7" fmla="*/ 10 h 32"/>
                <a:gd name="T8" fmla="*/ 30 w 32"/>
                <a:gd name="T9" fmla="*/ 9 h 32"/>
                <a:gd name="T10" fmla="*/ 29 w 32"/>
                <a:gd name="T11" fmla="*/ 7 h 32"/>
                <a:gd name="T12" fmla="*/ 28 w 32"/>
                <a:gd name="T13" fmla="*/ 5 h 32"/>
                <a:gd name="T14" fmla="*/ 26 w 32"/>
                <a:gd name="T15" fmla="*/ 4 h 32"/>
                <a:gd name="T16" fmla="*/ 24 w 32"/>
                <a:gd name="T17" fmla="*/ 3 h 32"/>
                <a:gd name="T18" fmla="*/ 22 w 32"/>
                <a:gd name="T19" fmla="*/ 2 h 32"/>
                <a:gd name="T20" fmla="*/ 20 w 32"/>
                <a:gd name="T21" fmla="*/ 1 h 32"/>
                <a:gd name="T22" fmla="*/ 18 w 32"/>
                <a:gd name="T23" fmla="*/ 1 h 32"/>
                <a:gd name="T24" fmla="*/ 16 w 32"/>
                <a:gd name="T25" fmla="*/ 0 h 32"/>
                <a:gd name="T26" fmla="*/ 15 w 32"/>
                <a:gd name="T27" fmla="*/ 1 h 32"/>
                <a:gd name="T28" fmla="*/ 12 w 32"/>
                <a:gd name="T29" fmla="*/ 1 h 32"/>
                <a:gd name="T30" fmla="*/ 10 w 32"/>
                <a:gd name="T31" fmla="*/ 2 h 32"/>
                <a:gd name="T32" fmla="*/ 9 w 32"/>
                <a:gd name="T33" fmla="*/ 3 h 32"/>
                <a:gd name="T34" fmla="*/ 7 w 32"/>
                <a:gd name="T35" fmla="*/ 4 h 32"/>
                <a:gd name="T36" fmla="*/ 6 w 32"/>
                <a:gd name="T37" fmla="*/ 5 h 32"/>
                <a:gd name="T38" fmla="*/ 5 w 32"/>
                <a:gd name="T39" fmla="*/ 7 h 32"/>
                <a:gd name="T40" fmla="*/ 4 w 32"/>
                <a:gd name="T41" fmla="*/ 9 h 32"/>
                <a:gd name="T42" fmla="*/ 2 w 32"/>
                <a:gd name="T43" fmla="*/ 10 h 32"/>
                <a:gd name="T44" fmla="*/ 1 w 32"/>
                <a:gd name="T45" fmla="*/ 12 h 32"/>
                <a:gd name="T46" fmla="*/ 1 w 32"/>
                <a:gd name="T47" fmla="*/ 14 h 32"/>
                <a:gd name="T48" fmla="*/ 0 w 32"/>
                <a:gd name="T49" fmla="*/ 15 h 32"/>
                <a:gd name="T50" fmla="*/ 1 w 32"/>
                <a:gd name="T51" fmla="*/ 18 h 32"/>
                <a:gd name="T52" fmla="*/ 1 w 32"/>
                <a:gd name="T53" fmla="*/ 20 h 32"/>
                <a:gd name="T54" fmla="*/ 2 w 32"/>
                <a:gd name="T55" fmla="*/ 22 h 32"/>
                <a:gd name="T56" fmla="*/ 4 w 32"/>
                <a:gd name="T57" fmla="*/ 24 h 32"/>
                <a:gd name="T58" fmla="*/ 5 w 32"/>
                <a:gd name="T59" fmla="*/ 25 h 32"/>
                <a:gd name="T60" fmla="*/ 6 w 32"/>
                <a:gd name="T61" fmla="*/ 27 h 32"/>
                <a:gd name="T62" fmla="*/ 7 w 32"/>
                <a:gd name="T63" fmla="*/ 29 h 32"/>
                <a:gd name="T64" fmla="*/ 9 w 32"/>
                <a:gd name="T65" fmla="*/ 30 h 32"/>
                <a:gd name="T66" fmla="*/ 10 w 32"/>
                <a:gd name="T67" fmla="*/ 30 h 32"/>
                <a:gd name="T68" fmla="*/ 12 w 32"/>
                <a:gd name="T69" fmla="*/ 31 h 32"/>
                <a:gd name="T70" fmla="*/ 15 w 32"/>
                <a:gd name="T71" fmla="*/ 31 h 32"/>
                <a:gd name="T72" fmla="*/ 16 w 32"/>
                <a:gd name="T73" fmla="*/ 31 h 32"/>
                <a:gd name="T74" fmla="*/ 18 w 32"/>
                <a:gd name="T75" fmla="*/ 31 h 32"/>
                <a:gd name="T76" fmla="*/ 20 w 32"/>
                <a:gd name="T77" fmla="*/ 31 h 32"/>
                <a:gd name="T78" fmla="*/ 22 w 32"/>
                <a:gd name="T79" fmla="*/ 30 h 32"/>
                <a:gd name="T80" fmla="*/ 24 w 32"/>
                <a:gd name="T81" fmla="*/ 30 h 32"/>
                <a:gd name="T82" fmla="*/ 26 w 32"/>
                <a:gd name="T83" fmla="*/ 29 h 32"/>
                <a:gd name="T84" fmla="*/ 28 w 32"/>
                <a:gd name="T85" fmla="*/ 27 h 32"/>
                <a:gd name="T86" fmla="*/ 29 w 32"/>
                <a:gd name="T87" fmla="*/ 25 h 32"/>
                <a:gd name="T88" fmla="*/ 30 w 32"/>
                <a:gd name="T89" fmla="*/ 24 h 32"/>
                <a:gd name="T90" fmla="*/ 30 w 32"/>
                <a:gd name="T91" fmla="*/ 22 h 32"/>
                <a:gd name="T92" fmla="*/ 31 w 32"/>
                <a:gd name="T93" fmla="*/ 20 h 32"/>
                <a:gd name="T94" fmla="*/ 31 w 32"/>
                <a:gd name="T95" fmla="*/ 18 h 32"/>
                <a:gd name="T96" fmla="*/ 31 w 32"/>
                <a:gd name="T97" fmla="*/ 15 h 32"/>
                <a:gd name="T98" fmla="*/ 31 w 32"/>
                <a:gd name="T99" fmla="*/ 15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2" h="32">
                  <a:moveTo>
                    <a:pt x="31" y="15"/>
                  </a:moveTo>
                  <a:lnTo>
                    <a:pt x="31" y="14"/>
                  </a:lnTo>
                  <a:lnTo>
                    <a:pt x="31" y="12"/>
                  </a:lnTo>
                  <a:lnTo>
                    <a:pt x="30" y="10"/>
                  </a:lnTo>
                  <a:lnTo>
                    <a:pt x="30" y="9"/>
                  </a:lnTo>
                  <a:lnTo>
                    <a:pt x="29" y="7"/>
                  </a:lnTo>
                  <a:lnTo>
                    <a:pt x="28" y="5"/>
                  </a:lnTo>
                  <a:lnTo>
                    <a:pt x="26" y="4"/>
                  </a:lnTo>
                  <a:lnTo>
                    <a:pt x="24" y="3"/>
                  </a:lnTo>
                  <a:lnTo>
                    <a:pt x="22" y="2"/>
                  </a:lnTo>
                  <a:lnTo>
                    <a:pt x="20" y="1"/>
                  </a:lnTo>
                  <a:lnTo>
                    <a:pt x="18" y="1"/>
                  </a:lnTo>
                  <a:lnTo>
                    <a:pt x="16" y="0"/>
                  </a:lnTo>
                  <a:lnTo>
                    <a:pt x="15" y="1"/>
                  </a:lnTo>
                  <a:lnTo>
                    <a:pt x="12" y="1"/>
                  </a:lnTo>
                  <a:lnTo>
                    <a:pt x="10" y="2"/>
                  </a:lnTo>
                  <a:lnTo>
                    <a:pt x="9" y="3"/>
                  </a:lnTo>
                  <a:lnTo>
                    <a:pt x="7" y="4"/>
                  </a:lnTo>
                  <a:lnTo>
                    <a:pt x="6" y="5"/>
                  </a:lnTo>
                  <a:lnTo>
                    <a:pt x="5" y="7"/>
                  </a:lnTo>
                  <a:lnTo>
                    <a:pt x="4" y="9"/>
                  </a:lnTo>
                  <a:lnTo>
                    <a:pt x="2" y="10"/>
                  </a:lnTo>
                  <a:lnTo>
                    <a:pt x="1" y="12"/>
                  </a:lnTo>
                  <a:lnTo>
                    <a:pt x="1" y="14"/>
                  </a:lnTo>
                  <a:lnTo>
                    <a:pt x="0" y="15"/>
                  </a:lnTo>
                  <a:lnTo>
                    <a:pt x="1" y="18"/>
                  </a:lnTo>
                  <a:lnTo>
                    <a:pt x="1" y="20"/>
                  </a:lnTo>
                  <a:lnTo>
                    <a:pt x="2" y="22"/>
                  </a:lnTo>
                  <a:lnTo>
                    <a:pt x="4" y="24"/>
                  </a:lnTo>
                  <a:lnTo>
                    <a:pt x="5" y="25"/>
                  </a:lnTo>
                  <a:lnTo>
                    <a:pt x="6" y="27"/>
                  </a:lnTo>
                  <a:lnTo>
                    <a:pt x="7" y="29"/>
                  </a:lnTo>
                  <a:lnTo>
                    <a:pt x="9" y="30"/>
                  </a:lnTo>
                  <a:lnTo>
                    <a:pt x="10" y="30"/>
                  </a:lnTo>
                  <a:lnTo>
                    <a:pt x="12" y="31"/>
                  </a:lnTo>
                  <a:lnTo>
                    <a:pt x="15" y="31"/>
                  </a:lnTo>
                  <a:lnTo>
                    <a:pt x="16" y="31"/>
                  </a:lnTo>
                  <a:lnTo>
                    <a:pt x="18" y="31"/>
                  </a:lnTo>
                  <a:lnTo>
                    <a:pt x="20" y="31"/>
                  </a:lnTo>
                  <a:lnTo>
                    <a:pt x="22" y="30"/>
                  </a:lnTo>
                  <a:lnTo>
                    <a:pt x="24" y="30"/>
                  </a:lnTo>
                  <a:lnTo>
                    <a:pt x="26" y="29"/>
                  </a:lnTo>
                  <a:lnTo>
                    <a:pt x="28" y="27"/>
                  </a:lnTo>
                  <a:lnTo>
                    <a:pt x="29" y="25"/>
                  </a:lnTo>
                  <a:lnTo>
                    <a:pt x="30" y="24"/>
                  </a:lnTo>
                  <a:lnTo>
                    <a:pt x="30" y="22"/>
                  </a:lnTo>
                  <a:lnTo>
                    <a:pt x="31" y="20"/>
                  </a:lnTo>
                  <a:lnTo>
                    <a:pt x="31" y="18"/>
                  </a:lnTo>
                  <a:lnTo>
                    <a:pt x="31" y="15"/>
                  </a:lnTo>
                  <a:lnTo>
                    <a:pt x="31" y="15"/>
                  </a:lnTo>
                </a:path>
              </a:pathLst>
            </a:custGeom>
            <a:noFill/>
            <a:ln w="127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0" name="Line 30"/>
            <p:cNvSpPr>
              <a:spLocks noChangeShapeType="1"/>
            </p:cNvSpPr>
            <p:nvPr/>
          </p:nvSpPr>
          <p:spPr bwMode="auto">
            <a:xfrm flipH="1">
              <a:off x="1950" y="1517"/>
              <a:ext cx="258" cy="703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1" name="Line 31"/>
            <p:cNvSpPr>
              <a:spLocks noChangeShapeType="1"/>
            </p:cNvSpPr>
            <p:nvPr/>
          </p:nvSpPr>
          <p:spPr bwMode="auto">
            <a:xfrm>
              <a:off x="2208" y="1517"/>
              <a:ext cx="468" cy="1471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2" name="Line 32"/>
            <p:cNvSpPr>
              <a:spLocks noChangeShapeType="1"/>
            </p:cNvSpPr>
            <p:nvPr/>
          </p:nvSpPr>
          <p:spPr bwMode="auto">
            <a:xfrm>
              <a:off x="1104" y="3792"/>
              <a:ext cx="3749" cy="0"/>
            </a:xfrm>
            <a:prstGeom prst="line">
              <a:avLst/>
            </a:prstGeom>
            <a:noFill/>
            <a:ln w="25400">
              <a:solidFill>
                <a:srgbClr val="FFFFFF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3" name="Line 33"/>
            <p:cNvSpPr>
              <a:spLocks noChangeShapeType="1"/>
            </p:cNvSpPr>
            <p:nvPr/>
          </p:nvSpPr>
          <p:spPr bwMode="auto">
            <a:xfrm>
              <a:off x="1932" y="3792"/>
              <a:ext cx="0" cy="6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4" name="Line 34"/>
            <p:cNvSpPr>
              <a:spLocks noChangeShapeType="1"/>
            </p:cNvSpPr>
            <p:nvPr/>
          </p:nvSpPr>
          <p:spPr bwMode="auto">
            <a:xfrm>
              <a:off x="2690" y="3792"/>
              <a:ext cx="0" cy="6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5" name="Line 35"/>
            <p:cNvSpPr>
              <a:spLocks noChangeShapeType="1"/>
            </p:cNvSpPr>
            <p:nvPr/>
          </p:nvSpPr>
          <p:spPr bwMode="auto">
            <a:xfrm>
              <a:off x="3449" y="3792"/>
              <a:ext cx="0" cy="6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6" name="Line 36"/>
            <p:cNvSpPr>
              <a:spLocks noChangeShapeType="1"/>
            </p:cNvSpPr>
            <p:nvPr/>
          </p:nvSpPr>
          <p:spPr bwMode="auto">
            <a:xfrm>
              <a:off x="4207" y="3792"/>
              <a:ext cx="0" cy="6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7" name="Line 37"/>
            <p:cNvSpPr>
              <a:spLocks noChangeShapeType="1"/>
            </p:cNvSpPr>
            <p:nvPr/>
          </p:nvSpPr>
          <p:spPr bwMode="auto">
            <a:xfrm flipV="1">
              <a:off x="1173" y="807"/>
              <a:ext cx="0" cy="3053"/>
            </a:xfrm>
            <a:prstGeom prst="line">
              <a:avLst/>
            </a:prstGeom>
            <a:noFill/>
            <a:ln w="25400">
              <a:solidFill>
                <a:srgbClr val="FFFFFF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8" name="Line 38"/>
            <p:cNvSpPr>
              <a:spLocks noChangeShapeType="1"/>
            </p:cNvSpPr>
            <p:nvPr/>
          </p:nvSpPr>
          <p:spPr bwMode="auto">
            <a:xfrm flipH="1">
              <a:off x="1104" y="3033"/>
              <a:ext cx="69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9" name="Line 39"/>
            <p:cNvSpPr>
              <a:spLocks noChangeShapeType="1"/>
            </p:cNvSpPr>
            <p:nvPr/>
          </p:nvSpPr>
          <p:spPr bwMode="auto">
            <a:xfrm flipH="1">
              <a:off x="1104" y="2276"/>
              <a:ext cx="69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80" name="Line 40"/>
            <p:cNvSpPr>
              <a:spLocks noChangeShapeType="1"/>
            </p:cNvSpPr>
            <p:nvPr/>
          </p:nvSpPr>
          <p:spPr bwMode="auto">
            <a:xfrm flipH="1">
              <a:off x="1104" y="1517"/>
              <a:ext cx="69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81" name="Line 41"/>
            <p:cNvSpPr>
              <a:spLocks noChangeShapeType="1"/>
            </p:cNvSpPr>
            <p:nvPr/>
          </p:nvSpPr>
          <p:spPr bwMode="auto">
            <a:xfrm flipH="1">
              <a:off x="1206" y="1517"/>
              <a:ext cx="1002" cy="721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82" name="Freeform 42"/>
            <p:cNvSpPr>
              <a:spLocks/>
            </p:cNvSpPr>
            <p:nvPr/>
          </p:nvSpPr>
          <p:spPr bwMode="auto">
            <a:xfrm>
              <a:off x="1154" y="2261"/>
              <a:ext cx="34" cy="34"/>
            </a:xfrm>
            <a:custGeom>
              <a:avLst/>
              <a:gdLst>
                <a:gd name="T0" fmla="*/ 33 w 34"/>
                <a:gd name="T1" fmla="*/ 17 h 34"/>
                <a:gd name="T2" fmla="*/ 33 w 34"/>
                <a:gd name="T3" fmla="*/ 16 h 34"/>
                <a:gd name="T4" fmla="*/ 33 w 34"/>
                <a:gd name="T5" fmla="*/ 14 h 34"/>
                <a:gd name="T6" fmla="*/ 32 w 34"/>
                <a:gd name="T7" fmla="*/ 11 h 34"/>
                <a:gd name="T8" fmla="*/ 32 w 34"/>
                <a:gd name="T9" fmla="*/ 9 h 34"/>
                <a:gd name="T10" fmla="*/ 31 w 34"/>
                <a:gd name="T11" fmla="*/ 7 h 34"/>
                <a:gd name="T12" fmla="*/ 29 w 34"/>
                <a:gd name="T13" fmla="*/ 6 h 34"/>
                <a:gd name="T14" fmla="*/ 28 w 34"/>
                <a:gd name="T15" fmla="*/ 5 h 34"/>
                <a:gd name="T16" fmla="*/ 25 w 34"/>
                <a:gd name="T17" fmla="*/ 4 h 34"/>
                <a:gd name="T18" fmla="*/ 24 w 34"/>
                <a:gd name="T19" fmla="*/ 3 h 34"/>
                <a:gd name="T20" fmla="*/ 22 w 34"/>
                <a:gd name="T21" fmla="*/ 1 h 34"/>
                <a:gd name="T22" fmla="*/ 20 w 34"/>
                <a:gd name="T23" fmla="*/ 1 h 34"/>
                <a:gd name="T24" fmla="*/ 17 w 34"/>
                <a:gd name="T25" fmla="*/ 0 h 34"/>
                <a:gd name="T26" fmla="*/ 16 w 34"/>
                <a:gd name="T27" fmla="*/ 1 h 34"/>
                <a:gd name="T28" fmla="*/ 13 w 34"/>
                <a:gd name="T29" fmla="*/ 1 h 34"/>
                <a:gd name="T30" fmla="*/ 11 w 34"/>
                <a:gd name="T31" fmla="*/ 3 h 34"/>
                <a:gd name="T32" fmla="*/ 9 w 34"/>
                <a:gd name="T33" fmla="*/ 4 h 34"/>
                <a:gd name="T34" fmla="*/ 7 w 34"/>
                <a:gd name="T35" fmla="*/ 5 h 34"/>
                <a:gd name="T36" fmla="*/ 6 w 34"/>
                <a:gd name="T37" fmla="*/ 6 h 34"/>
                <a:gd name="T38" fmla="*/ 4 w 34"/>
                <a:gd name="T39" fmla="*/ 7 h 34"/>
                <a:gd name="T40" fmla="*/ 3 w 34"/>
                <a:gd name="T41" fmla="*/ 9 h 34"/>
                <a:gd name="T42" fmla="*/ 2 w 34"/>
                <a:gd name="T43" fmla="*/ 11 h 34"/>
                <a:gd name="T44" fmla="*/ 1 w 34"/>
                <a:gd name="T45" fmla="*/ 14 h 34"/>
                <a:gd name="T46" fmla="*/ 1 w 34"/>
                <a:gd name="T47" fmla="*/ 16 h 34"/>
                <a:gd name="T48" fmla="*/ 0 w 34"/>
                <a:gd name="T49" fmla="*/ 17 h 34"/>
                <a:gd name="T50" fmla="*/ 1 w 34"/>
                <a:gd name="T51" fmla="*/ 20 h 34"/>
                <a:gd name="T52" fmla="*/ 1 w 34"/>
                <a:gd name="T53" fmla="*/ 22 h 34"/>
                <a:gd name="T54" fmla="*/ 2 w 34"/>
                <a:gd name="T55" fmla="*/ 25 h 34"/>
                <a:gd name="T56" fmla="*/ 3 w 34"/>
                <a:gd name="T57" fmla="*/ 26 h 34"/>
                <a:gd name="T58" fmla="*/ 4 w 34"/>
                <a:gd name="T59" fmla="*/ 28 h 34"/>
                <a:gd name="T60" fmla="*/ 6 w 34"/>
                <a:gd name="T61" fmla="*/ 29 h 34"/>
                <a:gd name="T62" fmla="*/ 7 w 34"/>
                <a:gd name="T63" fmla="*/ 31 h 34"/>
                <a:gd name="T64" fmla="*/ 9 w 34"/>
                <a:gd name="T65" fmla="*/ 32 h 34"/>
                <a:gd name="T66" fmla="*/ 11 w 34"/>
                <a:gd name="T67" fmla="*/ 32 h 34"/>
                <a:gd name="T68" fmla="*/ 13 w 34"/>
                <a:gd name="T69" fmla="*/ 33 h 34"/>
                <a:gd name="T70" fmla="*/ 16 w 34"/>
                <a:gd name="T71" fmla="*/ 33 h 34"/>
                <a:gd name="T72" fmla="*/ 17 w 34"/>
                <a:gd name="T73" fmla="*/ 33 h 34"/>
                <a:gd name="T74" fmla="*/ 20 w 34"/>
                <a:gd name="T75" fmla="*/ 33 h 34"/>
                <a:gd name="T76" fmla="*/ 22 w 34"/>
                <a:gd name="T77" fmla="*/ 33 h 34"/>
                <a:gd name="T78" fmla="*/ 24 w 34"/>
                <a:gd name="T79" fmla="*/ 32 h 34"/>
                <a:gd name="T80" fmla="*/ 25 w 34"/>
                <a:gd name="T81" fmla="*/ 32 h 34"/>
                <a:gd name="T82" fmla="*/ 28 w 34"/>
                <a:gd name="T83" fmla="*/ 31 h 34"/>
                <a:gd name="T84" fmla="*/ 29 w 34"/>
                <a:gd name="T85" fmla="*/ 29 h 34"/>
                <a:gd name="T86" fmla="*/ 31 w 34"/>
                <a:gd name="T87" fmla="*/ 28 h 34"/>
                <a:gd name="T88" fmla="*/ 32 w 34"/>
                <a:gd name="T89" fmla="*/ 26 h 34"/>
                <a:gd name="T90" fmla="*/ 32 w 34"/>
                <a:gd name="T91" fmla="*/ 25 h 34"/>
                <a:gd name="T92" fmla="*/ 33 w 34"/>
                <a:gd name="T93" fmla="*/ 22 h 34"/>
                <a:gd name="T94" fmla="*/ 33 w 34"/>
                <a:gd name="T95" fmla="*/ 20 h 34"/>
                <a:gd name="T96" fmla="*/ 33 w 34"/>
                <a:gd name="T97" fmla="*/ 17 h 34"/>
                <a:gd name="T98" fmla="*/ 33 w 34"/>
                <a:gd name="T99" fmla="*/ 17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" h="34">
                  <a:moveTo>
                    <a:pt x="33" y="17"/>
                  </a:moveTo>
                  <a:lnTo>
                    <a:pt x="33" y="16"/>
                  </a:lnTo>
                  <a:lnTo>
                    <a:pt x="33" y="14"/>
                  </a:lnTo>
                  <a:lnTo>
                    <a:pt x="32" y="11"/>
                  </a:lnTo>
                  <a:lnTo>
                    <a:pt x="32" y="9"/>
                  </a:lnTo>
                  <a:lnTo>
                    <a:pt x="31" y="7"/>
                  </a:lnTo>
                  <a:lnTo>
                    <a:pt x="29" y="6"/>
                  </a:lnTo>
                  <a:lnTo>
                    <a:pt x="28" y="5"/>
                  </a:lnTo>
                  <a:lnTo>
                    <a:pt x="25" y="4"/>
                  </a:lnTo>
                  <a:lnTo>
                    <a:pt x="24" y="3"/>
                  </a:lnTo>
                  <a:lnTo>
                    <a:pt x="22" y="1"/>
                  </a:lnTo>
                  <a:lnTo>
                    <a:pt x="20" y="1"/>
                  </a:lnTo>
                  <a:lnTo>
                    <a:pt x="17" y="0"/>
                  </a:lnTo>
                  <a:lnTo>
                    <a:pt x="16" y="1"/>
                  </a:lnTo>
                  <a:lnTo>
                    <a:pt x="13" y="1"/>
                  </a:lnTo>
                  <a:lnTo>
                    <a:pt x="11" y="3"/>
                  </a:lnTo>
                  <a:lnTo>
                    <a:pt x="9" y="4"/>
                  </a:lnTo>
                  <a:lnTo>
                    <a:pt x="7" y="5"/>
                  </a:lnTo>
                  <a:lnTo>
                    <a:pt x="6" y="6"/>
                  </a:lnTo>
                  <a:lnTo>
                    <a:pt x="4" y="7"/>
                  </a:lnTo>
                  <a:lnTo>
                    <a:pt x="3" y="9"/>
                  </a:lnTo>
                  <a:lnTo>
                    <a:pt x="2" y="11"/>
                  </a:lnTo>
                  <a:lnTo>
                    <a:pt x="1" y="14"/>
                  </a:lnTo>
                  <a:lnTo>
                    <a:pt x="1" y="16"/>
                  </a:lnTo>
                  <a:lnTo>
                    <a:pt x="0" y="17"/>
                  </a:lnTo>
                  <a:lnTo>
                    <a:pt x="1" y="20"/>
                  </a:lnTo>
                  <a:lnTo>
                    <a:pt x="1" y="22"/>
                  </a:lnTo>
                  <a:lnTo>
                    <a:pt x="2" y="25"/>
                  </a:lnTo>
                  <a:lnTo>
                    <a:pt x="3" y="26"/>
                  </a:lnTo>
                  <a:lnTo>
                    <a:pt x="4" y="28"/>
                  </a:lnTo>
                  <a:lnTo>
                    <a:pt x="6" y="29"/>
                  </a:lnTo>
                  <a:lnTo>
                    <a:pt x="7" y="31"/>
                  </a:lnTo>
                  <a:lnTo>
                    <a:pt x="9" y="32"/>
                  </a:lnTo>
                  <a:lnTo>
                    <a:pt x="11" y="32"/>
                  </a:lnTo>
                  <a:lnTo>
                    <a:pt x="13" y="33"/>
                  </a:lnTo>
                  <a:lnTo>
                    <a:pt x="16" y="33"/>
                  </a:lnTo>
                  <a:lnTo>
                    <a:pt x="17" y="33"/>
                  </a:lnTo>
                  <a:lnTo>
                    <a:pt x="20" y="33"/>
                  </a:lnTo>
                  <a:lnTo>
                    <a:pt x="22" y="33"/>
                  </a:lnTo>
                  <a:lnTo>
                    <a:pt x="24" y="32"/>
                  </a:lnTo>
                  <a:lnTo>
                    <a:pt x="25" y="32"/>
                  </a:lnTo>
                  <a:lnTo>
                    <a:pt x="28" y="31"/>
                  </a:lnTo>
                  <a:lnTo>
                    <a:pt x="29" y="29"/>
                  </a:lnTo>
                  <a:lnTo>
                    <a:pt x="31" y="28"/>
                  </a:lnTo>
                  <a:lnTo>
                    <a:pt x="32" y="26"/>
                  </a:lnTo>
                  <a:lnTo>
                    <a:pt x="32" y="25"/>
                  </a:lnTo>
                  <a:lnTo>
                    <a:pt x="33" y="22"/>
                  </a:lnTo>
                  <a:lnTo>
                    <a:pt x="33" y="20"/>
                  </a:lnTo>
                  <a:lnTo>
                    <a:pt x="33" y="17"/>
                  </a:lnTo>
                  <a:lnTo>
                    <a:pt x="33" y="17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3" name="Freeform 43"/>
            <p:cNvSpPr>
              <a:spLocks/>
            </p:cNvSpPr>
            <p:nvPr/>
          </p:nvSpPr>
          <p:spPr bwMode="auto">
            <a:xfrm>
              <a:off x="1154" y="2261"/>
              <a:ext cx="34" cy="34"/>
            </a:xfrm>
            <a:custGeom>
              <a:avLst/>
              <a:gdLst>
                <a:gd name="T0" fmla="*/ 33 w 34"/>
                <a:gd name="T1" fmla="*/ 17 h 34"/>
                <a:gd name="T2" fmla="*/ 33 w 34"/>
                <a:gd name="T3" fmla="*/ 16 h 34"/>
                <a:gd name="T4" fmla="*/ 33 w 34"/>
                <a:gd name="T5" fmla="*/ 14 h 34"/>
                <a:gd name="T6" fmla="*/ 32 w 34"/>
                <a:gd name="T7" fmla="*/ 11 h 34"/>
                <a:gd name="T8" fmla="*/ 32 w 34"/>
                <a:gd name="T9" fmla="*/ 9 h 34"/>
                <a:gd name="T10" fmla="*/ 31 w 34"/>
                <a:gd name="T11" fmla="*/ 7 h 34"/>
                <a:gd name="T12" fmla="*/ 29 w 34"/>
                <a:gd name="T13" fmla="*/ 6 h 34"/>
                <a:gd name="T14" fmla="*/ 28 w 34"/>
                <a:gd name="T15" fmla="*/ 5 h 34"/>
                <a:gd name="T16" fmla="*/ 25 w 34"/>
                <a:gd name="T17" fmla="*/ 4 h 34"/>
                <a:gd name="T18" fmla="*/ 24 w 34"/>
                <a:gd name="T19" fmla="*/ 3 h 34"/>
                <a:gd name="T20" fmla="*/ 22 w 34"/>
                <a:gd name="T21" fmla="*/ 1 h 34"/>
                <a:gd name="T22" fmla="*/ 20 w 34"/>
                <a:gd name="T23" fmla="*/ 1 h 34"/>
                <a:gd name="T24" fmla="*/ 17 w 34"/>
                <a:gd name="T25" fmla="*/ 0 h 34"/>
                <a:gd name="T26" fmla="*/ 16 w 34"/>
                <a:gd name="T27" fmla="*/ 1 h 34"/>
                <a:gd name="T28" fmla="*/ 13 w 34"/>
                <a:gd name="T29" fmla="*/ 1 h 34"/>
                <a:gd name="T30" fmla="*/ 11 w 34"/>
                <a:gd name="T31" fmla="*/ 3 h 34"/>
                <a:gd name="T32" fmla="*/ 9 w 34"/>
                <a:gd name="T33" fmla="*/ 4 h 34"/>
                <a:gd name="T34" fmla="*/ 7 w 34"/>
                <a:gd name="T35" fmla="*/ 5 h 34"/>
                <a:gd name="T36" fmla="*/ 6 w 34"/>
                <a:gd name="T37" fmla="*/ 6 h 34"/>
                <a:gd name="T38" fmla="*/ 4 w 34"/>
                <a:gd name="T39" fmla="*/ 7 h 34"/>
                <a:gd name="T40" fmla="*/ 3 w 34"/>
                <a:gd name="T41" fmla="*/ 9 h 34"/>
                <a:gd name="T42" fmla="*/ 2 w 34"/>
                <a:gd name="T43" fmla="*/ 11 h 34"/>
                <a:gd name="T44" fmla="*/ 1 w 34"/>
                <a:gd name="T45" fmla="*/ 14 h 34"/>
                <a:gd name="T46" fmla="*/ 1 w 34"/>
                <a:gd name="T47" fmla="*/ 16 h 34"/>
                <a:gd name="T48" fmla="*/ 0 w 34"/>
                <a:gd name="T49" fmla="*/ 17 h 34"/>
                <a:gd name="T50" fmla="*/ 1 w 34"/>
                <a:gd name="T51" fmla="*/ 20 h 34"/>
                <a:gd name="T52" fmla="*/ 1 w 34"/>
                <a:gd name="T53" fmla="*/ 22 h 34"/>
                <a:gd name="T54" fmla="*/ 2 w 34"/>
                <a:gd name="T55" fmla="*/ 25 h 34"/>
                <a:gd name="T56" fmla="*/ 3 w 34"/>
                <a:gd name="T57" fmla="*/ 26 h 34"/>
                <a:gd name="T58" fmla="*/ 4 w 34"/>
                <a:gd name="T59" fmla="*/ 28 h 34"/>
                <a:gd name="T60" fmla="*/ 6 w 34"/>
                <a:gd name="T61" fmla="*/ 29 h 34"/>
                <a:gd name="T62" fmla="*/ 7 w 34"/>
                <a:gd name="T63" fmla="*/ 31 h 34"/>
                <a:gd name="T64" fmla="*/ 9 w 34"/>
                <a:gd name="T65" fmla="*/ 32 h 34"/>
                <a:gd name="T66" fmla="*/ 11 w 34"/>
                <a:gd name="T67" fmla="*/ 32 h 34"/>
                <a:gd name="T68" fmla="*/ 13 w 34"/>
                <a:gd name="T69" fmla="*/ 33 h 34"/>
                <a:gd name="T70" fmla="*/ 16 w 34"/>
                <a:gd name="T71" fmla="*/ 33 h 34"/>
                <a:gd name="T72" fmla="*/ 17 w 34"/>
                <a:gd name="T73" fmla="*/ 33 h 34"/>
                <a:gd name="T74" fmla="*/ 20 w 34"/>
                <a:gd name="T75" fmla="*/ 33 h 34"/>
                <a:gd name="T76" fmla="*/ 22 w 34"/>
                <a:gd name="T77" fmla="*/ 33 h 34"/>
                <a:gd name="T78" fmla="*/ 24 w 34"/>
                <a:gd name="T79" fmla="*/ 32 h 34"/>
                <a:gd name="T80" fmla="*/ 25 w 34"/>
                <a:gd name="T81" fmla="*/ 32 h 34"/>
                <a:gd name="T82" fmla="*/ 28 w 34"/>
                <a:gd name="T83" fmla="*/ 31 h 34"/>
                <a:gd name="T84" fmla="*/ 29 w 34"/>
                <a:gd name="T85" fmla="*/ 29 h 34"/>
                <a:gd name="T86" fmla="*/ 31 w 34"/>
                <a:gd name="T87" fmla="*/ 28 h 34"/>
                <a:gd name="T88" fmla="*/ 32 w 34"/>
                <a:gd name="T89" fmla="*/ 26 h 34"/>
                <a:gd name="T90" fmla="*/ 32 w 34"/>
                <a:gd name="T91" fmla="*/ 25 h 34"/>
                <a:gd name="T92" fmla="*/ 33 w 34"/>
                <a:gd name="T93" fmla="*/ 22 h 34"/>
                <a:gd name="T94" fmla="*/ 33 w 34"/>
                <a:gd name="T95" fmla="*/ 20 h 34"/>
                <a:gd name="T96" fmla="*/ 33 w 34"/>
                <a:gd name="T97" fmla="*/ 17 h 34"/>
                <a:gd name="T98" fmla="*/ 33 w 34"/>
                <a:gd name="T99" fmla="*/ 17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" h="34">
                  <a:moveTo>
                    <a:pt x="33" y="17"/>
                  </a:moveTo>
                  <a:lnTo>
                    <a:pt x="33" y="16"/>
                  </a:lnTo>
                  <a:lnTo>
                    <a:pt x="33" y="14"/>
                  </a:lnTo>
                  <a:lnTo>
                    <a:pt x="32" y="11"/>
                  </a:lnTo>
                  <a:lnTo>
                    <a:pt x="32" y="9"/>
                  </a:lnTo>
                  <a:lnTo>
                    <a:pt x="31" y="7"/>
                  </a:lnTo>
                  <a:lnTo>
                    <a:pt x="29" y="6"/>
                  </a:lnTo>
                  <a:lnTo>
                    <a:pt x="28" y="5"/>
                  </a:lnTo>
                  <a:lnTo>
                    <a:pt x="25" y="4"/>
                  </a:lnTo>
                  <a:lnTo>
                    <a:pt x="24" y="3"/>
                  </a:lnTo>
                  <a:lnTo>
                    <a:pt x="22" y="1"/>
                  </a:lnTo>
                  <a:lnTo>
                    <a:pt x="20" y="1"/>
                  </a:lnTo>
                  <a:lnTo>
                    <a:pt x="17" y="0"/>
                  </a:lnTo>
                  <a:lnTo>
                    <a:pt x="16" y="1"/>
                  </a:lnTo>
                  <a:lnTo>
                    <a:pt x="13" y="1"/>
                  </a:lnTo>
                  <a:lnTo>
                    <a:pt x="11" y="3"/>
                  </a:lnTo>
                  <a:lnTo>
                    <a:pt x="9" y="4"/>
                  </a:lnTo>
                  <a:lnTo>
                    <a:pt x="7" y="5"/>
                  </a:lnTo>
                  <a:lnTo>
                    <a:pt x="6" y="6"/>
                  </a:lnTo>
                  <a:lnTo>
                    <a:pt x="4" y="7"/>
                  </a:lnTo>
                  <a:lnTo>
                    <a:pt x="3" y="9"/>
                  </a:lnTo>
                  <a:lnTo>
                    <a:pt x="2" y="11"/>
                  </a:lnTo>
                  <a:lnTo>
                    <a:pt x="1" y="14"/>
                  </a:lnTo>
                  <a:lnTo>
                    <a:pt x="1" y="16"/>
                  </a:lnTo>
                  <a:lnTo>
                    <a:pt x="0" y="17"/>
                  </a:lnTo>
                  <a:lnTo>
                    <a:pt x="1" y="20"/>
                  </a:lnTo>
                  <a:lnTo>
                    <a:pt x="1" y="22"/>
                  </a:lnTo>
                  <a:lnTo>
                    <a:pt x="2" y="25"/>
                  </a:lnTo>
                  <a:lnTo>
                    <a:pt x="3" y="26"/>
                  </a:lnTo>
                  <a:lnTo>
                    <a:pt x="4" y="28"/>
                  </a:lnTo>
                  <a:lnTo>
                    <a:pt x="6" y="29"/>
                  </a:lnTo>
                  <a:lnTo>
                    <a:pt x="7" y="31"/>
                  </a:lnTo>
                  <a:lnTo>
                    <a:pt x="9" y="32"/>
                  </a:lnTo>
                  <a:lnTo>
                    <a:pt x="11" y="32"/>
                  </a:lnTo>
                  <a:lnTo>
                    <a:pt x="13" y="33"/>
                  </a:lnTo>
                  <a:lnTo>
                    <a:pt x="16" y="33"/>
                  </a:lnTo>
                  <a:lnTo>
                    <a:pt x="17" y="33"/>
                  </a:lnTo>
                  <a:lnTo>
                    <a:pt x="20" y="33"/>
                  </a:lnTo>
                  <a:lnTo>
                    <a:pt x="22" y="33"/>
                  </a:lnTo>
                  <a:lnTo>
                    <a:pt x="24" y="32"/>
                  </a:lnTo>
                  <a:lnTo>
                    <a:pt x="25" y="32"/>
                  </a:lnTo>
                  <a:lnTo>
                    <a:pt x="28" y="31"/>
                  </a:lnTo>
                  <a:lnTo>
                    <a:pt x="29" y="29"/>
                  </a:lnTo>
                  <a:lnTo>
                    <a:pt x="31" y="28"/>
                  </a:lnTo>
                  <a:lnTo>
                    <a:pt x="32" y="26"/>
                  </a:lnTo>
                  <a:lnTo>
                    <a:pt x="32" y="25"/>
                  </a:lnTo>
                  <a:lnTo>
                    <a:pt x="33" y="22"/>
                  </a:lnTo>
                  <a:lnTo>
                    <a:pt x="33" y="20"/>
                  </a:lnTo>
                  <a:lnTo>
                    <a:pt x="33" y="17"/>
                  </a:lnTo>
                  <a:lnTo>
                    <a:pt x="33" y="17"/>
                  </a:lnTo>
                </a:path>
              </a:pathLst>
            </a:custGeom>
            <a:noFill/>
            <a:ln w="127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4" name="Freeform 44"/>
            <p:cNvSpPr>
              <a:spLocks/>
            </p:cNvSpPr>
            <p:nvPr/>
          </p:nvSpPr>
          <p:spPr bwMode="auto">
            <a:xfrm>
              <a:off x="2674" y="2259"/>
              <a:ext cx="32" cy="32"/>
            </a:xfrm>
            <a:custGeom>
              <a:avLst/>
              <a:gdLst>
                <a:gd name="T0" fmla="*/ 31 w 32"/>
                <a:gd name="T1" fmla="*/ 16 h 32"/>
                <a:gd name="T2" fmla="*/ 31 w 32"/>
                <a:gd name="T3" fmla="*/ 14 h 32"/>
                <a:gd name="T4" fmla="*/ 31 w 32"/>
                <a:gd name="T5" fmla="*/ 12 h 32"/>
                <a:gd name="T6" fmla="*/ 30 w 32"/>
                <a:gd name="T7" fmla="*/ 10 h 32"/>
                <a:gd name="T8" fmla="*/ 30 w 32"/>
                <a:gd name="T9" fmla="*/ 9 h 32"/>
                <a:gd name="T10" fmla="*/ 29 w 32"/>
                <a:gd name="T11" fmla="*/ 7 h 32"/>
                <a:gd name="T12" fmla="*/ 28 w 32"/>
                <a:gd name="T13" fmla="*/ 6 h 32"/>
                <a:gd name="T14" fmla="*/ 26 w 32"/>
                <a:gd name="T15" fmla="*/ 5 h 32"/>
                <a:gd name="T16" fmla="*/ 25 w 32"/>
                <a:gd name="T17" fmla="*/ 3 h 32"/>
                <a:gd name="T18" fmla="*/ 22 w 32"/>
                <a:gd name="T19" fmla="*/ 2 h 32"/>
                <a:gd name="T20" fmla="*/ 20 w 32"/>
                <a:gd name="T21" fmla="*/ 1 h 32"/>
                <a:gd name="T22" fmla="*/ 18 w 32"/>
                <a:gd name="T23" fmla="*/ 1 h 32"/>
                <a:gd name="T24" fmla="*/ 16 w 32"/>
                <a:gd name="T25" fmla="*/ 0 h 32"/>
                <a:gd name="T26" fmla="*/ 15 w 32"/>
                <a:gd name="T27" fmla="*/ 1 h 32"/>
                <a:gd name="T28" fmla="*/ 13 w 32"/>
                <a:gd name="T29" fmla="*/ 1 h 32"/>
                <a:gd name="T30" fmla="*/ 10 w 32"/>
                <a:gd name="T31" fmla="*/ 2 h 32"/>
                <a:gd name="T32" fmla="*/ 9 w 32"/>
                <a:gd name="T33" fmla="*/ 3 h 32"/>
                <a:gd name="T34" fmla="*/ 7 w 32"/>
                <a:gd name="T35" fmla="*/ 5 h 32"/>
                <a:gd name="T36" fmla="*/ 6 w 32"/>
                <a:gd name="T37" fmla="*/ 6 h 32"/>
                <a:gd name="T38" fmla="*/ 5 w 32"/>
                <a:gd name="T39" fmla="*/ 7 h 32"/>
                <a:gd name="T40" fmla="*/ 4 w 32"/>
                <a:gd name="T41" fmla="*/ 9 h 32"/>
                <a:gd name="T42" fmla="*/ 3 w 32"/>
                <a:gd name="T43" fmla="*/ 10 h 32"/>
                <a:gd name="T44" fmla="*/ 1 w 32"/>
                <a:gd name="T45" fmla="*/ 12 h 32"/>
                <a:gd name="T46" fmla="*/ 1 w 32"/>
                <a:gd name="T47" fmla="*/ 14 h 32"/>
                <a:gd name="T48" fmla="*/ 0 w 32"/>
                <a:gd name="T49" fmla="*/ 16 h 32"/>
                <a:gd name="T50" fmla="*/ 1 w 32"/>
                <a:gd name="T51" fmla="*/ 18 h 32"/>
                <a:gd name="T52" fmla="*/ 1 w 32"/>
                <a:gd name="T53" fmla="*/ 20 h 32"/>
                <a:gd name="T54" fmla="*/ 3 w 32"/>
                <a:gd name="T55" fmla="*/ 22 h 32"/>
                <a:gd name="T56" fmla="*/ 4 w 32"/>
                <a:gd name="T57" fmla="*/ 24 h 32"/>
                <a:gd name="T58" fmla="*/ 5 w 32"/>
                <a:gd name="T59" fmla="*/ 25 h 32"/>
                <a:gd name="T60" fmla="*/ 6 w 32"/>
                <a:gd name="T61" fmla="*/ 28 h 32"/>
                <a:gd name="T62" fmla="*/ 7 w 32"/>
                <a:gd name="T63" fmla="*/ 29 h 32"/>
                <a:gd name="T64" fmla="*/ 9 w 32"/>
                <a:gd name="T65" fmla="*/ 30 h 32"/>
                <a:gd name="T66" fmla="*/ 10 w 32"/>
                <a:gd name="T67" fmla="*/ 30 h 32"/>
                <a:gd name="T68" fmla="*/ 13 w 32"/>
                <a:gd name="T69" fmla="*/ 31 h 32"/>
                <a:gd name="T70" fmla="*/ 15 w 32"/>
                <a:gd name="T71" fmla="*/ 31 h 32"/>
                <a:gd name="T72" fmla="*/ 16 w 32"/>
                <a:gd name="T73" fmla="*/ 31 h 32"/>
                <a:gd name="T74" fmla="*/ 18 w 32"/>
                <a:gd name="T75" fmla="*/ 31 h 32"/>
                <a:gd name="T76" fmla="*/ 20 w 32"/>
                <a:gd name="T77" fmla="*/ 31 h 32"/>
                <a:gd name="T78" fmla="*/ 22 w 32"/>
                <a:gd name="T79" fmla="*/ 30 h 32"/>
                <a:gd name="T80" fmla="*/ 25 w 32"/>
                <a:gd name="T81" fmla="*/ 30 h 32"/>
                <a:gd name="T82" fmla="*/ 26 w 32"/>
                <a:gd name="T83" fmla="*/ 29 h 32"/>
                <a:gd name="T84" fmla="*/ 28 w 32"/>
                <a:gd name="T85" fmla="*/ 28 h 32"/>
                <a:gd name="T86" fmla="*/ 29 w 32"/>
                <a:gd name="T87" fmla="*/ 25 h 32"/>
                <a:gd name="T88" fmla="*/ 30 w 32"/>
                <a:gd name="T89" fmla="*/ 24 h 32"/>
                <a:gd name="T90" fmla="*/ 30 w 32"/>
                <a:gd name="T91" fmla="*/ 22 h 32"/>
                <a:gd name="T92" fmla="*/ 31 w 32"/>
                <a:gd name="T93" fmla="*/ 20 h 32"/>
                <a:gd name="T94" fmla="*/ 31 w 32"/>
                <a:gd name="T95" fmla="*/ 18 h 32"/>
                <a:gd name="T96" fmla="*/ 31 w 32"/>
                <a:gd name="T97" fmla="*/ 16 h 32"/>
                <a:gd name="T98" fmla="*/ 31 w 32"/>
                <a:gd name="T99" fmla="*/ 16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2" h="32">
                  <a:moveTo>
                    <a:pt x="31" y="16"/>
                  </a:moveTo>
                  <a:lnTo>
                    <a:pt x="31" y="14"/>
                  </a:lnTo>
                  <a:lnTo>
                    <a:pt x="31" y="12"/>
                  </a:lnTo>
                  <a:lnTo>
                    <a:pt x="30" y="10"/>
                  </a:lnTo>
                  <a:lnTo>
                    <a:pt x="30" y="9"/>
                  </a:lnTo>
                  <a:lnTo>
                    <a:pt x="29" y="7"/>
                  </a:lnTo>
                  <a:lnTo>
                    <a:pt x="28" y="6"/>
                  </a:lnTo>
                  <a:lnTo>
                    <a:pt x="26" y="5"/>
                  </a:lnTo>
                  <a:lnTo>
                    <a:pt x="25" y="3"/>
                  </a:lnTo>
                  <a:lnTo>
                    <a:pt x="22" y="2"/>
                  </a:lnTo>
                  <a:lnTo>
                    <a:pt x="20" y="1"/>
                  </a:lnTo>
                  <a:lnTo>
                    <a:pt x="18" y="1"/>
                  </a:lnTo>
                  <a:lnTo>
                    <a:pt x="16" y="0"/>
                  </a:lnTo>
                  <a:lnTo>
                    <a:pt x="15" y="1"/>
                  </a:lnTo>
                  <a:lnTo>
                    <a:pt x="13" y="1"/>
                  </a:lnTo>
                  <a:lnTo>
                    <a:pt x="10" y="2"/>
                  </a:lnTo>
                  <a:lnTo>
                    <a:pt x="9" y="3"/>
                  </a:lnTo>
                  <a:lnTo>
                    <a:pt x="7" y="5"/>
                  </a:lnTo>
                  <a:lnTo>
                    <a:pt x="6" y="6"/>
                  </a:lnTo>
                  <a:lnTo>
                    <a:pt x="5" y="7"/>
                  </a:lnTo>
                  <a:lnTo>
                    <a:pt x="4" y="9"/>
                  </a:lnTo>
                  <a:lnTo>
                    <a:pt x="3" y="10"/>
                  </a:lnTo>
                  <a:lnTo>
                    <a:pt x="1" y="12"/>
                  </a:lnTo>
                  <a:lnTo>
                    <a:pt x="1" y="14"/>
                  </a:lnTo>
                  <a:lnTo>
                    <a:pt x="0" y="16"/>
                  </a:lnTo>
                  <a:lnTo>
                    <a:pt x="1" y="18"/>
                  </a:lnTo>
                  <a:lnTo>
                    <a:pt x="1" y="20"/>
                  </a:lnTo>
                  <a:lnTo>
                    <a:pt x="3" y="22"/>
                  </a:lnTo>
                  <a:lnTo>
                    <a:pt x="4" y="24"/>
                  </a:lnTo>
                  <a:lnTo>
                    <a:pt x="5" y="25"/>
                  </a:lnTo>
                  <a:lnTo>
                    <a:pt x="6" y="28"/>
                  </a:lnTo>
                  <a:lnTo>
                    <a:pt x="7" y="29"/>
                  </a:lnTo>
                  <a:lnTo>
                    <a:pt x="9" y="30"/>
                  </a:lnTo>
                  <a:lnTo>
                    <a:pt x="10" y="30"/>
                  </a:lnTo>
                  <a:lnTo>
                    <a:pt x="13" y="31"/>
                  </a:lnTo>
                  <a:lnTo>
                    <a:pt x="15" y="31"/>
                  </a:lnTo>
                  <a:lnTo>
                    <a:pt x="16" y="31"/>
                  </a:lnTo>
                  <a:lnTo>
                    <a:pt x="18" y="31"/>
                  </a:lnTo>
                  <a:lnTo>
                    <a:pt x="20" y="31"/>
                  </a:lnTo>
                  <a:lnTo>
                    <a:pt x="22" y="30"/>
                  </a:lnTo>
                  <a:lnTo>
                    <a:pt x="25" y="30"/>
                  </a:lnTo>
                  <a:lnTo>
                    <a:pt x="26" y="29"/>
                  </a:lnTo>
                  <a:lnTo>
                    <a:pt x="28" y="28"/>
                  </a:lnTo>
                  <a:lnTo>
                    <a:pt x="29" y="25"/>
                  </a:lnTo>
                  <a:lnTo>
                    <a:pt x="30" y="24"/>
                  </a:lnTo>
                  <a:lnTo>
                    <a:pt x="30" y="22"/>
                  </a:lnTo>
                  <a:lnTo>
                    <a:pt x="31" y="20"/>
                  </a:lnTo>
                  <a:lnTo>
                    <a:pt x="31" y="18"/>
                  </a:lnTo>
                  <a:lnTo>
                    <a:pt x="31" y="16"/>
                  </a:lnTo>
                  <a:lnTo>
                    <a:pt x="31" y="1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5" name="Freeform 45"/>
            <p:cNvSpPr>
              <a:spLocks/>
            </p:cNvSpPr>
            <p:nvPr/>
          </p:nvSpPr>
          <p:spPr bwMode="auto">
            <a:xfrm>
              <a:off x="2674" y="2259"/>
              <a:ext cx="32" cy="32"/>
            </a:xfrm>
            <a:custGeom>
              <a:avLst/>
              <a:gdLst>
                <a:gd name="T0" fmla="*/ 31 w 32"/>
                <a:gd name="T1" fmla="*/ 16 h 32"/>
                <a:gd name="T2" fmla="*/ 31 w 32"/>
                <a:gd name="T3" fmla="*/ 14 h 32"/>
                <a:gd name="T4" fmla="*/ 31 w 32"/>
                <a:gd name="T5" fmla="*/ 12 h 32"/>
                <a:gd name="T6" fmla="*/ 30 w 32"/>
                <a:gd name="T7" fmla="*/ 10 h 32"/>
                <a:gd name="T8" fmla="*/ 30 w 32"/>
                <a:gd name="T9" fmla="*/ 9 h 32"/>
                <a:gd name="T10" fmla="*/ 29 w 32"/>
                <a:gd name="T11" fmla="*/ 7 h 32"/>
                <a:gd name="T12" fmla="*/ 28 w 32"/>
                <a:gd name="T13" fmla="*/ 6 h 32"/>
                <a:gd name="T14" fmla="*/ 26 w 32"/>
                <a:gd name="T15" fmla="*/ 5 h 32"/>
                <a:gd name="T16" fmla="*/ 25 w 32"/>
                <a:gd name="T17" fmla="*/ 3 h 32"/>
                <a:gd name="T18" fmla="*/ 22 w 32"/>
                <a:gd name="T19" fmla="*/ 2 h 32"/>
                <a:gd name="T20" fmla="*/ 20 w 32"/>
                <a:gd name="T21" fmla="*/ 1 h 32"/>
                <a:gd name="T22" fmla="*/ 18 w 32"/>
                <a:gd name="T23" fmla="*/ 1 h 32"/>
                <a:gd name="T24" fmla="*/ 16 w 32"/>
                <a:gd name="T25" fmla="*/ 0 h 32"/>
                <a:gd name="T26" fmla="*/ 15 w 32"/>
                <a:gd name="T27" fmla="*/ 1 h 32"/>
                <a:gd name="T28" fmla="*/ 13 w 32"/>
                <a:gd name="T29" fmla="*/ 1 h 32"/>
                <a:gd name="T30" fmla="*/ 10 w 32"/>
                <a:gd name="T31" fmla="*/ 2 h 32"/>
                <a:gd name="T32" fmla="*/ 9 w 32"/>
                <a:gd name="T33" fmla="*/ 3 h 32"/>
                <a:gd name="T34" fmla="*/ 7 w 32"/>
                <a:gd name="T35" fmla="*/ 5 h 32"/>
                <a:gd name="T36" fmla="*/ 6 w 32"/>
                <a:gd name="T37" fmla="*/ 6 h 32"/>
                <a:gd name="T38" fmla="*/ 5 w 32"/>
                <a:gd name="T39" fmla="*/ 7 h 32"/>
                <a:gd name="T40" fmla="*/ 4 w 32"/>
                <a:gd name="T41" fmla="*/ 9 h 32"/>
                <a:gd name="T42" fmla="*/ 3 w 32"/>
                <a:gd name="T43" fmla="*/ 10 h 32"/>
                <a:gd name="T44" fmla="*/ 1 w 32"/>
                <a:gd name="T45" fmla="*/ 12 h 32"/>
                <a:gd name="T46" fmla="*/ 1 w 32"/>
                <a:gd name="T47" fmla="*/ 14 h 32"/>
                <a:gd name="T48" fmla="*/ 0 w 32"/>
                <a:gd name="T49" fmla="*/ 16 h 32"/>
                <a:gd name="T50" fmla="*/ 1 w 32"/>
                <a:gd name="T51" fmla="*/ 18 h 32"/>
                <a:gd name="T52" fmla="*/ 1 w 32"/>
                <a:gd name="T53" fmla="*/ 20 h 32"/>
                <a:gd name="T54" fmla="*/ 3 w 32"/>
                <a:gd name="T55" fmla="*/ 22 h 32"/>
                <a:gd name="T56" fmla="*/ 4 w 32"/>
                <a:gd name="T57" fmla="*/ 24 h 32"/>
                <a:gd name="T58" fmla="*/ 5 w 32"/>
                <a:gd name="T59" fmla="*/ 25 h 32"/>
                <a:gd name="T60" fmla="*/ 6 w 32"/>
                <a:gd name="T61" fmla="*/ 28 h 32"/>
                <a:gd name="T62" fmla="*/ 7 w 32"/>
                <a:gd name="T63" fmla="*/ 29 h 32"/>
                <a:gd name="T64" fmla="*/ 9 w 32"/>
                <a:gd name="T65" fmla="*/ 30 h 32"/>
                <a:gd name="T66" fmla="*/ 10 w 32"/>
                <a:gd name="T67" fmla="*/ 30 h 32"/>
                <a:gd name="T68" fmla="*/ 13 w 32"/>
                <a:gd name="T69" fmla="*/ 31 h 32"/>
                <a:gd name="T70" fmla="*/ 15 w 32"/>
                <a:gd name="T71" fmla="*/ 31 h 32"/>
                <a:gd name="T72" fmla="*/ 16 w 32"/>
                <a:gd name="T73" fmla="*/ 31 h 32"/>
                <a:gd name="T74" fmla="*/ 18 w 32"/>
                <a:gd name="T75" fmla="*/ 31 h 32"/>
                <a:gd name="T76" fmla="*/ 20 w 32"/>
                <a:gd name="T77" fmla="*/ 31 h 32"/>
                <a:gd name="T78" fmla="*/ 22 w 32"/>
                <a:gd name="T79" fmla="*/ 30 h 32"/>
                <a:gd name="T80" fmla="*/ 25 w 32"/>
                <a:gd name="T81" fmla="*/ 30 h 32"/>
                <a:gd name="T82" fmla="*/ 26 w 32"/>
                <a:gd name="T83" fmla="*/ 29 h 32"/>
                <a:gd name="T84" fmla="*/ 28 w 32"/>
                <a:gd name="T85" fmla="*/ 28 h 32"/>
                <a:gd name="T86" fmla="*/ 29 w 32"/>
                <a:gd name="T87" fmla="*/ 25 h 32"/>
                <a:gd name="T88" fmla="*/ 30 w 32"/>
                <a:gd name="T89" fmla="*/ 24 h 32"/>
                <a:gd name="T90" fmla="*/ 30 w 32"/>
                <a:gd name="T91" fmla="*/ 22 h 32"/>
                <a:gd name="T92" fmla="*/ 31 w 32"/>
                <a:gd name="T93" fmla="*/ 20 h 32"/>
                <a:gd name="T94" fmla="*/ 31 w 32"/>
                <a:gd name="T95" fmla="*/ 18 h 32"/>
                <a:gd name="T96" fmla="*/ 31 w 32"/>
                <a:gd name="T97" fmla="*/ 16 h 32"/>
                <a:gd name="T98" fmla="*/ 31 w 32"/>
                <a:gd name="T99" fmla="*/ 16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2" h="32">
                  <a:moveTo>
                    <a:pt x="31" y="16"/>
                  </a:moveTo>
                  <a:lnTo>
                    <a:pt x="31" y="14"/>
                  </a:lnTo>
                  <a:lnTo>
                    <a:pt x="31" y="12"/>
                  </a:lnTo>
                  <a:lnTo>
                    <a:pt x="30" y="10"/>
                  </a:lnTo>
                  <a:lnTo>
                    <a:pt x="30" y="9"/>
                  </a:lnTo>
                  <a:lnTo>
                    <a:pt x="29" y="7"/>
                  </a:lnTo>
                  <a:lnTo>
                    <a:pt x="28" y="6"/>
                  </a:lnTo>
                  <a:lnTo>
                    <a:pt x="26" y="5"/>
                  </a:lnTo>
                  <a:lnTo>
                    <a:pt x="25" y="3"/>
                  </a:lnTo>
                  <a:lnTo>
                    <a:pt x="22" y="2"/>
                  </a:lnTo>
                  <a:lnTo>
                    <a:pt x="20" y="1"/>
                  </a:lnTo>
                  <a:lnTo>
                    <a:pt x="18" y="1"/>
                  </a:lnTo>
                  <a:lnTo>
                    <a:pt x="16" y="0"/>
                  </a:lnTo>
                  <a:lnTo>
                    <a:pt x="15" y="1"/>
                  </a:lnTo>
                  <a:lnTo>
                    <a:pt x="13" y="1"/>
                  </a:lnTo>
                  <a:lnTo>
                    <a:pt x="10" y="2"/>
                  </a:lnTo>
                  <a:lnTo>
                    <a:pt x="9" y="3"/>
                  </a:lnTo>
                  <a:lnTo>
                    <a:pt x="7" y="5"/>
                  </a:lnTo>
                  <a:lnTo>
                    <a:pt x="6" y="6"/>
                  </a:lnTo>
                  <a:lnTo>
                    <a:pt x="5" y="7"/>
                  </a:lnTo>
                  <a:lnTo>
                    <a:pt x="4" y="9"/>
                  </a:lnTo>
                  <a:lnTo>
                    <a:pt x="3" y="10"/>
                  </a:lnTo>
                  <a:lnTo>
                    <a:pt x="1" y="12"/>
                  </a:lnTo>
                  <a:lnTo>
                    <a:pt x="1" y="14"/>
                  </a:lnTo>
                  <a:lnTo>
                    <a:pt x="0" y="16"/>
                  </a:lnTo>
                  <a:lnTo>
                    <a:pt x="1" y="18"/>
                  </a:lnTo>
                  <a:lnTo>
                    <a:pt x="1" y="20"/>
                  </a:lnTo>
                  <a:lnTo>
                    <a:pt x="3" y="22"/>
                  </a:lnTo>
                  <a:lnTo>
                    <a:pt x="4" y="24"/>
                  </a:lnTo>
                  <a:lnTo>
                    <a:pt x="5" y="25"/>
                  </a:lnTo>
                  <a:lnTo>
                    <a:pt x="6" y="28"/>
                  </a:lnTo>
                  <a:lnTo>
                    <a:pt x="7" y="29"/>
                  </a:lnTo>
                  <a:lnTo>
                    <a:pt x="9" y="30"/>
                  </a:lnTo>
                  <a:lnTo>
                    <a:pt x="10" y="30"/>
                  </a:lnTo>
                  <a:lnTo>
                    <a:pt x="13" y="31"/>
                  </a:lnTo>
                  <a:lnTo>
                    <a:pt x="15" y="31"/>
                  </a:lnTo>
                  <a:lnTo>
                    <a:pt x="16" y="31"/>
                  </a:lnTo>
                  <a:lnTo>
                    <a:pt x="18" y="31"/>
                  </a:lnTo>
                  <a:lnTo>
                    <a:pt x="20" y="31"/>
                  </a:lnTo>
                  <a:lnTo>
                    <a:pt x="22" y="30"/>
                  </a:lnTo>
                  <a:lnTo>
                    <a:pt x="25" y="30"/>
                  </a:lnTo>
                  <a:lnTo>
                    <a:pt x="26" y="29"/>
                  </a:lnTo>
                  <a:lnTo>
                    <a:pt x="28" y="28"/>
                  </a:lnTo>
                  <a:lnTo>
                    <a:pt x="29" y="25"/>
                  </a:lnTo>
                  <a:lnTo>
                    <a:pt x="30" y="24"/>
                  </a:lnTo>
                  <a:lnTo>
                    <a:pt x="30" y="22"/>
                  </a:lnTo>
                  <a:lnTo>
                    <a:pt x="31" y="20"/>
                  </a:lnTo>
                  <a:lnTo>
                    <a:pt x="31" y="18"/>
                  </a:lnTo>
                  <a:lnTo>
                    <a:pt x="31" y="16"/>
                  </a:lnTo>
                  <a:lnTo>
                    <a:pt x="31" y="16"/>
                  </a:lnTo>
                </a:path>
              </a:pathLst>
            </a:custGeom>
            <a:noFill/>
            <a:ln w="127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6" name="Line 46"/>
            <p:cNvSpPr>
              <a:spLocks noChangeShapeType="1"/>
            </p:cNvSpPr>
            <p:nvPr/>
          </p:nvSpPr>
          <p:spPr bwMode="auto">
            <a:xfrm>
              <a:off x="2208" y="1517"/>
              <a:ext cx="1224" cy="2227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87" name="Rectangle 47"/>
            <p:cNvSpPr>
              <a:spLocks noChangeArrowheads="1"/>
            </p:cNvSpPr>
            <p:nvPr/>
          </p:nvSpPr>
          <p:spPr bwMode="auto">
            <a:xfrm>
              <a:off x="4508" y="3831"/>
              <a:ext cx="34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400"/>
                <a:t>X</a:t>
              </a:r>
              <a:r>
                <a:rPr lang="en-US" sz="2400" baseline="-25000"/>
                <a:t>1</a:t>
              </a:r>
            </a:p>
          </p:txBody>
        </p:sp>
        <p:sp>
          <p:nvSpPr>
            <p:cNvPr id="10288" name="Rectangle 48"/>
            <p:cNvSpPr>
              <a:spLocks noChangeArrowheads="1"/>
            </p:cNvSpPr>
            <p:nvPr/>
          </p:nvSpPr>
          <p:spPr bwMode="auto">
            <a:xfrm>
              <a:off x="856" y="735"/>
              <a:ext cx="34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400"/>
                <a:t>X</a:t>
              </a:r>
              <a:r>
                <a:rPr lang="en-US" sz="2400" baseline="-25000"/>
                <a:t>2</a:t>
              </a:r>
            </a:p>
          </p:txBody>
        </p:sp>
        <p:sp>
          <p:nvSpPr>
            <p:cNvPr id="10289" name="Rectangle 49"/>
            <p:cNvSpPr>
              <a:spLocks noChangeArrowheads="1"/>
            </p:cNvSpPr>
            <p:nvPr/>
          </p:nvSpPr>
          <p:spPr bwMode="auto">
            <a:xfrm>
              <a:off x="1584" y="1110"/>
              <a:ext cx="28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400"/>
                <a:t>Integer Feasible </a:t>
              </a:r>
              <a:r>
                <a:rPr lang="en-US" sz="2400" dirty="0"/>
                <a:t>Solutions</a:t>
              </a:r>
            </a:p>
          </p:txBody>
        </p:sp>
        <p:sp>
          <p:nvSpPr>
            <p:cNvPr id="10290" name="Rectangle 50"/>
            <p:cNvSpPr>
              <a:spLocks noChangeArrowheads="1"/>
            </p:cNvSpPr>
            <p:nvPr/>
          </p:nvSpPr>
          <p:spPr bwMode="auto">
            <a:xfrm>
              <a:off x="1091" y="3873"/>
              <a:ext cx="20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600"/>
                <a:t>0</a:t>
              </a:r>
            </a:p>
          </p:txBody>
        </p:sp>
        <p:sp>
          <p:nvSpPr>
            <p:cNvPr id="10291" name="Rectangle 51"/>
            <p:cNvSpPr>
              <a:spLocks noChangeArrowheads="1"/>
            </p:cNvSpPr>
            <p:nvPr/>
          </p:nvSpPr>
          <p:spPr bwMode="auto">
            <a:xfrm>
              <a:off x="951" y="3701"/>
              <a:ext cx="20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600"/>
                <a:t>0</a:t>
              </a:r>
            </a:p>
          </p:txBody>
        </p:sp>
        <p:sp>
          <p:nvSpPr>
            <p:cNvPr id="10292" name="Rectangle 52"/>
            <p:cNvSpPr>
              <a:spLocks noChangeArrowheads="1"/>
            </p:cNvSpPr>
            <p:nvPr/>
          </p:nvSpPr>
          <p:spPr bwMode="auto">
            <a:xfrm>
              <a:off x="1851" y="3883"/>
              <a:ext cx="20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600"/>
                <a:t>1</a:t>
              </a:r>
            </a:p>
          </p:txBody>
        </p:sp>
        <p:sp>
          <p:nvSpPr>
            <p:cNvPr id="10293" name="Rectangle 53"/>
            <p:cNvSpPr>
              <a:spLocks noChangeArrowheads="1"/>
            </p:cNvSpPr>
            <p:nvPr/>
          </p:nvSpPr>
          <p:spPr bwMode="auto">
            <a:xfrm>
              <a:off x="2601" y="3883"/>
              <a:ext cx="20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600"/>
                <a:t>2</a:t>
              </a:r>
            </a:p>
          </p:txBody>
        </p:sp>
        <p:sp>
          <p:nvSpPr>
            <p:cNvPr id="10294" name="Rectangle 54"/>
            <p:cNvSpPr>
              <a:spLocks noChangeArrowheads="1"/>
            </p:cNvSpPr>
            <p:nvPr/>
          </p:nvSpPr>
          <p:spPr bwMode="auto">
            <a:xfrm>
              <a:off x="3362" y="3883"/>
              <a:ext cx="20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600"/>
                <a:t>3</a:t>
              </a:r>
            </a:p>
          </p:txBody>
        </p:sp>
        <p:sp>
          <p:nvSpPr>
            <p:cNvPr id="10295" name="Rectangle 55"/>
            <p:cNvSpPr>
              <a:spLocks noChangeArrowheads="1"/>
            </p:cNvSpPr>
            <p:nvPr/>
          </p:nvSpPr>
          <p:spPr bwMode="auto">
            <a:xfrm>
              <a:off x="4112" y="3894"/>
              <a:ext cx="20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600"/>
                <a:t>4</a:t>
              </a:r>
            </a:p>
          </p:txBody>
        </p:sp>
        <p:sp>
          <p:nvSpPr>
            <p:cNvPr id="10296" name="Rectangle 56"/>
            <p:cNvSpPr>
              <a:spLocks noChangeArrowheads="1"/>
            </p:cNvSpPr>
            <p:nvPr/>
          </p:nvSpPr>
          <p:spPr bwMode="auto">
            <a:xfrm>
              <a:off x="941" y="2942"/>
              <a:ext cx="20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600"/>
                <a:t>1</a:t>
              </a:r>
            </a:p>
          </p:txBody>
        </p:sp>
        <p:sp>
          <p:nvSpPr>
            <p:cNvPr id="10297" name="Rectangle 57"/>
            <p:cNvSpPr>
              <a:spLocks noChangeArrowheads="1"/>
            </p:cNvSpPr>
            <p:nvPr/>
          </p:nvSpPr>
          <p:spPr bwMode="auto">
            <a:xfrm>
              <a:off x="941" y="2191"/>
              <a:ext cx="20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600"/>
                <a:t>2</a:t>
              </a:r>
            </a:p>
          </p:txBody>
        </p:sp>
        <p:sp>
          <p:nvSpPr>
            <p:cNvPr id="10298" name="Rectangle 58"/>
            <p:cNvSpPr>
              <a:spLocks noChangeArrowheads="1"/>
            </p:cNvSpPr>
            <p:nvPr/>
          </p:nvSpPr>
          <p:spPr bwMode="auto">
            <a:xfrm>
              <a:off x="942" y="1431"/>
              <a:ext cx="20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600"/>
                <a:t>3</a:t>
              </a:r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5950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Solving ILP Problems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39850"/>
            <a:ext cx="7772400" cy="4152900"/>
          </a:xfrm>
          <a:noFill/>
          <a:ln/>
        </p:spPr>
        <p:txBody>
          <a:bodyPr lIns="92075" tIns="46038" rIns="92075" bIns="46038"/>
          <a:lstStyle/>
          <a:p>
            <a:r>
              <a:rPr lang="en-US" sz="2800" dirty="0"/>
              <a:t>When </a:t>
            </a:r>
            <a:r>
              <a:rPr lang="en-US" sz="2800"/>
              <a:t>solving an LP relaxation</a:t>
            </a:r>
            <a:r>
              <a:rPr lang="en-US" sz="2800" dirty="0"/>
              <a:t>, sometimes you “get lucky</a:t>
            </a:r>
            <a:r>
              <a:rPr lang="en-US" sz="2800"/>
              <a:t>” and obtain an integer feasible </a:t>
            </a:r>
            <a:r>
              <a:rPr lang="en-US" sz="2800" dirty="0"/>
              <a:t>solution.</a:t>
            </a:r>
          </a:p>
          <a:p>
            <a:r>
              <a:rPr lang="en-US" sz="2800"/>
              <a:t>This was the case </a:t>
            </a:r>
            <a:r>
              <a:rPr lang="en-US" sz="2800" dirty="0"/>
              <a:t>in </a:t>
            </a:r>
            <a:r>
              <a:rPr lang="en-US" sz="2800"/>
              <a:t>the original </a:t>
            </a:r>
            <a:r>
              <a:rPr lang="en-US" sz="2800" dirty="0"/>
              <a:t>Blue Ridge Hot Tubs problem </a:t>
            </a:r>
            <a:r>
              <a:rPr lang="en-US" sz="2800"/>
              <a:t>in earlier chapters</a:t>
            </a:r>
            <a:r>
              <a:rPr lang="en-US" sz="2800" dirty="0"/>
              <a:t>.</a:t>
            </a:r>
          </a:p>
          <a:p>
            <a:r>
              <a:rPr lang="en-US" sz="2800"/>
              <a:t>But what </a:t>
            </a:r>
            <a:r>
              <a:rPr lang="en-US" sz="2800" dirty="0"/>
              <a:t>if we reduce </a:t>
            </a:r>
            <a:r>
              <a:rPr lang="en-US" sz="2800"/>
              <a:t>the amount of labor available </a:t>
            </a:r>
            <a:r>
              <a:rPr lang="en-US" sz="2800" dirty="0"/>
              <a:t>to 1520 </a:t>
            </a:r>
            <a:r>
              <a:rPr lang="en-US" sz="2800"/>
              <a:t>hours and the amount </a:t>
            </a:r>
            <a:r>
              <a:rPr lang="en-US" sz="2800" dirty="0"/>
              <a:t>of tubing to 2650 feet?</a:t>
            </a:r>
          </a:p>
          <a:p>
            <a:pPr algn="ctr">
              <a:buFont typeface="Wingdings" pitchFamily="2" charset="2"/>
              <a:buNone/>
            </a:pPr>
            <a:r>
              <a:rPr lang="en-US" sz="2800" dirty="0"/>
              <a:t>See file </a:t>
            </a:r>
            <a:r>
              <a:rPr lang="en-US" sz="2800" dirty="0">
                <a:hlinkClick r:id="rId3" action="ppaction://hlinkfile"/>
              </a:rPr>
              <a:t>Fig6-2.xlsm</a:t>
            </a:r>
            <a:endParaRPr lang="en-US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41350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Bounds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0675" y="1116013"/>
            <a:ext cx="8570913" cy="4979987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120000"/>
              </a:lnSpc>
            </a:pPr>
            <a:r>
              <a:rPr lang="en-US" sz="2800"/>
              <a:t>The optimal </a:t>
            </a:r>
            <a:r>
              <a:rPr lang="en-US" sz="2800" dirty="0"/>
              <a:t>solution </a:t>
            </a:r>
            <a:r>
              <a:rPr lang="en-US" sz="2800"/>
              <a:t>to an LP relaxation of an </a:t>
            </a:r>
            <a:r>
              <a:rPr lang="en-US" sz="2800" dirty="0"/>
              <a:t>ILP problem gives </a:t>
            </a:r>
            <a:r>
              <a:rPr lang="en-US" sz="2800"/>
              <a:t>us a </a:t>
            </a:r>
            <a:r>
              <a:rPr lang="en-US" sz="2800" i="1" dirty="0">
                <a:solidFill>
                  <a:schemeClr val="tx2"/>
                </a:solidFill>
              </a:rPr>
              <a:t>bound</a:t>
            </a:r>
            <a:r>
              <a:rPr lang="en-US" sz="2800" dirty="0"/>
              <a:t> on </a:t>
            </a:r>
            <a:r>
              <a:rPr lang="en-US" sz="2800"/>
              <a:t>the optimal </a:t>
            </a:r>
            <a:r>
              <a:rPr lang="en-US" sz="2800" dirty="0"/>
              <a:t>objective </a:t>
            </a:r>
            <a:r>
              <a:rPr lang="en-US" sz="2800"/>
              <a:t>function value</a:t>
            </a:r>
            <a:r>
              <a:rPr lang="en-US" sz="2800" dirty="0"/>
              <a:t>.</a:t>
            </a:r>
          </a:p>
          <a:p>
            <a:pPr>
              <a:lnSpc>
                <a:spcPct val="120000"/>
              </a:lnSpc>
            </a:pPr>
            <a:r>
              <a:rPr lang="en-US" sz="2800"/>
              <a:t>For </a:t>
            </a:r>
            <a:r>
              <a:rPr lang="en-US" sz="2800">
                <a:solidFill>
                  <a:srgbClr val="FFFF00"/>
                </a:solidFill>
              </a:rPr>
              <a:t>maximization</a:t>
            </a:r>
            <a:r>
              <a:rPr lang="en-US" sz="2800"/>
              <a:t> </a:t>
            </a:r>
            <a:r>
              <a:rPr lang="en-US" sz="2800" dirty="0"/>
              <a:t>problems, </a:t>
            </a:r>
            <a:r>
              <a:rPr lang="en-US" sz="2800"/>
              <a:t>the optimal relaxed </a:t>
            </a:r>
            <a:r>
              <a:rPr lang="en-US" sz="2800" dirty="0"/>
              <a:t>objective </a:t>
            </a:r>
            <a:r>
              <a:rPr lang="en-US" sz="2800"/>
              <a:t>function values is an </a:t>
            </a:r>
            <a:r>
              <a:rPr lang="en-US" sz="2800" i="1" u="sng" dirty="0">
                <a:solidFill>
                  <a:srgbClr val="FFFF00"/>
                </a:solidFill>
              </a:rPr>
              <a:t>upper bound</a:t>
            </a:r>
            <a:r>
              <a:rPr lang="en-US" sz="2800" dirty="0"/>
              <a:t> on </a:t>
            </a:r>
            <a:r>
              <a:rPr lang="en-US" sz="2800"/>
              <a:t>the optimal integer value</a:t>
            </a:r>
            <a:r>
              <a:rPr lang="en-US" sz="2800" dirty="0"/>
              <a:t>.</a:t>
            </a:r>
          </a:p>
          <a:p>
            <a:pPr>
              <a:lnSpc>
                <a:spcPct val="120000"/>
              </a:lnSpc>
            </a:pPr>
            <a:r>
              <a:rPr lang="en-US" sz="2800"/>
              <a:t>For </a:t>
            </a:r>
            <a:r>
              <a:rPr lang="en-US" sz="2800">
                <a:solidFill>
                  <a:srgbClr val="FFFF00"/>
                </a:solidFill>
              </a:rPr>
              <a:t>minimization</a:t>
            </a:r>
            <a:r>
              <a:rPr lang="en-US" sz="2800"/>
              <a:t> </a:t>
            </a:r>
            <a:r>
              <a:rPr lang="en-US" sz="2800" dirty="0"/>
              <a:t>problems, </a:t>
            </a:r>
            <a:r>
              <a:rPr lang="en-US" sz="2800"/>
              <a:t>the optimal relaxed </a:t>
            </a:r>
            <a:r>
              <a:rPr lang="en-US" sz="2800" dirty="0"/>
              <a:t>objective </a:t>
            </a:r>
            <a:r>
              <a:rPr lang="en-US" sz="2800"/>
              <a:t>function values is a </a:t>
            </a:r>
            <a:r>
              <a:rPr lang="en-US" sz="2800" i="1" u="sng" dirty="0">
                <a:solidFill>
                  <a:srgbClr val="FFFF00"/>
                </a:solidFill>
              </a:rPr>
              <a:t>lower bound</a:t>
            </a:r>
            <a:r>
              <a:rPr lang="en-US" sz="2800" dirty="0"/>
              <a:t> on </a:t>
            </a:r>
            <a:r>
              <a:rPr lang="en-US" sz="2800"/>
              <a:t>the optimal integer value</a:t>
            </a:r>
            <a:r>
              <a:rPr lang="en-US" sz="2800" dirty="0"/>
              <a:t>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3887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Rounding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8338" y="1068388"/>
            <a:ext cx="7772400" cy="3414712"/>
          </a:xfrm>
          <a:noFill/>
          <a:ln/>
        </p:spPr>
        <p:txBody>
          <a:bodyPr lIns="92075" tIns="46038" rIns="92075" bIns="46038"/>
          <a:lstStyle/>
          <a:p>
            <a:r>
              <a:rPr lang="en-US" dirty="0"/>
              <a:t>It is tempting to simply </a:t>
            </a:r>
            <a:r>
              <a:rPr lang="en-US"/>
              <a:t>round a fractional </a:t>
            </a:r>
            <a:r>
              <a:rPr lang="en-US" dirty="0"/>
              <a:t>solution to the closest integer solution.</a:t>
            </a:r>
          </a:p>
          <a:p>
            <a:r>
              <a:rPr lang="en-US"/>
              <a:t>In general</a:t>
            </a:r>
            <a:r>
              <a:rPr lang="en-US" dirty="0"/>
              <a:t>, this does not </a:t>
            </a:r>
            <a:r>
              <a:rPr lang="en-US"/>
              <a:t>work reliably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The rounded </a:t>
            </a:r>
            <a:r>
              <a:rPr lang="en-US"/>
              <a:t>solution may be infeasible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rounded </a:t>
            </a:r>
            <a:r>
              <a:rPr lang="en-US"/>
              <a:t>solution may be suboptimal</a:t>
            </a:r>
            <a:r>
              <a:rPr lang="en-US" dirty="0"/>
              <a:t>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873125" y="633413"/>
            <a:ext cx="7772400" cy="684212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80000"/>
              </a:lnSpc>
            </a:pPr>
            <a:r>
              <a:rPr lang="en-US" sz="4000" i="1" dirty="0">
                <a:solidFill>
                  <a:schemeClr val="hlink"/>
                </a:solidFill>
              </a:rPr>
              <a:t>How Rounding </a:t>
            </a:r>
            <a:r>
              <a:rPr lang="en-US" sz="4000" i="1">
                <a:solidFill>
                  <a:schemeClr val="hlink"/>
                </a:solidFill>
              </a:rPr>
              <a:t>Down Can </a:t>
            </a:r>
            <a:r>
              <a:rPr lang="en-US" sz="4000" i="1" dirty="0">
                <a:solidFill>
                  <a:schemeClr val="hlink"/>
                </a:solidFill>
              </a:rPr>
              <a:t>Result </a:t>
            </a:r>
            <a:br>
              <a:rPr lang="en-US" sz="4000" i="1" dirty="0">
                <a:solidFill>
                  <a:schemeClr val="hlink"/>
                </a:solidFill>
              </a:rPr>
            </a:br>
            <a:r>
              <a:rPr lang="en-US" sz="4000" i="1">
                <a:solidFill>
                  <a:schemeClr val="hlink"/>
                </a:solidFill>
              </a:rPr>
              <a:t>in an Infeasible </a:t>
            </a:r>
            <a:r>
              <a:rPr lang="en-US" sz="4000" i="1" dirty="0">
                <a:solidFill>
                  <a:schemeClr val="hlink"/>
                </a:solidFill>
              </a:rPr>
              <a:t>Solution</a:t>
            </a:r>
          </a:p>
        </p:txBody>
      </p:sp>
      <p:grpSp>
        <p:nvGrpSpPr>
          <p:cNvPr id="14369" name="Group 33"/>
          <p:cNvGrpSpPr>
            <a:grpSpLocks/>
          </p:cNvGrpSpPr>
          <p:nvPr/>
        </p:nvGrpSpPr>
        <p:grpSpPr bwMode="auto">
          <a:xfrm>
            <a:off x="1697038" y="1346200"/>
            <a:ext cx="6497637" cy="5016500"/>
            <a:chOff x="1069" y="755"/>
            <a:chExt cx="4093" cy="3160"/>
          </a:xfrm>
        </p:grpSpPr>
        <p:sp>
          <p:nvSpPr>
            <p:cNvPr id="14339" name="Freeform 3" descr="70%"/>
            <p:cNvSpPr>
              <a:spLocks/>
            </p:cNvSpPr>
            <p:nvPr/>
          </p:nvSpPr>
          <p:spPr bwMode="auto">
            <a:xfrm>
              <a:off x="1421" y="2595"/>
              <a:ext cx="2107" cy="1022"/>
            </a:xfrm>
            <a:custGeom>
              <a:avLst/>
              <a:gdLst>
                <a:gd name="T0" fmla="*/ 1276 w 2107"/>
                <a:gd name="T1" fmla="*/ 0 h 1022"/>
                <a:gd name="T2" fmla="*/ 2106 w 2107"/>
                <a:gd name="T3" fmla="*/ 1021 h 1022"/>
                <a:gd name="T4" fmla="*/ 0 w 2107"/>
                <a:gd name="T5" fmla="*/ 1021 h 1022"/>
                <a:gd name="T6" fmla="*/ 1276 w 2107"/>
                <a:gd name="T7" fmla="*/ 0 h 1022"/>
                <a:gd name="T8" fmla="*/ 1276 w 2107"/>
                <a:gd name="T9" fmla="*/ 0 h 10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7" h="1022">
                  <a:moveTo>
                    <a:pt x="1276" y="0"/>
                  </a:moveTo>
                  <a:lnTo>
                    <a:pt x="2106" y="1021"/>
                  </a:lnTo>
                  <a:lnTo>
                    <a:pt x="0" y="1021"/>
                  </a:lnTo>
                  <a:lnTo>
                    <a:pt x="1276" y="0"/>
                  </a:lnTo>
                  <a:lnTo>
                    <a:pt x="1276" y="0"/>
                  </a:lnTo>
                </a:path>
              </a:pathLst>
            </a:custGeom>
            <a:pattFill prst="pct70">
              <a:fgClr>
                <a:srgbClr val="3399FF"/>
              </a:fgClr>
              <a:bgClr>
                <a:schemeClr val="bg1"/>
              </a:bgClr>
            </a:pattFill>
            <a:ln w="254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0" name="Freeform 4"/>
            <p:cNvSpPr>
              <a:spLocks/>
            </p:cNvSpPr>
            <p:nvPr/>
          </p:nvSpPr>
          <p:spPr bwMode="auto">
            <a:xfrm>
              <a:off x="1421" y="2595"/>
              <a:ext cx="2107" cy="1022"/>
            </a:xfrm>
            <a:custGeom>
              <a:avLst/>
              <a:gdLst>
                <a:gd name="T0" fmla="*/ 1276 w 2107"/>
                <a:gd name="T1" fmla="*/ 0 h 1022"/>
                <a:gd name="T2" fmla="*/ 2106 w 2107"/>
                <a:gd name="T3" fmla="*/ 1021 h 1022"/>
                <a:gd name="T4" fmla="*/ 0 w 2107"/>
                <a:gd name="T5" fmla="*/ 1021 h 1022"/>
                <a:gd name="T6" fmla="*/ 1276 w 2107"/>
                <a:gd name="T7" fmla="*/ 0 h 1022"/>
                <a:gd name="T8" fmla="*/ 1276 w 2107"/>
                <a:gd name="T9" fmla="*/ 0 h 10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7" h="1022">
                  <a:moveTo>
                    <a:pt x="1276" y="0"/>
                  </a:moveTo>
                  <a:lnTo>
                    <a:pt x="2106" y="1021"/>
                  </a:lnTo>
                  <a:lnTo>
                    <a:pt x="0" y="1021"/>
                  </a:lnTo>
                  <a:lnTo>
                    <a:pt x="1276" y="0"/>
                  </a:lnTo>
                  <a:lnTo>
                    <a:pt x="1276" y="0"/>
                  </a:lnTo>
                </a:path>
              </a:pathLst>
            </a:custGeom>
            <a:noFill/>
            <a:ln w="127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1" name="Line 5"/>
            <p:cNvSpPr>
              <a:spLocks noChangeShapeType="1"/>
            </p:cNvSpPr>
            <p:nvPr/>
          </p:nvSpPr>
          <p:spPr bwMode="auto">
            <a:xfrm flipH="1">
              <a:off x="2153" y="2596"/>
              <a:ext cx="1105" cy="30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42" name="Freeform 6"/>
            <p:cNvSpPr>
              <a:spLocks/>
            </p:cNvSpPr>
            <p:nvPr/>
          </p:nvSpPr>
          <p:spPr bwMode="auto">
            <a:xfrm>
              <a:off x="2159" y="2887"/>
              <a:ext cx="27" cy="23"/>
            </a:xfrm>
            <a:custGeom>
              <a:avLst/>
              <a:gdLst>
                <a:gd name="T0" fmla="*/ 26 w 27"/>
                <a:gd name="T1" fmla="*/ 22 h 23"/>
                <a:gd name="T2" fmla="*/ 0 w 27"/>
                <a:gd name="T3" fmla="*/ 17 h 23"/>
                <a:gd name="T4" fmla="*/ 20 w 27"/>
                <a:gd name="T5" fmla="*/ 0 h 23"/>
                <a:gd name="T6" fmla="*/ 26 w 27"/>
                <a:gd name="T7" fmla="*/ 2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23">
                  <a:moveTo>
                    <a:pt x="26" y="22"/>
                  </a:moveTo>
                  <a:lnTo>
                    <a:pt x="0" y="17"/>
                  </a:lnTo>
                  <a:lnTo>
                    <a:pt x="20" y="0"/>
                  </a:lnTo>
                  <a:lnTo>
                    <a:pt x="26" y="22"/>
                  </a:lnTo>
                </a:path>
              </a:pathLst>
            </a:custGeom>
            <a:noFill/>
            <a:ln w="127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3" name="Freeform 7"/>
            <p:cNvSpPr>
              <a:spLocks/>
            </p:cNvSpPr>
            <p:nvPr/>
          </p:nvSpPr>
          <p:spPr bwMode="auto">
            <a:xfrm>
              <a:off x="2809" y="2900"/>
              <a:ext cx="29" cy="30"/>
            </a:xfrm>
            <a:custGeom>
              <a:avLst/>
              <a:gdLst>
                <a:gd name="T0" fmla="*/ 28 w 29"/>
                <a:gd name="T1" fmla="*/ 15 h 30"/>
                <a:gd name="T2" fmla="*/ 28 w 29"/>
                <a:gd name="T3" fmla="*/ 14 h 30"/>
                <a:gd name="T4" fmla="*/ 28 w 29"/>
                <a:gd name="T5" fmla="*/ 12 h 30"/>
                <a:gd name="T6" fmla="*/ 27 w 29"/>
                <a:gd name="T7" fmla="*/ 10 h 30"/>
                <a:gd name="T8" fmla="*/ 27 w 29"/>
                <a:gd name="T9" fmla="*/ 9 h 30"/>
                <a:gd name="T10" fmla="*/ 26 w 29"/>
                <a:gd name="T11" fmla="*/ 6 h 30"/>
                <a:gd name="T12" fmla="*/ 25 w 29"/>
                <a:gd name="T13" fmla="*/ 5 h 30"/>
                <a:gd name="T14" fmla="*/ 23 w 29"/>
                <a:gd name="T15" fmla="*/ 4 h 30"/>
                <a:gd name="T16" fmla="*/ 22 w 29"/>
                <a:gd name="T17" fmla="*/ 3 h 30"/>
                <a:gd name="T18" fmla="*/ 20 w 29"/>
                <a:gd name="T19" fmla="*/ 2 h 30"/>
                <a:gd name="T20" fmla="*/ 18 w 29"/>
                <a:gd name="T21" fmla="*/ 1 h 30"/>
                <a:gd name="T22" fmla="*/ 16 w 29"/>
                <a:gd name="T23" fmla="*/ 1 h 30"/>
                <a:gd name="T24" fmla="*/ 14 w 29"/>
                <a:gd name="T25" fmla="*/ 0 h 30"/>
                <a:gd name="T26" fmla="*/ 13 w 29"/>
                <a:gd name="T27" fmla="*/ 1 h 30"/>
                <a:gd name="T28" fmla="*/ 11 w 29"/>
                <a:gd name="T29" fmla="*/ 1 h 30"/>
                <a:gd name="T30" fmla="*/ 9 w 29"/>
                <a:gd name="T31" fmla="*/ 2 h 30"/>
                <a:gd name="T32" fmla="*/ 8 w 29"/>
                <a:gd name="T33" fmla="*/ 3 h 30"/>
                <a:gd name="T34" fmla="*/ 6 w 29"/>
                <a:gd name="T35" fmla="*/ 4 h 30"/>
                <a:gd name="T36" fmla="*/ 5 w 29"/>
                <a:gd name="T37" fmla="*/ 5 h 30"/>
                <a:gd name="T38" fmla="*/ 4 w 29"/>
                <a:gd name="T39" fmla="*/ 6 h 30"/>
                <a:gd name="T40" fmla="*/ 3 w 29"/>
                <a:gd name="T41" fmla="*/ 9 h 30"/>
                <a:gd name="T42" fmla="*/ 2 w 29"/>
                <a:gd name="T43" fmla="*/ 10 h 30"/>
                <a:gd name="T44" fmla="*/ 1 w 29"/>
                <a:gd name="T45" fmla="*/ 12 h 30"/>
                <a:gd name="T46" fmla="*/ 1 w 29"/>
                <a:gd name="T47" fmla="*/ 14 h 30"/>
                <a:gd name="T48" fmla="*/ 0 w 29"/>
                <a:gd name="T49" fmla="*/ 15 h 30"/>
                <a:gd name="T50" fmla="*/ 1 w 29"/>
                <a:gd name="T51" fmla="*/ 17 h 30"/>
                <a:gd name="T52" fmla="*/ 1 w 29"/>
                <a:gd name="T53" fmla="*/ 19 h 30"/>
                <a:gd name="T54" fmla="*/ 2 w 29"/>
                <a:gd name="T55" fmla="*/ 21 h 30"/>
                <a:gd name="T56" fmla="*/ 3 w 29"/>
                <a:gd name="T57" fmla="*/ 23 h 30"/>
                <a:gd name="T58" fmla="*/ 4 w 29"/>
                <a:gd name="T59" fmla="*/ 24 h 30"/>
                <a:gd name="T60" fmla="*/ 5 w 29"/>
                <a:gd name="T61" fmla="*/ 26 h 30"/>
                <a:gd name="T62" fmla="*/ 6 w 29"/>
                <a:gd name="T63" fmla="*/ 27 h 30"/>
                <a:gd name="T64" fmla="*/ 8 w 29"/>
                <a:gd name="T65" fmla="*/ 28 h 30"/>
                <a:gd name="T66" fmla="*/ 9 w 29"/>
                <a:gd name="T67" fmla="*/ 28 h 30"/>
                <a:gd name="T68" fmla="*/ 11 w 29"/>
                <a:gd name="T69" fmla="*/ 29 h 30"/>
                <a:gd name="T70" fmla="*/ 13 w 29"/>
                <a:gd name="T71" fmla="*/ 29 h 30"/>
                <a:gd name="T72" fmla="*/ 14 w 29"/>
                <a:gd name="T73" fmla="*/ 29 h 30"/>
                <a:gd name="T74" fmla="*/ 16 w 29"/>
                <a:gd name="T75" fmla="*/ 29 h 30"/>
                <a:gd name="T76" fmla="*/ 18 w 29"/>
                <a:gd name="T77" fmla="*/ 29 h 30"/>
                <a:gd name="T78" fmla="*/ 20 w 29"/>
                <a:gd name="T79" fmla="*/ 28 h 30"/>
                <a:gd name="T80" fmla="*/ 22 w 29"/>
                <a:gd name="T81" fmla="*/ 28 h 30"/>
                <a:gd name="T82" fmla="*/ 23 w 29"/>
                <a:gd name="T83" fmla="*/ 27 h 30"/>
                <a:gd name="T84" fmla="*/ 25 w 29"/>
                <a:gd name="T85" fmla="*/ 26 h 30"/>
                <a:gd name="T86" fmla="*/ 26 w 29"/>
                <a:gd name="T87" fmla="*/ 24 h 30"/>
                <a:gd name="T88" fmla="*/ 27 w 29"/>
                <a:gd name="T89" fmla="*/ 23 h 30"/>
                <a:gd name="T90" fmla="*/ 27 w 29"/>
                <a:gd name="T91" fmla="*/ 21 h 30"/>
                <a:gd name="T92" fmla="*/ 28 w 29"/>
                <a:gd name="T93" fmla="*/ 19 h 30"/>
                <a:gd name="T94" fmla="*/ 28 w 29"/>
                <a:gd name="T95" fmla="*/ 17 h 30"/>
                <a:gd name="T96" fmla="*/ 28 w 29"/>
                <a:gd name="T97" fmla="*/ 15 h 30"/>
                <a:gd name="T98" fmla="*/ 28 w 29"/>
                <a:gd name="T99" fmla="*/ 1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9" h="30">
                  <a:moveTo>
                    <a:pt x="28" y="15"/>
                  </a:moveTo>
                  <a:lnTo>
                    <a:pt x="28" y="14"/>
                  </a:lnTo>
                  <a:lnTo>
                    <a:pt x="28" y="12"/>
                  </a:lnTo>
                  <a:lnTo>
                    <a:pt x="27" y="10"/>
                  </a:lnTo>
                  <a:lnTo>
                    <a:pt x="27" y="9"/>
                  </a:lnTo>
                  <a:lnTo>
                    <a:pt x="26" y="6"/>
                  </a:lnTo>
                  <a:lnTo>
                    <a:pt x="25" y="5"/>
                  </a:lnTo>
                  <a:lnTo>
                    <a:pt x="23" y="4"/>
                  </a:lnTo>
                  <a:lnTo>
                    <a:pt x="22" y="3"/>
                  </a:lnTo>
                  <a:lnTo>
                    <a:pt x="20" y="2"/>
                  </a:lnTo>
                  <a:lnTo>
                    <a:pt x="18" y="1"/>
                  </a:lnTo>
                  <a:lnTo>
                    <a:pt x="16" y="1"/>
                  </a:lnTo>
                  <a:lnTo>
                    <a:pt x="14" y="0"/>
                  </a:lnTo>
                  <a:lnTo>
                    <a:pt x="13" y="1"/>
                  </a:lnTo>
                  <a:lnTo>
                    <a:pt x="11" y="1"/>
                  </a:lnTo>
                  <a:lnTo>
                    <a:pt x="9" y="2"/>
                  </a:lnTo>
                  <a:lnTo>
                    <a:pt x="8" y="3"/>
                  </a:lnTo>
                  <a:lnTo>
                    <a:pt x="6" y="4"/>
                  </a:lnTo>
                  <a:lnTo>
                    <a:pt x="5" y="5"/>
                  </a:lnTo>
                  <a:lnTo>
                    <a:pt x="4" y="6"/>
                  </a:lnTo>
                  <a:lnTo>
                    <a:pt x="3" y="9"/>
                  </a:lnTo>
                  <a:lnTo>
                    <a:pt x="2" y="10"/>
                  </a:lnTo>
                  <a:lnTo>
                    <a:pt x="1" y="12"/>
                  </a:lnTo>
                  <a:lnTo>
                    <a:pt x="1" y="14"/>
                  </a:lnTo>
                  <a:lnTo>
                    <a:pt x="0" y="15"/>
                  </a:lnTo>
                  <a:lnTo>
                    <a:pt x="1" y="17"/>
                  </a:lnTo>
                  <a:lnTo>
                    <a:pt x="1" y="19"/>
                  </a:lnTo>
                  <a:lnTo>
                    <a:pt x="2" y="21"/>
                  </a:lnTo>
                  <a:lnTo>
                    <a:pt x="3" y="23"/>
                  </a:lnTo>
                  <a:lnTo>
                    <a:pt x="4" y="24"/>
                  </a:lnTo>
                  <a:lnTo>
                    <a:pt x="5" y="26"/>
                  </a:lnTo>
                  <a:lnTo>
                    <a:pt x="6" y="27"/>
                  </a:lnTo>
                  <a:lnTo>
                    <a:pt x="8" y="28"/>
                  </a:lnTo>
                  <a:lnTo>
                    <a:pt x="9" y="28"/>
                  </a:lnTo>
                  <a:lnTo>
                    <a:pt x="11" y="29"/>
                  </a:lnTo>
                  <a:lnTo>
                    <a:pt x="13" y="29"/>
                  </a:lnTo>
                  <a:lnTo>
                    <a:pt x="14" y="29"/>
                  </a:lnTo>
                  <a:lnTo>
                    <a:pt x="16" y="29"/>
                  </a:lnTo>
                  <a:lnTo>
                    <a:pt x="18" y="29"/>
                  </a:lnTo>
                  <a:lnTo>
                    <a:pt x="20" y="28"/>
                  </a:lnTo>
                  <a:lnTo>
                    <a:pt x="22" y="28"/>
                  </a:lnTo>
                  <a:lnTo>
                    <a:pt x="23" y="27"/>
                  </a:lnTo>
                  <a:lnTo>
                    <a:pt x="25" y="26"/>
                  </a:lnTo>
                  <a:lnTo>
                    <a:pt x="26" y="24"/>
                  </a:lnTo>
                  <a:lnTo>
                    <a:pt x="27" y="23"/>
                  </a:lnTo>
                  <a:lnTo>
                    <a:pt x="27" y="21"/>
                  </a:lnTo>
                  <a:lnTo>
                    <a:pt x="28" y="19"/>
                  </a:lnTo>
                  <a:lnTo>
                    <a:pt x="28" y="17"/>
                  </a:lnTo>
                  <a:lnTo>
                    <a:pt x="28" y="15"/>
                  </a:lnTo>
                  <a:lnTo>
                    <a:pt x="28" y="1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4" name="Freeform 8"/>
            <p:cNvSpPr>
              <a:spLocks/>
            </p:cNvSpPr>
            <p:nvPr/>
          </p:nvSpPr>
          <p:spPr bwMode="auto">
            <a:xfrm>
              <a:off x="2809" y="2900"/>
              <a:ext cx="29" cy="30"/>
            </a:xfrm>
            <a:custGeom>
              <a:avLst/>
              <a:gdLst>
                <a:gd name="T0" fmla="*/ 28 w 29"/>
                <a:gd name="T1" fmla="*/ 15 h 30"/>
                <a:gd name="T2" fmla="*/ 28 w 29"/>
                <a:gd name="T3" fmla="*/ 14 h 30"/>
                <a:gd name="T4" fmla="*/ 28 w 29"/>
                <a:gd name="T5" fmla="*/ 12 h 30"/>
                <a:gd name="T6" fmla="*/ 27 w 29"/>
                <a:gd name="T7" fmla="*/ 10 h 30"/>
                <a:gd name="T8" fmla="*/ 27 w 29"/>
                <a:gd name="T9" fmla="*/ 9 h 30"/>
                <a:gd name="T10" fmla="*/ 26 w 29"/>
                <a:gd name="T11" fmla="*/ 6 h 30"/>
                <a:gd name="T12" fmla="*/ 25 w 29"/>
                <a:gd name="T13" fmla="*/ 5 h 30"/>
                <a:gd name="T14" fmla="*/ 23 w 29"/>
                <a:gd name="T15" fmla="*/ 4 h 30"/>
                <a:gd name="T16" fmla="*/ 22 w 29"/>
                <a:gd name="T17" fmla="*/ 3 h 30"/>
                <a:gd name="T18" fmla="*/ 20 w 29"/>
                <a:gd name="T19" fmla="*/ 2 h 30"/>
                <a:gd name="T20" fmla="*/ 18 w 29"/>
                <a:gd name="T21" fmla="*/ 1 h 30"/>
                <a:gd name="T22" fmla="*/ 16 w 29"/>
                <a:gd name="T23" fmla="*/ 1 h 30"/>
                <a:gd name="T24" fmla="*/ 14 w 29"/>
                <a:gd name="T25" fmla="*/ 0 h 30"/>
                <a:gd name="T26" fmla="*/ 13 w 29"/>
                <a:gd name="T27" fmla="*/ 1 h 30"/>
                <a:gd name="T28" fmla="*/ 11 w 29"/>
                <a:gd name="T29" fmla="*/ 1 h 30"/>
                <a:gd name="T30" fmla="*/ 9 w 29"/>
                <a:gd name="T31" fmla="*/ 2 h 30"/>
                <a:gd name="T32" fmla="*/ 8 w 29"/>
                <a:gd name="T33" fmla="*/ 3 h 30"/>
                <a:gd name="T34" fmla="*/ 6 w 29"/>
                <a:gd name="T35" fmla="*/ 4 h 30"/>
                <a:gd name="T36" fmla="*/ 5 w 29"/>
                <a:gd name="T37" fmla="*/ 5 h 30"/>
                <a:gd name="T38" fmla="*/ 4 w 29"/>
                <a:gd name="T39" fmla="*/ 6 h 30"/>
                <a:gd name="T40" fmla="*/ 3 w 29"/>
                <a:gd name="T41" fmla="*/ 9 h 30"/>
                <a:gd name="T42" fmla="*/ 2 w 29"/>
                <a:gd name="T43" fmla="*/ 10 h 30"/>
                <a:gd name="T44" fmla="*/ 1 w 29"/>
                <a:gd name="T45" fmla="*/ 12 h 30"/>
                <a:gd name="T46" fmla="*/ 1 w 29"/>
                <a:gd name="T47" fmla="*/ 14 h 30"/>
                <a:gd name="T48" fmla="*/ 0 w 29"/>
                <a:gd name="T49" fmla="*/ 15 h 30"/>
                <a:gd name="T50" fmla="*/ 1 w 29"/>
                <a:gd name="T51" fmla="*/ 17 h 30"/>
                <a:gd name="T52" fmla="*/ 1 w 29"/>
                <a:gd name="T53" fmla="*/ 19 h 30"/>
                <a:gd name="T54" fmla="*/ 2 w 29"/>
                <a:gd name="T55" fmla="*/ 21 h 30"/>
                <a:gd name="T56" fmla="*/ 3 w 29"/>
                <a:gd name="T57" fmla="*/ 23 h 30"/>
                <a:gd name="T58" fmla="*/ 4 w 29"/>
                <a:gd name="T59" fmla="*/ 24 h 30"/>
                <a:gd name="T60" fmla="*/ 5 w 29"/>
                <a:gd name="T61" fmla="*/ 26 h 30"/>
                <a:gd name="T62" fmla="*/ 6 w 29"/>
                <a:gd name="T63" fmla="*/ 27 h 30"/>
                <a:gd name="T64" fmla="*/ 8 w 29"/>
                <a:gd name="T65" fmla="*/ 28 h 30"/>
                <a:gd name="T66" fmla="*/ 9 w 29"/>
                <a:gd name="T67" fmla="*/ 28 h 30"/>
                <a:gd name="T68" fmla="*/ 11 w 29"/>
                <a:gd name="T69" fmla="*/ 29 h 30"/>
                <a:gd name="T70" fmla="*/ 13 w 29"/>
                <a:gd name="T71" fmla="*/ 29 h 30"/>
                <a:gd name="T72" fmla="*/ 14 w 29"/>
                <a:gd name="T73" fmla="*/ 29 h 30"/>
                <a:gd name="T74" fmla="*/ 16 w 29"/>
                <a:gd name="T75" fmla="*/ 29 h 30"/>
                <a:gd name="T76" fmla="*/ 18 w 29"/>
                <a:gd name="T77" fmla="*/ 29 h 30"/>
                <a:gd name="T78" fmla="*/ 20 w 29"/>
                <a:gd name="T79" fmla="*/ 28 h 30"/>
                <a:gd name="T80" fmla="*/ 22 w 29"/>
                <a:gd name="T81" fmla="*/ 28 h 30"/>
                <a:gd name="T82" fmla="*/ 23 w 29"/>
                <a:gd name="T83" fmla="*/ 27 h 30"/>
                <a:gd name="T84" fmla="*/ 25 w 29"/>
                <a:gd name="T85" fmla="*/ 26 h 30"/>
                <a:gd name="T86" fmla="*/ 26 w 29"/>
                <a:gd name="T87" fmla="*/ 24 h 30"/>
                <a:gd name="T88" fmla="*/ 27 w 29"/>
                <a:gd name="T89" fmla="*/ 23 h 30"/>
                <a:gd name="T90" fmla="*/ 27 w 29"/>
                <a:gd name="T91" fmla="*/ 21 h 30"/>
                <a:gd name="T92" fmla="*/ 28 w 29"/>
                <a:gd name="T93" fmla="*/ 19 h 30"/>
                <a:gd name="T94" fmla="*/ 28 w 29"/>
                <a:gd name="T95" fmla="*/ 17 h 30"/>
                <a:gd name="T96" fmla="*/ 28 w 29"/>
                <a:gd name="T97" fmla="*/ 15 h 30"/>
                <a:gd name="T98" fmla="*/ 28 w 29"/>
                <a:gd name="T99" fmla="*/ 1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9" h="30">
                  <a:moveTo>
                    <a:pt x="28" y="15"/>
                  </a:moveTo>
                  <a:lnTo>
                    <a:pt x="28" y="14"/>
                  </a:lnTo>
                  <a:lnTo>
                    <a:pt x="28" y="12"/>
                  </a:lnTo>
                  <a:lnTo>
                    <a:pt x="27" y="10"/>
                  </a:lnTo>
                  <a:lnTo>
                    <a:pt x="27" y="9"/>
                  </a:lnTo>
                  <a:lnTo>
                    <a:pt x="26" y="6"/>
                  </a:lnTo>
                  <a:lnTo>
                    <a:pt x="25" y="5"/>
                  </a:lnTo>
                  <a:lnTo>
                    <a:pt x="23" y="4"/>
                  </a:lnTo>
                  <a:lnTo>
                    <a:pt x="22" y="3"/>
                  </a:lnTo>
                  <a:lnTo>
                    <a:pt x="20" y="2"/>
                  </a:lnTo>
                  <a:lnTo>
                    <a:pt x="18" y="1"/>
                  </a:lnTo>
                  <a:lnTo>
                    <a:pt x="16" y="1"/>
                  </a:lnTo>
                  <a:lnTo>
                    <a:pt x="14" y="0"/>
                  </a:lnTo>
                  <a:lnTo>
                    <a:pt x="13" y="1"/>
                  </a:lnTo>
                  <a:lnTo>
                    <a:pt x="11" y="1"/>
                  </a:lnTo>
                  <a:lnTo>
                    <a:pt x="9" y="2"/>
                  </a:lnTo>
                  <a:lnTo>
                    <a:pt x="8" y="3"/>
                  </a:lnTo>
                  <a:lnTo>
                    <a:pt x="6" y="4"/>
                  </a:lnTo>
                  <a:lnTo>
                    <a:pt x="5" y="5"/>
                  </a:lnTo>
                  <a:lnTo>
                    <a:pt x="4" y="6"/>
                  </a:lnTo>
                  <a:lnTo>
                    <a:pt x="3" y="9"/>
                  </a:lnTo>
                  <a:lnTo>
                    <a:pt x="2" y="10"/>
                  </a:lnTo>
                  <a:lnTo>
                    <a:pt x="1" y="12"/>
                  </a:lnTo>
                  <a:lnTo>
                    <a:pt x="1" y="14"/>
                  </a:lnTo>
                  <a:lnTo>
                    <a:pt x="0" y="15"/>
                  </a:lnTo>
                  <a:lnTo>
                    <a:pt x="1" y="17"/>
                  </a:lnTo>
                  <a:lnTo>
                    <a:pt x="1" y="19"/>
                  </a:lnTo>
                  <a:lnTo>
                    <a:pt x="2" y="21"/>
                  </a:lnTo>
                  <a:lnTo>
                    <a:pt x="3" y="23"/>
                  </a:lnTo>
                  <a:lnTo>
                    <a:pt x="4" y="24"/>
                  </a:lnTo>
                  <a:lnTo>
                    <a:pt x="5" y="26"/>
                  </a:lnTo>
                  <a:lnTo>
                    <a:pt x="6" y="27"/>
                  </a:lnTo>
                  <a:lnTo>
                    <a:pt x="8" y="28"/>
                  </a:lnTo>
                  <a:lnTo>
                    <a:pt x="9" y="28"/>
                  </a:lnTo>
                  <a:lnTo>
                    <a:pt x="11" y="29"/>
                  </a:lnTo>
                  <a:lnTo>
                    <a:pt x="13" y="29"/>
                  </a:lnTo>
                  <a:lnTo>
                    <a:pt x="14" y="29"/>
                  </a:lnTo>
                  <a:lnTo>
                    <a:pt x="16" y="29"/>
                  </a:lnTo>
                  <a:lnTo>
                    <a:pt x="18" y="29"/>
                  </a:lnTo>
                  <a:lnTo>
                    <a:pt x="20" y="28"/>
                  </a:lnTo>
                  <a:lnTo>
                    <a:pt x="22" y="28"/>
                  </a:lnTo>
                  <a:lnTo>
                    <a:pt x="23" y="27"/>
                  </a:lnTo>
                  <a:lnTo>
                    <a:pt x="25" y="26"/>
                  </a:lnTo>
                  <a:lnTo>
                    <a:pt x="26" y="24"/>
                  </a:lnTo>
                  <a:lnTo>
                    <a:pt x="27" y="23"/>
                  </a:lnTo>
                  <a:lnTo>
                    <a:pt x="27" y="21"/>
                  </a:lnTo>
                  <a:lnTo>
                    <a:pt x="28" y="19"/>
                  </a:lnTo>
                  <a:lnTo>
                    <a:pt x="28" y="17"/>
                  </a:lnTo>
                  <a:lnTo>
                    <a:pt x="28" y="15"/>
                  </a:lnTo>
                  <a:lnTo>
                    <a:pt x="28" y="15"/>
                  </a:lnTo>
                </a:path>
              </a:pathLst>
            </a:custGeom>
            <a:noFill/>
            <a:ln w="127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5" name="Freeform 9"/>
            <p:cNvSpPr>
              <a:spLocks/>
            </p:cNvSpPr>
            <p:nvPr/>
          </p:nvSpPr>
          <p:spPr bwMode="auto">
            <a:xfrm>
              <a:off x="2107" y="2899"/>
              <a:ext cx="30" cy="30"/>
            </a:xfrm>
            <a:custGeom>
              <a:avLst/>
              <a:gdLst>
                <a:gd name="T0" fmla="*/ 29 w 30"/>
                <a:gd name="T1" fmla="*/ 15 h 30"/>
                <a:gd name="T2" fmla="*/ 29 w 30"/>
                <a:gd name="T3" fmla="*/ 14 h 30"/>
                <a:gd name="T4" fmla="*/ 29 w 30"/>
                <a:gd name="T5" fmla="*/ 12 h 30"/>
                <a:gd name="T6" fmla="*/ 28 w 30"/>
                <a:gd name="T7" fmla="*/ 10 h 30"/>
                <a:gd name="T8" fmla="*/ 28 w 30"/>
                <a:gd name="T9" fmla="*/ 9 h 30"/>
                <a:gd name="T10" fmla="*/ 27 w 30"/>
                <a:gd name="T11" fmla="*/ 6 h 30"/>
                <a:gd name="T12" fmla="*/ 26 w 30"/>
                <a:gd name="T13" fmla="*/ 5 h 30"/>
                <a:gd name="T14" fmla="*/ 24 w 30"/>
                <a:gd name="T15" fmla="*/ 4 h 30"/>
                <a:gd name="T16" fmla="*/ 23 w 30"/>
                <a:gd name="T17" fmla="*/ 3 h 30"/>
                <a:gd name="T18" fmla="*/ 21 w 30"/>
                <a:gd name="T19" fmla="*/ 2 h 30"/>
                <a:gd name="T20" fmla="*/ 19 w 30"/>
                <a:gd name="T21" fmla="*/ 1 h 30"/>
                <a:gd name="T22" fmla="*/ 17 w 30"/>
                <a:gd name="T23" fmla="*/ 1 h 30"/>
                <a:gd name="T24" fmla="*/ 15 w 30"/>
                <a:gd name="T25" fmla="*/ 0 h 30"/>
                <a:gd name="T26" fmla="*/ 14 w 30"/>
                <a:gd name="T27" fmla="*/ 1 h 30"/>
                <a:gd name="T28" fmla="*/ 11 w 30"/>
                <a:gd name="T29" fmla="*/ 1 h 30"/>
                <a:gd name="T30" fmla="*/ 9 w 30"/>
                <a:gd name="T31" fmla="*/ 2 h 30"/>
                <a:gd name="T32" fmla="*/ 8 w 30"/>
                <a:gd name="T33" fmla="*/ 3 h 30"/>
                <a:gd name="T34" fmla="*/ 6 w 30"/>
                <a:gd name="T35" fmla="*/ 4 h 30"/>
                <a:gd name="T36" fmla="*/ 5 w 30"/>
                <a:gd name="T37" fmla="*/ 5 h 30"/>
                <a:gd name="T38" fmla="*/ 4 w 30"/>
                <a:gd name="T39" fmla="*/ 6 h 30"/>
                <a:gd name="T40" fmla="*/ 3 w 30"/>
                <a:gd name="T41" fmla="*/ 9 h 30"/>
                <a:gd name="T42" fmla="*/ 2 w 30"/>
                <a:gd name="T43" fmla="*/ 10 h 30"/>
                <a:gd name="T44" fmla="*/ 1 w 30"/>
                <a:gd name="T45" fmla="*/ 12 h 30"/>
                <a:gd name="T46" fmla="*/ 1 w 30"/>
                <a:gd name="T47" fmla="*/ 14 h 30"/>
                <a:gd name="T48" fmla="*/ 0 w 30"/>
                <a:gd name="T49" fmla="*/ 15 h 30"/>
                <a:gd name="T50" fmla="*/ 1 w 30"/>
                <a:gd name="T51" fmla="*/ 17 h 30"/>
                <a:gd name="T52" fmla="*/ 1 w 30"/>
                <a:gd name="T53" fmla="*/ 19 h 30"/>
                <a:gd name="T54" fmla="*/ 2 w 30"/>
                <a:gd name="T55" fmla="*/ 21 h 30"/>
                <a:gd name="T56" fmla="*/ 3 w 30"/>
                <a:gd name="T57" fmla="*/ 23 h 30"/>
                <a:gd name="T58" fmla="*/ 4 w 30"/>
                <a:gd name="T59" fmla="*/ 24 h 30"/>
                <a:gd name="T60" fmla="*/ 5 w 30"/>
                <a:gd name="T61" fmla="*/ 26 h 30"/>
                <a:gd name="T62" fmla="*/ 6 w 30"/>
                <a:gd name="T63" fmla="*/ 27 h 30"/>
                <a:gd name="T64" fmla="*/ 8 w 30"/>
                <a:gd name="T65" fmla="*/ 28 h 30"/>
                <a:gd name="T66" fmla="*/ 9 w 30"/>
                <a:gd name="T67" fmla="*/ 28 h 30"/>
                <a:gd name="T68" fmla="*/ 11 w 30"/>
                <a:gd name="T69" fmla="*/ 29 h 30"/>
                <a:gd name="T70" fmla="*/ 14 w 30"/>
                <a:gd name="T71" fmla="*/ 29 h 30"/>
                <a:gd name="T72" fmla="*/ 15 w 30"/>
                <a:gd name="T73" fmla="*/ 29 h 30"/>
                <a:gd name="T74" fmla="*/ 17 w 30"/>
                <a:gd name="T75" fmla="*/ 29 h 30"/>
                <a:gd name="T76" fmla="*/ 19 w 30"/>
                <a:gd name="T77" fmla="*/ 29 h 30"/>
                <a:gd name="T78" fmla="*/ 21 w 30"/>
                <a:gd name="T79" fmla="*/ 28 h 30"/>
                <a:gd name="T80" fmla="*/ 23 w 30"/>
                <a:gd name="T81" fmla="*/ 28 h 30"/>
                <a:gd name="T82" fmla="*/ 24 w 30"/>
                <a:gd name="T83" fmla="*/ 27 h 30"/>
                <a:gd name="T84" fmla="*/ 26 w 30"/>
                <a:gd name="T85" fmla="*/ 26 h 30"/>
                <a:gd name="T86" fmla="*/ 27 w 30"/>
                <a:gd name="T87" fmla="*/ 24 h 30"/>
                <a:gd name="T88" fmla="*/ 28 w 30"/>
                <a:gd name="T89" fmla="*/ 23 h 30"/>
                <a:gd name="T90" fmla="*/ 28 w 30"/>
                <a:gd name="T91" fmla="*/ 21 h 30"/>
                <a:gd name="T92" fmla="*/ 29 w 30"/>
                <a:gd name="T93" fmla="*/ 19 h 30"/>
                <a:gd name="T94" fmla="*/ 29 w 30"/>
                <a:gd name="T95" fmla="*/ 17 h 30"/>
                <a:gd name="T96" fmla="*/ 29 w 30"/>
                <a:gd name="T97" fmla="*/ 15 h 30"/>
                <a:gd name="T98" fmla="*/ 29 w 30"/>
                <a:gd name="T99" fmla="*/ 1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0" h="30">
                  <a:moveTo>
                    <a:pt x="29" y="15"/>
                  </a:moveTo>
                  <a:lnTo>
                    <a:pt x="29" y="14"/>
                  </a:lnTo>
                  <a:lnTo>
                    <a:pt x="29" y="12"/>
                  </a:lnTo>
                  <a:lnTo>
                    <a:pt x="28" y="10"/>
                  </a:lnTo>
                  <a:lnTo>
                    <a:pt x="28" y="9"/>
                  </a:lnTo>
                  <a:lnTo>
                    <a:pt x="27" y="6"/>
                  </a:lnTo>
                  <a:lnTo>
                    <a:pt x="26" y="5"/>
                  </a:lnTo>
                  <a:lnTo>
                    <a:pt x="24" y="4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9" y="1"/>
                  </a:lnTo>
                  <a:lnTo>
                    <a:pt x="17" y="1"/>
                  </a:lnTo>
                  <a:lnTo>
                    <a:pt x="15" y="0"/>
                  </a:lnTo>
                  <a:lnTo>
                    <a:pt x="14" y="1"/>
                  </a:lnTo>
                  <a:lnTo>
                    <a:pt x="11" y="1"/>
                  </a:lnTo>
                  <a:lnTo>
                    <a:pt x="9" y="2"/>
                  </a:lnTo>
                  <a:lnTo>
                    <a:pt x="8" y="3"/>
                  </a:lnTo>
                  <a:lnTo>
                    <a:pt x="6" y="4"/>
                  </a:lnTo>
                  <a:lnTo>
                    <a:pt x="5" y="5"/>
                  </a:lnTo>
                  <a:lnTo>
                    <a:pt x="4" y="6"/>
                  </a:lnTo>
                  <a:lnTo>
                    <a:pt x="3" y="9"/>
                  </a:lnTo>
                  <a:lnTo>
                    <a:pt x="2" y="10"/>
                  </a:lnTo>
                  <a:lnTo>
                    <a:pt x="1" y="12"/>
                  </a:lnTo>
                  <a:lnTo>
                    <a:pt x="1" y="14"/>
                  </a:lnTo>
                  <a:lnTo>
                    <a:pt x="0" y="15"/>
                  </a:lnTo>
                  <a:lnTo>
                    <a:pt x="1" y="17"/>
                  </a:lnTo>
                  <a:lnTo>
                    <a:pt x="1" y="19"/>
                  </a:lnTo>
                  <a:lnTo>
                    <a:pt x="2" y="21"/>
                  </a:lnTo>
                  <a:lnTo>
                    <a:pt x="3" y="23"/>
                  </a:lnTo>
                  <a:lnTo>
                    <a:pt x="4" y="24"/>
                  </a:lnTo>
                  <a:lnTo>
                    <a:pt x="5" y="26"/>
                  </a:lnTo>
                  <a:lnTo>
                    <a:pt x="6" y="27"/>
                  </a:lnTo>
                  <a:lnTo>
                    <a:pt x="8" y="28"/>
                  </a:lnTo>
                  <a:lnTo>
                    <a:pt x="9" y="28"/>
                  </a:lnTo>
                  <a:lnTo>
                    <a:pt x="11" y="29"/>
                  </a:lnTo>
                  <a:lnTo>
                    <a:pt x="14" y="29"/>
                  </a:lnTo>
                  <a:lnTo>
                    <a:pt x="15" y="29"/>
                  </a:lnTo>
                  <a:lnTo>
                    <a:pt x="17" y="29"/>
                  </a:lnTo>
                  <a:lnTo>
                    <a:pt x="19" y="29"/>
                  </a:lnTo>
                  <a:lnTo>
                    <a:pt x="21" y="28"/>
                  </a:lnTo>
                  <a:lnTo>
                    <a:pt x="23" y="28"/>
                  </a:lnTo>
                  <a:lnTo>
                    <a:pt x="24" y="27"/>
                  </a:lnTo>
                  <a:lnTo>
                    <a:pt x="26" y="26"/>
                  </a:lnTo>
                  <a:lnTo>
                    <a:pt x="27" y="24"/>
                  </a:lnTo>
                  <a:lnTo>
                    <a:pt x="28" y="23"/>
                  </a:lnTo>
                  <a:lnTo>
                    <a:pt x="28" y="21"/>
                  </a:lnTo>
                  <a:lnTo>
                    <a:pt x="29" y="19"/>
                  </a:lnTo>
                  <a:lnTo>
                    <a:pt x="29" y="17"/>
                  </a:lnTo>
                  <a:lnTo>
                    <a:pt x="29" y="15"/>
                  </a:lnTo>
                  <a:lnTo>
                    <a:pt x="29" y="1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6" name="Line 10"/>
            <p:cNvSpPr>
              <a:spLocks noChangeShapeType="1"/>
            </p:cNvSpPr>
            <p:nvPr/>
          </p:nvSpPr>
          <p:spPr bwMode="auto">
            <a:xfrm>
              <a:off x="1358" y="3616"/>
              <a:ext cx="3469" cy="0"/>
            </a:xfrm>
            <a:prstGeom prst="line">
              <a:avLst/>
            </a:prstGeom>
            <a:noFill/>
            <a:ln w="25400">
              <a:solidFill>
                <a:srgbClr val="FFFFFF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47" name="Line 11"/>
            <p:cNvSpPr>
              <a:spLocks noChangeShapeType="1"/>
            </p:cNvSpPr>
            <p:nvPr/>
          </p:nvSpPr>
          <p:spPr bwMode="auto">
            <a:xfrm>
              <a:off x="2124" y="3616"/>
              <a:ext cx="0" cy="63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48" name="Line 12"/>
            <p:cNvSpPr>
              <a:spLocks noChangeShapeType="1"/>
            </p:cNvSpPr>
            <p:nvPr/>
          </p:nvSpPr>
          <p:spPr bwMode="auto">
            <a:xfrm>
              <a:off x="2825" y="3616"/>
              <a:ext cx="0" cy="63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49" name="Line 13"/>
            <p:cNvSpPr>
              <a:spLocks noChangeShapeType="1"/>
            </p:cNvSpPr>
            <p:nvPr/>
          </p:nvSpPr>
          <p:spPr bwMode="auto">
            <a:xfrm>
              <a:off x="3527" y="3616"/>
              <a:ext cx="0" cy="63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0" name="Line 14"/>
            <p:cNvSpPr>
              <a:spLocks noChangeShapeType="1"/>
            </p:cNvSpPr>
            <p:nvPr/>
          </p:nvSpPr>
          <p:spPr bwMode="auto">
            <a:xfrm>
              <a:off x="4229" y="3616"/>
              <a:ext cx="0" cy="63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1" name="Line 15"/>
            <p:cNvSpPr>
              <a:spLocks noChangeShapeType="1"/>
            </p:cNvSpPr>
            <p:nvPr/>
          </p:nvSpPr>
          <p:spPr bwMode="auto">
            <a:xfrm flipV="1">
              <a:off x="1421" y="854"/>
              <a:ext cx="0" cy="2825"/>
            </a:xfrm>
            <a:prstGeom prst="line">
              <a:avLst/>
            </a:prstGeom>
            <a:noFill/>
            <a:ln w="25400">
              <a:solidFill>
                <a:srgbClr val="FFFFFF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2" name="Line 16"/>
            <p:cNvSpPr>
              <a:spLocks noChangeShapeType="1"/>
            </p:cNvSpPr>
            <p:nvPr/>
          </p:nvSpPr>
          <p:spPr bwMode="auto">
            <a:xfrm flipH="1">
              <a:off x="1358" y="2914"/>
              <a:ext cx="63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3" name="Line 17"/>
            <p:cNvSpPr>
              <a:spLocks noChangeShapeType="1"/>
            </p:cNvSpPr>
            <p:nvPr/>
          </p:nvSpPr>
          <p:spPr bwMode="auto">
            <a:xfrm flipH="1">
              <a:off x="1358" y="2213"/>
              <a:ext cx="63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4" name="Line 18"/>
            <p:cNvSpPr>
              <a:spLocks noChangeShapeType="1"/>
            </p:cNvSpPr>
            <p:nvPr/>
          </p:nvSpPr>
          <p:spPr bwMode="auto">
            <a:xfrm flipH="1">
              <a:off x="1358" y="1511"/>
              <a:ext cx="63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5" name="Rectangle 19"/>
            <p:cNvSpPr>
              <a:spLocks noChangeArrowheads="1"/>
            </p:cNvSpPr>
            <p:nvPr/>
          </p:nvSpPr>
          <p:spPr bwMode="auto">
            <a:xfrm>
              <a:off x="4605" y="3626"/>
              <a:ext cx="41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400"/>
                <a:t>X</a:t>
              </a:r>
              <a:r>
                <a:rPr lang="en-US" sz="2400" baseline="-25000"/>
                <a:t>1</a:t>
              </a:r>
            </a:p>
          </p:txBody>
        </p:sp>
        <p:sp>
          <p:nvSpPr>
            <p:cNvPr id="14356" name="Rectangle 20"/>
            <p:cNvSpPr>
              <a:spLocks noChangeArrowheads="1"/>
            </p:cNvSpPr>
            <p:nvPr/>
          </p:nvSpPr>
          <p:spPr bwMode="auto">
            <a:xfrm>
              <a:off x="1069" y="755"/>
              <a:ext cx="41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400"/>
                <a:t>X</a:t>
              </a:r>
              <a:r>
                <a:rPr lang="en-US" sz="2400" baseline="-25000"/>
                <a:t>2</a:t>
              </a:r>
            </a:p>
          </p:txBody>
        </p:sp>
        <p:sp>
          <p:nvSpPr>
            <p:cNvPr id="14357" name="Rectangle 21"/>
            <p:cNvSpPr>
              <a:spLocks noChangeArrowheads="1"/>
            </p:cNvSpPr>
            <p:nvPr/>
          </p:nvSpPr>
          <p:spPr bwMode="auto">
            <a:xfrm>
              <a:off x="1322" y="3682"/>
              <a:ext cx="20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600"/>
                <a:t>0</a:t>
              </a:r>
            </a:p>
          </p:txBody>
        </p:sp>
        <p:sp>
          <p:nvSpPr>
            <p:cNvPr id="14358" name="Rectangle 22"/>
            <p:cNvSpPr>
              <a:spLocks noChangeArrowheads="1"/>
            </p:cNvSpPr>
            <p:nvPr/>
          </p:nvSpPr>
          <p:spPr bwMode="auto">
            <a:xfrm>
              <a:off x="1193" y="3521"/>
              <a:ext cx="20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600"/>
                <a:t>0</a:t>
              </a:r>
            </a:p>
          </p:txBody>
        </p:sp>
        <p:sp>
          <p:nvSpPr>
            <p:cNvPr id="14359" name="Rectangle 23"/>
            <p:cNvSpPr>
              <a:spLocks noChangeArrowheads="1"/>
            </p:cNvSpPr>
            <p:nvPr/>
          </p:nvSpPr>
          <p:spPr bwMode="auto">
            <a:xfrm>
              <a:off x="2029" y="3703"/>
              <a:ext cx="20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600"/>
                <a:t>1</a:t>
              </a:r>
            </a:p>
          </p:txBody>
        </p:sp>
        <p:sp>
          <p:nvSpPr>
            <p:cNvPr id="14360" name="Rectangle 24"/>
            <p:cNvSpPr>
              <a:spLocks noChangeArrowheads="1"/>
            </p:cNvSpPr>
            <p:nvPr/>
          </p:nvSpPr>
          <p:spPr bwMode="auto">
            <a:xfrm>
              <a:off x="2735" y="3703"/>
              <a:ext cx="20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600"/>
                <a:t>2</a:t>
              </a:r>
            </a:p>
          </p:txBody>
        </p:sp>
        <p:sp>
          <p:nvSpPr>
            <p:cNvPr id="14361" name="Rectangle 25"/>
            <p:cNvSpPr>
              <a:spLocks noChangeArrowheads="1"/>
            </p:cNvSpPr>
            <p:nvPr/>
          </p:nvSpPr>
          <p:spPr bwMode="auto">
            <a:xfrm>
              <a:off x="3432" y="3703"/>
              <a:ext cx="20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600"/>
                <a:t>3</a:t>
              </a:r>
            </a:p>
          </p:txBody>
        </p:sp>
        <p:sp>
          <p:nvSpPr>
            <p:cNvPr id="14362" name="Rectangle 26"/>
            <p:cNvSpPr>
              <a:spLocks noChangeArrowheads="1"/>
            </p:cNvSpPr>
            <p:nvPr/>
          </p:nvSpPr>
          <p:spPr bwMode="auto">
            <a:xfrm>
              <a:off x="4139" y="3703"/>
              <a:ext cx="20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600"/>
                <a:t>4</a:t>
              </a:r>
            </a:p>
          </p:txBody>
        </p:sp>
        <p:sp>
          <p:nvSpPr>
            <p:cNvPr id="14363" name="Rectangle 27"/>
            <p:cNvSpPr>
              <a:spLocks noChangeArrowheads="1"/>
            </p:cNvSpPr>
            <p:nvPr/>
          </p:nvSpPr>
          <p:spPr bwMode="auto">
            <a:xfrm>
              <a:off x="1193" y="2824"/>
              <a:ext cx="20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600"/>
                <a:t>1</a:t>
              </a:r>
            </a:p>
          </p:txBody>
        </p:sp>
        <p:sp>
          <p:nvSpPr>
            <p:cNvPr id="14364" name="Rectangle 28"/>
            <p:cNvSpPr>
              <a:spLocks noChangeArrowheads="1"/>
            </p:cNvSpPr>
            <p:nvPr/>
          </p:nvSpPr>
          <p:spPr bwMode="auto">
            <a:xfrm>
              <a:off x="1193" y="2127"/>
              <a:ext cx="20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600"/>
                <a:t>2</a:t>
              </a:r>
            </a:p>
          </p:txBody>
        </p:sp>
        <p:sp>
          <p:nvSpPr>
            <p:cNvPr id="14365" name="Rectangle 29"/>
            <p:cNvSpPr>
              <a:spLocks noChangeArrowheads="1"/>
            </p:cNvSpPr>
            <p:nvPr/>
          </p:nvSpPr>
          <p:spPr bwMode="auto">
            <a:xfrm>
              <a:off x="1192" y="1409"/>
              <a:ext cx="20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600"/>
                <a:t>3</a:t>
              </a:r>
            </a:p>
          </p:txBody>
        </p:sp>
        <p:sp>
          <p:nvSpPr>
            <p:cNvPr id="14366" name="Rectangle 30"/>
            <p:cNvSpPr>
              <a:spLocks noChangeArrowheads="1"/>
            </p:cNvSpPr>
            <p:nvPr/>
          </p:nvSpPr>
          <p:spPr bwMode="auto">
            <a:xfrm>
              <a:off x="2966" y="2202"/>
              <a:ext cx="208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optimal relaxed </a:t>
              </a:r>
              <a:r>
                <a:rPr lang="en-US" dirty="0"/>
                <a:t>solution</a:t>
              </a:r>
            </a:p>
          </p:txBody>
        </p:sp>
        <p:sp>
          <p:nvSpPr>
            <p:cNvPr id="14367" name="Line 31"/>
            <p:cNvSpPr>
              <a:spLocks noChangeShapeType="1"/>
            </p:cNvSpPr>
            <p:nvPr/>
          </p:nvSpPr>
          <p:spPr bwMode="auto">
            <a:xfrm flipH="1">
              <a:off x="2741" y="2353"/>
              <a:ext cx="257" cy="2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68" name="Rectangle 32"/>
            <p:cNvSpPr>
              <a:spLocks noChangeArrowheads="1"/>
            </p:cNvSpPr>
            <p:nvPr/>
          </p:nvSpPr>
          <p:spPr bwMode="auto">
            <a:xfrm>
              <a:off x="3201" y="2482"/>
              <a:ext cx="1961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lnSpc>
                  <a:spcPct val="70000"/>
                </a:lnSpc>
                <a:spcBef>
                  <a:spcPct val="50000"/>
                </a:spcBef>
              </a:pPr>
              <a:r>
                <a:rPr lang="en-US"/>
                <a:t>infeasible solution obtained </a:t>
              </a:r>
              <a:r>
                <a:rPr lang="en-US" dirty="0"/>
                <a:t>by rounding down</a:t>
              </a:r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24200" y="6372225"/>
            <a:ext cx="2895600" cy="476250"/>
          </a:xfrm>
        </p:spPr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3887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Branch-and-Bound</a:t>
            </a:r>
            <a:endParaRPr lang="en-US" sz="4000" dirty="0">
              <a:solidFill>
                <a:schemeClr val="hlink"/>
              </a:solidFill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152900"/>
          </a:xfrm>
          <a:noFill/>
          <a:ln/>
        </p:spPr>
        <p:txBody>
          <a:bodyPr lIns="92075" tIns="46038" rIns="92075" bIns="46038"/>
          <a:lstStyle/>
          <a:p>
            <a:r>
              <a:rPr lang="en-US"/>
              <a:t>The Branch-and-Bound </a:t>
            </a:r>
            <a:r>
              <a:rPr lang="en-US" dirty="0"/>
              <a:t>(B&amp;B</a:t>
            </a:r>
            <a:r>
              <a:rPr lang="en-US"/>
              <a:t>) algorithm can </a:t>
            </a:r>
            <a:r>
              <a:rPr lang="en-US" dirty="0"/>
              <a:t>be used to solve ILP problems.</a:t>
            </a:r>
          </a:p>
          <a:p>
            <a:pPr>
              <a:lnSpc>
                <a:spcPct val="130000"/>
              </a:lnSpc>
            </a:pPr>
            <a:r>
              <a:rPr lang="en-US" dirty="0"/>
              <a:t>Requires the solution </a:t>
            </a:r>
            <a:r>
              <a:rPr lang="en-US"/>
              <a:t>of a </a:t>
            </a:r>
            <a:r>
              <a:rPr lang="en-US" dirty="0"/>
              <a:t>series of LP problems termed </a:t>
            </a:r>
            <a:r>
              <a:rPr lang="en-US"/>
              <a:t>“candidate </a:t>
            </a:r>
            <a:r>
              <a:rPr lang="en-US" dirty="0"/>
              <a:t>problems”.</a:t>
            </a:r>
          </a:p>
          <a:p>
            <a:r>
              <a:rPr lang="en-US" i="1" u="sng"/>
              <a:t>Theoretically</a:t>
            </a:r>
            <a:r>
              <a:rPr lang="en-US" dirty="0"/>
              <a:t>, </a:t>
            </a:r>
            <a:r>
              <a:rPr lang="en-US"/>
              <a:t>this can solve any </a:t>
            </a:r>
            <a:r>
              <a:rPr lang="en-US" dirty="0"/>
              <a:t>ILP.</a:t>
            </a:r>
          </a:p>
          <a:p>
            <a:r>
              <a:rPr lang="en-US" i="1" u="sng"/>
              <a:t>Practically</a:t>
            </a:r>
            <a:r>
              <a:rPr lang="en-US" dirty="0"/>
              <a:t>, it </a:t>
            </a:r>
            <a:r>
              <a:rPr lang="en-US"/>
              <a:t>often takes </a:t>
            </a:r>
            <a:r>
              <a:rPr lang="en-US" i="1" u="sng" dirty="0"/>
              <a:t>LOTS</a:t>
            </a:r>
            <a:r>
              <a:rPr lang="en-US" dirty="0"/>
              <a:t> </a:t>
            </a:r>
            <a:r>
              <a:rPr lang="en-US"/>
              <a:t>of computational effort (and </a:t>
            </a:r>
            <a:r>
              <a:rPr lang="en-US" dirty="0"/>
              <a:t>time).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93688"/>
            <a:ext cx="7772400" cy="541337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Stopping Rules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4911725"/>
          </a:xfrm>
          <a:noFill/>
          <a:ln/>
        </p:spPr>
        <p:txBody>
          <a:bodyPr lIns="92075" tIns="46038" rIns="92075" bIns="46038"/>
          <a:lstStyle/>
          <a:p>
            <a:r>
              <a:rPr lang="en-US" sz="2600"/>
              <a:t>Because B&amp;B can take </a:t>
            </a:r>
            <a:r>
              <a:rPr lang="en-US" sz="2600" dirty="0"/>
              <a:t>so long, most </a:t>
            </a:r>
            <a:r>
              <a:rPr lang="en-US" sz="2600"/>
              <a:t>ILP packages allow </a:t>
            </a:r>
            <a:r>
              <a:rPr lang="en-US" sz="2600" dirty="0"/>
              <a:t>you to </a:t>
            </a:r>
            <a:r>
              <a:rPr lang="en-US" sz="2600"/>
              <a:t>specify a suboptimality tolerance factor</a:t>
            </a:r>
            <a:r>
              <a:rPr lang="en-US" sz="2600" dirty="0"/>
              <a:t>.</a:t>
            </a:r>
          </a:p>
          <a:p>
            <a:r>
              <a:rPr lang="en-US" sz="2600"/>
              <a:t>This allows </a:t>
            </a:r>
            <a:r>
              <a:rPr lang="en-US" sz="2600" dirty="0"/>
              <a:t>you to stop </a:t>
            </a:r>
            <a:r>
              <a:rPr lang="en-US" sz="2600"/>
              <a:t>once an </a:t>
            </a:r>
            <a:r>
              <a:rPr lang="en-US" sz="2600" dirty="0"/>
              <a:t>integer solution is </a:t>
            </a:r>
            <a:r>
              <a:rPr lang="en-US" sz="2600"/>
              <a:t>found that </a:t>
            </a:r>
            <a:r>
              <a:rPr lang="en-US" sz="2600" dirty="0"/>
              <a:t>is within some % of </a:t>
            </a:r>
            <a:r>
              <a:rPr lang="en-US" sz="2600"/>
              <a:t>the global optimal </a:t>
            </a:r>
            <a:r>
              <a:rPr lang="en-US" sz="2600" dirty="0"/>
              <a:t>solution.</a:t>
            </a:r>
          </a:p>
          <a:p>
            <a:r>
              <a:rPr lang="en-US" sz="2600"/>
              <a:t>Bounds obtained </a:t>
            </a:r>
            <a:r>
              <a:rPr lang="en-US" sz="2600" dirty="0"/>
              <a:t>from </a:t>
            </a:r>
            <a:r>
              <a:rPr lang="en-US" sz="2600"/>
              <a:t>LP relaxations are </a:t>
            </a:r>
            <a:r>
              <a:rPr lang="en-US" sz="2600" dirty="0"/>
              <a:t>helpful here.</a:t>
            </a:r>
          </a:p>
          <a:p>
            <a:pPr lvl="1"/>
            <a:r>
              <a:rPr lang="en-US" sz="2600"/>
              <a:t>Example</a:t>
            </a:r>
            <a:endParaRPr lang="en-US" dirty="0"/>
          </a:p>
          <a:p>
            <a:pPr lvl="2"/>
            <a:r>
              <a:rPr lang="en-US"/>
              <a:t>LP relaxation has an optimal </a:t>
            </a:r>
            <a:r>
              <a:rPr lang="en-US" dirty="0"/>
              <a:t>obj</a:t>
            </a:r>
            <a:r>
              <a:rPr lang="en-US"/>
              <a:t>. value </a:t>
            </a:r>
            <a:r>
              <a:rPr lang="en-US" dirty="0"/>
              <a:t>of $64,306.</a:t>
            </a:r>
          </a:p>
          <a:p>
            <a:pPr lvl="2"/>
            <a:r>
              <a:rPr lang="en-US" dirty="0"/>
              <a:t>95% of $64,306 is $61,090.</a:t>
            </a:r>
          </a:p>
          <a:p>
            <a:pPr lvl="2"/>
            <a:r>
              <a:rPr lang="en-US" dirty="0"/>
              <a:t>Thus</a:t>
            </a:r>
            <a:r>
              <a:rPr lang="en-US"/>
              <a:t>, an </a:t>
            </a:r>
            <a:r>
              <a:rPr lang="en-US" dirty="0"/>
              <a:t>integer solution with obj</a:t>
            </a:r>
            <a:r>
              <a:rPr lang="en-US"/>
              <a:t>. value </a:t>
            </a:r>
            <a:r>
              <a:rPr lang="en-US" dirty="0"/>
              <a:t>of $61,090 or better must be within 5% of </a:t>
            </a:r>
            <a:r>
              <a:rPr lang="en-US"/>
              <a:t>the optimal </a:t>
            </a:r>
            <a:r>
              <a:rPr lang="en-US" dirty="0"/>
              <a:t>solution.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41350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Using Solver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1475" y="966788"/>
            <a:ext cx="8451850" cy="4152900"/>
          </a:xfrm>
          <a:noFill/>
          <a:ln/>
        </p:spPr>
        <p:txBody>
          <a:bodyPr lIns="92075" tIns="46038" rIns="92075" bIns="46038"/>
          <a:lstStyle/>
          <a:p>
            <a:pPr marL="0" indent="0">
              <a:buFont typeface="Wingdings" pitchFamily="2" charset="2"/>
              <a:buNone/>
            </a:pPr>
            <a:endParaRPr lang="en-US" dirty="0"/>
          </a:p>
          <a:p>
            <a:pPr marL="0" indent="0">
              <a:buFont typeface="Wingdings" pitchFamily="2" charset="2"/>
              <a:buNone/>
            </a:pPr>
            <a:r>
              <a:rPr lang="en-US" dirty="0"/>
              <a:t>Let’s see how to </a:t>
            </a:r>
            <a:r>
              <a:rPr lang="en-US"/>
              <a:t>specify integrality conditions and suboptimality tolerances </a:t>
            </a:r>
            <a:r>
              <a:rPr lang="en-US" dirty="0"/>
              <a:t>using Solver…</a:t>
            </a:r>
          </a:p>
          <a:p>
            <a:pPr marL="0" indent="0">
              <a:buFont typeface="Wingdings" pitchFamily="2" charset="2"/>
              <a:buNone/>
            </a:pPr>
            <a:endParaRPr lang="en-US" dirty="0"/>
          </a:p>
          <a:p>
            <a:pPr marL="0" indent="0" algn="ctr">
              <a:buFont typeface="Wingdings" pitchFamily="2" charset="2"/>
              <a:buNone/>
            </a:pPr>
            <a:r>
              <a:rPr lang="en-US" dirty="0"/>
              <a:t>See file </a:t>
            </a:r>
            <a:r>
              <a:rPr lang="en-US" dirty="0">
                <a:hlinkClick r:id="rId3" action="ppaction://hlinkfile"/>
              </a:rPr>
              <a:t>Fig6-8.xlsm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474663" y="261938"/>
            <a:ext cx="8212137" cy="1109662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80000"/>
              </a:lnSpc>
            </a:pPr>
            <a:r>
              <a:rPr lang="en-US" sz="4000" i="1">
                <a:solidFill>
                  <a:schemeClr val="hlink"/>
                </a:solidFill>
              </a:rPr>
              <a:t>An </a:t>
            </a:r>
            <a:r>
              <a:rPr lang="en-US" sz="4000" i="1" dirty="0">
                <a:solidFill>
                  <a:schemeClr val="hlink"/>
                </a:solidFill>
              </a:rPr>
              <a:t>Employee Scheduling Problem:</a:t>
            </a:r>
            <a:br>
              <a:rPr lang="en-US" sz="4000" i="1">
                <a:solidFill>
                  <a:schemeClr val="hlink"/>
                </a:solidFill>
              </a:rPr>
            </a:br>
            <a:r>
              <a:rPr lang="en-US" sz="4000" i="1">
                <a:solidFill>
                  <a:schemeClr val="hlink"/>
                </a:solidFill>
              </a:rPr>
              <a:t>Air-Express</a:t>
            </a:r>
            <a:endParaRPr lang="en-US" sz="4000" i="1" dirty="0">
              <a:solidFill>
                <a:schemeClr val="hlink"/>
              </a:solidFill>
            </a:endParaRPr>
          </a:p>
        </p:txBody>
      </p:sp>
      <p:sp>
        <p:nvSpPr>
          <p:cNvPr id="37891" name="Rectangle 3"/>
          <p:cNvSpPr>
            <a:spLocks noChangeArrowheads="1"/>
          </p:cNvSpPr>
          <p:nvPr/>
        </p:nvSpPr>
        <p:spPr bwMode="auto">
          <a:xfrm>
            <a:off x="490538" y="1558925"/>
            <a:ext cx="3997325" cy="3263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50000"/>
              </a:spcBef>
              <a:tabLst>
                <a:tab pos="2806700" algn="ctr"/>
              </a:tabLst>
            </a:pPr>
            <a:r>
              <a:rPr lang="en-US" sz="2000" b="1"/>
              <a:t>Day </a:t>
            </a:r>
            <a:r>
              <a:rPr lang="en-US" sz="2000" b="1" dirty="0"/>
              <a:t>of Week 	Workers Needed</a:t>
            </a:r>
          </a:p>
          <a:p>
            <a:pPr eaLnBrk="0" hangingPunct="0">
              <a:lnSpc>
                <a:spcPct val="40000"/>
              </a:lnSpc>
              <a:spcBef>
                <a:spcPct val="50000"/>
              </a:spcBef>
              <a:tabLst>
                <a:tab pos="2806700" algn="ctr"/>
              </a:tabLst>
            </a:pPr>
            <a:r>
              <a:rPr lang="en-US" sz="2000" b="1"/>
              <a:t>Sunday</a:t>
            </a:r>
            <a:r>
              <a:rPr lang="en-US" sz="2000" b="1" dirty="0"/>
              <a:t>	18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tabLst>
                <a:tab pos="2806700" algn="ctr"/>
              </a:tabLst>
            </a:pPr>
            <a:r>
              <a:rPr lang="en-US" sz="2000" b="1"/>
              <a:t>Monday</a:t>
            </a:r>
            <a:r>
              <a:rPr lang="en-US" sz="2000" b="1" dirty="0"/>
              <a:t>	27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tabLst>
                <a:tab pos="2806700" algn="ctr"/>
              </a:tabLst>
            </a:pPr>
            <a:r>
              <a:rPr lang="en-US" sz="2000" b="1"/>
              <a:t>Tuesday</a:t>
            </a:r>
            <a:r>
              <a:rPr lang="en-US" sz="2000" b="1" dirty="0"/>
              <a:t>	22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tabLst>
                <a:tab pos="2806700" algn="ctr"/>
              </a:tabLst>
            </a:pPr>
            <a:r>
              <a:rPr lang="en-US" sz="2000" b="1"/>
              <a:t>Wednesday</a:t>
            </a:r>
            <a:r>
              <a:rPr lang="en-US" sz="2000" b="1" dirty="0"/>
              <a:t>	26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tabLst>
                <a:tab pos="2806700" algn="ctr"/>
              </a:tabLst>
            </a:pPr>
            <a:r>
              <a:rPr lang="en-US" sz="2000" b="1"/>
              <a:t>Thursday</a:t>
            </a:r>
            <a:r>
              <a:rPr lang="en-US" sz="2000" b="1" dirty="0"/>
              <a:t>	25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tabLst>
                <a:tab pos="2806700" algn="ctr"/>
              </a:tabLst>
            </a:pPr>
            <a:r>
              <a:rPr lang="en-US" sz="2000" b="1"/>
              <a:t>Friday</a:t>
            </a:r>
            <a:r>
              <a:rPr lang="en-US" sz="2000" b="1" dirty="0"/>
              <a:t>	21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tabLst>
                <a:tab pos="2806700" algn="ctr"/>
              </a:tabLst>
            </a:pPr>
            <a:r>
              <a:rPr lang="en-US" sz="2000" b="1"/>
              <a:t>Saturday</a:t>
            </a:r>
            <a:r>
              <a:rPr lang="en-US" sz="2000" b="1" dirty="0"/>
              <a:t>	19</a:t>
            </a:r>
          </a:p>
        </p:txBody>
      </p:sp>
      <p:sp>
        <p:nvSpPr>
          <p:cNvPr id="37892" name="Line 4"/>
          <p:cNvSpPr>
            <a:spLocks noChangeShapeType="1"/>
          </p:cNvSpPr>
          <p:nvPr/>
        </p:nvSpPr>
        <p:spPr bwMode="auto">
          <a:xfrm>
            <a:off x="422275" y="1933575"/>
            <a:ext cx="40306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893" name="Rectangle 5"/>
          <p:cNvSpPr>
            <a:spLocks noChangeArrowheads="1"/>
          </p:cNvSpPr>
          <p:nvPr/>
        </p:nvSpPr>
        <p:spPr bwMode="auto">
          <a:xfrm>
            <a:off x="5081588" y="1643063"/>
            <a:ext cx="3997325" cy="3263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50000"/>
              </a:spcBef>
              <a:tabLst>
                <a:tab pos="339725" algn="ctr"/>
                <a:tab pos="1479550" algn="ctr"/>
                <a:tab pos="3027363" algn="ctr"/>
              </a:tabLst>
            </a:pPr>
            <a:r>
              <a:rPr lang="en-US" sz="2000" b="1" dirty="0"/>
              <a:t>Shift </a:t>
            </a:r>
            <a:r>
              <a:rPr lang="en-US" sz="2000" b="1"/>
              <a:t>	Days </a:t>
            </a:r>
            <a:r>
              <a:rPr lang="en-US" sz="2000" b="1" dirty="0"/>
              <a:t>Off</a:t>
            </a:r>
            <a:r>
              <a:rPr lang="en-US" sz="2000" b="1"/>
              <a:t>	Wage</a:t>
            </a:r>
            <a:endParaRPr lang="en-US" sz="2000" b="1" dirty="0"/>
          </a:p>
          <a:p>
            <a:pPr eaLnBrk="0" hangingPunct="0">
              <a:lnSpc>
                <a:spcPct val="40000"/>
              </a:lnSpc>
              <a:spcBef>
                <a:spcPct val="50000"/>
              </a:spcBef>
              <a:tabLst>
                <a:tab pos="339725" algn="ctr"/>
                <a:tab pos="1479550" algn="ctr"/>
                <a:tab pos="3027363" algn="ctr"/>
              </a:tabLst>
            </a:pPr>
            <a:r>
              <a:rPr lang="en-US" sz="2000" b="1" dirty="0"/>
              <a:t>	1	Sun &amp; Mon	$680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tabLst>
                <a:tab pos="339725" algn="ctr"/>
                <a:tab pos="1479550" algn="ctr"/>
                <a:tab pos="3027363" algn="ctr"/>
              </a:tabLst>
            </a:pPr>
            <a:r>
              <a:rPr lang="en-US" sz="2000" b="1" dirty="0"/>
              <a:t>	2	Mon &amp; Tue	$705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tabLst>
                <a:tab pos="339725" algn="ctr"/>
                <a:tab pos="1479550" algn="ctr"/>
                <a:tab pos="3027363" algn="ctr"/>
              </a:tabLst>
            </a:pPr>
            <a:r>
              <a:rPr lang="en-US" sz="2000" b="1" dirty="0"/>
              <a:t>	3	Tue &amp; Wed	$705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tabLst>
                <a:tab pos="339725" algn="ctr"/>
                <a:tab pos="1479550" algn="ctr"/>
                <a:tab pos="3027363" algn="ctr"/>
              </a:tabLst>
            </a:pPr>
            <a:r>
              <a:rPr lang="en-US" sz="2000" b="1" dirty="0"/>
              <a:t>	4	Wed &amp; </a:t>
            </a:r>
            <a:r>
              <a:rPr lang="en-US" sz="2000" b="1" dirty="0" err="1"/>
              <a:t>Thr</a:t>
            </a:r>
            <a:r>
              <a:rPr lang="en-US" sz="2000" b="1" dirty="0"/>
              <a:t>	$705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tabLst>
                <a:tab pos="339725" algn="ctr"/>
                <a:tab pos="1479550" algn="ctr"/>
                <a:tab pos="3027363" algn="ctr"/>
              </a:tabLst>
            </a:pPr>
            <a:r>
              <a:rPr lang="en-US" sz="2000" b="1" dirty="0"/>
              <a:t>	5	</a:t>
            </a:r>
            <a:r>
              <a:rPr lang="en-US" sz="2000" b="1" dirty="0" err="1"/>
              <a:t>Thr</a:t>
            </a:r>
            <a:r>
              <a:rPr lang="en-US" sz="2000" b="1" dirty="0"/>
              <a:t> &amp; Fri	$705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tabLst>
                <a:tab pos="339725" algn="ctr"/>
                <a:tab pos="1479550" algn="ctr"/>
                <a:tab pos="3027363" algn="ctr"/>
              </a:tabLst>
            </a:pPr>
            <a:r>
              <a:rPr lang="en-US" sz="2000" b="1" dirty="0"/>
              <a:t>	6	Fri </a:t>
            </a:r>
            <a:r>
              <a:rPr lang="en-US" sz="2000" b="1"/>
              <a:t>&amp; Sat</a:t>
            </a:r>
            <a:r>
              <a:rPr lang="en-US" sz="2000" b="1" dirty="0"/>
              <a:t>	$680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tabLst>
                <a:tab pos="339725" algn="ctr"/>
                <a:tab pos="1479550" algn="ctr"/>
                <a:tab pos="3027363" algn="ctr"/>
              </a:tabLst>
            </a:pPr>
            <a:r>
              <a:rPr lang="en-US" sz="2000" b="1" dirty="0"/>
              <a:t>	7</a:t>
            </a:r>
            <a:r>
              <a:rPr lang="en-US" sz="2000" b="1"/>
              <a:t>	Sat </a:t>
            </a:r>
            <a:r>
              <a:rPr lang="en-US" sz="2000" b="1" dirty="0"/>
              <a:t>&amp; Sun	$655</a:t>
            </a:r>
          </a:p>
        </p:txBody>
      </p:sp>
      <p:sp>
        <p:nvSpPr>
          <p:cNvPr id="37894" name="Rectangle 6"/>
          <p:cNvSpPr>
            <a:spLocks noChangeArrowheads="1"/>
          </p:cNvSpPr>
          <p:nvPr/>
        </p:nvSpPr>
        <p:spPr bwMode="auto">
          <a:xfrm>
            <a:off x="417513" y="1604963"/>
            <a:ext cx="4040187" cy="32575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895" name="Rectangle 7"/>
          <p:cNvSpPr>
            <a:spLocks noChangeArrowheads="1"/>
          </p:cNvSpPr>
          <p:nvPr/>
        </p:nvSpPr>
        <p:spPr bwMode="auto">
          <a:xfrm>
            <a:off x="4975225" y="1604963"/>
            <a:ext cx="3783013" cy="32893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896" name="Line 8"/>
          <p:cNvSpPr>
            <a:spLocks noChangeShapeType="1"/>
          </p:cNvSpPr>
          <p:nvPr/>
        </p:nvSpPr>
        <p:spPr bwMode="auto">
          <a:xfrm>
            <a:off x="4962525" y="2000250"/>
            <a:ext cx="3810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90575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 dirty="0">
                <a:solidFill>
                  <a:schemeClr val="hlink"/>
                </a:solidFill>
              </a:rPr>
              <a:t>Defining the </a:t>
            </a:r>
            <a:r>
              <a:rPr lang="en-US" sz="4000" i="1">
                <a:solidFill>
                  <a:schemeClr val="hlink"/>
                </a:solidFill>
              </a:rPr>
              <a:t>Decision Variables</a:t>
            </a:r>
            <a:endParaRPr lang="en-US" sz="4000" i="1" dirty="0">
              <a:solidFill>
                <a:schemeClr val="hlink"/>
              </a:solidFill>
            </a:endParaRPr>
          </a:p>
        </p:txBody>
      </p:sp>
      <p:sp>
        <p:nvSpPr>
          <p:cNvPr id="38915" name="Rectangle 3"/>
          <p:cNvSpPr>
            <a:spLocks noChangeArrowheads="1"/>
          </p:cNvSpPr>
          <p:nvPr/>
        </p:nvSpPr>
        <p:spPr bwMode="auto">
          <a:xfrm>
            <a:off x="685800" y="1371600"/>
            <a:ext cx="7729538" cy="458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en-US" sz="2800" dirty="0">
                <a:latin typeface="Tahoma" pitchFamily="34" charset="0"/>
              </a:rPr>
              <a:t>X</a:t>
            </a:r>
            <a:r>
              <a:rPr lang="en-US" sz="2800" baseline="-25000" dirty="0">
                <a:latin typeface="Tahoma" pitchFamily="34" charset="0"/>
              </a:rPr>
              <a:t>1</a:t>
            </a:r>
            <a:r>
              <a:rPr lang="en-US" sz="2800" dirty="0">
                <a:latin typeface="Tahoma" pitchFamily="34" charset="0"/>
              </a:rPr>
              <a:t> = the number of </a:t>
            </a:r>
            <a:r>
              <a:rPr lang="en-US" sz="2800">
                <a:latin typeface="Tahoma" pitchFamily="34" charset="0"/>
              </a:rPr>
              <a:t>workers assigned </a:t>
            </a:r>
            <a:r>
              <a:rPr lang="en-US" sz="2800" dirty="0">
                <a:latin typeface="Tahoma" pitchFamily="34" charset="0"/>
              </a:rPr>
              <a:t>to shift 1</a:t>
            </a:r>
          </a:p>
          <a:p>
            <a:pPr eaLnBrk="0" hangingPunct="0">
              <a:lnSpc>
                <a:spcPct val="150000"/>
              </a:lnSpc>
            </a:pPr>
            <a:r>
              <a:rPr lang="en-US" sz="2800" dirty="0">
                <a:latin typeface="Tahoma" pitchFamily="34" charset="0"/>
              </a:rPr>
              <a:t>X</a:t>
            </a:r>
            <a:r>
              <a:rPr lang="en-US" sz="2800" baseline="-25000" dirty="0">
                <a:latin typeface="Tahoma" pitchFamily="34" charset="0"/>
              </a:rPr>
              <a:t>2</a:t>
            </a:r>
            <a:r>
              <a:rPr lang="en-US" sz="2800" dirty="0">
                <a:latin typeface="Tahoma" pitchFamily="34" charset="0"/>
              </a:rPr>
              <a:t> = the number of </a:t>
            </a:r>
            <a:r>
              <a:rPr lang="en-US" sz="2800">
                <a:latin typeface="Tahoma" pitchFamily="34" charset="0"/>
              </a:rPr>
              <a:t>workers assigned </a:t>
            </a:r>
            <a:r>
              <a:rPr lang="en-US" sz="2800" dirty="0">
                <a:latin typeface="Tahoma" pitchFamily="34" charset="0"/>
              </a:rPr>
              <a:t>to shift 2</a:t>
            </a:r>
          </a:p>
          <a:p>
            <a:pPr eaLnBrk="0" hangingPunct="0">
              <a:lnSpc>
                <a:spcPct val="150000"/>
              </a:lnSpc>
            </a:pPr>
            <a:r>
              <a:rPr lang="en-US" sz="2800" dirty="0">
                <a:latin typeface="Tahoma" pitchFamily="34" charset="0"/>
              </a:rPr>
              <a:t>X</a:t>
            </a:r>
            <a:r>
              <a:rPr lang="en-US" sz="2800" baseline="-25000" dirty="0">
                <a:latin typeface="Tahoma" pitchFamily="34" charset="0"/>
              </a:rPr>
              <a:t>3</a:t>
            </a:r>
            <a:r>
              <a:rPr lang="en-US" sz="2800" dirty="0">
                <a:latin typeface="Tahoma" pitchFamily="34" charset="0"/>
              </a:rPr>
              <a:t> = the number of </a:t>
            </a:r>
            <a:r>
              <a:rPr lang="en-US" sz="2800">
                <a:latin typeface="Tahoma" pitchFamily="34" charset="0"/>
              </a:rPr>
              <a:t>workers assigned </a:t>
            </a:r>
            <a:r>
              <a:rPr lang="en-US" sz="2800" dirty="0">
                <a:latin typeface="Tahoma" pitchFamily="34" charset="0"/>
              </a:rPr>
              <a:t>to shift 3</a:t>
            </a:r>
          </a:p>
          <a:p>
            <a:pPr eaLnBrk="0" hangingPunct="0">
              <a:lnSpc>
                <a:spcPct val="150000"/>
              </a:lnSpc>
            </a:pPr>
            <a:r>
              <a:rPr lang="en-US" sz="2800" dirty="0">
                <a:latin typeface="Tahoma" pitchFamily="34" charset="0"/>
              </a:rPr>
              <a:t>X</a:t>
            </a:r>
            <a:r>
              <a:rPr lang="en-US" sz="2800" baseline="-25000" dirty="0">
                <a:latin typeface="Tahoma" pitchFamily="34" charset="0"/>
              </a:rPr>
              <a:t>4</a:t>
            </a:r>
            <a:r>
              <a:rPr lang="en-US" sz="2800" dirty="0">
                <a:latin typeface="Tahoma" pitchFamily="34" charset="0"/>
              </a:rPr>
              <a:t> = the number of </a:t>
            </a:r>
            <a:r>
              <a:rPr lang="en-US" sz="2800">
                <a:latin typeface="Tahoma" pitchFamily="34" charset="0"/>
              </a:rPr>
              <a:t>workers assigned </a:t>
            </a:r>
            <a:r>
              <a:rPr lang="en-US" sz="2800" dirty="0">
                <a:latin typeface="Tahoma" pitchFamily="34" charset="0"/>
              </a:rPr>
              <a:t>to shift 4</a:t>
            </a:r>
          </a:p>
          <a:p>
            <a:pPr eaLnBrk="0" hangingPunct="0">
              <a:lnSpc>
                <a:spcPct val="150000"/>
              </a:lnSpc>
            </a:pPr>
            <a:r>
              <a:rPr lang="en-US" sz="2800" dirty="0">
                <a:latin typeface="Tahoma" pitchFamily="34" charset="0"/>
              </a:rPr>
              <a:t>X</a:t>
            </a:r>
            <a:r>
              <a:rPr lang="en-US" sz="2800" baseline="-25000" dirty="0">
                <a:latin typeface="Tahoma" pitchFamily="34" charset="0"/>
              </a:rPr>
              <a:t>5</a:t>
            </a:r>
            <a:r>
              <a:rPr lang="en-US" sz="2800" dirty="0">
                <a:latin typeface="Tahoma" pitchFamily="34" charset="0"/>
              </a:rPr>
              <a:t> = the number of </a:t>
            </a:r>
            <a:r>
              <a:rPr lang="en-US" sz="2800">
                <a:latin typeface="Tahoma" pitchFamily="34" charset="0"/>
              </a:rPr>
              <a:t>workers assigned </a:t>
            </a:r>
            <a:r>
              <a:rPr lang="en-US" sz="2800" dirty="0">
                <a:latin typeface="Tahoma" pitchFamily="34" charset="0"/>
              </a:rPr>
              <a:t>to shift 5</a:t>
            </a:r>
          </a:p>
          <a:p>
            <a:pPr eaLnBrk="0" hangingPunct="0">
              <a:lnSpc>
                <a:spcPct val="150000"/>
              </a:lnSpc>
            </a:pPr>
            <a:r>
              <a:rPr lang="en-US" sz="2800" dirty="0">
                <a:latin typeface="Tahoma" pitchFamily="34" charset="0"/>
              </a:rPr>
              <a:t>X</a:t>
            </a:r>
            <a:r>
              <a:rPr lang="en-US" sz="2800" baseline="-25000" dirty="0">
                <a:latin typeface="Tahoma" pitchFamily="34" charset="0"/>
              </a:rPr>
              <a:t>6</a:t>
            </a:r>
            <a:r>
              <a:rPr lang="en-US" sz="2800" dirty="0">
                <a:latin typeface="Tahoma" pitchFamily="34" charset="0"/>
              </a:rPr>
              <a:t> = the number of </a:t>
            </a:r>
            <a:r>
              <a:rPr lang="en-US" sz="2800">
                <a:latin typeface="Tahoma" pitchFamily="34" charset="0"/>
              </a:rPr>
              <a:t>workers assigned </a:t>
            </a:r>
            <a:r>
              <a:rPr lang="en-US" sz="2800" dirty="0">
                <a:latin typeface="Tahoma" pitchFamily="34" charset="0"/>
              </a:rPr>
              <a:t>to shift 6</a:t>
            </a:r>
          </a:p>
          <a:p>
            <a:pPr eaLnBrk="0" hangingPunct="0">
              <a:lnSpc>
                <a:spcPct val="150000"/>
              </a:lnSpc>
            </a:pPr>
            <a:r>
              <a:rPr lang="en-US" sz="2800" dirty="0">
                <a:latin typeface="Tahoma" pitchFamily="34" charset="0"/>
              </a:rPr>
              <a:t>X</a:t>
            </a:r>
            <a:r>
              <a:rPr lang="en-US" sz="2800" baseline="-25000" dirty="0">
                <a:latin typeface="Tahoma" pitchFamily="34" charset="0"/>
              </a:rPr>
              <a:t>7</a:t>
            </a:r>
            <a:r>
              <a:rPr lang="en-US" sz="2800" dirty="0">
                <a:latin typeface="Tahoma" pitchFamily="34" charset="0"/>
              </a:rPr>
              <a:t> = the number of </a:t>
            </a:r>
            <a:r>
              <a:rPr lang="en-US" sz="2800">
                <a:latin typeface="Tahoma" pitchFamily="34" charset="0"/>
              </a:rPr>
              <a:t>workers assigned </a:t>
            </a:r>
            <a:r>
              <a:rPr lang="en-US" sz="2800" dirty="0">
                <a:latin typeface="Tahoma" pitchFamily="34" charset="0"/>
              </a:rPr>
              <a:t>to shift 7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Defining the Objective Function</a:t>
            </a:r>
          </a:p>
        </p:txBody>
      </p:sp>
      <p:sp>
        <p:nvSpPr>
          <p:cNvPr id="39939" name="Rectangle 3"/>
          <p:cNvSpPr>
            <a:spLocks noChangeArrowheads="1"/>
          </p:cNvSpPr>
          <p:nvPr/>
        </p:nvSpPr>
        <p:spPr bwMode="auto">
          <a:xfrm>
            <a:off x="354013" y="1728788"/>
            <a:ext cx="8256587" cy="112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3200" dirty="0">
                <a:latin typeface="Tahoma" pitchFamily="34" charset="0"/>
              </a:rPr>
              <a:t>Minimize </a:t>
            </a:r>
            <a:r>
              <a:rPr lang="en-US" sz="3200">
                <a:latin typeface="Tahoma" pitchFamily="34" charset="0"/>
              </a:rPr>
              <a:t>the total wage </a:t>
            </a:r>
            <a:r>
              <a:rPr lang="en-US" sz="3200" dirty="0">
                <a:latin typeface="Tahoma" pitchFamily="34" charset="0"/>
              </a:rPr>
              <a:t>expense.</a:t>
            </a:r>
            <a:endParaRPr lang="en-US" sz="2800" dirty="0">
              <a:latin typeface="Tahoma" pitchFamily="34" charset="0"/>
            </a:endParaRPr>
          </a:p>
          <a:p>
            <a:pPr eaLnBrk="0" hangingPunct="0">
              <a:spcBef>
                <a:spcPct val="50000"/>
              </a:spcBef>
            </a:pPr>
            <a:r>
              <a:rPr lang="en-US" sz="2400" dirty="0">
                <a:latin typeface="Tahoma" pitchFamily="34" charset="0"/>
              </a:rPr>
              <a:t>MIN: 680X</a:t>
            </a:r>
            <a:r>
              <a:rPr lang="en-US" sz="2400" baseline="-25000" dirty="0">
                <a:latin typeface="Tahoma" pitchFamily="34" charset="0"/>
              </a:rPr>
              <a:t>1 </a:t>
            </a:r>
            <a:r>
              <a:rPr lang="en-US" sz="2400" dirty="0">
                <a:latin typeface="Tahoma" pitchFamily="34" charset="0"/>
              </a:rPr>
              <a:t>+705X</a:t>
            </a:r>
            <a:r>
              <a:rPr lang="en-US" sz="2400" baseline="-25000" dirty="0">
                <a:latin typeface="Tahoma" pitchFamily="34" charset="0"/>
              </a:rPr>
              <a:t>2 </a:t>
            </a:r>
            <a:r>
              <a:rPr lang="en-US" sz="2400" dirty="0">
                <a:latin typeface="Tahoma" pitchFamily="34" charset="0"/>
              </a:rPr>
              <a:t>+705X</a:t>
            </a:r>
            <a:r>
              <a:rPr lang="en-US" sz="2400" baseline="-25000" dirty="0">
                <a:latin typeface="Tahoma" pitchFamily="34" charset="0"/>
              </a:rPr>
              <a:t>3 </a:t>
            </a:r>
            <a:r>
              <a:rPr lang="en-US" sz="2400" dirty="0">
                <a:latin typeface="Tahoma" pitchFamily="34" charset="0"/>
              </a:rPr>
              <a:t>+705X</a:t>
            </a:r>
            <a:r>
              <a:rPr lang="en-US" sz="2400" baseline="-25000" dirty="0">
                <a:latin typeface="Tahoma" pitchFamily="34" charset="0"/>
              </a:rPr>
              <a:t>4 </a:t>
            </a:r>
            <a:r>
              <a:rPr lang="en-US" sz="2400" dirty="0">
                <a:latin typeface="Tahoma" pitchFamily="34" charset="0"/>
              </a:rPr>
              <a:t>+705X</a:t>
            </a:r>
            <a:r>
              <a:rPr lang="en-US" sz="2400" baseline="-25000" dirty="0">
                <a:latin typeface="Tahoma" pitchFamily="34" charset="0"/>
              </a:rPr>
              <a:t>5</a:t>
            </a:r>
            <a:r>
              <a:rPr lang="en-US" sz="2400" dirty="0">
                <a:latin typeface="Tahoma" pitchFamily="34" charset="0"/>
              </a:rPr>
              <a:t> +680X</a:t>
            </a:r>
            <a:r>
              <a:rPr lang="en-US" sz="2400" baseline="-25000" dirty="0">
                <a:latin typeface="Tahoma" pitchFamily="34" charset="0"/>
              </a:rPr>
              <a:t>6</a:t>
            </a:r>
            <a:r>
              <a:rPr lang="en-US" sz="2400" dirty="0">
                <a:latin typeface="Tahoma" pitchFamily="34" charset="0"/>
              </a:rPr>
              <a:t> +655X</a:t>
            </a:r>
            <a:r>
              <a:rPr lang="en-US" sz="2400" baseline="-25000" dirty="0">
                <a:latin typeface="Tahoma" pitchFamily="34" charset="0"/>
              </a:rPr>
              <a:t>7</a:t>
            </a:r>
            <a:r>
              <a:rPr lang="en-US" sz="2400" dirty="0">
                <a:latin typeface="Times New Roman" pitchFamily="18" charset="0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4025"/>
            <a:ext cx="7772400" cy="722313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 dirty="0">
                <a:solidFill>
                  <a:schemeClr val="hlink"/>
                </a:solidFill>
              </a:rPr>
              <a:t>Defining </a:t>
            </a:r>
            <a:r>
              <a:rPr lang="en-US" sz="4000" i="1">
                <a:solidFill>
                  <a:schemeClr val="hlink"/>
                </a:solidFill>
              </a:rPr>
              <a:t>the Constraints</a:t>
            </a:r>
            <a:endParaRPr lang="en-US" sz="4000" i="1" dirty="0">
              <a:solidFill>
                <a:schemeClr val="hlink"/>
              </a:solidFill>
            </a:endParaRP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4638" y="1219200"/>
            <a:ext cx="8793162" cy="4657725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sz="2800" dirty="0"/>
              <a:t>Workers </a:t>
            </a:r>
            <a:r>
              <a:rPr lang="en-US" sz="2800"/>
              <a:t>required each day</a:t>
            </a:r>
            <a:endParaRPr lang="en-US" sz="2800" dirty="0"/>
          </a:p>
          <a:p>
            <a:pPr lvl="1">
              <a:buFontTx/>
              <a:buNone/>
            </a:pPr>
            <a:r>
              <a:rPr lang="en-US" sz="2400" dirty="0"/>
              <a:t>0X</a:t>
            </a:r>
            <a:r>
              <a:rPr lang="en-US" sz="2400" baseline="-25000" dirty="0"/>
              <a:t>1</a:t>
            </a:r>
            <a:r>
              <a:rPr lang="en-US" sz="2400" dirty="0"/>
              <a:t>+ 1X</a:t>
            </a:r>
            <a:r>
              <a:rPr lang="en-US" sz="2400" baseline="-25000" dirty="0"/>
              <a:t>2</a:t>
            </a:r>
            <a:r>
              <a:rPr lang="en-US" sz="2400" dirty="0"/>
              <a:t>+ 1X</a:t>
            </a:r>
            <a:r>
              <a:rPr lang="en-US" sz="2400" baseline="-25000" dirty="0"/>
              <a:t>3</a:t>
            </a:r>
            <a:r>
              <a:rPr lang="en-US" sz="2400" dirty="0"/>
              <a:t>+ 1X</a:t>
            </a:r>
            <a:r>
              <a:rPr lang="en-US" sz="2400" baseline="-25000" dirty="0"/>
              <a:t>4</a:t>
            </a:r>
            <a:r>
              <a:rPr lang="en-US" sz="2400" dirty="0"/>
              <a:t>+ 1X</a:t>
            </a:r>
            <a:r>
              <a:rPr lang="en-US" sz="2400" baseline="-25000" dirty="0"/>
              <a:t>5</a:t>
            </a:r>
            <a:r>
              <a:rPr lang="en-US" sz="2400" dirty="0"/>
              <a:t>+ 1X</a:t>
            </a:r>
            <a:r>
              <a:rPr lang="en-US" sz="2400" baseline="-25000" dirty="0"/>
              <a:t>6</a:t>
            </a:r>
            <a:r>
              <a:rPr lang="en-US" sz="2400" dirty="0"/>
              <a:t>+ 0X</a:t>
            </a:r>
            <a:r>
              <a:rPr lang="en-US" sz="2400" baseline="-25000" dirty="0"/>
              <a:t>7</a:t>
            </a:r>
            <a:r>
              <a:rPr lang="en-US" sz="2400" dirty="0"/>
              <a:t> &gt;= 18 </a:t>
            </a:r>
            <a:r>
              <a:rPr lang="en-US" sz="2400"/>
              <a:t>} Sunday</a:t>
            </a:r>
            <a:endParaRPr lang="en-US" sz="2400" dirty="0"/>
          </a:p>
          <a:p>
            <a:pPr lvl="1">
              <a:buFontTx/>
              <a:buNone/>
            </a:pPr>
            <a:r>
              <a:rPr lang="en-US" sz="2400" dirty="0"/>
              <a:t>0X</a:t>
            </a:r>
            <a:r>
              <a:rPr lang="en-US" sz="2400" baseline="-25000" dirty="0"/>
              <a:t>1</a:t>
            </a:r>
            <a:r>
              <a:rPr lang="en-US" sz="2400" dirty="0"/>
              <a:t>+ 0X</a:t>
            </a:r>
            <a:r>
              <a:rPr lang="en-US" sz="2400" baseline="-25000" dirty="0"/>
              <a:t>2</a:t>
            </a:r>
            <a:r>
              <a:rPr lang="en-US" sz="2400" dirty="0"/>
              <a:t>+ 1X</a:t>
            </a:r>
            <a:r>
              <a:rPr lang="en-US" sz="2400" baseline="-25000" dirty="0"/>
              <a:t>3</a:t>
            </a:r>
            <a:r>
              <a:rPr lang="en-US" sz="2400" dirty="0"/>
              <a:t>+ 1X</a:t>
            </a:r>
            <a:r>
              <a:rPr lang="en-US" sz="2400" baseline="-25000" dirty="0"/>
              <a:t>4</a:t>
            </a:r>
            <a:r>
              <a:rPr lang="en-US" sz="2400" dirty="0"/>
              <a:t>+ 1X</a:t>
            </a:r>
            <a:r>
              <a:rPr lang="en-US" sz="2400" baseline="-25000" dirty="0"/>
              <a:t>5</a:t>
            </a:r>
            <a:r>
              <a:rPr lang="en-US" sz="2400" dirty="0"/>
              <a:t>+ 1X</a:t>
            </a:r>
            <a:r>
              <a:rPr lang="en-US" sz="2400" baseline="-25000" dirty="0"/>
              <a:t>6</a:t>
            </a:r>
            <a:r>
              <a:rPr lang="en-US" sz="2400" dirty="0"/>
              <a:t>+ 1X</a:t>
            </a:r>
            <a:r>
              <a:rPr lang="en-US" sz="2400" baseline="-25000" dirty="0"/>
              <a:t>7</a:t>
            </a:r>
            <a:r>
              <a:rPr lang="en-US" sz="2400" dirty="0"/>
              <a:t> &gt;= 27 </a:t>
            </a:r>
            <a:r>
              <a:rPr lang="en-US" sz="2400"/>
              <a:t>} Monday</a:t>
            </a:r>
            <a:endParaRPr lang="en-US" sz="2400" dirty="0"/>
          </a:p>
          <a:p>
            <a:pPr lvl="1">
              <a:buFontTx/>
              <a:buNone/>
            </a:pPr>
            <a:r>
              <a:rPr lang="en-US" sz="2400" dirty="0"/>
              <a:t>1X</a:t>
            </a:r>
            <a:r>
              <a:rPr lang="en-US" sz="2400" baseline="-25000" dirty="0"/>
              <a:t>1</a:t>
            </a:r>
            <a:r>
              <a:rPr lang="en-US" sz="2400" dirty="0"/>
              <a:t>+ 0X</a:t>
            </a:r>
            <a:r>
              <a:rPr lang="en-US" sz="2400" baseline="-25000" dirty="0"/>
              <a:t>2</a:t>
            </a:r>
            <a:r>
              <a:rPr lang="en-US" sz="2400" dirty="0"/>
              <a:t>+ 0X</a:t>
            </a:r>
            <a:r>
              <a:rPr lang="en-US" sz="2400" baseline="-25000" dirty="0"/>
              <a:t>3</a:t>
            </a:r>
            <a:r>
              <a:rPr lang="en-US" sz="2400" dirty="0"/>
              <a:t>+ 1X</a:t>
            </a:r>
            <a:r>
              <a:rPr lang="en-US" sz="2400" baseline="-25000" dirty="0"/>
              <a:t>4</a:t>
            </a:r>
            <a:r>
              <a:rPr lang="en-US" sz="2400" dirty="0"/>
              <a:t>+ 1X</a:t>
            </a:r>
            <a:r>
              <a:rPr lang="en-US" sz="2400" baseline="-25000" dirty="0"/>
              <a:t>5</a:t>
            </a:r>
            <a:r>
              <a:rPr lang="en-US" sz="2400" dirty="0"/>
              <a:t>+ 1X</a:t>
            </a:r>
            <a:r>
              <a:rPr lang="en-US" sz="2400" baseline="-25000" dirty="0"/>
              <a:t>6</a:t>
            </a:r>
            <a:r>
              <a:rPr lang="en-US" sz="2400" dirty="0"/>
              <a:t>+ 1X</a:t>
            </a:r>
            <a:r>
              <a:rPr lang="en-US" sz="2400" baseline="-25000" dirty="0"/>
              <a:t>7</a:t>
            </a:r>
            <a:r>
              <a:rPr lang="en-US" sz="2400" dirty="0"/>
              <a:t> &gt;= 22 </a:t>
            </a:r>
            <a:r>
              <a:rPr lang="en-US" sz="2400"/>
              <a:t>}Tuesday</a:t>
            </a:r>
            <a:endParaRPr lang="en-US" sz="2400" dirty="0"/>
          </a:p>
          <a:p>
            <a:pPr lvl="1">
              <a:buFontTx/>
              <a:buNone/>
            </a:pPr>
            <a:r>
              <a:rPr lang="en-US" sz="2400" dirty="0"/>
              <a:t>1X</a:t>
            </a:r>
            <a:r>
              <a:rPr lang="en-US" sz="2400" baseline="-25000" dirty="0"/>
              <a:t>1</a:t>
            </a:r>
            <a:r>
              <a:rPr lang="en-US" sz="2400" dirty="0"/>
              <a:t>+ 1X</a:t>
            </a:r>
            <a:r>
              <a:rPr lang="en-US" sz="2400" baseline="-25000" dirty="0"/>
              <a:t>2</a:t>
            </a:r>
            <a:r>
              <a:rPr lang="en-US" sz="2400" dirty="0"/>
              <a:t>+ 0X</a:t>
            </a:r>
            <a:r>
              <a:rPr lang="en-US" sz="2400" baseline="-25000" dirty="0"/>
              <a:t>3</a:t>
            </a:r>
            <a:r>
              <a:rPr lang="en-US" sz="2400" dirty="0"/>
              <a:t>+ 0X</a:t>
            </a:r>
            <a:r>
              <a:rPr lang="en-US" sz="2400" baseline="-25000" dirty="0"/>
              <a:t>4</a:t>
            </a:r>
            <a:r>
              <a:rPr lang="en-US" sz="2400" dirty="0"/>
              <a:t>+ 1X</a:t>
            </a:r>
            <a:r>
              <a:rPr lang="en-US" sz="2400" baseline="-25000" dirty="0"/>
              <a:t>5</a:t>
            </a:r>
            <a:r>
              <a:rPr lang="en-US" sz="2400" dirty="0"/>
              <a:t>+ 1X</a:t>
            </a:r>
            <a:r>
              <a:rPr lang="en-US" sz="2400" baseline="-25000" dirty="0"/>
              <a:t>6</a:t>
            </a:r>
            <a:r>
              <a:rPr lang="en-US" sz="2400" dirty="0"/>
              <a:t>+ 1X</a:t>
            </a:r>
            <a:r>
              <a:rPr lang="en-US" sz="2400" baseline="-25000" dirty="0"/>
              <a:t>7</a:t>
            </a:r>
            <a:r>
              <a:rPr lang="en-US" sz="2400" dirty="0"/>
              <a:t> &gt;= 26 </a:t>
            </a:r>
            <a:r>
              <a:rPr lang="en-US" sz="2400"/>
              <a:t>} Wednesday</a:t>
            </a:r>
            <a:endParaRPr lang="en-US" sz="2400" dirty="0"/>
          </a:p>
          <a:p>
            <a:pPr lvl="1">
              <a:buFontTx/>
              <a:buNone/>
            </a:pPr>
            <a:r>
              <a:rPr lang="en-US" sz="2400" dirty="0"/>
              <a:t>1X</a:t>
            </a:r>
            <a:r>
              <a:rPr lang="en-US" sz="2400" baseline="-25000" dirty="0"/>
              <a:t>1</a:t>
            </a:r>
            <a:r>
              <a:rPr lang="en-US" sz="2400" dirty="0"/>
              <a:t>+ 1X</a:t>
            </a:r>
            <a:r>
              <a:rPr lang="en-US" sz="2400" baseline="-25000" dirty="0"/>
              <a:t>2</a:t>
            </a:r>
            <a:r>
              <a:rPr lang="en-US" sz="2400" dirty="0"/>
              <a:t>+ 1X</a:t>
            </a:r>
            <a:r>
              <a:rPr lang="en-US" sz="2400" baseline="-25000" dirty="0"/>
              <a:t>3</a:t>
            </a:r>
            <a:r>
              <a:rPr lang="en-US" sz="2400" dirty="0"/>
              <a:t>+ 0X</a:t>
            </a:r>
            <a:r>
              <a:rPr lang="en-US" sz="2400" baseline="-25000" dirty="0"/>
              <a:t>4</a:t>
            </a:r>
            <a:r>
              <a:rPr lang="en-US" sz="2400" dirty="0"/>
              <a:t>+ 0X</a:t>
            </a:r>
            <a:r>
              <a:rPr lang="en-US" sz="2400" baseline="-25000" dirty="0"/>
              <a:t>5</a:t>
            </a:r>
            <a:r>
              <a:rPr lang="en-US" sz="2400" dirty="0"/>
              <a:t>+ 1X</a:t>
            </a:r>
            <a:r>
              <a:rPr lang="en-US" sz="2400" baseline="-25000" dirty="0"/>
              <a:t>6</a:t>
            </a:r>
            <a:r>
              <a:rPr lang="en-US" sz="2400" dirty="0"/>
              <a:t>+ 1X</a:t>
            </a:r>
            <a:r>
              <a:rPr lang="en-US" sz="2400" baseline="-25000" dirty="0"/>
              <a:t>7</a:t>
            </a:r>
            <a:r>
              <a:rPr lang="en-US" sz="2400" dirty="0"/>
              <a:t> &gt;= 25 </a:t>
            </a:r>
            <a:r>
              <a:rPr lang="en-US" sz="2400"/>
              <a:t>} Thursday</a:t>
            </a:r>
            <a:endParaRPr lang="en-US" sz="2400" dirty="0"/>
          </a:p>
          <a:p>
            <a:pPr lvl="1">
              <a:buFontTx/>
              <a:buNone/>
            </a:pPr>
            <a:r>
              <a:rPr lang="en-US" sz="2400" dirty="0"/>
              <a:t>1X</a:t>
            </a:r>
            <a:r>
              <a:rPr lang="en-US" sz="2400" baseline="-25000" dirty="0"/>
              <a:t>1</a:t>
            </a:r>
            <a:r>
              <a:rPr lang="en-US" sz="2400" dirty="0"/>
              <a:t>+ 1X</a:t>
            </a:r>
            <a:r>
              <a:rPr lang="en-US" sz="2400" baseline="-25000" dirty="0"/>
              <a:t>2</a:t>
            </a:r>
            <a:r>
              <a:rPr lang="en-US" sz="2400" dirty="0"/>
              <a:t>+ 1X</a:t>
            </a:r>
            <a:r>
              <a:rPr lang="en-US" sz="2400" baseline="-25000" dirty="0"/>
              <a:t>3</a:t>
            </a:r>
            <a:r>
              <a:rPr lang="en-US" sz="2400" dirty="0"/>
              <a:t>+ 1X</a:t>
            </a:r>
            <a:r>
              <a:rPr lang="en-US" sz="2400" baseline="-25000" dirty="0"/>
              <a:t>4</a:t>
            </a:r>
            <a:r>
              <a:rPr lang="en-US" sz="2400" dirty="0"/>
              <a:t>+ 0X</a:t>
            </a:r>
            <a:r>
              <a:rPr lang="en-US" sz="2400" baseline="-25000" dirty="0"/>
              <a:t>5</a:t>
            </a:r>
            <a:r>
              <a:rPr lang="en-US" sz="2400" dirty="0"/>
              <a:t>+ 0X</a:t>
            </a:r>
            <a:r>
              <a:rPr lang="en-US" sz="2400" baseline="-25000" dirty="0"/>
              <a:t>6</a:t>
            </a:r>
            <a:r>
              <a:rPr lang="en-US" sz="2400" dirty="0"/>
              <a:t>+ 1X</a:t>
            </a:r>
            <a:r>
              <a:rPr lang="en-US" sz="2400" baseline="-25000" dirty="0"/>
              <a:t>7</a:t>
            </a:r>
            <a:r>
              <a:rPr lang="en-US" sz="2400" dirty="0"/>
              <a:t> &gt;= 21 </a:t>
            </a:r>
            <a:r>
              <a:rPr lang="en-US" sz="2400"/>
              <a:t>} Friday</a:t>
            </a:r>
            <a:endParaRPr lang="en-US" sz="2400" dirty="0"/>
          </a:p>
          <a:p>
            <a:pPr lvl="1">
              <a:buFontTx/>
              <a:buNone/>
            </a:pPr>
            <a:r>
              <a:rPr lang="en-US" sz="2400" dirty="0"/>
              <a:t>1X</a:t>
            </a:r>
            <a:r>
              <a:rPr lang="en-US" sz="2400" baseline="-25000" dirty="0"/>
              <a:t>1</a:t>
            </a:r>
            <a:r>
              <a:rPr lang="en-US" sz="2400" dirty="0"/>
              <a:t>+ 1X</a:t>
            </a:r>
            <a:r>
              <a:rPr lang="en-US" sz="2400" baseline="-25000" dirty="0"/>
              <a:t>2</a:t>
            </a:r>
            <a:r>
              <a:rPr lang="en-US" sz="2400" dirty="0"/>
              <a:t>+ 1X</a:t>
            </a:r>
            <a:r>
              <a:rPr lang="en-US" sz="2400" baseline="-25000" dirty="0"/>
              <a:t>3</a:t>
            </a:r>
            <a:r>
              <a:rPr lang="en-US" sz="2400" dirty="0"/>
              <a:t>+ 1X</a:t>
            </a:r>
            <a:r>
              <a:rPr lang="en-US" sz="2400" baseline="-25000" dirty="0"/>
              <a:t>4</a:t>
            </a:r>
            <a:r>
              <a:rPr lang="en-US" sz="2400" dirty="0"/>
              <a:t>+ 1X</a:t>
            </a:r>
            <a:r>
              <a:rPr lang="en-US" sz="2400" baseline="-25000" dirty="0"/>
              <a:t>5</a:t>
            </a:r>
            <a:r>
              <a:rPr lang="en-US" sz="2400" dirty="0"/>
              <a:t>+ 0X</a:t>
            </a:r>
            <a:r>
              <a:rPr lang="en-US" sz="2400" baseline="-25000" dirty="0"/>
              <a:t>6</a:t>
            </a:r>
            <a:r>
              <a:rPr lang="en-US" sz="2400" dirty="0"/>
              <a:t>+ 0X</a:t>
            </a:r>
            <a:r>
              <a:rPr lang="en-US" sz="2400" baseline="-25000" dirty="0"/>
              <a:t>7</a:t>
            </a:r>
            <a:r>
              <a:rPr lang="en-US" sz="2400" dirty="0"/>
              <a:t> &gt;= 19 </a:t>
            </a:r>
            <a:r>
              <a:rPr lang="en-US" sz="2400"/>
              <a:t>} Saturday</a:t>
            </a:r>
            <a:endParaRPr lang="en-US" dirty="0"/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2800"/>
              <a:t>Nonnegativity &amp; integrality </a:t>
            </a:r>
            <a:r>
              <a:rPr lang="en-US" sz="2800" dirty="0"/>
              <a:t>conditions</a:t>
            </a:r>
          </a:p>
          <a:p>
            <a:pPr lvl="1">
              <a:lnSpc>
                <a:spcPct val="70000"/>
              </a:lnSpc>
              <a:buFontTx/>
              <a:buNone/>
            </a:pPr>
            <a:r>
              <a:rPr lang="en-US" sz="2400" dirty="0"/>
              <a:t>X</a:t>
            </a:r>
            <a:r>
              <a:rPr lang="en-US" sz="2400" i="1" baseline="-25000" dirty="0">
                <a:latin typeface="Times New Roman" pitchFamily="18" charset="0"/>
              </a:rPr>
              <a:t>i</a:t>
            </a:r>
            <a:r>
              <a:rPr lang="en-US" sz="2400" dirty="0"/>
              <a:t> &gt;= </a:t>
            </a:r>
            <a:r>
              <a:rPr lang="en-US" sz="2400"/>
              <a:t>0  and </a:t>
            </a:r>
            <a:r>
              <a:rPr lang="en-US" sz="2400" dirty="0"/>
              <a:t>integer </a:t>
            </a:r>
            <a:r>
              <a:rPr lang="en-US" sz="2400"/>
              <a:t>for all </a:t>
            </a:r>
            <a:r>
              <a:rPr lang="en-US" sz="2400" i="1" dirty="0" err="1">
                <a:latin typeface="Times New Roman" pitchFamily="18" charset="0"/>
              </a:rPr>
              <a:t>i</a:t>
            </a:r>
            <a:r>
              <a:rPr lang="en-US" sz="2400" b="1" i="1" dirty="0"/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026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Implementing the Model</a:t>
            </a:r>
          </a:p>
        </p:txBody>
      </p:sp>
      <p:sp>
        <p:nvSpPr>
          <p:cNvPr id="4198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868363"/>
          </a:xfrm>
          <a:noFill/>
          <a:ln/>
        </p:spPr>
        <p:txBody>
          <a:bodyPr lIns="92075" tIns="46038" rIns="92075" bIns="46038"/>
          <a:lstStyle/>
          <a:p>
            <a:pPr algn="ctr">
              <a:buFont typeface="Wingdings" pitchFamily="2" charset="2"/>
              <a:buNone/>
            </a:pPr>
            <a:r>
              <a:rPr lang="en-US" dirty="0"/>
              <a:t>See file </a:t>
            </a:r>
            <a:r>
              <a:rPr lang="en-US" dirty="0">
                <a:hlinkClick r:id="rId3" action="ppaction://hlinkfile"/>
              </a:rPr>
              <a:t>Fig6-13.xlsm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1813"/>
            <a:ext cx="8229600" cy="608012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Binary Variables</a:t>
            </a:r>
            <a:endParaRPr lang="en-US" sz="4000" i="1" dirty="0">
              <a:solidFill>
                <a:schemeClr val="hlink"/>
              </a:solidFill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4148138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120000"/>
              </a:lnSpc>
            </a:pPr>
            <a:r>
              <a:rPr lang="en-US" sz="3000"/>
              <a:t>Binary variables are integer variables that can assume </a:t>
            </a:r>
            <a:r>
              <a:rPr lang="en-US" sz="3000" dirty="0"/>
              <a:t>only </a:t>
            </a:r>
            <a:r>
              <a:rPr lang="en-US" sz="3000"/>
              <a:t>two values</a:t>
            </a:r>
            <a:r>
              <a:rPr lang="en-US" sz="3000" dirty="0"/>
              <a:t>: 0 or 1.</a:t>
            </a:r>
          </a:p>
          <a:p>
            <a:pPr>
              <a:lnSpc>
                <a:spcPct val="120000"/>
              </a:lnSpc>
            </a:pPr>
            <a:r>
              <a:rPr lang="en-US" sz="3000"/>
              <a:t>These variables can </a:t>
            </a:r>
            <a:r>
              <a:rPr lang="en-US" sz="3000" dirty="0"/>
              <a:t>be useful </a:t>
            </a:r>
            <a:r>
              <a:rPr lang="en-US" sz="3000"/>
              <a:t>in a </a:t>
            </a:r>
            <a:r>
              <a:rPr lang="en-US" sz="3000" dirty="0"/>
              <a:t>number </a:t>
            </a:r>
            <a:r>
              <a:rPr lang="en-US" sz="3000"/>
              <a:t>of practical modeling situations</a:t>
            </a:r>
            <a:r>
              <a:rPr lang="en-US" sz="3000" dirty="0"/>
              <a:t>….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77825"/>
            <a:ext cx="7772400" cy="846138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A Capital </a:t>
            </a:r>
            <a:r>
              <a:rPr lang="en-US" sz="4000" i="1" dirty="0">
                <a:solidFill>
                  <a:schemeClr val="hlink"/>
                </a:solidFill>
              </a:rPr>
              <a:t>Budgeting Problem:</a:t>
            </a:r>
            <a:br>
              <a:rPr lang="en-US" sz="4000" i="1" dirty="0">
                <a:solidFill>
                  <a:schemeClr val="hlink"/>
                </a:solidFill>
              </a:rPr>
            </a:br>
            <a:r>
              <a:rPr lang="en-US" sz="4000" i="1" dirty="0">
                <a:solidFill>
                  <a:schemeClr val="hlink"/>
                </a:solidFill>
              </a:rPr>
              <a:t>CRT Technologies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6600" y="1419225"/>
            <a:ext cx="7772400" cy="3305175"/>
          </a:xfrm>
          <a:noFill/>
          <a:ln/>
        </p:spPr>
        <p:txBody>
          <a:bodyPr lIns="92075" tIns="46038" rIns="92075" bIns="46038"/>
          <a:lstStyle/>
          <a:p>
            <a:pPr marL="0" indent="0">
              <a:lnSpc>
                <a:spcPct val="90000"/>
              </a:lnSpc>
              <a:buFont typeface="Wingdings" pitchFamily="2" charset="2"/>
              <a:buNone/>
              <a:tabLst>
                <a:tab pos="458788" algn="ctr"/>
                <a:tab pos="1768475" algn="ctr"/>
                <a:tab pos="3197225" algn="ctr"/>
                <a:tab pos="4116388" algn="ctr"/>
                <a:tab pos="5086350" algn="ctr"/>
                <a:tab pos="6003925" algn="ctr"/>
                <a:tab pos="6923088" algn="ctr"/>
              </a:tabLst>
            </a:pPr>
            <a:r>
              <a:rPr lang="en-US" sz="2200" b="1" dirty="0"/>
              <a:t>		</a:t>
            </a:r>
            <a:r>
              <a:rPr lang="en-US" sz="2100" b="1" dirty="0"/>
              <a:t>Expected NPV	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  <a:tabLst>
                <a:tab pos="458788" algn="ctr"/>
                <a:tab pos="1768475" algn="ctr"/>
                <a:tab pos="3197225" algn="ctr"/>
                <a:tab pos="4116388" algn="ctr"/>
                <a:tab pos="5086350" algn="ctr"/>
                <a:tab pos="6003925" algn="ctr"/>
                <a:tab pos="6923088" algn="ctr"/>
              </a:tabLst>
            </a:pPr>
            <a:r>
              <a:rPr lang="en-US" sz="2100" b="1" dirty="0"/>
              <a:t>	Project 	(in $000s) </a:t>
            </a:r>
            <a:r>
              <a:rPr lang="en-US" sz="2100" b="1"/>
              <a:t>	Year </a:t>
            </a:r>
            <a:r>
              <a:rPr lang="en-US" sz="2100" b="1" dirty="0"/>
              <a:t>1 </a:t>
            </a:r>
            <a:r>
              <a:rPr lang="en-US" sz="2100" b="1"/>
              <a:t>	Year </a:t>
            </a:r>
            <a:r>
              <a:rPr lang="en-US" sz="2100" b="1" dirty="0"/>
              <a:t>2 </a:t>
            </a:r>
            <a:r>
              <a:rPr lang="en-US" sz="2100" b="1"/>
              <a:t>	Year </a:t>
            </a:r>
            <a:r>
              <a:rPr lang="en-US" sz="2100" b="1" dirty="0"/>
              <a:t>3 </a:t>
            </a:r>
            <a:r>
              <a:rPr lang="en-US" sz="2100" b="1"/>
              <a:t>	Year </a:t>
            </a:r>
            <a:r>
              <a:rPr lang="en-US" sz="2100" b="1" dirty="0"/>
              <a:t>4 </a:t>
            </a:r>
            <a:r>
              <a:rPr lang="en-US" sz="2100" b="1"/>
              <a:t>	Year </a:t>
            </a:r>
            <a:r>
              <a:rPr lang="en-US" sz="2100" b="1" dirty="0"/>
              <a:t>5</a:t>
            </a:r>
          </a:p>
          <a:p>
            <a:pPr marL="0" indent="0">
              <a:buFont typeface="Wingdings" pitchFamily="2" charset="2"/>
              <a:buNone/>
              <a:tabLst>
                <a:tab pos="458788" algn="ctr"/>
                <a:tab pos="1768475" algn="ctr"/>
                <a:tab pos="3197225" algn="ctr"/>
                <a:tab pos="4116388" algn="ctr"/>
                <a:tab pos="5086350" algn="ctr"/>
                <a:tab pos="6003925" algn="ctr"/>
                <a:tab pos="6923088" algn="ctr"/>
              </a:tabLst>
            </a:pPr>
            <a:r>
              <a:rPr lang="en-US" sz="2200" dirty="0"/>
              <a:t>	1	$141	 $75	$25	$20	$15	$10	</a:t>
            </a:r>
          </a:p>
          <a:p>
            <a:pPr marL="0" indent="0">
              <a:buFont typeface="Wingdings" pitchFamily="2" charset="2"/>
              <a:buNone/>
              <a:tabLst>
                <a:tab pos="458788" algn="ctr"/>
                <a:tab pos="1768475" algn="ctr"/>
                <a:tab pos="3197225" algn="ctr"/>
                <a:tab pos="4116388" algn="ctr"/>
                <a:tab pos="5086350" algn="ctr"/>
                <a:tab pos="6003925" algn="ctr"/>
                <a:tab pos="6923088" algn="ctr"/>
              </a:tabLst>
            </a:pPr>
            <a:r>
              <a:rPr lang="en-US" sz="2200" dirty="0"/>
              <a:t>	2	$187	 $90	$35	 $0	 $0	$30	</a:t>
            </a:r>
          </a:p>
          <a:p>
            <a:pPr marL="0" indent="0">
              <a:buFont typeface="Wingdings" pitchFamily="2" charset="2"/>
              <a:buNone/>
              <a:tabLst>
                <a:tab pos="458788" algn="ctr"/>
                <a:tab pos="1768475" algn="ctr"/>
                <a:tab pos="3197225" algn="ctr"/>
                <a:tab pos="4116388" algn="ctr"/>
                <a:tab pos="5086350" algn="ctr"/>
                <a:tab pos="6003925" algn="ctr"/>
                <a:tab pos="6923088" algn="ctr"/>
              </a:tabLst>
            </a:pPr>
            <a:r>
              <a:rPr lang="en-US" sz="2200" dirty="0"/>
              <a:t>	3	$121	 $60	$15	$15	$15	$15	</a:t>
            </a:r>
          </a:p>
          <a:p>
            <a:pPr marL="0" indent="0">
              <a:buFont typeface="Wingdings" pitchFamily="2" charset="2"/>
              <a:buNone/>
              <a:tabLst>
                <a:tab pos="458788" algn="ctr"/>
                <a:tab pos="1768475" algn="ctr"/>
                <a:tab pos="3197225" algn="ctr"/>
                <a:tab pos="4116388" algn="ctr"/>
                <a:tab pos="5086350" algn="ctr"/>
                <a:tab pos="6003925" algn="ctr"/>
                <a:tab pos="6923088" algn="ctr"/>
              </a:tabLst>
            </a:pPr>
            <a:r>
              <a:rPr lang="en-US" sz="2200" dirty="0"/>
              <a:t>	4	 $83	 $30	$20	$10	 $5	 $5	</a:t>
            </a:r>
          </a:p>
          <a:p>
            <a:pPr marL="0" indent="0">
              <a:buFont typeface="Wingdings" pitchFamily="2" charset="2"/>
              <a:buNone/>
              <a:tabLst>
                <a:tab pos="458788" algn="ctr"/>
                <a:tab pos="1768475" algn="ctr"/>
                <a:tab pos="3197225" algn="ctr"/>
                <a:tab pos="4116388" algn="ctr"/>
                <a:tab pos="5086350" algn="ctr"/>
                <a:tab pos="6003925" algn="ctr"/>
                <a:tab pos="6923088" algn="ctr"/>
              </a:tabLst>
            </a:pPr>
            <a:r>
              <a:rPr lang="en-US" sz="2200" dirty="0"/>
              <a:t>	5	$265	$100	$25	$20	$20	$20	</a:t>
            </a:r>
          </a:p>
          <a:p>
            <a:pPr marL="0" indent="0">
              <a:buFont typeface="Wingdings" pitchFamily="2" charset="2"/>
              <a:buNone/>
              <a:tabLst>
                <a:tab pos="458788" algn="ctr"/>
                <a:tab pos="1768475" algn="ctr"/>
                <a:tab pos="3197225" algn="ctr"/>
                <a:tab pos="4116388" algn="ctr"/>
                <a:tab pos="5086350" algn="ctr"/>
                <a:tab pos="6003925" algn="ctr"/>
                <a:tab pos="6923088" algn="ctr"/>
              </a:tabLst>
            </a:pPr>
            <a:r>
              <a:rPr lang="en-US" sz="2200" dirty="0"/>
              <a:t>	6	$127	 $50	$20	$10	$30	$40	</a:t>
            </a:r>
          </a:p>
          <a:p>
            <a:pPr marL="0" indent="0">
              <a:buFont typeface="Wingdings" pitchFamily="2" charset="2"/>
              <a:buNone/>
              <a:tabLst>
                <a:tab pos="458788" algn="ctr"/>
                <a:tab pos="1768475" algn="ctr"/>
                <a:tab pos="3197225" algn="ctr"/>
                <a:tab pos="4116388" algn="ctr"/>
                <a:tab pos="5086350" algn="ctr"/>
                <a:tab pos="6003925" algn="ctr"/>
                <a:tab pos="6923088" algn="ctr"/>
              </a:tabLst>
            </a:pPr>
            <a:endParaRPr lang="en-US" sz="2200" dirty="0"/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3886200" y="1371600"/>
            <a:ext cx="4430713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en-US" sz="2200" b="1">
                <a:latin typeface="Tahoma" pitchFamily="34" charset="0"/>
              </a:rPr>
              <a:t>Capital </a:t>
            </a:r>
            <a:r>
              <a:rPr lang="en-US" sz="2200" b="1" dirty="0">
                <a:latin typeface="Tahoma" pitchFamily="34" charset="0"/>
              </a:rPr>
              <a:t>(in $000s) Required in</a:t>
            </a:r>
          </a:p>
        </p:txBody>
      </p:sp>
      <p:sp>
        <p:nvSpPr>
          <p:cNvPr id="19461" name="Line 5"/>
          <p:cNvSpPr>
            <a:spLocks noChangeShapeType="1"/>
          </p:cNvSpPr>
          <p:nvPr/>
        </p:nvSpPr>
        <p:spPr bwMode="auto">
          <a:xfrm>
            <a:off x="812800" y="2133600"/>
            <a:ext cx="73644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2" name="Rectangle 6"/>
          <p:cNvSpPr>
            <a:spLocks noChangeArrowheads="1"/>
          </p:cNvSpPr>
          <p:nvPr/>
        </p:nvSpPr>
        <p:spPr bwMode="auto">
          <a:xfrm>
            <a:off x="693738" y="4800600"/>
            <a:ext cx="7942262" cy="153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220663" indent="-220663" eaLnBrk="0" hangingPunct="0">
              <a:spcBef>
                <a:spcPct val="50000"/>
              </a:spcBef>
              <a:buClr>
                <a:schemeClr val="hlink"/>
              </a:buClr>
              <a:buSzPct val="105000"/>
              <a:buFont typeface="Wingdings" pitchFamily="2" charset="2"/>
              <a:buChar char="§"/>
            </a:pPr>
            <a:r>
              <a:rPr lang="en-US" sz="2100">
                <a:latin typeface="Tahoma" pitchFamily="34" charset="0"/>
              </a:rPr>
              <a:t>The company has </a:t>
            </a:r>
            <a:r>
              <a:rPr lang="en-US" sz="2100" dirty="0">
                <a:latin typeface="Tahoma" pitchFamily="34" charset="0"/>
              </a:rPr>
              <a:t>$</a:t>
            </a:r>
            <a:r>
              <a:rPr lang="en-US" sz="2100">
                <a:latin typeface="Tahoma" pitchFamily="34" charset="0"/>
              </a:rPr>
              <a:t>250,000 available </a:t>
            </a:r>
            <a:r>
              <a:rPr lang="en-US" sz="2100" dirty="0">
                <a:latin typeface="Tahoma" pitchFamily="34" charset="0"/>
              </a:rPr>
              <a:t>to invest in new projects. </a:t>
            </a:r>
            <a:r>
              <a:rPr lang="en-US" sz="2100">
                <a:latin typeface="Tahoma" pitchFamily="34" charset="0"/>
              </a:rPr>
              <a:t>It has </a:t>
            </a:r>
            <a:r>
              <a:rPr lang="en-US" sz="2100" dirty="0">
                <a:latin typeface="Tahoma" pitchFamily="34" charset="0"/>
              </a:rPr>
              <a:t>budgeted $75,000 for continued support for these projects </a:t>
            </a:r>
            <a:r>
              <a:rPr lang="en-US" sz="2100">
                <a:latin typeface="Tahoma" pitchFamily="34" charset="0"/>
              </a:rPr>
              <a:t>in year 2 and </a:t>
            </a:r>
            <a:r>
              <a:rPr lang="en-US" sz="2100" dirty="0">
                <a:latin typeface="Tahoma" pitchFamily="34" charset="0"/>
              </a:rPr>
              <a:t>$50,000 </a:t>
            </a:r>
            <a:r>
              <a:rPr lang="en-US" sz="2100">
                <a:latin typeface="Tahoma" pitchFamily="34" charset="0"/>
              </a:rPr>
              <a:t>per year for years </a:t>
            </a:r>
            <a:r>
              <a:rPr lang="en-US" sz="2100" dirty="0">
                <a:latin typeface="Tahoma" pitchFamily="34" charset="0"/>
              </a:rPr>
              <a:t>3, 4</a:t>
            </a:r>
            <a:r>
              <a:rPr lang="en-US" sz="2100">
                <a:latin typeface="Tahoma" pitchFamily="34" charset="0"/>
              </a:rPr>
              <a:t>, and </a:t>
            </a:r>
            <a:r>
              <a:rPr lang="en-US" sz="2100" dirty="0">
                <a:latin typeface="Tahoma" pitchFamily="34" charset="0"/>
              </a:rPr>
              <a:t>5.  </a:t>
            </a:r>
          </a:p>
          <a:p>
            <a:pPr marL="220663" indent="-220663" eaLnBrk="0" hangingPunct="0">
              <a:spcBef>
                <a:spcPct val="50000"/>
              </a:spcBef>
              <a:buClr>
                <a:schemeClr val="hlink"/>
              </a:buClr>
              <a:buSzPct val="105000"/>
              <a:buFont typeface="Wingdings" pitchFamily="2" charset="2"/>
              <a:buChar char="§"/>
            </a:pPr>
            <a:r>
              <a:rPr lang="en-US" sz="2100" dirty="0">
                <a:latin typeface="Tahoma" pitchFamily="34" charset="0"/>
              </a:rPr>
              <a:t>Unused funds </a:t>
            </a:r>
            <a:r>
              <a:rPr lang="en-US" sz="2100">
                <a:latin typeface="Tahoma" pitchFamily="34" charset="0"/>
              </a:rPr>
              <a:t>in any year cannot be carried </a:t>
            </a:r>
            <a:r>
              <a:rPr lang="en-US" sz="2100" dirty="0">
                <a:latin typeface="Tahoma" pitchFamily="34" charset="0"/>
              </a:rPr>
              <a:t>over.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24200" y="6359525"/>
            <a:ext cx="2895600" cy="476250"/>
          </a:xfrm>
        </p:spPr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sz="4000" i="1" dirty="0">
                <a:solidFill>
                  <a:schemeClr val="hlink"/>
                </a:solidFill>
              </a:rPr>
              <a:t>Defining the </a:t>
            </a:r>
            <a:r>
              <a:rPr lang="en-US" sz="4000" i="1">
                <a:solidFill>
                  <a:schemeClr val="hlink"/>
                </a:solidFill>
              </a:rPr>
              <a:t>Decision Variables</a:t>
            </a:r>
            <a:endParaRPr lang="en-US" sz="4000" i="1" dirty="0">
              <a:solidFill>
                <a:schemeClr val="hlink"/>
              </a:solidFill>
            </a:endParaRPr>
          </a:p>
        </p:txBody>
      </p:sp>
      <p:graphicFrame>
        <p:nvGraphicFramePr>
          <p:cNvPr id="20483" name="Object 3"/>
          <p:cNvGraphicFramePr>
            <a:graphicFrameLocks noGrp="1"/>
          </p:cNvGraphicFramePr>
          <p:nvPr>
            <p:ph type="body" idx="1"/>
          </p:nvPr>
        </p:nvGraphicFramePr>
        <p:xfrm>
          <a:off x="463550" y="1816100"/>
          <a:ext cx="8113713" cy="157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44" name="Equation" r:id="rId4" imgW="3025440" imgH="558360" progId="Equation.2">
                  <p:embed/>
                </p:oleObj>
              </mc:Choice>
              <mc:Fallback>
                <p:oleObj name="Equation" r:id="rId4" imgW="3025440" imgH="558360" progId="Equation.2">
                  <p:embed/>
                  <p:pic>
                    <p:nvPicPr>
                      <p:cNvPr id="0" name="Picture 1039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550" y="1816100"/>
                        <a:ext cx="8113713" cy="1579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24200" y="6257925"/>
            <a:ext cx="2895600" cy="476250"/>
          </a:xfrm>
        </p:spPr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71512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Defining the Objective Function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905000"/>
            <a:ext cx="8605838" cy="2401888"/>
          </a:xfrm>
          <a:noFill/>
          <a:ln/>
        </p:spPr>
        <p:txBody>
          <a:bodyPr lIns="92075" tIns="46038" rIns="92075" bIns="46038"/>
          <a:lstStyle/>
          <a:p>
            <a:pPr algn="ctr">
              <a:buFont typeface="Wingdings" pitchFamily="2" charset="2"/>
              <a:buNone/>
            </a:pPr>
            <a:r>
              <a:rPr lang="en-US"/>
              <a:t>Maximize the total </a:t>
            </a:r>
            <a:r>
              <a:rPr lang="en-US" dirty="0"/>
              <a:t>NPV of selected projects.</a:t>
            </a:r>
          </a:p>
          <a:p>
            <a:pPr algn="ctr">
              <a:buFont typeface="Wingdings" pitchFamily="2" charset="2"/>
              <a:buNone/>
            </a:pPr>
            <a:endParaRPr lang="en-US" sz="2800" dirty="0"/>
          </a:p>
          <a:p>
            <a:pPr algn="ctr">
              <a:buFont typeface="Wingdings" pitchFamily="2" charset="2"/>
              <a:buNone/>
            </a:pPr>
            <a:r>
              <a:rPr lang="en-US" sz="2800"/>
              <a:t>MAX</a:t>
            </a:r>
            <a:r>
              <a:rPr lang="en-US" sz="2800" dirty="0"/>
              <a:t>:   141X</a:t>
            </a:r>
            <a:r>
              <a:rPr lang="en-US" sz="2800" baseline="-25000" dirty="0"/>
              <a:t>1</a:t>
            </a:r>
            <a:r>
              <a:rPr lang="en-US" sz="2800" dirty="0"/>
              <a:t> + 187X</a:t>
            </a:r>
            <a:r>
              <a:rPr lang="en-US" sz="2800" baseline="-25000" dirty="0"/>
              <a:t>2</a:t>
            </a:r>
            <a:r>
              <a:rPr lang="en-US" sz="2800" dirty="0"/>
              <a:t> + </a:t>
            </a:r>
            <a:r>
              <a:rPr lang="en-US" dirty="0"/>
              <a:t>121X</a:t>
            </a:r>
            <a:r>
              <a:rPr lang="en-US" baseline="-25000" dirty="0"/>
              <a:t>3</a:t>
            </a:r>
            <a:r>
              <a:rPr lang="en-US" sz="2800" dirty="0"/>
              <a:t> </a:t>
            </a:r>
          </a:p>
          <a:p>
            <a:pPr algn="ctr">
              <a:buFont typeface="Wingdings" pitchFamily="2" charset="2"/>
              <a:buNone/>
            </a:pPr>
            <a:r>
              <a:rPr lang="en-US" sz="2800" dirty="0"/>
              <a:t>        + 83X</a:t>
            </a:r>
            <a:r>
              <a:rPr lang="en-US" sz="2800" baseline="-25000" dirty="0"/>
              <a:t>4</a:t>
            </a:r>
            <a:r>
              <a:rPr lang="en-US" sz="2800" dirty="0"/>
              <a:t> + 265X</a:t>
            </a:r>
            <a:r>
              <a:rPr lang="en-US" sz="2800" baseline="-25000" dirty="0"/>
              <a:t>5</a:t>
            </a:r>
            <a:r>
              <a:rPr lang="en-US" sz="2800" dirty="0"/>
              <a:t> + 127X</a:t>
            </a:r>
            <a:r>
              <a:rPr lang="en-US" sz="2800" baseline="-25000" dirty="0"/>
              <a:t>6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76262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 dirty="0">
                <a:solidFill>
                  <a:schemeClr val="hlink"/>
                </a:solidFill>
              </a:rPr>
              <a:t>Defining </a:t>
            </a:r>
            <a:r>
              <a:rPr lang="en-US" sz="4000" i="1">
                <a:solidFill>
                  <a:schemeClr val="hlink"/>
                </a:solidFill>
              </a:rPr>
              <a:t>the Constraints</a:t>
            </a:r>
            <a:endParaRPr lang="en-US" sz="4000" i="1" dirty="0">
              <a:solidFill>
                <a:schemeClr val="hlink"/>
              </a:solidFill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6225" y="1371600"/>
            <a:ext cx="8486775" cy="3581400"/>
          </a:xfrm>
          <a:noFill/>
          <a:ln/>
        </p:spPr>
        <p:txBody>
          <a:bodyPr lIns="92075" tIns="46038" rIns="92075" bIns="46038"/>
          <a:lstStyle/>
          <a:p>
            <a:pPr>
              <a:tabLst>
                <a:tab pos="7259638" algn="l"/>
              </a:tabLst>
            </a:pPr>
            <a:r>
              <a:rPr lang="en-US" sz="2800"/>
              <a:t>Capital Constraints</a:t>
            </a:r>
            <a:endParaRPr lang="en-US" dirty="0"/>
          </a:p>
          <a:p>
            <a:pPr marL="566738" lvl="1" indent="-109538">
              <a:buFontTx/>
              <a:buNone/>
              <a:tabLst>
                <a:tab pos="7259638" algn="l"/>
              </a:tabLst>
            </a:pPr>
            <a:r>
              <a:rPr lang="en-US" sz="2200" dirty="0"/>
              <a:t>	75X</a:t>
            </a:r>
            <a:r>
              <a:rPr lang="en-US" sz="2200" baseline="-25000" dirty="0"/>
              <a:t>1 </a:t>
            </a:r>
            <a:r>
              <a:rPr lang="en-US" sz="2200" dirty="0"/>
              <a:t>+ 90X</a:t>
            </a:r>
            <a:r>
              <a:rPr lang="en-US" sz="2200" baseline="-25000" dirty="0"/>
              <a:t>2 </a:t>
            </a:r>
            <a:r>
              <a:rPr lang="en-US" sz="2200" dirty="0"/>
              <a:t>+ 60X</a:t>
            </a:r>
            <a:r>
              <a:rPr lang="en-US" sz="2200" baseline="-25000" dirty="0"/>
              <a:t>3</a:t>
            </a:r>
            <a:r>
              <a:rPr lang="en-US" sz="2200" dirty="0"/>
              <a:t> + 30X</a:t>
            </a:r>
            <a:r>
              <a:rPr lang="en-US" sz="2200" baseline="-25000" dirty="0"/>
              <a:t>4</a:t>
            </a:r>
            <a:r>
              <a:rPr lang="en-US" sz="2200" dirty="0"/>
              <a:t> + 100X</a:t>
            </a:r>
            <a:r>
              <a:rPr lang="en-US" sz="2200" baseline="-25000" dirty="0"/>
              <a:t>5</a:t>
            </a:r>
            <a:r>
              <a:rPr lang="en-US" sz="2200" dirty="0"/>
              <a:t> + 50X</a:t>
            </a:r>
            <a:r>
              <a:rPr lang="en-US" sz="2200" baseline="-25000" dirty="0"/>
              <a:t>6</a:t>
            </a:r>
            <a:r>
              <a:rPr lang="en-US" sz="2200" dirty="0"/>
              <a:t> &lt;= 250  	</a:t>
            </a:r>
            <a:r>
              <a:rPr lang="en-US" sz="2200"/>
              <a:t>} year </a:t>
            </a:r>
            <a:r>
              <a:rPr lang="en-US" sz="2200" dirty="0"/>
              <a:t>1</a:t>
            </a:r>
          </a:p>
          <a:p>
            <a:pPr marL="566738" lvl="1" indent="-109538">
              <a:buFontTx/>
              <a:buNone/>
              <a:tabLst>
                <a:tab pos="7259638" algn="l"/>
              </a:tabLst>
            </a:pPr>
            <a:r>
              <a:rPr lang="en-US" sz="2200" dirty="0"/>
              <a:t>	25X</a:t>
            </a:r>
            <a:r>
              <a:rPr lang="en-US" sz="2200" baseline="-25000" dirty="0"/>
              <a:t>1 </a:t>
            </a:r>
            <a:r>
              <a:rPr lang="en-US" sz="2200" dirty="0"/>
              <a:t>+ 35X</a:t>
            </a:r>
            <a:r>
              <a:rPr lang="en-US" sz="2200" baseline="-25000" dirty="0"/>
              <a:t>2 </a:t>
            </a:r>
            <a:r>
              <a:rPr lang="en-US" sz="2200" dirty="0"/>
              <a:t>+15X</a:t>
            </a:r>
            <a:r>
              <a:rPr lang="en-US" sz="2200" baseline="-25000" dirty="0"/>
              <a:t>3</a:t>
            </a:r>
            <a:r>
              <a:rPr lang="en-US" sz="2200" dirty="0"/>
              <a:t> + 20X</a:t>
            </a:r>
            <a:r>
              <a:rPr lang="en-US" sz="2200" baseline="-25000" dirty="0"/>
              <a:t>4</a:t>
            </a:r>
            <a:r>
              <a:rPr lang="en-US" sz="2200" dirty="0"/>
              <a:t>  + 25X</a:t>
            </a:r>
            <a:r>
              <a:rPr lang="en-US" sz="2200" baseline="-25000" dirty="0"/>
              <a:t>5</a:t>
            </a:r>
            <a:r>
              <a:rPr lang="en-US" sz="2200" dirty="0"/>
              <a:t> + 20X</a:t>
            </a:r>
            <a:r>
              <a:rPr lang="en-US" sz="2200" baseline="-25000" dirty="0"/>
              <a:t>6</a:t>
            </a:r>
            <a:r>
              <a:rPr lang="en-US" sz="2200" dirty="0"/>
              <a:t> &lt;= 75     	</a:t>
            </a:r>
            <a:r>
              <a:rPr lang="en-US" sz="2200"/>
              <a:t>} year </a:t>
            </a:r>
            <a:r>
              <a:rPr lang="en-US" sz="2200" dirty="0"/>
              <a:t>2</a:t>
            </a:r>
          </a:p>
          <a:p>
            <a:pPr marL="566738" lvl="1" indent="-109538">
              <a:buFontTx/>
              <a:buNone/>
              <a:tabLst>
                <a:tab pos="7259638" algn="l"/>
              </a:tabLst>
            </a:pPr>
            <a:r>
              <a:rPr lang="en-US" sz="2200" dirty="0"/>
              <a:t>	20X</a:t>
            </a:r>
            <a:r>
              <a:rPr lang="en-US" sz="2200" baseline="-25000" dirty="0"/>
              <a:t>1 </a:t>
            </a:r>
            <a:r>
              <a:rPr lang="en-US" sz="2200" dirty="0"/>
              <a:t>+ 0X</a:t>
            </a:r>
            <a:r>
              <a:rPr lang="en-US" sz="2200" baseline="-25000" dirty="0"/>
              <a:t>2   </a:t>
            </a:r>
            <a:r>
              <a:rPr lang="en-US" sz="2200" dirty="0"/>
              <a:t>+ 15X</a:t>
            </a:r>
            <a:r>
              <a:rPr lang="en-US" sz="2200" baseline="-25000" dirty="0"/>
              <a:t>3</a:t>
            </a:r>
            <a:r>
              <a:rPr lang="en-US" sz="2200" dirty="0"/>
              <a:t> + 10X</a:t>
            </a:r>
            <a:r>
              <a:rPr lang="en-US" sz="2200" baseline="-25000" dirty="0"/>
              <a:t>4</a:t>
            </a:r>
            <a:r>
              <a:rPr lang="en-US" sz="2200" dirty="0"/>
              <a:t> + 20X</a:t>
            </a:r>
            <a:r>
              <a:rPr lang="en-US" sz="2200" baseline="-25000" dirty="0"/>
              <a:t>5</a:t>
            </a:r>
            <a:r>
              <a:rPr lang="en-US" sz="2200" dirty="0"/>
              <a:t> + 10X</a:t>
            </a:r>
            <a:r>
              <a:rPr lang="en-US" sz="2200" baseline="-25000" dirty="0"/>
              <a:t>6 </a:t>
            </a:r>
            <a:r>
              <a:rPr lang="en-US" sz="2200" dirty="0"/>
              <a:t>&lt;= 50     	</a:t>
            </a:r>
            <a:r>
              <a:rPr lang="en-US" sz="2200"/>
              <a:t>} year </a:t>
            </a:r>
            <a:r>
              <a:rPr lang="en-US" sz="2200" dirty="0"/>
              <a:t>3</a:t>
            </a:r>
          </a:p>
          <a:p>
            <a:pPr marL="566738" lvl="1" indent="-109538">
              <a:buFontTx/>
              <a:buNone/>
              <a:tabLst>
                <a:tab pos="7259638" algn="l"/>
              </a:tabLst>
            </a:pPr>
            <a:r>
              <a:rPr lang="en-US" sz="2200" dirty="0"/>
              <a:t>	15X</a:t>
            </a:r>
            <a:r>
              <a:rPr lang="en-US" sz="2200" baseline="-25000" dirty="0"/>
              <a:t>1 </a:t>
            </a:r>
            <a:r>
              <a:rPr lang="en-US" sz="2200" dirty="0"/>
              <a:t>+ 0X</a:t>
            </a:r>
            <a:r>
              <a:rPr lang="en-US" sz="2200" baseline="-25000" dirty="0"/>
              <a:t>2   </a:t>
            </a:r>
            <a:r>
              <a:rPr lang="en-US" sz="2200" dirty="0"/>
              <a:t>+ 15X</a:t>
            </a:r>
            <a:r>
              <a:rPr lang="en-US" sz="2200" baseline="-25000" dirty="0"/>
              <a:t>3</a:t>
            </a:r>
            <a:r>
              <a:rPr lang="en-US" sz="2200" dirty="0"/>
              <a:t> +  5X</a:t>
            </a:r>
            <a:r>
              <a:rPr lang="en-US" sz="2200" baseline="-25000" dirty="0"/>
              <a:t>4</a:t>
            </a:r>
            <a:r>
              <a:rPr lang="en-US" sz="2200" dirty="0"/>
              <a:t>  + 20X</a:t>
            </a:r>
            <a:r>
              <a:rPr lang="en-US" sz="2200" baseline="-25000" dirty="0"/>
              <a:t>5</a:t>
            </a:r>
            <a:r>
              <a:rPr lang="en-US" sz="2200" dirty="0"/>
              <a:t> + 30X</a:t>
            </a:r>
            <a:r>
              <a:rPr lang="en-US" sz="2200" baseline="-25000" dirty="0"/>
              <a:t>6</a:t>
            </a:r>
            <a:r>
              <a:rPr lang="en-US" sz="2200" dirty="0"/>
              <a:t> &lt;= 50     	</a:t>
            </a:r>
            <a:r>
              <a:rPr lang="en-US" sz="2200"/>
              <a:t>} year </a:t>
            </a:r>
            <a:r>
              <a:rPr lang="en-US" sz="2200" dirty="0"/>
              <a:t>4</a:t>
            </a:r>
          </a:p>
          <a:p>
            <a:pPr marL="566738" lvl="1" indent="-109538">
              <a:buFontTx/>
              <a:buNone/>
              <a:tabLst>
                <a:tab pos="7259638" algn="l"/>
              </a:tabLst>
            </a:pPr>
            <a:r>
              <a:rPr lang="en-US" sz="2200" dirty="0"/>
              <a:t>	10X</a:t>
            </a:r>
            <a:r>
              <a:rPr lang="en-US" sz="2200" baseline="-25000" dirty="0"/>
              <a:t>1 </a:t>
            </a:r>
            <a:r>
              <a:rPr lang="en-US" sz="2200" dirty="0"/>
              <a:t>+30X</a:t>
            </a:r>
            <a:r>
              <a:rPr lang="en-US" sz="2200" baseline="-25000" dirty="0"/>
              <a:t>2 </a:t>
            </a:r>
            <a:r>
              <a:rPr lang="en-US" sz="2200" dirty="0"/>
              <a:t>+15X</a:t>
            </a:r>
            <a:r>
              <a:rPr lang="en-US" sz="2200" baseline="-25000" dirty="0"/>
              <a:t>3</a:t>
            </a:r>
            <a:r>
              <a:rPr lang="en-US" sz="2200" dirty="0"/>
              <a:t>  +  5X</a:t>
            </a:r>
            <a:r>
              <a:rPr lang="en-US" sz="2200" baseline="-25000" dirty="0"/>
              <a:t>4</a:t>
            </a:r>
            <a:r>
              <a:rPr lang="en-US" sz="2200" dirty="0"/>
              <a:t>  + 20X</a:t>
            </a:r>
            <a:r>
              <a:rPr lang="en-US" sz="2200" baseline="-25000" dirty="0"/>
              <a:t>5</a:t>
            </a:r>
            <a:r>
              <a:rPr lang="en-US" sz="2200" dirty="0"/>
              <a:t> + 40X</a:t>
            </a:r>
            <a:r>
              <a:rPr lang="en-US" sz="2200" baseline="-25000" dirty="0"/>
              <a:t>6</a:t>
            </a:r>
            <a:r>
              <a:rPr lang="en-US" sz="2200" dirty="0"/>
              <a:t> &lt;= 50      	</a:t>
            </a:r>
            <a:r>
              <a:rPr lang="en-US" sz="2200"/>
              <a:t>} year </a:t>
            </a:r>
            <a:r>
              <a:rPr lang="en-US" sz="2200" dirty="0"/>
              <a:t>5</a:t>
            </a:r>
          </a:p>
          <a:p>
            <a:pPr>
              <a:tabLst>
                <a:tab pos="7259638" algn="l"/>
              </a:tabLst>
            </a:pPr>
            <a:r>
              <a:rPr lang="en-US" sz="2800"/>
              <a:t>Binary Constraints</a:t>
            </a:r>
            <a:endParaRPr lang="en-US" sz="2400" dirty="0">
              <a:latin typeface="Times New Roman" pitchFamily="18" charset="0"/>
            </a:endParaRPr>
          </a:p>
          <a:p>
            <a:pPr marL="566738" lvl="1" indent="-109538">
              <a:buFontTx/>
              <a:buNone/>
              <a:tabLst>
                <a:tab pos="7259638" algn="l"/>
              </a:tabLst>
            </a:pPr>
            <a:r>
              <a:rPr lang="en-US" sz="2400"/>
              <a:t>	All </a:t>
            </a:r>
            <a:r>
              <a:rPr lang="en-US" sz="2400" dirty="0"/>
              <a:t>X</a:t>
            </a:r>
            <a:r>
              <a:rPr lang="en-US" sz="2400" i="1" baseline="-25000" dirty="0">
                <a:latin typeface="Times New Roman" pitchFamily="18" charset="0"/>
              </a:rPr>
              <a:t>i</a:t>
            </a:r>
            <a:r>
              <a:rPr lang="en-US" sz="2400" dirty="0"/>
              <a:t> must </a:t>
            </a:r>
            <a:r>
              <a:rPr lang="en-US" sz="2400"/>
              <a:t>be binary</a:t>
            </a:r>
            <a:endParaRPr lang="en-US" sz="24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Implementing the Model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809625"/>
          </a:xfrm>
          <a:noFill/>
          <a:ln/>
        </p:spPr>
        <p:txBody>
          <a:bodyPr lIns="92075" tIns="46038" rIns="92075" bIns="46038"/>
          <a:lstStyle/>
          <a:p>
            <a:pPr algn="ctr">
              <a:buFont typeface="Wingdings" pitchFamily="2" charset="2"/>
              <a:buNone/>
            </a:pPr>
            <a:r>
              <a:rPr lang="en-US" dirty="0"/>
              <a:t>See file </a:t>
            </a:r>
            <a:r>
              <a:rPr lang="en-US" dirty="0">
                <a:hlinkClick r:id="rId3" action="ppaction://hlinkfile"/>
              </a:rPr>
              <a:t>Fig6-16.xlsm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4025"/>
            <a:ext cx="7772400" cy="541338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Binary Variables </a:t>
            </a:r>
            <a:br>
              <a:rPr lang="en-US" sz="4000" i="1" dirty="0">
                <a:solidFill>
                  <a:schemeClr val="hlink"/>
                </a:solidFill>
              </a:rPr>
            </a:br>
            <a:r>
              <a:rPr lang="en-US" sz="4000" i="1">
                <a:solidFill>
                  <a:schemeClr val="hlink"/>
                </a:solidFill>
              </a:rPr>
              <a:t>&amp; Logical </a:t>
            </a:r>
            <a:r>
              <a:rPr lang="en-US" sz="4000" i="1" dirty="0">
                <a:solidFill>
                  <a:schemeClr val="hlink"/>
                </a:solidFill>
              </a:rPr>
              <a:t>Conditions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33500"/>
            <a:ext cx="7772400" cy="4152900"/>
          </a:xfrm>
          <a:noFill/>
          <a:ln/>
        </p:spPr>
        <p:txBody>
          <a:bodyPr lIns="92075" tIns="46038" rIns="92075" bIns="46038"/>
          <a:lstStyle/>
          <a:p>
            <a:r>
              <a:rPr lang="en-US" sz="2800"/>
              <a:t>Binary variables are also </a:t>
            </a:r>
            <a:r>
              <a:rPr lang="en-US" sz="2800" dirty="0"/>
              <a:t>useful in </a:t>
            </a:r>
            <a:r>
              <a:rPr lang="en-US" sz="2800"/>
              <a:t>modeling a </a:t>
            </a:r>
            <a:r>
              <a:rPr lang="en-US" sz="2800" dirty="0"/>
              <a:t>number </a:t>
            </a:r>
            <a:r>
              <a:rPr lang="en-US" sz="2800"/>
              <a:t>of logical </a:t>
            </a:r>
            <a:r>
              <a:rPr lang="en-US" sz="2800" dirty="0"/>
              <a:t>conditions.</a:t>
            </a:r>
          </a:p>
          <a:p>
            <a:pPr lvl="1"/>
            <a:r>
              <a:rPr lang="en-US" dirty="0"/>
              <a:t>Of projects 1, 3 &amp; 6, no </a:t>
            </a:r>
            <a:r>
              <a:rPr lang="en-US"/>
              <a:t>more than one may </a:t>
            </a:r>
            <a:r>
              <a:rPr lang="en-US" dirty="0"/>
              <a:t>be selected</a:t>
            </a:r>
          </a:p>
          <a:p>
            <a:pPr lvl="2">
              <a:buClr>
                <a:schemeClr val="tx2"/>
              </a:buClr>
              <a:buFont typeface="Wingdings" pitchFamily="2" charset="2"/>
              <a:buNone/>
            </a:pPr>
            <a:r>
              <a:rPr lang="en-US" dirty="0"/>
              <a:t>X</a:t>
            </a:r>
            <a:r>
              <a:rPr lang="en-US" baseline="-25000" dirty="0"/>
              <a:t>1</a:t>
            </a:r>
            <a:r>
              <a:rPr lang="en-US" dirty="0"/>
              <a:t> + X</a:t>
            </a:r>
            <a:r>
              <a:rPr lang="en-US" baseline="-25000" dirty="0"/>
              <a:t>3</a:t>
            </a:r>
            <a:r>
              <a:rPr lang="en-US" dirty="0"/>
              <a:t> + X</a:t>
            </a:r>
            <a:r>
              <a:rPr lang="en-US" baseline="-25000" dirty="0"/>
              <a:t>6</a:t>
            </a:r>
            <a:r>
              <a:rPr lang="en-US" dirty="0"/>
              <a:t> &lt;= 1</a:t>
            </a:r>
          </a:p>
          <a:p>
            <a:pPr lvl="1"/>
            <a:r>
              <a:rPr lang="en-US" dirty="0"/>
              <a:t>Of projects 1, 3 &amp; 6</a:t>
            </a:r>
            <a:r>
              <a:rPr lang="en-US"/>
              <a:t>, exactly </a:t>
            </a:r>
            <a:r>
              <a:rPr lang="en-US" dirty="0"/>
              <a:t>one must be selected</a:t>
            </a:r>
          </a:p>
          <a:p>
            <a:pPr lvl="2">
              <a:buClr>
                <a:schemeClr val="tx2"/>
              </a:buClr>
              <a:buFont typeface="Wingdings" pitchFamily="2" charset="2"/>
              <a:buNone/>
            </a:pPr>
            <a:r>
              <a:rPr lang="en-US" dirty="0"/>
              <a:t>X</a:t>
            </a:r>
            <a:r>
              <a:rPr lang="en-US" baseline="-25000" dirty="0"/>
              <a:t>1</a:t>
            </a:r>
            <a:r>
              <a:rPr lang="en-US" dirty="0"/>
              <a:t> + X</a:t>
            </a:r>
            <a:r>
              <a:rPr lang="en-US" baseline="-25000" dirty="0"/>
              <a:t>3</a:t>
            </a:r>
            <a:r>
              <a:rPr lang="en-US" dirty="0"/>
              <a:t> + X</a:t>
            </a:r>
            <a:r>
              <a:rPr lang="en-US" baseline="-25000" dirty="0"/>
              <a:t>6</a:t>
            </a:r>
            <a:r>
              <a:rPr lang="en-US" dirty="0"/>
              <a:t> = 1</a:t>
            </a:r>
          </a:p>
          <a:p>
            <a:pPr lvl="1"/>
            <a:r>
              <a:rPr lang="en-US" dirty="0"/>
              <a:t>Project </a:t>
            </a:r>
            <a:r>
              <a:rPr lang="en-US"/>
              <a:t>4 cannot </a:t>
            </a:r>
            <a:r>
              <a:rPr lang="en-US" dirty="0"/>
              <a:t>be selected unless project 5 </a:t>
            </a:r>
            <a:r>
              <a:rPr lang="en-US"/>
              <a:t>is also </a:t>
            </a:r>
            <a:r>
              <a:rPr lang="en-US" dirty="0"/>
              <a:t>selected</a:t>
            </a:r>
          </a:p>
          <a:p>
            <a:pPr lvl="2">
              <a:buClr>
                <a:schemeClr val="tx2"/>
              </a:buClr>
              <a:buFont typeface="Wingdings" pitchFamily="2" charset="2"/>
              <a:buNone/>
            </a:pPr>
            <a:r>
              <a:rPr lang="en-US" dirty="0"/>
              <a:t>X</a:t>
            </a:r>
            <a:r>
              <a:rPr lang="en-US" baseline="-25000" dirty="0"/>
              <a:t>4</a:t>
            </a:r>
            <a:r>
              <a:rPr lang="en-US" dirty="0"/>
              <a:t> – X</a:t>
            </a:r>
            <a:r>
              <a:rPr lang="en-US" baseline="-25000" dirty="0"/>
              <a:t>5</a:t>
            </a:r>
            <a:r>
              <a:rPr lang="en-US" dirty="0"/>
              <a:t> &lt;= 0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24200" y="6400800"/>
            <a:ext cx="2895600" cy="476250"/>
          </a:xfrm>
        </p:spPr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34975"/>
            <a:ext cx="7772400" cy="555625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 dirty="0">
                <a:solidFill>
                  <a:schemeClr val="hlink"/>
                </a:solidFill>
              </a:rPr>
              <a:t>A Line Balancing Problem:</a:t>
            </a:r>
            <a:br>
              <a:rPr lang="en-US" sz="4000" i="1" dirty="0">
                <a:solidFill>
                  <a:schemeClr val="hlink"/>
                </a:solidFill>
              </a:rPr>
            </a:br>
            <a:r>
              <a:rPr lang="en-US" sz="4000" i="1" dirty="0" err="1">
                <a:solidFill>
                  <a:schemeClr val="hlink"/>
                </a:solidFill>
              </a:rPr>
              <a:t>Colpitts</a:t>
            </a:r>
            <a:r>
              <a:rPr lang="en-US" sz="4000" i="1" dirty="0">
                <a:solidFill>
                  <a:schemeClr val="hlink"/>
                </a:solidFill>
              </a:rPr>
              <a:t> Control Devices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610600" cy="5121275"/>
          </a:xfrm>
          <a:noFill/>
          <a:ln/>
        </p:spPr>
        <p:txBody>
          <a:bodyPr lIns="92075" tIns="46038" rIns="92075" bIns="46038"/>
          <a:lstStyle/>
          <a:p>
            <a:r>
              <a:rPr lang="en-US" sz="2600" dirty="0"/>
              <a:t>Makes steering mechanisms for powered wheelchairs.</a:t>
            </a:r>
          </a:p>
          <a:p>
            <a:r>
              <a:rPr lang="en-US" sz="2600" dirty="0"/>
              <a:t>Each mechanism requires 8 assembly tasks with precedence and times (in minutes)…</a:t>
            </a:r>
          </a:p>
          <a:p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r>
              <a:rPr lang="en-US" sz="2600" dirty="0"/>
              <a:t>How few workstations are needed to achieve a cycle time of 0.5 minutes?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24200" y="6305550"/>
            <a:ext cx="2895600" cy="476250"/>
          </a:xfrm>
        </p:spPr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2667000"/>
            <a:ext cx="5214901" cy="2833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203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8012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 dirty="0">
                <a:solidFill>
                  <a:schemeClr val="hlink"/>
                </a:solidFill>
              </a:rPr>
              <a:t>Defining the </a:t>
            </a:r>
            <a:r>
              <a:rPr lang="en-US" sz="4000" i="1">
                <a:solidFill>
                  <a:schemeClr val="hlink"/>
                </a:solidFill>
              </a:rPr>
              <a:t>Decision Variables</a:t>
            </a:r>
            <a:endParaRPr lang="en-US" sz="4000" i="1" dirty="0">
              <a:solidFill>
                <a:schemeClr val="hlink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52400" y="1676400"/>
                <a:ext cx="8839200" cy="21307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task</m:t>
                                </m:r>
                                <m: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is</m:t>
                                </m:r>
                                <m: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assigned</m:t>
                                </m:r>
                                <m: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to</m:t>
                                </m:r>
                                <m: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workstation</m:t>
                                </m:r>
                                <m: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0, 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  <m: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                                               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r>
                  <a:rPr lang="en-US" sz="2000" i="1" dirty="0">
                    <a:latin typeface="+mn-lt"/>
                  </a:rPr>
                  <a:t>                </a:t>
                </a:r>
                <a:r>
                  <a:rPr lang="en-US" sz="2800" dirty="0">
                    <a:latin typeface="+mn-lt"/>
                  </a:rPr>
                  <a:t>where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, …,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&amp; 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=1, 2, …, 8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1676400"/>
                <a:ext cx="8839200" cy="21307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38100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76262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 dirty="0">
                <a:solidFill>
                  <a:schemeClr val="hlink"/>
                </a:solidFill>
              </a:rPr>
              <a:t>Defining the Constraints -I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43000"/>
            <a:ext cx="8382000" cy="457200"/>
          </a:xfrm>
          <a:noFill/>
          <a:ln/>
        </p:spPr>
        <p:txBody>
          <a:bodyPr lIns="92075" tIns="46038" rIns="92075" bIns="46038"/>
          <a:lstStyle/>
          <a:p>
            <a:pPr marL="401638" indent="-401638"/>
            <a:r>
              <a:rPr lang="en-US" sz="2800" dirty="0"/>
              <a:t>Task Assignment Constraints </a:t>
            </a:r>
            <a:br>
              <a:rPr lang="en-US" sz="2800" dirty="0"/>
            </a:br>
            <a:r>
              <a:rPr lang="en-US" sz="2200" dirty="0"/>
              <a:t>(each task must be assigned to one workstation)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1194" y="2570876"/>
            <a:ext cx="6769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aseline="-25000"/>
              <a:t>A1 </a:t>
            </a:r>
            <a:r>
              <a:rPr lang="en-US" sz="2400"/>
              <a:t>+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sz="2400" baseline="-25000"/>
              <a:t>A2 </a:t>
            </a:r>
            <a:r>
              <a:rPr lang="en-US" sz="2400"/>
              <a:t>+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sz="2400" baseline="-25000"/>
              <a:t>A3 </a:t>
            </a:r>
            <a:r>
              <a:rPr lang="en-US" sz="2400"/>
              <a:t>+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sz="2400" baseline="-25000"/>
              <a:t>A4 </a:t>
            </a:r>
            <a:r>
              <a:rPr lang="en-US" sz="2400"/>
              <a:t>+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sz="2400" baseline="-25000"/>
              <a:t>A5 </a:t>
            </a:r>
            <a:r>
              <a:rPr lang="en-US" sz="2400"/>
              <a:t>+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sz="2400" baseline="-25000"/>
              <a:t>A6 </a:t>
            </a:r>
            <a:r>
              <a:rPr lang="en-US" sz="2400"/>
              <a:t>+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sz="2400" baseline="-25000"/>
              <a:t>A7 </a:t>
            </a:r>
            <a:r>
              <a:rPr lang="en-US" sz="2400"/>
              <a:t>+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sz="2400" baseline="-25000"/>
              <a:t>A8</a:t>
            </a:r>
            <a:r>
              <a:rPr lang="en-US" sz="2400"/>
              <a:t> </a:t>
            </a:r>
            <a:r>
              <a:rPr lang="en-US" sz="2400" dirty="0"/>
              <a:t>=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036910"/>
            <a:ext cx="6769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aseline="-25000" dirty="0"/>
              <a:t>B1 </a:t>
            </a:r>
            <a:r>
              <a:rPr lang="en-US" sz="2400" dirty="0"/>
              <a:t>+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sz="2400" baseline="-25000" dirty="0"/>
              <a:t>B2 </a:t>
            </a:r>
            <a:r>
              <a:rPr lang="en-US" sz="2400" dirty="0"/>
              <a:t>+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sz="2400" baseline="-25000" dirty="0"/>
              <a:t>B3 </a:t>
            </a:r>
            <a:r>
              <a:rPr lang="en-US" sz="2400" dirty="0"/>
              <a:t>+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sz="2400" baseline="-25000" dirty="0"/>
              <a:t>B4 </a:t>
            </a:r>
            <a:r>
              <a:rPr lang="en-US" sz="2400" dirty="0"/>
              <a:t>+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sz="2400" baseline="-25000" dirty="0"/>
              <a:t>B5 </a:t>
            </a:r>
            <a:r>
              <a:rPr lang="en-US" sz="2400" dirty="0"/>
              <a:t>+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sz="2400" baseline="-25000" dirty="0"/>
              <a:t>B6 </a:t>
            </a:r>
            <a:r>
              <a:rPr lang="en-US" sz="2400" dirty="0"/>
              <a:t>+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sz="2400" baseline="-25000" dirty="0"/>
              <a:t>B7 </a:t>
            </a:r>
            <a:r>
              <a:rPr lang="en-US" sz="2400" dirty="0"/>
              <a:t>+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sz="2400" baseline="-25000" dirty="0"/>
              <a:t>B8</a:t>
            </a:r>
            <a:r>
              <a:rPr lang="en-US" sz="2400" dirty="0"/>
              <a:t> =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1194" y="3499655"/>
            <a:ext cx="67699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so on to…</a:t>
            </a:r>
            <a:endParaRPr lang="en-US" sz="2000" i="1" dirty="0"/>
          </a:p>
        </p:txBody>
      </p:sp>
      <p:sp>
        <p:nvSpPr>
          <p:cNvPr id="8" name="TextBox 7"/>
          <p:cNvSpPr txBox="1"/>
          <p:nvPr/>
        </p:nvSpPr>
        <p:spPr>
          <a:xfrm>
            <a:off x="1143000" y="3962400"/>
            <a:ext cx="6769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aseline="-25000" dirty="0"/>
              <a:t>H1 </a:t>
            </a:r>
            <a:r>
              <a:rPr lang="en-US" sz="2400" dirty="0"/>
              <a:t>+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sz="2400" baseline="-25000" dirty="0"/>
              <a:t>H2 </a:t>
            </a:r>
            <a:r>
              <a:rPr lang="en-US" sz="2400" dirty="0"/>
              <a:t>+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sz="2400" baseline="-25000" dirty="0"/>
              <a:t>H3 </a:t>
            </a:r>
            <a:r>
              <a:rPr lang="en-US" sz="2400" dirty="0"/>
              <a:t>+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sz="2400" baseline="-25000" dirty="0"/>
              <a:t>H4 </a:t>
            </a:r>
            <a:r>
              <a:rPr lang="en-US" sz="2400" dirty="0"/>
              <a:t>+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sz="2400" baseline="-25000" dirty="0"/>
              <a:t>H5 </a:t>
            </a:r>
            <a:r>
              <a:rPr lang="en-US" sz="2400" dirty="0"/>
              <a:t>+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sz="2400" baseline="-25000" dirty="0"/>
              <a:t>H6 </a:t>
            </a:r>
            <a:r>
              <a:rPr lang="en-US" sz="2400" dirty="0"/>
              <a:t>+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sz="2400" baseline="-25000" dirty="0"/>
              <a:t>H7 </a:t>
            </a:r>
            <a:r>
              <a:rPr lang="en-US" sz="2400" dirty="0"/>
              <a:t>+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sz="2400" baseline="-25000" dirty="0"/>
              <a:t>H8</a:t>
            </a:r>
            <a:r>
              <a:rPr lang="en-US" sz="2400" dirty="0"/>
              <a:t> = 1</a:t>
            </a:r>
          </a:p>
        </p:txBody>
      </p:sp>
    </p:spTree>
    <p:extLst>
      <p:ext uri="{BB962C8B-B14F-4D97-AF65-F5344CB8AC3E}">
        <p14:creationId xmlns:p14="http://schemas.microsoft.com/office/powerpoint/2010/main" val="1980029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76262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 dirty="0">
                <a:solidFill>
                  <a:schemeClr val="hlink"/>
                </a:solidFill>
              </a:rPr>
              <a:t>Defining the Constraints - II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43000"/>
            <a:ext cx="8382000" cy="457200"/>
          </a:xfrm>
          <a:noFill/>
          <a:ln/>
        </p:spPr>
        <p:txBody>
          <a:bodyPr lIns="92075" tIns="46038" rIns="92075" bIns="46038"/>
          <a:lstStyle/>
          <a:p>
            <a:pPr marL="401638" indent="-401638"/>
            <a:r>
              <a:rPr lang="en-US" sz="2800" dirty="0"/>
              <a:t>Cycle Time Constraints </a:t>
            </a:r>
            <a:br>
              <a:rPr lang="en-US" sz="2800" dirty="0"/>
            </a:br>
            <a:r>
              <a:rPr lang="en-US" sz="2200" dirty="0"/>
              <a:t>(cycle time for each workstation must be </a:t>
            </a:r>
            <a:r>
              <a:rPr lang="en-US" sz="2200" u="sng" dirty="0"/>
              <a:t>&lt;</a:t>
            </a:r>
            <a:r>
              <a:rPr lang="en-US" sz="2200" dirty="0"/>
              <a:t> 0.5 minutes)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0595" y="2389670"/>
            <a:ext cx="8991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.2X</a:t>
            </a:r>
            <a:r>
              <a:rPr lang="en-US" sz="2200" baseline="-25000" dirty="0"/>
              <a:t>A1</a:t>
            </a:r>
            <a:r>
              <a:rPr lang="en-US" sz="2200" dirty="0"/>
              <a:t>+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.27X</a:t>
            </a:r>
            <a:r>
              <a:rPr lang="en-US" sz="2200" baseline="-25000" dirty="0"/>
              <a:t>B1</a:t>
            </a:r>
            <a:r>
              <a:rPr lang="en-US" sz="2200" dirty="0"/>
              <a:t>+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.21X</a:t>
            </a:r>
            <a:r>
              <a:rPr lang="en-US" sz="2200" baseline="-25000" dirty="0"/>
              <a:t>c1</a:t>
            </a:r>
            <a:r>
              <a:rPr lang="en-US" sz="2200" dirty="0"/>
              <a:t>+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.18X</a:t>
            </a:r>
            <a:r>
              <a:rPr lang="en-US" sz="2200" baseline="-25000" dirty="0"/>
              <a:t>D1</a:t>
            </a:r>
            <a:r>
              <a:rPr lang="en-US" sz="2200" dirty="0"/>
              <a:t>+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.18X</a:t>
            </a:r>
            <a:r>
              <a:rPr lang="en-US" sz="2200" baseline="-25000" dirty="0"/>
              <a:t>E1</a:t>
            </a:r>
            <a:r>
              <a:rPr lang="en-US" sz="2200" dirty="0"/>
              <a:t>+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.19X</a:t>
            </a:r>
            <a:r>
              <a:rPr lang="en-US" sz="2200" baseline="-25000" dirty="0"/>
              <a:t>F1</a:t>
            </a:r>
            <a:r>
              <a:rPr lang="en-US" sz="2200" dirty="0"/>
              <a:t>+.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29X</a:t>
            </a:r>
            <a:r>
              <a:rPr lang="en-US" sz="2200" baseline="-25000" dirty="0"/>
              <a:t>G1</a:t>
            </a:r>
            <a:r>
              <a:rPr lang="en-US" sz="2200" dirty="0"/>
              <a:t>+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.26X</a:t>
            </a:r>
            <a:r>
              <a:rPr lang="en-US" sz="2200" baseline="-25000" dirty="0"/>
              <a:t>H1</a:t>
            </a:r>
            <a:r>
              <a:rPr lang="en-US" sz="2200" dirty="0"/>
              <a:t> </a:t>
            </a:r>
            <a:r>
              <a:rPr lang="en-US" sz="2200" u="sng" dirty="0"/>
              <a:t>&lt;</a:t>
            </a:r>
            <a:r>
              <a:rPr lang="en-US" sz="2200" dirty="0"/>
              <a:t> 0.5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1927" y="3744297"/>
            <a:ext cx="67699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so on to…</a:t>
            </a:r>
            <a:endParaRPr lang="en-US" sz="2000" i="1" dirty="0"/>
          </a:p>
        </p:txBody>
      </p:sp>
      <p:sp>
        <p:nvSpPr>
          <p:cNvPr id="9" name="TextBox 8"/>
          <p:cNvSpPr txBox="1"/>
          <p:nvPr/>
        </p:nvSpPr>
        <p:spPr>
          <a:xfrm>
            <a:off x="140595" y="2975173"/>
            <a:ext cx="8991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.2X</a:t>
            </a:r>
            <a:r>
              <a:rPr lang="en-US" sz="2200" baseline="-25000" dirty="0"/>
              <a:t>A2</a:t>
            </a:r>
            <a:r>
              <a:rPr lang="en-US" sz="2200" dirty="0"/>
              <a:t>+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.27X</a:t>
            </a:r>
            <a:r>
              <a:rPr lang="en-US" sz="2200" baseline="-25000" dirty="0"/>
              <a:t>B2</a:t>
            </a:r>
            <a:r>
              <a:rPr lang="en-US" sz="2200" dirty="0"/>
              <a:t>+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.21X</a:t>
            </a:r>
            <a:r>
              <a:rPr lang="en-US" sz="2200" baseline="-25000" dirty="0"/>
              <a:t>c2</a:t>
            </a:r>
            <a:r>
              <a:rPr lang="en-US" sz="2200" dirty="0"/>
              <a:t>+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.18X</a:t>
            </a:r>
            <a:r>
              <a:rPr lang="en-US" sz="2200" baseline="-25000" dirty="0"/>
              <a:t>D2</a:t>
            </a:r>
            <a:r>
              <a:rPr lang="en-US" sz="2200" dirty="0"/>
              <a:t>+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.18X</a:t>
            </a:r>
            <a:r>
              <a:rPr lang="en-US" sz="2200" baseline="-25000" dirty="0"/>
              <a:t>E2</a:t>
            </a:r>
            <a:r>
              <a:rPr lang="en-US" sz="2200" dirty="0"/>
              <a:t>+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.19X</a:t>
            </a:r>
            <a:r>
              <a:rPr lang="en-US" sz="2200" baseline="-25000" dirty="0"/>
              <a:t>F2</a:t>
            </a:r>
            <a:r>
              <a:rPr lang="en-US" sz="2200" dirty="0"/>
              <a:t>+.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29X</a:t>
            </a:r>
            <a:r>
              <a:rPr lang="en-US" sz="2200" baseline="-25000" dirty="0"/>
              <a:t>G2</a:t>
            </a:r>
            <a:r>
              <a:rPr lang="en-US" sz="2200" dirty="0"/>
              <a:t>+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.26X</a:t>
            </a:r>
            <a:r>
              <a:rPr lang="en-US" sz="2200" baseline="-25000" dirty="0"/>
              <a:t>H2</a:t>
            </a:r>
            <a:r>
              <a:rPr lang="en-US" sz="2200" dirty="0"/>
              <a:t> </a:t>
            </a:r>
            <a:r>
              <a:rPr lang="en-US" sz="2200" u="sng" dirty="0"/>
              <a:t>&lt;</a:t>
            </a:r>
            <a:r>
              <a:rPr lang="en-US" sz="2200" dirty="0"/>
              <a:t> 0.5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5961" y="4267200"/>
            <a:ext cx="8991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.2X</a:t>
            </a:r>
            <a:r>
              <a:rPr lang="en-US" sz="2200" baseline="-25000" dirty="0"/>
              <a:t>A8</a:t>
            </a:r>
            <a:r>
              <a:rPr lang="en-US" sz="2200" dirty="0"/>
              <a:t>+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.27X</a:t>
            </a:r>
            <a:r>
              <a:rPr lang="en-US" sz="2200" baseline="-25000" dirty="0"/>
              <a:t>B8</a:t>
            </a:r>
            <a:r>
              <a:rPr lang="en-US" sz="2200" dirty="0"/>
              <a:t>+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.21X</a:t>
            </a:r>
            <a:r>
              <a:rPr lang="en-US" sz="2200" baseline="-25000" dirty="0"/>
              <a:t>c8</a:t>
            </a:r>
            <a:r>
              <a:rPr lang="en-US" sz="2200" dirty="0"/>
              <a:t>+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.18X</a:t>
            </a:r>
            <a:r>
              <a:rPr lang="en-US" sz="2200" baseline="-25000" dirty="0"/>
              <a:t>D8</a:t>
            </a:r>
            <a:r>
              <a:rPr lang="en-US" sz="2200" dirty="0"/>
              <a:t>+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.18X</a:t>
            </a:r>
            <a:r>
              <a:rPr lang="en-US" sz="2200" baseline="-25000" dirty="0"/>
              <a:t>E8</a:t>
            </a:r>
            <a:r>
              <a:rPr lang="en-US" sz="2200" dirty="0"/>
              <a:t>+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.19X</a:t>
            </a:r>
            <a:r>
              <a:rPr lang="en-US" sz="2200" baseline="-25000" dirty="0"/>
              <a:t>F8</a:t>
            </a:r>
            <a:r>
              <a:rPr lang="en-US" sz="2200" dirty="0"/>
              <a:t>+.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29X</a:t>
            </a:r>
            <a:r>
              <a:rPr lang="en-US" sz="2200" baseline="-25000" dirty="0"/>
              <a:t>G8</a:t>
            </a:r>
            <a:r>
              <a:rPr lang="en-US" sz="2200" dirty="0"/>
              <a:t>+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.26X</a:t>
            </a:r>
            <a:r>
              <a:rPr lang="en-US" sz="2200" baseline="-25000" dirty="0"/>
              <a:t>H8</a:t>
            </a:r>
            <a:r>
              <a:rPr lang="en-US" sz="2200" dirty="0"/>
              <a:t> </a:t>
            </a:r>
            <a:r>
              <a:rPr lang="en-US" sz="2200" u="sng" dirty="0"/>
              <a:t>&lt;</a:t>
            </a:r>
            <a:r>
              <a:rPr lang="en-US" sz="2200" dirty="0"/>
              <a:t> 0.5</a:t>
            </a:r>
          </a:p>
        </p:txBody>
      </p:sp>
    </p:spTree>
    <p:extLst>
      <p:ext uri="{BB962C8B-B14F-4D97-AF65-F5344CB8AC3E}">
        <p14:creationId xmlns:p14="http://schemas.microsoft.com/office/powerpoint/2010/main" val="42288475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76262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 dirty="0">
                <a:solidFill>
                  <a:schemeClr val="hlink"/>
                </a:solidFill>
              </a:rPr>
              <a:t>Defining the Constraints - III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43000"/>
            <a:ext cx="8382000" cy="457200"/>
          </a:xfrm>
          <a:noFill/>
          <a:ln/>
        </p:spPr>
        <p:txBody>
          <a:bodyPr lIns="92075" tIns="46038" rIns="92075" bIns="46038"/>
          <a:lstStyle/>
          <a:p>
            <a:pPr marL="401638" indent="-401638"/>
            <a:r>
              <a:rPr lang="en-US" sz="2800" dirty="0"/>
              <a:t>Workstation Constraints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1752600"/>
            <a:ext cx="8001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WS</a:t>
            </a:r>
            <a:r>
              <a:rPr lang="en-US" sz="2200" i="1" baseline="-25000" dirty="0" err="1"/>
              <a:t>i</a:t>
            </a:r>
            <a:r>
              <a:rPr lang="en-US" sz="2200" i="1" baseline="-25000" dirty="0"/>
              <a:t> </a:t>
            </a:r>
            <a:r>
              <a:rPr lang="en-US" sz="2200" dirty="0"/>
              <a:t>=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1X</a:t>
            </a:r>
            <a:r>
              <a:rPr lang="en-US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baseline="-25000" dirty="0"/>
              <a:t>1</a:t>
            </a:r>
            <a:r>
              <a:rPr lang="en-US" sz="2200" dirty="0"/>
              <a:t>+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2X</a:t>
            </a:r>
            <a:r>
              <a:rPr lang="en-US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baseline="-25000" dirty="0"/>
              <a:t>2</a:t>
            </a:r>
            <a:r>
              <a:rPr lang="en-US" sz="2200" dirty="0"/>
              <a:t>+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3X</a:t>
            </a:r>
            <a:r>
              <a:rPr lang="en-US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baseline="-25000" dirty="0"/>
              <a:t>3</a:t>
            </a:r>
            <a:r>
              <a:rPr lang="en-US" sz="2200" dirty="0"/>
              <a:t>+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4X</a:t>
            </a:r>
            <a:r>
              <a:rPr lang="en-US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baseline="-25000" dirty="0"/>
              <a:t>4</a:t>
            </a:r>
            <a:r>
              <a:rPr lang="en-US" sz="2200" dirty="0"/>
              <a:t>+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5X</a:t>
            </a:r>
            <a:r>
              <a:rPr lang="en-US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baseline="-25000" dirty="0"/>
              <a:t>5</a:t>
            </a:r>
            <a:r>
              <a:rPr lang="en-US" sz="2200" dirty="0"/>
              <a:t>+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6X</a:t>
            </a:r>
            <a:r>
              <a:rPr lang="en-US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baseline="-25000" dirty="0"/>
              <a:t>6</a:t>
            </a:r>
            <a:r>
              <a:rPr lang="en-US" sz="2200" dirty="0"/>
              <a:t>+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7X</a:t>
            </a:r>
            <a:r>
              <a:rPr lang="en-US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baseline="-25000" dirty="0"/>
              <a:t>7</a:t>
            </a:r>
            <a:r>
              <a:rPr lang="en-US" sz="2200" dirty="0"/>
              <a:t>+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8X</a:t>
            </a:r>
            <a:r>
              <a:rPr lang="en-US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baseline="-25000" dirty="0"/>
              <a:t>1</a:t>
            </a:r>
            <a:r>
              <a:rPr lang="en-US" sz="2200" dirty="0"/>
              <a:t>,  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/>
              <a:t>= A, B, …H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2897874"/>
            <a:ext cx="22151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WS</a:t>
            </a:r>
            <a:r>
              <a:rPr lang="en-US" sz="2200" baseline="-25000" dirty="0"/>
              <a:t>A</a:t>
            </a:r>
            <a:r>
              <a:rPr lang="en-US" sz="2200" dirty="0"/>
              <a:t> </a:t>
            </a:r>
            <a:r>
              <a:rPr lang="en-US" sz="2200" u="sng" dirty="0"/>
              <a:t>&lt;</a:t>
            </a:r>
            <a:r>
              <a:rPr lang="en-US" sz="2200" dirty="0"/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WS</a:t>
            </a:r>
            <a:r>
              <a:rPr lang="en-US" sz="2200" baseline="-25000" dirty="0"/>
              <a:t>B</a:t>
            </a:r>
            <a:endParaRPr lang="en-US" sz="2200" dirty="0"/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320899" y="2330902"/>
            <a:ext cx="838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401638" indent="-401638"/>
            <a:r>
              <a:rPr lang="en-US" sz="2800" kern="0" dirty="0"/>
              <a:t>Precedence Constraints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3226713"/>
            <a:ext cx="22151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WS</a:t>
            </a:r>
            <a:r>
              <a:rPr lang="en-US" sz="2200" baseline="-25000" dirty="0"/>
              <a:t>A</a:t>
            </a:r>
            <a:r>
              <a:rPr lang="en-US" sz="2200" dirty="0"/>
              <a:t> </a:t>
            </a:r>
            <a:r>
              <a:rPr lang="en-US" sz="2200" u="sng" dirty="0"/>
              <a:t>&lt;</a:t>
            </a:r>
            <a:r>
              <a:rPr lang="en-US" sz="2200" dirty="0"/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WS</a:t>
            </a:r>
            <a:r>
              <a:rPr lang="en-US" sz="2200" baseline="-25000" dirty="0"/>
              <a:t>C</a:t>
            </a:r>
            <a:endParaRPr lang="en-US" sz="2200" dirty="0"/>
          </a:p>
        </p:txBody>
      </p:sp>
      <p:sp>
        <p:nvSpPr>
          <p:cNvPr id="13" name="TextBox 12"/>
          <p:cNvSpPr txBox="1"/>
          <p:nvPr/>
        </p:nvSpPr>
        <p:spPr>
          <a:xfrm>
            <a:off x="653213" y="3564624"/>
            <a:ext cx="2013787" cy="47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WS</a:t>
            </a:r>
            <a:r>
              <a:rPr lang="en-US" sz="2200" baseline="-25000" dirty="0"/>
              <a:t>A</a:t>
            </a:r>
            <a:r>
              <a:rPr lang="en-US" sz="2200" dirty="0"/>
              <a:t> </a:t>
            </a:r>
            <a:r>
              <a:rPr lang="en-US" sz="2200" u="sng" dirty="0"/>
              <a:t>&lt;</a:t>
            </a:r>
            <a:r>
              <a:rPr lang="en-US" sz="2200" dirty="0"/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WS</a:t>
            </a:r>
            <a:r>
              <a:rPr lang="en-US" sz="2200" baseline="-25000" dirty="0"/>
              <a:t>D</a:t>
            </a:r>
            <a:endParaRPr lang="en-US" sz="2200" dirty="0"/>
          </a:p>
        </p:txBody>
      </p:sp>
      <p:sp>
        <p:nvSpPr>
          <p:cNvPr id="14" name="TextBox 13"/>
          <p:cNvSpPr txBox="1"/>
          <p:nvPr/>
        </p:nvSpPr>
        <p:spPr>
          <a:xfrm>
            <a:off x="533400" y="3886200"/>
            <a:ext cx="22151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WS</a:t>
            </a:r>
            <a:r>
              <a:rPr lang="en-US" sz="2200" baseline="-25000" dirty="0"/>
              <a:t>B</a:t>
            </a:r>
            <a:r>
              <a:rPr lang="en-US" sz="2200" dirty="0"/>
              <a:t> </a:t>
            </a:r>
            <a:r>
              <a:rPr lang="en-US" sz="2200" u="sng" dirty="0"/>
              <a:t>&lt;</a:t>
            </a:r>
            <a:r>
              <a:rPr lang="en-US" sz="2200" dirty="0"/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WS</a:t>
            </a:r>
            <a:r>
              <a:rPr lang="en-US" sz="2200" baseline="-25000" dirty="0"/>
              <a:t>E</a:t>
            </a:r>
            <a:endParaRPr lang="en-US" sz="2200" dirty="0"/>
          </a:p>
        </p:txBody>
      </p:sp>
      <p:sp>
        <p:nvSpPr>
          <p:cNvPr id="15" name="TextBox 14"/>
          <p:cNvSpPr txBox="1"/>
          <p:nvPr/>
        </p:nvSpPr>
        <p:spPr>
          <a:xfrm>
            <a:off x="533400" y="4267200"/>
            <a:ext cx="22151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WS</a:t>
            </a:r>
            <a:r>
              <a:rPr lang="en-US" sz="2200" baseline="-25000" dirty="0"/>
              <a:t>C</a:t>
            </a:r>
            <a:r>
              <a:rPr lang="en-US" sz="2200" dirty="0"/>
              <a:t> </a:t>
            </a:r>
            <a:r>
              <a:rPr lang="en-US" sz="2200" u="sng" dirty="0"/>
              <a:t>&lt;</a:t>
            </a:r>
            <a:r>
              <a:rPr lang="en-US" sz="2200" dirty="0"/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WS</a:t>
            </a:r>
            <a:r>
              <a:rPr lang="en-US" sz="2200" baseline="-25000" dirty="0"/>
              <a:t>F</a:t>
            </a:r>
            <a:endParaRPr lang="en-US" sz="2200" dirty="0"/>
          </a:p>
        </p:txBody>
      </p:sp>
      <p:sp>
        <p:nvSpPr>
          <p:cNvPr id="16" name="TextBox 15"/>
          <p:cNvSpPr txBox="1"/>
          <p:nvPr/>
        </p:nvSpPr>
        <p:spPr>
          <a:xfrm>
            <a:off x="533400" y="4597758"/>
            <a:ext cx="22151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WS</a:t>
            </a:r>
            <a:r>
              <a:rPr lang="en-US" sz="2200" baseline="-25000" dirty="0"/>
              <a:t>D</a:t>
            </a:r>
            <a:r>
              <a:rPr lang="en-US" sz="2200" dirty="0"/>
              <a:t> </a:t>
            </a:r>
            <a:r>
              <a:rPr lang="en-US" sz="2200" u="sng" dirty="0"/>
              <a:t>&lt;</a:t>
            </a:r>
            <a:r>
              <a:rPr lang="en-US" sz="2200" dirty="0"/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WS</a:t>
            </a:r>
            <a:r>
              <a:rPr lang="en-US" sz="2200" baseline="-25000" dirty="0"/>
              <a:t>F</a:t>
            </a:r>
            <a:endParaRPr lang="en-US" sz="2200" dirty="0"/>
          </a:p>
        </p:txBody>
      </p:sp>
      <p:sp>
        <p:nvSpPr>
          <p:cNvPr id="17" name="TextBox 16"/>
          <p:cNvSpPr txBox="1"/>
          <p:nvPr/>
        </p:nvSpPr>
        <p:spPr>
          <a:xfrm>
            <a:off x="533400" y="4979313"/>
            <a:ext cx="22151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WS</a:t>
            </a:r>
            <a:r>
              <a:rPr lang="en-US" sz="2200" baseline="-25000" dirty="0"/>
              <a:t>E</a:t>
            </a:r>
            <a:r>
              <a:rPr lang="en-US" sz="2200" dirty="0"/>
              <a:t> </a:t>
            </a:r>
            <a:r>
              <a:rPr lang="en-US" sz="2200" u="sng" dirty="0"/>
              <a:t>&lt;</a:t>
            </a:r>
            <a:r>
              <a:rPr lang="en-US" sz="2200" dirty="0"/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WS</a:t>
            </a:r>
            <a:r>
              <a:rPr lang="en-US" sz="2200" baseline="-25000" dirty="0"/>
              <a:t>G</a:t>
            </a:r>
            <a:endParaRPr lang="en-US" sz="2200" dirty="0"/>
          </a:p>
        </p:txBody>
      </p:sp>
      <p:sp>
        <p:nvSpPr>
          <p:cNvPr id="18" name="TextBox 17"/>
          <p:cNvSpPr txBox="1"/>
          <p:nvPr/>
        </p:nvSpPr>
        <p:spPr>
          <a:xfrm>
            <a:off x="533400" y="5334000"/>
            <a:ext cx="22151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WS</a:t>
            </a:r>
            <a:r>
              <a:rPr lang="en-US" sz="2200" baseline="-25000" dirty="0"/>
              <a:t>F</a:t>
            </a:r>
            <a:r>
              <a:rPr lang="en-US" sz="2200" dirty="0"/>
              <a:t> </a:t>
            </a:r>
            <a:r>
              <a:rPr lang="en-US" sz="2200" u="sng" dirty="0"/>
              <a:t>&lt;</a:t>
            </a:r>
            <a:r>
              <a:rPr lang="en-US" sz="2200" dirty="0"/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WS</a:t>
            </a:r>
            <a:r>
              <a:rPr lang="en-US" sz="2200" baseline="-25000" dirty="0"/>
              <a:t>G</a:t>
            </a:r>
            <a:endParaRPr lang="en-US" sz="2200" dirty="0"/>
          </a:p>
        </p:txBody>
      </p:sp>
      <p:sp>
        <p:nvSpPr>
          <p:cNvPr id="19" name="TextBox 18"/>
          <p:cNvSpPr txBox="1"/>
          <p:nvPr/>
        </p:nvSpPr>
        <p:spPr>
          <a:xfrm>
            <a:off x="533400" y="5638800"/>
            <a:ext cx="22151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WS</a:t>
            </a:r>
            <a:r>
              <a:rPr lang="en-US" sz="2200" baseline="-25000" dirty="0"/>
              <a:t>G</a:t>
            </a:r>
            <a:r>
              <a:rPr lang="en-US" sz="2200" dirty="0"/>
              <a:t> </a:t>
            </a:r>
            <a:r>
              <a:rPr lang="en-US" sz="2200" u="sng" dirty="0"/>
              <a:t>&lt;</a:t>
            </a:r>
            <a:r>
              <a:rPr lang="en-US" sz="2200" dirty="0"/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WS</a:t>
            </a:r>
            <a:r>
              <a:rPr lang="en-US" sz="2200" baseline="-25000" dirty="0"/>
              <a:t>H</a:t>
            </a:r>
            <a:endParaRPr lang="en-US" sz="2200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6624" y="3112813"/>
            <a:ext cx="5214901" cy="2833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0723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71512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Defining the Objective Function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81567"/>
            <a:ext cx="8229600" cy="2752233"/>
          </a:xfrm>
          <a:noFill/>
          <a:ln/>
        </p:spPr>
        <p:txBody>
          <a:bodyPr lIns="92075" tIns="46038" rIns="92075" bIns="46038"/>
          <a:lstStyle/>
          <a:p>
            <a:pPr algn="ctr">
              <a:buFont typeface="Wingdings" pitchFamily="2" charset="2"/>
              <a:buNone/>
            </a:pPr>
            <a:r>
              <a:rPr lang="en-US" sz="2800" dirty="0"/>
              <a:t>Minimize the # of workstations required </a:t>
            </a:r>
            <a:br>
              <a:rPr lang="en-US" sz="2800" dirty="0"/>
            </a:br>
            <a:r>
              <a:rPr lang="en-US" sz="2800" dirty="0"/>
              <a:t>to achieve the desired cycle time.</a:t>
            </a:r>
          </a:p>
          <a:p>
            <a:pPr algn="ctr"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MIN: MAX(WS</a:t>
            </a:r>
            <a:r>
              <a:rPr lang="en-US" sz="2400" baseline="-25000" dirty="0"/>
              <a:t>A</a:t>
            </a:r>
            <a:r>
              <a:rPr lang="en-US" sz="2400" dirty="0"/>
              <a:t>, WS</a:t>
            </a:r>
            <a:r>
              <a:rPr lang="en-US" sz="2400" baseline="-25000" dirty="0"/>
              <a:t>B</a:t>
            </a:r>
            <a:r>
              <a:rPr lang="en-US" sz="2400" dirty="0"/>
              <a:t>, WS</a:t>
            </a:r>
            <a:r>
              <a:rPr lang="en-US" sz="2400" baseline="-25000" dirty="0"/>
              <a:t>C</a:t>
            </a:r>
            <a:r>
              <a:rPr lang="en-US" sz="2400" dirty="0"/>
              <a:t>, WS</a:t>
            </a:r>
            <a:r>
              <a:rPr lang="en-US" sz="2400" baseline="-25000" dirty="0"/>
              <a:t>D</a:t>
            </a:r>
            <a:r>
              <a:rPr lang="en-US" sz="2400" dirty="0"/>
              <a:t>, WS</a:t>
            </a:r>
            <a:r>
              <a:rPr lang="en-US" sz="2400" baseline="-25000" dirty="0"/>
              <a:t>E</a:t>
            </a:r>
            <a:r>
              <a:rPr lang="en-US" sz="2400" dirty="0"/>
              <a:t>, WS</a:t>
            </a:r>
            <a:r>
              <a:rPr lang="en-US" sz="2400" baseline="-25000" dirty="0"/>
              <a:t>F</a:t>
            </a:r>
            <a:r>
              <a:rPr lang="en-US" sz="2400" dirty="0"/>
              <a:t>, WS</a:t>
            </a:r>
            <a:r>
              <a:rPr lang="en-US" sz="2400" baseline="-25000" dirty="0"/>
              <a:t>G</a:t>
            </a:r>
            <a:r>
              <a:rPr lang="en-US" sz="2400" dirty="0"/>
              <a:t>, WS</a:t>
            </a:r>
            <a:r>
              <a:rPr lang="en-US" sz="2400" baseline="-25000" dirty="0"/>
              <a:t>H</a:t>
            </a:r>
            <a:r>
              <a:rPr lang="en-US" sz="2400" dirty="0"/>
              <a:t>)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which may be implemented linearly via…</a:t>
            </a:r>
          </a:p>
          <a:p>
            <a:pPr>
              <a:buNone/>
            </a:pPr>
            <a:endParaRPr lang="en-US" sz="2400" dirty="0"/>
          </a:p>
          <a:p>
            <a:pPr algn="ctr">
              <a:buNone/>
            </a:pPr>
            <a:endParaRPr lang="en-US" sz="2400" baseline="-25000" dirty="0"/>
          </a:p>
          <a:p>
            <a:pPr algn="ctr">
              <a:buNone/>
            </a:pPr>
            <a:endParaRPr lang="en-US" sz="2400" baseline="-250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  <p:sp>
        <p:nvSpPr>
          <p:cNvPr id="3" name="Rectangle 2"/>
          <p:cNvSpPr/>
          <p:nvPr/>
        </p:nvSpPr>
        <p:spPr>
          <a:xfrm>
            <a:off x="3048000" y="3991039"/>
            <a:ext cx="4572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None/>
            </a:pPr>
            <a:r>
              <a:rPr lang="en-US" sz="2400" dirty="0"/>
              <a:t>MIN: 	Q</a:t>
            </a:r>
          </a:p>
          <a:p>
            <a:pPr>
              <a:buNone/>
            </a:pPr>
            <a:r>
              <a:rPr lang="en-US" sz="2400" dirty="0"/>
              <a:t>	WS</a:t>
            </a:r>
            <a:r>
              <a:rPr lang="en-US" sz="2400" baseline="-25000" dirty="0"/>
              <a:t>A  </a:t>
            </a:r>
            <a:r>
              <a:rPr lang="en-US" sz="2400" u="sng" dirty="0"/>
              <a:t>&lt;</a:t>
            </a:r>
            <a:r>
              <a:rPr lang="en-US" sz="2400" dirty="0"/>
              <a:t> Q</a:t>
            </a:r>
            <a:br>
              <a:rPr lang="en-US" sz="2400" dirty="0"/>
            </a:br>
            <a:r>
              <a:rPr lang="en-US" sz="2400" dirty="0"/>
              <a:t>	WS</a:t>
            </a:r>
            <a:r>
              <a:rPr lang="en-US" sz="2400" baseline="-25000" dirty="0"/>
              <a:t>B  </a:t>
            </a:r>
            <a:r>
              <a:rPr lang="en-US" sz="2400" u="sng" dirty="0"/>
              <a:t>&lt;</a:t>
            </a:r>
            <a:r>
              <a:rPr lang="en-US" sz="2400" dirty="0"/>
              <a:t> Q</a:t>
            </a:r>
          </a:p>
          <a:p>
            <a:pPr>
              <a:buNone/>
            </a:pPr>
            <a:r>
              <a:rPr lang="en-US" i="1" dirty="0"/>
              <a:t>	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so on to…</a:t>
            </a:r>
            <a:r>
              <a:rPr lang="en-US" sz="2400" dirty="0"/>
              <a:t>   </a:t>
            </a:r>
            <a:br>
              <a:rPr lang="en-US" sz="2400" dirty="0"/>
            </a:br>
            <a:r>
              <a:rPr lang="en-US" sz="2400" dirty="0"/>
              <a:t>	WS</a:t>
            </a:r>
            <a:r>
              <a:rPr lang="en-US" sz="2400" baseline="-25000" dirty="0"/>
              <a:t>H  </a:t>
            </a:r>
            <a:r>
              <a:rPr lang="en-US" sz="2400" u="sng" dirty="0"/>
              <a:t>&lt; </a:t>
            </a:r>
            <a:r>
              <a:rPr lang="en-US" sz="2400" dirty="0"/>
              <a:t>Q</a:t>
            </a:r>
          </a:p>
        </p:txBody>
      </p:sp>
    </p:spTree>
    <p:extLst>
      <p:ext uri="{BB962C8B-B14F-4D97-AF65-F5344CB8AC3E}">
        <p14:creationId xmlns:p14="http://schemas.microsoft.com/office/powerpoint/2010/main" val="12149384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04850"/>
            <a:ext cx="8229600" cy="608013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Implementing the Model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41475"/>
            <a:ext cx="8229600" cy="830263"/>
          </a:xfrm>
          <a:noFill/>
          <a:ln/>
        </p:spPr>
        <p:txBody>
          <a:bodyPr lIns="92075" tIns="46038" rIns="92075" bIns="46038"/>
          <a:lstStyle/>
          <a:p>
            <a:pPr algn="ctr">
              <a:buFont typeface="Wingdings" pitchFamily="2" charset="2"/>
              <a:buNone/>
            </a:pPr>
            <a:r>
              <a:rPr lang="en-US" dirty="0"/>
              <a:t>See file </a:t>
            </a:r>
            <a:r>
              <a:rPr lang="en-US" dirty="0">
                <a:hlinkClick r:id="rId3" action="ppaction://hlinkfile"/>
              </a:rPr>
              <a:t>Fig6-21.xlsm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916557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71512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 dirty="0">
                <a:solidFill>
                  <a:schemeClr val="hlink"/>
                </a:solidFill>
              </a:rPr>
              <a:t>Extension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143000"/>
            <a:ext cx="8534400" cy="4525963"/>
          </a:xfrm>
        </p:spPr>
        <p:txBody>
          <a:bodyPr/>
          <a:lstStyle/>
          <a:p>
            <a:r>
              <a:rPr lang="en-US" dirty="0"/>
              <a:t>What is the minimum cycle time with…</a:t>
            </a:r>
          </a:p>
          <a:p>
            <a:pPr lvl="1"/>
            <a:r>
              <a:rPr lang="en-US" dirty="0"/>
              <a:t>1 workstation?</a:t>
            </a:r>
          </a:p>
          <a:p>
            <a:pPr lvl="1"/>
            <a:r>
              <a:rPr lang="en-US" dirty="0"/>
              <a:t>2 workstations?</a:t>
            </a:r>
          </a:p>
          <a:p>
            <a:pPr lvl="1"/>
            <a:r>
              <a:rPr lang="en-US" dirty="0"/>
              <a:t>3 workstations?</a:t>
            </a:r>
          </a:p>
          <a:p>
            <a:pPr lvl="1"/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We can answer these questions using parameterized optimization…</a:t>
            </a:r>
          </a:p>
        </p:txBody>
      </p:sp>
    </p:spTree>
    <p:extLst>
      <p:ext uri="{BB962C8B-B14F-4D97-AF65-F5344CB8AC3E}">
        <p14:creationId xmlns:p14="http://schemas.microsoft.com/office/powerpoint/2010/main" val="16594689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04850"/>
            <a:ext cx="8229600" cy="608013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 dirty="0">
                <a:solidFill>
                  <a:schemeClr val="hlink"/>
                </a:solidFill>
              </a:rPr>
              <a:t>Modifying the Model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4495800"/>
            <a:ext cx="8229600" cy="830263"/>
          </a:xfrm>
          <a:noFill/>
          <a:ln/>
        </p:spPr>
        <p:txBody>
          <a:bodyPr lIns="92075" tIns="46038" rIns="92075" bIns="46038"/>
          <a:lstStyle/>
          <a:p>
            <a:pPr algn="ctr">
              <a:buFont typeface="Wingdings" pitchFamily="2" charset="2"/>
              <a:buNone/>
            </a:pPr>
            <a:r>
              <a:rPr lang="en-US" dirty="0"/>
              <a:t>See file </a:t>
            </a:r>
            <a:r>
              <a:rPr lang="en-US" dirty="0">
                <a:hlinkClick r:id="rId3" action="ppaction://hlinkfile"/>
              </a:rPr>
              <a:t>Fig6-24.xlsm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  <p:sp>
        <p:nvSpPr>
          <p:cNvPr id="5" name="Content Placeholder 3"/>
          <p:cNvSpPr txBox="1">
            <a:spLocks/>
          </p:cNvSpPr>
          <p:nvPr/>
        </p:nvSpPr>
        <p:spPr bwMode="auto">
          <a:xfrm>
            <a:off x="304800" y="1719263"/>
            <a:ext cx="8686800" cy="2547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en-US" kern="0" dirty="0"/>
              <a:t>Cycle time becomes a variable we want to minimize</a:t>
            </a:r>
          </a:p>
          <a:p>
            <a:r>
              <a:rPr lang="en-US" kern="0" dirty="0"/>
              <a:t>The number of workstations becomes an optimization parameter taking on values </a:t>
            </a:r>
            <a:br>
              <a:rPr lang="en-US" kern="0" dirty="0"/>
            </a:br>
            <a:r>
              <a:rPr lang="en-US" kern="0" dirty="0"/>
              <a:t>1, 2, …, 8.</a:t>
            </a:r>
          </a:p>
        </p:txBody>
      </p:sp>
    </p:spTree>
    <p:extLst>
      <p:ext uri="{BB962C8B-B14F-4D97-AF65-F5344CB8AC3E}">
        <p14:creationId xmlns:p14="http://schemas.microsoft.com/office/powerpoint/2010/main" val="19442372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4025"/>
            <a:ext cx="7772400" cy="555625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The Fixed-Charge </a:t>
            </a:r>
            <a:r>
              <a:rPr lang="en-US" sz="4000" i="1" dirty="0">
                <a:solidFill>
                  <a:schemeClr val="hlink"/>
                </a:solidFill>
              </a:rPr>
              <a:t>Problem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03325"/>
            <a:ext cx="8229600" cy="5121275"/>
          </a:xfrm>
          <a:noFill/>
          <a:ln/>
        </p:spPr>
        <p:txBody>
          <a:bodyPr lIns="92075" tIns="46038" rIns="92075" bIns="46038"/>
          <a:lstStyle/>
          <a:p>
            <a:r>
              <a:rPr lang="en-US" sz="2800"/>
              <a:t>Many </a:t>
            </a:r>
            <a:r>
              <a:rPr lang="en-US" sz="2800" dirty="0"/>
              <a:t>decisions result </a:t>
            </a:r>
            <a:r>
              <a:rPr lang="en-US" sz="2800"/>
              <a:t>in a </a:t>
            </a:r>
            <a:r>
              <a:rPr lang="en-US" sz="2800" dirty="0"/>
              <a:t>fixed or lump-sum cost being incurred:</a:t>
            </a:r>
          </a:p>
          <a:p>
            <a:pPr lvl="1">
              <a:buClr>
                <a:schemeClr val="tx1"/>
              </a:buClr>
              <a:buSzPct val="80000"/>
              <a:buFont typeface="Tahoma" pitchFamily="34" charset="0"/>
              <a:buChar char="–"/>
            </a:pPr>
            <a:r>
              <a:rPr lang="en-US" sz="2600" dirty="0"/>
              <a:t>The cost </a:t>
            </a:r>
            <a:r>
              <a:rPr lang="en-US" sz="2600"/>
              <a:t>to lease</a:t>
            </a:r>
            <a:r>
              <a:rPr lang="en-US" sz="2600" dirty="0"/>
              <a:t>, rent, </a:t>
            </a:r>
            <a:r>
              <a:rPr lang="en-US" sz="2600"/>
              <a:t>or purchase a </a:t>
            </a:r>
            <a:r>
              <a:rPr lang="en-US" sz="2600" dirty="0"/>
              <a:t>piece of equipment </a:t>
            </a:r>
            <a:r>
              <a:rPr lang="en-US" sz="2600"/>
              <a:t>or a vehicle that </a:t>
            </a:r>
            <a:r>
              <a:rPr lang="en-US" sz="2600" dirty="0"/>
              <a:t>will be required </a:t>
            </a:r>
            <a:r>
              <a:rPr lang="en-US" sz="2600"/>
              <a:t>if a particular action is taken</a:t>
            </a:r>
            <a:r>
              <a:rPr lang="en-US" sz="2600" dirty="0"/>
              <a:t>.</a:t>
            </a:r>
          </a:p>
          <a:p>
            <a:pPr lvl="1">
              <a:buClr>
                <a:schemeClr val="tx1"/>
              </a:buClr>
              <a:buSzPct val="80000"/>
              <a:buFont typeface="Tahoma" pitchFamily="34" charset="0"/>
              <a:buChar char="–"/>
            </a:pPr>
            <a:r>
              <a:rPr lang="en-US" sz="2600" dirty="0"/>
              <a:t>The setup cost required </a:t>
            </a:r>
            <a:r>
              <a:rPr lang="en-US" sz="2600"/>
              <a:t>to prepare a machine </a:t>
            </a:r>
            <a:r>
              <a:rPr lang="en-US" sz="2600" dirty="0"/>
              <a:t>or to </a:t>
            </a:r>
            <a:r>
              <a:rPr lang="en-US" sz="2600"/>
              <a:t>produce a </a:t>
            </a:r>
            <a:r>
              <a:rPr lang="en-US" sz="2600" dirty="0"/>
              <a:t>different type of product.</a:t>
            </a:r>
          </a:p>
          <a:p>
            <a:pPr lvl="1">
              <a:buClr>
                <a:schemeClr val="tx1"/>
              </a:buClr>
              <a:buSzPct val="80000"/>
              <a:buFont typeface="Tahoma" pitchFamily="34" charset="0"/>
              <a:buChar char="–"/>
            </a:pPr>
            <a:r>
              <a:rPr lang="en-US" sz="2600" dirty="0"/>
              <a:t>The cost to </a:t>
            </a:r>
            <a:r>
              <a:rPr lang="en-US" sz="2600"/>
              <a:t>construct a </a:t>
            </a:r>
            <a:r>
              <a:rPr lang="en-US" sz="2600" dirty="0"/>
              <a:t>new production </a:t>
            </a:r>
            <a:r>
              <a:rPr lang="en-US" sz="2600"/>
              <a:t>line that </a:t>
            </a:r>
            <a:r>
              <a:rPr lang="en-US" sz="2600" dirty="0"/>
              <a:t>will be required </a:t>
            </a:r>
            <a:r>
              <a:rPr lang="en-US" sz="2600"/>
              <a:t>if a particular </a:t>
            </a:r>
            <a:r>
              <a:rPr lang="en-US" sz="2600" dirty="0"/>
              <a:t>decision </a:t>
            </a:r>
            <a:r>
              <a:rPr lang="en-US" sz="2600"/>
              <a:t>is made</a:t>
            </a:r>
            <a:r>
              <a:rPr lang="en-US" sz="2600" dirty="0"/>
              <a:t>.</a:t>
            </a:r>
          </a:p>
          <a:p>
            <a:pPr lvl="1">
              <a:buClr>
                <a:schemeClr val="tx1"/>
              </a:buClr>
              <a:buSzPct val="80000"/>
              <a:buFont typeface="Tahoma" pitchFamily="34" charset="0"/>
              <a:buChar char="–"/>
            </a:pPr>
            <a:r>
              <a:rPr lang="en-US" sz="2600" dirty="0"/>
              <a:t>The cost of </a:t>
            </a:r>
            <a:r>
              <a:rPr lang="en-US" sz="2600"/>
              <a:t>hiring additional personnel that </a:t>
            </a:r>
            <a:r>
              <a:rPr lang="en-US" sz="2600" dirty="0"/>
              <a:t>will be required </a:t>
            </a:r>
            <a:r>
              <a:rPr lang="en-US" sz="2600"/>
              <a:t>if a particular </a:t>
            </a:r>
            <a:r>
              <a:rPr lang="en-US" sz="2600" dirty="0"/>
              <a:t>decision </a:t>
            </a:r>
            <a:r>
              <a:rPr lang="en-US" sz="2600"/>
              <a:t>is made</a:t>
            </a:r>
            <a:r>
              <a:rPr lang="en-US" sz="2600" dirty="0"/>
              <a:t>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24200" y="6172200"/>
            <a:ext cx="2895600" cy="476250"/>
          </a:xfrm>
        </p:spPr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4025"/>
            <a:ext cx="7772400" cy="938213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80000"/>
              </a:lnSpc>
            </a:pPr>
            <a:r>
              <a:rPr lang="en-US" sz="4000" i="1">
                <a:solidFill>
                  <a:schemeClr val="hlink"/>
                </a:solidFill>
              </a:rPr>
              <a:t>Example Fixed-Charge </a:t>
            </a:r>
            <a:r>
              <a:rPr lang="en-US" sz="4000" i="1" dirty="0">
                <a:solidFill>
                  <a:schemeClr val="hlink"/>
                </a:solidFill>
              </a:rPr>
              <a:t>Problem:</a:t>
            </a:r>
            <a:br>
              <a:rPr lang="en-US" sz="4000" i="1" dirty="0">
                <a:solidFill>
                  <a:schemeClr val="hlink"/>
                </a:solidFill>
              </a:rPr>
            </a:br>
            <a:r>
              <a:rPr lang="en-US" sz="4000" i="1">
                <a:solidFill>
                  <a:schemeClr val="hlink"/>
                </a:solidFill>
              </a:rPr>
              <a:t>Remington Manufacturing</a:t>
            </a:r>
            <a:endParaRPr lang="en-US" sz="4000" i="1" dirty="0">
              <a:solidFill>
                <a:schemeClr val="hlink"/>
              </a:solidFill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093913"/>
            <a:ext cx="8229600" cy="2906712"/>
          </a:xfrm>
          <a:noFill/>
          <a:ln/>
        </p:spPr>
        <p:txBody>
          <a:bodyPr lIns="92075" tIns="46038" rIns="92075" bIns="46038"/>
          <a:lstStyle/>
          <a:p>
            <a:pPr marL="0" indent="0" defTabSz="922338">
              <a:buFont typeface="Wingdings" pitchFamily="2" charset="2"/>
              <a:buNone/>
              <a:tabLst>
                <a:tab pos="2279650" algn="ctr"/>
                <a:tab pos="3538538" algn="ctr"/>
                <a:tab pos="4745038" algn="ctr"/>
                <a:tab pos="6515100" algn="ctr"/>
              </a:tabLst>
            </a:pPr>
            <a:r>
              <a:rPr lang="en-US" sz="2400"/>
              <a:t>Operation</a:t>
            </a:r>
            <a:r>
              <a:rPr lang="en-US" sz="2400" dirty="0"/>
              <a:t>	Prod. 1	Prod. 2	Prod. 3	</a:t>
            </a:r>
            <a:r>
              <a:rPr lang="en-US" sz="2400"/>
              <a:t>Hours Available</a:t>
            </a:r>
            <a:endParaRPr lang="en-US" sz="2400" dirty="0"/>
          </a:p>
          <a:p>
            <a:pPr marL="0" indent="0" defTabSz="922338">
              <a:buFont typeface="Wingdings" pitchFamily="2" charset="2"/>
              <a:buNone/>
              <a:tabLst>
                <a:tab pos="2279650" algn="ctr"/>
                <a:tab pos="3538538" algn="ctr"/>
                <a:tab pos="4745038" algn="ctr"/>
                <a:tab pos="6515100" algn="ctr"/>
              </a:tabLst>
            </a:pPr>
            <a:r>
              <a:rPr lang="en-US" sz="2400"/>
              <a:t>Machining</a:t>
            </a:r>
            <a:r>
              <a:rPr lang="en-US" sz="2400" dirty="0"/>
              <a:t>	2	3	6	600	</a:t>
            </a:r>
          </a:p>
          <a:p>
            <a:pPr marL="0" indent="0" defTabSz="922338">
              <a:buFont typeface="Wingdings" pitchFamily="2" charset="2"/>
              <a:buNone/>
              <a:tabLst>
                <a:tab pos="2279650" algn="ctr"/>
                <a:tab pos="3538538" algn="ctr"/>
                <a:tab pos="4745038" algn="ctr"/>
                <a:tab pos="6515100" algn="ctr"/>
              </a:tabLst>
            </a:pPr>
            <a:r>
              <a:rPr lang="en-US" sz="2400" dirty="0"/>
              <a:t>Grinding	6	3	4	300	</a:t>
            </a:r>
          </a:p>
          <a:p>
            <a:pPr marL="0" indent="0" defTabSz="922338">
              <a:buFont typeface="Wingdings" pitchFamily="2" charset="2"/>
              <a:buNone/>
              <a:tabLst>
                <a:tab pos="2279650" algn="ctr"/>
                <a:tab pos="3538538" algn="ctr"/>
                <a:tab pos="4745038" algn="ctr"/>
                <a:tab pos="6515100" algn="ctr"/>
              </a:tabLst>
            </a:pPr>
            <a:r>
              <a:rPr lang="en-US" sz="2400"/>
              <a:t>Assembly</a:t>
            </a:r>
            <a:r>
              <a:rPr lang="en-US" sz="2400" dirty="0"/>
              <a:t>	5	6	2	400</a:t>
            </a:r>
          </a:p>
          <a:p>
            <a:pPr marL="0" indent="0" defTabSz="922338">
              <a:buFont typeface="Wingdings" pitchFamily="2" charset="2"/>
              <a:buNone/>
              <a:tabLst>
                <a:tab pos="2279650" algn="ctr"/>
                <a:tab pos="3538538" algn="ctr"/>
                <a:tab pos="4745038" algn="ctr"/>
                <a:tab pos="6515100" algn="ctr"/>
              </a:tabLst>
            </a:pPr>
            <a:r>
              <a:rPr lang="en-US" sz="2400" dirty="0"/>
              <a:t>Unit Profit	$48	$55	$50</a:t>
            </a:r>
          </a:p>
          <a:p>
            <a:pPr marL="0" indent="0" defTabSz="922338">
              <a:buFont typeface="Wingdings" pitchFamily="2" charset="2"/>
              <a:buNone/>
              <a:tabLst>
                <a:tab pos="2279650" algn="ctr"/>
                <a:tab pos="3538538" algn="ctr"/>
                <a:tab pos="4745038" algn="ctr"/>
                <a:tab pos="6515100" algn="ctr"/>
              </a:tabLst>
            </a:pPr>
            <a:r>
              <a:rPr lang="en-US" sz="2400" dirty="0"/>
              <a:t>Setup Cost	$1000	$800	$900</a:t>
            </a:r>
          </a:p>
          <a:p>
            <a:pPr marL="0" indent="0" defTabSz="922338">
              <a:buFont typeface="Wingdings" pitchFamily="2" charset="2"/>
              <a:buNone/>
              <a:tabLst>
                <a:tab pos="2279650" algn="ctr"/>
                <a:tab pos="3538538" algn="ctr"/>
                <a:tab pos="4745038" algn="ctr"/>
                <a:tab pos="6515100" algn="ctr"/>
              </a:tabLst>
            </a:pPr>
            <a:endParaRPr lang="en-US" sz="2400" dirty="0"/>
          </a:p>
        </p:txBody>
      </p:sp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2590800" y="1752600"/>
            <a:ext cx="34813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400">
                <a:latin typeface="Tahoma" pitchFamily="34" charset="0"/>
              </a:rPr>
              <a:t>Hours Required By:	</a:t>
            </a:r>
          </a:p>
        </p:txBody>
      </p:sp>
      <p:sp>
        <p:nvSpPr>
          <p:cNvPr id="27653" name="Line 5"/>
          <p:cNvSpPr>
            <a:spLocks noChangeShapeType="1"/>
          </p:cNvSpPr>
          <p:nvPr/>
        </p:nvSpPr>
        <p:spPr bwMode="auto">
          <a:xfrm>
            <a:off x="533400" y="2514600"/>
            <a:ext cx="7602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4" name="Line 6"/>
          <p:cNvSpPr>
            <a:spLocks noChangeShapeType="1"/>
          </p:cNvSpPr>
          <p:nvPr/>
        </p:nvSpPr>
        <p:spPr bwMode="auto">
          <a:xfrm>
            <a:off x="530225" y="4724400"/>
            <a:ext cx="7602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8012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 dirty="0">
                <a:solidFill>
                  <a:schemeClr val="hlink"/>
                </a:solidFill>
              </a:rPr>
              <a:t>Defining the </a:t>
            </a:r>
            <a:r>
              <a:rPr lang="en-US" sz="4000" i="1">
                <a:solidFill>
                  <a:schemeClr val="hlink"/>
                </a:solidFill>
              </a:rPr>
              <a:t>Decision Variables</a:t>
            </a:r>
            <a:endParaRPr lang="en-US" sz="4000" i="1" dirty="0">
              <a:solidFill>
                <a:schemeClr val="hlink"/>
              </a:solidFill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00125"/>
            <a:ext cx="7772400" cy="865188"/>
          </a:xfrm>
          <a:noFill/>
          <a:ln/>
        </p:spPr>
        <p:txBody>
          <a:bodyPr lIns="92075" tIns="46038" rIns="92075" bIns="46038"/>
          <a:lstStyle/>
          <a:p>
            <a:pPr algn="ctr">
              <a:buFont typeface="Wingdings" pitchFamily="2" charset="2"/>
              <a:buNone/>
            </a:pPr>
            <a:endParaRPr lang="en-US" sz="2400" dirty="0">
              <a:latin typeface="Times New Roman" pitchFamily="18" charset="0"/>
            </a:endParaRPr>
          </a:p>
          <a:p>
            <a:pPr algn="ctr">
              <a:buFont typeface="Wingdings" pitchFamily="2" charset="2"/>
              <a:buNone/>
            </a:pPr>
            <a:r>
              <a:rPr lang="en-US" sz="2400" dirty="0">
                <a:latin typeface="Times New Roman" pitchFamily="18" charset="0"/>
              </a:rPr>
              <a:t>X</a:t>
            </a:r>
            <a:r>
              <a:rPr lang="en-US" sz="2400" i="1" baseline="-40000" dirty="0">
                <a:latin typeface="Times New Roman" pitchFamily="18" charset="0"/>
              </a:rPr>
              <a:t>i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/>
              <a:t>= </a:t>
            </a:r>
            <a:r>
              <a:rPr lang="en-US" sz="2400"/>
              <a:t>the amount </a:t>
            </a:r>
            <a:r>
              <a:rPr lang="en-US" sz="2400" dirty="0"/>
              <a:t>of product </a:t>
            </a:r>
            <a:r>
              <a:rPr lang="en-US" sz="2400" i="1" dirty="0" err="1">
                <a:latin typeface="Times New Roman" pitchFamily="18" charset="0"/>
              </a:rPr>
              <a:t>i</a:t>
            </a:r>
            <a:r>
              <a:rPr lang="en-US" sz="2400" dirty="0"/>
              <a:t> to be produced, </a:t>
            </a:r>
            <a:r>
              <a:rPr lang="en-US" sz="2400" i="1" dirty="0" err="1">
                <a:latin typeface="Times New Roman" pitchFamily="18" charset="0"/>
              </a:rPr>
              <a:t>i</a:t>
            </a:r>
            <a:r>
              <a:rPr lang="en-US" sz="2400" dirty="0"/>
              <a:t> = 1, 2, 3	</a:t>
            </a:r>
          </a:p>
        </p:txBody>
      </p:sp>
      <p:graphicFrame>
        <p:nvGraphicFramePr>
          <p:cNvPr id="28676" name="Object 4"/>
          <p:cNvGraphicFramePr>
            <a:graphicFrameLocks/>
          </p:cNvGraphicFramePr>
          <p:nvPr/>
        </p:nvGraphicFramePr>
        <p:xfrm>
          <a:off x="838200" y="2286000"/>
          <a:ext cx="4027488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68" name="Equation" r:id="rId4" imgW="1932480" imgH="583920" progId="Equation.3">
                  <p:embed/>
                </p:oleObj>
              </mc:Choice>
              <mc:Fallback>
                <p:oleObj name="Equation" r:id="rId4" imgW="1932480" imgH="583920" progId="Equation.3">
                  <p:embed/>
                  <p:pic>
                    <p:nvPicPr>
                      <p:cNvPr id="0" name="Picture 15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286000"/>
                        <a:ext cx="4027488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71512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Defining the Objective Function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484688"/>
          </a:xfrm>
          <a:noFill/>
          <a:ln/>
        </p:spPr>
        <p:txBody>
          <a:bodyPr lIns="92075" tIns="46038" rIns="92075" bIns="46038"/>
          <a:lstStyle/>
          <a:p>
            <a:pPr algn="ctr">
              <a:buFont typeface="Wingdings" pitchFamily="2" charset="2"/>
              <a:buNone/>
            </a:pPr>
            <a:r>
              <a:rPr lang="en-US" sz="2800"/>
              <a:t>Maximize total </a:t>
            </a:r>
            <a:r>
              <a:rPr lang="en-US" sz="2800" dirty="0"/>
              <a:t>profit.</a:t>
            </a:r>
          </a:p>
          <a:p>
            <a:pPr algn="ctr">
              <a:buFont typeface="Wingdings" pitchFamily="2" charset="2"/>
              <a:buNone/>
            </a:pPr>
            <a:endParaRPr lang="en-US" sz="2400" dirty="0"/>
          </a:p>
          <a:p>
            <a:pPr algn="ctr">
              <a:buFont typeface="Wingdings" pitchFamily="2" charset="2"/>
              <a:buNone/>
            </a:pPr>
            <a:r>
              <a:rPr lang="en-US" sz="2400"/>
              <a:t>MAX</a:t>
            </a:r>
            <a:r>
              <a:rPr lang="en-US" sz="2400" dirty="0"/>
              <a:t>:   48X</a:t>
            </a:r>
            <a:r>
              <a:rPr lang="en-US" sz="2400" baseline="-25000" dirty="0"/>
              <a:t>1</a:t>
            </a:r>
            <a:r>
              <a:rPr lang="en-US" sz="2400" dirty="0"/>
              <a:t> + 55X</a:t>
            </a:r>
            <a:r>
              <a:rPr lang="en-US" sz="2400" baseline="-25000" dirty="0"/>
              <a:t>2</a:t>
            </a:r>
            <a:r>
              <a:rPr lang="en-US" sz="2400" dirty="0"/>
              <a:t> + 50X</a:t>
            </a:r>
            <a:r>
              <a:rPr lang="en-US" sz="2400" baseline="-25000" dirty="0"/>
              <a:t>3</a:t>
            </a:r>
            <a:r>
              <a:rPr lang="en-US" sz="2400" dirty="0"/>
              <a:t> – 1000Y</a:t>
            </a:r>
            <a:r>
              <a:rPr lang="en-US" sz="2400" baseline="-25000" dirty="0"/>
              <a:t>1</a:t>
            </a:r>
            <a:r>
              <a:rPr lang="en-US" sz="2400" dirty="0"/>
              <a:t> – 800Y</a:t>
            </a:r>
            <a:r>
              <a:rPr lang="en-US" sz="2400" baseline="-25000" dirty="0"/>
              <a:t>2</a:t>
            </a:r>
            <a:r>
              <a:rPr lang="en-US" sz="2400" dirty="0"/>
              <a:t> – 900Y</a:t>
            </a:r>
            <a:r>
              <a:rPr lang="en-US" sz="2400" baseline="-25000" dirty="0"/>
              <a:t>3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76262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 dirty="0">
                <a:solidFill>
                  <a:schemeClr val="hlink"/>
                </a:solidFill>
              </a:rPr>
              <a:t>Defining </a:t>
            </a:r>
            <a:r>
              <a:rPr lang="en-US" sz="4000" i="1">
                <a:solidFill>
                  <a:schemeClr val="hlink"/>
                </a:solidFill>
              </a:rPr>
              <a:t>the Constraints</a:t>
            </a:r>
            <a:endParaRPr lang="en-US" sz="4000" i="1" dirty="0">
              <a:solidFill>
                <a:schemeClr val="hlink"/>
              </a:solidFill>
            </a:endParaRP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95400" y="1143000"/>
            <a:ext cx="6858000" cy="4725988"/>
          </a:xfrm>
          <a:noFill/>
          <a:ln/>
        </p:spPr>
        <p:txBody>
          <a:bodyPr lIns="92075" tIns="46038" rIns="92075" bIns="46038"/>
          <a:lstStyle/>
          <a:p>
            <a:pPr marL="401638" indent="-401638"/>
            <a:r>
              <a:rPr lang="en-US" sz="2800"/>
              <a:t>Resource Constraints</a:t>
            </a:r>
            <a:endParaRPr lang="en-US" sz="2800" dirty="0"/>
          </a:p>
          <a:p>
            <a:pPr marL="801688" lvl="1">
              <a:buFontTx/>
              <a:buNone/>
            </a:pPr>
            <a:r>
              <a:rPr lang="en-US" sz="2400" dirty="0"/>
              <a:t>2X</a:t>
            </a:r>
            <a:r>
              <a:rPr lang="en-US" sz="2400" baseline="-25000" dirty="0"/>
              <a:t>1</a:t>
            </a:r>
            <a:r>
              <a:rPr lang="en-US" sz="2400" dirty="0"/>
              <a:t> + 3X</a:t>
            </a:r>
            <a:r>
              <a:rPr lang="en-US" sz="2400" baseline="-25000" dirty="0"/>
              <a:t>2</a:t>
            </a:r>
            <a:r>
              <a:rPr lang="en-US" sz="2400" dirty="0"/>
              <a:t> + 6X</a:t>
            </a:r>
            <a:r>
              <a:rPr lang="en-US" sz="2400" baseline="-25000" dirty="0"/>
              <a:t>3</a:t>
            </a:r>
            <a:r>
              <a:rPr lang="en-US" sz="2400" dirty="0"/>
              <a:t> &lt;= 600	</a:t>
            </a:r>
            <a:r>
              <a:rPr lang="en-US" sz="2400"/>
              <a:t>} machining</a:t>
            </a:r>
            <a:endParaRPr lang="en-US" sz="2400" dirty="0"/>
          </a:p>
          <a:p>
            <a:pPr marL="801688" lvl="1">
              <a:buFontTx/>
              <a:buNone/>
            </a:pPr>
            <a:r>
              <a:rPr lang="en-US" sz="2400" dirty="0"/>
              <a:t>6X</a:t>
            </a:r>
            <a:r>
              <a:rPr lang="en-US" sz="2400" baseline="-25000" dirty="0"/>
              <a:t>1</a:t>
            </a:r>
            <a:r>
              <a:rPr lang="en-US" sz="2400" dirty="0"/>
              <a:t> + 3X</a:t>
            </a:r>
            <a:r>
              <a:rPr lang="en-US" sz="2400" baseline="-25000" dirty="0"/>
              <a:t>2</a:t>
            </a:r>
            <a:r>
              <a:rPr lang="en-US" sz="2400" dirty="0"/>
              <a:t> + 4X</a:t>
            </a:r>
            <a:r>
              <a:rPr lang="en-US" sz="2400" baseline="-25000" dirty="0"/>
              <a:t>3</a:t>
            </a:r>
            <a:r>
              <a:rPr lang="en-US" sz="2400" dirty="0"/>
              <a:t> &lt;= 300	} grinding</a:t>
            </a:r>
          </a:p>
          <a:p>
            <a:pPr marL="801688" lvl="1">
              <a:buFontTx/>
              <a:buNone/>
            </a:pPr>
            <a:r>
              <a:rPr lang="en-US" sz="2400" dirty="0"/>
              <a:t>5X</a:t>
            </a:r>
            <a:r>
              <a:rPr lang="en-US" sz="2400" baseline="-25000" dirty="0"/>
              <a:t>1</a:t>
            </a:r>
            <a:r>
              <a:rPr lang="en-US" sz="2400" dirty="0"/>
              <a:t> + 6X</a:t>
            </a:r>
            <a:r>
              <a:rPr lang="en-US" sz="2400" baseline="-25000" dirty="0"/>
              <a:t>2</a:t>
            </a:r>
            <a:r>
              <a:rPr lang="en-US" sz="2400" dirty="0"/>
              <a:t> + 2X</a:t>
            </a:r>
            <a:r>
              <a:rPr lang="en-US" sz="2400" baseline="-25000" dirty="0"/>
              <a:t>3</a:t>
            </a:r>
            <a:r>
              <a:rPr lang="en-US" sz="2400" dirty="0"/>
              <a:t> &lt;= 400	</a:t>
            </a:r>
            <a:r>
              <a:rPr lang="en-US" sz="2400"/>
              <a:t>} assembly</a:t>
            </a:r>
            <a:endParaRPr lang="en-US" dirty="0"/>
          </a:p>
          <a:p>
            <a:pPr marL="401638" indent="-401638"/>
            <a:r>
              <a:rPr lang="en-US" sz="2800"/>
              <a:t>Binary Constraints</a:t>
            </a:r>
            <a:endParaRPr lang="en-US" sz="2800" dirty="0"/>
          </a:p>
          <a:p>
            <a:pPr marL="801688" lvl="1">
              <a:buFontTx/>
              <a:buNone/>
            </a:pPr>
            <a:r>
              <a:rPr lang="en-US" sz="2400"/>
              <a:t>All </a:t>
            </a:r>
            <a:r>
              <a:rPr lang="en-US" sz="2400" dirty="0"/>
              <a:t>Y</a:t>
            </a:r>
            <a:r>
              <a:rPr lang="en-US" sz="2400" i="1" baseline="-25000" dirty="0">
                <a:latin typeface="Times New Roman" pitchFamily="18" charset="0"/>
              </a:rPr>
              <a:t>i</a:t>
            </a:r>
            <a:r>
              <a:rPr lang="en-US" sz="2400" dirty="0"/>
              <a:t> must </a:t>
            </a:r>
            <a:r>
              <a:rPr lang="en-US" sz="2400"/>
              <a:t>be binary</a:t>
            </a:r>
            <a:endParaRPr lang="en-US" sz="2400" dirty="0"/>
          </a:p>
          <a:p>
            <a:pPr marL="401638" indent="-401638"/>
            <a:r>
              <a:rPr lang="en-US" sz="2800"/>
              <a:t>Nonnegativity </a:t>
            </a:r>
            <a:r>
              <a:rPr lang="en-US" sz="2800" dirty="0"/>
              <a:t>conditions</a:t>
            </a:r>
          </a:p>
          <a:p>
            <a:pPr marL="801688" lvl="1">
              <a:buFontTx/>
              <a:buNone/>
            </a:pPr>
            <a:r>
              <a:rPr lang="en-US" sz="2400" dirty="0"/>
              <a:t>X</a:t>
            </a:r>
            <a:r>
              <a:rPr lang="en-US" sz="2400" i="1" baseline="-25000" dirty="0">
                <a:latin typeface="Times New Roman" pitchFamily="18" charset="0"/>
              </a:rPr>
              <a:t>i</a:t>
            </a:r>
            <a:r>
              <a:rPr lang="en-US" sz="2400" dirty="0"/>
              <a:t> &gt;= 0, </a:t>
            </a:r>
            <a:r>
              <a:rPr lang="en-US" sz="2400" i="1" dirty="0" err="1">
                <a:latin typeface="Times New Roman" pitchFamily="18" charset="0"/>
              </a:rPr>
              <a:t>i</a:t>
            </a:r>
            <a:r>
              <a:rPr lang="en-US" sz="2400" dirty="0"/>
              <a:t> = 1, 2, ..., 6</a:t>
            </a:r>
          </a:p>
          <a:p>
            <a:pPr marL="401638" indent="-401638"/>
            <a:r>
              <a:rPr lang="en-US" sz="2800" dirty="0"/>
              <a:t>Is </a:t>
            </a:r>
            <a:r>
              <a:rPr lang="en-US" sz="2800"/>
              <a:t>there a </a:t>
            </a:r>
            <a:r>
              <a:rPr lang="en-US" sz="2800" dirty="0"/>
              <a:t>missing link?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541338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 dirty="0">
                <a:solidFill>
                  <a:schemeClr val="hlink"/>
                </a:solidFill>
              </a:rPr>
              <a:t>Defining </a:t>
            </a:r>
            <a:r>
              <a:rPr lang="en-US" sz="4000" i="1">
                <a:solidFill>
                  <a:schemeClr val="hlink"/>
                </a:solidFill>
              </a:rPr>
              <a:t>the Constraints</a:t>
            </a:r>
            <a:r>
              <a:rPr lang="en-US" i="1">
                <a:solidFill>
                  <a:schemeClr val="hlink"/>
                </a:solidFill>
              </a:rPr>
              <a:t> </a:t>
            </a:r>
            <a:r>
              <a:rPr lang="en-US" sz="2000" i="1" dirty="0">
                <a:solidFill>
                  <a:schemeClr val="hlink"/>
                </a:solidFill>
              </a:rPr>
              <a:t>(cont’d)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30275"/>
            <a:ext cx="7772400" cy="5508625"/>
          </a:xfrm>
          <a:noFill/>
          <a:ln/>
        </p:spPr>
        <p:txBody>
          <a:bodyPr lIns="92075" tIns="46038" rIns="92075" bIns="46038"/>
          <a:lstStyle/>
          <a:p>
            <a:r>
              <a:rPr lang="en-US" sz="2800"/>
              <a:t>Linking Constraints </a:t>
            </a:r>
            <a:r>
              <a:rPr lang="en-US" sz="2800" dirty="0"/>
              <a:t>(with “Big M”)</a:t>
            </a:r>
          </a:p>
          <a:p>
            <a:pPr lvl="1">
              <a:buFontTx/>
              <a:buNone/>
            </a:pPr>
            <a:r>
              <a:rPr lang="en-US" sz="2400" dirty="0"/>
              <a:t>X</a:t>
            </a:r>
            <a:r>
              <a:rPr lang="en-US" sz="2400" baseline="-25000" dirty="0"/>
              <a:t>1 </a:t>
            </a:r>
            <a:r>
              <a:rPr lang="en-US" sz="2400" dirty="0"/>
              <a:t>&lt;= M</a:t>
            </a:r>
            <a:r>
              <a:rPr lang="en-US" sz="2400" baseline="-25000" dirty="0"/>
              <a:t>1</a:t>
            </a:r>
            <a:r>
              <a:rPr lang="en-US" sz="2400" dirty="0"/>
              <a:t>Y</a:t>
            </a:r>
            <a:r>
              <a:rPr lang="en-US" sz="2400" baseline="-25000" dirty="0"/>
              <a:t>1</a:t>
            </a:r>
            <a:r>
              <a:rPr lang="en-US" sz="2400" dirty="0"/>
              <a:t>	or 	 X</a:t>
            </a:r>
            <a:r>
              <a:rPr lang="en-US" sz="2400" baseline="-25000" dirty="0"/>
              <a:t>1 </a:t>
            </a:r>
            <a:r>
              <a:rPr lang="en-US" dirty="0"/>
              <a:t>-</a:t>
            </a:r>
            <a:r>
              <a:rPr lang="en-US" sz="2400" dirty="0"/>
              <a:t> M</a:t>
            </a:r>
            <a:r>
              <a:rPr lang="en-US" sz="2400" baseline="-25000" dirty="0"/>
              <a:t>1</a:t>
            </a:r>
            <a:r>
              <a:rPr lang="en-US" sz="2400" dirty="0"/>
              <a:t>Y</a:t>
            </a:r>
            <a:r>
              <a:rPr lang="en-US" sz="2400" baseline="-25000" dirty="0"/>
              <a:t>1 </a:t>
            </a:r>
            <a:r>
              <a:rPr lang="en-US" sz="2400" dirty="0"/>
              <a:t>&lt;= 0</a:t>
            </a:r>
          </a:p>
          <a:p>
            <a:pPr lvl="1">
              <a:buFontTx/>
              <a:buNone/>
            </a:pPr>
            <a:r>
              <a:rPr lang="en-US" sz="2400" dirty="0"/>
              <a:t>X</a:t>
            </a:r>
            <a:r>
              <a:rPr lang="en-US" sz="2400" baseline="-25000" dirty="0"/>
              <a:t>2</a:t>
            </a:r>
            <a:r>
              <a:rPr lang="en-US" sz="2400" dirty="0"/>
              <a:t> &lt;=  M</a:t>
            </a:r>
            <a:r>
              <a:rPr lang="en-US" sz="2400" baseline="-25000" dirty="0"/>
              <a:t>2</a:t>
            </a:r>
            <a:r>
              <a:rPr lang="en-US" sz="2400" dirty="0"/>
              <a:t>Y</a:t>
            </a:r>
            <a:r>
              <a:rPr lang="en-US" sz="2400" baseline="-25000" dirty="0"/>
              <a:t>2 </a:t>
            </a:r>
            <a:r>
              <a:rPr lang="en-US" sz="2400" dirty="0"/>
              <a:t>	or 	 X</a:t>
            </a:r>
            <a:r>
              <a:rPr lang="en-US" sz="2400" baseline="-25000" dirty="0"/>
              <a:t>2 </a:t>
            </a:r>
            <a:r>
              <a:rPr lang="en-US" dirty="0"/>
              <a:t>-</a:t>
            </a:r>
            <a:r>
              <a:rPr lang="en-US" sz="2400" dirty="0"/>
              <a:t> M</a:t>
            </a:r>
            <a:r>
              <a:rPr lang="en-US" sz="2400" baseline="-25000" dirty="0"/>
              <a:t>2</a:t>
            </a:r>
            <a:r>
              <a:rPr lang="en-US" sz="2400" dirty="0"/>
              <a:t>Y</a:t>
            </a:r>
            <a:r>
              <a:rPr lang="en-US" sz="2400" baseline="-25000" dirty="0"/>
              <a:t>2</a:t>
            </a:r>
            <a:r>
              <a:rPr lang="en-US" sz="2400" dirty="0"/>
              <a:t> &lt;= 0</a:t>
            </a:r>
          </a:p>
          <a:p>
            <a:pPr lvl="1">
              <a:buFontTx/>
              <a:buNone/>
            </a:pPr>
            <a:r>
              <a:rPr lang="en-US" sz="2400" dirty="0"/>
              <a:t>X</a:t>
            </a:r>
            <a:r>
              <a:rPr lang="en-US" sz="2400" baseline="-25000" dirty="0"/>
              <a:t>3</a:t>
            </a:r>
            <a:r>
              <a:rPr lang="en-US" sz="2400" dirty="0"/>
              <a:t> &lt;= M</a:t>
            </a:r>
            <a:r>
              <a:rPr lang="en-US" sz="2400" baseline="-25000" dirty="0"/>
              <a:t>3</a:t>
            </a:r>
            <a:r>
              <a:rPr lang="en-US" sz="2400" dirty="0"/>
              <a:t>Y</a:t>
            </a:r>
            <a:r>
              <a:rPr lang="en-US" sz="2400" baseline="-25000" dirty="0"/>
              <a:t>3	</a:t>
            </a:r>
            <a:r>
              <a:rPr lang="en-US" sz="2400" dirty="0"/>
              <a:t>or 	 X</a:t>
            </a:r>
            <a:r>
              <a:rPr lang="en-US" sz="2400" baseline="-25000" dirty="0"/>
              <a:t>3 </a:t>
            </a:r>
            <a:r>
              <a:rPr lang="en-US" dirty="0"/>
              <a:t>-</a:t>
            </a:r>
            <a:r>
              <a:rPr lang="en-US" sz="2400" dirty="0"/>
              <a:t> M</a:t>
            </a:r>
            <a:r>
              <a:rPr lang="en-US" sz="2400" baseline="-25000" dirty="0"/>
              <a:t>3</a:t>
            </a:r>
            <a:r>
              <a:rPr lang="en-US" sz="2400" dirty="0"/>
              <a:t>Y</a:t>
            </a:r>
            <a:r>
              <a:rPr lang="en-US" sz="2400" baseline="-25000" dirty="0"/>
              <a:t>3 </a:t>
            </a:r>
            <a:r>
              <a:rPr lang="en-US" sz="2400" dirty="0"/>
              <a:t>&lt;= 0</a:t>
            </a:r>
          </a:p>
          <a:p>
            <a:r>
              <a:rPr lang="en-US" sz="2800" dirty="0"/>
              <a:t>If X</a:t>
            </a:r>
            <a:r>
              <a:rPr lang="en-US" sz="2800" i="1" baseline="-25000" dirty="0">
                <a:latin typeface="Times New Roman" pitchFamily="18" charset="0"/>
              </a:rPr>
              <a:t>i</a:t>
            </a:r>
            <a:r>
              <a:rPr lang="en-US" sz="2800" dirty="0"/>
              <a:t> &gt; 0 </a:t>
            </a:r>
            <a:r>
              <a:rPr lang="en-US" sz="2800"/>
              <a:t>these constraints </a:t>
            </a:r>
            <a:r>
              <a:rPr lang="en-US" sz="2800" dirty="0"/>
              <a:t>force </a:t>
            </a:r>
            <a:r>
              <a:rPr lang="en-US" sz="2800"/>
              <a:t>the associated </a:t>
            </a:r>
            <a:r>
              <a:rPr lang="en-US" sz="2800" dirty="0"/>
              <a:t>Y</a:t>
            </a:r>
            <a:r>
              <a:rPr lang="en-US" sz="2800" i="1" baseline="-25000" dirty="0">
                <a:latin typeface="Times New Roman" pitchFamily="18" charset="0"/>
              </a:rPr>
              <a:t>i</a:t>
            </a:r>
            <a:r>
              <a:rPr lang="en-US" sz="2800" dirty="0">
                <a:latin typeface="Times New Roman" pitchFamily="18" charset="0"/>
              </a:rPr>
              <a:t> </a:t>
            </a:r>
            <a:r>
              <a:rPr lang="en-US" sz="2800"/>
              <a:t>to equal </a:t>
            </a:r>
            <a:r>
              <a:rPr lang="en-US" sz="2800" dirty="0"/>
              <a:t>1.</a:t>
            </a:r>
          </a:p>
          <a:p>
            <a:r>
              <a:rPr lang="en-US" sz="2800" dirty="0"/>
              <a:t>If X</a:t>
            </a:r>
            <a:r>
              <a:rPr lang="en-US" sz="2800" i="1" baseline="-25000" dirty="0">
                <a:latin typeface="Times New Roman" pitchFamily="18" charset="0"/>
              </a:rPr>
              <a:t>i</a:t>
            </a:r>
            <a:r>
              <a:rPr lang="en-US" sz="2800" dirty="0"/>
              <a:t> = 0 </a:t>
            </a:r>
            <a:r>
              <a:rPr lang="en-US" sz="2800"/>
              <a:t>these constraints allow </a:t>
            </a:r>
            <a:r>
              <a:rPr lang="en-US" sz="2800" dirty="0"/>
              <a:t>Y</a:t>
            </a:r>
            <a:r>
              <a:rPr lang="en-US" sz="2800" i="1" baseline="-25000" dirty="0">
                <a:latin typeface="Times New Roman" pitchFamily="18" charset="0"/>
              </a:rPr>
              <a:t>i</a:t>
            </a:r>
            <a:r>
              <a:rPr lang="en-US" sz="2800" dirty="0"/>
              <a:t> </a:t>
            </a:r>
            <a:r>
              <a:rPr lang="en-US" sz="2800"/>
              <a:t>to equal </a:t>
            </a:r>
            <a:r>
              <a:rPr lang="en-US" sz="2800" dirty="0"/>
              <a:t>0 or 1, but the objective </a:t>
            </a:r>
            <a:r>
              <a:rPr lang="en-US" sz="2800"/>
              <a:t>will cause </a:t>
            </a:r>
            <a:r>
              <a:rPr lang="en-US" sz="2800" dirty="0"/>
              <a:t>Solver to choose 0.</a:t>
            </a:r>
          </a:p>
          <a:p>
            <a:r>
              <a:rPr lang="en-US" sz="2800"/>
              <a:t>Note that </a:t>
            </a:r>
            <a:r>
              <a:rPr lang="en-US" sz="2800" dirty="0" err="1"/>
              <a:t>M</a:t>
            </a:r>
            <a:r>
              <a:rPr lang="en-US" sz="2800" i="1" baseline="-25000" dirty="0" err="1">
                <a:latin typeface="Times New Roman" pitchFamily="18" charset="0"/>
              </a:rPr>
              <a:t>i</a:t>
            </a:r>
            <a:r>
              <a:rPr lang="en-US" sz="2800" dirty="0"/>
              <a:t> </a:t>
            </a:r>
            <a:r>
              <a:rPr lang="en-US" sz="2800"/>
              <a:t>imposes an </a:t>
            </a:r>
            <a:r>
              <a:rPr lang="en-US" sz="2800" dirty="0"/>
              <a:t>upper bounds on X</a:t>
            </a:r>
            <a:r>
              <a:rPr lang="en-US" sz="2800" i="1" baseline="-25000" dirty="0">
                <a:latin typeface="Times New Roman" pitchFamily="18" charset="0"/>
              </a:rPr>
              <a:t>i</a:t>
            </a:r>
            <a:r>
              <a:rPr lang="en-US" sz="2800" i="1" dirty="0"/>
              <a:t>.</a:t>
            </a:r>
          </a:p>
          <a:p>
            <a:r>
              <a:rPr lang="en-US" sz="2800" dirty="0"/>
              <a:t>It helps to </a:t>
            </a:r>
            <a:r>
              <a:rPr lang="en-US" sz="2800"/>
              <a:t>find reasonable values </a:t>
            </a:r>
            <a:r>
              <a:rPr lang="en-US" sz="2800" dirty="0"/>
              <a:t>for the M</a:t>
            </a:r>
            <a:r>
              <a:rPr lang="en-US" sz="2800" i="1" baseline="-25000" dirty="0">
                <a:latin typeface="Times New Roman" pitchFamily="18" charset="0"/>
              </a:rPr>
              <a:t>i</a:t>
            </a:r>
            <a:r>
              <a:rPr lang="en-US" sz="2800" i="1" dirty="0">
                <a:latin typeface="Times New Roman" pitchFamily="18" charset="0"/>
              </a:rPr>
              <a:t>.</a:t>
            </a:r>
            <a:endParaRPr lang="en-US" sz="2400" dirty="0"/>
          </a:p>
          <a:p>
            <a:pPr>
              <a:buFont typeface="Wingdings" pitchFamily="2" charset="2"/>
              <a:buNone/>
            </a:pPr>
            <a:endParaRPr lang="en-US" sz="24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24200" y="6359525"/>
            <a:ext cx="2895600" cy="476250"/>
          </a:xfrm>
        </p:spPr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1625"/>
            <a:ext cx="8153400" cy="444500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Finding Reasonable Values </a:t>
            </a:r>
            <a:r>
              <a:rPr lang="en-US" sz="4000" i="1" dirty="0">
                <a:solidFill>
                  <a:schemeClr val="hlink"/>
                </a:solidFill>
              </a:rPr>
              <a:t>for M</a:t>
            </a:r>
            <a:r>
              <a:rPr lang="en-US" sz="4000" i="1" baseline="-25000" dirty="0">
                <a:solidFill>
                  <a:schemeClr val="hlink"/>
                </a:solidFill>
              </a:rPr>
              <a:t>1</a:t>
            </a:r>
            <a:endParaRPr lang="en-US" sz="4000" baseline="-25000" dirty="0">
              <a:solidFill>
                <a:schemeClr val="hlink"/>
              </a:solidFill>
            </a:endParaRP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990600"/>
            <a:ext cx="7772400" cy="5080000"/>
          </a:xfrm>
          <a:noFill/>
          <a:ln/>
        </p:spPr>
        <p:txBody>
          <a:bodyPr lIns="92075" tIns="46038" rIns="92075" bIns="46038"/>
          <a:lstStyle/>
          <a:p>
            <a:r>
              <a:rPr lang="en-US" sz="2800" dirty="0"/>
              <a:t>Consider the resource constraints</a:t>
            </a:r>
          </a:p>
          <a:p>
            <a:pPr lvl="1">
              <a:buFontTx/>
              <a:buNone/>
            </a:pPr>
            <a:r>
              <a:rPr lang="en-US" sz="2400" dirty="0"/>
              <a:t>2X</a:t>
            </a:r>
            <a:r>
              <a:rPr lang="en-US" sz="2400" baseline="-25000" dirty="0"/>
              <a:t>1</a:t>
            </a:r>
            <a:r>
              <a:rPr lang="en-US" sz="2400" dirty="0"/>
              <a:t> + 3X</a:t>
            </a:r>
            <a:r>
              <a:rPr lang="en-US" sz="2400" baseline="-25000" dirty="0"/>
              <a:t>2</a:t>
            </a:r>
            <a:r>
              <a:rPr lang="en-US" sz="2400" dirty="0"/>
              <a:t> + 6X</a:t>
            </a:r>
            <a:r>
              <a:rPr lang="en-US" sz="2400" baseline="-25000" dirty="0"/>
              <a:t>3</a:t>
            </a:r>
            <a:r>
              <a:rPr lang="en-US" sz="2400" dirty="0"/>
              <a:t> &lt;= 600		} machining</a:t>
            </a:r>
          </a:p>
          <a:p>
            <a:pPr lvl="1">
              <a:buFontTx/>
              <a:buNone/>
            </a:pPr>
            <a:r>
              <a:rPr lang="en-US" sz="2400" dirty="0"/>
              <a:t>6X</a:t>
            </a:r>
            <a:r>
              <a:rPr lang="en-US" sz="2400" baseline="-25000" dirty="0"/>
              <a:t>1</a:t>
            </a:r>
            <a:r>
              <a:rPr lang="en-US" sz="2400" dirty="0"/>
              <a:t> + 3X</a:t>
            </a:r>
            <a:r>
              <a:rPr lang="en-US" sz="2400" baseline="-25000" dirty="0"/>
              <a:t>2</a:t>
            </a:r>
            <a:r>
              <a:rPr lang="en-US" sz="2400" dirty="0"/>
              <a:t> + 4X</a:t>
            </a:r>
            <a:r>
              <a:rPr lang="en-US" sz="2400" baseline="-25000" dirty="0"/>
              <a:t>3</a:t>
            </a:r>
            <a:r>
              <a:rPr lang="en-US" sz="2400" dirty="0"/>
              <a:t> &lt;= 300		} grinding</a:t>
            </a:r>
          </a:p>
          <a:p>
            <a:pPr lvl="1">
              <a:buFontTx/>
              <a:buNone/>
            </a:pPr>
            <a:r>
              <a:rPr lang="en-US" sz="2400" dirty="0"/>
              <a:t>5X</a:t>
            </a:r>
            <a:r>
              <a:rPr lang="en-US" sz="2400" baseline="-25000" dirty="0"/>
              <a:t>1</a:t>
            </a:r>
            <a:r>
              <a:rPr lang="en-US" sz="2400" dirty="0"/>
              <a:t> + 6X</a:t>
            </a:r>
            <a:r>
              <a:rPr lang="en-US" sz="2400" baseline="-25000" dirty="0"/>
              <a:t>2</a:t>
            </a:r>
            <a:r>
              <a:rPr lang="en-US" sz="2400" dirty="0"/>
              <a:t> + 2X</a:t>
            </a:r>
            <a:r>
              <a:rPr lang="en-US" sz="2400" baseline="-25000" dirty="0"/>
              <a:t>3</a:t>
            </a:r>
            <a:r>
              <a:rPr lang="en-US" sz="2400" dirty="0"/>
              <a:t> &lt;= 400		} assembly</a:t>
            </a:r>
          </a:p>
          <a:p>
            <a:r>
              <a:rPr lang="en-US" sz="2800" dirty="0"/>
              <a:t>What is the maximum value X</a:t>
            </a:r>
            <a:r>
              <a:rPr lang="en-US" sz="2800" baseline="-25000" dirty="0">
                <a:latin typeface="Times New Roman" pitchFamily="18" charset="0"/>
              </a:rPr>
              <a:t>1</a:t>
            </a:r>
            <a:r>
              <a:rPr lang="en-US" sz="2800" dirty="0"/>
              <a:t> can assume? </a:t>
            </a:r>
          </a:p>
          <a:p>
            <a:pPr lvl="1">
              <a:buFontTx/>
              <a:buNone/>
            </a:pPr>
            <a:r>
              <a:rPr lang="en-US" sz="2400" dirty="0"/>
              <a:t>Let X</a:t>
            </a:r>
            <a:r>
              <a:rPr lang="en-US" sz="2400" baseline="-25000" dirty="0"/>
              <a:t>2</a:t>
            </a:r>
            <a:r>
              <a:rPr lang="en-US" sz="2400" dirty="0"/>
              <a:t> = X</a:t>
            </a:r>
            <a:r>
              <a:rPr lang="en-US" sz="2400" baseline="-25000" dirty="0"/>
              <a:t>3</a:t>
            </a:r>
            <a:r>
              <a:rPr lang="en-US" sz="2400" dirty="0"/>
              <a:t> = 0</a:t>
            </a:r>
          </a:p>
          <a:p>
            <a:pPr lvl="1">
              <a:buFontTx/>
              <a:buNone/>
            </a:pPr>
            <a:r>
              <a:rPr lang="en-US" sz="2400" dirty="0"/>
              <a:t>X</a:t>
            </a:r>
            <a:r>
              <a:rPr lang="en-US" sz="2400" baseline="-25000" dirty="0"/>
              <a:t>1</a:t>
            </a:r>
            <a:r>
              <a:rPr lang="en-US" sz="2400" dirty="0"/>
              <a:t> 	= MIN(600/2, 300/6, 400/5) </a:t>
            </a:r>
          </a:p>
          <a:p>
            <a:pPr lvl="1">
              <a:buFontTx/>
              <a:buNone/>
            </a:pPr>
            <a:r>
              <a:rPr lang="en-US" sz="2400" dirty="0"/>
              <a:t>		= MIN(300, 50, 80) </a:t>
            </a:r>
          </a:p>
          <a:p>
            <a:pPr lvl="1">
              <a:buFontTx/>
              <a:buNone/>
            </a:pPr>
            <a:r>
              <a:rPr lang="en-US" sz="2400" dirty="0"/>
              <a:t>		= 50</a:t>
            </a:r>
          </a:p>
          <a:p>
            <a:r>
              <a:rPr lang="en-US" sz="2800" dirty="0"/>
              <a:t>Maximum values for X</a:t>
            </a:r>
            <a:r>
              <a:rPr lang="en-US" sz="2800" baseline="-25000" dirty="0">
                <a:latin typeface="Times New Roman" pitchFamily="18" charset="0"/>
              </a:rPr>
              <a:t>2</a:t>
            </a:r>
            <a:r>
              <a:rPr lang="en-US" sz="2800" dirty="0">
                <a:latin typeface="Times New Roman" pitchFamily="18" charset="0"/>
              </a:rPr>
              <a:t> &amp; </a:t>
            </a:r>
            <a:r>
              <a:rPr lang="en-US" sz="2800" dirty="0"/>
              <a:t>X</a:t>
            </a:r>
            <a:r>
              <a:rPr lang="en-US" sz="2800" baseline="-25000" dirty="0">
                <a:latin typeface="Times New Roman" pitchFamily="18" charset="0"/>
              </a:rPr>
              <a:t>3</a:t>
            </a:r>
            <a:r>
              <a:rPr lang="en-US" sz="2800" dirty="0"/>
              <a:t> can be found similarly.</a:t>
            </a:r>
          </a:p>
          <a:p>
            <a:pPr>
              <a:buFont typeface="Wingdings" pitchFamily="2" charset="2"/>
              <a:buNone/>
            </a:pPr>
            <a:endParaRPr lang="en-US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371600"/>
            <a:ext cx="7502525" cy="5046663"/>
          </a:xfrm>
          <a:noFill/>
          <a:ln/>
        </p:spPr>
        <p:txBody>
          <a:bodyPr lIns="92075" tIns="46038" rIns="92075" bIns="46038"/>
          <a:lstStyle/>
          <a:p>
            <a:pPr marL="0" indent="0">
              <a:buFont typeface="Wingdings" pitchFamily="2" charset="2"/>
              <a:buNone/>
            </a:pPr>
            <a:r>
              <a:rPr lang="en-US" sz="2400"/>
              <a:t>MAX</a:t>
            </a:r>
            <a:r>
              <a:rPr lang="en-US" sz="2400" dirty="0"/>
              <a:t>:	48X</a:t>
            </a:r>
            <a:r>
              <a:rPr lang="en-US" sz="2400" baseline="-25000" dirty="0"/>
              <a:t>1</a:t>
            </a:r>
            <a:r>
              <a:rPr lang="en-US" sz="2400" dirty="0"/>
              <a:t> + 55X</a:t>
            </a:r>
            <a:r>
              <a:rPr lang="en-US" sz="2400" baseline="-25000" dirty="0"/>
              <a:t>2</a:t>
            </a:r>
            <a:r>
              <a:rPr lang="en-US" sz="2400" dirty="0"/>
              <a:t> + 50X</a:t>
            </a:r>
            <a:r>
              <a:rPr lang="en-US" sz="2400" baseline="-25000" dirty="0"/>
              <a:t>3</a:t>
            </a:r>
            <a:r>
              <a:rPr lang="en-US" sz="2400" dirty="0"/>
              <a:t> - 1000Y</a:t>
            </a:r>
            <a:r>
              <a:rPr lang="en-US" sz="2400" baseline="-25000" dirty="0"/>
              <a:t>1</a:t>
            </a:r>
            <a:r>
              <a:rPr lang="en-US" sz="2400" dirty="0"/>
              <a:t> - 800Y</a:t>
            </a:r>
            <a:r>
              <a:rPr lang="en-US" sz="2400" baseline="-25000" dirty="0"/>
              <a:t>2</a:t>
            </a:r>
            <a:r>
              <a:rPr lang="en-US" sz="2400" dirty="0"/>
              <a:t> - 900Y</a:t>
            </a:r>
            <a:r>
              <a:rPr lang="en-US" sz="2400" baseline="-25000" dirty="0"/>
              <a:t>3</a:t>
            </a:r>
            <a:endParaRPr lang="en-US" sz="2400" dirty="0"/>
          </a:p>
          <a:p>
            <a:pPr marL="0" indent="0">
              <a:buFont typeface="Wingdings" pitchFamily="2" charset="2"/>
              <a:buNone/>
            </a:pPr>
            <a:r>
              <a:rPr lang="en-US" sz="2400" dirty="0"/>
              <a:t>S.T.:		2X</a:t>
            </a:r>
            <a:r>
              <a:rPr lang="en-US" sz="2400" baseline="-25000" dirty="0"/>
              <a:t>1</a:t>
            </a:r>
            <a:r>
              <a:rPr lang="en-US" sz="2400" dirty="0"/>
              <a:t> +  3X</a:t>
            </a:r>
            <a:r>
              <a:rPr lang="en-US" sz="2400" baseline="-25000" dirty="0"/>
              <a:t>2</a:t>
            </a:r>
            <a:r>
              <a:rPr lang="en-US" sz="2400" dirty="0"/>
              <a:t> +  6X</a:t>
            </a:r>
            <a:r>
              <a:rPr lang="en-US" sz="2400" baseline="-25000" dirty="0"/>
              <a:t>3</a:t>
            </a:r>
            <a:r>
              <a:rPr lang="en-US" sz="2400" dirty="0"/>
              <a:t> &lt;= 600	</a:t>
            </a:r>
            <a:r>
              <a:rPr lang="en-US" sz="2400"/>
              <a:t>} machining</a:t>
            </a:r>
            <a:endParaRPr lang="en-US" sz="2400" dirty="0"/>
          </a:p>
          <a:p>
            <a:pPr marL="0" indent="0">
              <a:buFont typeface="Wingdings" pitchFamily="2" charset="2"/>
              <a:buNone/>
            </a:pPr>
            <a:r>
              <a:rPr lang="en-US" sz="2400" dirty="0"/>
              <a:t>		6X</a:t>
            </a:r>
            <a:r>
              <a:rPr lang="en-US" sz="2400" baseline="-25000" dirty="0"/>
              <a:t>1</a:t>
            </a:r>
            <a:r>
              <a:rPr lang="en-US" sz="2400" dirty="0"/>
              <a:t> +  3X</a:t>
            </a:r>
            <a:r>
              <a:rPr lang="en-US" sz="2400" baseline="-25000" dirty="0"/>
              <a:t>2</a:t>
            </a:r>
            <a:r>
              <a:rPr lang="en-US" sz="2400" dirty="0"/>
              <a:t> +  4X</a:t>
            </a:r>
            <a:r>
              <a:rPr lang="en-US" sz="2400" baseline="-25000" dirty="0"/>
              <a:t>3</a:t>
            </a:r>
            <a:r>
              <a:rPr lang="en-US" sz="2400" dirty="0"/>
              <a:t>  &lt;= 300	} grinding</a:t>
            </a:r>
          </a:p>
          <a:p>
            <a:pPr marL="0" indent="0">
              <a:buFont typeface="Wingdings" pitchFamily="2" charset="2"/>
              <a:buNone/>
            </a:pPr>
            <a:r>
              <a:rPr lang="en-US" sz="2400" dirty="0"/>
              <a:t>		5X</a:t>
            </a:r>
            <a:r>
              <a:rPr lang="en-US" sz="2400" baseline="-25000" dirty="0"/>
              <a:t>1</a:t>
            </a:r>
            <a:r>
              <a:rPr lang="en-US" sz="2400" dirty="0"/>
              <a:t> +  6X</a:t>
            </a:r>
            <a:r>
              <a:rPr lang="en-US" sz="2400" baseline="-25000" dirty="0"/>
              <a:t>2</a:t>
            </a:r>
            <a:r>
              <a:rPr lang="en-US" sz="2400" dirty="0"/>
              <a:t> +  2X</a:t>
            </a:r>
            <a:r>
              <a:rPr lang="en-US" sz="2400" baseline="-25000" dirty="0"/>
              <a:t>3</a:t>
            </a:r>
            <a:r>
              <a:rPr lang="en-US" sz="2400" dirty="0"/>
              <a:t> &lt;= 400	</a:t>
            </a:r>
            <a:r>
              <a:rPr lang="en-US" sz="2400"/>
              <a:t>} assembly</a:t>
            </a:r>
            <a:endParaRPr lang="en-US" sz="2400" dirty="0"/>
          </a:p>
          <a:p>
            <a:pPr marL="0" indent="0">
              <a:buFont typeface="Wingdings" pitchFamily="2" charset="2"/>
              <a:buNone/>
            </a:pPr>
            <a:r>
              <a:rPr lang="en-US" sz="2400" dirty="0"/>
              <a:t> 	         	X</a:t>
            </a:r>
            <a:r>
              <a:rPr lang="en-US" sz="2400" baseline="-25000" dirty="0"/>
              <a:t>1</a:t>
            </a:r>
            <a:r>
              <a:rPr lang="en-US" sz="2400" dirty="0"/>
              <a:t> - 50Y</a:t>
            </a:r>
            <a:r>
              <a:rPr lang="en-US" sz="2400" baseline="-25000" dirty="0"/>
              <a:t>1</a:t>
            </a:r>
            <a:r>
              <a:rPr lang="en-US" sz="2400" dirty="0"/>
              <a:t> &lt;= 0			 </a:t>
            </a:r>
          </a:p>
          <a:p>
            <a:pPr marL="0" indent="0">
              <a:buFont typeface="Wingdings" pitchFamily="2" charset="2"/>
              <a:buNone/>
            </a:pPr>
            <a:r>
              <a:rPr lang="en-US" sz="2400" dirty="0"/>
              <a:t>		X</a:t>
            </a:r>
            <a:r>
              <a:rPr lang="en-US" sz="2400" baseline="-25000" dirty="0"/>
              <a:t>2</a:t>
            </a:r>
            <a:r>
              <a:rPr lang="en-US" sz="2400" dirty="0"/>
              <a:t> - 67Y</a:t>
            </a:r>
            <a:r>
              <a:rPr lang="en-US" sz="2400" baseline="-25000" dirty="0"/>
              <a:t>2 </a:t>
            </a:r>
            <a:r>
              <a:rPr lang="en-US" sz="2400" dirty="0"/>
              <a:t>&lt;= 0	</a:t>
            </a:r>
            <a:r>
              <a:rPr lang="en-US" sz="2400"/>
              <a:t>linking constraints</a:t>
            </a:r>
            <a:endParaRPr lang="en-US" sz="2400" dirty="0"/>
          </a:p>
          <a:p>
            <a:pPr marL="0" indent="0">
              <a:buFont typeface="Wingdings" pitchFamily="2" charset="2"/>
              <a:buNone/>
            </a:pPr>
            <a:r>
              <a:rPr lang="en-US" sz="2400" dirty="0"/>
              <a:t>		X</a:t>
            </a:r>
            <a:r>
              <a:rPr lang="en-US" sz="2400" baseline="-25000" dirty="0"/>
              <a:t>3</a:t>
            </a:r>
            <a:r>
              <a:rPr lang="en-US" sz="2400" dirty="0"/>
              <a:t> - 75Y</a:t>
            </a:r>
            <a:r>
              <a:rPr lang="en-US" sz="2400" baseline="-25000" dirty="0"/>
              <a:t>3</a:t>
            </a:r>
            <a:r>
              <a:rPr lang="en-US" sz="2400" dirty="0"/>
              <a:t> &lt;= 0			</a:t>
            </a:r>
          </a:p>
          <a:p>
            <a:pPr marL="0" indent="0">
              <a:buFont typeface="Wingdings" pitchFamily="2" charset="2"/>
              <a:buNone/>
            </a:pPr>
            <a:r>
              <a:rPr lang="en-US" sz="2400" dirty="0"/>
              <a:t>	</a:t>
            </a:r>
            <a:r>
              <a:rPr lang="en-US" sz="2400"/>
              <a:t>	All </a:t>
            </a:r>
            <a:r>
              <a:rPr lang="en-US" sz="2400" dirty="0"/>
              <a:t>Y</a:t>
            </a:r>
            <a:r>
              <a:rPr lang="en-US" sz="2400" i="1" baseline="-25000" dirty="0">
                <a:latin typeface="Times New Roman" pitchFamily="18" charset="0"/>
              </a:rPr>
              <a:t>i</a:t>
            </a:r>
            <a:r>
              <a:rPr lang="en-US" sz="2400" dirty="0"/>
              <a:t> must </a:t>
            </a:r>
            <a:r>
              <a:rPr lang="en-US" sz="2400"/>
              <a:t>be binary</a:t>
            </a:r>
            <a:r>
              <a:rPr lang="en-US" sz="2400" dirty="0"/>
              <a:t>	</a:t>
            </a:r>
          </a:p>
          <a:p>
            <a:pPr marL="0" indent="0">
              <a:buFont typeface="Wingdings" pitchFamily="2" charset="2"/>
              <a:buNone/>
            </a:pPr>
            <a:r>
              <a:rPr lang="en-US" sz="2400" dirty="0"/>
              <a:t>		X</a:t>
            </a:r>
            <a:r>
              <a:rPr lang="en-US" sz="2400" i="1" baseline="-25000" dirty="0">
                <a:latin typeface="Times New Roman" pitchFamily="18" charset="0"/>
              </a:rPr>
              <a:t>i</a:t>
            </a:r>
            <a:r>
              <a:rPr lang="en-US" sz="2400" dirty="0"/>
              <a:t>  &gt;= 0, </a:t>
            </a:r>
            <a:r>
              <a:rPr lang="en-US" sz="2400" i="1" dirty="0" err="1">
                <a:latin typeface="Times New Roman" pitchFamily="18" charset="0"/>
              </a:rPr>
              <a:t>i</a:t>
            </a:r>
            <a:r>
              <a:rPr lang="en-US" sz="2400" dirty="0"/>
              <a:t> = 1, 2, 3		</a:t>
            </a:r>
          </a:p>
          <a:p>
            <a:pPr marL="0" indent="0">
              <a:buFont typeface="Wingdings" pitchFamily="2" charset="2"/>
              <a:buNone/>
            </a:pPr>
            <a:endParaRPr lang="en-US" sz="2400" dirty="0"/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8012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Summary </a:t>
            </a:r>
            <a:r>
              <a:rPr lang="en-US" sz="4000" i="1" dirty="0">
                <a:solidFill>
                  <a:schemeClr val="hlink"/>
                </a:solidFill>
              </a:rPr>
              <a:t>of the Model</a:t>
            </a:r>
          </a:p>
        </p:txBody>
      </p:sp>
      <p:sp>
        <p:nvSpPr>
          <p:cNvPr id="33798" name="AutoShape 6"/>
          <p:cNvSpPr>
            <a:spLocks/>
          </p:cNvSpPr>
          <p:nvPr/>
        </p:nvSpPr>
        <p:spPr bwMode="auto">
          <a:xfrm>
            <a:off x="4800600" y="3200400"/>
            <a:ext cx="228600" cy="1219200"/>
          </a:xfrm>
          <a:prstGeom prst="rightBrace">
            <a:avLst>
              <a:gd name="adj1" fmla="val 4444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2400" b="1">
              <a:latin typeface="Tahoma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04850"/>
            <a:ext cx="8229600" cy="608013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Implementing the Model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41475"/>
            <a:ext cx="8229600" cy="830263"/>
          </a:xfrm>
          <a:noFill/>
          <a:ln/>
        </p:spPr>
        <p:txBody>
          <a:bodyPr lIns="92075" tIns="46038" rIns="92075" bIns="46038"/>
          <a:lstStyle/>
          <a:p>
            <a:pPr algn="ctr">
              <a:buFont typeface="Wingdings" pitchFamily="2" charset="2"/>
              <a:buNone/>
            </a:pPr>
            <a:r>
              <a:rPr lang="en-US" dirty="0"/>
              <a:t>See file </a:t>
            </a:r>
            <a:r>
              <a:rPr lang="en-US" dirty="0">
                <a:hlinkClick r:id="rId3" action="ppaction://hlinkfile"/>
              </a:rPr>
              <a:t>Fig6-28.xlsm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496887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 dirty="0">
                <a:solidFill>
                  <a:schemeClr val="hlink"/>
                </a:solidFill>
              </a:rPr>
              <a:t>On the use if IF( ) functions - I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90600"/>
            <a:ext cx="7772400" cy="5267325"/>
          </a:xfrm>
          <a:noFill/>
          <a:ln/>
        </p:spPr>
        <p:txBody>
          <a:bodyPr lIns="92075" tIns="46038" rIns="92075" bIns="46038"/>
          <a:lstStyle/>
          <a:p>
            <a:r>
              <a:rPr lang="en-US" sz="2600" dirty="0"/>
              <a:t>Avoid the use IF( ) functions to model the relationship between the X</a:t>
            </a:r>
            <a:r>
              <a:rPr lang="en-US" sz="2600" i="1" baseline="-25000" dirty="0">
                <a:latin typeface="Times New Roman" pitchFamily="18" charset="0"/>
              </a:rPr>
              <a:t>i</a:t>
            </a:r>
            <a:r>
              <a:rPr lang="en-US" sz="2600" dirty="0"/>
              <a:t> and Y</a:t>
            </a:r>
            <a:r>
              <a:rPr lang="en-US" sz="2600" i="1" baseline="-25000" dirty="0">
                <a:latin typeface="Times New Roman" pitchFamily="18" charset="0"/>
              </a:rPr>
              <a:t>i</a:t>
            </a:r>
            <a:r>
              <a:rPr lang="en-US" sz="2600" i="1" dirty="0"/>
              <a:t>.</a:t>
            </a:r>
          </a:p>
          <a:p>
            <a:pPr lvl="1"/>
            <a:r>
              <a:rPr lang="en-US" sz="2600" dirty="0"/>
              <a:t>Suppose cell A5 represents X</a:t>
            </a:r>
            <a:r>
              <a:rPr lang="en-US" sz="2600" baseline="-25000" dirty="0"/>
              <a:t>1</a:t>
            </a:r>
            <a:endParaRPr lang="en-US" sz="2600" dirty="0"/>
          </a:p>
          <a:p>
            <a:pPr lvl="1"/>
            <a:r>
              <a:rPr lang="en-US" sz="2600" dirty="0"/>
              <a:t>Suppose cell A6 represents Y</a:t>
            </a:r>
            <a:r>
              <a:rPr lang="en-US" sz="2600" baseline="-25000" dirty="0"/>
              <a:t>1</a:t>
            </a:r>
            <a:endParaRPr lang="en-US" sz="2600" dirty="0"/>
          </a:p>
          <a:p>
            <a:pPr lvl="1"/>
            <a:r>
              <a:rPr lang="en-US" sz="2600" dirty="0"/>
              <a:t>You’ll want to let A6 = IF(A5&gt;0,1,0)</a:t>
            </a:r>
          </a:p>
          <a:p>
            <a:pPr lvl="1"/>
            <a:r>
              <a:rPr lang="en-US" sz="2600" dirty="0"/>
              <a:t>This leads to local optimal solutions with Excel’s Solver.</a:t>
            </a:r>
          </a:p>
          <a:p>
            <a:r>
              <a:rPr lang="en-US" sz="2600" dirty="0"/>
              <a:t>Treat the Y</a:t>
            </a:r>
            <a:r>
              <a:rPr lang="en-US" sz="2600" i="1" baseline="-25000" dirty="0">
                <a:latin typeface="Times New Roman" pitchFamily="18" charset="0"/>
              </a:rPr>
              <a:t>i</a:t>
            </a:r>
            <a:r>
              <a:rPr lang="en-US" sz="2600" dirty="0"/>
              <a:t> just like any other variable.</a:t>
            </a:r>
          </a:p>
          <a:p>
            <a:pPr lvl="1"/>
            <a:r>
              <a:rPr lang="en-US" sz="2600" dirty="0"/>
              <a:t> Make them changing cells.</a:t>
            </a:r>
          </a:p>
          <a:p>
            <a:pPr lvl="1"/>
            <a:r>
              <a:rPr lang="en-US" sz="2600" dirty="0"/>
              <a:t>Use the linking constraints to enforce the proper relationship between the X</a:t>
            </a:r>
            <a:r>
              <a:rPr lang="en-US" sz="2600" i="1" baseline="-25000" dirty="0">
                <a:latin typeface="Times New Roman" pitchFamily="18" charset="0"/>
              </a:rPr>
              <a:t>i</a:t>
            </a:r>
            <a:r>
              <a:rPr lang="en-US" sz="2600" dirty="0"/>
              <a:t> and Y</a:t>
            </a:r>
            <a:r>
              <a:rPr lang="en-US" sz="2600" i="1" baseline="-25000" dirty="0">
                <a:latin typeface="Times New Roman" pitchFamily="18" charset="0"/>
              </a:rPr>
              <a:t>i</a:t>
            </a:r>
            <a:r>
              <a:rPr lang="en-US" sz="2600" i="1" dirty="0"/>
              <a:t>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17513"/>
            <a:ext cx="8229600" cy="608012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Minimum Order Size Restrictions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4625"/>
            <a:ext cx="8018463" cy="765175"/>
          </a:xfrm>
          <a:noFill/>
          <a:ln/>
        </p:spPr>
        <p:txBody>
          <a:bodyPr lIns="92075" tIns="46038" rIns="92075" bIns="46038"/>
          <a:lstStyle/>
          <a:p>
            <a:pPr marL="0" indent="0">
              <a:buFont typeface="Wingdings" pitchFamily="2" charset="2"/>
              <a:buNone/>
            </a:pPr>
            <a:r>
              <a:rPr lang="en-US" dirty="0"/>
              <a:t>Suppose Remington </a:t>
            </a:r>
            <a:r>
              <a:rPr lang="en-US"/>
              <a:t>doesn’t want to manufacture any </a:t>
            </a:r>
            <a:r>
              <a:rPr lang="en-US" dirty="0"/>
              <a:t>units of product 3 unless it </a:t>
            </a:r>
            <a:r>
              <a:rPr lang="en-US"/>
              <a:t>produces at least </a:t>
            </a:r>
            <a:r>
              <a:rPr lang="en-US" dirty="0"/>
              <a:t>40 units...</a:t>
            </a:r>
          </a:p>
        </p:txBody>
      </p:sp>
      <p:sp>
        <p:nvSpPr>
          <p:cNvPr id="43012" name="Text Box 4"/>
          <p:cNvSpPr txBox="1">
            <a:spLocks noChangeArrowheads="1"/>
          </p:cNvSpPr>
          <p:nvPr/>
        </p:nvSpPr>
        <p:spPr bwMode="auto">
          <a:xfrm>
            <a:off x="762000" y="3124200"/>
            <a:ext cx="6096000" cy="1674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3200"/>
              <a:t>Consider,</a:t>
            </a:r>
            <a:endParaRPr lang="en-US" sz="2400"/>
          </a:p>
          <a:p>
            <a:pPr eaLnBrk="0" hangingPunct="0">
              <a:spcBef>
                <a:spcPct val="50000"/>
              </a:spcBef>
            </a:pPr>
            <a:r>
              <a:rPr lang="en-US" sz="2400"/>
              <a:t>			</a:t>
            </a:r>
            <a:r>
              <a:rPr lang="en-US" sz="2400">
                <a:latin typeface="Tahoma" pitchFamily="34" charset="0"/>
              </a:rPr>
              <a:t>X</a:t>
            </a:r>
            <a:r>
              <a:rPr lang="en-US" sz="2400" baseline="-25000">
                <a:latin typeface="Tahoma" pitchFamily="34" charset="0"/>
              </a:rPr>
              <a:t>3</a:t>
            </a:r>
            <a:r>
              <a:rPr lang="en-US" sz="2400">
                <a:latin typeface="Tahoma" pitchFamily="34" charset="0"/>
              </a:rPr>
              <a:t> &lt;= M</a:t>
            </a:r>
            <a:r>
              <a:rPr lang="en-US" sz="2400" baseline="-25000">
                <a:latin typeface="Tahoma" pitchFamily="34" charset="0"/>
              </a:rPr>
              <a:t>3</a:t>
            </a:r>
            <a:r>
              <a:rPr lang="en-US" sz="2400">
                <a:latin typeface="Tahoma" pitchFamily="34" charset="0"/>
              </a:rPr>
              <a:t>Y</a:t>
            </a:r>
            <a:r>
              <a:rPr lang="en-US" sz="2400" baseline="-25000">
                <a:latin typeface="Tahoma" pitchFamily="34" charset="0"/>
              </a:rPr>
              <a:t>3</a:t>
            </a:r>
            <a:endParaRPr lang="en-US" sz="2400">
              <a:latin typeface="Tahoma" pitchFamily="34" charset="0"/>
            </a:endParaRPr>
          </a:p>
          <a:p>
            <a:pPr eaLnBrk="0" hangingPunct="0">
              <a:spcBef>
                <a:spcPct val="50000"/>
              </a:spcBef>
            </a:pPr>
            <a:r>
              <a:rPr lang="en-US" sz="2400">
                <a:latin typeface="Tahoma" pitchFamily="34" charset="0"/>
              </a:rPr>
              <a:t>			X</a:t>
            </a:r>
            <a:r>
              <a:rPr lang="en-US" sz="2400" baseline="-25000">
                <a:latin typeface="Tahoma" pitchFamily="34" charset="0"/>
              </a:rPr>
              <a:t>3</a:t>
            </a:r>
            <a:r>
              <a:rPr lang="en-US" sz="2400">
                <a:latin typeface="Tahoma" pitchFamily="34" charset="0"/>
              </a:rPr>
              <a:t> &gt;= 40 Y</a:t>
            </a:r>
            <a:r>
              <a:rPr lang="en-US" sz="2400" baseline="-25000">
                <a:latin typeface="Tahoma" pitchFamily="34" charset="0"/>
              </a:rPr>
              <a:t>3</a:t>
            </a:r>
            <a:endParaRPr lang="en-US" sz="2400">
              <a:latin typeface="Tahoma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17513"/>
            <a:ext cx="8229600" cy="608012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Quantity </a:t>
            </a:r>
            <a:r>
              <a:rPr lang="en-US" sz="4000" i="1" dirty="0">
                <a:solidFill>
                  <a:schemeClr val="hlink"/>
                </a:solidFill>
              </a:rPr>
              <a:t>Discounts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19200"/>
            <a:ext cx="7543800" cy="4648200"/>
          </a:xfrm>
          <a:noFill/>
          <a:ln/>
        </p:spPr>
        <p:txBody>
          <a:bodyPr lIns="92075" tIns="46038" rIns="92075" bIns="46038"/>
          <a:lstStyle/>
          <a:p>
            <a:pPr marL="347663" indent="-347663"/>
            <a:r>
              <a:rPr lang="en-US" dirty="0"/>
              <a:t>Assume… </a:t>
            </a:r>
          </a:p>
          <a:p>
            <a:pPr marL="969963" lvl="1" indent="-454025">
              <a:buClr>
                <a:srgbClr val="FFFFFF"/>
              </a:buClr>
              <a:buFont typeface="Tahoma" pitchFamily="34" charset="0"/>
              <a:buChar char="–"/>
            </a:pPr>
            <a:r>
              <a:rPr lang="en-US" dirty="0"/>
              <a:t>If Blue Ridge Hot Tubs produces more than 75 Aqua-Spas, it obtains discounts that increase the unit profit to $375 per unit for each unit in excess of </a:t>
            </a:r>
            <a:r>
              <a:rPr lang="en-US"/>
              <a:t>75.</a:t>
            </a:r>
          </a:p>
          <a:p>
            <a:pPr marL="969963" lvl="1" indent="-454025">
              <a:buClr>
                <a:srgbClr val="FFFFFF"/>
              </a:buClr>
              <a:buFont typeface="Tahoma" pitchFamily="34" charset="0"/>
              <a:buChar char="–"/>
            </a:pPr>
            <a:endParaRPr lang="en-US" dirty="0"/>
          </a:p>
          <a:p>
            <a:pPr marL="969963" lvl="1" indent="-454025">
              <a:buClr>
                <a:srgbClr val="FFFFFF"/>
              </a:buClr>
              <a:buFont typeface="Tahoma" pitchFamily="34" charset="0"/>
              <a:buChar char="–"/>
            </a:pPr>
            <a:r>
              <a:rPr lang="en-US" dirty="0"/>
              <a:t>If it produces more than 50 Hydro-</a:t>
            </a:r>
            <a:r>
              <a:rPr lang="en-US" dirty="0" err="1"/>
              <a:t>Luxes</a:t>
            </a:r>
            <a:r>
              <a:rPr lang="en-US" dirty="0"/>
              <a:t>, the profit increases to $325 per unit for each unit in excess of 50.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77825"/>
            <a:ext cx="7772400" cy="611188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Quantity </a:t>
            </a:r>
            <a:r>
              <a:rPr lang="en-US" sz="4000" i="1" dirty="0">
                <a:solidFill>
                  <a:schemeClr val="hlink"/>
                </a:solidFill>
              </a:rPr>
              <a:t>Discount Model</a:t>
            </a:r>
          </a:p>
        </p:txBody>
      </p:sp>
      <p:sp>
        <p:nvSpPr>
          <p:cNvPr id="45059" name="Rectangle 3"/>
          <p:cNvSpPr>
            <a:spLocks noChangeArrowheads="1"/>
          </p:cNvSpPr>
          <p:nvPr/>
        </p:nvSpPr>
        <p:spPr bwMode="auto">
          <a:xfrm>
            <a:off x="381000" y="1063625"/>
            <a:ext cx="8534400" cy="533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/>
            <a:r>
              <a:rPr lang="en-US" sz="2800" dirty="0">
                <a:solidFill>
                  <a:srgbClr val="FFFFFF"/>
                </a:solidFill>
                <a:latin typeface="Tahoma" pitchFamily="34" charset="0"/>
              </a:rPr>
              <a:t>MAX: 350X</a:t>
            </a:r>
            <a:r>
              <a:rPr lang="en-US" sz="2800" baseline="-25000" dirty="0">
                <a:solidFill>
                  <a:srgbClr val="FFFFFF"/>
                </a:solidFill>
                <a:latin typeface="Tahoma" pitchFamily="34" charset="0"/>
              </a:rPr>
              <a:t>11</a:t>
            </a:r>
            <a:r>
              <a:rPr lang="en-US" sz="2800" dirty="0">
                <a:solidFill>
                  <a:srgbClr val="FFFFFF"/>
                </a:solidFill>
                <a:latin typeface="Tahoma" pitchFamily="34" charset="0"/>
              </a:rPr>
              <a:t> + 375X</a:t>
            </a:r>
            <a:r>
              <a:rPr lang="en-US" sz="2800" baseline="-25000" dirty="0">
                <a:solidFill>
                  <a:srgbClr val="FFFFFF"/>
                </a:solidFill>
                <a:latin typeface="Tahoma" pitchFamily="34" charset="0"/>
              </a:rPr>
              <a:t>12 </a:t>
            </a:r>
            <a:r>
              <a:rPr lang="en-US" sz="2800" dirty="0">
                <a:solidFill>
                  <a:srgbClr val="FFFFFF"/>
                </a:solidFill>
                <a:latin typeface="Tahoma" pitchFamily="34" charset="0"/>
              </a:rPr>
              <a:t>+ 300X</a:t>
            </a:r>
            <a:r>
              <a:rPr lang="en-US" sz="2800" baseline="-25000" dirty="0">
                <a:solidFill>
                  <a:srgbClr val="FFFFFF"/>
                </a:solidFill>
                <a:latin typeface="Tahoma" pitchFamily="34" charset="0"/>
              </a:rPr>
              <a:t>21 </a:t>
            </a:r>
            <a:r>
              <a:rPr lang="en-US" sz="2800" dirty="0">
                <a:solidFill>
                  <a:srgbClr val="FFFFFF"/>
                </a:solidFill>
                <a:latin typeface="Tahoma" pitchFamily="34" charset="0"/>
              </a:rPr>
              <a:t>+ 325X</a:t>
            </a:r>
            <a:r>
              <a:rPr lang="en-US" sz="2800" baseline="-25000" dirty="0">
                <a:solidFill>
                  <a:srgbClr val="FFFFFF"/>
                </a:solidFill>
                <a:latin typeface="Tahoma" pitchFamily="34" charset="0"/>
              </a:rPr>
              <a:t>22 </a:t>
            </a:r>
            <a:endParaRPr lang="en-US" sz="2800" dirty="0">
              <a:solidFill>
                <a:srgbClr val="FFFFFF"/>
              </a:solidFill>
              <a:latin typeface="Tahoma" pitchFamily="34" charset="0"/>
            </a:endParaRPr>
          </a:p>
          <a:p>
            <a:pPr eaLnBrk="0" hangingPunct="0"/>
            <a:r>
              <a:rPr lang="en-US" sz="2800" dirty="0">
                <a:solidFill>
                  <a:srgbClr val="FFFFFF"/>
                </a:solidFill>
                <a:latin typeface="Tahoma" pitchFamily="34" charset="0"/>
              </a:rPr>
              <a:t>S.T.:	1X</a:t>
            </a:r>
            <a:r>
              <a:rPr lang="en-US" sz="2800" baseline="-25000" dirty="0">
                <a:solidFill>
                  <a:srgbClr val="FFFFFF"/>
                </a:solidFill>
                <a:latin typeface="Tahoma" pitchFamily="34" charset="0"/>
              </a:rPr>
              <a:t>11</a:t>
            </a:r>
            <a:r>
              <a:rPr lang="en-US" sz="2800" dirty="0">
                <a:solidFill>
                  <a:srgbClr val="FFFFFF"/>
                </a:solidFill>
                <a:latin typeface="Tahoma" pitchFamily="34" charset="0"/>
              </a:rPr>
              <a:t> + 1X</a:t>
            </a:r>
            <a:r>
              <a:rPr lang="en-US" sz="2800" baseline="-25000" dirty="0">
                <a:solidFill>
                  <a:srgbClr val="FFFFFF"/>
                </a:solidFill>
                <a:latin typeface="Tahoma" pitchFamily="34" charset="0"/>
              </a:rPr>
              <a:t>12</a:t>
            </a:r>
            <a:r>
              <a:rPr lang="en-US" sz="2800" dirty="0">
                <a:solidFill>
                  <a:srgbClr val="FFFFFF"/>
                </a:solidFill>
                <a:latin typeface="Tahoma" pitchFamily="34" charset="0"/>
              </a:rPr>
              <a:t> + 1X</a:t>
            </a:r>
            <a:r>
              <a:rPr lang="en-US" sz="2800" baseline="-25000" dirty="0">
                <a:solidFill>
                  <a:srgbClr val="FFFFFF"/>
                </a:solidFill>
                <a:latin typeface="Tahoma" pitchFamily="34" charset="0"/>
              </a:rPr>
              <a:t>21</a:t>
            </a:r>
            <a:r>
              <a:rPr lang="en-US" sz="2800" dirty="0">
                <a:solidFill>
                  <a:srgbClr val="FFFFFF"/>
                </a:solidFill>
                <a:latin typeface="Tahoma" pitchFamily="34" charset="0"/>
              </a:rPr>
              <a:t> + 1X</a:t>
            </a:r>
            <a:r>
              <a:rPr lang="en-US" sz="2800" baseline="-25000" dirty="0">
                <a:solidFill>
                  <a:srgbClr val="FFFFFF"/>
                </a:solidFill>
                <a:latin typeface="Tahoma" pitchFamily="34" charset="0"/>
              </a:rPr>
              <a:t>22</a:t>
            </a:r>
            <a:r>
              <a:rPr lang="en-US" sz="2800" dirty="0">
                <a:solidFill>
                  <a:srgbClr val="FFFFFF"/>
                </a:solidFill>
                <a:latin typeface="Tahoma" pitchFamily="34" charset="0"/>
              </a:rPr>
              <a:t> &lt;= 200      } pumps</a:t>
            </a:r>
          </a:p>
          <a:p>
            <a:pPr eaLnBrk="0" hangingPunct="0">
              <a:spcBef>
                <a:spcPct val="20000"/>
              </a:spcBef>
            </a:pPr>
            <a:r>
              <a:rPr lang="en-US" sz="2800" dirty="0">
                <a:solidFill>
                  <a:srgbClr val="FFFFFF"/>
                </a:solidFill>
                <a:latin typeface="Tahoma" pitchFamily="34" charset="0"/>
              </a:rPr>
              <a:t>	9X</a:t>
            </a:r>
            <a:r>
              <a:rPr lang="en-US" sz="2800" baseline="-25000" dirty="0">
                <a:solidFill>
                  <a:srgbClr val="FFFFFF"/>
                </a:solidFill>
                <a:latin typeface="Tahoma" pitchFamily="34" charset="0"/>
              </a:rPr>
              <a:t>11</a:t>
            </a:r>
            <a:r>
              <a:rPr lang="en-US" sz="2800" dirty="0">
                <a:solidFill>
                  <a:srgbClr val="FFFFFF"/>
                </a:solidFill>
                <a:latin typeface="Tahoma" pitchFamily="34" charset="0"/>
              </a:rPr>
              <a:t> + 9X</a:t>
            </a:r>
            <a:r>
              <a:rPr lang="en-US" sz="2800" baseline="-25000" dirty="0">
                <a:solidFill>
                  <a:srgbClr val="FFFFFF"/>
                </a:solidFill>
                <a:latin typeface="Tahoma" pitchFamily="34" charset="0"/>
              </a:rPr>
              <a:t>12</a:t>
            </a:r>
            <a:r>
              <a:rPr lang="en-US" sz="2800" dirty="0">
                <a:solidFill>
                  <a:srgbClr val="FFFFFF"/>
                </a:solidFill>
                <a:latin typeface="Tahoma" pitchFamily="34" charset="0"/>
              </a:rPr>
              <a:t> + 6X</a:t>
            </a:r>
            <a:r>
              <a:rPr lang="en-US" sz="2800" baseline="-25000" dirty="0">
                <a:solidFill>
                  <a:srgbClr val="FFFFFF"/>
                </a:solidFill>
                <a:latin typeface="Tahoma" pitchFamily="34" charset="0"/>
              </a:rPr>
              <a:t>21</a:t>
            </a:r>
            <a:r>
              <a:rPr lang="en-US" sz="2800" dirty="0">
                <a:solidFill>
                  <a:srgbClr val="FFFFFF"/>
                </a:solidFill>
                <a:latin typeface="Tahoma" pitchFamily="34" charset="0"/>
              </a:rPr>
              <a:t> + 6X</a:t>
            </a:r>
            <a:r>
              <a:rPr lang="en-US" sz="2800" baseline="-25000" dirty="0">
                <a:solidFill>
                  <a:srgbClr val="FFFFFF"/>
                </a:solidFill>
                <a:latin typeface="Tahoma" pitchFamily="34" charset="0"/>
              </a:rPr>
              <a:t>22</a:t>
            </a:r>
            <a:r>
              <a:rPr lang="en-US" sz="2800" dirty="0">
                <a:solidFill>
                  <a:srgbClr val="FFFFFF"/>
                </a:solidFill>
                <a:latin typeface="Tahoma" pitchFamily="34" charset="0"/>
              </a:rPr>
              <a:t> &lt;= 1566    } labor</a:t>
            </a:r>
          </a:p>
          <a:p>
            <a:pPr eaLnBrk="0" hangingPunct="0">
              <a:spcBef>
                <a:spcPct val="20000"/>
              </a:spcBef>
            </a:pPr>
            <a:r>
              <a:rPr lang="en-US" sz="2800" dirty="0">
                <a:solidFill>
                  <a:srgbClr val="FFFFFF"/>
                </a:solidFill>
                <a:latin typeface="Tahoma" pitchFamily="34" charset="0"/>
              </a:rPr>
              <a:t>	12X</a:t>
            </a:r>
            <a:r>
              <a:rPr lang="en-US" sz="2800" baseline="-25000" dirty="0">
                <a:solidFill>
                  <a:srgbClr val="FFFFFF"/>
                </a:solidFill>
                <a:latin typeface="Tahoma" pitchFamily="34" charset="0"/>
              </a:rPr>
              <a:t>11</a:t>
            </a:r>
            <a:r>
              <a:rPr lang="en-US" sz="2800" dirty="0">
                <a:solidFill>
                  <a:srgbClr val="FFFFFF"/>
                </a:solidFill>
                <a:latin typeface="Tahoma" pitchFamily="34" charset="0"/>
              </a:rPr>
              <a:t>+ 12X</a:t>
            </a:r>
            <a:r>
              <a:rPr lang="en-US" sz="2800" baseline="-25000" dirty="0">
                <a:solidFill>
                  <a:srgbClr val="FFFFFF"/>
                </a:solidFill>
                <a:latin typeface="Tahoma" pitchFamily="34" charset="0"/>
              </a:rPr>
              <a:t>12</a:t>
            </a:r>
            <a:r>
              <a:rPr lang="en-US" sz="2800" dirty="0">
                <a:solidFill>
                  <a:srgbClr val="FFFFFF"/>
                </a:solidFill>
                <a:latin typeface="Tahoma" pitchFamily="34" charset="0"/>
              </a:rPr>
              <a:t>+ 16X</a:t>
            </a:r>
            <a:r>
              <a:rPr lang="en-US" sz="2800" baseline="-25000" dirty="0">
                <a:solidFill>
                  <a:srgbClr val="FFFFFF"/>
                </a:solidFill>
                <a:latin typeface="Tahoma" pitchFamily="34" charset="0"/>
              </a:rPr>
              <a:t>21</a:t>
            </a:r>
            <a:r>
              <a:rPr lang="en-US" sz="2800" dirty="0">
                <a:solidFill>
                  <a:srgbClr val="FFFFFF"/>
                </a:solidFill>
                <a:latin typeface="Tahoma" pitchFamily="34" charset="0"/>
              </a:rPr>
              <a:t>+16X</a:t>
            </a:r>
            <a:r>
              <a:rPr lang="en-US" sz="2800" baseline="-25000" dirty="0">
                <a:solidFill>
                  <a:srgbClr val="FFFFFF"/>
                </a:solidFill>
                <a:latin typeface="Tahoma" pitchFamily="34" charset="0"/>
              </a:rPr>
              <a:t>22</a:t>
            </a:r>
            <a:r>
              <a:rPr lang="en-US" sz="2800" dirty="0">
                <a:solidFill>
                  <a:srgbClr val="FFFFFF"/>
                </a:solidFill>
                <a:latin typeface="Tahoma" pitchFamily="34" charset="0"/>
              </a:rPr>
              <a:t> &lt;= 2650 } tubing</a:t>
            </a:r>
          </a:p>
          <a:p>
            <a:pPr eaLnBrk="0" hangingPunct="0">
              <a:spcBef>
                <a:spcPct val="20000"/>
              </a:spcBef>
            </a:pPr>
            <a:r>
              <a:rPr lang="en-US" sz="2800" dirty="0">
                <a:solidFill>
                  <a:srgbClr val="FFFFFF"/>
                </a:solidFill>
                <a:latin typeface="Tahoma" pitchFamily="34" charset="0"/>
              </a:rPr>
              <a:t>	X</a:t>
            </a:r>
            <a:r>
              <a:rPr lang="en-US" sz="2800" baseline="-25000" dirty="0">
                <a:solidFill>
                  <a:srgbClr val="FFFFFF"/>
                </a:solidFill>
                <a:latin typeface="Tahoma" pitchFamily="34" charset="0"/>
              </a:rPr>
              <a:t>12</a:t>
            </a:r>
            <a:r>
              <a:rPr lang="en-US" sz="2800" dirty="0">
                <a:solidFill>
                  <a:srgbClr val="FFFFFF"/>
                </a:solidFill>
                <a:latin typeface="Tahoma" pitchFamily="34" charset="0"/>
              </a:rPr>
              <a:t>&lt;=M</a:t>
            </a:r>
            <a:r>
              <a:rPr lang="en-US" sz="2800" baseline="-25000" dirty="0">
                <a:solidFill>
                  <a:srgbClr val="FFFFFF"/>
                </a:solidFill>
                <a:latin typeface="Tahoma" pitchFamily="34" charset="0"/>
              </a:rPr>
              <a:t>12</a:t>
            </a:r>
            <a:r>
              <a:rPr lang="en-US" sz="2800" dirty="0">
                <a:solidFill>
                  <a:srgbClr val="FFFFFF"/>
                </a:solidFill>
                <a:latin typeface="Tahoma" pitchFamily="34" charset="0"/>
              </a:rPr>
              <a:t>Y</a:t>
            </a:r>
            <a:r>
              <a:rPr lang="en-US" sz="2800" baseline="-25000" dirty="0">
                <a:solidFill>
                  <a:srgbClr val="FFFFFF"/>
                </a:solidFill>
                <a:latin typeface="Tahoma" pitchFamily="34" charset="0"/>
              </a:rPr>
              <a:t>1</a:t>
            </a:r>
            <a:endParaRPr lang="en-US" sz="2800" dirty="0">
              <a:solidFill>
                <a:srgbClr val="FFFFFF"/>
              </a:solidFill>
              <a:latin typeface="Tahoma" pitchFamily="34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sz="2800" dirty="0">
                <a:solidFill>
                  <a:srgbClr val="FFFFFF"/>
                </a:solidFill>
                <a:latin typeface="Tahoma" pitchFamily="34" charset="0"/>
              </a:rPr>
              <a:t>	X</a:t>
            </a:r>
            <a:r>
              <a:rPr lang="en-US" sz="2800" baseline="-25000" dirty="0">
                <a:solidFill>
                  <a:srgbClr val="FFFFFF"/>
                </a:solidFill>
                <a:latin typeface="Tahoma" pitchFamily="34" charset="0"/>
              </a:rPr>
              <a:t>11</a:t>
            </a:r>
            <a:r>
              <a:rPr lang="en-US" sz="2800" dirty="0">
                <a:solidFill>
                  <a:srgbClr val="FFFFFF"/>
                </a:solidFill>
                <a:latin typeface="Tahoma" pitchFamily="34" charset="0"/>
              </a:rPr>
              <a:t>&gt;=75Y</a:t>
            </a:r>
            <a:r>
              <a:rPr lang="en-US" sz="2800" baseline="-25000" dirty="0">
                <a:solidFill>
                  <a:srgbClr val="FFFFFF"/>
                </a:solidFill>
                <a:latin typeface="Tahoma" pitchFamily="34" charset="0"/>
              </a:rPr>
              <a:t>1</a:t>
            </a:r>
            <a:endParaRPr lang="en-US" sz="2800" dirty="0">
              <a:solidFill>
                <a:srgbClr val="FFFFFF"/>
              </a:solidFill>
              <a:latin typeface="Tahoma" pitchFamily="34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sz="2800" dirty="0">
                <a:solidFill>
                  <a:srgbClr val="FFFFFF"/>
                </a:solidFill>
                <a:latin typeface="Tahoma" pitchFamily="34" charset="0"/>
              </a:rPr>
              <a:t>	X</a:t>
            </a:r>
            <a:r>
              <a:rPr lang="en-US" sz="2800" baseline="-25000" dirty="0">
                <a:solidFill>
                  <a:srgbClr val="FFFFFF"/>
                </a:solidFill>
                <a:latin typeface="Tahoma" pitchFamily="34" charset="0"/>
              </a:rPr>
              <a:t>22</a:t>
            </a:r>
            <a:r>
              <a:rPr lang="en-US" sz="2800" dirty="0">
                <a:solidFill>
                  <a:srgbClr val="FFFFFF"/>
                </a:solidFill>
                <a:latin typeface="Tahoma" pitchFamily="34" charset="0"/>
              </a:rPr>
              <a:t>&lt;=M</a:t>
            </a:r>
            <a:r>
              <a:rPr lang="en-US" sz="2800" baseline="-25000" dirty="0">
                <a:solidFill>
                  <a:srgbClr val="FFFFFF"/>
                </a:solidFill>
                <a:latin typeface="Tahoma" pitchFamily="34" charset="0"/>
              </a:rPr>
              <a:t>22</a:t>
            </a:r>
            <a:r>
              <a:rPr lang="en-US" sz="2800" dirty="0">
                <a:solidFill>
                  <a:srgbClr val="FFFFFF"/>
                </a:solidFill>
                <a:latin typeface="Tahoma" pitchFamily="34" charset="0"/>
              </a:rPr>
              <a:t>Y</a:t>
            </a:r>
            <a:r>
              <a:rPr lang="en-US" sz="2800" baseline="-25000" dirty="0">
                <a:solidFill>
                  <a:srgbClr val="FFFFFF"/>
                </a:solidFill>
                <a:latin typeface="Tahoma" pitchFamily="34" charset="0"/>
              </a:rPr>
              <a:t>2</a:t>
            </a:r>
            <a:endParaRPr lang="en-US" sz="2800" dirty="0">
              <a:solidFill>
                <a:srgbClr val="FFFFFF"/>
              </a:solidFill>
              <a:latin typeface="Tahoma" pitchFamily="34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sz="2800" dirty="0">
                <a:solidFill>
                  <a:srgbClr val="FFFFFF"/>
                </a:solidFill>
                <a:latin typeface="Tahoma" pitchFamily="34" charset="0"/>
              </a:rPr>
              <a:t>	X</a:t>
            </a:r>
            <a:r>
              <a:rPr lang="en-US" sz="2800" baseline="-25000" dirty="0">
                <a:solidFill>
                  <a:srgbClr val="FFFFFF"/>
                </a:solidFill>
                <a:latin typeface="Tahoma" pitchFamily="34" charset="0"/>
              </a:rPr>
              <a:t>21</a:t>
            </a:r>
            <a:r>
              <a:rPr lang="en-US" sz="2800" dirty="0">
                <a:solidFill>
                  <a:srgbClr val="FFFFFF"/>
                </a:solidFill>
                <a:latin typeface="Tahoma" pitchFamily="34" charset="0"/>
              </a:rPr>
              <a:t>&gt;=50Y</a:t>
            </a:r>
            <a:r>
              <a:rPr lang="en-US" sz="2800" baseline="-25000" dirty="0">
                <a:solidFill>
                  <a:srgbClr val="FFFFFF"/>
                </a:solidFill>
                <a:latin typeface="Tahoma" pitchFamily="34" charset="0"/>
              </a:rPr>
              <a:t>2</a:t>
            </a:r>
            <a:endParaRPr lang="en-US" sz="2800" dirty="0">
              <a:solidFill>
                <a:srgbClr val="FFFFFF"/>
              </a:solidFill>
              <a:latin typeface="Tahoma" pitchFamily="34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sz="2800" dirty="0">
                <a:solidFill>
                  <a:srgbClr val="FFFFFF"/>
                </a:solidFill>
                <a:latin typeface="Tahoma" pitchFamily="34" charset="0"/>
              </a:rPr>
              <a:t>	</a:t>
            </a:r>
            <a:r>
              <a:rPr lang="en-US" sz="2800" dirty="0" err="1">
                <a:solidFill>
                  <a:srgbClr val="FFFFFF"/>
                </a:solidFill>
                <a:latin typeface="Tahoma" pitchFamily="34" charset="0"/>
              </a:rPr>
              <a:t>X</a:t>
            </a:r>
            <a:r>
              <a:rPr lang="en-US" sz="2800" i="1" baseline="-25000" dirty="0" err="1">
                <a:solidFill>
                  <a:srgbClr val="FFFFFF"/>
                </a:solidFill>
                <a:latin typeface="Times New Roman" pitchFamily="18" charset="0"/>
              </a:rPr>
              <a:t>ij</a:t>
            </a:r>
            <a:r>
              <a:rPr lang="en-US" sz="2800" baseline="-25000" dirty="0">
                <a:solidFill>
                  <a:srgbClr val="FFFFFF"/>
                </a:solidFill>
                <a:latin typeface="Tahoma" pitchFamily="34" charset="0"/>
              </a:rPr>
              <a:t> </a:t>
            </a:r>
            <a:r>
              <a:rPr lang="en-US" sz="2800" dirty="0">
                <a:solidFill>
                  <a:srgbClr val="FFFFFF"/>
                </a:solidFill>
                <a:latin typeface="Tahoma" pitchFamily="34" charset="0"/>
              </a:rPr>
              <a:t>&gt;= 0			</a:t>
            </a:r>
          </a:p>
          <a:p>
            <a:pPr eaLnBrk="0" hangingPunct="0">
              <a:spcBef>
                <a:spcPct val="20000"/>
              </a:spcBef>
            </a:pPr>
            <a:r>
              <a:rPr lang="en-US" sz="2800" baseline="-25000" dirty="0">
                <a:solidFill>
                  <a:srgbClr val="FFFFFF"/>
                </a:solidFill>
                <a:latin typeface="Tahoma" pitchFamily="34" charset="0"/>
              </a:rPr>
              <a:t>	 </a:t>
            </a:r>
            <a:r>
              <a:rPr lang="en-US" sz="2800" dirty="0" err="1">
                <a:latin typeface="Tahoma" pitchFamily="34" charset="0"/>
              </a:rPr>
              <a:t>X</a:t>
            </a:r>
            <a:r>
              <a:rPr lang="en-US" sz="2800" i="1" baseline="-25000" dirty="0" err="1">
                <a:latin typeface="Times New Roman" pitchFamily="18" charset="0"/>
              </a:rPr>
              <a:t>ij</a:t>
            </a:r>
            <a:r>
              <a:rPr lang="en-US" sz="2800" dirty="0">
                <a:latin typeface="Tahoma" pitchFamily="34" charset="0"/>
              </a:rPr>
              <a:t> </a:t>
            </a:r>
            <a:r>
              <a:rPr lang="en-US" sz="2400" dirty="0">
                <a:latin typeface="Tahoma" pitchFamily="34" charset="0"/>
              </a:rPr>
              <a:t>must be integers, Y</a:t>
            </a:r>
            <a:r>
              <a:rPr lang="en-US" sz="2400" i="1" baseline="-25000" dirty="0">
                <a:latin typeface="Times New Roman" pitchFamily="18" charset="0"/>
              </a:rPr>
              <a:t>i</a:t>
            </a:r>
            <a:r>
              <a:rPr lang="en-US" sz="2400" dirty="0">
                <a:latin typeface="Tahoma" pitchFamily="34" charset="0"/>
              </a:rPr>
              <a:t> must be binary</a:t>
            </a:r>
            <a:endParaRPr lang="en-US" sz="2800" baseline="-25000" dirty="0">
              <a:solidFill>
                <a:srgbClr val="3399FF"/>
              </a:solidFill>
              <a:latin typeface="Tahoma" pitchFamily="34" charset="0"/>
            </a:endParaRPr>
          </a:p>
          <a:p>
            <a:pPr eaLnBrk="0" hangingPunct="0"/>
            <a:endParaRPr lang="en-US" sz="2800" baseline="-25000" dirty="0">
              <a:solidFill>
                <a:srgbClr val="3399FF"/>
              </a:solidFill>
              <a:latin typeface="Tahoma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71500"/>
          </a:xfrm>
        </p:spPr>
        <p:txBody>
          <a:bodyPr/>
          <a:lstStyle/>
          <a:p>
            <a:r>
              <a:rPr lang="en-US" sz="4000" i="1">
                <a:solidFill>
                  <a:schemeClr val="hlink"/>
                </a:solidFill>
              </a:rPr>
              <a:t>A Contract Award </a:t>
            </a:r>
            <a:r>
              <a:rPr lang="en-US" sz="4000" i="1" dirty="0">
                <a:solidFill>
                  <a:schemeClr val="hlink"/>
                </a:solidFill>
              </a:rPr>
              <a:t>Problem</a:t>
            </a:r>
            <a:endParaRPr lang="en-US" sz="4000" dirty="0">
              <a:solidFill>
                <a:schemeClr val="hlink"/>
              </a:solidFill>
            </a:endParaRP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371600"/>
            <a:ext cx="8229600" cy="1447800"/>
          </a:xfrm>
        </p:spPr>
        <p:txBody>
          <a:bodyPr/>
          <a:lstStyle/>
          <a:p>
            <a:pPr marL="457200" indent="-457200"/>
            <a:r>
              <a:rPr lang="en-US" sz="2800" dirty="0"/>
              <a:t>B&amp;G </a:t>
            </a:r>
            <a:r>
              <a:rPr lang="en-US" sz="2800"/>
              <a:t>Construction has </a:t>
            </a:r>
            <a:r>
              <a:rPr lang="en-US" sz="2800" dirty="0"/>
              <a:t>4 building </a:t>
            </a:r>
            <a:r>
              <a:rPr lang="en-US" sz="2800"/>
              <a:t>projects and can purchase </a:t>
            </a:r>
            <a:r>
              <a:rPr lang="en-US" sz="2800" dirty="0"/>
              <a:t>cement from </a:t>
            </a:r>
            <a:r>
              <a:rPr lang="en-US" sz="2800"/>
              <a:t>3 companies </a:t>
            </a:r>
            <a:r>
              <a:rPr lang="en-US" sz="2800" dirty="0"/>
              <a:t>for the following costs:</a:t>
            </a:r>
          </a:p>
        </p:txBody>
      </p:sp>
      <p:grpSp>
        <p:nvGrpSpPr>
          <p:cNvPr id="46089" name="Group 9"/>
          <p:cNvGrpSpPr>
            <a:grpSpLocks/>
          </p:cNvGrpSpPr>
          <p:nvPr/>
        </p:nvGrpSpPr>
        <p:grpSpPr bwMode="auto">
          <a:xfrm>
            <a:off x="685800" y="3021013"/>
            <a:ext cx="8077200" cy="2617787"/>
            <a:chOff x="432" y="1536"/>
            <a:chExt cx="5088" cy="1649"/>
          </a:xfrm>
        </p:grpSpPr>
        <p:grpSp>
          <p:nvGrpSpPr>
            <p:cNvPr id="46087" name="Group 7"/>
            <p:cNvGrpSpPr>
              <a:grpSpLocks/>
            </p:cNvGrpSpPr>
            <p:nvPr/>
          </p:nvGrpSpPr>
          <p:grpSpPr bwMode="auto">
            <a:xfrm>
              <a:off x="432" y="1632"/>
              <a:ext cx="5088" cy="1553"/>
              <a:chOff x="432" y="1635"/>
              <a:chExt cx="5088" cy="1553"/>
            </a:xfrm>
          </p:grpSpPr>
          <p:sp>
            <p:nvSpPr>
              <p:cNvPr id="46084" name="Text Box 4"/>
              <p:cNvSpPr txBox="1">
                <a:spLocks noChangeArrowheads="1"/>
              </p:cNvSpPr>
              <p:nvPr/>
            </p:nvSpPr>
            <p:spPr bwMode="auto">
              <a:xfrm>
                <a:off x="432" y="1635"/>
                <a:ext cx="5088" cy="15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tabLst>
                    <a:tab pos="1822450" algn="ctr"/>
                    <a:tab pos="3201988" algn="ctr"/>
                    <a:tab pos="4565650" algn="ctr"/>
                    <a:tab pos="5994400" algn="ctr"/>
                    <a:tab pos="7307263" algn="ctr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eaLnBrk="0" hangingPunct="0">
                  <a:tabLst>
                    <a:tab pos="1822450" algn="ctr"/>
                    <a:tab pos="3201988" algn="ctr"/>
                    <a:tab pos="4565650" algn="ctr"/>
                    <a:tab pos="5994400" algn="ctr"/>
                    <a:tab pos="7307263" algn="ctr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eaLnBrk="0" hangingPunct="0">
                  <a:tabLst>
                    <a:tab pos="1822450" algn="ctr"/>
                    <a:tab pos="3201988" algn="ctr"/>
                    <a:tab pos="4565650" algn="ctr"/>
                    <a:tab pos="5994400" algn="ctr"/>
                    <a:tab pos="7307263" algn="ctr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eaLnBrk="0" hangingPunct="0">
                  <a:tabLst>
                    <a:tab pos="1822450" algn="ctr"/>
                    <a:tab pos="3201988" algn="ctr"/>
                    <a:tab pos="4565650" algn="ctr"/>
                    <a:tab pos="5994400" algn="ctr"/>
                    <a:tab pos="7307263" algn="ctr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eaLnBrk="0" hangingPunct="0">
                  <a:tabLst>
                    <a:tab pos="1822450" algn="ctr"/>
                    <a:tab pos="3201988" algn="ctr"/>
                    <a:tab pos="4565650" algn="ctr"/>
                    <a:tab pos="5994400" algn="ctr"/>
                    <a:tab pos="7307263" algn="ctr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822450" algn="ctr"/>
                    <a:tab pos="3201988" algn="ctr"/>
                    <a:tab pos="4565650" algn="ctr"/>
                    <a:tab pos="5994400" algn="ctr"/>
                    <a:tab pos="7307263" algn="ctr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822450" algn="ctr"/>
                    <a:tab pos="3201988" algn="ctr"/>
                    <a:tab pos="4565650" algn="ctr"/>
                    <a:tab pos="5994400" algn="ctr"/>
                    <a:tab pos="7307263" algn="ctr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822450" algn="ctr"/>
                    <a:tab pos="3201988" algn="ctr"/>
                    <a:tab pos="4565650" algn="ctr"/>
                    <a:tab pos="5994400" algn="ctr"/>
                    <a:tab pos="7307263" algn="ctr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822450" algn="ctr"/>
                    <a:tab pos="3201988" algn="ctr"/>
                    <a:tab pos="4565650" algn="ctr"/>
                    <a:tab pos="5994400" algn="ctr"/>
                    <a:tab pos="7307263" algn="ctr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lnSpc>
                    <a:spcPct val="50000"/>
                  </a:lnSpc>
                  <a:spcBef>
                    <a:spcPct val="50000"/>
                  </a:spcBef>
                </a:pPr>
                <a:r>
                  <a:rPr lang="en-US" dirty="0">
                    <a:latin typeface="Tahoma" pitchFamily="34" charset="0"/>
                  </a:rPr>
                  <a:t>				</a:t>
                </a:r>
                <a:r>
                  <a:rPr lang="en-US">
                    <a:latin typeface="Tahoma" pitchFamily="34" charset="0"/>
                  </a:rPr>
                  <a:t>	Max</a:t>
                </a:r>
                <a:r>
                  <a:rPr lang="en-US" dirty="0">
                    <a:latin typeface="Tahoma" pitchFamily="34" charset="0"/>
                  </a:rPr>
                  <a:t>.</a:t>
                </a:r>
              </a:p>
              <a:p>
                <a:pPr>
                  <a:lnSpc>
                    <a:spcPct val="50000"/>
                  </a:lnSpc>
                  <a:spcBef>
                    <a:spcPct val="50000"/>
                  </a:spcBef>
                </a:pPr>
                <a:r>
                  <a:rPr lang="en-US" dirty="0">
                    <a:latin typeface="Tahoma" pitchFamily="34" charset="0"/>
                  </a:rPr>
                  <a:t>	Project 1	Project 2	Project 3	Project 4	Supply</a:t>
                </a:r>
              </a:p>
              <a:p>
                <a:pPr>
                  <a:lnSpc>
                    <a:spcPct val="50000"/>
                  </a:lnSpc>
                  <a:spcBef>
                    <a:spcPct val="50000"/>
                  </a:spcBef>
                </a:pPr>
                <a:r>
                  <a:rPr lang="en-US" dirty="0">
                    <a:latin typeface="Tahoma" pitchFamily="34" charset="0"/>
                  </a:rPr>
                  <a:t>Co. 1	$120	$115	$130	$125	525</a:t>
                </a:r>
              </a:p>
              <a:p>
                <a:pPr>
                  <a:lnSpc>
                    <a:spcPct val="50000"/>
                  </a:lnSpc>
                  <a:spcBef>
                    <a:spcPct val="50000"/>
                  </a:spcBef>
                </a:pPr>
                <a:r>
                  <a:rPr lang="en-US" dirty="0">
                    <a:latin typeface="Tahoma" pitchFamily="34" charset="0"/>
                  </a:rPr>
                  <a:t>Co. 2	$100	$150	$110	$105	450</a:t>
                </a:r>
              </a:p>
              <a:p>
                <a:pPr>
                  <a:lnSpc>
                    <a:spcPct val="50000"/>
                  </a:lnSpc>
                  <a:spcBef>
                    <a:spcPct val="50000"/>
                  </a:spcBef>
                </a:pPr>
                <a:r>
                  <a:rPr lang="en-US" dirty="0">
                    <a:latin typeface="Tahoma" pitchFamily="34" charset="0"/>
                  </a:rPr>
                  <a:t>Co. 3	$140	$95	$145	$165	550</a:t>
                </a:r>
              </a:p>
              <a:p>
                <a:pPr>
                  <a:lnSpc>
                    <a:spcPct val="50000"/>
                  </a:lnSpc>
                  <a:spcBef>
                    <a:spcPct val="50000"/>
                  </a:spcBef>
                </a:pPr>
                <a:r>
                  <a:rPr lang="en-US" dirty="0">
                    <a:latin typeface="Tahoma" pitchFamily="34" charset="0"/>
                  </a:rPr>
                  <a:t>Needs	450	275	300	350</a:t>
                </a:r>
              </a:p>
              <a:p>
                <a:pPr>
                  <a:lnSpc>
                    <a:spcPct val="50000"/>
                  </a:lnSpc>
                  <a:spcBef>
                    <a:spcPct val="50000"/>
                  </a:spcBef>
                </a:pPr>
                <a:r>
                  <a:rPr lang="en-US" dirty="0">
                    <a:latin typeface="Tahoma" pitchFamily="34" charset="0"/>
                  </a:rPr>
                  <a:t>(tons)</a:t>
                </a:r>
              </a:p>
            </p:txBody>
          </p:sp>
          <p:sp>
            <p:nvSpPr>
              <p:cNvPr id="46085" name="Line 5"/>
              <p:cNvSpPr>
                <a:spLocks noChangeShapeType="1"/>
              </p:cNvSpPr>
              <p:nvPr/>
            </p:nvSpPr>
            <p:spPr bwMode="auto">
              <a:xfrm>
                <a:off x="432" y="2016"/>
                <a:ext cx="508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086" name="Line 6"/>
              <p:cNvSpPr>
                <a:spLocks noChangeShapeType="1"/>
              </p:cNvSpPr>
              <p:nvPr/>
            </p:nvSpPr>
            <p:spPr bwMode="auto">
              <a:xfrm>
                <a:off x="432" y="2736"/>
                <a:ext cx="508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6088" name="Text Box 8"/>
            <p:cNvSpPr txBox="1">
              <a:spLocks noChangeArrowheads="1"/>
            </p:cNvSpPr>
            <p:nvPr/>
          </p:nvSpPr>
          <p:spPr bwMode="auto">
            <a:xfrm>
              <a:off x="720" y="1536"/>
              <a:ext cx="44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400">
                  <a:latin typeface="Tahoma" pitchFamily="34" charset="0"/>
                </a:rPr>
                <a:t>Cost per Delivered Ton of Cement</a:t>
              </a:r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71500"/>
          </a:xfrm>
        </p:spPr>
        <p:txBody>
          <a:bodyPr/>
          <a:lstStyle/>
          <a:p>
            <a:r>
              <a:rPr lang="en-US" sz="4000" i="1">
                <a:solidFill>
                  <a:schemeClr val="hlink"/>
                </a:solidFill>
              </a:rPr>
              <a:t>A Contract Award </a:t>
            </a:r>
            <a:r>
              <a:rPr lang="en-US" sz="4000" i="1" dirty="0">
                <a:solidFill>
                  <a:schemeClr val="hlink"/>
                </a:solidFill>
              </a:rPr>
              <a:t>Problem</a:t>
            </a:r>
            <a:endParaRPr lang="en-US" sz="4000" dirty="0">
              <a:solidFill>
                <a:schemeClr val="hlink"/>
              </a:solidFill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7772400" cy="1447800"/>
          </a:xfrm>
        </p:spPr>
        <p:txBody>
          <a:bodyPr/>
          <a:lstStyle/>
          <a:p>
            <a:pPr marL="457200" indent="-457200"/>
            <a:r>
              <a:rPr lang="en-US"/>
              <a:t>Side constraints</a:t>
            </a:r>
            <a:r>
              <a:rPr lang="en-US" dirty="0"/>
              <a:t>:</a:t>
            </a:r>
          </a:p>
          <a:p>
            <a:pPr marL="857250" lvl="1">
              <a:buClr>
                <a:srgbClr val="FFFFFF"/>
              </a:buClr>
              <a:buFont typeface="Tahoma" pitchFamily="34" charset="0"/>
              <a:buChar char="–"/>
            </a:pPr>
            <a:r>
              <a:rPr lang="en-US" dirty="0"/>
              <a:t>Co. 1 will not supply orders of </a:t>
            </a:r>
            <a:r>
              <a:rPr lang="en-US"/>
              <a:t>less than </a:t>
            </a:r>
            <a:r>
              <a:rPr lang="en-US" dirty="0"/>
              <a:t>150 tons </a:t>
            </a:r>
            <a:r>
              <a:rPr lang="en-US"/>
              <a:t>for any </a:t>
            </a:r>
            <a:r>
              <a:rPr lang="en-US" dirty="0"/>
              <a:t>project</a:t>
            </a:r>
          </a:p>
          <a:p>
            <a:pPr marL="857250" lvl="1">
              <a:buClr>
                <a:srgbClr val="FFFFFF"/>
              </a:buClr>
              <a:buFont typeface="Tahoma" pitchFamily="34" charset="0"/>
              <a:buChar char="–"/>
            </a:pPr>
            <a:r>
              <a:rPr lang="en-US" dirty="0"/>
              <a:t>Co. </a:t>
            </a:r>
            <a:r>
              <a:rPr lang="en-US"/>
              <a:t>2 can </a:t>
            </a:r>
            <a:r>
              <a:rPr lang="en-US" dirty="0"/>
              <a:t>supply </a:t>
            </a:r>
            <a:r>
              <a:rPr lang="en-US"/>
              <a:t>more than </a:t>
            </a:r>
            <a:r>
              <a:rPr lang="en-US" dirty="0"/>
              <a:t>200 tons to no </a:t>
            </a:r>
            <a:r>
              <a:rPr lang="en-US"/>
              <a:t>more than </a:t>
            </a:r>
            <a:r>
              <a:rPr lang="en-US" dirty="0"/>
              <a:t>one of the projects</a:t>
            </a:r>
          </a:p>
          <a:p>
            <a:pPr marL="857250" lvl="1">
              <a:buClr>
                <a:srgbClr val="FFFFFF"/>
              </a:buClr>
              <a:buFont typeface="Tahoma" pitchFamily="34" charset="0"/>
              <a:buChar char="–"/>
            </a:pPr>
            <a:r>
              <a:rPr lang="en-US" dirty="0"/>
              <a:t>Co. 3 </a:t>
            </a:r>
            <a:r>
              <a:rPr lang="en-US"/>
              <a:t>will accept </a:t>
            </a:r>
            <a:r>
              <a:rPr lang="en-US" dirty="0"/>
              <a:t>only </a:t>
            </a:r>
            <a:r>
              <a:rPr lang="en-US"/>
              <a:t>orders that total </a:t>
            </a:r>
            <a:r>
              <a:rPr lang="en-US" dirty="0"/>
              <a:t>200, 400, or 550 tons</a:t>
            </a:r>
          </a:p>
          <a:p>
            <a:pPr marL="457200" indent="-457200">
              <a:buClr>
                <a:srgbClr val="FFFFFF"/>
              </a:buClr>
              <a:buFont typeface="Tahoma" pitchFamily="34" charset="0"/>
              <a:buChar char="–"/>
            </a:pPr>
            <a:endParaRPr lang="en-US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sz="4000" i="1" dirty="0">
                <a:solidFill>
                  <a:schemeClr val="hlink"/>
                </a:solidFill>
              </a:rPr>
              <a:t>Defining the </a:t>
            </a:r>
            <a:r>
              <a:rPr lang="en-US" sz="4000" i="1">
                <a:solidFill>
                  <a:schemeClr val="hlink"/>
                </a:solidFill>
              </a:rPr>
              <a:t>Decision Variables</a:t>
            </a:r>
            <a:endParaRPr lang="en-US" sz="4000" i="1" dirty="0">
              <a:solidFill>
                <a:schemeClr val="hlink"/>
              </a:solidFill>
            </a:endParaRPr>
          </a:p>
        </p:txBody>
      </p:sp>
      <p:sp>
        <p:nvSpPr>
          <p:cNvPr id="48131" name="Rectangle 3"/>
          <p:cNvSpPr>
            <a:spLocks noChangeArrowheads="1"/>
          </p:cNvSpPr>
          <p:nvPr/>
        </p:nvSpPr>
        <p:spPr bwMode="auto">
          <a:xfrm>
            <a:off x="1905000" y="1752600"/>
            <a:ext cx="55626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749300" indent="-749300" eaLnBrk="0" hangingPunct="0"/>
            <a:r>
              <a:rPr lang="en-US" sz="2800" dirty="0" err="1"/>
              <a:t>X</a:t>
            </a:r>
            <a:r>
              <a:rPr lang="en-US" sz="2800" i="1" baseline="-25000" dirty="0" err="1">
                <a:latin typeface="Times New Roman" pitchFamily="18" charset="0"/>
              </a:rPr>
              <a:t>ij</a:t>
            </a:r>
            <a:r>
              <a:rPr lang="en-US" sz="2800" dirty="0"/>
              <a:t> = tons of </a:t>
            </a:r>
            <a:r>
              <a:rPr lang="en-US" sz="2800"/>
              <a:t>cement purchased from company </a:t>
            </a:r>
            <a:r>
              <a:rPr lang="en-US" sz="2800" i="1" dirty="0" err="1">
                <a:latin typeface="Times New Roman" pitchFamily="18" charset="0"/>
              </a:rPr>
              <a:t>i</a:t>
            </a:r>
            <a:r>
              <a:rPr lang="en-US" sz="2800" dirty="0"/>
              <a:t> for project </a:t>
            </a:r>
            <a:r>
              <a:rPr lang="en-US" sz="2800" i="1" dirty="0">
                <a:latin typeface="Times New Roman" pitchFamily="18" charset="0"/>
              </a:rPr>
              <a:t>j</a:t>
            </a:r>
            <a:endParaRPr lang="en-US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Defining the Objective Function</a:t>
            </a:r>
          </a:p>
        </p:txBody>
      </p:sp>
      <p:sp>
        <p:nvSpPr>
          <p:cNvPr id="49155" name="Rectangle 3"/>
          <p:cNvSpPr>
            <a:spLocks noChangeArrowheads="1"/>
          </p:cNvSpPr>
          <p:nvPr/>
        </p:nvSpPr>
        <p:spPr bwMode="auto">
          <a:xfrm>
            <a:off x="898525" y="1600200"/>
            <a:ext cx="7516813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804863" indent="-804863" algn="ctr" eaLnBrk="0" hangingPunct="0">
              <a:lnSpc>
                <a:spcPct val="150000"/>
              </a:lnSpc>
            </a:pPr>
            <a:r>
              <a:rPr lang="en-US" sz="2800">
                <a:latin typeface="Tahoma" pitchFamily="34" charset="0"/>
              </a:rPr>
              <a:t>Minimize total </a:t>
            </a:r>
            <a:r>
              <a:rPr lang="en-US" sz="2800" dirty="0">
                <a:latin typeface="Tahoma" pitchFamily="34" charset="0"/>
              </a:rPr>
              <a:t>cost</a:t>
            </a:r>
          </a:p>
        </p:txBody>
      </p:sp>
      <p:sp>
        <p:nvSpPr>
          <p:cNvPr id="49156" name="Rectangle 4"/>
          <p:cNvSpPr>
            <a:spLocks noChangeArrowheads="1"/>
          </p:cNvSpPr>
          <p:nvPr/>
        </p:nvSpPr>
        <p:spPr bwMode="auto">
          <a:xfrm>
            <a:off x="838200" y="2667000"/>
            <a:ext cx="7516813" cy="2016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804863" indent="-804863" eaLnBrk="0" hangingPunct="0">
              <a:lnSpc>
                <a:spcPct val="150000"/>
              </a:lnSpc>
            </a:pPr>
            <a:r>
              <a:rPr lang="en-US" sz="2800">
                <a:latin typeface="Tahoma" pitchFamily="34" charset="0"/>
              </a:rPr>
              <a:t>MIN:		  120X</a:t>
            </a:r>
            <a:r>
              <a:rPr lang="en-US" sz="2800" baseline="-25000">
                <a:latin typeface="Tahoma" pitchFamily="34" charset="0"/>
              </a:rPr>
              <a:t>11</a:t>
            </a:r>
            <a:r>
              <a:rPr lang="en-US" sz="2800">
                <a:latin typeface="Tahoma" pitchFamily="34" charset="0"/>
              </a:rPr>
              <a:t> + 115X</a:t>
            </a:r>
            <a:r>
              <a:rPr lang="en-US" sz="2800" baseline="-25000">
                <a:latin typeface="Tahoma" pitchFamily="34" charset="0"/>
              </a:rPr>
              <a:t>12</a:t>
            </a:r>
            <a:r>
              <a:rPr lang="en-US" sz="2800">
                <a:latin typeface="Tahoma" pitchFamily="34" charset="0"/>
              </a:rPr>
              <a:t> + 130X</a:t>
            </a:r>
            <a:r>
              <a:rPr lang="en-US" sz="2800" baseline="-25000">
                <a:latin typeface="Tahoma" pitchFamily="34" charset="0"/>
              </a:rPr>
              <a:t>13</a:t>
            </a:r>
            <a:r>
              <a:rPr lang="en-US" sz="2800">
                <a:latin typeface="Tahoma" pitchFamily="34" charset="0"/>
              </a:rPr>
              <a:t> + 125X</a:t>
            </a:r>
            <a:r>
              <a:rPr lang="en-US" sz="2800" baseline="-25000">
                <a:latin typeface="Tahoma" pitchFamily="34" charset="0"/>
              </a:rPr>
              <a:t>14</a:t>
            </a:r>
            <a:r>
              <a:rPr lang="en-US" sz="2800">
                <a:latin typeface="Tahoma" pitchFamily="34" charset="0"/>
              </a:rPr>
              <a:t> </a:t>
            </a:r>
          </a:p>
          <a:p>
            <a:pPr marL="804863" indent="-804863" eaLnBrk="0" hangingPunct="0">
              <a:lnSpc>
                <a:spcPct val="150000"/>
              </a:lnSpc>
            </a:pPr>
            <a:r>
              <a:rPr lang="en-US" sz="2800">
                <a:latin typeface="Tahoma" pitchFamily="34" charset="0"/>
              </a:rPr>
              <a:t>      	+ 100X</a:t>
            </a:r>
            <a:r>
              <a:rPr lang="en-US" sz="2800" baseline="-25000">
                <a:latin typeface="Tahoma" pitchFamily="34" charset="0"/>
              </a:rPr>
              <a:t>21</a:t>
            </a:r>
            <a:r>
              <a:rPr lang="en-US" sz="2800">
                <a:latin typeface="Tahoma" pitchFamily="34" charset="0"/>
              </a:rPr>
              <a:t> + 150X</a:t>
            </a:r>
            <a:r>
              <a:rPr lang="en-US" sz="2800" baseline="-25000">
                <a:latin typeface="Tahoma" pitchFamily="34" charset="0"/>
              </a:rPr>
              <a:t>22</a:t>
            </a:r>
            <a:r>
              <a:rPr lang="en-US" sz="2800">
                <a:latin typeface="Tahoma" pitchFamily="34" charset="0"/>
              </a:rPr>
              <a:t> + 110X</a:t>
            </a:r>
            <a:r>
              <a:rPr lang="en-US" sz="2800" baseline="-25000">
                <a:latin typeface="Tahoma" pitchFamily="34" charset="0"/>
              </a:rPr>
              <a:t>23</a:t>
            </a:r>
            <a:r>
              <a:rPr lang="en-US" sz="2800">
                <a:latin typeface="Tahoma" pitchFamily="34" charset="0"/>
              </a:rPr>
              <a:t> + 105X</a:t>
            </a:r>
            <a:r>
              <a:rPr lang="en-US" sz="2800" baseline="-25000">
                <a:latin typeface="Tahoma" pitchFamily="34" charset="0"/>
              </a:rPr>
              <a:t>24</a:t>
            </a:r>
            <a:r>
              <a:rPr lang="en-US" sz="2800">
                <a:latin typeface="Tahoma" pitchFamily="34" charset="0"/>
              </a:rPr>
              <a:t> </a:t>
            </a:r>
          </a:p>
          <a:p>
            <a:pPr marL="804863" indent="-804863" eaLnBrk="0" hangingPunct="0">
              <a:lnSpc>
                <a:spcPct val="150000"/>
              </a:lnSpc>
            </a:pPr>
            <a:r>
              <a:rPr lang="en-US" sz="2800">
                <a:latin typeface="Tahoma" pitchFamily="34" charset="0"/>
              </a:rPr>
              <a:t>	+ 140X</a:t>
            </a:r>
            <a:r>
              <a:rPr lang="en-US" sz="2800" baseline="-25000">
                <a:latin typeface="Tahoma" pitchFamily="34" charset="0"/>
              </a:rPr>
              <a:t>31</a:t>
            </a:r>
            <a:r>
              <a:rPr lang="en-US" sz="2800">
                <a:latin typeface="Tahoma" pitchFamily="34" charset="0"/>
              </a:rPr>
              <a:t> +   95X</a:t>
            </a:r>
            <a:r>
              <a:rPr lang="en-US" sz="2800" baseline="-25000">
                <a:latin typeface="Tahoma" pitchFamily="34" charset="0"/>
              </a:rPr>
              <a:t>32</a:t>
            </a:r>
            <a:r>
              <a:rPr lang="en-US" sz="2800">
                <a:latin typeface="Tahoma" pitchFamily="34" charset="0"/>
              </a:rPr>
              <a:t> + 145X</a:t>
            </a:r>
            <a:r>
              <a:rPr lang="en-US" sz="2800" baseline="-25000">
                <a:latin typeface="Tahoma" pitchFamily="34" charset="0"/>
              </a:rPr>
              <a:t>33</a:t>
            </a:r>
            <a:r>
              <a:rPr lang="en-US" sz="2800">
                <a:latin typeface="Tahoma" pitchFamily="34" charset="0"/>
              </a:rPr>
              <a:t> + 165X</a:t>
            </a:r>
            <a:r>
              <a:rPr lang="en-US" sz="2800" baseline="-25000">
                <a:latin typeface="Tahoma" pitchFamily="34" charset="0"/>
              </a:rPr>
              <a:t>34</a:t>
            </a:r>
            <a:endParaRPr lang="en-US" sz="2800">
              <a:latin typeface="Tahoma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76262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 dirty="0">
                <a:solidFill>
                  <a:schemeClr val="hlink"/>
                </a:solidFill>
              </a:rPr>
              <a:t>Defining </a:t>
            </a:r>
            <a:r>
              <a:rPr lang="en-US" sz="4000" i="1">
                <a:solidFill>
                  <a:schemeClr val="hlink"/>
                </a:solidFill>
              </a:rPr>
              <a:t>the Constraints</a:t>
            </a:r>
            <a:endParaRPr lang="en-US" sz="4000" i="1" dirty="0">
              <a:solidFill>
                <a:schemeClr val="hlink"/>
              </a:solidFill>
            </a:endParaRP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143000"/>
            <a:ext cx="7502525" cy="4927600"/>
          </a:xfrm>
          <a:noFill/>
          <a:ln/>
        </p:spPr>
        <p:txBody>
          <a:bodyPr lIns="92075" tIns="46038" rIns="92075" bIns="46038"/>
          <a:lstStyle/>
          <a:p>
            <a:r>
              <a:rPr lang="en-US" sz="2800"/>
              <a:t>Supply Constraints</a:t>
            </a:r>
            <a:endParaRPr lang="en-US" dirty="0"/>
          </a:p>
          <a:p>
            <a:pPr lvl="1">
              <a:buFontTx/>
              <a:buNone/>
            </a:pPr>
            <a:r>
              <a:rPr lang="en-US" dirty="0"/>
              <a:t>	</a:t>
            </a:r>
            <a:r>
              <a:rPr lang="en-US" sz="2400" dirty="0"/>
              <a:t>X</a:t>
            </a:r>
            <a:r>
              <a:rPr lang="en-US" sz="2400" baseline="-25000" dirty="0"/>
              <a:t>11</a:t>
            </a:r>
            <a:r>
              <a:rPr lang="en-US" sz="2400" dirty="0"/>
              <a:t> + X</a:t>
            </a:r>
            <a:r>
              <a:rPr lang="en-US" sz="2400" baseline="-25000" dirty="0"/>
              <a:t>12</a:t>
            </a:r>
            <a:r>
              <a:rPr lang="en-US" sz="2400" dirty="0"/>
              <a:t> + X</a:t>
            </a:r>
            <a:r>
              <a:rPr lang="en-US" sz="2400" baseline="-25000" dirty="0"/>
              <a:t>13</a:t>
            </a:r>
            <a:r>
              <a:rPr lang="en-US" sz="2400" dirty="0"/>
              <a:t> + X</a:t>
            </a:r>
            <a:r>
              <a:rPr lang="en-US" sz="2400" baseline="-25000" dirty="0"/>
              <a:t>14</a:t>
            </a:r>
            <a:r>
              <a:rPr lang="en-US" sz="2400" dirty="0"/>
              <a:t> &lt;= 525	  </a:t>
            </a:r>
            <a:r>
              <a:rPr lang="en-US" sz="2400"/>
              <a:t>} company </a:t>
            </a:r>
            <a:r>
              <a:rPr lang="en-US" sz="2400" dirty="0"/>
              <a:t>1</a:t>
            </a:r>
          </a:p>
          <a:p>
            <a:pPr lvl="1">
              <a:buFontTx/>
              <a:buNone/>
            </a:pPr>
            <a:r>
              <a:rPr lang="en-US" sz="2400" dirty="0"/>
              <a:t>	X</a:t>
            </a:r>
            <a:r>
              <a:rPr lang="en-US" sz="2400" baseline="-25000" dirty="0"/>
              <a:t>21</a:t>
            </a:r>
            <a:r>
              <a:rPr lang="en-US" sz="2400" dirty="0"/>
              <a:t> + X</a:t>
            </a:r>
            <a:r>
              <a:rPr lang="en-US" sz="2400" baseline="-25000" dirty="0"/>
              <a:t>22</a:t>
            </a:r>
            <a:r>
              <a:rPr lang="en-US" sz="2400" dirty="0"/>
              <a:t> + X</a:t>
            </a:r>
            <a:r>
              <a:rPr lang="en-US" sz="2400" baseline="-25000" dirty="0"/>
              <a:t>23</a:t>
            </a:r>
            <a:r>
              <a:rPr lang="en-US" sz="2400" dirty="0"/>
              <a:t> + X</a:t>
            </a:r>
            <a:r>
              <a:rPr lang="en-US" sz="2400" baseline="-25000" dirty="0"/>
              <a:t>24</a:t>
            </a:r>
            <a:r>
              <a:rPr lang="en-US" sz="2400" dirty="0"/>
              <a:t> &lt;= 450	  </a:t>
            </a:r>
            <a:r>
              <a:rPr lang="en-US" sz="2400"/>
              <a:t>} company </a:t>
            </a:r>
            <a:r>
              <a:rPr lang="en-US" sz="2400" dirty="0"/>
              <a:t>2</a:t>
            </a:r>
          </a:p>
          <a:p>
            <a:pPr lvl="1">
              <a:buFontTx/>
              <a:buNone/>
            </a:pPr>
            <a:r>
              <a:rPr lang="en-US" sz="2400" dirty="0"/>
              <a:t>	X</a:t>
            </a:r>
            <a:r>
              <a:rPr lang="en-US" sz="2400" baseline="-25000" dirty="0"/>
              <a:t>31</a:t>
            </a:r>
            <a:r>
              <a:rPr lang="en-US" sz="2400" dirty="0"/>
              <a:t> + X</a:t>
            </a:r>
            <a:r>
              <a:rPr lang="en-US" sz="2400" baseline="-25000" dirty="0"/>
              <a:t>32</a:t>
            </a:r>
            <a:r>
              <a:rPr lang="en-US" sz="2400" dirty="0"/>
              <a:t> + X</a:t>
            </a:r>
            <a:r>
              <a:rPr lang="en-US" sz="2400" baseline="-25000" dirty="0"/>
              <a:t>33</a:t>
            </a:r>
            <a:r>
              <a:rPr lang="en-US" sz="2400" dirty="0"/>
              <a:t> + X</a:t>
            </a:r>
            <a:r>
              <a:rPr lang="en-US" sz="2400" baseline="-25000" dirty="0"/>
              <a:t>34</a:t>
            </a:r>
            <a:r>
              <a:rPr lang="en-US" sz="2400" dirty="0"/>
              <a:t> &lt;= 550	  </a:t>
            </a:r>
            <a:r>
              <a:rPr lang="en-US" sz="2400"/>
              <a:t>} company </a:t>
            </a:r>
            <a:r>
              <a:rPr lang="en-US" sz="2400" dirty="0"/>
              <a:t>3</a:t>
            </a:r>
          </a:p>
          <a:p>
            <a:r>
              <a:rPr lang="en-US" sz="2800"/>
              <a:t>Demand Constraints</a:t>
            </a:r>
            <a:endParaRPr lang="en-US" dirty="0"/>
          </a:p>
          <a:p>
            <a:pPr lvl="1">
              <a:buFontTx/>
              <a:buNone/>
            </a:pPr>
            <a:r>
              <a:rPr lang="en-US" dirty="0"/>
              <a:t>	</a:t>
            </a:r>
            <a:r>
              <a:rPr lang="en-US" sz="2400" dirty="0"/>
              <a:t>X</a:t>
            </a:r>
            <a:r>
              <a:rPr lang="en-US" sz="2400" baseline="-25000" dirty="0"/>
              <a:t>11</a:t>
            </a:r>
            <a:r>
              <a:rPr lang="en-US" sz="2400" dirty="0"/>
              <a:t> + X</a:t>
            </a:r>
            <a:r>
              <a:rPr lang="en-US" sz="2400" baseline="-25000" dirty="0"/>
              <a:t>21</a:t>
            </a:r>
            <a:r>
              <a:rPr lang="en-US" sz="2400" dirty="0"/>
              <a:t> + X</a:t>
            </a:r>
            <a:r>
              <a:rPr lang="en-US" sz="2400" baseline="-25000" dirty="0"/>
              <a:t>31</a:t>
            </a:r>
            <a:r>
              <a:rPr lang="en-US" sz="2400" dirty="0"/>
              <a:t> = 450		} project 1</a:t>
            </a:r>
          </a:p>
          <a:p>
            <a:pPr lvl="1">
              <a:buFontTx/>
              <a:buNone/>
            </a:pPr>
            <a:r>
              <a:rPr lang="en-US" sz="2400" dirty="0"/>
              <a:t>	X</a:t>
            </a:r>
            <a:r>
              <a:rPr lang="en-US" sz="2400" baseline="-25000" dirty="0"/>
              <a:t>12</a:t>
            </a:r>
            <a:r>
              <a:rPr lang="en-US" sz="2400" dirty="0"/>
              <a:t> + X</a:t>
            </a:r>
            <a:r>
              <a:rPr lang="en-US" sz="2400" baseline="-25000" dirty="0"/>
              <a:t>22</a:t>
            </a:r>
            <a:r>
              <a:rPr lang="en-US" sz="2400" dirty="0"/>
              <a:t> + X</a:t>
            </a:r>
            <a:r>
              <a:rPr lang="en-US" sz="2400" baseline="-25000" dirty="0"/>
              <a:t>32</a:t>
            </a:r>
            <a:r>
              <a:rPr lang="en-US" sz="2400" dirty="0"/>
              <a:t> = 275		} project 2</a:t>
            </a:r>
          </a:p>
          <a:p>
            <a:pPr lvl="1">
              <a:buFontTx/>
              <a:buNone/>
            </a:pPr>
            <a:r>
              <a:rPr lang="en-US" sz="2400" dirty="0"/>
              <a:t>	X</a:t>
            </a:r>
            <a:r>
              <a:rPr lang="en-US" sz="2400" baseline="-25000" dirty="0"/>
              <a:t>13</a:t>
            </a:r>
            <a:r>
              <a:rPr lang="en-US" sz="2400" dirty="0"/>
              <a:t> + X</a:t>
            </a:r>
            <a:r>
              <a:rPr lang="en-US" sz="2400" baseline="-25000" dirty="0"/>
              <a:t>23</a:t>
            </a:r>
            <a:r>
              <a:rPr lang="en-US" sz="2400" dirty="0"/>
              <a:t> + X</a:t>
            </a:r>
            <a:r>
              <a:rPr lang="en-US" sz="2400" baseline="-25000" dirty="0"/>
              <a:t>33</a:t>
            </a:r>
            <a:r>
              <a:rPr lang="en-US" sz="2400" dirty="0"/>
              <a:t> = 300		} project 3</a:t>
            </a:r>
          </a:p>
          <a:p>
            <a:pPr lvl="1">
              <a:buFontTx/>
              <a:buNone/>
            </a:pPr>
            <a:r>
              <a:rPr lang="en-US" sz="2400" dirty="0"/>
              <a:t>	X</a:t>
            </a:r>
            <a:r>
              <a:rPr lang="en-US" sz="2400" baseline="-25000" dirty="0"/>
              <a:t>14</a:t>
            </a:r>
            <a:r>
              <a:rPr lang="en-US" sz="2400" dirty="0"/>
              <a:t> + X</a:t>
            </a:r>
            <a:r>
              <a:rPr lang="en-US" sz="2400" baseline="-25000" dirty="0"/>
              <a:t>24</a:t>
            </a:r>
            <a:r>
              <a:rPr lang="en-US" sz="2400" dirty="0"/>
              <a:t> + X</a:t>
            </a:r>
            <a:r>
              <a:rPr lang="en-US" sz="2400" baseline="-25000" dirty="0"/>
              <a:t>34</a:t>
            </a:r>
            <a:r>
              <a:rPr lang="en-US" sz="2400" dirty="0"/>
              <a:t> = 350		} project 4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04850"/>
            <a:ext cx="8229600" cy="608013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 dirty="0">
                <a:solidFill>
                  <a:schemeClr val="hlink"/>
                </a:solidFill>
              </a:rPr>
              <a:t>Implementing the </a:t>
            </a:r>
            <a:br>
              <a:rPr lang="en-US" sz="4000" i="1">
                <a:solidFill>
                  <a:schemeClr val="hlink"/>
                </a:solidFill>
              </a:rPr>
            </a:br>
            <a:r>
              <a:rPr lang="en-US" sz="4000" i="1">
                <a:solidFill>
                  <a:schemeClr val="hlink"/>
                </a:solidFill>
              </a:rPr>
              <a:t>Transportation Constraints</a:t>
            </a:r>
            <a:endParaRPr lang="en-US" sz="4000" i="1" dirty="0">
              <a:solidFill>
                <a:schemeClr val="hlink"/>
              </a:solidFill>
            </a:endParaRP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2286000"/>
            <a:ext cx="7772400" cy="768350"/>
          </a:xfrm>
          <a:noFill/>
          <a:ln/>
        </p:spPr>
        <p:txBody>
          <a:bodyPr lIns="92075" tIns="46038" rIns="92075" bIns="46038"/>
          <a:lstStyle/>
          <a:p>
            <a:pPr algn="ctr">
              <a:buFont typeface="Wingdings" pitchFamily="2" charset="2"/>
              <a:buNone/>
            </a:pPr>
            <a:r>
              <a:rPr lang="en-US" dirty="0"/>
              <a:t>See file </a:t>
            </a:r>
            <a:r>
              <a:rPr lang="en-US" dirty="0">
                <a:hlinkClick r:id="rId3" action="ppaction://hlinkfile"/>
              </a:rPr>
              <a:t>Fig6-32.xlsm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4025"/>
            <a:ext cx="7772400" cy="500063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 dirty="0">
                <a:solidFill>
                  <a:schemeClr val="hlink"/>
                </a:solidFill>
              </a:rPr>
              <a:t>Defining </a:t>
            </a:r>
            <a:r>
              <a:rPr lang="en-US" sz="4000" i="1">
                <a:solidFill>
                  <a:schemeClr val="hlink"/>
                </a:solidFill>
              </a:rPr>
              <a:t>the Constraints-I</a:t>
            </a:r>
            <a:endParaRPr lang="en-US" sz="4000" i="1" dirty="0">
              <a:solidFill>
                <a:schemeClr val="hlink"/>
              </a:solidFill>
            </a:endParaRP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1" y="914400"/>
            <a:ext cx="3962400" cy="4927600"/>
          </a:xfrm>
          <a:noFill/>
          <a:ln/>
        </p:spPr>
        <p:txBody>
          <a:bodyPr lIns="92075" tIns="46038" rIns="92075" bIns="46038"/>
          <a:lstStyle/>
          <a:p>
            <a:r>
              <a:rPr lang="en-US" sz="2800"/>
              <a:t>Company </a:t>
            </a:r>
            <a:r>
              <a:rPr lang="en-US" sz="2800" dirty="0"/>
              <a:t>1 </a:t>
            </a:r>
            <a:r>
              <a:rPr lang="en-US" sz="2800"/>
              <a:t>Side Constraints</a:t>
            </a:r>
            <a:endParaRPr lang="en-US" dirty="0"/>
          </a:p>
          <a:p>
            <a:pPr lvl="1">
              <a:buFontTx/>
              <a:buNone/>
            </a:pPr>
            <a:r>
              <a:rPr lang="en-US" dirty="0"/>
              <a:t>	X</a:t>
            </a:r>
            <a:r>
              <a:rPr lang="en-US" baseline="-25000" dirty="0"/>
              <a:t>11</a:t>
            </a:r>
            <a:r>
              <a:rPr lang="en-US" dirty="0"/>
              <a:t>&lt;=525Y</a:t>
            </a:r>
            <a:r>
              <a:rPr lang="en-US" baseline="-25000" dirty="0"/>
              <a:t>11</a:t>
            </a:r>
          </a:p>
          <a:p>
            <a:pPr lvl="1">
              <a:buFontTx/>
              <a:buNone/>
            </a:pPr>
            <a:r>
              <a:rPr lang="en-US" dirty="0"/>
              <a:t>	X</a:t>
            </a:r>
            <a:r>
              <a:rPr lang="en-US" baseline="-25000" dirty="0"/>
              <a:t>12</a:t>
            </a:r>
            <a:r>
              <a:rPr lang="en-US" dirty="0"/>
              <a:t>&lt;=525Y</a:t>
            </a:r>
            <a:r>
              <a:rPr lang="en-US" baseline="-25000" dirty="0"/>
              <a:t>12</a:t>
            </a:r>
          </a:p>
          <a:p>
            <a:pPr lvl="1">
              <a:buFontTx/>
              <a:buNone/>
            </a:pPr>
            <a:r>
              <a:rPr lang="en-US" dirty="0"/>
              <a:t>	X</a:t>
            </a:r>
            <a:r>
              <a:rPr lang="en-US" baseline="-25000" dirty="0"/>
              <a:t>13</a:t>
            </a:r>
            <a:r>
              <a:rPr lang="en-US" dirty="0"/>
              <a:t>&lt;=525Y</a:t>
            </a:r>
            <a:r>
              <a:rPr lang="en-US" baseline="-25000" dirty="0"/>
              <a:t>13</a:t>
            </a:r>
          </a:p>
          <a:p>
            <a:pPr lvl="1">
              <a:buFontTx/>
              <a:buNone/>
            </a:pPr>
            <a:r>
              <a:rPr lang="en-US" dirty="0"/>
              <a:t>	X</a:t>
            </a:r>
            <a:r>
              <a:rPr lang="en-US" baseline="-25000" dirty="0"/>
              <a:t>14</a:t>
            </a:r>
            <a:r>
              <a:rPr lang="en-US" dirty="0"/>
              <a:t>&lt;=525Y</a:t>
            </a:r>
            <a:r>
              <a:rPr lang="en-US" baseline="-25000" dirty="0"/>
              <a:t>14</a:t>
            </a:r>
          </a:p>
          <a:p>
            <a:pPr lvl="1">
              <a:buFontTx/>
              <a:buNone/>
            </a:pPr>
            <a:r>
              <a:rPr lang="en-US" dirty="0"/>
              <a:t>	X</a:t>
            </a:r>
            <a:r>
              <a:rPr lang="en-US" baseline="-25000" dirty="0"/>
              <a:t>11</a:t>
            </a:r>
            <a:r>
              <a:rPr lang="en-US" dirty="0"/>
              <a:t>&gt;=150Y</a:t>
            </a:r>
            <a:r>
              <a:rPr lang="en-US" baseline="-25000" dirty="0"/>
              <a:t>11	</a:t>
            </a:r>
          </a:p>
          <a:p>
            <a:pPr lvl="1">
              <a:buFontTx/>
              <a:buNone/>
            </a:pPr>
            <a:r>
              <a:rPr lang="en-US" dirty="0"/>
              <a:t>	X</a:t>
            </a:r>
            <a:r>
              <a:rPr lang="en-US" baseline="-25000" dirty="0"/>
              <a:t>12</a:t>
            </a:r>
            <a:r>
              <a:rPr lang="en-US" dirty="0"/>
              <a:t>&gt;=150Y</a:t>
            </a:r>
            <a:r>
              <a:rPr lang="en-US" baseline="-25000" dirty="0"/>
              <a:t>12</a:t>
            </a:r>
          </a:p>
          <a:p>
            <a:pPr lvl="1">
              <a:buFontTx/>
              <a:buNone/>
            </a:pPr>
            <a:r>
              <a:rPr lang="en-US" dirty="0"/>
              <a:t>	X</a:t>
            </a:r>
            <a:r>
              <a:rPr lang="en-US" baseline="-25000" dirty="0"/>
              <a:t>13</a:t>
            </a:r>
            <a:r>
              <a:rPr lang="en-US" dirty="0"/>
              <a:t>&gt;=150Y</a:t>
            </a:r>
            <a:r>
              <a:rPr lang="en-US" baseline="-25000" dirty="0"/>
              <a:t>13</a:t>
            </a:r>
          </a:p>
          <a:p>
            <a:pPr lvl="1">
              <a:buFontTx/>
              <a:buNone/>
            </a:pPr>
            <a:r>
              <a:rPr lang="en-US" dirty="0"/>
              <a:t>	X</a:t>
            </a:r>
            <a:r>
              <a:rPr lang="en-US" baseline="-25000" dirty="0"/>
              <a:t>14</a:t>
            </a:r>
            <a:r>
              <a:rPr lang="en-US" dirty="0"/>
              <a:t>&gt;=150Y</a:t>
            </a:r>
            <a:r>
              <a:rPr lang="en-US" baseline="-25000" dirty="0"/>
              <a:t>14</a:t>
            </a:r>
          </a:p>
          <a:p>
            <a:pPr lvl="1">
              <a:buFontTx/>
              <a:buNone/>
            </a:pPr>
            <a:r>
              <a:rPr lang="en-US" dirty="0"/>
              <a:t>	</a:t>
            </a:r>
            <a:r>
              <a:rPr lang="en-US" err="1"/>
              <a:t>Y</a:t>
            </a:r>
            <a:r>
              <a:rPr lang="en-US" i="1" baseline="-25000" err="1">
                <a:latin typeface="Times New Roman" pitchFamily="18" charset="0"/>
              </a:rPr>
              <a:t>ij</a:t>
            </a:r>
            <a:r>
              <a:rPr lang="en-US"/>
              <a:t> binary</a:t>
            </a:r>
            <a:endParaRPr lang="en-US" baseline="-250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251200" y="6397625"/>
            <a:ext cx="2895600" cy="476250"/>
          </a:xfrm>
        </p:spPr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5867400" y="1905000"/>
            <a:ext cx="2590800" cy="92333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0" lvl="1" algn="ctr">
              <a:buClr>
                <a:srgbClr val="FFFFFF"/>
              </a:buClr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Co. 1 will not supply orders of </a:t>
            </a:r>
            <a:r>
              <a:rPr lang="en-US">
                <a:solidFill>
                  <a:schemeClr val="bg1">
                    <a:lumMod val="50000"/>
                  </a:schemeClr>
                </a:solidFill>
              </a:rPr>
              <a:t>less than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150 tons </a:t>
            </a:r>
            <a:r>
              <a:rPr lang="en-US">
                <a:solidFill>
                  <a:schemeClr val="bg1">
                    <a:lumMod val="50000"/>
                  </a:schemeClr>
                </a:solidFill>
              </a:rPr>
              <a:t>for any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project…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76262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 dirty="0">
                <a:solidFill>
                  <a:schemeClr val="hlink"/>
                </a:solidFill>
              </a:rPr>
              <a:t>Defining </a:t>
            </a:r>
            <a:r>
              <a:rPr lang="en-US" sz="4000" i="1">
                <a:solidFill>
                  <a:schemeClr val="hlink"/>
                </a:solidFill>
              </a:rPr>
              <a:t>the Constraints-II</a:t>
            </a:r>
            <a:endParaRPr lang="en-US" sz="4000" i="1" dirty="0">
              <a:solidFill>
                <a:schemeClr val="hlink"/>
              </a:solidFill>
            </a:endParaRP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219200"/>
            <a:ext cx="7045325" cy="4927600"/>
          </a:xfrm>
          <a:noFill/>
          <a:ln/>
        </p:spPr>
        <p:txBody>
          <a:bodyPr lIns="92075" tIns="46038" rIns="92075" bIns="46038"/>
          <a:lstStyle/>
          <a:p>
            <a:r>
              <a:rPr lang="en-US" sz="2800"/>
              <a:t>Company </a:t>
            </a:r>
            <a:r>
              <a:rPr lang="en-US" sz="2800" dirty="0"/>
              <a:t>2 </a:t>
            </a:r>
            <a:r>
              <a:rPr lang="en-US" sz="2800"/>
              <a:t>Side Constraints</a:t>
            </a:r>
            <a:endParaRPr lang="en-US" dirty="0"/>
          </a:p>
          <a:p>
            <a:pPr lvl="1">
              <a:buFontTx/>
              <a:buNone/>
            </a:pPr>
            <a:r>
              <a:rPr lang="en-US" dirty="0"/>
              <a:t>	X</a:t>
            </a:r>
            <a:r>
              <a:rPr lang="en-US" baseline="-25000" dirty="0"/>
              <a:t>21</a:t>
            </a:r>
            <a:r>
              <a:rPr lang="en-US" dirty="0"/>
              <a:t>&lt;=200+250Y</a:t>
            </a:r>
            <a:r>
              <a:rPr lang="en-US" baseline="-25000" dirty="0"/>
              <a:t>21</a:t>
            </a:r>
          </a:p>
          <a:p>
            <a:pPr lvl="1">
              <a:buFontTx/>
              <a:buNone/>
            </a:pPr>
            <a:r>
              <a:rPr lang="en-US" dirty="0"/>
              <a:t>	X</a:t>
            </a:r>
            <a:r>
              <a:rPr lang="en-US" baseline="-25000" dirty="0"/>
              <a:t>22</a:t>
            </a:r>
            <a:r>
              <a:rPr lang="en-US" dirty="0"/>
              <a:t>&lt;=200+250Y</a:t>
            </a:r>
            <a:r>
              <a:rPr lang="en-US" baseline="-25000" dirty="0"/>
              <a:t>22</a:t>
            </a:r>
          </a:p>
          <a:p>
            <a:pPr lvl="1">
              <a:buFontTx/>
              <a:buNone/>
            </a:pPr>
            <a:r>
              <a:rPr lang="en-US" dirty="0"/>
              <a:t>	X</a:t>
            </a:r>
            <a:r>
              <a:rPr lang="en-US" baseline="-25000" dirty="0"/>
              <a:t>23</a:t>
            </a:r>
            <a:r>
              <a:rPr lang="en-US" dirty="0"/>
              <a:t>&lt;=200+250Y</a:t>
            </a:r>
            <a:r>
              <a:rPr lang="en-US" baseline="-25000" dirty="0"/>
              <a:t>23</a:t>
            </a:r>
          </a:p>
          <a:p>
            <a:pPr lvl="1">
              <a:buFontTx/>
              <a:buNone/>
            </a:pPr>
            <a:r>
              <a:rPr lang="en-US" dirty="0"/>
              <a:t>	X</a:t>
            </a:r>
            <a:r>
              <a:rPr lang="en-US" baseline="-25000" dirty="0"/>
              <a:t>24</a:t>
            </a:r>
            <a:r>
              <a:rPr lang="en-US" dirty="0"/>
              <a:t>&lt;=200+250Y</a:t>
            </a:r>
            <a:r>
              <a:rPr lang="en-US" baseline="-25000" dirty="0"/>
              <a:t>24</a:t>
            </a:r>
          </a:p>
          <a:p>
            <a:pPr lvl="1">
              <a:buFontTx/>
              <a:buNone/>
            </a:pPr>
            <a:r>
              <a:rPr lang="en-US" dirty="0"/>
              <a:t>	Y</a:t>
            </a:r>
            <a:r>
              <a:rPr lang="en-US" baseline="-25000" dirty="0"/>
              <a:t>21 </a:t>
            </a:r>
            <a:r>
              <a:rPr lang="en-US" dirty="0"/>
              <a:t>+ Y</a:t>
            </a:r>
            <a:r>
              <a:rPr lang="en-US" baseline="-25000" dirty="0"/>
              <a:t>22 </a:t>
            </a:r>
            <a:r>
              <a:rPr lang="en-US" dirty="0"/>
              <a:t>+ Y</a:t>
            </a:r>
            <a:r>
              <a:rPr lang="en-US" baseline="-25000" dirty="0"/>
              <a:t>23 </a:t>
            </a:r>
            <a:r>
              <a:rPr lang="en-US" dirty="0"/>
              <a:t>+ Y</a:t>
            </a:r>
            <a:r>
              <a:rPr lang="en-US" baseline="-25000" dirty="0"/>
              <a:t>24 </a:t>
            </a:r>
            <a:r>
              <a:rPr lang="en-US" dirty="0"/>
              <a:t>&lt;= 1</a:t>
            </a:r>
          </a:p>
          <a:p>
            <a:pPr lvl="1">
              <a:buFontTx/>
              <a:buNone/>
            </a:pPr>
            <a:endParaRPr lang="en-US" dirty="0"/>
          </a:p>
          <a:p>
            <a:pPr lvl="1">
              <a:buFontTx/>
              <a:buNone/>
            </a:pPr>
            <a:r>
              <a:rPr lang="en-US" dirty="0"/>
              <a:t>	</a:t>
            </a:r>
            <a:r>
              <a:rPr lang="en-US" err="1"/>
              <a:t>Y</a:t>
            </a:r>
            <a:r>
              <a:rPr lang="en-US" i="1" baseline="-25000" err="1">
                <a:latin typeface="Times New Roman" pitchFamily="18" charset="0"/>
              </a:rPr>
              <a:t>ij</a:t>
            </a:r>
            <a:r>
              <a:rPr lang="en-US"/>
              <a:t> binary</a:t>
            </a:r>
            <a:endParaRPr lang="en-US" baseline="-25000" dirty="0"/>
          </a:p>
          <a:p>
            <a:pPr lvl="1">
              <a:buFontTx/>
              <a:buNone/>
            </a:pPr>
            <a:endParaRPr lang="en-US" baseline="-25000" dirty="0"/>
          </a:p>
          <a:p>
            <a:pPr lvl="1">
              <a:buFontTx/>
              <a:buNone/>
            </a:pPr>
            <a:r>
              <a:rPr lang="en-US" dirty="0"/>
              <a:t>	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5867400" y="1905000"/>
            <a:ext cx="2590800" cy="120032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0" lvl="1" algn="ctr">
              <a:buClr>
                <a:srgbClr val="FFFFFF"/>
              </a:buClr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Co. </a:t>
            </a:r>
            <a:r>
              <a:rPr lang="en-US">
                <a:solidFill>
                  <a:schemeClr val="bg1">
                    <a:lumMod val="50000"/>
                  </a:schemeClr>
                </a:solidFill>
              </a:rPr>
              <a:t>2 can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supply </a:t>
            </a:r>
            <a:r>
              <a:rPr lang="en-US">
                <a:solidFill>
                  <a:schemeClr val="bg1">
                    <a:lumMod val="50000"/>
                  </a:schemeClr>
                </a:solidFill>
              </a:rPr>
              <a:t>more than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200 tons to no </a:t>
            </a:r>
            <a:r>
              <a:rPr lang="en-US">
                <a:solidFill>
                  <a:schemeClr val="bg1">
                    <a:lumMod val="50000"/>
                  </a:schemeClr>
                </a:solidFill>
              </a:rPr>
              <a:t>more than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one of the projects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76262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 dirty="0">
                <a:solidFill>
                  <a:schemeClr val="hlink"/>
                </a:solidFill>
              </a:rPr>
              <a:t>Defining </a:t>
            </a:r>
            <a:r>
              <a:rPr lang="en-US" sz="4000" i="1">
                <a:solidFill>
                  <a:schemeClr val="hlink"/>
                </a:solidFill>
              </a:rPr>
              <a:t>the Constraints-III</a:t>
            </a:r>
            <a:endParaRPr lang="en-US" sz="4000" i="1" dirty="0">
              <a:solidFill>
                <a:schemeClr val="hlink"/>
              </a:solidFill>
            </a:endParaRP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562975" cy="2209800"/>
          </a:xfrm>
          <a:noFill/>
          <a:ln/>
        </p:spPr>
        <p:txBody>
          <a:bodyPr lIns="92075" tIns="46038" rIns="92075" bIns="46038"/>
          <a:lstStyle/>
          <a:p>
            <a:r>
              <a:rPr lang="en-US" sz="2800"/>
              <a:t>Company </a:t>
            </a:r>
            <a:r>
              <a:rPr lang="en-US" sz="2800" dirty="0"/>
              <a:t>3 </a:t>
            </a:r>
            <a:r>
              <a:rPr lang="en-US" sz="2800"/>
              <a:t>Side Constraints</a:t>
            </a:r>
            <a:endParaRPr lang="en-US" dirty="0"/>
          </a:p>
          <a:p>
            <a:pPr lvl="1">
              <a:buFontTx/>
              <a:buNone/>
            </a:pPr>
            <a:r>
              <a:rPr lang="en-US" dirty="0"/>
              <a:t>X</a:t>
            </a:r>
            <a:r>
              <a:rPr lang="en-US" baseline="-25000" dirty="0"/>
              <a:t>31 </a:t>
            </a:r>
            <a:r>
              <a:rPr lang="en-US" dirty="0"/>
              <a:t>+ X</a:t>
            </a:r>
            <a:r>
              <a:rPr lang="en-US" baseline="-25000" dirty="0"/>
              <a:t>32 </a:t>
            </a:r>
            <a:r>
              <a:rPr lang="en-US" dirty="0"/>
              <a:t>+ X</a:t>
            </a:r>
            <a:r>
              <a:rPr lang="en-US" baseline="-25000" dirty="0"/>
              <a:t>33 </a:t>
            </a:r>
            <a:r>
              <a:rPr lang="en-US" dirty="0"/>
              <a:t>+ X</a:t>
            </a:r>
            <a:r>
              <a:rPr lang="en-US" baseline="-25000" dirty="0"/>
              <a:t>34</a:t>
            </a:r>
            <a:r>
              <a:rPr lang="en-US" dirty="0"/>
              <a:t> = 200Y</a:t>
            </a:r>
            <a:r>
              <a:rPr lang="en-US" baseline="-25000" dirty="0"/>
              <a:t>31 </a:t>
            </a:r>
            <a:r>
              <a:rPr lang="en-US" dirty="0"/>
              <a:t>+ 400Y</a:t>
            </a:r>
            <a:r>
              <a:rPr lang="en-US" baseline="-25000" dirty="0"/>
              <a:t>32 </a:t>
            </a:r>
            <a:r>
              <a:rPr lang="en-US" dirty="0"/>
              <a:t>+ 550Y</a:t>
            </a:r>
            <a:r>
              <a:rPr lang="en-US" baseline="-25000" dirty="0"/>
              <a:t>33</a:t>
            </a:r>
          </a:p>
          <a:p>
            <a:pPr lvl="1">
              <a:buFontTx/>
              <a:buNone/>
            </a:pPr>
            <a:endParaRPr lang="en-US" baseline="-25000" dirty="0"/>
          </a:p>
          <a:p>
            <a:pPr lvl="1">
              <a:buFontTx/>
              <a:buNone/>
            </a:pPr>
            <a:r>
              <a:rPr lang="en-US" dirty="0"/>
              <a:t>Y</a:t>
            </a:r>
            <a:r>
              <a:rPr lang="en-US" baseline="-25000" dirty="0"/>
              <a:t>31 </a:t>
            </a:r>
            <a:r>
              <a:rPr lang="en-US" dirty="0"/>
              <a:t>+ Y</a:t>
            </a:r>
            <a:r>
              <a:rPr lang="en-US" baseline="-25000" dirty="0"/>
              <a:t>32 </a:t>
            </a:r>
            <a:r>
              <a:rPr lang="en-US" dirty="0"/>
              <a:t>+ Y</a:t>
            </a:r>
            <a:r>
              <a:rPr lang="en-US" baseline="-25000" dirty="0"/>
              <a:t>33 </a:t>
            </a:r>
            <a:r>
              <a:rPr lang="en-US" dirty="0"/>
              <a:t>&lt;= 1</a:t>
            </a:r>
            <a:endParaRPr lang="en-US" baseline="-25000" dirty="0"/>
          </a:p>
          <a:p>
            <a:pPr lvl="1">
              <a:buFontTx/>
              <a:buNone/>
            </a:pPr>
            <a:r>
              <a:rPr lang="en-US" dirty="0"/>
              <a:t>	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0" y="3048000"/>
            <a:ext cx="2590800" cy="92333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0" lvl="1" algn="ctr">
              <a:buClr>
                <a:srgbClr val="FFFFFF"/>
              </a:buClr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Co. 3 </a:t>
            </a:r>
            <a:r>
              <a:rPr lang="en-US">
                <a:solidFill>
                  <a:schemeClr val="bg1">
                    <a:lumMod val="50000"/>
                  </a:schemeClr>
                </a:solidFill>
              </a:rPr>
              <a:t>will accept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only </a:t>
            </a:r>
            <a:r>
              <a:rPr lang="en-US">
                <a:solidFill>
                  <a:schemeClr val="bg1">
                    <a:lumMod val="50000"/>
                  </a:schemeClr>
                </a:solidFill>
              </a:rPr>
              <a:t>orders that total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200, 400, or 550 tons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04850"/>
            <a:ext cx="8229600" cy="608013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 dirty="0">
                <a:solidFill>
                  <a:schemeClr val="hlink"/>
                </a:solidFill>
              </a:rPr>
              <a:t>Implementing the </a:t>
            </a:r>
            <a:r>
              <a:rPr lang="en-US" sz="4000" i="1">
                <a:solidFill>
                  <a:schemeClr val="hlink"/>
                </a:solidFill>
              </a:rPr>
              <a:t>Side Constraints</a:t>
            </a:r>
            <a:endParaRPr lang="en-US" sz="4000" i="1" dirty="0">
              <a:solidFill>
                <a:schemeClr val="hlink"/>
              </a:solidFill>
            </a:endParaRP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2286000"/>
            <a:ext cx="7772400" cy="763588"/>
          </a:xfrm>
          <a:noFill/>
          <a:ln/>
        </p:spPr>
        <p:txBody>
          <a:bodyPr lIns="92075" tIns="46038" rIns="92075" bIns="46038"/>
          <a:lstStyle/>
          <a:p>
            <a:pPr algn="ctr">
              <a:buFont typeface="Wingdings" pitchFamily="2" charset="2"/>
              <a:buNone/>
            </a:pPr>
            <a:r>
              <a:rPr lang="en-US" dirty="0"/>
              <a:t>See file </a:t>
            </a:r>
            <a:r>
              <a:rPr lang="en-US" dirty="0">
                <a:hlinkClick r:id="rId3" action="ppaction://hlinkfile"/>
              </a:rPr>
              <a:t>Fig6-32.xlsm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The Branch-And-Bound Algorithm</a:t>
            </a:r>
            <a:endParaRPr lang="en-US" sz="4000" i="1" dirty="0">
              <a:solidFill>
                <a:schemeClr val="hlink"/>
              </a:solidFill>
            </a:endParaRPr>
          </a:p>
        </p:txBody>
      </p:sp>
      <p:sp>
        <p:nvSpPr>
          <p:cNvPr id="50180" name="Rectangle 4"/>
          <p:cNvSpPr>
            <a:spLocks noChangeArrowheads="1"/>
          </p:cNvSpPr>
          <p:nvPr/>
        </p:nvSpPr>
        <p:spPr bwMode="auto">
          <a:xfrm>
            <a:off x="2209800" y="1752600"/>
            <a:ext cx="4953000" cy="2657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804863" indent="-804863" eaLnBrk="0" hangingPunct="0">
              <a:lnSpc>
                <a:spcPct val="150000"/>
              </a:lnSpc>
            </a:pPr>
            <a:r>
              <a:rPr lang="en-US" sz="2800">
                <a:latin typeface="Tahoma" pitchFamily="34" charset="0"/>
              </a:rPr>
              <a:t>MAX</a:t>
            </a:r>
            <a:r>
              <a:rPr lang="en-US" sz="2800" dirty="0">
                <a:latin typeface="Tahoma" pitchFamily="34" charset="0"/>
              </a:rPr>
              <a:t>:	  2X</a:t>
            </a:r>
            <a:r>
              <a:rPr lang="en-US" sz="2800" baseline="-25000" dirty="0">
                <a:latin typeface="Tahoma" pitchFamily="34" charset="0"/>
              </a:rPr>
              <a:t>1</a:t>
            </a:r>
            <a:r>
              <a:rPr lang="en-US" sz="2800" dirty="0">
                <a:latin typeface="Tahoma" pitchFamily="34" charset="0"/>
              </a:rPr>
              <a:t> + 3X</a:t>
            </a:r>
            <a:r>
              <a:rPr lang="en-US" sz="2800" baseline="-25000" dirty="0">
                <a:latin typeface="Tahoma" pitchFamily="34" charset="0"/>
              </a:rPr>
              <a:t>2</a:t>
            </a:r>
            <a:r>
              <a:rPr lang="en-US" sz="2800" dirty="0">
                <a:latin typeface="Tahoma" pitchFamily="34" charset="0"/>
              </a:rPr>
              <a:t> </a:t>
            </a:r>
          </a:p>
          <a:p>
            <a:pPr marL="804863" indent="-804863" eaLnBrk="0" hangingPunct="0">
              <a:lnSpc>
                <a:spcPct val="150000"/>
              </a:lnSpc>
            </a:pPr>
            <a:r>
              <a:rPr lang="en-US" sz="2800" dirty="0">
                <a:latin typeface="Tahoma" pitchFamily="34" charset="0"/>
              </a:rPr>
              <a:t>S.T.  	   X</a:t>
            </a:r>
            <a:r>
              <a:rPr lang="en-US" sz="2800" baseline="-25000" dirty="0">
                <a:latin typeface="Tahoma" pitchFamily="34" charset="0"/>
              </a:rPr>
              <a:t>1</a:t>
            </a:r>
            <a:r>
              <a:rPr lang="en-US" sz="2800" dirty="0">
                <a:latin typeface="Tahoma" pitchFamily="34" charset="0"/>
              </a:rPr>
              <a:t> + 3X</a:t>
            </a:r>
            <a:r>
              <a:rPr lang="en-US" sz="2800" baseline="-25000" dirty="0">
                <a:latin typeface="Tahoma" pitchFamily="34" charset="0"/>
              </a:rPr>
              <a:t>2</a:t>
            </a:r>
            <a:r>
              <a:rPr lang="en-US" sz="2800" dirty="0">
                <a:latin typeface="Tahoma" pitchFamily="34" charset="0"/>
              </a:rPr>
              <a:t> &lt;= 8.25</a:t>
            </a:r>
          </a:p>
          <a:p>
            <a:pPr marL="804863" indent="-804863" eaLnBrk="0" hangingPunct="0">
              <a:lnSpc>
                <a:spcPct val="150000"/>
              </a:lnSpc>
            </a:pPr>
            <a:r>
              <a:rPr lang="en-US" sz="2800" dirty="0">
                <a:latin typeface="Tahoma" pitchFamily="34" charset="0"/>
              </a:rPr>
              <a:t>		2.5X</a:t>
            </a:r>
            <a:r>
              <a:rPr lang="en-US" sz="2800" baseline="-25000" dirty="0">
                <a:latin typeface="Tahoma" pitchFamily="34" charset="0"/>
              </a:rPr>
              <a:t>1</a:t>
            </a:r>
            <a:r>
              <a:rPr lang="en-US" sz="2800" dirty="0">
                <a:latin typeface="Tahoma" pitchFamily="34" charset="0"/>
              </a:rPr>
              <a:t> + X</a:t>
            </a:r>
            <a:r>
              <a:rPr lang="en-US" sz="2800" baseline="-25000" dirty="0">
                <a:latin typeface="Tahoma" pitchFamily="34" charset="0"/>
              </a:rPr>
              <a:t>2</a:t>
            </a:r>
            <a:r>
              <a:rPr lang="en-US" sz="2800" dirty="0">
                <a:latin typeface="Tahoma" pitchFamily="34" charset="0"/>
              </a:rPr>
              <a:t> &lt;= 8.75</a:t>
            </a:r>
          </a:p>
          <a:p>
            <a:pPr marL="804863" indent="-804863" eaLnBrk="0" hangingPunct="0">
              <a:lnSpc>
                <a:spcPct val="150000"/>
              </a:lnSpc>
            </a:pPr>
            <a:r>
              <a:rPr lang="en-US" sz="2800" dirty="0">
                <a:latin typeface="Tahoma" pitchFamily="34" charset="0"/>
              </a:rPr>
              <a:t>	X</a:t>
            </a:r>
            <a:r>
              <a:rPr lang="en-US" sz="2800" baseline="-25000" dirty="0">
                <a:latin typeface="Tahoma" pitchFamily="34" charset="0"/>
              </a:rPr>
              <a:t>1</a:t>
            </a:r>
            <a:r>
              <a:rPr lang="en-US" sz="2800" dirty="0">
                <a:latin typeface="Tahoma" pitchFamily="34" charset="0"/>
              </a:rPr>
              <a:t>,</a:t>
            </a:r>
            <a:r>
              <a:rPr lang="en-US" sz="2800" baseline="-25000" dirty="0">
                <a:latin typeface="Tahoma" pitchFamily="34" charset="0"/>
              </a:rPr>
              <a:t> </a:t>
            </a:r>
            <a:r>
              <a:rPr lang="en-US" sz="2800" dirty="0">
                <a:latin typeface="Tahoma" pitchFamily="34" charset="0"/>
              </a:rPr>
              <a:t>X</a:t>
            </a:r>
            <a:r>
              <a:rPr lang="en-US" sz="2800" baseline="-25000" dirty="0">
                <a:latin typeface="Tahoma" pitchFamily="34" charset="0"/>
              </a:rPr>
              <a:t>2</a:t>
            </a:r>
            <a:r>
              <a:rPr lang="en-US" sz="2800" dirty="0">
                <a:latin typeface="Tahoma" pitchFamily="34" charset="0"/>
              </a:rPr>
              <a:t>  &gt;= </a:t>
            </a:r>
            <a:r>
              <a:rPr lang="en-US" sz="2800">
                <a:latin typeface="Tahoma" pitchFamily="34" charset="0"/>
              </a:rPr>
              <a:t>0 and </a:t>
            </a:r>
            <a:r>
              <a:rPr lang="en-US" sz="2800" dirty="0">
                <a:latin typeface="Tahoma" pitchFamily="34" charset="0"/>
              </a:rPr>
              <a:t>integer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304800"/>
            <a:ext cx="7772400" cy="685800"/>
          </a:xfrm>
        </p:spPr>
        <p:txBody>
          <a:bodyPr/>
          <a:lstStyle/>
          <a:p>
            <a:r>
              <a:rPr lang="en-US" sz="4000" i="1" dirty="0">
                <a:solidFill>
                  <a:schemeClr val="hlink"/>
                </a:solidFill>
              </a:rPr>
              <a:t>Solution to </a:t>
            </a:r>
            <a:r>
              <a:rPr lang="en-US" sz="4000" i="1">
                <a:solidFill>
                  <a:schemeClr val="hlink"/>
                </a:solidFill>
              </a:rPr>
              <a:t>LP Relaxation</a:t>
            </a:r>
            <a:endParaRPr lang="en-US" sz="4000" dirty="0">
              <a:solidFill>
                <a:schemeClr val="hlink"/>
              </a:solidFill>
            </a:endParaRPr>
          </a:p>
        </p:txBody>
      </p:sp>
      <p:grpSp>
        <p:nvGrpSpPr>
          <p:cNvPr id="57393" name="Group 49"/>
          <p:cNvGrpSpPr>
            <a:grpSpLocks/>
          </p:cNvGrpSpPr>
          <p:nvPr/>
        </p:nvGrpSpPr>
        <p:grpSpPr bwMode="auto">
          <a:xfrm>
            <a:off x="914400" y="495300"/>
            <a:ext cx="7467600" cy="5715000"/>
            <a:chOff x="576" y="336"/>
            <a:chExt cx="4704" cy="3600"/>
          </a:xfrm>
        </p:grpSpPr>
        <p:sp>
          <p:nvSpPr>
            <p:cNvPr id="57392" name="Freeform 48" descr="20%"/>
            <p:cNvSpPr>
              <a:spLocks/>
            </p:cNvSpPr>
            <p:nvPr/>
          </p:nvSpPr>
          <p:spPr bwMode="auto">
            <a:xfrm>
              <a:off x="912" y="1104"/>
              <a:ext cx="3168" cy="2400"/>
            </a:xfrm>
            <a:custGeom>
              <a:avLst/>
              <a:gdLst>
                <a:gd name="T0" fmla="*/ 0 w 3120"/>
                <a:gd name="T1" fmla="*/ 2400 h 2400"/>
                <a:gd name="T2" fmla="*/ 3120 w 3120"/>
                <a:gd name="T3" fmla="*/ 2400 h 2400"/>
                <a:gd name="T4" fmla="*/ 2304 w 3120"/>
                <a:gd name="T5" fmla="*/ 768 h 2400"/>
                <a:gd name="T6" fmla="*/ 0 w 3120"/>
                <a:gd name="T7" fmla="*/ 0 h 2400"/>
                <a:gd name="T8" fmla="*/ 0 w 3120"/>
                <a:gd name="T9" fmla="*/ 2400 h 2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20" h="2400">
                  <a:moveTo>
                    <a:pt x="0" y="2400"/>
                  </a:moveTo>
                  <a:lnTo>
                    <a:pt x="3120" y="2400"/>
                  </a:lnTo>
                  <a:lnTo>
                    <a:pt x="2304" y="768"/>
                  </a:lnTo>
                  <a:lnTo>
                    <a:pt x="0" y="0"/>
                  </a:lnTo>
                  <a:lnTo>
                    <a:pt x="0" y="2400"/>
                  </a:lnTo>
                  <a:close/>
                </a:path>
              </a:pathLst>
            </a:custGeom>
            <a:pattFill prst="pct20">
              <a:fgClr>
                <a:schemeClr val="hlink">
                  <a:alpha val="50000"/>
                </a:schemeClr>
              </a:fgClr>
              <a:bgClr>
                <a:schemeClr val="accent1">
                  <a:alpha val="50000"/>
                </a:schemeClr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47" name="Line 3"/>
            <p:cNvSpPr>
              <a:spLocks noChangeShapeType="1"/>
            </p:cNvSpPr>
            <p:nvPr/>
          </p:nvSpPr>
          <p:spPr bwMode="auto">
            <a:xfrm flipV="1">
              <a:off x="912" y="624"/>
              <a:ext cx="0" cy="29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48" name="Line 4"/>
            <p:cNvSpPr>
              <a:spLocks noChangeShapeType="1"/>
            </p:cNvSpPr>
            <p:nvPr/>
          </p:nvSpPr>
          <p:spPr bwMode="auto">
            <a:xfrm>
              <a:off x="816" y="3504"/>
              <a:ext cx="441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50" name="Line 6"/>
            <p:cNvSpPr>
              <a:spLocks noChangeShapeType="1"/>
            </p:cNvSpPr>
            <p:nvPr/>
          </p:nvSpPr>
          <p:spPr bwMode="auto">
            <a:xfrm>
              <a:off x="768" y="2592"/>
              <a:ext cx="1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51" name="Line 7"/>
            <p:cNvSpPr>
              <a:spLocks noChangeShapeType="1"/>
            </p:cNvSpPr>
            <p:nvPr/>
          </p:nvSpPr>
          <p:spPr bwMode="auto">
            <a:xfrm>
              <a:off x="768" y="1728"/>
              <a:ext cx="1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52" name="Line 8"/>
            <p:cNvSpPr>
              <a:spLocks noChangeShapeType="1"/>
            </p:cNvSpPr>
            <p:nvPr/>
          </p:nvSpPr>
          <p:spPr bwMode="auto">
            <a:xfrm>
              <a:off x="768" y="864"/>
              <a:ext cx="1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53" name="Text Box 9"/>
            <p:cNvSpPr txBox="1">
              <a:spLocks noChangeArrowheads="1"/>
            </p:cNvSpPr>
            <p:nvPr/>
          </p:nvSpPr>
          <p:spPr bwMode="auto">
            <a:xfrm>
              <a:off x="576" y="3369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0</a:t>
              </a:r>
            </a:p>
          </p:txBody>
        </p:sp>
        <p:sp>
          <p:nvSpPr>
            <p:cNvPr id="57354" name="Text Box 10"/>
            <p:cNvSpPr txBox="1">
              <a:spLocks noChangeArrowheads="1"/>
            </p:cNvSpPr>
            <p:nvPr/>
          </p:nvSpPr>
          <p:spPr bwMode="auto">
            <a:xfrm>
              <a:off x="576" y="2457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57355" name="Text Box 11"/>
            <p:cNvSpPr txBox="1">
              <a:spLocks noChangeArrowheads="1"/>
            </p:cNvSpPr>
            <p:nvPr/>
          </p:nvSpPr>
          <p:spPr bwMode="auto">
            <a:xfrm>
              <a:off x="576" y="1584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2</a:t>
              </a:r>
            </a:p>
          </p:txBody>
        </p:sp>
        <p:sp>
          <p:nvSpPr>
            <p:cNvPr id="57356" name="Text Box 12"/>
            <p:cNvSpPr txBox="1">
              <a:spLocks noChangeArrowheads="1"/>
            </p:cNvSpPr>
            <p:nvPr/>
          </p:nvSpPr>
          <p:spPr bwMode="auto">
            <a:xfrm>
              <a:off x="576" y="720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3</a:t>
              </a:r>
            </a:p>
          </p:txBody>
        </p:sp>
        <p:sp>
          <p:nvSpPr>
            <p:cNvPr id="57357" name="Line 13"/>
            <p:cNvSpPr>
              <a:spLocks noChangeShapeType="1"/>
            </p:cNvSpPr>
            <p:nvPr/>
          </p:nvSpPr>
          <p:spPr bwMode="auto">
            <a:xfrm>
              <a:off x="1776" y="3504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58" name="Line 14"/>
            <p:cNvSpPr>
              <a:spLocks noChangeShapeType="1"/>
            </p:cNvSpPr>
            <p:nvPr/>
          </p:nvSpPr>
          <p:spPr bwMode="auto">
            <a:xfrm>
              <a:off x="2640" y="3504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59" name="Line 15"/>
            <p:cNvSpPr>
              <a:spLocks noChangeShapeType="1"/>
            </p:cNvSpPr>
            <p:nvPr/>
          </p:nvSpPr>
          <p:spPr bwMode="auto">
            <a:xfrm>
              <a:off x="3504" y="3504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60" name="Line 16"/>
            <p:cNvSpPr>
              <a:spLocks noChangeShapeType="1"/>
            </p:cNvSpPr>
            <p:nvPr/>
          </p:nvSpPr>
          <p:spPr bwMode="auto">
            <a:xfrm>
              <a:off x="4368" y="3504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61" name="Text Box 17"/>
            <p:cNvSpPr txBox="1">
              <a:spLocks noChangeArrowheads="1"/>
            </p:cNvSpPr>
            <p:nvPr/>
          </p:nvSpPr>
          <p:spPr bwMode="auto">
            <a:xfrm>
              <a:off x="816" y="3609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0</a:t>
              </a:r>
            </a:p>
          </p:txBody>
        </p:sp>
        <p:sp>
          <p:nvSpPr>
            <p:cNvPr id="57362" name="Text Box 18"/>
            <p:cNvSpPr txBox="1">
              <a:spLocks noChangeArrowheads="1"/>
            </p:cNvSpPr>
            <p:nvPr/>
          </p:nvSpPr>
          <p:spPr bwMode="auto">
            <a:xfrm>
              <a:off x="1680" y="3657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57363" name="Text Box 19"/>
            <p:cNvSpPr txBox="1">
              <a:spLocks noChangeArrowheads="1"/>
            </p:cNvSpPr>
            <p:nvPr/>
          </p:nvSpPr>
          <p:spPr bwMode="auto">
            <a:xfrm>
              <a:off x="2544" y="3657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2</a:t>
              </a:r>
            </a:p>
          </p:txBody>
        </p:sp>
        <p:sp>
          <p:nvSpPr>
            <p:cNvPr id="57364" name="Text Box 20"/>
            <p:cNvSpPr txBox="1">
              <a:spLocks noChangeArrowheads="1"/>
            </p:cNvSpPr>
            <p:nvPr/>
          </p:nvSpPr>
          <p:spPr bwMode="auto">
            <a:xfrm>
              <a:off x="3408" y="3648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3</a:t>
              </a:r>
            </a:p>
          </p:txBody>
        </p:sp>
        <p:sp>
          <p:nvSpPr>
            <p:cNvPr id="57365" name="Text Box 21"/>
            <p:cNvSpPr txBox="1">
              <a:spLocks noChangeArrowheads="1"/>
            </p:cNvSpPr>
            <p:nvPr/>
          </p:nvSpPr>
          <p:spPr bwMode="auto">
            <a:xfrm>
              <a:off x="4272" y="3648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4</a:t>
              </a:r>
            </a:p>
          </p:txBody>
        </p:sp>
        <p:sp>
          <p:nvSpPr>
            <p:cNvPr id="57366" name="Text Box 22"/>
            <p:cNvSpPr txBox="1">
              <a:spLocks noChangeArrowheads="1"/>
            </p:cNvSpPr>
            <p:nvPr/>
          </p:nvSpPr>
          <p:spPr bwMode="auto">
            <a:xfrm>
              <a:off x="4944" y="3648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400"/>
                <a:t>X</a:t>
              </a:r>
              <a:r>
                <a:rPr lang="en-US" sz="2400" baseline="-25000"/>
                <a:t>1</a:t>
              </a:r>
              <a:endParaRPr lang="en-US" sz="2400"/>
            </a:p>
          </p:txBody>
        </p:sp>
        <p:sp>
          <p:nvSpPr>
            <p:cNvPr id="57367" name="Text Box 23"/>
            <p:cNvSpPr txBox="1">
              <a:spLocks noChangeArrowheads="1"/>
            </p:cNvSpPr>
            <p:nvPr/>
          </p:nvSpPr>
          <p:spPr bwMode="auto">
            <a:xfrm>
              <a:off x="576" y="336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400"/>
                <a:t>X</a:t>
              </a:r>
              <a:r>
                <a:rPr lang="en-US" sz="2400" baseline="-25000"/>
                <a:t>2</a:t>
              </a:r>
              <a:endParaRPr lang="en-US" sz="2400"/>
            </a:p>
          </p:txBody>
        </p:sp>
        <p:sp>
          <p:nvSpPr>
            <p:cNvPr id="57368" name="Line 24"/>
            <p:cNvSpPr>
              <a:spLocks noChangeShapeType="1"/>
            </p:cNvSpPr>
            <p:nvPr/>
          </p:nvSpPr>
          <p:spPr bwMode="auto">
            <a:xfrm>
              <a:off x="912" y="1104"/>
              <a:ext cx="2352" cy="7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69" name="Line 25"/>
            <p:cNvSpPr>
              <a:spLocks noChangeShapeType="1"/>
            </p:cNvSpPr>
            <p:nvPr/>
          </p:nvSpPr>
          <p:spPr bwMode="auto">
            <a:xfrm>
              <a:off x="3264" y="1872"/>
              <a:ext cx="816" cy="16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70" name="Oval 26"/>
            <p:cNvSpPr>
              <a:spLocks noChangeArrowheads="1"/>
            </p:cNvSpPr>
            <p:nvPr/>
          </p:nvSpPr>
          <p:spPr bwMode="auto">
            <a:xfrm>
              <a:off x="1776" y="1728"/>
              <a:ext cx="48" cy="48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71" name="Oval 27"/>
            <p:cNvSpPr>
              <a:spLocks noChangeArrowheads="1"/>
            </p:cNvSpPr>
            <p:nvPr/>
          </p:nvSpPr>
          <p:spPr bwMode="auto">
            <a:xfrm>
              <a:off x="2592" y="1728"/>
              <a:ext cx="48" cy="48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72" name="Oval 28"/>
            <p:cNvSpPr>
              <a:spLocks noChangeArrowheads="1"/>
            </p:cNvSpPr>
            <p:nvPr/>
          </p:nvSpPr>
          <p:spPr bwMode="auto">
            <a:xfrm>
              <a:off x="1776" y="2544"/>
              <a:ext cx="48" cy="48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73" name="Oval 29"/>
            <p:cNvSpPr>
              <a:spLocks noChangeArrowheads="1"/>
            </p:cNvSpPr>
            <p:nvPr/>
          </p:nvSpPr>
          <p:spPr bwMode="auto">
            <a:xfrm>
              <a:off x="2592" y="2544"/>
              <a:ext cx="48" cy="48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74" name="Oval 30"/>
            <p:cNvSpPr>
              <a:spLocks noChangeArrowheads="1"/>
            </p:cNvSpPr>
            <p:nvPr/>
          </p:nvSpPr>
          <p:spPr bwMode="auto">
            <a:xfrm>
              <a:off x="3456" y="2544"/>
              <a:ext cx="48" cy="48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75" name="Text Box 31"/>
            <p:cNvSpPr txBox="1">
              <a:spLocks noChangeArrowheads="1"/>
            </p:cNvSpPr>
            <p:nvPr/>
          </p:nvSpPr>
          <p:spPr bwMode="auto">
            <a:xfrm>
              <a:off x="1776" y="720"/>
              <a:ext cx="25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000"/>
                <a:t>Feasible </a:t>
              </a:r>
              <a:r>
                <a:rPr lang="en-US" sz="2000" dirty="0"/>
                <a:t>Integer Solutions</a:t>
              </a:r>
            </a:p>
          </p:txBody>
        </p:sp>
        <p:sp>
          <p:nvSpPr>
            <p:cNvPr id="57378" name="Line 34"/>
            <p:cNvSpPr>
              <a:spLocks noChangeShapeType="1"/>
            </p:cNvSpPr>
            <p:nvPr/>
          </p:nvSpPr>
          <p:spPr bwMode="auto">
            <a:xfrm flipH="1">
              <a:off x="960" y="1056"/>
              <a:ext cx="1824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79" name="Line 35"/>
            <p:cNvSpPr>
              <a:spLocks noChangeShapeType="1"/>
            </p:cNvSpPr>
            <p:nvPr/>
          </p:nvSpPr>
          <p:spPr bwMode="auto">
            <a:xfrm flipH="1">
              <a:off x="912" y="1056"/>
              <a:ext cx="1872" cy="15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80" name="Line 36"/>
            <p:cNvSpPr>
              <a:spLocks noChangeShapeType="1"/>
            </p:cNvSpPr>
            <p:nvPr/>
          </p:nvSpPr>
          <p:spPr bwMode="auto">
            <a:xfrm flipH="1">
              <a:off x="1872" y="1056"/>
              <a:ext cx="912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81" name="Line 37"/>
            <p:cNvSpPr>
              <a:spLocks noChangeShapeType="1"/>
            </p:cNvSpPr>
            <p:nvPr/>
          </p:nvSpPr>
          <p:spPr bwMode="auto">
            <a:xfrm flipH="1">
              <a:off x="2640" y="1056"/>
              <a:ext cx="144" cy="6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82" name="Line 38"/>
            <p:cNvSpPr>
              <a:spLocks noChangeShapeType="1"/>
            </p:cNvSpPr>
            <p:nvPr/>
          </p:nvSpPr>
          <p:spPr bwMode="auto">
            <a:xfrm flipH="1">
              <a:off x="1824" y="1056"/>
              <a:ext cx="960" cy="13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83" name="Line 39"/>
            <p:cNvSpPr>
              <a:spLocks noChangeShapeType="1"/>
            </p:cNvSpPr>
            <p:nvPr/>
          </p:nvSpPr>
          <p:spPr bwMode="auto">
            <a:xfrm flipH="1">
              <a:off x="960" y="1056"/>
              <a:ext cx="1824" cy="2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84" name="Line 40"/>
            <p:cNvSpPr>
              <a:spLocks noChangeShapeType="1"/>
            </p:cNvSpPr>
            <p:nvPr/>
          </p:nvSpPr>
          <p:spPr bwMode="auto">
            <a:xfrm flipH="1">
              <a:off x="1776" y="1056"/>
              <a:ext cx="1008" cy="23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85" name="Line 41"/>
            <p:cNvSpPr>
              <a:spLocks noChangeShapeType="1"/>
            </p:cNvSpPr>
            <p:nvPr/>
          </p:nvSpPr>
          <p:spPr bwMode="auto">
            <a:xfrm flipH="1">
              <a:off x="2640" y="1056"/>
              <a:ext cx="144" cy="13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86" name="Line 42"/>
            <p:cNvSpPr>
              <a:spLocks noChangeShapeType="1"/>
            </p:cNvSpPr>
            <p:nvPr/>
          </p:nvSpPr>
          <p:spPr bwMode="auto">
            <a:xfrm>
              <a:off x="2784" y="1056"/>
              <a:ext cx="624" cy="13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87" name="Line 43"/>
            <p:cNvSpPr>
              <a:spLocks noChangeShapeType="1"/>
            </p:cNvSpPr>
            <p:nvPr/>
          </p:nvSpPr>
          <p:spPr bwMode="auto">
            <a:xfrm>
              <a:off x="2784" y="1056"/>
              <a:ext cx="720" cy="2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88" name="Line 44"/>
            <p:cNvSpPr>
              <a:spLocks noChangeShapeType="1"/>
            </p:cNvSpPr>
            <p:nvPr/>
          </p:nvSpPr>
          <p:spPr bwMode="auto">
            <a:xfrm flipH="1">
              <a:off x="2640" y="1056"/>
              <a:ext cx="144" cy="24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90" name="Line 46"/>
            <p:cNvSpPr>
              <a:spLocks noChangeShapeType="1"/>
            </p:cNvSpPr>
            <p:nvPr/>
          </p:nvSpPr>
          <p:spPr bwMode="auto">
            <a:xfrm flipH="1">
              <a:off x="3264" y="1488"/>
              <a:ext cx="384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7391" name="Text Box 47"/>
          <p:cNvSpPr txBox="1">
            <a:spLocks noChangeArrowheads="1"/>
          </p:cNvSpPr>
          <p:nvPr/>
        </p:nvSpPr>
        <p:spPr bwMode="auto">
          <a:xfrm>
            <a:off x="5791200" y="2073275"/>
            <a:ext cx="3124200" cy="944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70000"/>
              </a:lnSpc>
              <a:spcBef>
                <a:spcPct val="50000"/>
              </a:spcBef>
            </a:pPr>
            <a:r>
              <a:rPr lang="en-US"/>
              <a:t>Optimal Relaxed </a:t>
            </a:r>
            <a:r>
              <a:rPr lang="en-US" dirty="0"/>
              <a:t>Solution</a:t>
            </a:r>
          </a:p>
          <a:p>
            <a:pPr eaLnBrk="0" hangingPunct="0">
              <a:lnSpc>
                <a:spcPct val="70000"/>
              </a:lnSpc>
              <a:spcBef>
                <a:spcPct val="50000"/>
              </a:spcBef>
            </a:pPr>
            <a:r>
              <a:rPr lang="en-US" dirty="0"/>
              <a:t>X</a:t>
            </a:r>
            <a:r>
              <a:rPr lang="en-US" baseline="-25000" dirty="0"/>
              <a:t>1</a:t>
            </a:r>
            <a:r>
              <a:rPr lang="en-US" dirty="0"/>
              <a:t> = 2.769, X</a:t>
            </a:r>
            <a:r>
              <a:rPr lang="en-US" baseline="-25000" dirty="0"/>
              <a:t>2</a:t>
            </a:r>
            <a:r>
              <a:rPr lang="en-US" dirty="0"/>
              <a:t>=1.826 </a:t>
            </a:r>
          </a:p>
          <a:p>
            <a:pPr eaLnBrk="0" hangingPunct="0">
              <a:lnSpc>
                <a:spcPct val="70000"/>
              </a:lnSpc>
              <a:spcBef>
                <a:spcPct val="50000"/>
              </a:spcBef>
            </a:pPr>
            <a:r>
              <a:rPr lang="en-US" dirty="0" err="1"/>
              <a:t>Obj</a:t>
            </a:r>
            <a:r>
              <a:rPr lang="en-US" dirty="0"/>
              <a:t> = 11.019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8229600" cy="1219200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The Branch-And-Bound Algorithm</a:t>
            </a:r>
            <a:endParaRPr lang="en-US" sz="4000" i="1" dirty="0">
              <a:solidFill>
                <a:schemeClr val="hlink"/>
              </a:solidFill>
            </a:endParaRPr>
          </a:p>
        </p:txBody>
      </p:sp>
      <p:sp>
        <p:nvSpPr>
          <p:cNvPr id="59395" name="Rectangle 3"/>
          <p:cNvSpPr>
            <a:spLocks noChangeArrowheads="1"/>
          </p:cNvSpPr>
          <p:nvPr/>
        </p:nvSpPr>
        <p:spPr bwMode="auto">
          <a:xfrm>
            <a:off x="3657600" y="1371600"/>
            <a:ext cx="3581400" cy="215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804863" indent="-804863" eaLnBrk="0" hangingPunct="0">
              <a:lnSpc>
                <a:spcPct val="150000"/>
              </a:lnSpc>
            </a:pPr>
            <a:r>
              <a:rPr lang="en-US">
                <a:latin typeface="Tahoma" pitchFamily="34" charset="0"/>
              </a:rPr>
              <a:t>MAX</a:t>
            </a:r>
            <a:r>
              <a:rPr lang="en-US" dirty="0">
                <a:latin typeface="Tahoma" pitchFamily="34" charset="0"/>
              </a:rPr>
              <a:t>:	2X</a:t>
            </a:r>
            <a:r>
              <a:rPr lang="en-US" baseline="-25000" dirty="0">
                <a:latin typeface="Tahoma" pitchFamily="34" charset="0"/>
              </a:rPr>
              <a:t>1</a:t>
            </a:r>
            <a:r>
              <a:rPr lang="en-US" dirty="0">
                <a:latin typeface="Tahoma" pitchFamily="34" charset="0"/>
              </a:rPr>
              <a:t> + 3X</a:t>
            </a:r>
            <a:r>
              <a:rPr lang="en-US" baseline="-25000" dirty="0">
                <a:latin typeface="Tahoma" pitchFamily="34" charset="0"/>
              </a:rPr>
              <a:t>2</a:t>
            </a:r>
            <a:r>
              <a:rPr lang="en-US" dirty="0">
                <a:latin typeface="Tahoma" pitchFamily="34" charset="0"/>
              </a:rPr>
              <a:t> </a:t>
            </a:r>
          </a:p>
          <a:p>
            <a:pPr marL="804863" indent="-804863" eaLnBrk="0" hangingPunct="0">
              <a:lnSpc>
                <a:spcPct val="150000"/>
              </a:lnSpc>
            </a:pPr>
            <a:r>
              <a:rPr lang="en-US" dirty="0">
                <a:latin typeface="Tahoma" pitchFamily="34" charset="0"/>
              </a:rPr>
              <a:t>S.T.  	X</a:t>
            </a:r>
            <a:r>
              <a:rPr lang="en-US" baseline="-25000" dirty="0">
                <a:latin typeface="Tahoma" pitchFamily="34" charset="0"/>
              </a:rPr>
              <a:t>1</a:t>
            </a:r>
            <a:r>
              <a:rPr lang="en-US" dirty="0">
                <a:latin typeface="Tahoma" pitchFamily="34" charset="0"/>
              </a:rPr>
              <a:t> + 3X</a:t>
            </a:r>
            <a:r>
              <a:rPr lang="en-US" baseline="-25000" dirty="0">
                <a:latin typeface="Tahoma" pitchFamily="34" charset="0"/>
              </a:rPr>
              <a:t>2</a:t>
            </a:r>
            <a:r>
              <a:rPr lang="en-US" dirty="0">
                <a:latin typeface="Tahoma" pitchFamily="34" charset="0"/>
              </a:rPr>
              <a:t> &lt;= 8.25</a:t>
            </a:r>
          </a:p>
          <a:p>
            <a:pPr marL="804863" indent="-804863" eaLnBrk="0" hangingPunct="0">
              <a:lnSpc>
                <a:spcPct val="150000"/>
              </a:lnSpc>
            </a:pPr>
            <a:r>
              <a:rPr lang="en-US" dirty="0">
                <a:latin typeface="Tahoma" pitchFamily="34" charset="0"/>
              </a:rPr>
              <a:t>	2.5X</a:t>
            </a:r>
            <a:r>
              <a:rPr lang="en-US" baseline="-25000" dirty="0">
                <a:latin typeface="Tahoma" pitchFamily="34" charset="0"/>
              </a:rPr>
              <a:t>1</a:t>
            </a:r>
            <a:r>
              <a:rPr lang="en-US" dirty="0">
                <a:latin typeface="Tahoma" pitchFamily="34" charset="0"/>
              </a:rPr>
              <a:t> + X</a:t>
            </a:r>
            <a:r>
              <a:rPr lang="en-US" baseline="-25000" dirty="0">
                <a:latin typeface="Tahoma" pitchFamily="34" charset="0"/>
              </a:rPr>
              <a:t>2</a:t>
            </a:r>
            <a:r>
              <a:rPr lang="en-US" dirty="0">
                <a:latin typeface="Tahoma" pitchFamily="34" charset="0"/>
              </a:rPr>
              <a:t> &lt;= 8.75</a:t>
            </a:r>
          </a:p>
          <a:p>
            <a:pPr marL="804863" indent="-804863" eaLnBrk="0" hangingPunct="0">
              <a:lnSpc>
                <a:spcPct val="150000"/>
              </a:lnSpc>
            </a:pPr>
            <a:r>
              <a:rPr lang="en-US" dirty="0">
                <a:latin typeface="Tahoma" pitchFamily="34" charset="0"/>
              </a:rPr>
              <a:t>	X</a:t>
            </a:r>
            <a:r>
              <a:rPr lang="en-US" baseline="-25000" dirty="0">
                <a:latin typeface="Tahoma" pitchFamily="34" charset="0"/>
              </a:rPr>
              <a:t>1</a:t>
            </a:r>
            <a:r>
              <a:rPr lang="en-US" dirty="0">
                <a:latin typeface="Tahoma" pitchFamily="34" charset="0"/>
              </a:rPr>
              <a:t> &lt;= 2</a:t>
            </a:r>
          </a:p>
          <a:p>
            <a:pPr marL="804863" indent="-804863" eaLnBrk="0" hangingPunct="0">
              <a:lnSpc>
                <a:spcPct val="150000"/>
              </a:lnSpc>
            </a:pPr>
            <a:r>
              <a:rPr lang="en-US" dirty="0">
                <a:latin typeface="Tahoma" pitchFamily="34" charset="0"/>
              </a:rPr>
              <a:t>	X</a:t>
            </a:r>
            <a:r>
              <a:rPr lang="en-US" baseline="-25000" dirty="0">
                <a:latin typeface="Tahoma" pitchFamily="34" charset="0"/>
              </a:rPr>
              <a:t>1</a:t>
            </a:r>
            <a:r>
              <a:rPr lang="en-US" dirty="0">
                <a:latin typeface="Tahoma" pitchFamily="34" charset="0"/>
              </a:rPr>
              <a:t>,</a:t>
            </a:r>
            <a:r>
              <a:rPr lang="en-US" baseline="-25000" dirty="0">
                <a:latin typeface="Tahoma" pitchFamily="34" charset="0"/>
              </a:rPr>
              <a:t> </a:t>
            </a:r>
            <a:r>
              <a:rPr lang="en-US" dirty="0">
                <a:latin typeface="Tahoma" pitchFamily="34" charset="0"/>
              </a:rPr>
              <a:t>X</a:t>
            </a:r>
            <a:r>
              <a:rPr lang="en-US" baseline="-25000" dirty="0">
                <a:latin typeface="Tahoma" pitchFamily="34" charset="0"/>
              </a:rPr>
              <a:t>2</a:t>
            </a:r>
            <a:r>
              <a:rPr lang="en-US" dirty="0">
                <a:latin typeface="Tahoma" pitchFamily="34" charset="0"/>
              </a:rPr>
              <a:t>  &gt;= </a:t>
            </a:r>
            <a:r>
              <a:rPr lang="en-US">
                <a:latin typeface="Tahoma" pitchFamily="34" charset="0"/>
              </a:rPr>
              <a:t>0 and </a:t>
            </a:r>
            <a:r>
              <a:rPr lang="en-US" dirty="0">
                <a:latin typeface="Tahoma" pitchFamily="34" charset="0"/>
              </a:rPr>
              <a:t>integer</a:t>
            </a:r>
          </a:p>
        </p:txBody>
      </p:sp>
      <p:sp>
        <p:nvSpPr>
          <p:cNvPr id="59396" name="Text Box 4"/>
          <p:cNvSpPr txBox="1">
            <a:spLocks noChangeArrowheads="1"/>
          </p:cNvSpPr>
          <p:nvPr/>
        </p:nvSpPr>
        <p:spPr bwMode="auto">
          <a:xfrm>
            <a:off x="2209800" y="1401763"/>
            <a:ext cx="160020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200">
                <a:latin typeface="Tahoma" pitchFamily="34" charset="0"/>
              </a:rPr>
              <a:t>Problem I</a:t>
            </a:r>
          </a:p>
        </p:txBody>
      </p:sp>
      <p:sp>
        <p:nvSpPr>
          <p:cNvPr id="59397" name="Rectangle 5"/>
          <p:cNvSpPr>
            <a:spLocks noChangeArrowheads="1"/>
          </p:cNvSpPr>
          <p:nvPr/>
        </p:nvSpPr>
        <p:spPr bwMode="auto">
          <a:xfrm>
            <a:off x="3581400" y="3733800"/>
            <a:ext cx="3581400" cy="215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804863" indent="-804863" eaLnBrk="0" hangingPunct="0">
              <a:lnSpc>
                <a:spcPct val="150000"/>
              </a:lnSpc>
            </a:pPr>
            <a:r>
              <a:rPr lang="en-US">
                <a:latin typeface="Tahoma" pitchFamily="34" charset="0"/>
              </a:rPr>
              <a:t>MAX</a:t>
            </a:r>
            <a:r>
              <a:rPr lang="en-US" dirty="0">
                <a:latin typeface="Tahoma" pitchFamily="34" charset="0"/>
              </a:rPr>
              <a:t>:	2X</a:t>
            </a:r>
            <a:r>
              <a:rPr lang="en-US" baseline="-25000" dirty="0">
                <a:latin typeface="Tahoma" pitchFamily="34" charset="0"/>
              </a:rPr>
              <a:t>1</a:t>
            </a:r>
            <a:r>
              <a:rPr lang="en-US" dirty="0">
                <a:latin typeface="Tahoma" pitchFamily="34" charset="0"/>
              </a:rPr>
              <a:t> + 3X</a:t>
            </a:r>
            <a:r>
              <a:rPr lang="en-US" baseline="-25000" dirty="0">
                <a:latin typeface="Tahoma" pitchFamily="34" charset="0"/>
              </a:rPr>
              <a:t>2</a:t>
            </a:r>
            <a:r>
              <a:rPr lang="en-US" dirty="0">
                <a:latin typeface="Tahoma" pitchFamily="34" charset="0"/>
              </a:rPr>
              <a:t> </a:t>
            </a:r>
          </a:p>
          <a:p>
            <a:pPr marL="804863" indent="-804863" eaLnBrk="0" hangingPunct="0">
              <a:lnSpc>
                <a:spcPct val="150000"/>
              </a:lnSpc>
            </a:pPr>
            <a:r>
              <a:rPr lang="en-US" dirty="0">
                <a:latin typeface="Tahoma" pitchFamily="34" charset="0"/>
              </a:rPr>
              <a:t>S.T.  	X</a:t>
            </a:r>
            <a:r>
              <a:rPr lang="en-US" baseline="-25000" dirty="0">
                <a:latin typeface="Tahoma" pitchFamily="34" charset="0"/>
              </a:rPr>
              <a:t>1</a:t>
            </a:r>
            <a:r>
              <a:rPr lang="en-US" dirty="0">
                <a:latin typeface="Tahoma" pitchFamily="34" charset="0"/>
              </a:rPr>
              <a:t> + 3X</a:t>
            </a:r>
            <a:r>
              <a:rPr lang="en-US" baseline="-25000" dirty="0">
                <a:latin typeface="Tahoma" pitchFamily="34" charset="0"/>
              </a:rPr>
              <a:t>2</a:t>
            </a:r>
            <a:r>
              <a:rPr lang="en-US" dirty="0">
                <a:latin typeface="Tahoma" pitchFamily="34" charset="0"/>
              </a:rPr>
              <a:t> &lt;= 8.25</a:t>
            </a:r>
          </a:p>
          <a:p>
            <a:pPr marL="804863" indent="-804863" eaLnBrk="0" hangingPunct="0">
              <a:lnSpc>
                <a:spcPct val="150000"/>
              </a:lnSpc>
            </a:pPr>
            <a:r>
              <a:rPr lang="en-US" dirty="0">
                <a:latin typeface="Tahoma" pitchFamily="34" charset="0"/>
              </a:rPr>
              <a:t>	2.5X</a:t>
            </a:r>
            <a:r>
              <a:rPr lang="en-US" baseline="-25000" dirty="0">
                <a:latin typeface="Tahoma" pitchFamily="34" charset="0"/>
              </a:rPr>
              <a:t>1</a:t>
            </a:r>
            <a:r>
              <a:rPr lang="en-US" dirty="0">
                <a:latin typeface="Tahoma" pitchFamily="34" charset="0"/>
              </a:rPr>
              <a:t> + X</a:t>
            </a:r>
            <a:r>
              <a:rPr lang="en-US" baseline="-25000" dirty="0">
                <a:latin typeface="Tahoma" pitchFamily="34" charset="0"/>
              </a:rPr>
              <a:t>2</a:t>
            </a:r>
            <a:r>
              <a:rPr lang="en-US" dirty="0">
                <a:latin typeface="Tahoma" pitchFamily="34" charset="0"/>
              </a:rPr>
              <a:t> &lt;= 8.75</a:t>
            </a:r>
          </a:p>
          <a:p>
            <a:pPr marL="804863" indent="-804863" eaLnBrk="0" hangingPunct="0">
              <a:lnSpc>
                <a:spcPct val="150000"/>
              </a:lnSpc>
            </a:pPr>
            <a:r>
              <a:rPr lang="en-US" dirty="0">
                <a:latin typeface="Tahoma" pitchFamily="34" charset="0"/>
              </a:rPr>
              <a:t>	X</a:t>
            </a:r>
            <a:r>
              <a:rPr lang="en-US" baseline="-25000" dirty="0">
                <a:latin typeface="Tahoma" pitchFamily="34" charset="0"/>
              </a:rPr>
              <a:t>1</a:t>
            </a:r>
            <a:r>
              <a:rPr lang="en-US" dirty="0">
                <a:latin typeface="Tahoma" pitchFamily="34" charset="0"/>
              </a:rPr>
              <a:t> &gt;= 3</a:t>
            </a:r>
          </a:p>
          <a:p>
            <a:pPr marL="804863" indent="-804863" eaLnBrk="0" hangingPunct="0">
              <a:lnSpc>
                <a:spcPct val="150000"/>
              </a:lnSpc>
            </a:pPr>
            <a:r>
              <a:rPr lang="en-US" dirty="0">
                <a:latin typeface="Tahoma" pitchFamily="34" charset="0"/>
              </a:rPr>
              <a:t>	X</a:t>
            </a:r>
            <a:r>
              <a:rPr lang="en-US" baseline="-25000" dirty="0">
                <a:latin typeface="Tahoma" pitchFamily="34" charset="0"/>
              </a:rPr>
              <a:t>1</a:t>
            </a:r>
            <a:r>
              <a:rPr lang="en-US" dirty="0">
                <a:latin typeface="Tahoma" pitchFamily="34" charset="0"/>
              </a:rPr>
              <a:t>,</a:t>
            </a:r>
            <a:r>
              <a:rPr lang="en-US" baseline="-25000" dirty="0">
                <a:latin typeface="Tahoma" pitchFamily="34" charset="0"/>
              </a:rPr>
              <a:t> </a:t>
            </a:r>
            <a:r>
              <a:rPr lang="en-US" dirty="0">
                <a:latin typeface="Tahoma" pitchFamily="34" charset="0"/>
              </a:rPr>
              <a:t>X</a:t>
            </a:r>
            <a:r>
              <a:rPr lang="en-US" baseline="-25000" dirty="0">
                <a:latin typeface="Tahoma" pitchFamily="34" charset="0"/>
              </a:rPr>
              <a:t>2</a:t>
            </a:r>
            <a:r>
              <a:rPr lang="en-US" dirty="0">
                <a:latin typeface="Tahoma" pitchFamily="34" charset="0"/>
              </a:rPr>
              <a:t>  &gt;= </a:t>
            </a:r>
            <a:r>
              <a:rPr lang="en-US">
                <a:latin typeface="Tahoma" pitchFamily="34" charset="0"/>
              </a:rPr>
              <a:t>0 and </a:t>
            </a:r>
            <a:r>
              <a:rPr lang="en-US" dirty="0">
                <a:latin typeface="Tahoma" pitchFamily="34" charset="0"/>
              </a:rPr>
              <a:t>integer</a:t>
            </a:r>
          </a:p>
        </p:txBody>
      </p:sp>
      <p:sp>
        <p:nvSpPr>
          <p:cNvPr id="59398" name="Text Box 6"/>
          <p:cNvSpPr txBox="1">
            <a:spLocks noChangeArrowheads="1"/>
          </p:cNvSpPr>
          <p:nvPr/>
        </p:nvSpPr>
        <p:spPr bwMode="auto">
          <a:xfrm>
            <a:off x="2133600" y="3810000"/>
            <a:ext cx="16002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200">
                <a:latin typeface="Tahoma" pitchFamily="34" charset="0"/>
              </a:rPr>
              <a:t>Problem II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3"/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7772400" cy="685800"/>
          </a:xfrm>
        </p:spPr>
        <p:txBody>
          <a:bodyPr/>
          <a:lstStyle/>
          <a:p>
            <a:r>
              <a:rPr lang="en-US" sz="4000" i="1" dirty="0">
                <a:solidFill>
                  <a:schemeClr val="hlink"/>
                </a:solidFill>
              </a:rPr>
              <a:t>Solution to </a:t>
            </a:r>
            <a:r>
              <a:rPr lang="en-US" sz="4000" i="1">
                <a:solidFill>
                  <a:schemeClr val="hlink"/>
                </a:solidFill>
              </a:rPr>
              <a:t>LP Relaxation</a:t>
            </a:r>
            <a:endParaRPr lang="en-US" sz="4000" dirty="0">
              <a:solidFill>
                <a:schemeClr val="hlink"/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914400" y="533400"/>
            <a:ext cx="7467600" cy="5715000"/>
            <a:chOff x="914400" y="762000"/>
            <a:chExt cx="7467600" cy="5715000"/>
          </a:xfrm>
        </p:grpSpPr>
        <p:sp>
          <p:nvSpPr>
            <p:cNvPr id="58418" name="Freeform 50" descr="20%"/>
            <p:cNvSpPr>
              <a:spLocks/>
            </p:cNvSpPr>
            <p:nvPr/>
          </p:nvSpPr>
          <p:spPr bwMode="auto">
            <a:xfrm>
              <a:off x="5562600" y="3962400"/>
              <a:ext cx="914400" cy="1828800"/>
            </a:xfrm>
            <a:custGeom>
              <a:avLst/>
              <a:gdLst>
                <a:gd name="T0" fmla="*/ 0 w 576"/>
                <a:gd name="T1" fmla="*/ 1152 h 1152"/>
                <a:gd name="T2" fmla="*/ 576 w 576"/>
                <a:gd name="T3" fmla="*/ 1152 h 1152"/>
                <a:gd name="T4" fmla="*/ 0 w 576"/>
                <a:gd name="T5" fmla="*/ 0 h 1152"/>
                <a:gd name="T6" fmla="*/ 0 w 576"/>
                <a:gd name="T7" fmla="*/ 1152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76" h="1152">
                  <a:moveTo>
                    <a:pt x="0" y="1152"/>
                  </a:moveTo>
                  <a:lnTo>
                    <a:pt x="576" y="1152"/>
                  </a:lnTo>
                  <a:lnTo>
                    <a:pt x="0" y="0"/>
                  </a:lnTo>
                  <a:lnTo>
                    <a:pt x="0" y="1152"/>
                  </a:lnTo>
                  <a:close/>
                </a:path>
              </a:pathLst>
            </a:custGeom>
            <a:pattFill prst="pct20">
              <a:fgClr>
                <a:schemeClr val="hlink">
                  <a:alpha val="50000"/>
                </a:schemeClr>
              </a:fgClr>
              <a:bgClr>
                <a:schemeClr val="accent1">
                  <a:alpha val="50000"/>
                </a:schemeClr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413" name="Freeform 45" descr="20%"/>
            <p:cNvSpPr>
              <a:spLocks/>
            </p:cNvSpPr>
            <p:nvPr/>
          </p:nvSpPr>
          <p:spPr bwMode="auto">
            <a:xfrm>
              <a:off x="1447800" y="1981200"/>
              <a:ext cx="2743200" cy="3810000"/>
            </a:xfrm>
            <a:custGeom>
              <a:avLst/>
              <a:gdLst>
                <a:gd name="T0" fmla="*/ 0 w 1728"/>
                <a:gd name="T1" fmla="*/ 2400 h 2400"/>
                <a:gd name="T2" fmla="*/ 1728 w 1728"/>
                <a:gd name="T3" fmla="*/ 2400 h 2400"/>
                <a:gd name="T4" fmla="*/ 1728 w 1728"/>
                <a:gd name="T5" fmla="*/ 576 h 2400"/>
                <a:gd name="T6" fmla="*/ 0 w 1728"/>
                <a:gd name="T7" fmla="*/ 0 h 2400"/>
                <a:gd name="T8" fmla="*/ 0 w 1728"/>
                <a:gd name="T9" fmla="*/ 2400 h 2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28" h="2400">
                  <a:moveTo>
                    <a:pt x="0" y="2400"/>
                  </a:moveTo>
                  <a:lnTo>
                    <a:pt x="1728" y="2400"/>
                  </a:lnTo>
                  <a:lnTo>
                    <a:pt x="1728" y="576"/>
                  </a:lnTo>
                  <a:lnTo>
                    <a:pt x="0" y="0"/>
                  </a:lnTo>
                  <a:lnTo>
                    <a:pt x="0" y="2400"/>
                  </a:lnTo>
                  <a:close/>
                </a:path>
              </a:pathLst>
            </a:custGeom>
            <a:pattFill prst="pct20">
              <a:fgClr>
                <a:schemeClr val="hlink">
                  <a:alpha val="50000"/>
                </a:schemeClr>
              </a:fgClr>
              <a:bgClr>
                <a:schemeClr val="accent1">
                  <a:alpha val="50000"/>
                </a:schemeClr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72" name="Line 4"/>
            <p:cNvSpPr>
              <a:spLocks noChangeShapeType="1"/>
            </p:cNvSpPr>
            <p:nvPr/>
          </p:nvSpPr>
          <p:spPr bwMode="auto">
            <a:xfrm flipV="1">
              <a:off x="1447800" y="1219200"/>
              <a:ext cx="0" cy="47244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73" name="Line 5"/>
            <p:cNvSpPr>
              <a:spLocks noChangeShapeType="1"/>
            </p:cNvSpPr>
            <p:nvPr/>
          </p:nvSpPr>
          <p:spPr bwMode="auto">
            <a:xfrm>
              <a:off x="1295400" y="5791200"/>
              <a:ext cx="7010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74" name="Line 6"/>
            <p:cNvSpPr>
              <a:spLocks noChangeShapeType="1"/>
            </p:cNvSpPr>
            <p:nvPr/>
          </p:nvSpPr>
          <p:spPr bwMode="auto">
            <a:xfrm>
              <a:off x="1219200" y="4343400"/>
              <a:ext cx="2286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75" name="Line 7"/>
            <p:cNvSpPr>
              <a:spLocks noChangeShapeType="1"/>
            </p:cNvSpPr>
            <p:nvPr/>
          </p:nvSpPr>
          <p:spPr bwMode="auto">
            <a:xfrm>
              <a:off x="1219200" y="2971800"/>
              <a:ext cx="2286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76" name="Line 8"/>
            <p:cNvSpPr>
              <a:spLocks noChangeShapeType="1"/>
            </p:cNvSpPr>
            <p:nvPr/>
          </p:nvSpPr>
          <p:spPr bwMode="auto">
            <a:xfrm>
              <a:off x="1219200" y="1600200"/>
              <a:ext cx="2286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77" name="Text Box 9"/>
            <p:cNvSpPr txBox="1">
              <a:spLocks noChangeArrowheads="1"/>
            </p:cNvSpPr>
            <p:nvPr/>
          </p:nvSpPr>
          <p:spPr bwMode="auto">
            <a:xfrm>
              <a:off x="914400" y="5576888"/>
              <a:ext cx="38100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0</a:t>
              </a:r>
            </a:p>
          </p:txBody>
        </p:sp>
        <p:sp>
          <p:nvSpPr>
            <p:cNvPr id="58378" name="Text Box 10"/>
            <p:cNvSpPr txBox="1">
              <a:spLocks noChangeArrowheads="1"/>
            </p:cNvSpPr>
            <p:nvPr/>
          </p:nvSpPr>
          <p:spPr bwMode="auto">
            <a:xfrm>
              <a:off x="914400" y="4129088"/>
              <a:ext cx="38100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58379" name="Text Box 11"/>
            <p:cNvSpPr txBox="1">
              <a:spLocks noChangeArrowheads="1"/>
            </p:cNvSpPr>
            <p:nvPr/>
          </p:nvSpPr>
          <p:spPr bwMode="auto">
            <a:xfrm>
              <a:off x="914400" y="2743200"/>
              <a:ext cx="3810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2</a:t>
              </a:r>
            </a:p>
          </p:txBody>
        </p:sp>
        <p:sp>
          <p:nvSpPr>
            <p:cNvPr id="58380" name="Text Box 12"/>
            <p:cNvSpPr txBox="1">
              <a:spLocks noChangeArrowheads="1"/>
            </p:cNvSpPr>
            <p:nvPr/>
          </p:nvSpPr>
          <p:spPr bwMode="auto">
            <a:xfrm>
              <a:off x="914400" y="1371600"/>
              <a:ext cx="3810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3</a:t>
              </a:r>
            </a:p>
          </p:txBody>
        </p:sp>
        <p:sp>
          <p:nvSpPr>
            <p:cNvPr id="58381" name="Line 13"/>
            <p:cNvSpPr>
              <a:spLocks noChangeShapeType="1"/>
            </p:cNvSpPr>
            <p:nvPr/>
          </p:nvSpPr>
          <p:spPr bwMode="auto">
            <a:xfrm>
              <a:off x="2819400" y="57912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82" name="Line 14"/>
            <p:cNvSpPr>
              <a:spLocks noChangeShapeType="1"/>
            </p:cNvSpPr>
            <p:nvPr/>
          </p:nvSpPr>
          <p:spPr bwMode="auto">
            <a:xfrm>
              <a:off x="4191000" y="57912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83" name="Line 15"/>
            <p:cNvSpPr>
              <a:spLocks noChangeShapeType="1"/>
            </p:cNvSpPr>
            <p:nvPr/>
          </p:nvSpPr>
          <p:spPr bwMode="auto">
            <a:xfrm>
              <a:off x="5562600" y="57912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84" name="Line 16"/>
            <p:cNvSpPr>
              <a:spLocks noChangeShapeType="1"/>
            </p:cNvSpPr>
            <p:nvPr/>
          </p:nvSpPr>
          <p:spPr bwMode="auto">
            <a:xfrm>
              <a:off x="6934200" y="57912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85" name="Text Box 17"/>
            <p:cNvSpPr txBox="1">
              <a:spLocks noChangeArrowheads="1"/>
            </p:cNvSpPr>
            <p:nvPr/>
          </p:nvSpPr>
          <p:spPr bwMode="auto">
            <a:xfrm>
              <a:off x="1295400" y="5957888"/>
              <a:ext cx="38100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0</a:t>
              </a:r>
            </a:p>
          </p:txBody>
        </p:sp>
        <p:sp>
          <p:nvSpPr>
            <p:cNvPr id="58386" name="Text Box 18"/>
            <p:cNvSpPr txBox="1">
              <a:spLocks noChangeArrowheads="1"/>
            </p:cNvSpPr>
            <p:nvPr/>
          </p:nvSpPr>
          <p:spPr bwMode="auto">
            <a:xfrm>
              <a:off x="2667000" y="6034088"/>
              <a:ext cx="38100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58387" name="Text Box 19"/>
            <p:cNvSpPr txBox="1">
              <a:spLocks noChangeArrowheads="1"/>
            </p:cNvSpPr>
            <p:nvPr/>
          </p:nvSpPr>
          <p:spPr bwMode="auto">
            <a:xfrm>
              <a:off x="4038600" y="6034088"/>
              <a:ext cx="38100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2</a:t>
              </a:r>
            </a:p>
          </p:txBody>
        </p:sp>
        <p:sp>
          <p:nvSpPr>
            <p:cNvPr id="58388" name="Text Box 20"/>
            <p:cNvSpPr txBox="1">
              <a:spLocks noChangeArrowheads="1"/>
            </p:cNvSpPr>
            <p:nvPr/>
          </p:nvSpPr>
          <p:spPr bwMode="auto">
            <a:xfrm>
              <a:off x="5410200" y="6019800"/>
              <a:ext cx="3810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3</a:t>
              </a:r>
            </a:p>
          </p:txBody>
        </p:sp>
        <p:sp>
          <p:nvSpPr>
            <p:cNvPr id="58389" name="Text Box 21"/>
            <p:cNvSpPr txBox="1">
              <a:spLocks noChangeArrowheads="1"/>
            </p:cNvSpPr>
            <p:nvPr/>
          </p:nvSpPr>
          <p:spPr bwMode="auto">
            <a:xfrm>
              <a:off x="6781800" y="6019800"/>
              <a:ext cx="3810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4</a:t>
              </a:r>
            </a:p>
          </p:txBody>
        </p:sp>
        <p:sp>
          <p:nvSpPr>
            <p:cNvPr id="58390" name="Text Box 22"/>
            <p:cNvSpPr txBox="1">
              <a:spLocks noChangeArrowheads="1"/>
            </p:cNvSpPr>
            <p:nvPr/>
          </p:nvSpPr>
          <p:spPr bwMode="auto">
            <a:xfrm>
              <a:off x="7848600" y="6019800"/>
              <a:ext cx="5334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400"/>
                <a:t>X</a:t>
              </a:r>
              <a:r>
                <a:rPr lang="en-US" sz="2400" baseline="-25000"/>
                <a:t>1</a:t>
              </a:r>
              <a:endParaRPr lang="en-US" sz="2400"/>
            </a:p>
          </p:txBody>
        </p:sp>
        <p:sp>
          <p:nvSpPr>
            <p:cNvPr id="58391" name="Text Box 23"/>
            <p:cNvSpPr txBox="1">
              <a:spLocks noChangeArrowheads="1"/>
            </p:cNvSpPr>
            <p:nvPr/>
          </p:nvSpPr>
          <p:spPr bwMode="auto">
            <a:xfrm>
              <a:off x="914400" y="762000"/>
              <a:ext cx="5334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400"/>
                <a:t>X</a:t>
              </a:r>
              <a:r>
                <a:rPr lang="en-US" sz="2400" baseline="-25000"/>
                <a:t>2</a:t>
              </a:r>
              <a:endParaRPr lang="en-US" sz="2400"/>
            </a:p>
          </p:txBody>
        </p:sp>
        <p:sp>
          <p:nvSpPr>
            <p:cNvPr id="58392" name="Line 24"/>
            <p:cNvSpPr>
              <a:spLocks noChangeShapeType="1"/>
            </p:cNvSpPr>
            <p:nvPr/>
          </p:nvSpPr>
          <p:spPr bwMode="auto">
            <a:xfrm>
              <a:off x="1447800" y="1981200"/>
              <a:ext cx="2743200" cy="9144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93" name="Line 25"/>
            <p:cNvSpPr>
              <a:spLocks noChangeShapeType="1"/>
            </p:cNvSpPr>
            <p:nvPr/>
          </p:nvSpPr>
          <p:spPr bwMode="auto">
            <a:xfrm>
              <a:off x="5562600" y="3962400"/>
              <a:ext cx="914400" cy="1828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94" name="Oval 26"/>
            <p:cNvSpPr>
              <a:spLocks noChangeArrowheads="1"/>
            </p:cNvSpPr>
            <p:nvPr/>
          </p:nvSpPr>
          <p:spPr bwMode="auto">
            <a:xfrm>
              <a:off x="2819400" y="2971800"/>
              <a:ext cx="76200" cy="76200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95" name="Oval 27"/>
            <p:cNvSpPr>
              <a:spLocks noChangeArrowheads="1"/>
            </p:cNvSpPr>
            <p:nvPr/>
          </p:nvSpPr>
          <p:spPr bwMode="auto">
            <a:xfrm>
              <a:off x="4114800" y="2971800"/>
              <a:ext cx="76200" cy="76200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96" name="Oval 28"/>
            <p:cNvSpPr>
              <a:spLocks noChangeArrowheads="1"/>
            </p:cNvSpPr>
            <p:nvPr/>
          </p:nvSpPr>
          <p:spPr bwMode="auto">
            <a:xfrm>
              <a:off x="2819400" y="4267200"/>
              <a:ext cx="76200" cy="76200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97" name="Oval 29"/>
            <p:cNvSpPr>
              <a:spLocks noChangeArrowheads="1"/>
            </p:cNvSpPr>
            <p:nvPr/>
          </p:nvSpPr>
          <p:spPr bwMode="auto">
            <a:xfrm>
              <a:off x="4114800" y="4267200"/>
              <a:ext cx="76200" cy="76200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98" name="Oval 30"/>
            <p:cNvSpPr>
              <a:spLocks noChangeArrowheads="1"/>
            </p:cNvSpPr>
            <p:nvPr/>
          </p:nvSpPr>
          <p:spPr bwMode="auto">
            <a:xfrm>
              <a:off x="5562600" y="4267200"/>
              <a:ext cx="76200" cy="76200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99" name="Text Box 31"/>
            <p:cNvSpPr txBox="1">
              <a:spLocks noChangeArrowheads="1"/>
            </p:cNvSpPr>
            <p:nvPr/>
          </p:nvSpPr>
          <p:spPr bwMode="auto">
            <a:xfrm>
              <a:off x="2819400" y="1371600"/>
              <a:ext cx="14478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000">
                  <a:latin typeface="Tahoma" pitchFamily="34" charset="0"/>
                </a:rPr>
                <a:t>Problem I</a:t>
              </a:r>
            </a:p>
          </p:txBody>
        </p:sp>
        <p:sp>
          <p:nvSpPr>
            <p:cNvPr id="58412" name="Text Box 44"/>
            <p:cNvSpPr txBox="1">
              <a:spLocks noChangeArrowheads="1"/>
            </p:cNvSpPr>
            <p:nvPr/>
          </p:nvSpPr>
          <p:spPr bwMode="auto">
            <a:xfrm>
              <a:off x="6248400" y="3352800"/>
              <a:ext cx="16764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lnSpc>
                  <a:spcPct val="70000"/>
                </a:lnSpc>
                <a:spcBef>
                  <a:spcPct val="50000"/>
                </a:spcBef>
              </a:pPr>
              <a:r>
                <a:rPr lang="en-US" sz="2000">
                  <a:latin typeface="Tahoma" pitchFamily="34" charset="0"/>
                </a:rPr>
                <a:t>Problem II</a:t>
              </a:r>
            </a:p>
          </p:txBody>
        </p:sp>
        <p:sp>
          <p:nvSpPr>
            <p:cNvPr id="58414" name="Line 46"/>
            <p:cNvSpPr>
              <a:spLocks noChangeShapeType="1"/>
            </p:cNvSpPr>
            <p:nvPr/>
          </p:nvSpPr>
          <p:spPr bwMode="auto">
            <a:xfrm flipV="1">
              <a:off x="4191000" y="2895600"/>
              <a:ext cx="0" cy="2895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417" name="Line 49"/>
            <p:cNvSpPr>
              <a:spLocks noChangeShapeType="1"/>
            </p:cNvSpPr>
            <p:nvPr/>
          </p:nvSpPr>
          <p:spPr bwMode="auto">
            <a:xfrm flipV="1">
              <a:off x="5562600" y="3962400"/>
              <a:ext cx="0" cy="1828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419" name="Text Box 51"/>
            <p:cNvSpPr txBox="1">
              <a:spLocks noChangeArrowheads="1"/>
            </p:cNvSpPr>
            <p:nvPr/>
          </p:nvSpPr>
          <p:spPr bwMode="auto">
            <a:xfrm>
              <a:off x="3733800" y="1981200"/>
              <a:ext cx="32004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latin typeface="Tahoma" pitchFamily="34" charset="0"/>
                </a:rPr>
                <a:t>X</a:t>
              </a:r>
              <a:r>
                <a:rPr lang="en-US" baseline="-25000">
                  <a:latin typeface="Tahoma" pitchFamily="34" charset="0"/>
                </a:rPr>
                <a:t>1</a:t>
              </a:r>
              <a:r>
                <a:rPr lang="en-US">
                  <a:latin typeface="Tahoma" pitchFamily="34" charset="0"/>
                </a:rPr>
                <a:t>=2, X</a:t>
              </a:r>
              <a:r>
                <a:rPr lang="en-US" baseline="-25000">
                  <a:latin typeface="Tahoma" pitchFamily="34" charset="0"/>
                </a:rPr>
                <a:t>2</a:t>
              </a:r>
              <a:r>
                <a:rPr lang="en-US">
                  <a:latin typeface="Tahoma" pitchFamily="34" charset="0"/>
                </a:rPr>
                <a:t>=2.083, Obj = 10.25</a:t>
              </a:r>
            </a:p>
          </p:txBody>
        </p:sp>
        <p:sp>
          <p:nvSpPr>
            <p:cNvPr id="58420" name="Line 52"/>
            <p:cNvSpPr>
              <a:spLocks noChangeShapeType="1"/>
            </p:cNvSpPr>
            <p:nvPr/>
          </p:nvSpPr>
          <p:spPr bwMode="auto">
            <a:xfrm flipH="1">
              <a:off x="4191000" y="2362200"/>
              <a:ext cx="228600" cy="457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8229600" cy="12192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4000" i="1">
                <a:solidFill>
                  <a:schemeClr val="hlink"/>
                </a:solidFill>
              </a:rPr>
              <a:t>The Branch-And-Bound Algorithm</a:t>
            </a:r>
            <a:endParaRPr lang="en-US" sz="4000" i="1" dirty="0">
              <a:solidFill>
                <a:schemeClr val="hlink"/>
              </a:solidFill>
            </a:endParaRPr>
          </a:p>
        </p:txBody>
      </p:sp>
      <p:sp>
        <p:nvSpPr>
          <p:cNvPr id="60419" name="Rectangle 3"/>
          <p:cNvSpPr>
            <a:spLocks noChangeArrowheads="1"/>
          </p:cNvSpPr>
          <p:nvPr/>
        </p:nvSpPr>
        <p:spPr bwMode="auto">
          <a:xfrm>
            <a:off x="3657600" y="1066800"/>
            <a:ext cx="3581400" cy="2568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804863" indent="-804863" eaLnBrk="0" hangingPunct="0">
              <a:lnSpc>
                <a:spcPct val="150000"/>
              </a:lnSpc>
            </a:pPr>
            <a:r>
              <a:rPr lang="en-US">
                <a:latin typeface="Tahoma" pitchFamily="34" charset="0"/>
              </a:rPr>
              <a:t>MAX</a:t>
            </a:r>
            <a:r>
              <a:rPr lang="en-US" dirty="0">
                <a:latin typeface="Tahoma" pitchFamily="34" charset="0"/>
              </a:rPr>
              <a:t>:	 2X</a:t>
            </a:r>
            <a:r>
              <a:rPr lang="en-US" baseline="-25000" dirty="0">
                <a:latin typeface="Tahoma" pitchFamily="34" charset="0"/>
              </a:rPr>
              <a:t>1</a:t>
            </a:r>
            <a:r>
              <a:rPr lang="en-US" dirty="0">
                <a:latin typeface="Tahoma" pitchFamily="34" charset="0"/>
              </a:rPr>
              <a:t> + 3X</a:t>
            </a:r>
            <a:r>
              <a:rPr lang="en-US" baseline="-25000" dirty="0">
                <a:latin typeface="Tahoma" pitchFamily="34" charset="0"/>
              </a:rPr>
              <a:t>2</a:t>
            </a:r>
            <a:r>
              <a:rPr lang="en-US" dirty="0">
                <a:latin typeface="Tahoma" pitchFamily="34" charset="0"/>
              </a:rPr>
              <a:t> </a:t>
            </a:r>
          </a:p>
          <a:p>
            <a:pPr marL="804863" indent="-804863" eaLnBrk="0" hangingPunct="0">
              <a:lnSpc>
                <a:spcPct val="150000"/>
              </a:lnSpc>
            </a:pPr>
            <a:r>
              <a:rPr lang="en-US" dirty="0">
                <a:latin typeface="Tahoma" pitchFamily="34" charset="0"/>
              </a:rPr>
              <a:t>S.T.  	 X</a:t>
            </a:r>
            <a:r>
              <a:rPr lang="en-US" baseline="-25000" dirty="0">
                <a:latin typeface="Tahoma" pitchFamily="34" charset="0"/>
              </a:rPr>
              <a:t>1</a:t>
            </a:r>
            <a:r>
              <a:rPr lang="en-US" dirty="0">
                <a:latin typeface="Tahoma" pitchFamily="34" charset="0"/>
              </a:rPr>
              <a:t> + 3X</a:t>
            </a:r>
            <a:r>
              <a:rPr lang="en-US" baseline="-25000" dirty="0">
                <a:latin typeface="Tahoma" pitchFamily="34" charset="0"/>
              </a:rPr>
              <a:t>2</a:t>
            </a:r>
            <a:r>
              <a:rPr lang="en-US" dirty="0">
                <a:latin typeface="Tahoma" pitchFamily="34" charset="0"/>
              </a:rPr>
              <a:t> &lt;= 8.25</a:t>
            </a:r>
          </a:p>
          <a:p>
            <a:pPr marL="804863" indent="-804863" eaLnBrk="0" hangingPunct="0">
              <a:lnSpc>
                <a:spcPct val="150000"/>
              </a:lnSpc>
            </a:pPr>
            <a:r>
              <a:rPr lang="en-US" dirty="0">
                <a:latin typeface="Tahoma" pitchFamily="34" charset="0"/>
              </a:rPr>
              <a:t>		2.5X</a:t>
            </a:r>
            <a:r>
              <a:rPr lang="en-US" baseline="-25000" dirty="0">
                <a:latin typeface="Tahoma" pitchFamily="34" charset="0"/>
              </a:rPr>
              <a:t>1</a:t>
            </a:r>
            <a:r>
              <a:rPr lang="en-US" dirty="0">
                <a:latin typeface="Tahoma" pitchFamily="34" charset="0"/>
              </a:rPr>
              <a:t> + X</a:t>
            </a:r>
            <a:r>
              <a:rPr lang="en-US" baseline="-25000" dirty="0">
                <a:latin typeface="Tahoma" pitchFamily="34" charset="0"/>
              </a:rPr>
              <a:t>2</a:t>
            </a:r>
            <a:r>
              <a:rPr lang="en-US" dirty="0">
                <a:latin typeface="Tahoma" pitchFamily="34" charset="0"/>
              </a:rPr>
              <a:t> &lt;= 8.75</a:t>
            </a:r>
          </a:p>
          <a:p>
            <a:pPr marL="804863" indent="-804863" eaLnBrk="0" hangingPunct="0">
              <a:lnSpc>
                <a:spcPct val="150000"/>
              </a:lnSpc>
            </a:pPr>
            <a:r>
              <a:rPr lang="en-US" dirty="0">
                <a:latin typeface="Tahoma" pitchFamily="34" charset="0"/>
              </a:rPr>
              <a:t>	  X</a:t>
            </a:r>
            <a:r>
              <a:rPr lang="en-US" baseline="-25000" dirty="0">
                <a:latin typeface="Tahoma" pitchFamily="34" charset="0"/>
              </a:rPr>
              <a:t>1</a:t>
            </a:r>
            <a:r>
              <a:rPr lang="en-US" dirty="0">
                <a:latin typeface="Tahoma" pitchFamily="34" charset="0"/>
              </a:rPr>
              <a:t> &lt;= 2</a:t>
            </a:r>
          </a:p>
          <a:p>
            <a:pPr marL="804863" indent="-804863" eaLnBrk="0" hangingPunct="0">
              <a:lnSpc>
                <a:spcPct val="150000"/>
              </a:lnSpc>
            </a:pPr>
            <a:r>
              <a:rPr lang="en-US" dirty="0">
                <a:latin typeface="Tahoma" pitchFamily="34" charset="0"/>
              </a:rPr>
              <a:t>	  X</a:t>
            </a:r>
            <a:r>
              <a:rPr lang="en-US" baseline="-25000" dirty="0">
                <a:latin typeface="Tahoma" pitchFamily="34" charset="0"/>
              </a:rPr>
              <a:t>2</a:t>
            </a:r>
            <a:r>
              <a:rPr lang="en-US" dirty="0">
                <a:latin typeface="Tahoma" pitchFamily="34" charset="0"/>
              </a:rPr>
              <a:t> &lt;= 2</a:t>
            </a:r>
          </a:p>
          <a:p>
            <a:pPr marL="804863" indent="-804863" eaLnBrk="0" hangingPunct="0">
              <a:lnSpc>
                <a:spcPct val="150000"/>
              </a:lnSpc>
            </a:pPr>
            <a:r>
              <a:rPr lang="en-US" dirty="0">
                <a:latin typeface="Tahoma" pitchFamily="34" charset="0"/>
              </a:rPr>
              <a:t>	  X</a:t>
            </a:r>
            <a:r>
              <a:rPr lang="en-US" baseline="-25000" dirty="0">
                <a:latin typeface="Tahoma" pitchFamily="34" charset="0"/>
              </a:rPr>
              <a:t>1</a:t>
            </a:r>
            <a:r>
              <a:rPr lang="en-US" dirty="0">
                <a:latin typeface="Tahoma" pitchFamily="34" charset="0"/>
              </a:rPr>
              <a:t>,</a:t>
            </a:r>
            <a:r>
              <a:rPr lang="en-US" baseline="-25000" dirty="0">
                <a:latin typeface="Tahoma" pitchFamily="34" charset="0"/>
              </a:rPr>
              <a:t> </a:t>
            </a:r>
            <a:r>
              <a:rPr lang="en-US" dirty="0">
                <a:latin typeface="Tahoma" pitchFamily="34" charset="0"/>
              </a:rPr>
              <a:t>X</a:t>
            </a:r>
            <a:r>
              <a:rPr lang="en-US" baseline="-25000" dirty="0">
                <a:latin typeface="Tahoma" pitchFamily="34" charset="0"/>
              </a:rPr>
              <a:t>2</a:t>
            </a:r>
            <a:r>
              <a:rPr lang="en-US" dirty="0">
                <a:latin typeface="Tahoma" pitchFamily="34" charset="0"/>
              </a:rPr>
              <a:t>  &gt;= </a:t>
            </a:r>
            <a:r>
              <a:rPr lang="en-US">
                <a:latin typeface="Tahoma" pitchFamily="34" charset="0"/>
              </a:rPr>
              <a:t>0 and </a:t>
            </a:r>
            <a:r>
              <a:rPr lang="en-US" dirty="0">
                <a:latin typeface="Tahoma" pitchFamily="34" charset="0"/>
              </a:rPr>
              <a:t>integer</a:t>
            </a:r>
          </a:p>
        </p:txBody>
      </p:sp>
      <p:sp>
        <p:nvSpPr>
          <p:cNvPr id="60420" name="Text Box 4"/>
          <p:cNvSpPr txBox="1">
            <a:spLocks noChangeArrowheads="1"/>
          </p:cNvSpPr>
          <p:nvPr/>
        </p:nvSpPr>
        <p:spPr bwMode="auto">
          <a:xfrm>
            <a:off x="1981200" y="1096963"/>
            <a:ext cx="160020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200" dirty="0">
                <a:latin typeface="Tahoma" pitchFamily="34" charset="0"/>
              </a:rPr>
              <a:t>Problem III</a:t>
            </a:r>
          </a:p>
        </p:txBody>
      </p:sp>
      <p:sp>
        <p:nvSpPr>
          <p:cNvPr id="60421" name="Rectangle 5"/>
          <p:cNvSpPr>
            <a:spLocks noChangeArrowheads="1"/>
          </p:cNvSpPr>
          <p:nvPr/>
        </p:nvSpPr>
        <p:spPr bwMode="auto">
          <a:xfrm>
            <a:off x="3581400" y="3635375"/>
            <a:ext cx="3581400" cy="2568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804863" indent="-804863" eaLnBrk="0" hangingPunct="0">
              <a:lnSpc>
                <a:spcPct val="150000"/>
              </a:lnSpc>
            </a:pPr>
            <a:r>
              <a:rPr lang="en-US">
                <a:latin typeface="Tahoma" pitchFamily="34" charset="0"/>
              </a:rPr>
              <a:t>MAX</a:t>
            </a:r>
            <a:r>
              <a:rPr lang="en-US" dirty="0">
                <a:latin typeface="Tahoma" pitchFamily="34" charset="0"/>
              </a:rPr>
              <a:t>:	 2X</a:t>
            </a:r>
            <a:r>
              <a:rPr lang="en-US" baseline="-25000" dirty="0">
                <a:latin typeface="Tahoma" pitchFamily="34" charset="0"/>
              </a:rPr>
              <a:t>1</a:t>
            </a:r>
            <a:r>
              <a:rPr lang="en-US" dirty="0">
                <a:latin typeface="Tahoma" pitchFamily="34" charset="0"/>
              </a:rPr>
              <a:t> + 3X</a:t>
            </a:r>
            <a:r>
              <a:rPr lang="en-US" baseline="-25000" dirty="0">
                <a:latin typeface="Tahoma" pitchFamily="34" charset="0"/>
              </a:rPr>
              <a:t>2</a:t>
            </a:r>
            <a:r>
              <a:rPr lang="en-US" dirty="0">
                <a:latin typeface="Tahoma" pitchFamily="34" charset="0"/>
              </a:rPr>
              <a:t> </a:t>
            </a:r>
          </a:p>
          <a:p>
            <a:pPr marL="804863" indent="-804863" eaLnBrk="0" hangingPunct="0">
              <a:lnSpc>
                <a:spcPct val="150000"/>
              </a:lnSpc>
            </a:pPr>
            <a:r>
              <a:rPr lang="en-US" dirty="0">
                <a:latin typeface="Tahoma" pitchFamily="34" charset="0"/>
              </a:rPr>
              <a:t>S.T.  	 X</a:t>
            </a:r>
            <a:r>
              <a:rPr lang="en-US" baseline="-25000" dirty="0">
                <a:latin typeface="Tahoma" pitchFamily="34" charset="0"/>
              </a:rPr>
              <a:t>1</a:t>
            </a:r>
            <a:r>
              <a:rPr lang="en-US" dirty="0">
                <a:latin typeface="Tahoma" pitchFamily="34" charset="0"/>
              </a:rPr>
              <a:t> + 3X</a:t>
            </a:r>
            <a:r>
              <a:rPr lang="en-US" baseline="-25000" dirty="0">
                <a:latin typeface="Tahoma" pitchFamily="34" charset="0"/>
              </a:rPr>
              <a:t>2</a:t>
            </a:r>
            <a:r>
              <a:rPr lang="en-US" dirty="0">
                <a:latin typeface="Tahoma" pitchFamily="34" charset="0"/>
              </a:rPr>
              <a:t> &lt;= 8.25</a:t>
            </a:r>
          </a:p>
          <a:p>
            <a:pPr marL="804863" indent="-804863" eaLnBrk="0" hangingPunct="0">
              <a:lnSpc>
                <a:spcPct val="150000"/>
              </a:lnSpc>
            </a:pPr>
            <a:r>
              <a:rPr lang="en-US" dirty="0">
                <a:latin typeface="Tahoma" pitchFamily="34" charset="0"/>
              </a:rPr>
              <a:t>		2.5X</a:t>
            </a:r>
            <a:r>
              <a:rPr lang="en-US" baseline="-25000" dirty="0">
                <a:latin typeface="Tahoma" pitchFamily="34" charset="0"/>
              </a:rPr>
              <a:t>1</a:t>
            </a:r>
            <a:r>
              <a:rPr lang="en-US" dirty="0">
                <a:latin typeface="Tahoma" pitchFamily="34" charset="0"/>
              </a:rPr>
              <a:t> + X</a:t>
            </a:r>
            <a:r>
              <a:rPr lang="en-US" baseline="-25000" dirty="0">
                <a:latin typeface="Tahoma" pitchFamily="34" charset="0"/>
              </a:rPr>
              <a:t>2</a:t>
            </a:r>
            <a:r>
              <a:rPr lang="en-US" dirty="0">
                <a:latin typeface="Tahoma" pitchFamily="34" charset="0"/>
              </a:rPr>
              <a:t> &lt;= 8.75</a:t>
            </a:r>
          </a:p>
          <a:p>
            <a:pPr marL="804863" indent="-804863" eaLnBrk="0" hangingPunct="0">
              <a:lnSpc>
                <a:spcPct val="150000"/>
              </a:lnSpc>
            </a:pPr>
            <a:r>
              <a:rPr lang="en-US" dirty="0">
                <a:latin typeface="Tahoma" pitchFamily="34" charset="0"/>
              </a:rPr>
              <a:t> 	  X</a:t>
            </a:r>
            <a:r>
              <a:rPr lang="en-US" baseline="-25000" dirty="0">
                <a:latin typeface="Tahoma" pitchFamily="34" charset="0"/>
              </a:rPr>
              <a:t>1</a:t>
            </a:r>
            <a:r>
              <a:rPr lang="en-US" dirty="0">
                <a:latin typeface="Tahoma" pitchFamily="34" charset="0"/>
              </a:rPr>
              <a:t> &lt;= 2</a:t>
            </a:r>
          </a:p>
          <a:p>
            <a:pPr marL="804863" indent="-804863" eaLnBrk="0" hangingPunct="0">
              <a:lnSpc>
                <a:spcPct val="150000"/>
              </a:lnSpc>
            </a:pPr>
            <a:r>
              <a:rPr lang="en-US" dirty="0">
                <a:latin typeface="Tahoma" pitchFamily="34" charset="0"/>
              </a:rPr>
              <a:t>	  X</a:t>
            </a:r>
            <a:r>
              <a:rPr lang="en-US" baseline="-25000" dirty="0">
                <a:latin typeface="Tahoma" pitchFamily="34" charset="0"/>
              </a:rPr>
              <a:t>2</a:t>
            </a:r>
            <a:r>
              <a:rPr lang="en-US" dirty="0">
                <a:latin typeface="Tahoma" pitchFamily="34" charset="0"/>
              </a:rPr>
              <a:t> &gt;= 3</a:t>
            </a:r>
          </a:p>
          <a:p>
            <a:pPr marL="804863" indent="-804863" eaLnBrk="0" hangingPunct="0">
              <a:lnSpc>
                <a:spcPct val="150000"/>
              </a:lnSpc>
            </a:pPr>
            <a:r>
              <a:rPr lang="en-US" dirty="0">
                <a:latin typeface="Tahoma" pitchFamily="34" charset="0"/>
              </a:rPr>
              <a:t>	  X</a:t>
            </a:r>
            <a:r>
              <a:rPr lang="en-US" baseline="-25000" dirty="0">
                <a:latin typeface="Tahoma" pitchFamily="34" charset="0"/>
              </a:rPr>
              <a:t>1</a:t>
            </a:r>
            <a:r>
              <a:rPr lang="en-US" dirty="0">
                <a:latin typeface="Tahoma" pitchFamily="34" charset="0"/>
              </a:rPr>
              <a:t>,</a:t>
            </a:r>
            <a:r>
              <a:rPr lang="en-US" baseline="-25000" dirty="0">
                <a:latin typeface="Tahoma" pitchFamily="34" charset="0"/>
              </a:rPr>
              <a:t> </a:t>
            </a:r>
            <a:r>
              <a:rPr lang="en-US" dirty="0">
                <a:latin typeface="Tahoma" pitchFamily="34" charset="0"/>
              </a:rPr>
              <a:t>X</a:t>
            </a:r>
            <a:r>
              <a:rPr lang="en-US" baseline="-25000" dirty="0">
                <a:latin typeface="Tahoma" pitchFamily="34" charset="0"/>
              </a:rPr>
              <a:t>2</a:t>
            </a:r>
            <a:r>
              <a:rPr lang="en-US" dirty="0">
                <a:latin typeface="Tahoma" pitchFamily="34" charset="0"/>
              </a:rPr>
              <a:t>  &gt;= </a:t>
            </a:r>
            <a:r>
              <a:rPr lang="en-US">
                <a:latin typeface="Tahoma" pitchFamily="34" charset="0"/>
              </a:rPr>
              <a:t>0 and </a:t>
            </a:r>
            <a:r>
              <a:rPr lang="en-US" dirty="0">
                <a:latin typeface="Tahoma" pitchFamily="34" charset="0"/>
              </a:rPr>
              <a:t>integer</a:t>
            </a:r>
          </a:p>
        </p:txBody>
      </p:sp>
      <p:sp>
        <p:nvSpPr>
          <p:cNvPr id="60422" name="Text Box 6"/>
          <p:cNvSpPr txBox="1">
            <a:spLocks noChangeArrowheads="1"/>
          </p:cNvSpPr>
          <p:nvPr/>
        </p:nvSpPr>
        <p:spPr bwMode="auto">
          <a:xfrm>
            <a:off x="1905000" y="3657600"/>
            <a:ext cx="16002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200">
                <a:latin typeface="Tahoma" pitchFamily="34" charset="0"/>
              </a:rPr>
              <a:t>Problem IV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9" name="Freeform 39" descr="20%"/>
          <p:cNvSpPr>
            <a:spLocks/>
          </p:cNvSpPr>
          <p:nvPr/>
        </p:nvSpPr>
        <p:spPr bwMode="auto">
          <a:xfrm>
            <a:off x="1447800" y="2743200"/>
            <a:ext cx="2743200" cy="2819400"/>
          </a:xfrm>
          <a:custGeom>
            <a:avLst/>
            <a:gdLst>
              <a:gd name="T0" fmla="*/ 0 w 1728"/>
              <a:gd name="T1" fmla="*/ 1776 h 1776"/>
              <a:gd name="T2" fmla="*/ 1728 w 1728"/>
              <a:gd name="T3" fmla="*/ 1776 h 1776"/>
              <a:gd name="T4" fmla="*/ 1728 w 1728"/>
              <a:gd name="T5" fmla="*/ 0 h 1776"/>
              <a:gd name="T6" fmla="*/ 0 w 1728"/>
              <a:gd name="T7" fmla="*/ 0 h 1776"/>
              <a:gd name="T8" fmla="*/ 0 w 1728"/>
              <a:gd name="T9" fmla="*/ 1776 h 17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28" h="1776">
                <a:moveTo>
                  <a:pt x="0" y="1776"/>
                </a:moveTo>
                <a:lnTo>
                  <a:pt x="1728" y="1776"/>
                </a:lnTo>
                <a:lnTo>
                  <a:pt x="1728" y="0"/>
                </a:lnTo>
                <a:lnTo>
                  <a:pt x="0" y="0"/>
                </a:lnTo>
                <a:lnTo>
                  <a:pt x="0" y="1776"/>
                </a:lnTo>
                <a:close/>
              </a:path>
            </a:pathLst>
          </a:custGeom>
          <a:pattFill prst="pct20">
            <a:fgClr>
              <a:schemeClr val="hlink">
                <a:alpha val="50000"/>
              </a:schemeClr>
            </a:fgClr>
            <a:bgClr>
              <a:schemeClr val="accent1">
                <a:alpha val="50000"/>
              </a:schemeClr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42" name="Freeform 2" descr="20%"/>
          <p:cNvSpPr>
            <a:spLocks/>
          </p:cNvSpPr>
          <p:nvPr/>
        </p:nvSpPr>
        <p:spPr bwMode="auto">
          <a:xfrm>
            <a:off x="5562600" y="3733800"/>
            <a:ext cx="914400" cy="1828800"/>
          </a:xfrm>
          <a:custGeom>
            <a:avLst/>
            <a:gdLst>
              <a:gd name="T0" fmla="*/ 0 w 576"/>
              <a:gd name="T1" fmla="*/ 1152 h 1152"/>
              <a:gd name="T2" fmla="*/ 576 w 576"/>
              <a:gd name="T3" fmla="*/ 1152 h 1152"/>
              <a:gd name="T4" fmla="*/ 0 w 576"/>
              <a:gd name="T5" fmla="*/ 0 h 1152"/>
              <a:gd name="T6" fmla="*/ 0 w 576"/>
              <a:gd name="T7" fmla="*/ 1152 h 11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76" h="1152">
                <a:moveTo>
                  <a:pt x="0" y="1152"/>
                </a:moveTo>
                <a:lnTo>
                  <a:pt x="576" y="1152"/>
                </a:lnTo>
                <a:lnTo>
                  <a:pt x="0" y="0"/>
                </a:lnTo>
                <a:lnTo>
                  <a:pt x="0" y="1152"/>
                </a:lnTo>
                <a:close/>
              </a:path>
            </a:pathLst>
          </a:custGeom>
          <a:pattFill prst="pct20">
            <a:fgClr>
              <a:schemeClr val="hlink">
                <a:alpha val="50000"/>
              </a:schemeClr>
            </a:fgClr>
            <a:bgClr>
              <a:schemeClr val="accent1">
                <a:alpha val="50000"/>
              </a:schemeClr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44" name="Rectangle 4"/>
          <p:cNvSpPr>
            <a:spLocks noGrp="1" noChangeArrowheads="1"/>
          </p:cNvSpPr>
          <p:nvPr>
            <p:ph type="title"/>
          </p:nvPr>
        </p:nvSpPr>
        <p:spPr>
          <a:xfrm>
            <a:off x="990600" y="304800"/>
            <a:ext cx="7772400" cy="685800"/>
          </a:xfrm>
        </p:spPr>
        <p:txBody>
          <a:bodyPr/>
          <a:lstStyle/>
          <a:p>
            <a:r>
              <a:rPr lang="en-US" sz="4000" i="1" dirty="0">
                <a:solidFill>
                  <a:schemeClr val="hlink"/>
                </a:solidFill>
              </a:rPr>
              <a:t>Solution to </a:t>
            </a:r>
            <a:r>
              <a:rPr lang="en-US" sz="4000" i="1">
                <a:solidFill>
                  <a:schemeClr val="hlink"/>
                </a:solidFill>
              </a:rPr>
              <a:t>LP Relaxation</a:t>
            </a:r>
            <a:endParaRPr lang="en-US" sz="4000" dirty="0">
              <a:solidFill>
                <a:schemeClr val="hlink"/>
              </a:solidFill>
            </a:endParaRPr>
          </a:p>
        </p:txBody>
      </p:sp>
      <p:sp>
        <p:nvSpPr>
          <p:cNvPr id="61445" name="Line 5"/>
          <p:cNvSpPr>
            <a:spLocks noChangeShapeType="1"/>
          </p:cNvSpPr>
          <p:nvPr/>
        </p:nvSpPr>
        <p:spPr bwMode="auto">
          <a:xfrm flipV="1">
            <a:off x="1447800" y="990600"/>
            <a:ext cx="0" cy="4724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46" name="Line 6"/>
          <p:cNvSpPr>
            <a:spLocks noChangeShapeType="1"/>
          </p:cNvSpPr>
          <p:nvPr/>
        </p:nvSpPr>
        <p:spPr bwMode="auto">
          <a:xfrm>
            <a:off x="1295400" y="5562600"/>
            <a:ext cx="701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47" name="Line 7"/>
          <p:cNvSpPr>
            <a:spLocks noChangeShapeType="1"/>
          </p:cNvSpPr>
          <p:nvPr/>
        </p:nvSpPr>
        <p:spPr bwMode="auto">
          <a:xfrm>
            <a:off x="1219200" y="4114800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48" name="Line 8"/>
          <p:cNvSpPr>
            <a:spLocks noChangeShapeType="1"/>
          </p:cNvSpPr>
          <p:nvPr/>
        </p:nvSpPr>
        <p:spPr bwMode="auto">
          <a:xfrm>
            <a:off x="1219200" y="2743200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49" name="Line 9"/>
          <p:cNvSpPr>
            <a:spLocks noChangeShapeType="1"/>
          </p:cNvSpPr>
          <p:nvPr/>
        </p:nvSpPr>
        <p:spPr bwMode="auto">
          <a:xfrm>
            <a:off x="1219200" y="1371600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50" name="Text Box 10"/>
          <p:cNvSpPr txBox="1">
            <a:spLocks noChangeArrowheads="1"/>
          </p:cNvSpPr>
          <p:nvPr/>
        </p:nvSpPr>
        <p:spPr bwMode="auto">
          <a:xfrm>
            <a:off x="914400" y="5348288"/>
            <a:ext cx="381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/>
              <a:t>0</a:t>
            </a:r>
          </a:p>
        </p:txBody>
      </p:sp>
      <p:sp>
        <p:nvSpPr>
          <p:cNvPr id="61451" name="Text Box 11"/>
          <p:cNvSpPr txBox="1">
            <a:spLocks noChangeArrowheads="1"/>
          </p:cNvSpPr>
          <p:nvPr/>
        </p:nvSpPr>
        <p:spPr bwMode="auto">
          <a:xfrm>
            <a:off x="914400" y="3900488"/>
            <a:ext cx="381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/>
              <a:t>1</a:t>
            </a:r>
          </a:p>
        </p:txBody>
      </p:sp>
      <p:sp>
        <p:nvSpPr>
          <p:cNvPr id="61452" name="Text Box 12"/>
          <p:cNvSpPr txBox="1">
            <a:spLocks noChangeArrowheads="1"/>
          </p:cNvSpPr>
          <p:nvPr/>
        </p:nvSpPr>
        <p:spPr bwMode="auto">
          <a:xfrm>
            <a:off x="914400" y="2514600"/>
            <a:ext cx="381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/>
              <a:t>2</a:t>
            </a:r>
          </a:p>
        </p:txBody>
      </p:sp>
      <p:sp>
        <p:nvSpPr>
          <p:cNvPr id="61453" name="Text Box 13"/>
          <p:cNvSpPr txBox="1">
            <a:spLocks noChangeArrowheads="1"/>
          </p:cNvSpPr>
          <p:nvPr/>
        </p:nvSpPr>
        <p:spPr bwMode="auto">
          <a:xfrm>
            <a:off x="914400" y="1143000"/>
            <a:ext cx="381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/>
              <a:t>3</a:t>
            </a:r>
          </a:p>
        </p:txBody>
      </p:sp>
      <p:sp>
        <p:nvSpPr>
          <p:cNvPr id="61454" name="Line 14"/>
          <p:cNvSpPr>
            <a:spLocks noChangeShapeType="1"/>
          </p:cNvSpPr>
          <p:nvPr/>
        </p:nvSpPr>
        <p:spPr bwMode="auto">
          <a:xfrm>
            <a:off x="2819400" y="55626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55" name="Line 15"/>
          <p:cNvSpPr>
            <a:spLocks noChangeShapeType="1"/>
          </p:cNvSpPr>
          <p:nvPr/>
        </p:nvSpPr>
        <p:spPr bwMode="auto">
          <a:xfrm>
            <a:off x="4191000" y="55626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56" name="Line 16"/>
          <p:cNvSpPr>
            <a:spLocks noChangeShapeType="1"/>
          </p:cNvSpPr>
          <p:nvPr/>
        </p:nvSpPr>
        <p:spPr bwMode="auto">
          <a:xfrm>
            <a:off x="5562600" y="55626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57" name="Line 17"/>
          <p:cNvSpPr>
            <a:spLocks noChangeShapeType="1"/>
          </p:cNvSpPr>
          <p:nvPr/>
        </p:nvSpPr>
        <p:spPr bwMode="auto">
          <a:xfrm>
            <a:off x="6934200" y="55626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58" name="Text Box 18"/>
          <p:cNvSpPr txBox="1">
            <a:spLocks noChangeArrowheads="1"/>
          </p:cNvSpPr>
          <p:nvPr/>
        </p:nvSpPr>
        <p:spPr bwMode="auto">
          <a:xfrm>
            <a:off x="1295400" y="5729288"/>
            <a:ext cx="381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/>
              <a:t>0</a:t>
            </a:r>
          </a:p>
        </p:txBody>
      </p:sp>
      <p:sp>
        <p:nvSpPr>
          <p:cNvPr id="61459" name="Text Box 19"/>
          <p:cNvSpPr txBox="1">
            <a:spLocks noChangeArrowheads="1"/>
          </p:cNvSpPr>
          <p:nvPr/>
        </p:nvSpPr>
        <p:spPr bwMode="auto">
          <a:xfrm>
            <a:off x="2667000" y="5805488"/>
            <a:ext cx="381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/>
              <a:t>1</a:t>
            </a:r>
          </a:p>
        </p:txBody>
      </p:sp>
      <p:sp>
        <p:nvSpPr>
          <p:cNvPr id="61460" name="Text Box 20"/>
          <p:cNvSpPr txBox="1">
            <a:spLocks noChangeArrowheads="1"/>
          </p:cNvSpPr>
          <p:nvPr/>
        </p:nvSpPr>
        <p:spPr bwMode="auto">
          <a:xfrm>
            <a:off x="4038600" y="5805488"/>
            <a:ext cx="381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/>
              <a:t>2</a:t>
            </a:r>
          </a:p>
        </p:txBody>
      </p:sp>
      <p:sp>
        <p:nvSpPr>
          <p:cNvPr id="61461" name="Text Box 21"/>
          <p:cNvSpPr txBox="1">
            <a:spLocks noChangeArrowheads="1"/>
          </p:cNvSpPr>
          <p:nvPr/>
        </p:nvSpPr>
        <p:spPr bwMode="auto">
          <a:xfrm>
            <a:off x="5410200" y="5791200"/>
            <a:ext cx="381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/>
              <a:t>3</a:t>
            </a:r>
          </a:p>
        </p:txBody>
      </p:sp>
      <p:sp>
        <p:nvSpPr>
          <p:cNvPr id="61462" name="Text Box 22"/>
          <p:cNvSpPr txBox="1">
            <a:spLocks noChangeArrowheads="1"/>
          </p:cNvSpPr>
          <p:nvPr/>
        </p:nvSpPr>
        <p:spPr bwMode="auto">
          <a:xfrm>
            <a:off x="6781800" y="5791200"/>
            <a:ext cx="381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/>
              <a:t>4</a:t>
            </a:r>
          </a:p>
        </p:txBody>
      </p:sp>
      <p:sp>
        <p:nvSpPr>
          <p:cNvPr id="61463" name="Text Box 23"/>
          <p:cNvSpPr txBox="1">
            <a:spLocks noChangeArrowheads="1"/>
          </p:cNvSpPr>
          <p:nvPr/>
        </p:nvSpPr>
        <p:spPr bwMode="auto">
          <a:xfrm>
            <a:off x="7848600" y="57912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/>
              <a:t>X</a:t>
            </a:r>
            <a:r>
              <a:rPr lang="en-US" sz="2400" baseline="-25000"/>
              <a:t>1</a:t>
            </a:r>
            <a:endParaRPr lang="en-US" sz="2400"/>
          </a:p>
        </p:txBody>
      </p:sp>
      <p:sp>
        <p:nvSpPr>
          <p:cNvPr id="61464" name="Text Box 24"/>
          <p:cNvSpPr txBox="1">
            <a:spLocks noChangeArrowheads="1"/>
          </p:cNvSpPr>
          <p:nvPr/>
        </p:nvSpPr>
        <p:spPr bwMode="auto">
          <a:xfrm>
            <a:off x="914400" y="5334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/>
              <a:t>X</a:t>
            </a:r>
            <a:r>
              <a:rPr lang="en-US" sz="2400" baseline="-25000"/>
              <a:t>2</a:t>
            </a:r>
            <a:endParaRPr lang="en-US" sz="2400"/>
          </a:p>
        </p:txBody>
      </p:sp>
      <p:sp>
        <p:nvSpPr>
          <p:cNvPr id="61466" name="Line 26"/>
          <p:cNvSpPr>
            <a:spLocks noChangeShapeType="1"/>
          </p:cNvSpPr>
          <p:nvPr/>
        </p:nvSpPr>
        <p:spPr bwMode="auto">
          <a:xfrm>
            <a:off x="5562600" y="3733800"/>
            <a:ext cx="914400" cy="182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67" name="Oval 27"/>
          <p:cNvSpPr>
            <a:spLocks noChangeArrowheads="1"/>
          </p:cNvSpPr>
          <p:nvPr/>
        </p:nvSpPr>
        <p:spPr bwMode="auto">
          <a:xfrm>
            <a:off x="2819400" y="2743200"/>
            <a:ext cx="76200" cy="762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68" name="Oval 28"/>
          <p:cNvSpPr>
            <a:spLocks noChangeArrowheads="1"/>
          </p:cNvSpPr>
          <p:nvPr/>
        </p:nvSpPr>
        <p:spPr bwMode="auto">
          <a:xfrm>
            <a:off x="4114800" y="2743200"/>
            <a:ext cx="76200" cy="762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69" name="Oval 29"/>
          <p:cNvSpPr>
            <a:spLocks noChangeArrowheads="1"/>
          </p:cNvSpPr>
          <p:nvPr/>
        </p:nvSpPr>
        <p:spPr bwMode="auto">
          <a:xfrm>
            <a:off x="2819400" y="4038600"/>
            <a:ext cx="76200" cy="762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70" name="Oval 30"/>
          <p:cNvSpPr>
            <a:spLocks noChangeArrowheads="1"/>
          </p:cNvSpPr>
          <p:nvPr/>
        </p:nvSpPr>
        <p:spPr bwMode="auto">
          <a:xfrm>
            <a:off x="4114800" y="4038600"/>
            <a:ext cx="76200" cy="762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71" name="Oval 31"/>
          <p:cNvSpPr>
            <a:spLocks noChangeArrowheads="1"/>
          </p:cNvSpPr>
          <p:nvPr/>
        </p:nvSpPr>
        <p:spPr bwMode="auto">
          <a:xfrm>
            <a:off x="5562600" y="4038600"/>
            <a:ext cx="76200" cy="762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72" name="Text Box 32"/>
          <p:cNvSpPr txBox="1">
            <a:spLocks noChangeArrowheads="1"/>
          </p:cNvSpPr>
          <p:nvPr/>
        </p:nvSpPr>
        <p:spPr bwMode="auto">
          <a:xfrm>
            <a:off x="2819400" y="1143000"/>
            <a:ext cx="1676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>
                <a:latin typeface="Tahoma" pitchFamily="34" charset="0"/>
              </a:rPr>
              <a:t>Problem III</a:t>
            </a:r>
          </a:p>
        </p:txBody>
      </p:sp>
      <p:sp>
        <p:nvSpPr>
          <p:cNvPr id="61473" name="Text Box 33"/>
          <p:cNvSpPr txBox="1">
            <a:spLocks noChangeArrowheads="1"/>
          </p:cNvSpPr>
          <p:nvPr/>
        </p:nvSpPr>
        <p:spPr bwMode="auto">
          <a:xfrm>
            <a:off x="6172200" y="2743200"/>
            <a:ext cx="1676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70000"/>
              </a:lnSpc>
              <a:spcBef>
                <a:spcPct val="50000"/>
              </a:spcBef>
            </a:pPr>
            <a:r>
              <a:rPr lang="en-US" sz="2000">
                <a:latin typeface="Tahoma" pitchFamily="34" charset="0"/>
              </a:rPr>
              <a:t>Problem II</a:t>
            </a:r>
          </a:p>
        </p:txBody>
      </p:sp>
      <p:sp>
        <p:nvSpPr>
          <p:cNvPr id="61474" name="Line 34"/>
          <p:cNvSpPr>
            <a:spLocks noChangeShapeType="1"/>
          </p:cNvSpPr>
          <p:nvPr/>
        </p:nvSpPr>
        <p:spPr bwMode="auto">
          <a:xfrm flipV="1">
            <a:off x="4191000" y="2819400"/>
            <a:ext cx="0" cy="274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75" name="Line 35"/>
          <p:cNvSpPr>
            <a:spLocks noChangeShapeType="1"/>
          </p:cNvSpPr>
          <p:nvPr/>
        </p:nvSpPr>
        <p:spPr bwMode="auto">
          <a:xfrm flipV="1">
            <a:off x="5562600" y="3733800"/>
            <a:ext cx="0" cy="182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76" name="Text Box 36"/>
          <p:cNvSpPr txBox="1">
            <a:spLocks noChangeArrowheads="1"/>
          </p:cNvSpPr>
          <p:nvPr/>
        </p:nvSpPr>
        <p:spPr bwMode="auto">
          <a:xfrm>
            <a:off x="3733800" y="1752600"/>
            <a:ext cx="3200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Tahoma" pitchFamily="34" charset="0"/>
              </a:rPr>
              <a:t>X</a:t>
            </a:r>
            <a:r>
              <a:rPr lang="en-US" baseline="-25000">
                <a:latin typeface="Tahoma" pitchFamily="34" charset="0"/>
              </a:rPr>
              <a:t>1</a:t>
            </a:r>
            <a:r>
              <a:rPr lang="en-US">
                <a:latin typeface="Tahoma" pitchFamily="34" charset="0"/>
              </a:rPr>
              <a:t>=2, X</a:t>
            </a:r>
            <a:r>
              <a:rPr lang="en-US" baseline="-25000">
                <a:latin typeface="Tahoma" pitchFamily="34" charset="0"/>
              </a:rPr>
              <a:t>2</a:t>
            </a:r>
            <a:r>
              <a:rPr lang="en-US">
                <a:latin typeface="Tahoma" pitchFamily="34" charset="0"/>
              </a:rPr>
              <a:t>=2, Obj = 10</a:t>
            </a:r>
          </a:p>
        </p:txBody>
      </p:sp>
      <p:sp>
        <p:nvSpPr>
          <p:cNvPr id="61477" name="Line 37"/>
          <p:cNvSpPr>
            <a:spLocks noChangeShapeType="1"/>
          </p:cNvSpPr>
          <p:nvPr/>
        </p:nvSpPr>
        <p:spPr bwMode="auto">
          <a:xfrm flipH="1">
            <a:off x="4191000" y="2133600"/>
            <a:ext cx="22860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78" name="Line 38"/>
          <p:cNvSpPr>
            <a:spLocks noChangeShapeType="1"/>
          </p:cNvSpPr>
          <p:nvPr/>
        </p:nvSpPr>
        <p:spPr bwMode="auto">
          <a:xfrm>
            <a:off x="1447800" y="2743200"/>
            <a:ext cx="274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80" name="Text Box 40"/>
          <p:cNvSpPr txBox="1">
            <a:spLocks noChangeArrowheads="1"/>
          </p:cNvSpPr>
          <p:nvPr/>
        </p:nvSpPr>
        <p:spPr bwMode="auto">
          <a:xfrm>
            <a:off x="5943600" y="3352800"/>
            <a:ext cx="3048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Tahoma" pitchFamily="34" charset="0"/>
              </a:rPr>
              <a:t>X</a:t>
            </a:r>
            <a:r>
              <a:rPr lang="en-US" baseline="-25000">
                <a:latin typeface="Tahoma" pitchFamily="34" charset="0"/>
              </a:rPr>
              <a:t>1</a:t>
            </a:r>
            <a:r>
              <a:rPr lang="en-US">
                <a:latin typeface="Tahoma" pitchFamily="34" charset="0"/>
              </a:rPr>
              <a:t>=3, X</a:t>
            </a:r>
            <a:r>
              <a:rPr lang="en-US" baseline="-25000">
                <a:latin typeface="Tahoma" pitchFamily="34" charset="0"/>
              </a:rPr>
              <a:t>2</a:t>
            </a:r>
            <a:r>
              <a:rPr lang="en-US">
                <a:latin typeface="Tahoma" pitchFamily="34" charset="0"/>
              </a:rPr>
              <a:t>=1.25, Obj = 9.75</a:t>
            </a:r>
          </a:p>
        </p:txBody>
      </p:sp>
      <p:sp>
        <p:nvSpPr>
          <p:cNvPr id="61481" name="Line 41"/>
          <p:cNvSpPr>
            <a:spLocks noChangeShapeType="1"/>
          </p:cNvSpPr>
          <p:nvPr/>
        </p:nvSpPr>
        <p:spPr bwMode="auto">
          <a:xfrm flipH="1">
            <a:off x="5581650" y="3581400"/>
            <a:ext cx="38100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00062"/>
          </a:xfrm>
        </p:spPr>
        <p:txBody>
          <a:bodyPr/>
          <a:lstStyle/>
          <a:p>
            <a:r>
              <a:rPr lang="en-US" sz="4000" i="1">
                <a:solidFill>
                  <a:schemeClr val="hlink"/>
                </a:solidFill>
              </a:rPr>
              <a:t>B&amp;B Summary</a:t>
            </a:r>
            <a:endParaRPr lang="en-US" sz="4000" dirty="0">
              <a:solidFill>
                <a:schemeClr val="hlink"/>
              </a:solidFill>
            </a:endParaRPr>
          </a:p>
        </p:txBody>
      </p:sp>
      <p:sp>
        <p:nvSpPr>
          <p:cNvPr id="62467" name="Oval 3"/>
          <p:cNvSpPr>
            <a:spLocks noChangeArrowheads="1"/>
          </p:cNvSpPr>
          <p:nvPr/>
        </p:nvSpPr>
        <p:spPr bwMode="auto">
          <a:xfrm>
            <a:off x="3810000" y="1143000"/>
            <a:ext cx="1295400" cy="12954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68" name="Text Box 4"/>
          <p:cNvSpPr txBox="1">
            <a:spLocks noChangeArrowheads="1"/>
          </p:cNvSpPr>
          <p:nvPr/>
        </p:nvSpPr>
        <p:spPr bwMode="auto">
          <a:xfrm>
            <a:off x="3733800" y="1371600"/>
            <a:ext cx="1447800" cy="77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sz="1600"/>
              <a:t>X</a:t>
            </a:r>
            <a:r>
              <a:rPr lang="en-US" sz="1600" baseline="-25000"/>
              <a:t>1</a:t>
            </a:r>
            <a:r>
              <a:rPr lang="en-US" sz="1600"/>
              <a:t>=2.769</a:t>
            </a:r>
          </a:p>
          <a:p>
            <a:pPr algn="ctr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sz="1600"/>
              <a:t>X</a:t>
            </a:r>
            <a:r>
              <a:rPr lang="en-US" sz="1600" baseline="-25000"/>
              <a:t>2</a:t>
            </a:r>
            <a:r>
              <a:rPr lang="en-US" sz="1600"/>
              <a:t>=1.826</a:t>
            </a:r>
          </a:p>
          <a:p>
            <a:pPr algn="ctr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sz="1600"/>
              <a:t>Obj = 11.019</a:t>
            </a:r>
          </a:p>
        </p:txBody>
      </p:sp>
      <p:sp>
        <p:nvSpPr>
          <p:cNvPr id="62469" name="Oval 5"/>
          <p:cNvSpPr>
            <a:spLocks noChangeArrowheads="1"/>
          </p:cNvSpPr>
          <p:nvPr/>
        </p:nvSpPr>
        <p:spPr bwMode="auto">
          <a:xfrm>
            <a:off x="1981200" y="2743200"/>
            <a:ext cx="1295400" cy="12954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70" name="Text Box 6"/>
          <p:cNvSpPr txBox="1">
            <a:spLocks noChangeArrowheads="1"/>
          </p:cNvSpPr>
          <p:nvPr/>
        </p:nvSpPr>
        <p:spPr bwMode="auto">
          <a:xfrm>
            <a:off x="1905000" y="2971800"/>
            <a:ext cx="1447800" cy="77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sz="1600"/>
              <a:t>X</a:t>
            </a:r>
            <a:r>
              <a:rPr lang="en-US" sz="1600" baseline="-25000"/>
              <a:t>1</a:t>
            </a:r>
            <a:r>
              <a:rPr lang="en-US" sz="1600"/>
              <a:t>=2</a:t>
            </a:r>
          </a:p>
          <a:p>
            <a:pPr algn="ctr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sz="1600"/>
              <a:t>X</a:t>
            </a:r>
            <a:r>
              <a:rPr lang="en-US" sz="1600" baseline="-25000"/>
              <a:t>2</a:t>
            </a:r>
            <a:r>
              <a:rPr lang="en-US" sz="1600"/>
              <a:t>=2.083</a:t>
            </a:r>
          </a:p>
          <a:p>
            <a:pPr algn="ctr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sz="1600"/>
              <a:t>Obj = 10.25</a:t>
            </a:r>
          </a:p>
        </p:txBody>
      </p:sp>
      <p:sp>
        <p:nvSpPr>
          <p:cNvPr id="62471" name="Oval 7"/>
          <p:cNvSpPr>
            <a:spLocks noChangeArrowheads="1"/>
          </p:cNvSpPr>
          <p:nvPr/>
        </p:nvSpPr>
        <p:spPr bwMode="auto">
          <a:xfrm>
            <a:off x="533400" y="4572000"/>
            <a:ext cx="1295400" cy="12954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72" name="Text Box 8"/>
          <p:cNvSpPr txBox="1">
            <a:spLocks noChangeArrowheads="1"/>
          </p:cNvSpPr>
          <p:nvPr/>
        </p:nvSpPr>
        <p:spPr bwMode="auto">
          <a:xfrm>
            <a:off x="457200" y="4800600"/>
            <a:ext cx="1447800" cy="77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sz="1600"/>
              <a:t>X</a:t>
            </a:r>
            <a:r>
              <a:rPr lang="en-US" sz="1600" baseline="-25000"/>
              <a:t>1</a:t>
            </a:r>
            <a:r>
              <a:rPr lang="en-US" sz="1600"/>
              <a:t>=2</a:t>
            </a:r>
          </a:p>
          <a:p>
            <a:pPr algn="ctr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sz="1600"/>
              <a:t>X</a:t>
            </a:r>
            <a:r>
              <a:rPr lang="en-US" sz="1600" baseline="-25000"/>
              <a:t>2</a:t>
            </a:r>
            <a:r>
              <a:rPr lang="en-US" sz="1600"/>
              <a:t>=2</a:t>
            </a:r>
          </a:p>
          <a:p>
            <a:pPr algn="ctr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sz="1600"/>
              <a:t>Obj = 10</a:t>
            </a:r>
          </a:p>
        </p:txBody>
      </p:sp>
      <p:sp>
        <p:nvSpPr>
          <p:cNvPr id="62473" name="Oval 9"/>
          <p:cNvSpPr>
            <a:spLocks noChangeArrowheads="1"/>
          </p:cNvSpPr>
          <p:nvPr/>
        </p:nvSpPr>
        <p:spPr bwMode="auto">
          <a:xfrm>
            <a:off x="3581400" y="4572000"/>
            <a:ext cx="1295400" cy="12954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74" name="Text Box 10"/>
          <p:cNvSpPr txBox="1">
            <a:spLocks noChangeArrowheads="1"/>
          </p:cNvSpPr>
          <p:nvPr/>
        </p:nvSpPr>
        <p:spPr bwMode="auto">
          <a:xfrm>
            <a:off x="3505200" y="5105400"/>
            <a:ext cx="1447800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sz="1600">
                <a:latin typeface="Tahoma" pitchFamily="34" charset="0"/>
              </a:rPr>
              <a:t>infeasible</a:t>
            </a:r>
            <a:endParaRPr lang="en-US" sz="1600" dirty="0">
              <a:latin typeface="Tahoma" pitchFamily="34" charset="0"/>
            </a:endParaRPr>
          </a:p>
        </p:txBody>
      </p:sp>
      <p:sp>
        <p:nvSpPr>
          <p:cNvPr id="62475" name="Oval 11"/>
          <p:cNvSpPr>
            <a:spLocks noChangeArrowheads="1"/>
          </p:cNvSpPr>
          <p:nvPr/>
        </p:nvSpPr>
        <p:spPr bwMode="auto">
          <a:xfrm>
            <a:off x="6629400" y="2743200"/>
            <a:ext cx="1295400" cy="12954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76" name="Text Box 12"/>
          <p:cNvSpPr txBox="1">
            <a:spLocks noChangeArrowheads="1"/>
          </p:cNvSpPr>
          <p:nvPr/>
        </p:nvSpPr>
        <p:spPr bwMode="auto">
          <a:xfrm>
            <a:off x="6553200" y="2971800"/>
            <a:ext cx="1447800" cy="77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sz="1600"/>
              <a:t>X</a:t>
            </a:r>
            <a:r>
              <a:rPr lang="en-US" sz="1600" baseline="-25000"/>
              <a:t>1</a:t>
            </a:r>
            <a:r>
              <a:rPr lang="en-US" sz="1600"/>
              <a:t>=3</a:t>
            </a:r>
          </a:p>
          <a:p>
            <a:pPr algn="ctr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sz="1600"/>
              <a:t>X</a:t>
            </a:r>
            <a:r>
              <a:rPr lang="en-US" sz="1600" baseline="-25000"/>
              <a:t>2</a:t>
            </a:r>
            <a:r>
              <a:rPr lang="en-US" sz="1600"/>
              <a:t>=1.25</a:t>
            </a:r>
          </a:p>
          <a:p>
            <a:pPr algn="ctr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sz="1600"/>
              <a:t>Obj = 9.75</a:t>
            </a:r>
          </a:p>
        </p:txBody>
      </p:sp>
      <p:sp>
        <p:nvSpPr>
          <p:cNvPr id="62477" name="Line 13"/>
          <p:cNvSpPr>
            <a:spLocks noChangeShapeType="1"/>
          </p:cNvSpPr>
          <p:nvPr/>
        </p:nvSpPr>
        <p:spPr bwMode="auto">
          <a:xfrm>
            <a:off x="6705600" y="4114800"/>
            <a:ext cx="114300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78" name="Line 14"/>
          <p:cNvSpPr>
            <a:spLocks noChangeShapeType="1"/>
          </p:cNvSpPr>
          <p:nvPr/>
        </p:nvSpPr>
        <p:spPr bwMode="auto">
          <a:xfrm>
            <a:off x="3657600" y="5943600"/>
            <a:ext cx="114300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79" name="Line 15"/>
          <p:cNvSpPr>
            <a:spLocks noChangeShapeType="1"/>
          </p:cNvSpPr>
          <p:nvPr/>
        </p:nvSpPr>
        <p:spPr bwMode="auto">
          <a:xfrm>
            <a:off x="5105400" y="1828800"/>
            <a:ext cx="1676400" cy="1066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80" name="Line 16"/>
          <p:cNvSpPr>
            <a:spLocks noChangeShapeType="1"/>
          </p:cNvSpPr>
          <p:nvPr/>
        </p:nvSpPr>
        <p:spPr bwMode="auto">
          <a:xfrm flipH="1">
            <a:off x="2667000" y="1752600"/>
            <a:ext cx="1143000" cy="990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81" name="Line 17"/>
          <p:cNvSpPr>
            <a:spLocks noChangeShapeType="1"/>
          </p:cNvSpPr>
          <p:nvPr/>
        </p:nvSpPr>
        <p:spPr bwMode="auto">
          <a:xfrm flipH="1">
            <a:off x="1371600" y="3810000"/>
            <a:ext cx="762000" cy="762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82" name="Line 18"/>
          <p:cNvSpPr>
            <a:spLocks noChangeShapeType="1"/>
          </p:cNvSpPr>
          <p:nvPr/>
        </p:nvSpPr>
        <p:spPr bwMode="auto">
          <a:xfrm>
            <a:off x="3124200" y="3810000"/>
            <a:ext cx="762000" cy="838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83" name="Text Box 19"/>
          <p:cNvSpPr txBox="1">
            <a:spLocks noChangeArrowheads="1"/>
          </p:cNvSpPr>
          <p:nvPr/>
        </p:nvSpPr>
        <p:spPr bwMode="auto">
          <a:xfrm>
            <a:off x="4953000" y="1066800"/>
            <a:ext cx="2743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600"/>
              <a:t>Original </a:t>
            </a:r>
            <a:r>
              <a:rPr lang="en-US" sz="1600" dirty="0"/>
              <a:t>Problem</a:t>
            </a:r>
          </a:p>
        </p:txBody>
      </p:sp>
      <p:sp>
        <p:nvSpPr>
          <p:cNvPr id="62484" name="Text Box 20"/>
          <p:cNvSpPr txBox="1">
            <a:spLocks noChangeArrowheads="1"/>
          </p:cNvSpPr>
          <p:nvPr/>
        </p:nvSpPr>
        <p:spPr bwMode="auto">
          <a:xfrm>
            <a:off x="7543800" y="2438400"/>
            <a:ext cx="1371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600">
                <a:latin typeface="Tahoma" pitchFamily="34" charset="0"/>
              </a:rPr>
              <a:t>Problem II</a:t>
            </a:r>
          </a:p>
        </p:txBody>
      </p:sp>
      <p:sp>
        <p:nvSpPr>
          <p:cNvPr id="62485" name="Text Box 21"/>
          <p:cNvSpPr txBox="1">
            <a:spLocks noChangeArrowheads="1"/>
          </p:cNvSpPr>
          <p:nvPr/>
        </p:nvSpPr>
        <p:spPr bwMode="auto">
          <a:xfrm>
            <a:off x="3124200" y="2667000"/>
            <a:ext cx="1371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600">
                <a:latin typeface="Tahoma" pitchFamily="34" charset="0"/>
              </a:rPr>
              <a:t>Problem I</a:t>
            </a:r>
          </a:p>
        </p:txBody>
      </p:sp>
      <p:sp>
        <p:nvSpPr>
          <p:cNvPr id="62486" name="Text Box 22"/>
          <p:cNvSpPr txBox="1">
            <a:spLocks noChangeArrowheads="1"/>
          </p:cNvSpPr>
          <p:nvPr/>
        </p:nvSpPr>
        <p:spPr bwMode="auto">
          <a:xfrm>
            <a:off x="1752600" y="4495800"/>
            <a:ext cx="1371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600">
                <a:latin typeface="Tahoma" pitchFamily="34" charset="0"/>
              </a:rPr>
              <a:t>Problem III</a:t>
            </a:r>
          </a:p>
        </p:txBody>
      </p:sp>
      <p:sp>
        <p:nvSpPr>
          <p:cNvPr id="62487" name="Text Box 23"/>
          <p:cNvSpPr txBox="1">
            <a:spLocks noChangeArrowheads="1"/>
          </p:cNvSpPr>
          <p:nvPr/>
        </p:nvSpPr>
        <p:spPr bwMode="auto">
          <a:xfrm>
            <a:off x="4724400" y="4495800"/>
            <a:ext cx="1371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600">
                <a:latin typeface="Tahoma" pitchFamily="34" charset="0"/>
              </a:rPr>
              <a:t>Problem IV</a:t>
            </a:r>
          </a:p>
        </p:txBody>
      </p:sp>
      <p:sp>
        <p:nvSpPr>
          <p:cNvPr id="62488" name="Text Box 24"/>
          <p:cNvSpPr txBox="1">
            <a:spLocks noChangeArrowheads="1"/>
          </p:cNvSpPr>
          <p:nvPr/>
        </p:nvSpPr>
        <p:spPr bwMode="auto">
          <a:xfrm>
            <a:off x="5638800" y="1752600"/>
            <a:ext cx="1295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/>
              <a:t>X</a:t>
            </a:r>
            <a:r>
              <a:rPr lang="en-US" sz="2000" baseline="-25000"/>
              <a:t>1</a:t>
            </a:r>
            <a:r>
              <a:rPr lang="en-US" sz="2000"/>
              <a:t>&gt;=3</a:t>
            </a:r>
          </a:p>
        </p:txBody>
      </p:sp>
      <p:sp>
        <p:nvSpPr>
          <p:cNvPr id="62489" name="Text Box 25"/>
          <p:cNvSpPr txBox="1">
            <a:spLocks noChangeArrowheads="1"/>
          </p:cNvSpPr>
          <p:nvPr/>
        </p:nvSpPr>
        <p:spPr bwMode="auto">
          <a:xfrm>
            <a:off x="2209800" y="1905000"/>
            <a:ext cx="1295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/>
              <a:t>X</a:t>
            </a:r>
            <a:r>
              <a:rPr lang="en-US" sz="2000" baseline="-25000"/>
              <a:t>1</a:t>
            </a:r>
            <a:r>
              <a:rPr lang="en-US" sz="2000"/>
              <a:t>&lt;=2</a:t>
            </a:r>
          </a:p>
        </p:txBody>
      </p:sp>
      <p:sp>
        <p:nvSpPr>
          <p:cNvPr id="62490" name="Text Box 26"/>
          <p:cNvSpPr txBox="1">
            <a:spLocks noChangeArrowheads="1"/>
          </p:cNvSpPr>
          <p:nvPr/>
        </p:nvSpPr>
        <p:spPr bwMode="auto">
          <a:xfrm>
            <a:off x="3505200" y="3886200"/>
            <a:ext cx="1295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/>
              <a:t>X</a:t>
            </a:r>
            <a:r>
              <a:rPr lang="en-US" sz="2000" baseline="-25000"/>
              <a:t>2</a:t>
            </a:r>
            <a:r>
              <a:rPr lang="en-US" sz="2000"/>
              <a:t>&gt;=3</a:t>
            </a:r>
          </a:p>
        </p:txBody>
      </p:sp>
      <p:sp>
        <p:nvSpPr>
          <p:cNvPr id="62491" name="Text Box 27"/>
          <p:cNvSpPr txBox="1">
            <a:spLocks noChangeArrowheads="1"/>
          </p:cNvSpPr>
          <p:nvPr/>
        </p:nvSpPr>
        <p:spPr bwMode="auto">
          <a:xfrm>
            <a:off x="838200" y="3886200"/>
            <a:ext cx="1295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/>
              <a:t>X</a:t>
            </a:r>
            <a:r>
              <a:rPr lang="en-US" sz="2000" baseline="-25000"/>
              <a:t>2</a:t>
            </a:r>
            <a:r>
              <a:rPr lang="en-US" sz="2000"/>
              <a:t>&lt;=2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667000"/>
            <a:ext cx="7772400" cy="1219200"/>
          </a:xfrm>
          <a:noFill/>
          <a:ln/>
        </p:spPr>
        <p:txBody>
          <a:bodyPr lIns="92075" tIns="46038" rIns="92075" bIns="46038"/>
          <a:lstStyle/>
          <a:p>
            <a:r>
              <a:rPr lang="en-US" dirty="0">
                <a:solidFill>
                  <a:schemeClr val="hlink"/>
                </a:solidFill>
              </a:rPr>
              <a:t>End </a:t>
            </a:r>
            <a:r>
              <a:rPr lang="en-US">
                <a:solidFill>
                  <a:schemeClr val="hlink"/>
                </a:solidFill>
              </a:rPr>
              <a:t>of Chapter </a:t>
            </a:r>
            <a:r>
              <a:rPr lang="en-US" dirty="0">
                <a:solidFill>
                  <a:schemeClr val="hlink"/>
                </a:solidFill>
              </a:rPr>
              <a:t>6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466725" y="1752600"/>
            <a:ext cx="8001000" cy="19050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sz="4000">
                <a:solidFill>
                  <a:schemeClr val="tx1"/>
                </a:solidFill>
              </a:rPr>
              <a:t>The Analytic Solver Platform software featured </a:t>
            </a:r>
            <a:r>
              <a:rPr lang="en-US" sz="4000" dirty="0">
                <a:solidFill>
                  <a:schemeClr val="tx1"/>
                </a:solidFill>
              </a:rPr>
              <a:t>in this book is provided by Frontline Systems.</a:t>
            </a:r>
            <a:br>
              <a:rPr lang="en-US" sz="4000" dirty="0">
                <a:solidFill>
                  <a:schemeClr val="tx1"/>
                </a:solidFill>
              </a:rPr>
            </a:br>
            <a:br>
              <a:rPr lang="en-US" sz="4000" dirty="0">
                <a:solidFill>
                  <a:schemeClr val="tx1"/>
                </a:solidFill>
              </a:rPr>
            </a:br>
            <a:r>
              <a:rPr lang="en-US" sz="4000" dirty="0">
                <a:solidFill>
                  <a:schemeClr val="tx1"/>
                </a:solidFill>
              </a:rPr>
              <a:t>http://www.solver.com</a:t>
            </a:r>
            <a:br>
              <a:rPr lang="en-US" sz="4000" dirty="0">
                <a:solidFill>
                  <a:schemeClr val="tx1"/>
                </a:solidFill>
              </a:rPr>
            </a:br>
            <a:endParaRPr lang="en-US" sz="4000" dirty="0">
              <a:solidFill>
                <a:schemeClr val="tx1"/>
              </a:solidFill>
            </a:endParaRPr>
          </a:p>
        </p:txBody>
      </p:sp>
      <p:pic>
        <p:nvPicPr>
          <p:cNvPr id="2051" name="Picture 2" descr="C:\Users\BIT\Documents\My Dropbox\SMDA\frontline-system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9625" y="4495800"/>
            <a:ext cx="2235200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</a:t>
            </a:r>
            <a:r>
              <a:rPr lang="en-US" sz="800"/>
              <a:t>2017 Cengage Learning. All </a:t>
            </a:r>
            <a:r>
              <a:rPr lang="en-US" sz="800" dirty="0"/>
              <a:t>Rights Reserved</a:t>
            </a:r>
            <a:r>
              <a:rPr lang="en-US" sz="800"/>
              <a:t>. May </a:t>
            </a:r>
            <a:r>
              <a:rPr lang="en-US" sz="800" dirty="0"/>
              <a:t>not </a:t>
            </a:r>
            <a:r>
              <a:rPr lang="en-US" sz="800"/>
              <a:t>be scanned</a:t>
            </a:r>
            <a:r>
              <a:rPr lang="en-US" sz="800" dirty="0"/>
              <a:t>, copied </a:t>
            </a:r>
            <a:r>
              <a:rPr lang="en-US" sz="800"/>
              <a:t>or duplicated</a:t>
            </a:r>
            <a:r>
              <a:rPr lang="en-US" sz="800" dirty="0"/>
              <a:t>, or posted </a:t>
            </a:r>
            <a:r>
              <a:rPr lang="en-US" sz="800"/>
              <a:t>to a publicly accessible </a:t>
            </a:r>
            <a:r>
              <a:rPr lang="en-US" sz="800" dirty="0"/>
              <a:t>website, in whole or </a:t>
            </a:r>
            <a:r>
              <a:rPr lang="en-US" sz="800"/>
              <a:t>in part</a:t>
            </a:r>
            <a:r>
              <a:rPr lang="en-US" sz="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3750451"/>
      </p:ext>
    </p:extLst>
  </p:cSld>
  <p:clrMapOvr>
    <a:masterClrMapping/>
  </p:clrMapOvr>
</p:sld>
</file>

<file path=ppt/theme/theme1.xml><?xml version="1.0" encoding="utf-8"?>
<a:theme xmlns:a="http://schemas.openxmlformats.org/drawingml/2006/main" name="SMDA5">
  <a:themeElements>
    <a:clrScheme name="SMDA5 8">
      <a:dk1>
        <a:srgbClr val="003366"/>
      </a:dk1>
      <a:lt1>
        <a:srgbClr val="FFFFFF"/>
      </a:lt1>
      <a:dk2>
        <a:srgbClr val="000099"/>
      </a:dk2>
      <a:lt2>
        <a:srgbClr val="CCFFFF"/>
      </a:lt2>
      <a:accent1>
        <a:srgbClr val="3366CC"/>
      </a:accent1>
      <a:accent2>
        <a:srgbClr val="00B000"/>
      </a:accent2>
      <a:accent3>
        <a:srgbClr val="AAAACA"/>
      </a:accent3>
      <a:accent4>
        <a:srgbClr val="DADADA"/>
      </a:accent4>
      <a:accent5>
        <a:srgbClr val="ADB8E2"/>
      </a:accent5>
      <a:accent6>
        <a:srgbClr val="009F00"/>
      </a:accent6>
      <a:hlink>
        <a:srgbClr val="66CCFF"/>
      </a:hlink>
      <a:folHlink>
        <a:srgbClr val="FFE701"/>
      </a:folHlink>
    </a:clrScheme>
    <a:fontScheme name="SMDA5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SMDA5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DA5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DA5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DA5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DA5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DA5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DA5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DA5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DA5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DA5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DA5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DA5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SMDA5</Template>
  <TotalTime>1370</TotalTime>
  <Words>5799</Words>
  <Application>Microsoft Office PowerPoint</Application>
  <PresentationFormat>On-screen Show (4:3)</PresentationFormat>
  <Paragraphs>633</Paragraphs>
  <Slides>66</Slides>
  <Notes>66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3" baseType="lpstr">
      <vt:lpstr>Arial</vt:lpstr>
      <vt:lpstr>Cambria Math</vt:lpstr>
      <vt:lpstr>Tahoma</vt:lpstr>
      <vt:lpstr>Times New Roman</vt:lpstr>
      <vt:lpstr>Wingdings</vt:lpstr>
      <vt:lpstr>SMDA5</vt:lpstr>
      <vt:lpstr>Equation</vt:lpstr>
      <vt:lpstr>Spreadsheet Modeling  &amp; Decision Analysis</vt:lpstr>
      <vt:lpstr>Integer Linear Programming</vt:lpstr>
      <vt:lpstr>Introduction</vt:lpstr>
      <vt:lpstr>Integrality Conditions</vt:lpstr>
      <vt:lpstr>Relaxation</vt:lpstr>
      <vt:lpstr>Integer Feasible vs.  LP Feasible Region</vt:lpstr>
      <vt:lpstr>Solving ILP Problems</vt:lpstr>
      <vt:lpstr>Bounds</vt:lpstr>
      <vt:lpstr>Rounding</vt:lpstr>
      <vt:lpstr>How Rounding Down Can Result  in an Infeasible Solution</vt:lpstr>
      <vt:lpstr>Branch-and-Bound</vt:lpstr>
      <vt:lpstr>Stopping Rules</vt:lpstr>
      <vt:lpstr>Using Solver</vt:lpstr>
      <vt:lpstr>An Employee Scheduling Problem: Air-Express</vt:lpstr>
      <vt:lpstr>Defining the Decision Variables</vt:lpstr>
      <vt:lpstr>Defining the Objective Function</vt:lpstr>
      <vt:lpstr>Defining the Constraints</vt:lpstr>
      <vt:lpstr>Implementing the Model</vt:lpstr>
      <vt:lpstr>Binary Variables</vt:lpstr>
      <vt:lpstr>A Capital Budgeting Problem: CRT Technologies</vt:lpstr>
      <vt:lpstr>Defining the Decision Variables</vt:lpstr>
      <vt:lpstr>Defining the Objective Function</vt:lpstr>
      <vt:lpstr>Defining the Constraints</vt:lpstr>
      <vt:lpstr>Implementing the Model</vt:lpstr>
      <vt:lpstr>Binary Variables  &amp; Logical Conditions</vt:lpstr>
      <vt:lpstr>A Line Balancing Problem: Colpitts Control Devices</vt:lpstr>
      <vt:lpstr>Defining the Decision Variables</vt:lpstr>
      <vt:lpstr>Defining the Constraints -I</vt:lpstr>
      <vt:lpstr>Defining the Constraints - II</vt:lpstr>
      <vt:lpstr>Defining the Constraints - III</vt:lpstr>
      <vt:lpstr>Defining the Objective Function</vt:lpstr>
      <vt:lpstr>Implementing the Model</vt:lpstr>
      <vt:lpstr>Extension</vt:lpstr>
      <vt:lpstr>Modifying the Model</vt:lpstr>
      <vt:lpstr>The Fixed-Charge Problem</vt:lpstr>
      <vt:lpstr>Example Fixed-Charge Problem: Remington Manufacturing</vt:lpstr>
      <vt:lpstr>Defining the Decision Variables</vt:lpstr>
      <vt:lpstr>Defining the Objective Function</vt:lpstr>
      <vt:lpstr>Defining the Constraints</vt:lpstr>
      <vt:lpstr>Defining the Constraints (cont’d)</vt:lpstr>
      <vt:lpstr>Finding Reasonable Values for M1</vt:lpstr>
      <vt:lpstr>Summary of the Model</vt:lpstr>
      <vt:lpstr>Implementing the Model</vt:lpstr>
      <vt:lpstr>On the use if IF( ) functions - I</vt:lpstr>
      <vt:lpstr>Minimum Order Size Restrictions</vt:lpstr>
      <vt:lpstr>Quantity Discounts</vt:lpstr>
      <vt:lpstr>Quantity Discount Model</vt:lpstr>
      <vt:lpstr>A Contract Award Problem</vt:lpstr>
      <vt:lpstr>A Contract Award Problem</vt:lpstr>
      <vt:lpstr>Defining the Decision Variables</vt:lpstr>
      <vt:lpstr>Defining the Objective Function</vt:lpstr>
      <vt:lpstr>Defining the Constraints</vt:lpstr>
      <vt:lpstr>Implementing the  Transportation Constraints</vt:lpstr>
      <vt:lpstr>Defining the Constraints-I</vt:lpstr>
      <vt:lpstr>Defining the Constraints-II</vt:lpstr>
      <vt:lpstr>Defining the Constraints-III</vt:lpstr>
      <vt:lpstr>Implementing the Side Constraints</vt:lpstr>
      <vt:lpstr>The Branch-And-Bound Algorithm</vt:lpstr>
      <vt:lpstr>Solution to LP Relaxation</vt:lpstr>
      <vt:lpstr>The Branch-And-Bound Algorithm</vt:lpstr>
      <vt:lpstr>Solution to LP Relaxation</vt:lpstr>
      <vt:lpstr>The Branch-And-Bound Algorithm</vt:lpstr>
      <vt:lpstr>Solution to LP Relaxation</vt:lpstr>
      <vt:lpstr>B&amp;B Summary</vt:lpstr>
      <vt:lpstr>End of Chapter 6</vt:lpstr>
      <vt:lpstr>The Analytic Solver Platform software featured in this book is provided by Frontline Systems.  http://www.solver.com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Spreadsheet Modeling &amp; Decision Analysis:</dc:title>
  <dc:creator>Cliff Ragsdale</dc:creator>
  <cp:lastModifiedBy>Arie Harel</cp:lastModifiedBy>
  <cp:revision>127</cp:revision>
  <dcterms:created xsi:type="dcterms:W3CDTF">1995-06-17T23:31:02Z</dcterms:created>
  <dcterms:modified xsi:type="dcterms:W3CDTF">2020-09-11T16:42:21Z</dcterms:modified>
</cp:coreProperties>
</file>