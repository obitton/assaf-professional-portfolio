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8" r:id="rId1"/>
  </p:sldMasterIdLst>
  <p:notesMasterIdLst>
    <p:notesMasterId r:id="rId55"/>
  </p:notesMasterIdLst>
  <p:handoutMasterIdLst>
    <p:handoutMasterId r:id="rId56"/>
  </p:handoutMasterIdLst>
  <p:sldIdLst>
    <p:sldId id="372" r:id="rId2"/>
    <p:sldId id="256" r:id="rId3"/>
    <p:sldId id="279" r:id="rId4"/>
    <p:sldId id="303" r:id="rId5"/>
    <p:sldId id="374" r:id="rId6"/>
    <p:sldId id="304" r:id="rId7"/>
    <p:sldId id="284" r:id="rId8"/>
    <p:sldId id="362" r:id="rId9"/>
    <p:sldId id="306" r:id="rId10"/>
    <p:sldId id="307" r:id="rId11"/>
    <p:sldId id="308" r:id="rId12"/>
    <p:sldId id="369" r:id="rId13"/>
    <p:sldId id="309" r:id="rId14"/>
    <p:sldId id="310" r:id="rId15"/>
    <p:sldId id="311" r:id="rId16"/>
    <p:sldId id="312" r:id="rId17"/>
    <p:sldId id="314" r:id="rId18"/>
    <p:sldId id="315" r:id="rId19"/>
    <p:sldId id="316" r:id="rId20"/>
    <p:sldId id="317" r:id="rId21"/>
    <p:sldId id="318" r:id="rId22"/>
    <p:sldId id="319" r:id="rId23"/>
    <p:sldId id="320" r:id="rId24"/>
    <p:sldId id="321" r:id="rId25"/>
    <p:sldId id="328" r:id="rId26"/>
    <p:sldId id="329" r:id="rId27"/>
    <p:sldId id="330" r:id="rId28"/>
    <p:sldId id="331" r:id="rId29"/>
    <p:sldId id="332" r:id="rId30"/>
    <p:sldId id="334" r:id="rId31"/>
    <p:sldId id="335" r:id="rId32"/>
    <p:sldId id="336" r:id="rId33"/>
    <p:sldId id="337" r:id="rId34"/>
    <p:sldId id="297" r:id="rId35"/>
    <p:sldId id="339" r:id="rId36"/>
    <p:sldId id="340" r:id="rId37"/>
    <p:sldId id="341" r:id="rId38"/>
    <p:sldId id="342" r:id="rId39"/>
    <p:sldId id="333" r:id="rId40"/>
    <p:sldId id="338" r:id="rId41"/>
    <p:sldId id="345" r:id="rId42"/>
    <p:sldId id="346" r:id="rId43"/>
    <p:sldId id="347" r:id="rId44"/>
    <p:sldId id="370" r:id="rId45"/>
    <p:sldId id="348" r:id="rId46"/>
    <p:sldId id="349" r:id="rId47"/>
    <p:sldId id="350" r:id="rId48"/>
    <p:sldId id="353" r:id="rId49"/>
    <p:sldId id="351" r:id="rId50"/>
    <p:sldId id="352" r:id="rId51"/>
    <p:sldId id="354" r:id="rId52"/>
    <p:sldId id="361" r:id="rId53"/>
    <p:sldId id="278" r:id="rId5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C0C0"/>
    <a:srgbClr val="3399FF"/>
    <a:srgbClr val="CC0000"/>
    <a:srgbClr val="FFFFFF"/>
    <a:srgbClr val="856E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06" autoAdjust="0"/>
    <p:restoredTop sz="94660"/>
  </p:normalViewPr>
  <p:slideViewPr>
    <p:cSldViewPr>
      <p:cViewPr varScale="1">
        <p:scale>
          <a:sx n="102" d="100"/>
          <a:sy n="102" d="100"/>
        </p:scale>
        <p:origin x="2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1424"/>
    </p:cViewPr>
  </p:sorterViewPr>
  <p:notesViewPr>
    <p:cSldViewPr>
      <p:cViewPr varScale="1">
        <p:scale>
          <a:sx n="42" d="100"/>
          <a:sy n="42" d="100"/>
        </p:scale>
        <p:origin x="-1253" y="-93"/>
      </p:cViewPr>
      <p:guideLst>
        <p:guide orient="horz" pos="2160"/>
        <p:guide pos="288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50858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000" i="1"/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000" i="1"/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9350" y="692150"/>
            <a:ext cx="4559300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000" i="1"/>
            </a:lvl1pPr>
          </a:lstStyle>
          <a:p>
            <a:endParaRPr lang="en-US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000" i="1"/>
            </a:lvl1pPr>
          </a:lstStyle>
          <a:p>
            <a:fld id="{897DD01F-0F39-4E9C-B9D1-03B83A4352F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91125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C2589D30-6639-4274-9B42-3F9D5FCCD1DC}" type="slidenum">
              <a:rPr lang="en-US"/>
              <a:pPr/>
              <a:t>1</a:t>
            </a:fld>
            <a:endParaRPr lang="en-US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9103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7DD01F-0F39-4E9C-B9D1-03B83A4352F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7174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7DD01F-0F39-4E9C-B9D1-03B83A4352F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64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7DD01F-0F39-4E9C-B9D1-03B83A4352F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8561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7DD01F-0F39-4E9C-B9D1-03B83A4352F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8561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7DD01F-0F39-4E9C-B9D1-03B83A4352F1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5709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7DD01F-0F39-4E9C-B9D1-03B83A4352F1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4805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7DD01F-0F39-4E9C-B9D1-03B83A4352F1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775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7DD01F-0F39-4E9C-B9D1-03B83A4352F1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2091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7DD01F-0F39-4E9C-B9D1-03B83A4352F1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7991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7DD01F-0F39-4E9C-B9D1-03B83A4352F1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8952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7DD01F-0F39-4E9C-B9D1-03B83A4352F1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3299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7DD01F-0F39-4E9C-B9D1-03B83A4352F1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9524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7DD01F-0F39-4E9C-B9D1-03B83A4352F1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4442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7DD01F-0F39-4E9C-B9D1-03B83A4352F1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240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7DD01F-0F39-4E9C-B9D1-03B83A4352F1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4435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7DD01F-0F39-4E9C-B9D1-03B83A4352F1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4761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7DD01F-0F39-4E9C-B9D1-03B83A4352F1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1982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7DD01F-0F39-4E9C-B9D1-03B83A4352F1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7288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7180CD5-306E-4858-9058-A1074DCBF7E0}" type="slidenum">
              <a:rPr lang="en-US"/>
              <a:pPr/>
              <a:t>20</a:t>
            </a:fld>
            <a:endParaRPr lang="en-US"/>
          </a:p>
        </p:txBody>
      </p:sp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3943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7DD01F-0F39-4E9C-B9D1-03B83A4352F1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5179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7DD01F-0F39-4E9C-B9D1-03B83A4352F1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6429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7DD01F-0F39-4E9C-B9D1-03B83A4352F1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3507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7DD01F-0F39-4E9C-B9D1-03B83A4352F1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5003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7DD01F-0F39-4E9C-B9D1-03B83A4352F1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59183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7DD01F-0F39-4E9C-B9D1-03B83A4352F1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2879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7DD01F-0F39-4E9C-B9D1-03B83A4352F1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7574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7DD01F-0F39-4E9C-B9D1-03B83A4352F1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0970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7DD01F-0F39-4E9C-B9D1-03B83A4352F1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76239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7DD01F-0F39-4E9C-B9D1-03B83A4352F1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03619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7DD01F-0F39-4E9C-B9D1-03B83A4352F1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14242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7DD01F-0F39-4E9C-B9D1-03B83A4352F1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06297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7DD01F-0F39-4E9C-B9D1-03B83A4352F1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06445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7DD01F-0F39-4E9C-B9D1-03B83A4352F1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99144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7DD01F-0F39-4E9C-B9D1-03B83A4352F1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6980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7DD01F-0F39-4E9C-B9D1-03B83A4352F1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84989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7DD01F-0F39-4E9C-B9D1-03B83A4352F1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69178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7DD01F-0F39-4E9C-B9D1-03B83A4352F1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65033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7DD01F-0F39-4E9C-B9D1-03B83A4352F1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61599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7DD01F-0F39-4E9C-B9D1-03B83A4352F1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1806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7DD01F-0F39-4E9C-B9D1-03B83A4352F1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98992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7DD01F-0F39-4E9C-B9D1-03B83A4352F1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13611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7DD01F-0F39-4E9C-B9D1-03B83A4352F1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65144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7DD01F-0F39-4E9C-B9D1-03B83A4352F1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92733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7DD01F-0F39-4E9C-B9D1-03B83A4352F1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51407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7DD01F-0F39-4E9C-B9D1-03B83A4352F1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27583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7DD01F-0F39-4E9C-B9D1-03B83A4352F1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96589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7DD01F-0F39-4E9C-B9D1-03B83A4352F1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7588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7DD01F-0F39-4E9C-B9D1-03B83A4352F1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12332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7DD01F-0F39-4E9C-B9D1-03B83A4352F1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78774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7DD01F-0F39-4E9C-B9D1-03B83A4352F1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41060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7DD01F-0F39-4E9C-B9D1-03B83A4352F1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85707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3F3C0CA-3073-41D5-9BF2-B0C03BCC102A}" type="slidenum">
              <a:rPr lang="en-US"/>
              <a:pPr/>
              <a:t>53</a:t>
            </a:fld>
            <a:endParaRPr lang="en-US"/>
          </a:p>
        </p:txBody>
      </p:sp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286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2017 Cengage Learning. All Rights Reserved. May not be scanned, copied or duplicated, or posted to a publicly accessible website, in whole or in part.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B7B7A0-8ECE-423C-99A2-CCE79E7F40F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821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2017 Cengage Learning. All Rights Reserved. May not be scanned, copied or duplicated, or posted to a publicly accessible website, in whole or in part.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B12278-10A6-4AD0-AADD-7CA0E361300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688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2017 Cengage Learning. All Rights Reserved. May not be scanned, copied or duplicated, or posted to a publicly accessible website, in whole or in part.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BE6B8B-9455-4DE3-8FDA-C93ADACC419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735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2017 Cengage Learning. All Rights Reserved. May not be scanned, copied or duplicated, or posted to a publicly accessible website, in whole or in part.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A828AC-B2EB-4964-BB58-76DE097CF09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063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2017 Cengage Learning. All Rights Reserved. May not be scanned, copied or duplicated, or posted to a publicly accessible website, in whole or in part.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DACD76-F788-4371-B328-B1C8372095B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383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2017 Cengage Learning. All Rights Reserved. May not be scanned, copied or duplicated, or posted to a publicly accessible website, in whole or in part.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C24B28-A7C5-4A53-A0DC-01B64EE75DC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374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2017 Cengage Learning. All Rights Reserved. May not be scanned, copied or duplicated, or posted to a publicly accessible website, in whole or in part.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08B4E1-93B5-45C3-BC88-EA076AC40BD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475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2017 Cengage Learning. All Rights Reserved. May not be scanned, copied or duplicated, or posted to a publicly accessible website, in whole or in part.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5A537B-C38B-450F-95EB-D5BFC1A3C22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939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2017 Cengage Learning. All Rights Reserved. May not be scanned, copied or duplicated, or posted to a publicly accessible website, in whole or in part.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410AC6-6AB5-4104-A40C-2CC669F1A9D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633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2017 Cengage Learning. All Rights Reserved. May not be scanned, copied or duplicated, or posted to a publicly accessible website, in whole or in part.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22F03C-7E5C-4216-871A-E1335B15F07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860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2017 Cengage Learning. All Rights Reserved. May not be scanned, copied or duplicated, or posted to a publicly accessible website, in whole or in part.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A2FABA-EF28-45D4-9B29-E03F2A90E47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470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035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035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r>
              <a:rPr lang="en-US" dirty="0"/>
              <a:t>© 2017 Cengage Learning. All Rights Reserved. May not be scanned, copied or duplicated, or posted to a publicly accessible website, in whole or in part.  </a:t>
            </a:r>
          </a:p>
        </p:txBody>
      </p:sp>
      <p:sp>
        <p:nvSpPr>
          <p:cNvPr id="10035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61C9B21-07E9-4070-B4AB-9BBE2ABECB49}" type="slidenum">
              <a:rPr lang="en-US"/>
              <a:pPr/>
              <a:t>‹#›</a:t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Ø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olver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olver.com/studen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Fig3-1.xlsm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Fig3-19.xlsm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Fig3-22.xlsm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Fig3-26.xlsm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Fig3-30.xlsm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Fig3-33.xlsm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Fig3-37.xlsm" TargetMode="External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219200"/>
            <a:ext cx="7772400" cy="11430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b="1" i="1" dirty="0">
                <a:solidFill>
                  <a:schemeClr val="hlink"/>
                </a:solidFill>
              </a:rPr>
              <a:t>Spreadsheet Modeling </a:t>
            </a:r>
            <a:br>
              <a:rPr lang="en-US" b="1" i="1" dirty="0">
                <a:solidFill>
                  <a:schemeClr val="hlink"/>
                </a:solidFill>
              </a:rPr>
            </a:br>
            <a:r>
              <a:rPr lang="en-US" b="1" i="1" dirty="0">
                <a:solidFill>
                  <a:schemeClr val="hlink"/>
                </a:solidFill>
              </a:rPr>
              <a:t>&amp; Decision Analysis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895600"/>
            <a:ext cx="6400800" cy="17526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dirty="0"/>
              <a:t>A Practical Introduction to Business Analytics </a:t>
            </a:r>
          </a:p>
          <a:p>
            <a:pPr eaLnBrk="1" hangingPunct="1"/>
            <a:r>
              <a:rPr lang="en-US" sz="2400" dirty="0"/>
              <a:t>8</a:t>
            </a:r>
            <a:r>
              <a:rPr lang="en-US" sz="2400" baseline="30000" dirty="0"/>
              <a:t>th</a:t>
            </a:r>
            <a:r>
              <a:rPr lang="en-US" sz="2400" dirty="0"/>
              <a:t> edition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Cliff T. Ragsdale</a:t>
            </a:r>
          </a:p>
          <a:p>
            <a:pPr eaLnBrk="1" hangingPunct="1"/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4495800"/>
            <a:ext cx="161544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029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828800"/>
            <a:ext cx="7772400" cy="2362200"/>
          </a:xfrm>
          <a:noFill/>
          <a:ln/>
        </p:spPr>
        <p:txBody>
          <a:bodyPr lIns="92075" tIns="46038" rIns="92075" bIns="46038"/>
          <a:lstStyle/>
          <a:p>
            <a:r>
              <a:rPr lang="en-US" dirty="0">
                <a:solidFill>
                  <a:schemeClr val="tx1"/>
                </a:solidFill>
              </a:rPr>
              <a:t>Modeling and Solving LP Problems in a Spreadsheet</a:t>
            </a:r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762000" y="228600"/>
            <a:ext cx="7772400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/>
            <a:r>
              <a:rPr lang="en-US" sz="4400" b="1" i="1">
                <a:solidFill>
                  <a:schemeClr val="hlink"/>
                </a:solidFill>
                <a:latin typeface="Tahoma" pitchFamily="34" charset="0"/>
              </a:rPr>
              <a:t>Chapter 3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i="1">
                <a:solidFill>
                  <a:schemeClr val="hlink"/>
                </a:solidFill>
              </a:rPr>
              <a:t>Introduction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443413"/>
          </a:xfrm>
          <a:noFill/>
          <a:ln/>
        </p:spPr>
        <p:txBody>
          <a:bodyPr lIns="92075" tIns="46038" rIns="92075" bIns="46038"/>
          <a:lstStyle/>
          <a:p>
            <a:pPr marL="466725" indent="-466725"/>
            <a:r>
              <a:rPr lang="en-US" dirty="0"/>
              <a:t>Solving LP problems graphically is only possible when there are two decision variables</a:t>
            </a:r>
          </a:p>
          <a:p>
            <a:pPr marL="466725" indent="-466725"/>
            <a:r>
              <a:rPr lang="en-US" dirty="0"/>
              <a:t>Few real-world LP have only two decision variables</a:t>
            </a:r>
          </a:p>
          <a:p>
            <a:pPr marL="466725" indent="-466725"/>
            <a:r>
              <a:rPr lang="en-US" dirty="0"/>
              <a:t>Fortunately, we can now use spreadsheets to solve LP problems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84225"/>
          </a:xfrm>
          <a:noFill/>
          <a:ln/>
        </p:spPr>
        <p:txBody>
          <a:bodyPr lIns="92075" tIns="46038" rIns="92075" bIns="46038"/>
          <a:lstStyle/>
          <a:p>
            <a:r>
              <a:rPr lang="en-US" i="1">
                <a:solidFill>
                  <a:schemeClr val="hlink"/>
                </a:solidFill>
              </a:rPr>
              <a:t>Spreadsheet Solvers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7538" y="1617663"/>
            <a:ext cx="8223250" cy="4478337"/>
          </a:xfrm>
          <a:noFill/>
          <a:ln/>
        </p:spPr>
        <p:txBody>
          <a:bodyPr lIns="92075" tIns="46038" rIns="92075" bIns="46038"/>
          <a:lstStyle/>
          <a:p>
            <a:pPr defTabSz="906463">
              <a:tabLst>
                <a:tab pos="3709988" algn="ctr"/>
              </a:tabLst>
            </a:pPr>
            <a:r>
              <a:rPr lang="en-US" dirty="0"/>
              <a:t>The company that makes the Solver in Excel, Google Sheets, Quattro Pro is Frontline Systems, Inc.</a:t>
            </a:r>
          </a:p>
          <a:p>
            <a:pPr lvl="1" defTabSz="906463">
              <a:buFontTx/>
              <a:buNone/>
              <a:tabLst>
                <a:tab pos="3709988" algn="ctr"/>
              </a:tabLst>
            </a:pPr>
            <a:r>
              <a:rPr lang="en-US" dirty="0"/>
              <a:t>		Check out their web site:</a:t>
            </a:r>
          </a:p>
          <a:p>
            <a:pPr lvl="1" defTabSz="906463">
              <a:buFontTx/>
              <a:buNone/>
              <a:tabLst>
                <a:tab pos="3709988" algn="ctr"/>
              </a:tabLst>
            </a:pPr>
            <a:r>
              <a:rPr lang="en-US" dirty="0"/>
              <a:t>		</a:t>
            </a:r>
            <a:r>
              <a:rPr lang="en-US" dirty="0">
                <a:hlinkClick r:id="rId3"/>
              </a:rPr>
              <a:t>http://www.solver.com</a:t>
            </a:r>
            <a:endParaRPr lang="en-US" dirty="0"/>
          </a:p>
          <a:p>
            <a:pPr defTabSz="906463">
              <a:tabLst>
                <a:tab pos="3709988" algn="ctr"/>
              </a:tabLst>
            </a:pPr>
            <a:r>
              <a:rPr lang="en-US" dirty="0"/>
              <a:t>Other packages for solving MP problems:</a:t>
            </a:r>
          </a:p>
          <a:p>
            <a:pPr lvl="1" defTabSz="906463">
              <a:buFontTx/>
              <a:buNone/>
              <a:tabLst>
                <a:tab pos="3709988" algn="ctr"/>
              </a:tabLst>
            </a:pPr>
            <a:r>
              <a:rPr lang="en-US" dirty="0"/>
              <a:t>	AMPL		LINDO</a:t>
            </a:r>
          </a:p>
          <a:p>
            <a:pPr lvl="1" defTabSz="906463">
              <a:buFontTx/>
              <a:buNone/>
              <a:tabLst>
                <a:tab pos="3709988" algn="ctr"/>
              </a:tabLst>
            </a:pPr>
            <a:r>
              <a:rPr lang="en-US" dirty="0"/>
              <a:t>	CPLEX		</a:t>
            </a:r>
            <a:r>
              <a:rPr lang="en-US" dirty="0" err="1"/>
              <a:t>LPSolve</a:t>
            </a:r>
            <a:r>
              <a:rPr lang="en-US" dirty="0"/>
              <a:t> </a:t>
            </a:r>
          </a:p>
          <a:p>
            <a:pPr defTabSz="906463">
              <a:buFont typeface="Wingdings" pitchFamily="2" charset="2"/>
              <a:buNone/>
              <a:tabLst>
                <a:tab pos="3709988" algn="ctr"/>
              </a:tabLst>
            </a:pPr>
            <a:endParaRPr lang="en-US" sz="2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84225"/>
          </a:xfrm>
          <a:noFill/>
          <a:ln/>
        </p:spPr>
        <p:txBody>
          <a:bodyPr lIns="92075" tIns="46038" rIns="92075" bIns="46038"/>
          <a:lstStyle/>
          <a:p>
            <a:r>
              <a:rPr lang="en-US" i="1" dirty="0">
                <a:solidFill>
                  <a:schemeClr val="hlink"/>
                </a:solidFill>
              </a:rPr>
              <a:t>Analytic Solver Platform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19200"/>
            <a:ext cx="8223250" cy="5029200"/>
          </a:xfrm>
          <a:noFill/>
          <a:ln/>
        </p:spPr>
        <p:txBody>
          <a:bodyPr lIns="92075" tIns="46038" rIns="92075" bIns="46038"/>
          <a:lstStyle/>
          <a:p>
            <a:pPr defTabSz="906463">
              <a:tabLst>
                <a:tab pos="3709988" algn="ctr"/>
              </a:tabLst>
            </a:pPr>
            <a:r>
              <a:rPr lang="en-US" dirty="0"/>
              <a:t>This book comes with a 140-day trial version of Analytic Solver Platform (ASP)</a:t>
            </a:r>
          </a:p>
          <a:p>
            <a:pPr defTabSz="906463">
              <a:tabLst>
                <a:tab pos="3709988" algn="ctr"/>
              </a:tabLst>
            </a:pPr>
            <a:r>
              <a:rPr lang="en-US" dirty="0"/>
              <a:t>ASP includes:</a:t>
            </a:r>
          </a:p>
          <a:p>
            <a:pPr lvl="1" defTabSz="906463">
              <a:tabLst>
                <a:tab pos="3709988" algn="ctr"/>
              </a:tabLst>
            </a:pPr>
            <a:r>
              <a:rPr lang="en-US" dirty="0"/>
              <a:t> a </a:t>
            </a:r>
            <a:r>
              <a:rPr lang="en-US" i="1" dirty="0"/>
              <a:t>greatly</a:t>
            </a:r>
            <a:r>
              <a:rPr lang="en-US" dirty="0"/>
              <a:t> enhanced version of the Solver built into Excel</a:t>
            </a:r>
          </a:p>
          <a:p>
            <a:pPr lvl="1" defTabSz="906463">
              <a:tabLst>
                <a:tab pos="3709988" algn="ctr"/>
              </a:tabLst>
            </a:pPr>
            <a:r>
              <a:rPr lang="en-US" dirty="0"/>
              <a:t>and many other tools &amp; features to be discussed throughout this book</a:t>
            </a:r>
          </a:p>
          <a:p>
            <a:pPr defTabSz="906463">
              <a:tabLst>
                <a:tab pos="3709988" algn="ctr"/>
              </a:tabLst>
            </a:pPr>
            <a:r>
              <a:rPr lang="en-US" dirty="0"/>
              <a:t>You can download ASP from:</a:t>
            </a:r>
          </a:p>
          <a:p>
            <a:pPr marL="457200" lvl="1" indent="0" algn="ctr" defTabSz="906463">
              <a:buNone/>
              <a:tabLst>
                <a:tab pos="3709988" algn="ctr"/>
              </a:tabLst>
            </a:pPr>
            <a:r>
              <a:rPr lang="en-US" dirty="0">
                <a:hlinkClick r:id="rId3"/>
              </a:rPr>
              <a:t>http://www.solver.com/student</a:t>
            </a:r>
            <a:endParaRPr lang="en-US" dirty="0"/>
          </a:p>
          <a:p>
            <a:pPr defTabSz="906463">
              <a:buFont typeface="Wingdings" pitchFamily="2" charset="2"/>
              <a:buNone/>
              <a:tabLst>
                <a:tab pos="3709988" algn="ctr"/>
              </a:tabLst>
            </a:pPr>
            <a:endParaRPr lang="en-US" sz="2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  <p:extLst>
      <p:ext uri="{BB962C8B-B14F-4D97-AF65-F5344CB8AC3E}">
        <p14:creationId xmlns:p14="http://schemas.microsoft.com/office/powerpoint/2010/main" val="2535599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i="1">
                <a:solidFill>
                  <a:schemeClr val="hlink"/>
                </a:solidFill>
              </a:rPr>
              <a:t>The Steps in Implementing an LP Model in a Spreadsheet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5672" y="1600199"/>
            <a:ext cx="8077200" cy="4645025"/>
          </a:xfrm>
          <a:noFill/>
          <a:ln/>
        </p:spPr>
        <p:txBody>
          <a:bodyPr lIns="92075" tIns="46038" rIns="92075" bIns="46038"/>
          <a:lstStyle/>
          <a:p>
            <a:pPr marL="458788" indent="-458788">
              <a:buFont typeface="Wingdings" pitchFamily="2" charset="2"/>
              <a:buNone/>
            </a:pPr>
            <a:r>
              <a:rPr lang="en-US" sz="2800" dirty="0"/>
              <a:t>1.	Organize the data for the model on the spreadsheet.</a:t>
            </a:r>
          </a:p>
          <a:p>
            <a:pPr marL="458788" indent="-458788">
              <a:buFont typeface="Wingdings" pitchFamily="2" charset="2"/>
              <a:buNone/>
            </a:pPr>
            <a:r>
              <a:rPr lang="en-US" sz="2800" dirty="0"/>
              <a:t>2.	Reserve separate cells in the spreadsheet  for each decision variable in the model.</a:t>
            </a:r>
          </a:p>
          <a:p>
            <a:pPr marL="458788" indent="-458788">
              <a:buFont typeface="Wingdings" pitchFamily="2" charset="2"/>
              <a:buNone/>
            </a:pPr>
            <a:r>
              <a:rPr lang="en-US" sz="2800" dirty="0"/>
              <a:t>3.	Create a formula in a cell in the spreadsheet that corresponds to the objective function.</a:t>
            </a:r>
          </a:p>
          <a:p>
            <a:pPr marL="458788" indent="-458788">
              <a:buFont typeface="Wingdings" pitchFamily="2" charset="2"/>
              <a:buNone/>
            </a:pPr>
            <a:r>
              <a:rPr lang="en-US" sz="2800" dirty="0"/>
              <a:t>4.	For each constraint, create a formula in a separate cell in the spreadsheet that corresponds to the left-hand side (LHS) of the constraint.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uiExpand="1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i="1"/>
              <a:t> </a:t>
            </a:r>
            <a:r>
              <a:rPr lang="en-US" i="1">
                <a:solidFill>
                  <a:schemeClr val="hlink"/>
                </a:solidFill>
              </a:rPr>
              <a:t>Let’s Implement a Model for the </a:t>
            </a:r>
            <a:br>
              <a:rPr lang="en-US" i="1">
                <a:solidFill>
                  <a:schemeClr val="hlink"/>
                </a:solidFill>
              </a:rPr>
            </a:br>
            <a:r>
              <a:rPr lang="en-US" i="1">
                <a:solidFill>
                  <a:schemeClr val="hlink"/>
                </a:solidFill>
              </a:rPr>
              <a:t>Blue Ridge Hot Tubs Example...</a:t>
            </a: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1271588" y="2119313"/>
            <a:ext cx="7551737" cy="2859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/>
            <a:r>
              <a:rPr lang="en-US" sz="2800" dirty="0">
                <a:solidFill>
                  <a:srgbClr val="FFFFFF"/>
                </a:solidFill>
              </a:rPr>
              <a:t>MAX: 350X</a:t>
            </a:r>
            <a:r>
              <a:rPr lang="en-US" sz="2800" baseline="-25000" dirty="0">
                <a:solidFill>
                  <a:srgbClr val="FFFFFF"/>
                </a:solidFill>
              </a:rPr>
              <a:t>1</a:t>
            </a:r>
            <a:r>
              <a:rPr lang="en-US" sz="2800" dirty="0">
                <a:solidFill>
                  <a:srgbClr val="FFFFFF"/>
                </a:solidFill>
              </a:rPr>
              <a:t> + 300X</a:t>
            </a:r>
            <a:r>
              <a:rPr lang="en-US" sz="2800" baseline="-25000" dirty="0">
                <a:solidFill>
                  <a:srgbClr val="FFFFFF"/>
                </a:solidFill>
              </a:rPr>
              <a:t>2		</a:t>
            </a:r>
            <a:r>
              <a:rPr lang="en-US" sz="2800" dirty="0">
                <a:solidFill>
                  <a:srgbClr val="FFFFFF"/>
                </a:solidFill>
              </a:rPr>
              <a:t>} profit</a:t>
            </a:r>
          </a:p>
          <a:p>
            <a:pPr eaLnBrk="0" hangingPunct="0">
              <a:spcBef>
                <a:spcPct val="20000"/>
              </a:spcBef>
            </a:pPr>
            <a:r>
              <a:rPr lang="en-US" sz="2800" dirty="0">
                <a:solidFill>
                  <a:srgbClr val="FFFFFF"/>
                </a:solidFill>
              </a:rPr>
              <a:t>S.T.:	1X</a:t>
            </a:r>
            <a:r>
              <a:rPr lang="en-US" sz="2800" baseline="-25000" dirty="0">
                <a:solidFill>
                  <a:srgbClr val="FFFFFF"/>
                </a:solidFill>
              </a:rPr>
              <a:t>1</a:t>
            </a:r>
            <a:r>
              <a:rPr lang="en-US" sz="2800" dirty="0">
                <a:solidFill>
                  <a:srgbClr val="FFFFFF"/>
                </a:solidFill>
              </a:rPr>
              <a:t> + 1X</a:t>
            </a:r>
            <a:r>
              <a:rPr lang="en-US" sz="2800" baseline="-25000" dirty="0">
                <a:solidFill>
                  <a:srgbClr val="FFFFFF"/>
                </a:solidFill>
              </a:rPr>
              <a:t>2</a:t>
            </a:r>
            <a:r>
              <a:rPr lang="en-US" sz="2800" dirty="0">
                <a:solidFill>
                  <a:srgbClr val="FFFFFF"/>
                </a:solidFill>
              </a:rPr>
              <a:t> &lt;= 200	} pumps</a:t>
            </a:r>
          </a:p>
          <a:p>
            <a:pPr eaLnBrk="0" hangingPunct="0">
              <a:spcBef>
                <a:spcPct val="20000"/>
              </a:spcBef>
            </a:pPr>
            <a:r>
              <a:rPr lang="en-US" sz="2800" dirty="0">
                <a:solidFill>
                  <a:srgbClr val="FFFFFF"/>
                </a:solidFill>
              </a:rPr>
              <a:t>	9X</a:t>
            </a:r>
            <a:r>
              <a:rPr lang="en-US" sz="2800" baseline="-25000" dirty="0">
                <a:solidFill>
                  <a:srgbClr val="FFFFFF"/>
                </a:solidFill>
              </a:rPr>
              <a:t>1</a:t>
            </a:r>
            <a:r>
              <a:rPr lang="en-US" sz="2800" dirty="0">
                <a:solidFill>
                  <a:srgbClr val="FFFFFF"/>
                </a:solidFill>
              </a:rPr>
              <a:t> + 6X</a:t>
            </a:r>
            <a:r>
              <a:rPr lang="en-US" sz="2800" baseline="-25000" dirty="0">
                <a:solidFill>
                  <a:srgbClr val="FFFFFF"/>
                </a:solidFill>
              </a:rPr>
              <a:t>2</a:t>
            </a:r>
            <a:r>
              <a:rPr lang="en-US" sz="2800" dirty="0">
                <a:solidFill>
                  <a:srgbClr val="FFFFFF"/>
                </a:solidFill>
              </a:rPr>
              <a:t> &lt;= 1566	} labor</a:t>
            </a:r>
          </a:p>
          <a:p>
            <a:pPr eaLnBrk="0" hangingPunct="0">
              <a:spcBef>
                <a:spcPct val="20000"/>
              </a:spcBef>
            </a:pPr>
            <a:r>
              <a:rPr lang="en-US" sz="2800" dirty="0">
                <a:solidFill>
                  <a:srgbClr val="FFFFFF"/>
                </a:solidFill>
              </a:rPr>
              <a:t>	12X</a:t>
            </a:r>
            <a:r>
              <a:rPr lang="en-US" sz="2800" baseline="-25000" dirty="0">
                <a:solidFill>
                  <a:srgbClr val="FFFFFF"/>
                </a:solidFill>
              </a:rPr>
              <a:t>1</a:t>
            </a:r>
            <a:r>
              <a:rPr lang="en-US" sz="2800" dirty="0">
                <a:solidFill>
                  <a:srgbClr val="FFFFFF"/>
                </a:solidFill>
              </a:rPr>
              <a:t> + 16X</a:t>
            </a:r>
            <a:r>
              <a:rPr lang="en-US" sz="2800" baseline="-25000" dirty="0">
                <a:solidFill>
                  <a:srgbClr val="FFFFFF"/>
                </a:solidFill>
              </a:rPr>
              <a:t>2</a:t>
            </a:r>
            <a:r>
              <a:rPr lang="en-US" sz="2800" dirty="0">
                <a:solidFill>
                  <a:srgbClr val="FFFFFF"/>
                </a:solidFill>
              </a:rPr>
              <a:t> &lt;= 2880	} tubing</a:t>
            </a:r>
          </a:p>
          <a:p>
            <a:pPr eaLnBrk="0" hangingPunct="0">
              <a:spcBef>
                <a:spcPct val="20000"/>
              </a:spcBef>
            </a:pPr>
            <a:r>
              <a:rPr lang="en-US" sz="2800" dirty="0">
                <a:solidFill>
                  <a:srgbClr val="FFFFFF"/>
                </a:solidFill>
              </a:rPr>
              <a:t>	X</a:t>
            </a:r>
            <a:r>
              <a:rPr lang="en-US" sz="2800" baseline="-25000" dirty="0">
                <a:solidFill>
                  <a:srgbClr val="FFFFFF"/>
                </a:solidFill>
              </a:rPr>
              <a:t>1</a:t>
            </a:r>
            <a:r>
              <a:rPr lang="en-US" sz="2800" dirty="0">
                <a:solidFill>
                  <a:srgbClr val="FFFFFF"/>
                </a:solidFill>
              </a:rPr>
              <a:t>, X</a:t>
            </a:r>
            <a:r>
              <a:rPr lang="en-US" sz="2800" baseline="-25000" dirty="0">
                <a:solidFill>
                  <a:srgbClr val="FFFFFF"/>
                </a:solidFill>
              </a:rPr>
              <a:t>2</a:t>
            </a:r>
            <a:r>
              <a:rPr lang="en-US" sz="2800" dirty="0">
                <a:solidFill>
                  <a:srgbClr val="FFFFFF"/>
                </a:solidFill>
              </a:rPr>
              <a:t> &gt;= 0			} nonnegativity</a:t>
            </a:r>
            <a:endParaRPr lang="en-US" sz="2800" baseline="-25000" dirty="0">
              <a:solidFill>
                <a:srgbClr val="FFFFFF"/>
              </a:solidFill>
            </a:endParaRPr>
          </a:p>
          <a:p>
            <a:pPr eaLnBrk="0" hangingPunct="0"/>
            <a:endParaRPr lang="en-US" sz="2800" baseline="-25000" dirty="0">
              <a:solidFill>
                <a:srgbClr val="FFFFFF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i="1">
                <a:solidFill>
                  <a:schemeClr val="hlink"/>
                </a:solidFill>
              </a:rPr>
              <a:t>Implementing the Model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868363"/>
          </a:xfrm>
          <a:noFill/>
          <a:ln/>
        </p:spPr>
        <p:txBody>
          <a:bodyPr lIns="92075" tIns="46038" rIns="92075" bIns="46038"/>
          <a:lstStyle/>
          <a:p>
            <a:pPr algn="ctr">
              <a:buFont typeface="Wingdings" pitchFamily="2" charset="2"/>
              <a:buNone/>
            </a:pPr>
            <a:r>
              <a:rPr lang="en-US" dirty="0"/>
              <a:t>See file </a:t>
            </a:r>
            <a:r>
              <a:rPr lang="en-US" dirty="0">
                <a:solidFill>
                  <a:schemeClr val="hlink"/>
                </a:solidFill>
                <a:hlinkClick r:id="rId3" action="ppaction://hlinkfile"/>
              </a:rPr>
              <a:t>Fig3-1.xlsm</a:t>
            </a:r>
            <a:endParaRPr lang="en-US" dirty="0">
              <a:solidFill>
                <a:schemeClr val="hlink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i="1">
                <a:solidFill>
                  <a:schemeClr val="hlink"/>
                </a:solidFill>
              </a:rPr>
              <a:t>How Solver Views the Model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82000" cy="4525963"/>
          </a:xfrm>
          <a:noFill/>
          <a:ln/>
        </p:spPr>
        <p:txBody>
          <a:bodyPr lIns="92075" tIns="46038" rIns="92075" bIns="46038"/>
          <a:lstStyle/>
          <a:p>
            <a:r>
              <a:rPr lang="en-US" dirty="0"/>
              <a:t>Objective cell - the cell in the spreadsheet that represents the </a:t>
            </a:r>
            <a:r>
              <a:rPr lang="en-US" i="1" dirty="0"/>
              <a:t>objective function</a:t>
            </a:r>
            <a:endParaRPr lang="en-US" dirty="0"/>
          </a:p>
          <a:p>
            <a:r>
              <a:rPr lang="en-US" dirty="0"/>
              <a:t>Variable cells - the cells in the spreadsheet representing the </a:t>
            </a:r>
            <a:r>
              <a:rPr lang="en-US" i="1" dirty="0"/>
              <a:t>decision variables</a:t>
            </a:r>
          </a:p>
          <a:p>
            <a:r>
              <a:rPr lang="en-US" dirty="0"/>
              <a:t>Constraint cells - the cells in the spreadsheet representing the </a:t>
            </a:r>
            <a:r>
              <a:rPr lang="en-US" i="1" dirty="0"/>
              <a:t>LHS formulas</a:t>
            </a:r>
            <a:r>
              <a:rPr lang="en-US" dirty="0"/>
              <a:t> on the constraints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uiExpand="1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50875" y="2609850"/>
            <a:ext cx="7772400" cy="1219200"/>
          </a:xfrm>
          <a:noFill/>
          <a:ln/>
        </p:spPr>
        <p:txBody>
          <a:bodyPr lIns="92075" tIns="46038" rIns="92075" bIns="46038"/>
          <a:lstStyle/>
          <a:p>
            <a:r>
              <a:rPr lang="en-US" dirty="0">
                <a:solidFill>
                  <a:schemeClr val="tx1"/>
                </a:solidFill>
              </a:rPr>
              <a:t>Let’s go back to Excel and see how “Solver” works...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00100"/>
          </a:xfrm>
          <a:noFill/>
          <a:ln/>
        </p:spPr>
        <p:txBody>
          <a:bodyPr lIns="92075" tIns="46038" rIns="92075" bIns="46038"/>
          <a:lstStyle/>
          <a:p>
            <a:r>
              <a:rPr lang="en-US" i="1">
                <a:solidFill>
                  <a:schemeClr val="hlink"/>
                </a:solidFill>
              </a:rPr>
              <a:t>Goals For Spreadsheet Design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90663"/>
            <a:ext cx="8305800" cy="4757737"/>
          </a:xfrm>
          <a:noFill/>
          <a:ln/>
        </p:spPr>
        <p:txBody>
          <a:bodyPr lIns="92075" tIns="46038" rIns="92075" bIns="46038"/>
          <a:lstStyle/>
          <a:p>
            <a:r>
              <a:rPr lang="en-US" dirty="0"/>
              <a:t>Communication - </a:t>
            </a:r>
            <a:r>
              <a:rPr lang="en-US" sz="2400" dirty="0"/>
              <a:t>A spreadsheet's primary business purpose is communicating information to managers. </a:t>
            </a:r>
          </a:p>
          <a:p>
            <a:r>
              <a:rPr lang="en-US" dirty="0"/>
              <a:t>Reliability - </a:t>
            </a:r>
            <a:r>
              <a:rPr lang="en-US" sz="2400" dirty="0"/>
              <a:t>The output a spreadsheet generates should be correct and consistent.</a:t>
            </a:r>
            <a:endParaRPr lang="en-US" dirty="0"/>
          </a:p>
          <a:p>
            <a:r>
              <a:rPr lang="en-US" dirty="0"/>
              <a:t>Auditability - </a:t>
            </a:r>
            <a:r>
              <a:rPr lang="en-US" sz="2400" dirty="0"/>
              <a:t>A manager should be able to retrace the steps followed to generate the different outputs from the model in order to understand and verify results.</a:t>
            </a:r>
            <a:endParaRPr lang="en-US" dirty="0"/>
          </a:p>
          <a:p>
            <a:r>
              <a:rPr lang="en-US" dirty="0"/>
              <a:t>Modifiability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/>
              <a:t>- </a:t>
            </a:r>
            <a:r>
              <a:rPr lang="en-US" sz="2400" dirty="0"/>
              <a:t>A well-designed spreadsheet should be easy to change or enhance in order to meet dynamic user requirements.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uiExpand="1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530225"/>
            <a:ext cx="7772400" cy="722313"/>
          </a:xfrm>
          <a:noFill/>
          <a:ln/>
        </p:spPr>
        <p:txBody>
          <a:bodyPr lIns="92075" tIns="46038" rIns="92075" bIns="46038"/>
          <a:lstStyle/>
          <a:p>
            <a:r>
              <a:rPr lang="en-US" i="1">
                <a:solidFill>
                  <a:schemeClr val="hlink"/>
                </a:solidFill>
              </a:rPr>
              <a:t>Spreadsheet Design Guidelines - I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95425"/>
            <a:ext cx="8077200" cy="4994275"/>
          </a:xfrm>
          <a:noFill/>
          <a:ln/>
        </p:spPr>
        <p:txBody>
          <a:bodyPr lIns="92075" tIns="46038" rIns="92075" bIns="46038"/>
          <a:lstStyle/>
          <a:p>
            <a:r>
              <a:rPr lang="en-US" dirty="0"/>
              <a:t>Organize the data, then build the model around the data.</a:t>
            </a:r>
          </a:p>
          <a:p>
            <a:r>
              <a:rPr lang="en-US" dirty="0"/>
              <a:t>Do not embed numeric constants in formulas.</a:t>
            </a:r>
          </a:p>
          <a:p>
            <a:r>
              <a:rPr lang="en-US" dirty="0"/>
              <a:t>Things which are logically related should be physically related.</a:t>
            </a:r>
          </a:p>
          <a:p>
            <a:r>
              <a:rPr lang="en-US" dirty="0"/>
              <a:t>Use formulas that can be copied.</a:t>
            </a:r>
          </a:p>
          <a:p>
            <a:r>
              <a:rPr lang="en-US" dirty="0"/>
              <a:t>Column/rows totals should be close to the columns/rows being totaled.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24200" y="6410378"/>
            <a:ext cx="2895600" cy="393595"/>
          </a:xfr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9" grpId="0" uiExpand="1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606425"/>
            <a:ext cx="7772400" cy="722313"/>
          </a:xfrm>
          <a:noFill/>
          <a:ln/>
        </p:spPr>
        <p:txBody>
          <a:bodyPr lIns="92075" tIns="46038" rIns="92075" bIns="46038"/>
          <a:lstStyle/>
          <a:p>
            <a:r>
              <a:rPr lang="en-US" i="1">
                <a:solidFill>
                  <a:schemeClr val="hlink"/>
                </a:solidFill>
              </a:rPr>
              <a:t>Spreadsheet Design Guidelines - II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787525"/>
            <a:ext cx="8545513" cy="3927475"/>
          </a:xfrm>
          <a:noFill/>
          <a:ln/>
        </p:spPr>
        <p:txBody>
          <a:bodyPr lIns="92075" tIns="46038" rIns="92075" bIns="46038"/>
          <a:lstStyle/>
          <a:p>
            <a:r>
              <a:rPr lang="en-US" dirty="0"/>
              <a:t>The English-reading eye scans left to right, top to bottom.</a:t>
            </a:r>
          </a:p>
          <a:p>
            <a:r>
              <a:rPr lang="en-US" dirty="0"/>
              <a:t>Use color, shading, borders and protection to distinguish changeable parameters from other model elements.</a:t>
            </a:r>
          </a:p>
          <a:p>
            <a:r>
              <a:rPr lang="en-US" dirty="0"/>
              <a:t>Use text boxes and cell notes to document various elements of the model.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24200" y="6232525"/>
            <a:ext cx="2895600" cy="476250"/>
          </a:xfrm>
        </p:spPr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uiExpand="1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338138"/>
            <a:ext cx="7772400" cy="1109662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80000"/>
              </a:lnSpc>
            </a:pPr>
            <a:r>
              <a:rPr lang="en-US" sz="4000" i="1" dirty="0">
                <a:solidFill>
                  <a:schemeClr val="hlink"/>
                </a:solidFill>
              </a:rPr>
              <a:t>Make vs. Buy Decisions:</a:t>
            </a:r>
            <a:br>
              <a:rPr lang="en-US" sz="4000" i="1" dirty="0">
                <a:solidFill>
                  <a:schemeClr val="hlink"/>
                </a:solidFill>
              </a:rPr>
            </a:br>
            <a:r>
              <a:rPr lang="en-US" sz="4000" i="1" dirty="0">
                <a:solidFill>
                  <a:schemeClr val="hlink"/>
                </a:solidFill>
              </a:rPr>
              <a:t>The Electro-Poly Corporation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20725" y="1524000"/>
            <a:ext cx="7772400" cy="1101725"/>
          </a:xfrm>
          <a:noFill/>
          <a:ln/>
        </p:spPr>
        <p:txBody>
          <a:bodyPr lIns="92075" tIns="46038" rIns="92075" bIns="46038"/>
          <a:lstStyle/>
          <a:p>
            <a:r>
              <a:rPr lang="en-US" sz="2800" dirty="0"/>
              <a:t>Electro-Poly is a leading maker of slip-rings.</a:t>
            </a:r>
          </a:p>
          <a:p>
            <a:r>
              <a:rPr lang="en-US" sz="2800" dirty="0"/>
              <a:t>A $750,000 order has just been received. </a:t>
            </a:r>
          </a:p>
        </p:txBody>
      </p:sp>
      <p:sp>
        <p:nvSpPr>
          <p:cNvPr id="16390" name="Rectangle 6"/>
          <p:cNvSpPr>
            <a:spLocks noChangeArrowheads="1"/>
          </p:cNvSpPr>
          <p:nvPr/>
        </p:nvSpPr>
        <p:spPr bwMode="auto">
          <a:xfrm>
            <a:off x="652463" y="5222875"/>
            <a:ext cx="8172450" cy="1101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</a:pPr>
            <a:r>
              <a:rPr lang="en-US" sz="2800" dirty="0">
                <a:latin typeface="Tahoma" pitchFamily="34" charset="0"/>
              </a:rPr>
              <a:t>The company has 10,000 hours of wiring capacity and 5,000 hours of harnessing capacity.</a:t>
            </a:r>
          </a:p>
        </p:txBody>
      </p:sp>
      <p:grpSp>
        <p:nvGrpSpPr>
          <p:cNvPr id="16392" name="Group 8"/>
          <p:cNvGrpSpPr>
            <a:grpSpLocks/>
          </p:cNvGrpSpPr>
          <p:nvPr/>
        </p:nvGrpSpPr>
        <p:grpSpPr bwMode="auto">
          <a:xfrm>
            <a:off x="660400" y="2590800"/>
            <a:ext cx="7645400" cy="2536825"/>
            <a:chOff x="416" y="1440"/>
            <a:chExt cx="4816" cy="1598"/>
          </a:xfrm>
        </p:grpSpPr>
        <p:sp>
          <p:nvSpPr>
            <p:cNvPr id="16388" name="Rectangle 4"/>
            <p:cNvSpPr>
              <a:spLocks noChangeArrowheads="1"/>
            </p:cNvSpPr>
            <p:nvPr/>
          </p:nvSpPr>
          <p:spPr bwMode="auto">
            <a:xfrm>
              <a:off x="416" y="1440"/>
              <a:ext cx="4816" cy="15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  <a:tabLst>
                  <a:tab pos="3878263" algn="ctr"/>
                  <a:tab pos="5205413" algn="ctr"/>
                  <a:tab pos="6735763" algn="ctr"/>
                </a:tabLst>
              </a:pPr>
              <a:r>
                <a:rPr lang="en-US" sz="2000" b="1" dirty="0"/>
                <a:t>	Model 1	 Model 2	Model 3</a:t>
              </a:r>
            </a:p>
            <a:p>
              <a:pPr eaLnBrk="0" hangingPunct="0">
                <a:lnSpc>
                  <a:spcPct val="90000"/>
                </a:lnSpc>
                <a:spcBef>
                  <a:spcPct val="50000"/>
                </a:spcBef>
                <a:tabLst>
                  <a:tab pos="3878263" algn="ctr"/>
                  <a:tab pos="5205413" algn="ctr"/>
                  <a:tab pos="6735763" algn="ctr"/>
                </a:tabLst>
              </a:pPr>
              <a:r>
                <a:rPr lang="en-US" sz="2000" b="1" dirty="0"/>
                <a:t>Number ordered	3,000	2,000	900</a:t>
              </a:r>
            </a:p>
            <a:p>
              <a:pPr eaLnBrk="0" hangingPunct="0">
                <a:lnSpc>
                  <a:spcPct val="90000"/>
                </a:lnSpc>
                <a:spcBef>
                  <a:spcPct val="50000"/>
                </a:spcBef>
                <a:tabLst>
                  <a:tab pos="3878263" algn="ctr"/>
                  <a:tab pos="5205413" algn="ctr"/>
                  <a:tab pos="6735763" algn="ctr"/>
                </a:tabLst>
              </a:pPr>
              <a:r>
                <a:rPr lang="en-US" sz="2000" b="1" dirty="0"/>
                <a:t>Hours of wiring/unit	2	1.5	3</a:t>
              </a:r>
            </a:p>
            <a:p>
              <a:pPr eaLnBrk="0" hangingPunct="0">
                <a:lnSpc>
                  <a:spcPct val="90000"/>
                </a:lnSpc>
                <a:spcBef>
                  <a:spcPct val="50000"/>
                </a:spcBef>
                <a:tabLst>
                  <a:tab pos="3878263" algn="ctr"/>
                  <a:tab pos="5205413" algn="ctr"/>
                  <a:tab pos="6735763" algn="ctr"/>
                </a:tabLst>
              </a:pPr>
              <a:r>
                <a:rPr lang="en-US" sz="2000" b="1" dirty="0"/>
                <a:t>Hours of harnessing/unit	1	2	1</a:t>
              </a:r>
            </a:p>
            <a:p>
              <a:pPr eaLnBrk="0" hangingPunct="0">
                <a:lnSpc>
                  <a:spcPct val="90000"/>
                </a:lnSpc>
                <a:spcBef>
                  <a:spcPct val="50000"/>
                </a:spcBef>
                <a:tabLst>
                  <a:tab pos="3878263" algn="ctr"/>
                  <a:tab pos="5205413" algn="ctr"/>
                  <a:tab pos="6735763" algn="ctr"/>
                </a:tabLst>
              </a:pPr>
              <a:r>
                <a:rPr lang="en-US" sz="2000" b="1" dirty="0"/>
                <a:t>Cost to Make	$50	$83	$130</a:t>
              </a:r>
            </a:p>
            <a:p>
              <a:pPr eaLnBrk="0" hangingPunct="0">
                <a:lnSpc>
                  <a:spcPct val="90000"/>
                </a:lnSpc>
                <a:spcBef>
                  <a:spcPct val="50000"/>
                </a:spcBef>
                <a:tabLst>
                  <a:tab pos="3878263" algn="ctr"/>
                  <a:tab pos="5205413" algn="ctr"/>
                  <a:tab pos="6735763" algn="ctr"/>
                </a:tabLst>
              </a:pPr>
              <a:r>
                <a:rPr lang="en-US" sz="2000" b="1" dirty="0"/>
                <a:t>Cost to Buy	$61	$97	$145</a:t>
              </a:r>
              <a:endParaRPr lang="en-US" sz="2400" dirty="0"/>
            </a:p>
          </p:txBody>
        </p:sp>
        <p:sp>
          <p:nvSpPr>
            <p:cNvPr id="16389" name="Line 5"/>
            <p:cNvSpPr>
              <a:spLocks noChangeShapeType="1"/>
            </p:cNvSpPr>
            <p:nvPr/>
          </p:nvSpPr>
          <p:spPr bwMode="auto">
            <a:xfrm>
              <a:off x="459" y="1689"/>
              <a:ext cx="461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91" name="Line 7"/>
            <p:cNvSpPr>
              <a:spLocks noChangeShapeType="1"/>
            </p:cNvSpPr>
            <p:nvPr/>
          </p:nvSpPr>
          <p:spPr bwMode="auto">
            <a:xfrm>
              <a:off x="458" y="3038"/>
              <a:ext cx="461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i="1">
                <a:solidFill>
                  <a:schemeClr val="hlink"/>
                </a:solidFill>
              </a:rPr>
              <a:t>Defining the Decision Variables</a:t>
            </a: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609600" y="2025650"/>
            <a:ext cx="8001000" cy="315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Aft>
                <a:spcPct val="48000"/>
              </a:spcAft>
            </a:pPr>
            <a:r>
              <a:rPr lang="en-US" sz="2400" dirty="0">
                <a:latin typeface="Tahoma" pitchFamily="34" charset="0"/>
              </a:rPr>
              <a:t>M</a:t>
            </a:r>
            <a:r>
              <a:rPr lang="en-US" sz="2400" baseline="-25000" dirty="0">
                <a:latin typeface="Tahoma" pitchFamily="34" charset="0"/>
              </a:rPr>
              <a:t>1</a:t>
            </a:r>
            <a:r>
              <a:rPr lang="en-US" sz="2400" dirty="0">
                <a:latin typeface="Tahoma" pitchFamily="34" charset="0"/>
              </a:rPr>
              <a:t> = Number of model 1 slip rings to make in-house</a:t>
            </a:r>
          </a:p>
          <a:p>
            <a:pPr eaLnBrk="0" hangingPunct="0">
              <a:spcAft>
                <a:spcPct val="48000"/>
              </a:spcAft>
            </a:pPr>
            <a:r>
              <a:rPr lang="en-US" sz="2400" dirty="0">
                <a:latin typeface="Tahoma" pitchFamily="34" charset="0"/>
              </a:rPr>
              <a:t>M</a:t>
            </a:r>
            <a:r>
              <a:rPr lang="en-US" sz="2400" baseline="-25000" dirty="0">
                <a:latin typeface="Tahoma" pitchFamily="34" charset="0"/>
              </a:rPr>
              <a:t>2</a:t>
            </a:r>
            <a:r>
              <a:rPr lang="en-US" sz="2400" dirty="0">
                <a:latin typeface="Tahoma" pitchFamily="34" charset="0"/>
              </a:rPr>
              <a:t> = Number of model 2 slip rings to make in-house</a:t>
            </a:r>
          </a:p>
          <a:p>
            <a:pPr eaLnBrk="0" hangingPunct="0">
              <a:spcAft>
                <a:spcPct val="48000"/>
              </a:spcAft>
            </a:pPr>
            <a:r>
              <a:rPr lang="en-US" sz="2400" dirty="0">
                <a:latin typeface="Tahoma" pitchFamily="34" charset="0"/>
              </a:rPr>
              <a:t>M</a:t>
            </a:r>
            <a:r>
              <a:rPr lang="en-US" sz="2400" baseline="-25000" dirty="0">
                <a:latin typeface="Tahoma" pitchFamily="34" charset="0"/>
              </a:rPr>
              <a:t>3</a:t>
            </a:r>
            <a:r>
              <a:rPr lang="en-US" sz="2400" dirty="0">
                <a:latin typeface="Tahoma" pitchFamily="34" charset="0"/>
              </a:rPr>
              <a:t> = Number of model 3 slip rings to make in-house</a:t>
            </a:r>
          </a:p>
          <a:p>
            <a:pPr eaLnBrk="0" hangingPunct="0">
              <a:spcAft>
                <a:spcPct val="48000"/>
              </a:spcAft>
            </a:pPr>
            <a:r>
              <a:rPr lang="en-US" sz="2400" dirty="0">
                <a:latin typeface="Tahoma" pitchFamily="34" charset="0"/>
              </a:rPr>
              <a:t>B</a:t>
            </a:r>
            <a:r>
              <a:rPr lang="en-US" sz="2400" baseline="-25000" dirty="0">
                <a:latin typeface="Tahoma" pitchFamily="34" charset="0"/>
              </a:rPr>
              <a:t>1</a:t>
            </a:r>
            <a:r>
              <a:rPr lang="en-US" sz="2400" dirty="0">
                <a:latin typeface="Tahoma" pitchFamily="34" charset="0"/>
              </a:rPr>
              <a:t> = Number of model 1 slip rings to buy from competitor</a:t>
            </a:r>
          </a:p>
          <a:p>
            <a:pPr eaLnBrk="0" hangingPunct="0">
              <a:spcAft>
                <a:spcPct val="48000"/>
              </a:spcAft>
            </a:pPr>
            <a:r>
              <a:rPr lang="en-US" sz="2400" dirty="0">
                <a:latin typeface="Tahoma" pitchFamily="34" charset="0"/>
              </a:rPr>
              <a:t>B</a:t>
            </a:r>
            <a:r>
              <a:rPr lang="en-US" sz="2400" baseline="-25000" dirty="0">
                <a:latin typeface="Tahoma" pitchFamily="34" charset="0"/>
              </a:rPr>
              <a:t>2</a:t>
            </a:r>
            <a:r>
              <a:rPr lang="en-US" sz="2400" dirty="0">
                <a:latin typeface="Tahoma" pitchFamily="34" charset="0"/>
              </a:rPr>
              <a:t> = Number of model 2 slip rings to buy from competitor</a:t>
            </a:r>
          </a:p>
          <a:p>
            <a:pPr eaLnBrk="0" hangingPunct="0">
              <a:spcAft>
                <a:spcPct val="48000"/>
              </a:spcAft>
            </a:pPr>
            <a:r>
              <a:rPr lang="en-US" sz="2400" dirty="0">
                <a:latin typeface="Tahoma" pitchFamily="34" charset="0"/>
              </a:rPr>
              <a:t>B</a:t>
            </a:r>
            <a:r>
              <a:rPr lang="en-US" sz="2400" baseline="-25000" dirty="0">
                <a:latin typeface="Tahoma" pitchFamily="34" charset="0"/>
              </a:rPr>
              <a:t>3</a:t>
            </a:r>
            <a:r>
              <a:rPr lang="en-US" sz="2400" dirty="0">
                <a:latin typeface="Tahoma" pitchFamily="34" charset="0"/>
              </a:rPr>
              <a:t> = Number of model 3 slip rings to buy from competitor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i="1">
                <a:solidFill>
                  <a:schemeClr val="hlink"/>
                </a:solidFill>
              </a:rPr>
              <a:t>Defining the Objective Function</a:t>
            </a:r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354013" y="1728788"/>
            <a:ext cx="8256587" cy="1220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3200" dirty="0">
                <a:latin typeface="Tahoma" pitchFamily="34" charset="0"/>
              </a:rPr>
              <a:t>Minimize the total cost of filling the order.</a:t>
            </a:r>
          </a:p>
          <a:p>
            <a:pPr eaLnBrk="0" hangingPunct="0">
              <a:spcBef>
                <a:spcPct val="50000"/>
              </a:spcBef>
            </a:pPr>
            <a:r>
              <a:rPr lang="en-US" sz="2800" dirty="0">
                <a:latin typeface="Tahoma" pitchFamily="34" charset="0"/>
              </a:rPr>
              <a:t>MIN:	50M</a:t>
            </a:r>
            <a:r>
              <a:rPr lang="en-US" sz="2800" baseline="-25000" dirty="0">
                <a:latin typeface="Tahoma" pitchFamily="34" charset="0"/>
              </a:rPr>
              <a:t>1</a:t>
            </a:r>
            <a:r>
              <a:rPr lang="en-US" sz="2800" dirty="0">
                <a:latin typeface="Tahoma" pitchFamily="34" charset="0"/>
              </a:rPr>
              <a:t>+ 83M</a:t>
            </a:r>
            <a:r>
              <a:rPr lang="en-US" sz="2800" baseline="-25000" dirty="0">
                <a:latin typeface="Tahoma" pitchFamily="34" charset="0"/>
              </a:rPr>
              <a:t>2</a:t>
            </a:r>
            <a:r>
              <a:rPr lang="en-US" sz="2800" dirty="0">
                <a:latin typeface="Tahoma" pitchFamily="34" charset="0"/>
              </a:rPr>
              <a:t>+ 130M</a:t>
            </a:r>
            <a:r>
              <a:rPr lang="en-US" sz="2800" baseline="-25000" dirty="0">
                <a:latin typeface="Tahoma" pitchFamily="34" charset="0"/>
              </a:rPr>
              <a:t>3</a:t>
            </a:r>
            <a:r>
              <a:rPr lang="en-US" sz="2800" dirty="0">
                <a:latin typeface="Tahoma" pitchFamily="34" charset="0"/>
              </a:rPr>
              <a:t>+ 61B</a:t>
            </a:r>
            <a:r>
              <a:rPr lang="en-US" sz="2800" baseline="-25000" dirty="0">
                <a:latin typeface="Tahoma" pitchFamily="34" charset="0"/>
              </a:rPr>
              <a:t>1</a:t>
            </a:r>
            <a:r>
              <a:rPr lang="en-US" sz="2800" dirty="0">
                <a:latin typeface="Tahoma" pitchFamily="34" charset="0"/>
              </a:rPr>
              <a:t>+ 97B</a:t>
            </a:r>
            <a:r>
              <a:rPr lang="en-US" sz="2800" baseline="-25000" dirty="0">
                <a:latin typeface="Tahoma" pitchFamily="34" charset="0"/>
              </a:rPr>
              <a:t>2</a:t>
            </a:r>
            <a:r>
              <a:rPr lang="en-US" sz="2800" dirty="0">
                <a:latin typeface="Tahoma" pitchFamily="34" charset="0"/>
              </a:rPr>
              <a:t>+ 145B</a:t>
            </a:r>
            <a:r>
              <a:rPr lang="en-US" sz="2800" baseline="-25000" dirty="0">
                <a:latin typeface="Tahoma" pitchFamily="34" charset="0"/>
              </a:rPr>
              <a:t>3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i="1">
                <a:solidFill>
                  <a:schemeClr val="hlink"/>
                </a:solidFill>
              </a:rPr>
              <a:t>Defining the Constraints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52463" y="1357313"/>
            <a:ext cx="7772400" cy="4587875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sz="2800" dirty="0"/>
              <a:t>Demand Constraints</a:t>
            </a:r>
          </a:p>
          <a:p>
            <a:pPr lvl="1">
              <a:lnSpc>
                <a:spcPct val="110000"/>
              </a:lnSpc>
              <a:buFontTx/>
              <a:buNone/>
            </a:pPr>
            <a:r>
              <a:rPr lang="en-US" sz="2400" dirty="0"/>
              <a:t>M</a:t>
            </a:r>
            <a:r>
              <a:rPr lang="en-US" sz="2400" baseline="-25000" dirty="0"/>
              <a:t>1</a:t>
            </a:r>
            <a:r>
              <a:rPr lang="en-US" sz="2400" dirty="0"/>
              <a:t> + B</a:t>
            </a:r>
            <a:r>
              <a:rPr lang="en-US" sz="2400" baseline="-25000" dirty="0"/>
              <a:t>1</a:t>
            </a:r>
            <a:r>
              <a:rPr lang="en-US" sz="2400" dirty="0"/>
              <a:t> = 3,000	} model 1</a:t>
            </a:r>
          </a:p>
          <a:p>
            <a:pPr lvl="1">
              <a:lnSpc>
                <a:spcPct val="110000"/>
              </a:lnSpc>
              <a:buFontTx/>
              <a:buNone/>
            </a:pPr>
            <a:r>
              <a:rPr lang="en-US" sz="2400" dirty="0"/>
              <a:t>M</a:t>
            </a:r>
            <a:r>
              <a:rPr lang="en-US" sz="2400" baseline="-25000" dirty="0"/>
              <a:t>2</a:t>
            </a:r>
            <a:r>
              <a:rPr lang="en-US" sz="2400" dirty="0"/>
              <a:t> + B</a:t>
            </a:r>
            <a:r>
              <a:rPr lang="en-US" sz="2400" baseline="-25000" dirty="0"/>
              <a:t>2</a:t>
            </a:r>
            <a:r>
              <a:rPr lang="en-US" sz="2400" dirty="0"/>
              <a:t> = 2,000	} model 2</a:t>
            </a:r>
          </a:p>
          <a:p>
            <a:pPr lvl="1">
              <a:lnSpc>
                <a:spcPct val="110000"/>
              </a:lnSpc>
              <a:buFontTx/>
              <a:buNone/>
            </a:pPr>
            <a:r>
              <a:rPr lang="en-US" sz="2400" dirty="0"/>
              <a:t>M</a:t>
            </a:r>
            <a:r>
              <a:rPr lang="en-US" sz="2400" baseline="-25000" dirty="0"/>
              <a:t>3</a:t>
            </a:r>
            <a:r>
              <a:rPr lang="en-US" sz="2400" dirty="0"/>
              <a:t> + B</a:t>
            </a:r>
            <a:r>
              <a:rPr lang="en-US" sz="2400" baseline="-25000" dirty="0"/>
              <a:t>3</a:t>
            </a:r>
            <a:r>
              <a:rPr lang="en-US" sz="2400" dirty="0"/>
              <a:t> =    900	} model 3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sz="2800" dirty="0"/>
              <a:t>Resource </a:t>
            </a:r>
            <a:r>
              <a:rPr lang="en-US" dirty="0"/>
              <a:t>Constraints</a:t>
            </a:r>
            <a:endParaRPr lang="en-US" sz="2400" dirty="0"/>
          </a:p>
          <a:p>
            <a:pPr lvl="1">
              <a:lnSpc>
                <a:spcPct val="110000"/>
              </a:lnSpc>
              <a:buFontTx/>
              <a:buNone/>
            </a:pPr>
            <a:r>
              <a:rPr lang="en-US" sz="2400" dirty="0"/>
              <a:t>2M</a:t>
            </a:r>
            <a:r>
              <a:rPr lang="en-US" sz="2400" baseline="-25000" dirty="0"/>
              <a:t>1</a:t>
            </a:r>
            <a:r>
              <a:rPr lang="en-US" sz="2400" dirty="0"/>
              <a:t> + 1.5M</a:t>
            </a:r>
            <a:r>
              <a:rPr lang="en-US" sz="2400" baseline="-25000" dirty="0"/>
              <a:t>2</a:t>
            </a:r>
            <a:r>
              <a:rPr lang="en-US" sz="2400" dirty="0"/>
              <a:t> + 3M</a:t>
            </a:r>
            <a:r>
              <a:rPr lang="en-US" sz="2400" baseline="-25000" dirty="0"/>
              <a:t>3 </a:t>
            </a:r>
            <a:r>
              <a:rPr lang="en-US" sz="2400" dirty="0"/>
              <a:t>&lt;= 10,000 } wiring</a:t>
            </a:r>
          </a:p>
          <a:p>
            <a:pPr lvl="1">
              <a:lnSpc>
                <a:spcPct val="110000"/>
              </a:lnSpc>
              <a:buFontTx/>
              <a:buNone/>
            </a:pPr>
            <a:r>
              <a:rPr lang="en-US" sz="2400" dirty="0"/>
              <a:t>1M</a:t>
            </a:r>
            <a:r>
              <a:rPr lang="en-US" sz="2400" baseline="-25000" dirty="0"/>
              <a:t>1</a:t>
            </a:r>
            <a:r>
              <a:rPr lang="en-US" sz="2400" dirty="0"/>
              <a:t> + 2.0M</a:t>
            </a:r>
            <a:r>
              <a:rPr lang="en-US" sz="2400" baseline="-25000" dirty="0"/>
              <a:t>2</a:t>
            </a:r>
            <a:r>
              <a:rPr lang="en-US" sz="2400" dirty="0"/>
              <a:t> + 1M</a:t>
            </a:r>
            <a:r>
              <a:rPr lang="en-US" sz="2400" baseline="-25000" dirty="0"/>
              <a:t>3 </a:t>
            </a:r>
            <a:r>
              <a:rPr lang="en-US" sz="2400" dirty="0"/>
              <a:t>&lt;=   5,000 } harnessing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sz="2800" dirty="0"/>
              <a:t>Nonnegativity Conditions</a:t>
            </a:r>
          </a:p>
          <a:p>
            <a:pPr lvl="1">
              <a:lnSpc>
                <a:spcPct val="110000"/>
              </a:lnSpc>
              <a:buFontTx/>
              <a:buNone/>
            </a:pPr>
            <a:r>
              <a:rPr lang="en-US" sz="2400" dirty="0"/>
              <a:t>M</a:t>
            </a:r>
            <a:r>
              <a:rPr lang="en-US" sz="2400" baseline="-25000" dirty="0"/>
              <a:t>1</a:t>
            </a:r>
            <a:r>
              <a:rPr lang="en-US" sz="2400" dirty="0"/>
              <a:t>, M</a:t>
            </a:r>
            <a:r>
              <a:rPr lang="en-US" sz="2400" baseline="-25000" dirty="0"/>
              <a:t>2</a:t>
            </a:r>
            <a:r>
              <a:rPr lang="en-US" sz="2400" dirty="0"/>
              <a:t>, M</a:t>
            </a:r>
            <a:r>
              <a:rPr lang="en-US" sz="2400" baseline="-25000" dirty="0"/>
              <a:t>3</a:t>
            </a:r>
            <a:r>
              <a:rPr lang="en-US" sz="2400" dirty="0"/>
              <a:t>, B</a:t>
            </a:r>
            <a:r>
              <a:rPr lang="en-US" sz="2400" baseline="-25000" dirty="0"/>
              <a:t>1</a:t>
            </a:r>
            <a:r>
              <a:rPr lang="en-US" sz="2400" dirty="0"/>
              <a:t>, B</a:t>
            </a:r>
            <a:r>
              <a:rPr lang="en-US" sz="2400" baseline="-25000" dirty="0"/>
              <a:t>2</a:t>
            </a:r>
            <a:r>
              <a:rPr lang="en-US" sz="2400" dirty="0"/>
              <a:t>, B</a:t>
            </a:r>
            <a:r>
              <a:rPr lang="en-US" sz="2400" baseline="-25000" dirty="0"/>
              <a:t>3</a:t>
            </a:r>
            <a:r>
              <a:rPr lang="en-US" sz="2400" dirty="0"/>
              <a:t> &gt;=  0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i="1">
                <a:solidFill>
                  <a:schemeClr val="hlink"/>
                </a:solidFill>
              </a:rPr>
              <a:t>Implementing the Model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868363"/>
          </a:xfrm>
          <a:noFill/>
          <a:ln/>
        </p:spPr>
        <p:txBody>
          <a:bodyPr lIns="92075" tIns="46038" rIns="92075" bIns="46038"/>
          <a:lstStyle/>
          <a:p>
            <a:pPr algn="ctr">
              <a:buFont typeface="Wingdings" pitchFamily="2" charset="2"/>
              <a:buNone/>
            </a:pPr>
            <a:r>
              <a:rPr lang="en-US" dirty="0"/>
              <a:t>See file </a:t>
            </a:r>
            <a:r>
              <a:rPr lang="en-US" dirty="0">
                <a:hlinkClick r:id="rId3" action="ppaction://hlinkfile"/>
              </a:rPr>
              <a:t>Fig3-19.xlsm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338138"/>
            <a:ext cx="8094662" cy="1109662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80000"/>
              </a:lnSpc>
            </a:pPr>
            <a:r>
              <a:rPr lang="en-US" sz="4000" i="1">
                <a:solidFill>
                  <a:schemeClr val="hlink"/>
                </a:solidFill>
              </a:rPr>
              <a:t>An Investment Problem:</a:t>
            </a:r>
            <a:br>
              <a:rPr lang="en-US" sz="4000" i="1">
                <a:solidFill>
                  <a:schemeClr val="hlink"/>
                </a:solidFill>
              </a:rPr>
            </a:br>
            <a:r>
              <a:rPr lang="en-US" sz="4000" i="1">
                <a:solidFill>
                  <a:schemeClr val="hlink"/>
                </a:solidFill>
              </a:rPr>
              <a:t>Retirement Planning Services, Inc.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20725" y="1641475"/>
            <a:ext cx="7772400" cy="1100138"/>
          </a:xfrm>
          <a:noFill/>
          <a:ln/>
        </p:spPr>
        <p:txBody>
          <a:bodyPr lIns="92075" tIns="46038" rIns="92075" bIns="46038"/>
          <a:lstStyle/>
          <a:p>
            <a:r>
              <a:rPr lang="en-US" sz="2800" dirty="0"/>
              <a:t>A client wishes to invest $750,000 in the following bonds.</a:t>
            </a:r>
          </a:p>
        </p:txBody>
      </p:sp>
      <p:grpSp>
        <p:nvGrpSpPr>
          <p:cNvPr id="21511" name="Group 7"/>
          <p:cNvGrpSpPr>
            <a:grpSpLocks/>
          </p:cNvGrpSpPr>
          <p:nvPr/>
        </p:nvGrpSpPr>
        <p:grpSpPr bwMode="auto">
          <a:xfrm>
            <a:off x="660400" y="2965450"/>
            <a:ext cx="7874000" cy="3130550"/>
            <a:chOff x="416" y="1440"/>
            <a:chExt cx="4960" cy="1972"/>
          </a:xfrm>
        </p:grpSpPr>
        <p:sp>
          <p:nvSpPr>
            <p:cNvPr id="21508" name="Rectangle 4"/>
            <p:cNvSpPr>
              <a:spLocks noChangeArrowheads="1"/>
            </p:cNvSpPr>
            <p:nvPr/>
          </p:nvSpPr>
          <p:spPr bwMode="auto">
            <a:xfrm>
              <a:off x="416" y="1440"/>
              <a:ext cx="4960" cy="19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lnSpc>
                  <a:spcPct val="40000"/>
                </a:lnSpc>
                <a:spcBef>
                  <a:spcPct val="50000"/>
                </a:spcBef>
                <a:tabLst>
                  <a:tab pos="3878263" algn="ctr"/>
                  <a:tab pos="5205413" algn="ctr"/>
                  <a:tab pos="6735763" algn="ctr"/>
                </a:tabLst>
              </a:pPr>
              <a:r>
                <a:rPr lang="en-US" sz="2000" b="1" dirty="0"/>
                <a:t>		Years to</a:t>
              </a:r>
            </a:p>
            <a:p>
              <a:pPr eaLnBrk="0" hangingPunct="0">
                <a:lnSpc>
                  <a:spcPct val="40000"/>
                </a:lnSpc>
                <a:spcBef>
                  <a:spcPct val="50000"/>
                </a:spcBef>
                <a:tabLst>
                  <a:tab pos="3878263" algn="ctr"/>
                  <a:tab pos="5205413" algn="ctr"/>
                  <a:tab pos="6735763" algn="ctr"/>
                </a:tabLst>
              </a:pPr>
              <a:r>
                <a:rPr lang="en-US" sz="2000" b="1" dirty="0"/>
                <a:t>Company	Return 	 Maturity	Rating</a:t>
              </a:r>
            </a:p>
            <a:p>
              <a:pPr eaLnBrk="0" hangingPunct="0">
                <a:lnSpc>
                  <a:spcPct val="90000"/>
                </a:lnSpc>
                <a:spcBef>
                  <a:spcPct val="50000"/>
                </a:spcBef>
                <a:tabLst>
                  <a:tab pos="3878263" algn="ctr"/>
                  <a:tab pos="5205413" algn="ctr"/>
                  <a:tab pos="6735763" algn="ctr"/>
                </a:tabLst>
              </a:pPr>
              <a:r>
                <a:rPr lang="en-US" sz="2000" b="1" dirty="0"/>
                <a:t>Acme Chemical	8.65%	11	1-Excellent</a:t>
              </a:r>
            </a:p>
            <a:p>
              <a:pPr eaLnBrk="0" hangingPunct="0">
                <a:lnSpc>
                  <a:spcPct val="90000"/>
                </a:lnSpc>
                <a:spcBef>
                  <a:spcPct val="50000"/>
                </a:spcBef>
                <a:tabLst>
                  <a:tab pos="3878263" algn="ctr"/>
                  <a:tab pos="5205413" algn="ctr"/>
                  <a:tab pos="6735763" algn="ctr"/>
                </a:tabLst>
              </a:pPr>
              <a:r>
                <a:rPr lang="en-US" sz="2000" b="1" dirty="0" err="1"/>
                <a:t>DynaStar</a:t>
              </a:r>
              <a:r>
                <a:rPr lang="en-US" sz="2000" b="1" dirty="0"/>
                <a:t>	9.50%	10	3-Good</a:t>
              </a:r>
            </a:p>
            <a:p>
              <a:pPr eaLnBrk="0" hangingPunct="0">
                <a:lnSpc>
                  <a:spcPct val="90000"/>
                </a:lnSpc>
                <a:spcBef>
                  <a:spcPct val="50000"/>
                </a:spcBef>
                <a:tabLst>
                  <a:tab pos="3878263" algn="ctr"/>
                  <a:tab pos="5205413" algn="ctr"/>
                  <a:tab pos="6735763" algn="ctr"/>
                </a:tabLst>
              </a:pPr>
              <a:r>
                <a:rPr lang="en-US" sz="2000" b="1" dirty="0"/>
                <a:t>Eagle Vision	10.00%	6	4-Fair</a:t>
              </a:r>
            </a:p>
            <a:p>
              <a:pPr eaLnBrk="0" hangingPunct="0">
                <a:lnSpc>
                  <a:spcPct val="90000"/>
                </a:lnSpc>
                <a:spcBef>
                  <a:spcPct val="50000"/>
                </a:spcBef>
                <a:tabLst>
                  <a:tab pos="3878263" algn="ctr"/>
                  <a:tab pos="5205413" algn="ctr"/>
                  <a:tab pos="6735763" algn="ctr"/>
                </a:tabLst>
              </a:pPr>
              <a:r>
                <a:rPr lang="en-US" sz="2000" b="1" dirty="0"/>
                <a:t>Micro Modeling	8.75%	10	1-Excellent</a:t>
              </a:r>
            </a:p>
            <a:p>
              <a:pPr eaLnBrk="0" hangingPunct="0">
                <a:lnSpc>
                  <a:spcPct val="90000"/>
                </a:lnSpc>
                <a:spcBef>
                  <a:spcPct val="50000"/>
                </a:spcBef>
                <a:tabLst>
                  <a:tab pos="3878263" algn="ctr"/>
                  <a:tab pos="5205413" algn="ctr"/>
                  <a:tab pos="6735763" algn="ctr"/>
                </a:tabLst>
              </a:pPr>
              <a:r>
                <a:rPr lang="en-US" sz="2000" b="1" dirty="0" err="1"/>
                <a:t>OptiPro</a:t>
              </a:r>
              <a:r>
                <a:rPr lang="en-US" sz="2000" b="1" dirty="0"/>
                <a:t>	9.25%	7	3-Good</a:t>
              </a:r>
              <a:endParaRPr lang="en-US" sz="2000" dirty="0"/>
            </a:p>
            <a:p>
              <a:pPr eaLnBrk="0" hangingPunct="0">
                <a:spcBef>
                  <a:spcPct val="50000"/>
                </a:spcBef>
                <a:tabLst>
                  <a:tab pos="3878263" algn="ctr"/>
                  <a:tab pos="5205413" algn="ctr"/>
                  <a:tab pos="6735763" algn="ctr"/>
                </a:tabLst>
              </a:pPr>
              <a:r>
                <a:rPr lang="en-US" sz="2000" b="1" dirty="0"/>
                <a:t>Sabre Systems	9.00%	13	2-Very Good</a:t>
              </a:r>
            </a:p>
          </p:txBody>
        </p:sp>
        <p:sp>
          <p:nvSpPr>
            <p:cNvPr id="21509" name="Line 5"/>
            <p:cNvSpPr>
              <a:spLocks noChangeShapeType="1"/>
            </p:cNvSpPr>
            <p:nvPr/>
          </p:nvSpPr>
          <p:spPr bwMode="auto">
            <a:xfrm>
              <a:off x="459" y="1764"/>
              <a:ext cx="478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0" name="Line 6"/>
            <p:cNvSpPr>
              <a:spLocks noChangeShapeType="1"/>
            </p:cNvSpPr>
            <p:nvPr/>
          </p:nvSpPr>
          <p:spPr bwMode="auto">
            <a:xfrm>
              <a:off x="457" y="3412"/>
              <a:ext cx="485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i="1">
                <a:solidFill>
                  <a:schemeClr val="hlink"/>
                </a:solidFill>
              </a:rPr>
              <a:t>Investment Restrictions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dirty="0"/>
              <a:t>No more than 25% can be invested in any single company.</a:t>
            </a:r>
          </a:p>
          <a:p>
            <a:r>
              <a:rPr lang="en-US" dirty="0"/>
              <a:t>At least 50% should be invested in long-term bonds (maturing in 10+ years).</a:t>
            </a:r>
          </a:p>
          <a:p>
            <a:r>
              <a:rPr lang="en-US" dirty="0"/>
              <a:t>No more than 35% can be invested in </a:t>
            </a:r>
            <a:r>
              <a:rPr lang="en-US" dirty="0" err="1"/>
              <a:t>DynaStar</a:t>
            </a:r>
            <a:r>
              <a:rPr lang="en-US" dirty="0"/>
              <a:t>, Eagle Vision, and </a:t>
            </a:r>
            <a:r>
              <a:rPr lang="en-US" dirty="0" err="1"/>
              <a:t>OptiPro</a:t>
            </a:r>
            <a:r>
              <a:rPr lang="en-US" dirty="0"/>
              <a:t>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i="1">
                <a:solidFill>
                  <a:schemeClr val="hlink"/>
                </a:solidFill>
              </a:rPr>
              <a:t>Defining the Decision Variables</a:t>
            </a:r>
          </a:p>
        </p:txBody>
      </p:sp>
      <p:sp>
        <p:nvSpPr>
          <p:cNvPr id="24579" name="Rectangle 3"/>
          <p:cNvSpPr>
            <a:spLocks noChangeArrowheads="1"/>
          </p:cNvSpPr>
          <p:nvPr/>
        </p:nvSpPr>
        <p:spPr bwMode="auto">
          <a:xfrm>
            <a:off x="762000" y="2057400"/>
            <a:ext cx="7821613" cy="318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30000"/>
              </a:lnSpc>
            </a:pPr>
            <a:r>
              <a:rPr lang="en-US" sz="2600" dirty="0">
                <a:latin typeface="Tahoma" pitchFamily="34" charset="0"/>
              </a:rPr>
              <a:t>X</a:t>
            </a:r>
            <a:r>
              <a:rPr lang="en-US" sz="2600" baseline="-25000" dirty="0">
                <a:latin typeface="Tahoma" pitchFamily="34" charset="0"/>
              </a:rPr>
              <a:t>1</a:t>
            </a:r>
            <a:r>
              <a:rPr lang="en-US" sz="2600" dirty="0">
                <a:latin typeface="Tahoma" pitchFamily="34" charset="0"/>
              </a:rPr>
              <a:t> = amount of money to invest in Acme Chemical</a:t>
            </a:r>
          </a:p>
          <a:p>
            <a:pPr eaLnBrk="0" hangingPunct="0">
              <a:lnSpc>
                <a:spcPct val="130000"/>
              </a:lnSpc>
            </a:pPr>
            <a:r>
              <a:rPr lang="en-US" sz="2600" dirty="0">
                <a:latin typeface="Tahoma" pitchFamily="34" charset="0"/>
              </a:rPr>
              <a:t>X</a:t>
            </a:r>
            <a:r>
              <a:rPr lang="en-US" sz="2600" baseline="-25000" dirty="0">
                <a:latin typeface="Tahoma" pitchFamily="34" charset="0"/>
              </a:rPr>
              <a:t>2</a:t>
            </a:r>
            <a:r>
              <a:rPr lang="en-US" sz="2600" dirty="0">
                <a:latin typeface="Tahoma" pitchFamily="34" charset="0"/>
              </a:rPr>
              <a:t> = amount of money to invest in </a:t>
            </a:r>
            <a:r>
              <a:rPr lang="en-US" sz="2600" dirty="0" err="1">
                <a:latin typeface="Tahoma" pitchFamily="34" charset="0"/>
              </a:rPr>
              <a:t>DynaStar</a:t>
            </a:r>
            <a:endParaRPr lang="en-US" sz="2600" dirty="0">
              <a:latin typeface="Tahoma" pitchFamily="34" charset="0"/>
            </a:endParaRPr>
          </a:p>
          <a:p>
            <a:pPr eaLnBrk="0" hangingPunct="0">
              <a:lnSpc>
                <a:spcPct val="130000"/>
              </a:lnSpc>
            </a:pPr>
            <a:r>
              <a:rPr lang="en-US" sz="2600" dirty="0">
                <a:latin typeface="Tahoma" pitchFamily="34" charset="0"/>
              </a:rPr>
              <a:t>X</a:t>
            </a:r>
            <a:r>
              <a:rPr lang="en-US" sz="2600" baseline="-25000" dirty="0">
                <a:latin typeface="Tahoma" pitchFamily="34" charset="0"/>
              </a:rPr>
              <a:t>3</a:t>
            </a:r>
            <a:r>
              <a:rPr lang="en-US" sz="2600" dirty="0">
                <a:latin typeface="Tahoma" pitchFamily="34" charset="0"/>
              </a:rPr>
              <a:t> = amount of money to invest in Eagle Vision</a:t>
            </a:r>
          </a:p>
          <a:p>
            <a:pPr eaLnBrk="0" hangingPunct="0">
              <a:lnSpc>
                <a:spcPct val="130000"/>
              </a:lnSpc>
            </a:pPr>
            <a:r>
              <a:rPr lang="en-US" sz="2600" dirty="0">
                <a:latin typeface="Tahoma" pitchFamily="34" charset="0"/>
              </a:rPr>
              <a:t>X</a:t>
            </a:r>
            <a:r>
              <a:rPr lang="en-US" sz="2600" baseline="-25000" dirty="0">
                <a:latin typeface="Tahoma" pitchFamily="34" charset="0"/>
              </a:rPr>
              <a:t>4</a:t>
            </a:r>
            <a:r>
              <a:rPr lang="en-US" sz="2600" dirty="0">
                <a:latin typeface="Tahoma" pitchFamily="34" charset="0"/>
              </a:rPr>
              <a:t> = amount of money to invest in </a:t>
            </a:r>
            <a:r>
              <a:rPr lang="en-US" sz="2600" dirty="0" err="1">
                <a:latin typeface="Tahoma" pitchFamily="34" charset="0"/>
              </a:rPr>
              <a:t>MicroModeling</a:t>
            </a:r>
            <a:endParaRPr lang="en-US" sz="2600" dirty="0">
              <a:latin typeface="Tahoma" pitchFamily="34" charset="0"/>
            </a:endParaRPr>
          </a:p>
          <a:p>
            <a:pPr eaLnBrk="0" hangingPunct="0">
              <a:lnSpc>
                <a:spcPct val="130000"/>
              </a:lnSpc>
            </a:pPr>
            <a:r>
              <a:rPr lang="en-US" sz="2600" dirty="0">
                <a:latin typeface="Tahoma" pitchFamily="34" charset="0"/>
              </a:rPr>
              <a:t>X</a:t>
            </a:r>
            <a:r>
              <a:rPr lang="en-US" sz="2600" baseline="-25000" dirty="0">
                <a:latin typeface="Tahoma" pitchFamily="34" charset="0"/>
              </a:rPr>
              <a:t>5</a:t>
            </a:r>
            <a:r>
              <a:rPr lang="en-US" sz="2600" dirty="0">
                <a:latin typeface="Tahoma" pitchFamily="34" charset="0"/>
              </a:rPr>
              <a:t> = amount of money to invest in </a:t>
            </a:r>
            <a:r>
              <a:rPr lang="en-US" sz="2600" dirty="0" err="1">
                <a:latin typeface="Tahoma" pitchFamily="34" charset="0"/>
              </a:rPr>
              <a:t>OptiPro</a:t>
            </a:r>
            <a:endParaRPr lang="en-US" sz="2600" dirty="0">
              <a:latin typeface="Tahoma" pitchFamily="34" charset="0"/>
            </a:endParaRPr>
          </a:p>
          <a:p>
            <a:pPr eaLnBrk="0" hangingPunct="0">
              <a:lnSpc>
                <a:spcPct val="130000"/>
              </a:lnSpc>
            </a:pPr>
            <a:r>
              <a:rPr lang="en-US" sz="2600" dirty="0">
                <a:latin typeface="Tahoma" pitchFamily="34" charset="0"/>
              </a:rPr>
              <a:t>X</a:t>
            </a:r>
            <a:r>
              <a:rPr lang="en-US" sz="2600" baseline="-25000" dirty="0">
                <a:latin typeface="Tahoma" pitchFamily="34" charset="0"/>
              </a:rPr>
              <a:t>6</a:t>
            </a:r>
            <a:r>
              <a:rPr lang="en-US" sz="2600" dirty="0">
                <a:latin typeface="Tahoma" pitchFamily="34" charset="0"/>
              </a:rPr>
              <a:t> = amount of money to invest in Sabre Systems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i="1">
                <a:solidFill>
                  <a:schemeClr val="hlink"/>
                </a:solidFill>
              </a:rPr>
              <a:t>Defining the Objective Function</a:t>
            </a:r>
          </a:p>
        </p:txBody>
      </p:sp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388938" y="1627188"/>
            <a:ext cx="8502650" cy="1957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 eaLnBrk="0" hangingPunct="0">
              <a:lnSpc>
                <a:spcPct val="65000"/>
              </a:lnSpc>
              <a:spcBef>
                <a:spcPct val="50000"/>
              </a:spcBef>
            </a:pPr>
            <a:r>
              <a:rPr lang="en-US" sz="3200" dirty="0">
                <a:latin typeface="Tahoma" pitchFamily="34" charset="0"/>
              </a:rPr>
              <a:t>Maximize the total </a:t>
            </a:r>
          </a:p>
          <a:p>
            <a:pPr algn="ctr" eaLnBrk="0" hangingPunct="0">
              <a:lnSpc>
                <a:spcPct val="65000"/>
              </a:lnSpc>
              <a:spcBef>
                <a:spcPct val="50000"/>
              </a:spcBef>
            </a:pPr>
            <a:r>
              <a:rPr lang="en-US" sz="3200" dirty="0">
                <a:latin typeface="Tahoma" pitchFamily="34" charset="0"/>
              </a:rPr>
              <a:t>annual investment return:</a:t>
            </a:r>
          </a:p>
          <a:p>
            <a:pPr algn="ctr" eaLnBrk="0" hangingPunct="0">
              <a:lnSpc>
                <a:spcPct val="60000"/>
              </a:lnSpc>
              <a:spcBef>
                <a:spcPct val="30000"/>
              </a:spcBef>
            </a:pPr>
            <a:endParaRPr lang="en-US" sz="3200" dirty="0">
              <a:latin typeface="Tahoma" pitchFamily="34" charset="0"/>
            </a:endParaRPr>
          </a:p>
          <a:p>
            <a:pPr algn="ctr" eaLnBrk="0" hangingPunct="0">
              <a:spcBef>
                <a:spcPct val="50000"/>
              </a:spcBef>
            </a:pPr>
            <a:r>
              <a:rPr lang="en-US" sz="2400" dirty="0">
                <a:latin typeface="Tahoma" pitchFamily="34" charset="0"/>
              </a:rPr>
              <a:t>MAX: .0865X</a:t>
            </a:r>
            <a:r>
              <a:rPr lang="en-US" sz="2400" baseline="-25000" dirty="0">
                <a:latin typeface="Tahoma" pitchFamily="34" charset="0"/>
              </a:rPr>
              <a:t>1</a:t>
            </a:r>
            <a:r>
              <a:rPr lang="en-US" sz="2400" dirty="0">
                <a:latin typeface="Tahoma" pitchFamily="34" charset="0"/>
              </a:rPr>
              <a:t>+ .095X</a:t>
            </a:r>
            <a:r>
              <a:rPr lang="en-US" sz="2400" baseline="-25000" dirty="0">
                <a:latin typeface="Tahoma" pitchFamily="34" charset="0"/>
              </a:rPr>
              <a:t>2</a:t>
            </a:r>
            <a:r>
              <a:rPr lang="en-US" sz="2400" dirty="0">
                <a:latin typeface="Tahoma" pitchFamily="34" charset="0"/>
              </a:rPr>
              <a:t>+ .10X</a:t>
            </a:r>
            <a:r>
              <a:rPr lang="en-US" sz="2400" baseline="-25000" dirty="0">
                <a:latin typeface="Tahoma" pitchFamily="34" charset="0"/>
              </a:rPr>
              <a:t>3</a:t>
            </a:r>
            <a:r>
              <a:rPr lang="en-US" sz="2400" dirty="0">
                <a:latin typeface="Tahoma" pitchFamily="34" charset="0"/>
              </a:rPr>
              <a:t>+ .0875X</a:t>
            </a:r>
            <a:r>
              <a:rPr lang="en-US" sz="2400" baseline="-25000" dirty="0">
                <a:latin typeface="Tahoma" pitchFamily="34" charset="0"/>
              </a:rPr>
              <a:t>4</a:t>
            </a:r>
            <a:r>
              <a:rPr lang="en-US" sz="2400" dirty="0">
                <a:latin typeface="Tahoma" pitchFamily="34" charset="0"/>
              </a:rPr>
              <a:t>+ .0925X</a:t>
            </a:r>
            <a:r>
              <a:rPr lang="en-US" sz="2400" baseline="-25000" dirty="0">
                <a:latin typeface="Tahoma" pitchFamily="34" charset="0"/>
              </a:rPr>
              <a:t>5</a:t>
            </a:r>
            <a:r>
              <a:rPr lang="en-US" sz="2400" dirty="0">
                <a:latin typeface="Tahoma" pitchFamily="34" charset="0"/>
              </a:rPr>
              <a:t>+ .09X</a:t>
            </a:r>
            <a:r>
              <a:rPr lang="en-US" sz="2400" baseline="-25000" dirty="0">
                <a:latin typeface="Tahoma" pitchFamily="34" charset="0"/>
              </a:rPr>
              <a:t>6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617538" y="341313"/>
            <a:ext cx="7772400" cy="722312"/>
          </a:xfrm>
          <a:noFill/>
          <a:ln/>
        </p:spPr>
        <p:txBody>
          <a:bodyPr lIns="92075" tIns="46038" rIns="92075" bIns="46038"/>
          <a:lstStyle/>
          <a:p>
            <a:r>
              <a:rPr lang="en-US" i="1">
                <a:solidFill>
                  <a:schemeClr val="hlink"/>
                </a:solidFill>
              </a:rPr>
              <a:t>Defining the Constraints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553450" cy="5337175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sz="2800" dirty="0"/>
              <a:t>Total amount is invested</a:t>
            </a:r>
          </a:p>
          <a:p>
            <a:pPr lvl="1">
              <a:lnSpc>
                <a:spcPct val="110000"/>
              </a:lnSpc>
              <a:buFontTx/>
              <a:buNone/>
            </a:pPr>
            <a:r>
              <a:rPr lang="en-US" sz="2400" dirty="0"/>
              <a:t>X</a:t>
            </a:r>
            <a:r>
              <a:rPr lang="en-US" sz="2400" baseline="-25000" dirty="0"/>
              <a:t>1</a:t>
            </a:r>
            <a:r>
              <a:rPr lang="en-US" sz="2400" dirty="0"/>
              <a:t> + X</a:t>
            </a:r>
            <a:r>
              <a:rPr lang="en-US" sz="2400" baseline="-25000" dirty="0"/>
              <a:t>2</a:t>
            </a:r>
            <a:r>
              <a:rPr lang="en-US" sz="2400" dirty="0"/>
              <a:t> + X</a:t>
            </a:r>
            <a:r>
              <a:rPr lang="en-US" sz="2400" baseline="-25000" dirty="0"/>
              <a:t>3</a:t>
            </a:r>
            <a:r>
              <a:rPr lang="en-US" sz="2400" dirty="0"/>
              <a:t> + X</a:t>
            </a:r>
            <a:r>
              <a:rPr lang="en-US" sz="2400" baseline="-25000" dirty="0"/>
              <a:t>4</a:t>
            </a:r>
            <a:r>
              <a:rPr lang="en-US" sz="2400" dirty="0"/>
              <a:t> + X</a:t>
            </a:r>
            <a:r>
              <a:rPr lang="en-US" sz="2400" baseline="-25000" dirty="0"/>
              <a:t>5</a:t>
            </a:r>
            <a:r>
              <a:rPr lang="en-US" sz="2400" dirty="0"/>
              <a:t> + X</a:t>
            </a:r>
            <a:r>
              <a:rPr lang="en-US" sz="2400" baseline="-25000" dirty="0"/>
              <a:t>6</a:t>
            </a:r>
            <a:r>
              <a:rPr lang="en-US" sz="2400" dirty="0"/>
              <a:t>  = 750,000 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sz="2800" dirty="0"/>
              <a:t>No more than 25% in any one investment</a:t>
            </a:r>
            <a:endParaRPr lang="en-US" sz="2400" dirty="0">
              <a:latin typeface="Times New Roman" pitchFamily="18" charset="0"/>
            </a:endParaRPr>
          </a:p>
          <a:p>
            <a:pPr lvl="1">
              <a:lnSpc>
                <a:spcPct val="110000"/>
              </a:lnSpc>
              <a:buFontTx/>
              <a:buNone/>
            </a:pPr>
            <a:r>
              <a:rPr lang="en-US" sz="2400" dirty="0"/>
              <a:t>X</a:t>
            </a:r>
            <a:r>
              <a:rPr lang="en-US" sz="2400" i="1" baseline="-25000" dirty="0">
                <a:latin typeface="Times New Roman" pitchFamily="18" charset="0"/>
              </a:rPr>
              <a:t>i</a:t>
            </a:r>
            <a:r>
              <a:rPr lang="en-US" sz="2400" dirty="0"/>
              <a:t> &lt;= 187,500,  for all </a:t>
            </a:r>
            <a:r>
              <a:rPr lang="en-US" sz="2400" b="1" i="1" dirty="0" err="1">
                <a:latin typeface="Times New Roman" pitchFamily="18" charset="0"/>
              </a:rPr>
              <a:t>i</a:t>
            </a:r>
            <a:r>
              <a:rPr lang="en-US" sz="2400" b="1" i="1" dirty="0"/>
              <a:t> </a:t>
            </a:r>
            <a:endParaRPr lang="en-US" sz="2400" dirty="0"/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sz="2800" dirty="0"/>
              <a:t>50% long term investment restriction.</a:t>
            </a:r>
          </a:p>
          <a:p>
            <a:pPr lvl="1">
              <a:lnSpc>
                <a:spcPct val="110000"/>
              </a:lnSpc>
              <a:buFontTx/>
              <a:buNone/>
            </a:pPr>
            <a:r>
              <a:rPr lang="en-US" dirty="0"/>
              <a:t>X</a:t>
            </a:r>
            <a:r>
              <a:rPr lang="en-US" baseline="-25000" dirty="0"/>
              <a:t>1</a:t>
            </a:r>
            <a:r>
              <a:rPr lang="en-US" dirty="0"/>
              <a:t> + X</a:t>
            </a:r>
            <a:r>
              <a:rPr lang="en-US" baseline="-25000" dirty="0"/>
              <a:t>2</a:t>
            </a:r>
            <a:r>
              <a:rPr lang="en-US" dirty="0"/>
              <a:t> + X</a:t>
            </a:r>
            <a:r>
              <a:rPr lang="en-US" baseline="-25000" dirty="0"/>
              <a:t>4</a:t>
            </a:r>
            <a:r>
              <a:rPr lang="en-US" dirty="0"/>
              <a:t> + X</a:t>
            </a:r>
            <a:r>
              <a:rPr lang="en-US" baseline="-25000" dirty="0"/>
              <a:t>6</a:t>
            </a:r>
            <a:r>
              <a:rPr lang="en-US" dirty="0"/>
              <a:t> &gt;= 375,000</a:t>
            </a:r>
          </a:p>
          <a:p>
            <a:r>
              <a:rPr lang="en-US" sz="2800" dirty="0"/>
              <a:t>35% Restriction on </a:t>
            </a:r>
            <a:r>
              <a:rPr lang="en-US" sz="2800" dirty="0" err="1"/>
              <a:t>DynaStar</a:t>
            </a:r>
            <a:r>
              <a:rPr lang="en-US" sz="2800" dirty="0"/>
              <a:t>, Eagle Vision, and </a:t>
            </a:r>
            <a:r>
              <a:rPr lang="en-US" sz="2800" dirty="0" err="1"/>
              <a:t>OptiPro</a:t>
            </a:r>
            <a:r>
              <a:rPr lang="en-US" sz="2800" dirty="0"/>
              <a:t>.</a:t>
            </a:r>
          </a:p>
          <a:p>
            <a:pPr lvl="1">
              <a:buFontTx/>
              <a:buNone/>
            </a:pPr>
            <a:r>
              <a:rPr lang="en-US" sz="2400" dirty="0"/>
              <a:t>X</a:t>
            </a:r>
            <a:r>
              <a:rPr lang="en-US" sz="2400" baseline="-25000" dirty="0"/>
              <a:t>2</a:t>
            </a:r>
            <a:r>
              <a:rPr lang="en-US" sz="2400" dirty="0"/>
              <a:t> + X</a:t>
            </a:r>
            <a:r>
              <a:rPr lang="en-US" sz="2400" baseline="-25000" dirty="0"/>
              <a:t>3</a:t>
            </a:r>
            <a:r>
              <a:rPr lang="en-US" sz="2400" dirty="0"/>
              <a:t> + X</a:t>
            </a:r>
            <a:r>
              <a:rPr lang="en-US" sz="2400" baseline="-25000" dirty="0"/>
              <a:t>5</a:t>
            </a:r>
            <a:r>
              <a:rPr lang="en-US" sz="2400" dirty="0"/>
              <a:t>  &lt;= 262,500</a:t>
            </a:r>
          </a:p>
          <a:p>
            <a:r>
              <a:rPr lang="en-US" sz="2800" dirty="0"/>
              <a:t>Nonnegativity conditions</a:t>
            </a:r>
          </a:p>
          <a:p>
            <a:pPr lvl="1">
              <a:lnSpc>
                <a:spcPct val="110000"/>
              </a:lnSpc>
              <a:buFontTx/>
              <a:buNone/>
            </a:pPr>
            <a:r>
              <a:rPr lang="en-US" sz="2400" dirty="0"/>
              <a:t>X</a:t>
            </a:r>
            <a:r>
              <a:rPr lang="en-US" sz="2400" i="1" baseline="-25000" dirty="0">
                <a:latin typeface="Times New Roman" pitchFamily="18" charset="0"/>
              </a:rPr>
              <a:t>i</a:t>
            </a:r>
            <a:r>
              <a:rPr lang="en-US" sz="2400" dirty="0"/>
              <a:t> &gt;= 0  for all </a:t>
            </a:r>
            <a:r>
              <a:rPr lang="en-US" sz="2400" b="1" i="1" dirty="0" err="1">
                <a:latin typeface="Times New Roman" pitchFamily="18" charset="0"/>
              </a:rPr>
              <a:t>i</a:t>
            </a:r>
            <a:r>
              <a:rPr lang="en-US" sz="2400" b="1" i="1" dirty="0"/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24200" y="6393343"/>
            <a:ext cx="2895600" cy="357814"/>
          </a:xfr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i="1">
                <a:solidFill>
                  <a:schemeClr val="hlink"/>
                </a:solidFill>
              </a:rPr>
              <a:t>Implementing the Model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868363"/>
          </a:xfrm>
          <a:noFill/>
          <a:ln/>
        </p:spPr>
        <p:txBody>
          <a:bodyPr lIns="92075" tIns="46038" rIns="92075" bIns="46038"/>
          <a:lstStyle/>
          <a:p>
            <a:pPr algn="ctr">
              <a:buFont typeface="Wingdings" pitchFamily="2" charset="2"/>
              <a:buNone/>
            </a:pPr>
            <a:r>
              <a:rPr lang="en-US" dirty="0"/>
              <a:t>See file </a:t>
            </a:r>
            <a:r>
              <a:rPr lang="en-US" dirty="0">
                <a:hlinkClick r:id="rId3" action="ppaction://hlinkfile"/>
              </a:rPr>
              <a:t>Fig3-22.xlsm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24200" y="6257925"/>
            <a:ext cx="2895600" cy="476250"/>
          </a:xfrm>
        </p:spPr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77825"/>
            <a:ext cx="8229600" cy="855663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80000"/>
              </a:lnSpc>
            </a:pPr>
            <a:r>
              <a:rPr lang="en-US" sz="4000" i="1">
                <a:solidFill>
                  <a:schemeClr val="hlink"/>
                </a:solidFill>
              </a:rPr>
              <a:t>A Transportation Problem: Tropicsun</a:t>
            </a:r>
          </a:p>
        </p:txBody>
      </p:sp>
      <p:grpSp>
        <p:nvGrpSpPr>
          <p:cNvPr id="33843" name="Group 51"/>
          <p:cNvGrpSpPr>
            <a:grpSpLocks/>
          </p:cNvGrpSpPr>
          <p:nvPr/>
        </p:nvGrpSpPr>
        <p:grpSpPr bwMode="auto">
          <a:xfrm>
            <a:off x="919163" y="1295400"/>
            <a:ext cx="7310437" cy="4991100"/>
            <a:chOff x="732" y="707"/>
            <a:chExt cx="4605" cy="3144"/>
          </a:xfrm>
        </p:grpSpPr>
        <p:sp>
          <p:nvSpPr>
            <p:cNvPr id="33795" name="Freeform 3"/>
            <p:cNvSpPr>
              <a:spLocks/>
            </p:cNvSpPr>
            <p:nvPr/>
          </p:nvSpPr>
          <p:spPr bwMode="auto">
            <a:xfrm>
              <a:off x="1484" y="1171"/>
              <a:ext cx="616" cy="607"/>
            </a:xfrm>
            <a:custGeom>
              <a:avLst/>
              <a:gdLst>
                <a:gd name="T0" fmla="*/ 615 w 616"/>
                <a:gd name="T1" fmla="*/ 303 h 607"/>
                <a:gd name="T2" fmla="*/ 609 w 616"/>
                <a:gd name="T3" fmla="*/ 242 h 607"/>
                <a:gd name="T4" fmla="*/ 591 w 616"/>
                <a:gd name="T5" fmla="*/ 185 h 607"/>
                <a:gd name="T6" fmla="*/ 563 w 616"/>
                <a:gd name="T7" fmla="*/ 134 h 607"/>
                <a:gd name="T8" fmla="*/ 525 w 616"/>
                <a:gd name="T9" fmla="*/ 89 h 607"/>
                <a:gd name="T10" fmla="*/ 480 w 616"/>
                <a:gd name="T11" fmla="*/ 52 h 607"/>
                <a:gd name="T12" fmla="*/ 427 w 616"/>
                <a:gd name="T13" fmla="*/ 24 h 607"/>
                <a:gd name="T14" fmla="*/ 370 w 616"/>
                <a:gd name="T15" fmla="*/ 6 h 607"/>
                <a:gd name="T16" fmla="*/ 308 w 616"/>
                <a:gd name="T17" fmla="*/ 0 h 607"/>
                <a:gd name="T18" fmla="*/ 245 w 616"/>
                <a:gd name="T19" fmla="*/ 6 h 607"/>
                <a:gd name="T20" fmla="*/ 188 w 616"/>
                <a:gd name="T21" fmla="*/ 24 h 607"/>
                <a:gd name="T22" fmla="*/ 136 w 616"/>
                <a:gd name="T23" fmla="*/ 52 h 607"/>
                <a:gd name="T24" fmla="*/ 90 w 616"/>
                <a:gd name="T25" fmla="*/ 89 h 607"/>
                <a:gd name="T26" fmla="*/ 53 w 616"/>
                <a:gd name="T27" fmla="*/ 134 h 607"/>
                <a:gd name="T28" fmla="*/ 24 w 616"/>
                <a:gd name="T29" fmla="*/ 185 h 607"/>
                <a:gd name="T30" fmla="*/ 6 w 616"/>
                <a:gd name="T31" fmla="*/ 242 h 607"/>
                <a:gd name="T32" fmla="*/ 0 w 616"/>
                <a:gd name="T33" fmla="*/ 303 h 607"/>
                <a:gd name="T34" fmla="*/ 6 w 616"/>
                <a:gd name="T35" fmla="*/ 364 h 607"/>
                <a:gd name="T36" fmla="*/ 24 w 616"/>
                <a:gd name="T37" fmla="*/ 421 h 607"/>
                <a:gd name="T38" fmla="*/ 53 w 616"/>
                <a:gd name="T39" fmla="*/ 472 h 607"/>
                <a:gd name="T40" fmla="*/ 90 w 616"/>
                <a:gd name="T41" fmla="*/ 517 h 607"/>
                <a:gd name="T42" fmla="*/ 136 w 616"/>
                <a:gd name="T43" fmla="*/ 554 h 607"/>
                <a:gd name="T44" fmla="*/ 188 w 616"/>
                <a:gd name="T45" fmla="*/ 582 h 607"/>
                <a:gd name="T46" fmla="*/ 245 w 616"/>
                <a:gd name="T47" fmla="*/ 600 h 607"/>
                <a:gd name="T48" fmla="*/ 308 w 616"/>
                <a:gd name="T49" fmla="*/ 606 h 607"/>
                <a:gd name="T50" fmla="*/ 370 w 616"/>
                <a:gd name="T51" fmla="*/ 600 h 607"/>
                <a:gd name="T52" fmla="*/ 427 w 616"/>
                <a:gd name="T53" fmla="*/ 582 h 607"/>
                <a:gd name="T54" fmla="*/ 480 w 616"/>
                <a:gd name="T55" fmla="*/ 554 h 607"/>
                <a:gd name="T56" fmla="*/ 525 w 616"/>
                <a:gd name="T57" fmla="*/ 517 h 607"/>
                <a:gd name="T58" fmla="*/ 563 w 616"/>
                <a:gd name="T59" fmla="*/ 472 h 607"/>
                <a:gd name="T60" fmla="*/ 591 w 616"/>
                <a:gd name="T61" fmla="*/ 421 h 607"/>
                <a:gd name="T62" fmla="*/ 609 w 616"/>
                <a:gd name="T63" fmla="*/ 364 h 607"/>
                <a:gd name="T64" fmla="*/ 615 w 616"/>
                <a:gd name="T65" fmla="*/ 303 h 607"/>
                <a:gd name="T66" fmla="*/ 615 w 616"/>
                <a:gd name="T67" fmla="*/ 303 h 6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16" h="607">
                  <a:moveTo>
                    <a:pt x="615" y="303"/>
                  </a:moveTo>
                  <a:lnTo>
                    <a:pt x="609" y="242"/>
                  </a:lnTo>
                  <a:lnTo>
                    <a:pt x="591" y="185"/>
                  </a:lnTo>
                  <a:lnTo>
                    <a:pt x="563" y="134"/>
                  </a:lnTo>
                  <a:lnTo>
                    <a:pt x="525" y="89"/>
                  </a:lnTo>
                  <a:lnTo>
                    <a:pt x="480" y="52"/>
                  </a:lnTo>
                  <a:lnTo>
                    <a:pt x="427" y="24"/>
                  </a:lnTo>
                  <a:lnTo>
                    <a:pt x="370" y="6"/>
                  </a:lnTo>
                  <a:lnTo>
                    <a:pt x="308" y="0"/>
                  </a:lnTo>
                  <a:lnTo>
                    <a:pt x="245" y="6"/>
                  </a:lnTo>
                  <a:lnTo>
                    <a:pt x="188" y="24"/>
                  </a:lnTo>
                  <a:lnTo>
                    <a:pt x="136" y="52"/>
                  </a:lnTo>
                  <a:lnTo>
                    <a:pt x="90" y="89"/>
                  </a:lnTo>
                  <a:lnTo>
                    <a:pt x="53" y="134"/>
                  </a:lnTo>
                  <a:lnTo>
                    <a:pt x="24" y="185"/>
                  </a:lnTo>
                  <a:lnTo>
                    <a:pt x="6" y="242"/>
                  </a:lnTo>
                  <a:lnTo>
                    <a:pt x="0" y="303"/>
                  </a:lnTo>
                  <a:lnTo>
                    <a:pt x="6" y="364"/>
                  </a:lnTo>
                  <a:lnTo>
                    <a:pt x="24" y="421"/>
                  </a:lnTo>
                  <a:lnTo>
                    <a:pt x="53" y="472"/>
                  </a:lnTo>
                  <a:lnTo>
                    <a:pt x="90" y="517"/>
                  </a:lnTo>
                  <a:lnTo>
                    <a:pt x="136" y="554"/>
                  </a:lnTo>
                  <a:lnTo>
                    <a:pt x="188" y="582"/>
                  </a:lnTo>
                  <a:lnTo>
                    <a:pt x="245" y="600"/>
                  </a:lnTo>
                  <a:lnTo>
                    <a:pt x="308" y="606"/>
                  </a:lnTo>
                  <a:lnTo>
                    <a:pt x="370" y="600"/>
                  </a:lnTo>
                  <a:lnTo>
                    <a:pt x="427" y="582"/>
                  </a:lnTo>
                  <a:lnTo>
                    <a:pt x="480" y="554"/>
                  </a:lnTo>
                  <a:lnTo>
                    <a:pt x="525" y="517"/>
                  </a:lnTo>
                  <a:lnTo>
                    <a:pt x="563" y="472"/>
                  </a:lnTo>
                  <a:lnTo>
                    <a:pt x="591" y="421"/>
                  </a:lnTo>
                  <a:lnTo>
                    <a:pt x="609" y="364"/>
                  </a:lnTo>
                  <a:lnTo>
                    <a:pt x="615" y="303"/>
                  </a:lnTo>
                  <a:lnTo>
                    <a:pt x="615" y="303"/>
                  </a:lnTo>
                </a:path>
              </a:pathLst>
            </a:custGeom>
            <a:noFill/>
            <a:ln w="254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796" name="Rectangle 4"/>
            <p:cNvSpPr>
              <a:spLocks noChangeArrowheads="1"/>
            </p:cNvSpPr>
            <p:nvPr/>
          </p:nvSpPr>
          <p:spPr bwMode="auto">
            <a:xfrm>
              <a:off x="1503" y="1273"/>
              <a:ext cx="56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400" b="1"/>
                <a:t>Mt. Dora</a:t>
              </a:r>
            </a:p>
          </p:txBody>
        </p:sp>
        <p:sp>
          <p:nvSpPr>
            <p:cNvPr id="33797" name="Rectangle 5"/>
            <p:cNvSpPr>
              <a:spLocks noChangeArrowheads="1"/>
            </p:cNvSpPr>
            <p:nvPr/>
          </p:nvSpPr>
          <p:spPr bwMode="auto">
            <a:xfrm>
              <a:off x="1665" y="1446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600" b="1"/>
                <a:t>1</a:t>
              </a:r>
            </a:p>
          </p:txBody>
        </p:sp>
        <p:sp>
          <p:nvSpPr>
            <p:cNvPr id="33798" name="Freeform 6"/>
            <p:cNvSpPr>
              <a:spLocks/>
            </p:cNvSpPr>
            <p:nvPr/>
          </p:nvSpPr>
          <p:spPr bwMode="auto">
            <a:xfrm>
              <a:off x="1484" y="2181"/>
              <a:ext cx="616" cy="607"/>
            </a:xfrm>
            <a:custGeom>
              <a:avLst/>
              <a:gdLst>
                <a:gd name="T0" fmla="*/ 615 w 616"/>
                <a:gd name="T1" fmla="*/ 303 h 607"/>
                <a:gd name="T2" fmla="*/ 609 w 616"/>
                <a:gd name="T3" fmla="*/ 242 h 607"/>
                <a:gd name="T4" fmla="*/ 591 w 616"/>
                <a:gd name="T5" fmla="*/ 185 h 607"/>
                <a:gd name="T6" fmla="*/ 563 w 616"/>
                <a:gd name="T7" fmla="*/ 134 h 607"/>
                <a:gd name="T8" fmla="*/ 525 w 616"/>
                <a:gd name="T9" fmla="*/ 89 h 607"/>
                <a:gd name="T10" fmla="*/ 480 w 616"/>
                <a:gd name="T11" fmla="*/ 52 h 607"/>
                <a:gd name="T12" fmla="*/ 427 w 616"/>
                <a:gd name="T13" fmla="*/ 24 h 607"/>
                <a:gd name="T14" fmla="*/ 370 w 616"/>
                <a:gd name="T15" fmla="*/ 6 h 607"/>
                <a:gd name="T16" fmla="*/ 308 w 616"/>
                <a:gd name="T17" fmla="*/ 0 h 607"/>
                <a:gd name="T18" fmla="*/ 245 w 616"/>
                <a:gd name="T19" fmla="*/ 6 h 607"/>
                <a:gd name="T20" fmla="*/ 188 w 616"/>
                <a:gd name="T21" fmla="*/ 24 h 607"/>
                <a:gd name="T22" fmla="*/ 136 w 616"/>
                <a:gd name="T23" fmla="*/ 52 h 607"/>
                <a:gd name="T24" fmla="*/ 90 w 616"/>
                <a:gd name="T25" fmla="*/ 89 h 607"/>
                <a:gd name="T26" fmla="*/ 53 w 616"/>
                <a:gd name="T27" fmla="*/ 134 h 607"/>
                <a:gd name="T28" fmla="*/ 24 w 616"/>
                <a:gd name="T29" fmla="*/ 185 h 607"/>
                <a:gd name="T30" fmla="*/ 6 w 616"/>
                <a:gd name="T31" fmla="*/ 242 h 607"/>
                <a:gd name="T32" fmla="*/ 0 w 616"/>
                <a:gd name="T33" fmla="*/ 303 h 607"/>
                <a:gd name="T34" fmla="*/ 6 w 616"/>
                <a:gd name="T35" fmla="*/ 364 h 607"/>
                <a:gd name="T36" fmla="*/ 24 w 616"/>
                <a:gd name="T37" fmla="*/ 421 h 607"/>
                <a:gd name="T38" fmla="*/ 53 w 616"/>
                <a:gd name="T39" fmla="*/ 472 h 607"/>
                <a:gd name="T40" fmla="*/ 90 w 616"/>
                <a:gd name="T41" fmla="*/ 517 h 607"/>
                <a:gd name="T42" fmla="*/ 136 w 616"/>
                <a:gd name="T43" fmla="*/ 554 h 607"/>
                <a:gd name="T44" fmla="*/ 188 w 616"/>
                <a:gd name="T45" fmla="*/ 582 h 607"/>
                <a:gd name="T46" fmla="*/ 245 w 616"/>
                <a:gd name="T47" fmla="*/ 599 h 607"/>
                <a:gd name="T48" fmla="*/ 308 w 616"/>
                <a:gd name="T49" fmla="*/ 606 h 607"/>
                <a:gd name="T50" fmla="*/ 370 w 616"/>
                <a:gd name="T51" fmla="*/ 599 h 607"/>
                <a:gd name="T52" fmla="*/ 427 w 616"/>
                <a:gd name="T53" fmla="*/ 582 h 607"/>
                <a:gd name="T54" fmla="*/ 480 w 616"/>
                <a:gd name="T55" fmla="*/ 554 h 607"/>
                <a:gd name="T56" fmla="*/ 525 w 616"/>
                <a:gd name="T57" fmla="*/ 517 h 607"/>
                <a:gd name="T58" fmla="*/ 563 w 616"/>
                <a:gd name="T59" fmla="*/ 472 h 607"/>
                <a:gd name="T60" fmla="*/ 591 w 616"/>
                <a:gd name="T61" fmla="*/ 421 h 607"/>
                <a:gd name="T62" fmla="*/ 609 w 616"/>
                <a:gd name="T63" fmla="*/ 364 h 607"/>
                <a:gd name="T64" fmla="*/ 615 w 616"/>
                <a:gd name="T65" fmla="*/ 303 h 607"/>
                <a:gd name="T66" fmla="*/ 615 w 616"/>
                <a:gd name="T67" fmla="*/ 303 h 6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16" h="607">
                  <a:moveTo>
                    <a:pt x="615" y="303"/>
                  </a:moveTo>
                  <a:lnTo>
                    <a:pt x="609" y="242"/>
                  </a:lnTo>
                  <a:lnTo>
                    <a:pt x="591" y="185"/>
                  </a:lnTo>
                  <a:lnTo>
                    <a:pt x="563" y="134"/>
                  </a:lnTo>
                  <a:lnTo>
                    <a:pt x="525" y="89"/>
                  </a:lnTo>
                  <a:lnTo>
                    <a:pt x="480" y="52"/>
                  </a:lnTo>
                  <a:lnTo>
                    <a:pt x="427" y="24"/>
                  </a:lnTo>
                  <a:lnTo>
                    <a:pt x="370" y="6"/>
                  </a:lnTo>
                  <a:lnTo>
                    <a:pt x="308" y="0"/>
                  </a:lnTo>
                  <a:lnTo>
                    <a:pt x="245" y="6"/>
                  </a:lnTo>
                  <a:lnTo>
                    <a:pt x="188" y="24"/>
                  </a:lnTo>
                  <a:lnTo>
                    <a:pt x="136" y="52"/>
                  </a:lnTo>
                  <a:lnTo>
                    <a:pt x="90" y="89"/>
                  </a:lnTo>
                  <a:lnTo>
                    <a:pt x="53" y="134"/>
                  </a:lnTo>
                  <a:lnTo>
                    <a:pt x="24" y="185"/>
                  </a:lnTo>
                  <a:lnTo>
                    <a:pt x="6" y="242"/>
                  </a:lnTo>
                  <a:lnTo>
                    <a:pt x="0" y="303"/>
                  </a:lnTo>
                  <a:lnTo>
                    <a:pt x="6" y="364"/>
                  </a:lnTo>
                  <a:lnTo>
                    <a:pt x="24" y="421"/>
                  </a:lnTo>
                  <a:lnTo>
                    <a:pt x="53" y="472"/>
                  </a:lnTo>
                  <a:lnTo>
                    <a:pt x="90" y="517"/>
                  </a:lnTo>
                  <a:lnTo>
                    <a:pt x="136" y="554"/>
                  </a:lnTo>
                  <a:lnTo>
                    <a:pt x="188" y="582"/>
                  </a:lnTo>
                  <a:lnTo>
                    <a:pt x="245" y="599"/>
                  </a:lnTo>
                  <a:lnTo>
                    <a:pt x="308" y="606"/>
                  </a:lnTo>
                  <a:lnTo>
                    <a:pt x="370" y="599"/>
                  </a:lnTo>
                  <a:lnTo>
                    <a:pt x="427" y="582"/>
                  </a:lnTo>
                  <a:lnTo>
                    <a:pt x="480" y="554"/>
                  </a:lnTo>
                  <a:lnTo>
                    <a:pt x="525" y="517"/>
                  </a:lnTo>
                  <a:lnTo>
                    <a:pt x="563" y="472"/>
                  </a:lnTo>
                  <a:lnTo>
                    <a:pt x="591" y="421"/>
                  </a:lnTo>
                  <a:lnTo>
                    <a:pt x="609" y="364"/>
                  </a:lnTo>
                  <a:lnTo>
                    <a:pt x="615" y="303"/>
                  </a:lnTo>
                  <a:lnTo>
                    <a:pt x="615" y="303"/>
                  </a:lnTo>
                </a:path>
              </a:pathLst>
            </a:custGeom>
            <a:noFill/>
            <a:ln w="254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799" name="Rectangle 7"/>
            <p:cNvSpPr>
              <a:spLocks noChangeArrowheads="1"/>
            </p:cNvSpPr>
            <p:nvPr/>
          </p:nvSpPr>
          <p:spPr bwMode="auto">
            <a:xfrm>
              <a:off x="1568" y="2289"/>
              <a:ext cx="45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400" b="1"/>
                <a:t>Eustis</a:t>
              </a:r>
            </a:p>
          </p:txBody>
        </p:sp>
        <p:sp>
          <p:nvSpPr>
            <p:cNvPr id="33800" name="Rectangle 8"/>
            <p:cNvSpPr>
              <a:spLocks noChangeArrowheads="1"/>
            </p:cNvSpPr>
            <p:nvPr/>
          </p:nvSpPr>
          <p:spPr bwMode="auto">
            <a:xfrm>
              <a:off x="1666" y="2456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600" b="1"/>
                <a:t>2</a:t>
              </a:r>
            </a:p>
          </p:txBody>
        </p:sp>
        <p:sp>
          <p:nvSpPr>
            <p:cNvPr id="33801" name="Freeform 9"/>
            <p:cNvSpPr>
              <a:spLocks/>
            </p:cNvSpPr>
            <p:nvPr/>
          </p:nvSpPr>
          <p:spPr bwMode="auto">
            <a:xfrm>
              <a:off x="1466" y="3243"/>
              <a:ext cx="617" cy="607"/>
            </a:xfrm>
            <a:custGeom>
              <a:avLst/>
              <a:gdLst>
                <a:gd name="T0" fmla="*/ 616 w 617"/>
                <a:gd name="T1" fmla="*/ 303 h 607"/>
                <a:gd name="T2" fmla="*/ 609 w 617"/>
                <a:gd name="T3" fmla="*/ 242 h 607"/>
                <a:gd name="T4" fmla="*/ 591 w 617"/>
                <a:gd name="T5" fmla="*/ 185 h 607"/>
                <a:gd name="T6" fmla="*/ 563 w 617"/>
                <a:gd name="T7" fmla="*/ 134 h 607"/>
                <a:gd name="T8" fmla="*/ 525 w 617"/>
                <a:gd name="T9" fmla="*/ 89 h 607"/>
                <a:gd name="T10" fmla="*/ 480 w 617"/>
                <a:gd name="T11" fmla="*/ 52 h 607"/>
                <a:gd name="T12" fmla="*/ 428 w 617"/>
                <a:gd name="T13" fmla="*/ 24 h 607"/>
                <a:gd name="T14" fmla="*/ 370 w 617"/>
                <a:gd name="T15" fmla="*/ 6 h 607"/>
                <a:gd name="T16" fmla="*/ 308 w 617"/>
                <a:gd name="T17" fmla="*/ 0 h 607"/>
                <a:gd name="T18" fmla="*/ 246 w 617"/>
                <a:gd name="T19" fmla="*/ 6 h 607"/>
                <a:gd name="T20" fmla="*/ 188 w 617"/>
                <a:gd name="T21" fmla="*/ 24 h 607"/>
                <a:gd name="T22" fmla="*/ 136 w 617"/>
                <a:gd name="T23" fmla="*/ 52 h 607"/>
                <a:gd name="T24" fmla="*/ 90 w 617"/>
                <a:gd name="T25" fmla="*/ 89 h 607"/>
                <a:gd name="T26" fmla="*/ 53 w 617"/>
                <a:gd name="T27" fmla="*/ 134 h 607"/>
                <a:gd name="T28" fmla="*/ 24 w 617"/>
                <a:gd name="T29" fmla="*/ 185 h 607"/>
                <a:gd name="T30" fmla="*/ 6 w 617"/>
                <a:gd name="T31" fmla="*/ 242 h 607"/>
                <a:gd name="T32" fmla="*/ 0 w 617"/>
                <a:gd name="T33" fmla="*/ 303 h 607"/>
                <a:gd name="T34" fmla="*/ 6 w 617"/>
                <a:gd name="T35" fmla="*/ 364 h 607"/>
                <a:gd name="T36" fmla="*/ 24 w 617"/>
                <a:gd name="T37" fmla="*/ 421 h 607"/>
                <a:gd name="T38" fmla="*/ 53 w 617"/>
                <a:gd name="T39" fmla="*/ 472 h 607"/>
                <a:gd name="T40" fmla="*/ 90 w 617"/>
                <a:gd name="T41" fmla="*/ 517 h 607"/>
                <a:gd name="T42" fmla="*/ 136 w 617"/>
                <a:gd name="T43" fmla="*/ 554 h 607"/>
                <a:gd name="T44" fmla="*/ 188 w 617"/>
                <a:gd name="T45" fmla="*/ 582 h 607"/>
                <a:gd name="T46" fmla="*/ 246 w 617"/>
                <a:gd name="T47" fmla="*/ 600 h 607"/>
                <a:gd name="T48" fmla="*/ 308 w 617"/>
                <a:gd name="T49" fmla="*/ 606 h 607"/>
                <a:gd name="T50" fmla="*/ 370 w 617"/>
                <a:gd name="T51" fmla="*/ 600 h 607"/>
                <a:gd name="T52" fmla="*/ 428 w 617"/>
                <a:gd name="T53" fmla="*/ 582 h 607"/>
                <a:gd name="T54" fmla="*/ 480 w 617"/>
                <a:gd name="T55" fmla="*/ 554 h 607"/>
                <a:gd name="T56" fmla="*/ 525 w 617"/>
                <a:gd name="T57" fmla="*/ 517 h 607"/>
                <a:gd name="T58" fmla="*/ 563 w 617"/>
                <a:gd name="T59" fmla="*/ 472 h 607"/>
                <a:gd name="T60" fmla="*/ 591 w 617"/>
                <a:gd name="T61" fmla="*/ 421 h 607"/>
                <a:gd name="T62" fmla="*/ 609 w 617"/>
                <a:gd name="T63" fmla="*/ 364 h 607"/>
                <a:gd name="T64" fmla="*/ 616 w 617"/>
                <a:gd name="T65" fmla="*/ 303 h 607"/>
                <a:gd name="T66" fmla="*/ 616 w 617"/>
                <a:gd name="T67" fmla="*/ 303 h 6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17" h="607">
                  <a:moveTo>
                    <a:pt x="616" y="303"/>
                  </a:moveTo>
                  <a:lnTo>
                    <a:pt x="609" y="242"/>
                  </a:lnTo>
                  <a:lnTo>
                    <a:pt x="591" y="185"/>
                  </a:lnTo>
                  <a:lnTo>
                    <a:pt x="563" y="134"/>
                  </a:lnTo>
                  <a:lnTo>
                    <a:pt x="525" y="89"/>
                  </a:lnTo>
                  <a:lnTo>
                    <a:pt x="480" y="52"/>
                  </a:lnTo>
                  <a:lnTo>
                    <a:pt x="428" y="24"/>
                  </a:lnTo>
                  <a:lnTo>
                    <a:pt x="370" y="6"/>
                  </a:lnTo>
                  <a:lnTo>
                    <a:pt x="308" y="0"/>
                  </a:lnTo>
                  <a:lnTo>
                    <a:pt x="246" y="6"/>
                  </a:lnTo>
                  <a:lnTo>
                    <a:pt x="188" y="24"/>
                  </a:lnTo>
                  <a:lnTo>
                    <a:pt x="136" y="52"/>
                  </a:lnTo>
                  <a:lnTo>
                    <a:pt x="90" y="89"/>
                  </a:lnTo>
                  <a:lnTo>
                    <a:pt x="53" y="134"/>
                  </a:lnTo>
                  <a:lnTo>
                    <a:pt x="24" y="185"/>
                  </a:lnTo>
                  <a:lnTo>
                    <a:pt x="6" y="242"/>
                  </a:lnTo>
                  <a:lnTo>
                    <a:pt x="0" y="303"/>
                  </a:lnTo>
                  <a:lnTo>
                    <a:pt x="6" y="364"/>
                  </a:lnTo>
                  <a:lnTo>
                    <a:pt x="24" y="421"/>
                  </a:lnTo>
                  <a:lnTo>
                    <a:pt x="53" y="472"/>
                  </a:lnTo>
                  <a:lnTo>
                    <a:pt x="90" y="517"/>
                  </a:lnTo>
                  <a:lnTo>
                    <a:pt x="136" y="554"/>
                  </a:lnTo>
                  <a:lnTo>
                    <a:pt x="188" y="582"/>
                  </a:lnTo>
                  <a:lnTo>
                    <a:pt x="246" y="600"/>
                  </a:lnTo>
                  <a:lnTo>
                    <a:pt x="308" y="606"/>
                  </a:lnTo>
                  <a:lnTo>
                    <a:pt x="370" y="600"/>
                  </a:lnTo>
                  <a:lnTo>
                    <a:pt x="428" y="582"/>
                  </a:lnTo>
                  <a:lnTo>
                    <a:pt x="480" y="554"/>
                  </a:lnTo>
                  <a:lnTo>
                    <a:pt x="525" y="517"/>
                  </a:lnTo>
                  <a:lnTo>
                    <a:pt x="563" y="472"/>
                  </a:lnTo>
                  <a:lnTo>
                    <a:pt x="591" y="421"/>
                  </a:lnTo>
                  <a:lnTo>
                    <a:pt x="609" y="364"/>
                  </a:lnTo>
                  <a:lnTo>
                    <a:pt x="616" y="303"/>
                  </a:lnTo>
                  <a:lnTo>
                    <a:pt x="616" y="303"/>
                  </a:lnTo>
                </a:path>
              </a:pathLst>
            </a:custGeom>
            <a:noFill/>
            <a:ln w="254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02" name="Rectangle 10"/>
            <p:cNvSpPr>
              <a:spLocks noChangeArrowheads="1"/>
            </p:cNvSpPr>
            <p:nvPr/>
          </p:nvSpPr>
          <p:spPr bwMode="auto">
            <a:xfrm>
              <a:off x="1480" y="3351"/>
              <a:ext cx="572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300" b="1"/>
                <a:t>Clermont</a:t>
              </a:r>
            </a:p>
          </p:txBody>
        </p:sp>
        <p:sp>
          <p:nvSpPr>
            <p:cNvPr id="33803" name="Rectangle 11"/>
            <p:cNvSpPr>
              <a:spLocks noChangeArrowheads="1"/>
            </p:cNvSpPr>
            <p:nvPr/>
          </p:nvSpPr>
          <p:spPr bwMode="auto">
            <a:xfrm>
              <a:off x="1653" y="3513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600" b="1"/>
                <a:t>3</a:t>
              </a:r>
            </a:p>
          </p:txBody>
        </p:sp>
        <p:sp>
          <p:nvSpPr>
            <p:cNvPr id="33804" name="Freeform 12"/>
            <p:cNvSpPr>
              <a:spLocks/>
            </p:cNvSpPr>
            <p:nvPr/>
          </p:nvSpPr>
          <p:spPr bwMode="auto">
            <a:xfrm>
              <a:off x="3999" y="1172"/>
              <a:ext cx="616" cy="606"/>
            </a:xfrm>
            <a:custGeom>
              <a:avLst/>
              <a:gdLst>
                <a:gd name="T0" fmla="*/ 615 w 616"/>
                <a:gd name="T1" fmla="*/ 303 h 606"/>
                <a:gd name="T2" fmla="*/ 609 w 616"/>
                <a:gd name="T3" fmla="*/ 241 h 606"/>
                <a:gd name="T4" fmla="*/ 591 w 616"/>
                <a:gd name="T5" fmla="*/ 184 h 606"/>
                <a:gd name="T6" fmla="*/ 562 w 616"/>
                <a:gd name="T7" fmla="*/ 133 h 606"/>
                <a:gd name="T8" fmla="*/ 525 w 616"/>
                <a:gd name="T9" fmla="*/ 88 h 606"/>
                <a:gd name="T10" fmla="*/ 479 w 616"/>
                <a:gd name="T11" fmla="*/ 51 h 606"/>
                <a:gd name="T12" fmla="*/ 427 w 616"/>
                <a:gd name="T13" fmla="*/ 23 h 606"/>
                <a:gd name="T14" fmla="*/ 369 w 616"/>
                <a:gd name="T15" fmla="*/ 6 h 606"/>
                <a:gd name="T16" fmla="*/ 308 w 616"/>
                <a:gd name="T17" fmla="*/ 0 h 606"/>
                <a:gd name="T18" fmla="*/ 245 w 616"/>
                <a:gd name="T19" fmla="*/ 6 h 606"/>
                <a:gd name="T20" fmla="*/ 188 w 616"/>
                <a:gd name="T21" fmla="*/ 23 h 606"/>
                <a:gd name="T22" fmla="*/ 135 w 616"/>
                <a:gd name="T23" fmla="*/ 51 h 606"/>
                <a:gd name="T24" fmla="*/ 90 w 616"/>
                <a:gd name="T25" fmla="*/ 88 h 606"/>
                <a:gd name="T26" fmla="*/ 52 w 616"/>
                <a:gd name="T27" fmla="*/ 133 h 606"/>
                <a:gd name="T28" fmla="*/ 24 w 616"/>
                <a:gd name="T29" fmla="*/ 184 h 606"/>
                <a:gd name="T30" fmla="*/ 6 w 616"/>
                <a:gd name="T31" fmla="*/ 241 h 606"/>
                <a:gd name="T32" fmla="*/ 0 w 616"/>
                <a:gd name="T33" fmla="*/ 303 h 606"/>
                <a:gd name="T34" fmla="*/ 6 w 616"/>
                <a:gd name="T35" fmla="*/ 363 h 606"/>
                <a:gd name="T36" fmla="*/ 24 w 616"/>
                <a:gd name="T37" fmla="*/ 420 h 606"/>
                <a:gd name="T38" fmla="*/ 52 w 616"/>
                <a:gd name="T39" fmla="*/ 472 h 606"/>
                <a:gd name="T40" fmla="*/ 90 w 616"/>
                <a:gd name="T41" fmla="*/ 517 h 606"/>
                <a:gd name="T42" fmla="*/ 135 w 616"/>
                <a:gd name="T43" fmla="*/ 553 h 606"/>
                <a:gd name="T44" fmla="*/ 188 w 616"/>
                <a:gd name="T45" fmla="*/ 581 h 606"/>
                <a:gd name="T46" fmla="*/ 245 w 616"/>
                <a:gd name="T47" fmla="*/ 599 h 606"/>
                <a:gd name="T48" fmla="*/ 308 w 616"/>
                <a:gd name="T49" fmla="*/ 605 h 606"/>
                <a:gd name="T50" fmla="*/ 369 w 616"/>
                <a:gd name="T51" fmla="*/ 599 h 606"/>
                <a:gd name="T52" fmla="*/ 427 w 616"/>
                <a:gd name="T53" fmla="*/ 581 h 606"/>
                <a:gd name="T54" fmla="*/ 479 w 616"/>
                <a:gd name="T55" fmla="*/ 553 h 606"/>
                <a:gd name="T56" fmla="*/ 525 w 616"/>
                <a:gd name="T57" fmla="*/ 517 h 606"/>
                <a:gd name="T58" fmla="*/ 562 w 616"/>
                <a:gd name="T59" fmla="*/ 472 h 606"/>
                <a:gd name="T60" fmla="*/ 591 w 616"/>
                <a:gd name="T61" fmla="*/ 420 h 606"/>
                <a:gd name="T62" fmla="*/ 609 w 616"/>
                <a:gd name="T63" fmla="*/ 363 h 606"/>
                <a:gd name="T64" fmla="*/ 615 w 616"/>
                <a:gd name="T65" fmla="*/ 303 h 606"/>
                <a:gd name="T66" fmla="*/ 615 w 616"/>
                <a:gd name="T67" fmla="*/ 303 h 6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16" h="606">
                  <a:moveTo>
                    <a:pt x="615" y="303"/>
                  </a:moveTo>
                  <a:lnTo>
                    <a:pt x="609" y="241"/>
                  </a:lnTo>
                  <a:lnTo>
                    <a:pt x="591" y="184"/>
                  </a:lnTo>
                  <a:lnTo>
                    <a:pt x="562" y="133"/>
                  </a:lnTo>
                  <a:lnTo>
                    <a:pt x="525" y="88"/>
                  </a:lnTo>
                  <a:lnTo>
                    <a:pt x="479" y="51"/>
                  </a:lnTo>
                  <a:lnTo>
                    <a:pt x="427" y="23"/>
                  </a:lnTo>
                  <a:lnTo>
                    <a:pt x="369" y="6"/>
                  </a:lnTo>
                  <a:lnTo>
                    <a:pt x="308" y="0"/>
                  </a:lnTo>
                  <a:lnTo>
                    <a:pt x="245" y="6"/>
                  </a:lnTo>
                  <a:lnTo>
                    <a:pt x="188" y="23"/>
                  </a:lnTo>
                  <a:lnTo>
                    <a:pt x="135" y="51"/>
                  </a:lnTo>
                  <a:lnTo>
                    <a:pt x="90" y="88"/>
                  </a:lnTo>
                  <a:lnTo>
                    <a:pt x="52" y="133"/>
                  </a:lnTo>
                  <a:lnTo>
                    <a:pt x="24" y="184"/>
                  </a:lnTo>
                  <a:lnTo>
                    <a:pt x="6" y="241"/>
                  </a:lnTo>
                  <a:lnTo>
                    <a:pt x="0" y="303"/>
                  </a:lnTo>
                  <a:lnTo>
                    <a:pt x="6" y="363"/>
                  </a:lnTo>
                  <a:lnTo>
                    <a:pt x="24" y="420"/>
                  </a:lnTo>
                  <a:lnTo>
                    <a:pt x="52" y="472"/>
                  </a:lnTo>
                  <a:lnTo>
                    <a:pt x="90" y="517"/>
                  </a:lnTo>
                  <a:lnTo>
                    <a:pt x="135" y="553"/>
                  </a:lnTo>
                  <a:lnTo>
                    <a:pt x="188" y="581"/>
                  </a:lnTo>
                  <a:lnTo>
                    <a:pt x="245" y="599"/>
                  </a:lnTo>
                  <a:lnTo>
                    <a:pt x="308" y="605"/>
                  </a:lnTo>
                  <a:lnTo>
                    <a:pt x="369" y="599"/>
                  </a:lnTo>
                  <a:lnTo>
                    <a:pt x="427" y="581"/>
                  </a:lnTo>
                  <a:lnTo>
                    <a:pt x="479" y="553"/>
                  </a:lnTo>
                  <a:lnTo>
                    <a:pt x="525" y="517"/>
                  </a:lnTo>
                  <a:lnTo>
                    <a:pt x="562" y="472"/>
                  </a:lnTo>
                  <a:lnTo>
                    <a:pt x="591" y="420"/>
                  </a:lnTo>
                  <a:lnTo>
                    <a:pt x="609" y="363"/>
                  </a:lnTo>
                  <a:lnTo>
                    <a:pt x="615" y="303"/>
                  </a:lnTo>
                  <a:lnTo>
                    <a:pt x="615" y="303"/>
                  </a:lnTo>
                </a:path>
              </a:pathLst>
            </a:custGeom>
            <a:noFill/>
            <a:ln w="254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05" name="Rectangle 13"/>
            <p:cNvSpPr>
              <a:spLocks noChangeArrowheads="1"/>
            </p:cNvSpPr>
            <p:nvPr/>
          </p:nvSpPr>
          <p:spPr bwMode="auto">
            <a:xfrm>
              <a:off x="4101" y="1279"/>
              <a:ext cx="42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400" b="1"/>
                <a:t>Ocala</a:t>
              </a:r>
            </a:p>
          </p:txBody>
        </p:sp>
        <p:sp>
          <p:nvSpPr>
            <p:cNvPr id="33806" name="Rectangle 14"/>
            <p:cNvSpPr>
              <a:spLocks noChangeArrowheads="1"/>
            </p:cNvSpPr>
            <p:nvPr/>
          </p:nvSpPr>
          <p:spPr bwMode="auto">
            <a:xfrm>
              <a:off x="4181" y="1447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600" b="1"/>
                <a:t>4</a:t>
              </a:r>
            </a:p>
          </p:txBody>
        </p:sp>
        <p:sp>
          <p:nvSpPr>
            <p:cNvPr id="33807" name="Freeform 15"/>
            <p:cNvSpPr>
              <a:spLocks/>
            </p:cNvSpPr>
            <p:nvPr/>
          </p:nvSpPr>
          <p:spPr bwMode="auto">
            <a:xfrm>
              <a:off x="3999" y="2181"/>
              <a:ext cx="616" cy="607"/>
            </a:xfrm>
            <a:custGeom>
              <a:avLst/>
              <a:gdLst>
                <a:gd name="T0" fmla="*/ 615 w 616"/>
                <a:gd name="T1" fmla="*/ 303 h 607"/>
                <a:gd name="T2" fmla="*/ 609 w 616"/>
                <a:gd name="T3" fmla="*/ 242 h 607"/>
                <a:gd name="T4" fmla="*/ 591 w 616"/>
                <a:gd name="T5" fmla="*/ 185 h 607"/>
                <a:gd name="T6" fmla="*/ 562 w 616"/>
                <a:gd name="T7" fmla="*/ 134 h 607"/>
                <a:gd name="T8" fmla="*/ 525 w 616"/>
                <a:gd name="T9" fmla="*/ 89 h 607"/>
                <a:gd name="T10" fmla="*/ 479 w 616"/>
                <a:gd name="T11" fmla="*/ 52 h 607"/>
                <a:gd name="T12" fmla="*/ 427 w 616"/>
                <a:gd name="T13" fmla="*/ 24 h 607"/>
                <a:gd name="T14" fmla="*/ 369 w 616"/>
                <a:gd name="T15" fmla="*/ 6 h 607"/>
                <a:gd name="T16" fmla="*/ 308 w 616"/>
                <a:gd name="T17" fmla="*/ 0 h 607"/>
                <a:gd name="T18" fmla="*/ 245 w 616"/>
                <a:gd name="T19" fmla="*/ 6 h 607"/>
                <a:gd name="T20" fmla="*/ 188 w 616"/>
                <a:gd name="T21" fmla="*/ 24 h 607"/>
                <a:gd name="T22" fmla="*/ 135 w 616"/>
                <a:gd name="T23" fmla="*/ 52 h 607"/>
                <a:gd name="T24" fmla="*/ 90 w 616"/>
                <a:gd name="T25" fmla="*/ 89 h 607"/>
                <a:gd name="T26" fmla="*/ 52 w 616"/>
                <a:gd name="T27" fmla="*/ 134 h 607"/>
                <a:gd name="T28" fmla="*/ 24 w 616"/>
                <a:gd name="T29" fmla="*/ 185 h 607"/>
                <a:gd name="T30" fmla="*/ 6 w 616"/>
                <a:gd name="T31" fmla="*/ 242 h 607"/>
                <a:gd name="T32" fmla="*/ 0 w 616"/>
                <a:gd name="T33" fmla="*/ 303 h 607"/>
                <a:gd name="T34" fmla="*/ 6 w 616"/>
                <a:gd name="T35" fmla="*/ 364 h 607"/>
                <a:gd name="T36" fmla="*/ 24 w 616"/>
                <a:gd name="T37" fmla="*/ 421 h 607"/>
                <a:gd name="T38" fmla="*/ 52 w 616"/>
                <a:gd name="T39" fmla="*/ 472 h 607"/>
                <a:gd name="T40" fmla="*/ 90 w 616"/>
                <a:gd name="T41" fmla="*/ 517 h 607"/>
                <a:gd name="T42" fmla="*/ 135 w 616"/>
                <a:gd name="T43" fmla="*/ 554 h 607"/>
                <a:gd name="T44" fmla="*/ 188 w 616"/>
                <a:gd name="T45" fmla="*/ 582 h 607"/>
                <a:gd name="T46" fmla="*/ 245 w 616"/>
                <a:gd name="T47" fmla="*/ 600 h 607"/>
                <a:gd name="T48" fmla="*/ 308 w 616"/>
                <a:gd name="T49" fmla="*/ 606 h 607"/>
                <a:gd name="T50" fmla="*/ 369 w 616"/>
                <a:gd name="T51" fmla="*/ 600 h 607"/>
                <a:gd name="T52" fmla="*/ 427 w 616"/>
                <a:gd name="T53" fmla="*/ 582 h 607"/>
                <a:gd name="T54" fmla="*/ 479 w 616"/>
                <a:gd name="T55" fmla="*/ 554 h 607"/>
                <a:gd name="T56" fmla="*/ 525 w 616"/>
                <a:gd name="T57" fmla="*/ 517 h 607"/>
                <a:gd name="T58" fmla="*/ 562 w 616"/>
                <a:gd name="T59" fmla="*/ 472 h 607"/>
                <a:gd name="T60" fmla="*/ 591 w 616"/>
                <a:gd name="T61" fmla="*/ 421 h 607"/>
                <a:gd name="T62" fmla="*/ 609 w 616"/>
                <a:gd name="T63" fmla="*/ 364 h 607"/>
                <a:gd name="T64" fmla="*/ 615 w 616"/>
                <a:gd name="T65" fmla="*/ 303 h 607"/>
                <a:gd name="T66" fmla="*/ 615 w 616"/>
                <a:gd name="T67" fmla="*/ 303 h 6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16" h="607">
                  <a:moveTo>
                    <a:pt x="615" y="303"/>
                  </a:moveTo>
                  <a:lnTo>
                    <a:pt x="609" y="242"/>
                  </a:lnTo>
                  <a:lnTo>
                    <a:pt x="591" y="185"/>
                  </a:lnTo>
                  <a:lnTo>
                    <a:pt x="562" y="134"/>
                  </a:lnTo>
                  <a:lnTo>
                    <a:pt x="525" y="89"/>
                  </a:lnTo>
                  <a:lnTo>
                    <a:pt x="479" y="52"/>
                  </a:lnTo>
                  <a:lnTo>
                    <a:pt x="427" y="24"/>
                  </a:lnTo>
                  <a:lnTo>
                    <a:pt x="369" y="6"/>
                  </a:lnTo>
                  <a:lnTo>
                    <a:pt x="308" y="0"/>
                  </a:lnTo>
                  <a:lnTo>
                    <a:pt x="245" y="6"/>
                  </a:lnTo>
                  <a:lnTo>
                    <a:pt x="188" y="24"/>
                  </a:lnTo>
                  <a:lnTo>
                    <a:pt x="135" y="52"/>
                  </a:lnTo>
                  <a:lnTo>
                    <a:pt x="90" y="89"/>
                  </a:lnTo>
                  <a:lnTo>
                    <a:pt x="52" y="134"/>
                  </a:lnTo>
                  <a:lnTo>
                    <a:pt x="24" y="185"/>
                  </a:lnTo>
                  <a:lnTo>
                    <a:pt x="6" y="242"/>
                  </a:lnTo>
                  <a:lnTo>
                    <a:pt x="0" y="303"/>
                  </a:lnTo>
                  <a:lnTo>
                    <a:pt x="6" y="364"/>
                  </a:lnTo>
                  <a:lnTo>
                    <a:pt x="24" y="421"/>
                  </a:lnTo>
                  <a:lnTo>
                    <a:pt x="52" y="472"/>
                  </a:lnTo>
                  <a:lnTo>
                    <a:pt x="90" y="517"/>
                  </a:lnTo>
                  <a:lnTo>
                    <a:pt x="135" y="554"/>
                  </a:lnTo>
                  <a:lnTo>
                    <a:pt x="188" y="582"/>
                  </a:lnTo>
                  <a:lnTo>
                    <a:pt x="245" y="600"/>
                  </a:lnTo>
                  <a:lnTo>
                    <a:pt x="308" y="606"/>
                  </a:lnTo>
                  <a:lnTo>
                    <a:pt x="369" y="600"/>
                  </a:lnTo>
                  <a:lnTo>
                    <a:pt x="427" y="582"/>
                  </a:lnTo>
                  <a:lnTo>
                    <a:pt x="479" y="554"/>
                  </a:lnTo>
                  <a:lnTo>
                    <a:pt x="525" y="517"/>
                  </a:lnTo>
                  <a:lnTo>
                    <a:pt x="562" y="472"/>
                  </a:lnTo>
                  <a:lnTo>
                    <a:pt x="591" y="421"/>
                  </a:lnTo>
                  <a:lnTo>
                    <a:pt x="609" y="364"/>
                  </a:lnTo>
                  <a:lnTo>
                    <a:pt x="615" y="303"/>
                  </a:lnTo>
                  <a:lnTo>
                    <a:pt x="615" y="303"/>
                  </a:lnTo>
                </a:path>
              </a:pathLst>
            </a:custGeom>
            <a:noFill/>
            <a:ln w="254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08" name="Rectangle 16"/>
            <p:cNvSpPr>
              <a:spLocks noChangeArrowheads="1"/>
            </p:cNvSpPr>
            <p:nvPr/>
          </p:nvSpPr>
          <p:spPr bwMode="auto">
            <a:xfrm>
              <a:off x="4083" y="2289"/>
              <a:ext cx="515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300" b="1" dirty="0"/>
                <a:t>Orlando</a:t>
              </a:r>
            </a:p>
          </p:txBody>
        </p:sp>
        <p:sp>
          <p:nvSpPr>
            <p:cNvPr id="33809" name="Rectangle 17"/>
            <p:cNvSpPr>
              <a:spLocks noChangeArrowheads="1"/>
            </p:cNvSpPr>
            <p:nvPr/>
          </p:nvSpPr>
          <p:spPr bwMode="auto">
            <a:xfrm>
              <a:off x="4181" y="2456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600" b="1" dirty="0"/>
                <a:t>5</a:t>
              </a:r>
            </a:p>
          </p:txBody>
        </p:sp>
        <p:sp>
          <p:nvSpPr>
            <p:cNvPr id="33810" name="Freeform 18"/>
            <p:cNvSpPr>
              <a:spLocks/>
            </p:cNvSpPr>
            <p:nvPr/>
          </p:nvSpPr>
          <p:spPr bwMode="auto">
            <a:xfrm>
              <a:off x="3981" y="3244"/>
              <a:ext cx="617" cy="607"/>
            </a:xfrm>
            <a:custGeom>
              <a:avLst/>
              <a:gdLst>
                <a:gd name="T0" fmla="*/ 616 w 617"/>
                <a:gd name="T1" fmla="*/ 303 h 607"/>
                <a:gd name="T2" fmla="*/ 609 w 617"/>
                <a:gd name="T3" fmla="*/ 242 h 607"/>
                <a:gd name="T4" fmla="*/ 591 w 617"/>
                <a:gd name="T5" fmla="*/ 185 h 607"/>
                <a:gd name="T6" fmla="*/ 563 w 617"/>
                <a:gd name="T7" fmla="*/ 133 h 607"/>
                <a:gd name="T8" fmla="*/ 525 w 617"/>
                <a:gd name="T9" fmla="*/ 88 h 607"/>
                <a:gd name="T10" fmla="*/ 480 w 617"/>
                <a:gd name="T11" fmla="*/ 51 h 607"/>
                <a:gd name="T12" fmla="*/ 428 w 617"/>
                <a:gd name="T13" fmla="*/ 23 h 607"/>
                <a:gd name="T14" fmla="*/ 370 w 617"/>
                <a:gd name="T15" fmla="*/ 6 h 607"/>
                <a:gd name="T16" fmla="*/ 308 w 617"/>
                <a:gd name="T17" fmla="*/ 0 h 607"/>
                <a:gd name="T18" fmla="*/ 246 w 617"/>
                <a:gd name="T19" fmla="*/ 6 h 607"/>
                <a:gd name="T20" fmla="*/ 188 w 617"/>
                <a:gd name="T21" fmla="*/ 23 h 607"/>
                <a:gd name="T22" fmla="*/ 136 w 617"/>
                <a:gd name="T23" fmla="*/ 51 h 607"/>
                <a:gd name="T24" fmla="*/ 90 w 617"/>
                <a:gd name="T25" fmla="*/ 88 h 607"/>
                <a:gd name="T26" fmla="*/ 53 w 617"/>
                <a:gd name="T27" fmla="*/ 133 h 607"/>
                <a:gd name="T28" fmla="*/ 24 w 617"/>
                <a:gd name="T29" fmla="*/ 185 h 607"/>
                <a:gd name="T30" fmla="*/ 6 w 617"/>
                <a:gd name="T31" fmla="*/ 242 h 607"/>
                <a:gd name="T32" fmla="*/ 0 w 617"/>
                <a:gd name="T33" fmla="*/ 303 h 607"/>
                <a:gd name="T34" fmla="*/ 6 w 617"/>
                <a:gd name="T35" fmla="*/ 363 h 607"/>
                <a:gd name="T36" fmla="*/ 24 w 617"/>
                <a:gd name="T37" fmla="*/ 420 h 607"/>
                <a:gd name="T38" fmla="*/ 53 w 617"/>
                <a:gd name="T39" fmla="*/ 472 h 607"/>
                <a:gd name="T40" fmla="*/ 90 w 617"/>
                <a:gd name="T41" fmla="*/ 517 h 607"/>
                <a:gd name="T42" fmla="*/ 136 w 617"/>
                <a:gd name="T43" fmla="*/ 553 h 607"/>
                <a:gd name="T44" fmla="*/ 188 w 617"/>
                <a:gd name="T45" fmla="*/ 582 h 607"/>
                <a:gd name="T46" fmla="*/ 246 w 617"/>
                <a:gd name="T47" fmla="*/ 599 h 607"/>
                <a:gd name="T48" fmla="*/ 308 w 617"/>
                <a:gd name="T49" fmla="*/ 606 h 607"/>
                <a:gd name="T50" fmla="*/ 370 w 617"/>
                <a:gd name="T51" fmla="*/ 599 h 607"/>
                <a:gd name="T52" fmla="*/ 428 w 617"/>
                <a:gd name="T53" fmla="*/ 582 h 607"/>
                <a:gd name="T54" fmla="*/ 480 w 617"/>
                <a:gd name="T55" fmla="*/ 553 h 607"/>
                <a:gd name="T56" fmla="*/ 525 w 617"/>
                <a:gd name="T57" fmla="*/ 517 h 607"/>
                <a:gd name="T58" fmla="*/ 563 w 617"/>
                <a:gd name="T59" fmla="*/ 472 h 607"/>
                <a:gd name="T60" fmla="*/ 591 w 617"/>
                <a:gd name="T61" fmla="*/ 420 h 607"/>
                <a:gd name="T62" fmla="*/ 609 w 617"/>
                <a:gd name="T63" fmla="*/ 363 h 607"/>
                <a:gd name="T64" fmla="*/ 616 w 617"/>
                <a:gd name="T65" fmla="*/ 303 h 607"/>
                <a:gd name="T66" fmla="*/ 616 w 617"/>
                <a:gd name="T67" fmla="*/ 303 h 6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17" h="607">
                  <a:moveTo>
                    <a:pt x="616" y="303"/>
                  </a:moveTo>
                  <a:lnTo>
                    <a:pt x="609" y="242"/>
                  </a:lnTo>
                  <a:lnTo>
                    <a:pt x="591" y="185"/>
                  </a:lnTo>
                  <a:lnTo>
                    <a:pt x="563" y="133"/>
                  </a:lnTo>
                  <a:lnTo>
                    <a:pt x="525" y="88"/>
                  </a:lnTo>
                  <a:lnTo>
                    <a:pt x="480" y="51"/>
                  </a:lnTo>
                  <a:lnTo>
                    <a:pt x="428" y="23"/>
                  </a:lnTo>
                  <a:lnTo>
                    <a:pt x="370" y="6"/>
                  </a:lnTo>
                  <a:lnTo>
                    <a:pt x="308" y="0"/>
                  </a:lnTo>
                  <a:lnTo>
                    <a:pt x="246" y="6"/>
                  </a:lnTo>
                  <a:lnTo>
                    <a:pt x="188" y="23"/>
                  </a:lnTo>
                  <a:lnTo>
                    <a:pt x="136" y="51"/>
                  </a:lnTo>
                  <a:lnTo>
                    <a:pt x="90" y="88"/>
                  </a:lnTo>
                  <a:lnTo>
                    <a:pt x="53" y="133"/>
                  </a:lnTo>
                  <a:lnTo>
                    <a:pt x="24" y="185"/>
                  </a:lnTo>
                  <a:lnTo>
                    <a:pt x="6" y="242"/>
                  </a:lnTo>
                  <a:lnTo>
                    <a:pt x="0" y="303"/>
                  </a:lnTo>
                  <a:lnTo>
                    <a:pt x="6" y="363"/>
                  </a:lnTo>
                  <a:lnTo>
                    <a:pt x="24" y="420"/>
                  </a:lnTo>
                  <a:lnTo>
                    <a:pt x="53" y="472"/>
                  </a:lnTo>
                  <a:lnTo>
                    <a:pt x="90" y="517"/>
                  </a:lnTo>
                  <a:lnTo>
                    <a:pt x="136" y="553"/>
                  </a:lnTo>
                  <a:lnTo>
                    <a:pt x="188" y="582"/>
                  </a:lnTo>
                  <a:lnTo>
                    <a:pt x="246" y="599"/>
                  </a:lnTo>
                  <a:lnTo>
                    <a:pt x="308" y="606"/>
                  </a:lnTo>
                  <a:lnTo>
                    <a:pt x="370" y="599"/>
                  </a:lnTo>
                  <a:lnTo>
                    <a:pt x="428" y="582"/>
                  </a:lnTo>
                  <a:lnTo>
                    <a:pt x="480" y="553"/>
                  </a:lnTo>
                  <a:lnTo>
                    <a:pt x="525" y="517"/>
                  </a:lnTo>
                  <a:lnTo>
                    <a:pt x="563" y="472"/>
                  </a:lnTo>
                  <a:lnTo>
                    <a:pt x="591" y="420"/>
                  </a:lnTo>
                  <a:lnTo>
                    <a:pt x="609" y="363"/>
                  </a:lnTo>
                  <a:lnTo>
                    <a:pt x="616" y="303"/>
                  </a:lnTo>
                  <a:lnTo>
                    <a:pt x="616" y="303"/>
                  </a:lnTo>
                </a:path>
              </a:pathLst>
            </a:custGeom>
            <a:noFill/>
            <a:ln w="254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11" name="Rectangle 19"/>
            <p:cNvSpPr>
              <a:spLocks noChangeArrowheads="1"/>
            </p:cNvSpPr>
            <p:nvPr/>
          </p:nvSpPr>
          <p:spPr bwMode="auto">
            <a:xfrm>
              <a:off x="3995" y="3351"/>
              <a:ext cx="586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300" b="1"/>
                <a:t>Leesburg</a:t>
              </a:r>
            </a:p>
          </p:txBody>
        </p:sp>
        <p:sp>
          <p:nvSpPr>
            <p:cNvPr id="33812" name="Rectangle 20"/>
            <p:cNvSpPr>
              <a:spLocks noChangeArrowheads="1"/>
            </p:cNvSpPr>
            <p:nvPr/>
          </p:nvSpPr>
          <p:spPr bwMode="auto">
            <a:xfrm>
              <a:off x="4163" y="3519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600" b="1"/>
                <a:t>6</a:t>
              </a:r>
            </a:p>
          </p:txBody>
        </p:sp>
        <p:sp>
          <p:nvSpPr>
            <p:cNvPr id="33813" name="Line 21"/>
            <p:cNvSpPr>
              <a:spLocks noChangeShapeType="1"/>
            </p:cNvSpPr>
            <p:nvPr/>
          </p:nvSpPr>
          <p:spPr bwMode="auto">
            <a:xfrm>
              <a:off x="2099" y="1452"/>
              <a:ext cx="1797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4" name="Line 22"/>
            <p:cNvSpPr>
              <a:spLocks noChangeShapeType="1"/>
            </p:cNvSpPr>
            <p:nvPr/>
          </p:nvSpPr>
          <p:spPr bwMode="auto">
            <a:xfrm>
              <a:off x="2099" y="1443"/>
              <a:ext cx="1775" cy="9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5" name="Line 23"/>
            <p:cNvSpPr>
              <a:spLocks noChangeShapeType="1"/>
            </p:cNvSpPr>
            <p:nvPr/>
          </p:nvSpPr>
          <p:spPr bwMode="auto">
            <a:xfrm>
              <a:off x="2099" y="1452"/>
              <a:ext cx="1842" cy="1906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6" name="Line 24"/>
            <p:cNvSpPr>
              <a:spLocks noChangeShapeType="1"/>
            </p:cNvSpPr>
            <p:nvPr/>
          </p:nvSpPr>
          <p:spPr bwMode="auto">
            <a:xfrm flipV="1">
              <a:off x="2099" y="1575"/>
              <a:ext cx="1784" cy="903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7" name="Line 25"/>
            <p:cNvSpPr>
              <a:spLocks noChangeShapeType="1"/>
            </p:cNvSpPr>
            <p:nvPr/>
          </p:nvSpPr>
          <p:spPr bwMode="auto">
            <a:xfrm>
              <a:off x="2099" y="2470"/>
              <a:ext cx="1736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8" name="Line 26"/>
            <p:cNvSpPr>
              <a:spLocks noChangeShapeType="1"/>
            </p:cNvSpPr>
            <p:nvPr/>
          </p:nvSpPr>
          <p:spPr bwMode="auto">
            <a:xfrm>
              <a:off x="2108" y="2470"/>
              <a:ext cx="1767" cy="954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9" name="Line 27"/>
            <p:cNvSpPr>
              <a:spLocks noChangeShapeType="1"/>
            </p:cNvSpPr>
            <p:nvPr/>
          </p:nvSpPr>
          <p:spPr bwMode="auto">
            <a:xfrm>
              <a:off x="2091" y="3541"/>
              <a:ext cx="1761" cy="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20" name="Line 28"/>
            <p:cNvSpPr>
              <a:spLocks noChangeShapeType="1"/>
            </p:cNvSpPr>
            <p:nvPr/>
          </p:nvSpPr>
          <p:spPr bwMode="auto">
            <a:xfrm flipV="1">
              <a:off x="2082" y="2586"/>
              <a:ext cx="1757" cy="946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21" name="Line 29"/>
            <p:cNvSpPr>
              <a:spLocks noChangeShapeType="1"/>
            </p:cNvSpPr>
            <p:nvPr/>
          </p:nvSpPr>
          <p:spPr bwMode="auto">
            <a:xfrm flipV="1">
              <a:off x="2082" y="1692"/>
              <a:ext cx="1817" cy="184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22" name="Rectangle 30"/>
            <p:cNvSpPr>
              <a:spLocks noChangeArrowheads="1"/>
            </p:cNvSpPr>
            <p:nvPr/>
          </p:nvSpPr>
          <p:spPr bwMode="auto">
            <a:xfrm>
              <a:off x="2372" y="922"/>
              <a:ext cx="1243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500" b="1"/>
                <a:t>Distances (in miles)</a:t>
              </a:r>
            </a:p>
          </p:txBody>
        </p:sp>
        <p:sp>
          <p:nvSpPr>
            <p:cNvPr id="33823" name="Rectangle 31"/>
            <p:cNvSpPr>
              <a:spLocks noChangeArrowheads="1"/>
            </p:cNvSpPr>
            <p:nvPr/>
          </p:nvSpPr>
          <p:spPr bwMode="auto">
            <a:xfrm>
              <a:off x="4610" y="1040"/>
              <a:ext cx="616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500" b="1"/>
                <a:t>Capacity</a:t>
              </a:r>
            </a:p>
          </p:txBody>
        </p:sp>
        <p:sp>
          <p:nvSpPr>
            <p:cNvPr id="33824" name="Rectangle 32"/>
            <p:cNvSpPr>
              <a:spLocks noChangeArrowheads="1"/>
            </p:cNvSpPr>
            <p:nvPr/>
          </p:nvSpPr>
          <p:spPr bwMode="auto">
            <a:xfrm>
              <a:off x="760" y="1014"/>
              <a:ext cx="516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500" b="1"/>
                <a:t>Supply</a:t>
              </a:r>
            </a:p>
          </p:txBody>
        </p:sp>
        <p:sp>
          <p:nvSpPr>
            <p:cNvPr id="33825" name="Rectangle 33"/>
            <p:cNvSpPr>
              <a:spLocks noChangeArrowheads="1"/>
            </p:cNvSpPr>
            <p:nvPr/>
          </p:nvSpPr>
          <p:spPr bwMode="auto">
            <a:xfrm>
              <a:off x="732" y="1392"/>
              <a:ext cx="550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500" b="1" dirty="0"/>
                <a:t>275,000</a:t>
              </a:r>
            </a:p>
          </p:txBody>
        </p:sp>
        <p:sp>
          <p:nvSpPr>
            <p:cNvPr id="33826" name="Rectangle 34"/>
            <p:cNvSpPr>
              <a:spLocks noChangeArrowheads="1"/>
            </p:cNvSpPr>
            <p:nvPr/>
          </p:nvSpPr>
          <p:spPr bwMode="auto">
            <a:xfrm>
              <a:off x="759" y="2357"/>
              <a:ext cx="550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500" b="1" dirty="0"/>
                <a:t>400,000</a:t>
              </a:r>
            </a:p>
          </p:txBody>
        </p:sp>
        <p:sp>
          <p:nvSpPr>
            <p:cNvPr id="33827" name="Rectangle 35"/>
            <p:cNvSpPr>
              <a:spLocks noChangeArrowheads="1"/>
            </p:cNvSpPr>
            <p:nvPr/>
          </p:nvSpPr>
          <p:spPr bwMode="auto">
            <a:xfrm>
              <a:off x="768" y="3454"/>
              <a:ext cx="550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500" b="1" dirty="0"/>
                <a:t>300,000</a:t>
              </a:r>
            </a:p>
          </p:txBody>
        </p:sp>
        <p:sp>
          <p:nvSpPr>
            <p:cNvPr id="33828" name="Rectangle 36"/>
            <p:cNvSpPr>
              <a:spLocks noChangeArrowheads="1"/>
            </p:cNvSpPr>
            <p:nvPr/>
          </p:nvSpPr>
          <p:spPr bwMode="auto">
            <a:xfrm>
              <a:off x="4787" y="3437"/>
              <a:ext cx="550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500" b="1" dirty="0"/>
                <a:t>225,000</a:t>
              </a:r>
            </a:p>
          </p:txBody>
        </p:sp>
        <p:sp>
          <p:nvSpPr>
            <p:cNvPr id="33829" name="Rectangle 37"/>
            <p:cNvSpPr>
              <a:spLocks noChangeArrowheads="1"/>
            </p:cNvSpPr>
            <p:nvPr/>
          </p:nvSpPr>
          <p:spPr bwMode="auto">
            <a:xfrm>
              <a:off x="4718" y="2340"/>
              <a:ext cx="550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500" b="1" dirty="0"/>
                <a:t>600,000</a:t>
              </a:r>
            </a:p>
          </p:txBody>
        </p:sp>
        <p:sp>
          <p:nvSpPr>
            <p:cNvPr id="33830" name="Rectangle 38"/>
            <p:cNvSpPr>
              <a:spLocks noChangeArrowheads="1"/>
            </p:cNvSpPr>
            <p:nvPr/>
          </p:nvSpPr>
          <p:spPr bwMode="auto">
            <a:xfrm>
              <a:off x="4692" y="1348"/>
              <a:ext cx="550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500" b="1" dirty="0"/>
                <a:t>200,000</a:t>
              </a:r>
            </a:p>
          </p:txBody>
        </p:sp>
        <p:sp>
          <p:nvSpPr>
            <p:cNvPr id="33831" name="Rectangle 39"/>
            <p:cNvSpPr>
              <a:spLocks noChangeArrowheads="1"/>
            </p:cNvSpPr>
            <p:nvPr/>
          </p:nvSpPr>
          <p:spPr bwMode="auto">
            <a:xfrm>
              <a:off x="1452" y="882"/>
              <a:ext cx="6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b="1"/>
                <a:t>Groves</a:t>
              </a:r>
            </a:p>
          </p:txBody>
        </p:sp>
        <p:sp>
          <p:nvSpPr>
            <p:cNvPr id="33832" name="Rectangle 40"/>
            <p:cNvSpPr>
              <a:spLocks noChangeArrowheads="1"/>
            </p:cNvSpPr>
            <p:nvPr/>
          </p:nvSpPr>
          <p:spPr bwMode="auto">
            <a:xfrm>
              <a:off x="3845" y="707"/>
              <a:ext cx="105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/>
              <a:r>
                <a:rPr lang="en-US" b="1"/>
                <a:t>Processing </a:t>
              </a:r>
            </a:p>
          </p:txBody>
        </p:sp>
        <p:sp>
          <p:nvSpPr>
            <p:cNvPr id="33833" name="Rectangle 41"/>
            <p:cNvSpPr>
              <a:spLocks noChangeArrowheads="1"/>
            </p:cNvSpPr>
            <p:nvPr/>
          </p:nvSpPr>
          <p:spPr bwMode="auto">
            <a:xfrm>
              <a:off x="3845" y="875"/>
              <a:ext cx="70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b="1"/>
                <a:t>    Plants</a:t>
              </a:r>
            </a:p>
          </p:txBody>
        </p:sp>
        <p:sp>
          <p:nvSpPr>
            <p:cNvPr id="33834" name="Rectangle 42"/>
            <p:cNvSpPr>
              <a:spLocks noChangeArrowheads="1"/>
            </p:cNvSpPr>
            <p:nvPr/>
          </p:nvSpPr>
          <p:spPr bwMode="auto">
            <a:xfrm>
              <a:off x="2361" y="1236"/>
              <a:ext cx="24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400" b="1"/>
                <a:t>21</a:t>
              </a:r>
            </a:p>
          </p:txBody>
        </p:sp>
        <p:sp>
          <p:nvSpPr>
            <p:cNvPr id="33835" name="Rectangle 43"/>
            <p:cNvSpPr>
              <a:spLocks noChangeArrowheads="1"/>
            </p:cNvSpPr>
            <p:nvPr/>
          </p:nvSpPr>
          <p:spPr bwMode="auto">
            <a:xfrm>
              <a:off x="2441" y="1456"/>
              <a:ext cx="24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400" b="1"/>
                <a:t>50</a:t>
              </a:r>
            </a:p>
          </p:txBody>
        </p:sp>
        <p:sp>
          <p:nvSpPr>
            <p:cNvPr id="33836" name="Rectangle 44"/>
            <p:cNvSpPr>
              <a:spLocks noChangeArrowheads="1"/>
            </p:cNvSpPr>
            <p:nvPr/>
          </p:nvSpPr>
          <p:spPr bwMode="auto">
            <a:xfrm>
              <a:off x="2170" y="1728"/>
              <a:ext cx="24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400" b="1"/>
                <a:t>40</a:t>
              </a:r>
            </a:p>
          </p:txBody>
        </p:sp>
        <p:sp>
          <p:nvSpPr>
            <p:cNvPr id="33837" name="Rectangle 45"/>
            <p:cNvSpPr>
              <a:spLocks noChangeArrowheads="1"/>
            </p:cNvSpPr>
            <p:nvPr/>
          </p:nvSpPr>
          <p:spPr bwMode="auto">
            <a:xfrm>
              <a:off x="2181" y="2140"/>
              <a:ext cx="24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400" b="1"/>
                <a:t>35</a:t>
              </a:r>
            </a:p>
          </p:txBody>
        </p:sp>
        <p:sp>
          <p:nvSpPr>
            <p:cNvPr id="33838" name="Rectangle 46"/>
            <p:cNvSpPr>
              <a:spLocks noChangeArrowheads="1"/>
            </p:cNvSpPr>
            <p:nvPr/>
          </p:nvSpPr>
          <p:spPr bwMode="auto">
            <a:xfrm>
              <a:off x="2402" y="2272"/>
              <a:ext cx="24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400" b="1"/>
                <a:t>30</a:t>
              </a:r>
            </a:p>
          </p:txBody>
        </p:sp>
        <p:sp>
          <p:nvSpPr>
            <p:cNvPr id="33839" name="Rectangle 47"/>
            <p:cNvSpPr>
              <a:spLocks noChangeArrowheads="1"/>
            </p:cNvSpPr>
            <p:nvPr/>
          </p:nvSpPr>
          <p:spPr bwMode="auto">
            <a:xfrm>
              <a:off x="2132" y="2580"/>
              <a:ext cx="24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400" b="1"/>
                <a:t>22</a:t>
              </a:r>
            </a:p>
          </p:txBody>
        </p:sp>
        <p:sp>
          <p:nvSpPr>
            <p:cNvPr id="33840" name="Rectangle 48"/>
            <p:cNvSpPr>
              <a:spLocks noChangeArrowheads="1"/>
            </p:cNvSpPr>
            <p:nvPr/>
          </p:nvSpPr>
          <p:spPr bwMode="auto">
            <a:xfrm>
              <a:off x="2089" y="3115"/>
              <a:ext cx="24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400" b="1"/>
                <a:t>55</a:t>
              </a:r>
            </a:p>
          </p:txBody>
        </p:sp>
        <p:sp>
          <p:nvSpPr>
            <p:cNvPr id="33841" name="Rectangle 49"/>
            <p:cNvSpPr>
              <a:spLocks noChangeArrowheads="1"/>
            </p:cNvSpPr>
            <p:nvPr/>
          </p:nvSpPr>
          <p:spPr bwMode="auto">
            <a:xfrm>
              <a:off x="2136" y="3572"/>
              <a:ext cx="24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400" b="1"/>
                <a:t>25</a:t>
              </a:r>
            </a:p>
          </p:txBody>
        </p:sp>
        <p:sp>
          <p:nvSpPr>
            <p:cNvPr id="33842" name="Rectangle 50"/>
            <p:cNvSpPr>
              <a:spLocks noChangeArrowheads="1"/>
            </p:cNvSpPr>
            <p:nvPr/>
          </p:nvSpPr>
          <p:spPr bwMode="auto">
            <a:xfrm>
              <a:off x="2350" y="3343"/>
              <a:ext cx="24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400" b="1"/>
                <a:t>20</a:t>
              </a:r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90600"/>
          </a:xfrm>
          <a:noFill/>
          <a:ln/>
        </p:spPr>
        <p:txBody>
          <a:bodyPr lIns="92075" tIns="46038" rIns="92075" bIns="46038"/>
          <a:lstStyle/>
          <a:p>
            <a:r>
              <a:rPr lang="en-US" i="1">
                <a:solidFill>
                  <a:schemeClr val="hlink"/>
                </a:solidFill>
              </a:rPr>
              <a:t>Defining the Decision Variables</a:t>
            </a:r>
          </a:p>
        </p:txBody>
      </p:sp>
      <p:sp>
        <p:nvSpPr>
          <p:cNvPr id="34819" name="Rectangle 3"/>
          <p:cNvSpPr>
            <a:spLocks noChangeArrowheads="1"/>
          </p:cNvSpPr>
          <p:nvPr/>
        </p:nvSpPr>
        <p:spPr bwMode="auto">
          <a:xfrm>
            <a:off x="381000" y="1193800"/>
            <a:ext cx="8469313" cy="474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30000"/>
              </a:lnSpc>
            </a:pPr>
            <a:r>
              <a:rPr lang="en-US" sz="2400" dirty="0" err="1">
                <a:latin typeface="Tahoma" pitchFamily="34" charset="0"/>
              </a:rPr>
              <a:t>X</a:t>
            </a:r>
            <a:r>
              <a:rPr lang="en-US" sz="2400" i="1" baseline="-25000" dirty="0" err="1">
                <a:latin typeface="Times New Roman" pitchFamily="18" charset="0"/>
              </a:rPr>
              <a:t>ij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>
                <a:latin typeface="Tahoma" pitchFamily="34" charset="0"/>
              </a:rPr>
              <a:t>= # of bushels shipped from node </a:t>
            </a:r>
            <a:r>
              <a:rPr lang="en-US" sz="2400" i="1" dirty="0" err="1">
                <a:latin typeface="Times New Roman" pitchFamily="18" charset="0"/>
              </a:rPr>
              <a:t>i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>
                <a:latin typeface="Tahoma" pitchFamily="34" charset="0"/>
              </a:rPr>
              <a:t>to node </a:t>
            </a:r>
            <a:r>
              <a:rPr lang="en-US" sz="2400" i="1" dirty="0">
                <a:latin typeface="Times New Roman" pitchFamily="18" charset="0"/>
              </a:rPr>
              <a:t>j</a:t>
            </a:r>
          </a:p>
          <a:p>
            <a:pPr eaLnBrk="0" hangingPunct="0">
              <a:lnSpc>
                <a:spcPct val="30000"/>
              </a:lnSpc>
            </a:pPr>
            <a:endParaRPr lang="en-US" sz="2000" dirty="0">
              <a:latin typeface="Times New Roman" pitchFamily="18" charset="0"/>
            </a:endParaRPr>
          </a:p>
          <a:p>
            <a:pPr eaLnBrk="0" hangingPunct="0">
              <a:lnSpc>
                <a:spcPct val="130000"/>
              </a:lnSpc>
            </a:pPr>
            <a:r>
              <a:rPr lang="en-US" sz="2000" dirty="0">
                <a:latin typeface="Tahoma" pitchFamily="34" charset="0"/>
              </a:rPr>
              <a:t>Specifically, the nine decision variables are:</a:t>
            </a:r>
          </a:p>
          <a:p>
            <a:pPr eaLnBrk="0" hangingPunct="0">
              <a:lnSpc>
                <a:spcPct val="40000"/>
              </a:lnSpc>
            </a:pPr>
            <a:endParaRPr lang="en-US" sz="2000" dirty="0">
              <a:latin typeface="Tahoma" pitchFamily="34" charset="0"/>
            </a:endParaRPr>
          </a:p>
          <a:p>
            <a:pPr eaLnBrk="0" hangingPunct="0">
              <a:lnSpc>
                <a:spcPct val="130000"/>
              </a:lnSpc>
            </a:pPr>
            <a:r>
              <a:rPr lang="en-US" sz="2000" dirty="0">
                <a:latin typeface="Tahoma" pitchFamily="34" charset="0"/>
              </a:rPr>
              <a:t>X</a:t>
            </a:r>
            <a:r>
              <a:rPr lang="en-US" sz="2000" baseline="-25000" dirty="0">
                <a:latin typeface="Tahoma" pitchFamily="34" charset="0"/>
              </a:rPr>
              <a:t>14</a:t>
            </a:r>
            <a:r>
              <a:rPr lang="en-US" sz="2000" dirty="0">
                <a:latin typeface="Tahoma" pitchFamily="34" charset="0"/>
              </a:rPr>
              <a:t> = # of bushels shipped from Mt. Dora (node 1) to Ocala (node 4)	</a:t>
            </a:r>
          </a:p>
          <a:p>
            <a:pPr eaLnBrk="0" hangingPunct="0">
              <a:lnSpc>
                <a:spcPct val="130000"/>
              </a:lnSpc>
            </a:pPr>
            <a:r>
              <a:rPr lang="en-US" sz="2000" dirty="0">
                <a:latin typeface="Tahoma" pitchFamily="34" charset="0"/>
              </a:rPr>
              <a:t>X</a:t>
            </a:r>
            <a:r>
              <a:rPr lang="en-US" sz="2000" baseline="-25000" dirty="0">
                <a:latin typeface="Tahoma" pitchFamily="34" charset="0"/>
              </a:rPr>
              <a:t>15 </a:t>
            </a:r>
            <a:r>
              <a:rPr lang="en-US" sz="2000" dirty="0">
                <a:latin typeface="Tahoma" pitchFamily="34" charset="0"/>
              </a:rPr>
              <a:t>= # of bushels shipped from Mt. Dora (node 1) to Orlando (node 5)</a:t>
            </a:r>
          </a:p>
          <a:p>
            <a:pPr eaLnBrk="0" hangingPunct="0">
              <a:lnSpc>
                <a:spcPct val="130000"/>
              </a:lnSpc>
            </a:pPr>
            <a:r>
              <a:rPr lang="en-US" sz="2000" dirty="0">
                <a:latin typeface="Tahoma" pitchFamily="34" charset="0"/>
              </a:rPr>
              <a:t>X</a:t>
            </a:r>
            <a:r>
              <a:rPr lang="en-US" sz="2000" baseline="-25000" dirty="0">
                <a:latin typeface="Tahoma" pitchFamily="34" charset="0"/>
              </a:rPr>
              <a:t>16</a:t>
            </a:r>
            <a:r>
              <a:rPr lang="en-US" sz="2000" dirty="0">
                <a:latin typeface="Tahoma" pitchFamily="34" charset="0"/>
              </a:rPr>
              <a:t> = # of bushels shipped from Mt. Dora (node 1) to Leesburg (node 6)</a:t>
            </a:r>
          </a:p>
          <a:p>
            <a:pPr eaLnBrk="0" hangingPunct="0">
              <a:lnSpc>
                <a:spcPct val="130000"/>
              </a:lnSpc>
            </a:pPr>
            <a:r>
              <a:rPr lang="en-US" sz="2000" dirty="0">
                <a:latin typeface="Tahoma" pitchFamily="34" charset="0"/>
              </a:rPr>
              <a:t>X</a:t>
            </a:r>
            <a:r>
              <a:rPr lang="en-US" sz="2000" baseline="-25000" dirty="0">
                <a:latin typeface="Tahoma" pitchFamily="34" charset="0"/>
              </a:rPr>
              <a:t>24</a:t>
            </a:r>
            <a:r>
              <a:rPr lang="en-US" sz="2000" dirty="0">
                <a:latin typeface="Tahoma" pitchFamily="34" charset="0"/>
              </a:rPr>
              <a:t> = # of bushels shipped from Eustis (node 2) to Ocala (node 4)</a:t>
            </a:r>
          </a:p>
          <a:p>
            <a:pPr eaLnBrk="0" hangingPunct="0">
              <a:lnSpc>
                <a:spcPct val="130000"/>
              </a:lnSpc>
            </a:pPr>
            <a:r>
              <a:rPr lang="en-US" sz="2000" dirty="0">
                <a:latin typeface="Tahoma" pitchFamily="34" charset="0"/>
              </a:rPr>
              <a:t>X</a:t>
            </a:r>
            <a:r>
              <a:rPr lang="en-US" sz="2000" baseline="-25000" dirty="0">
                <a:latin typeface="Tahoma" pitchFamily="34" charset="0"/>
              </a:rPr>
              <a:t>25</a:t>
            </a:r>
            <a:r>
              <a:rPr lang="en-US" sz="2000" dirty="0">
                <a:latin typeface="Tahoma" pitchFamily="34" charset="0"/>
              </a:rPr>
              <a:t> = # of bushels shipped from Eustis (node 2) to Orlando (node 5)</a:t>
            </a:r>
          </a:p>
          <a:p>
            <a:pPr eaLnBrk="0" hangingPunct="0">
              <a:lnSpc>
                <a:spcPct val="130000"/>
              </a:lnSpc>
            </a:pPr>
            <a:r>
              <a:rPr lang="en-US" sz="2000" dirty="0">
                <a:latin typeface="Tahoma" pitchFamily="34" charset="0"/>
              </a:rPr>
              <a:t>X</a:t>
            </a:r>
            <a:r>
              <a:rPr lang="en-US" sz="2000" baseline="-25000" dirty="0">
                <a:latin typeface="Tahoma" pitchFamily="34" charset="0"/>
              </a:rPr>
              <a:t>26</a:t>
            </a:r>
            <a:r>
              <a:rPr lang="en-US" sz="2000" dirty="0">
                <a:latin typeface="Tahoma" pitchFamily="34" charset="0"/>
              </a:rPr>
              <a:t> = # of bushels shipped from Eustis (node 2) to Leesburg (node 6)</a:t>
            </a:r>
          </a:p>
          <a:p>
            <a:pPr eaLnBrk="0" hangingPunct="0">
              <a:lnSpc>
                <a:spcPct val="130000"/>
              </a:lnSpc>
            </a:pPr>
            <a:r>
              <a:rPr lang="en-US" sz="2000" dirty="0">
                <a:latin typeface="Tahoma" pitchFamily="34" charset="0"/>
              </a:rPr>
              <a:t>X</a:t>
            </a:r>
            <a:r>
              <a:rPr lang="en-US" sz="2000" baseline="-25000" dirty="0">
                <a:latin typeface="Tahoma" pitchFamily="34" charset="0"/>
              </a:rPr>
              <a:t>34</a:t>
            </a:r>
            <a:r>
              <a:rPr lang="en-US" sz="2000" dirty="0">
                <a:latin typeface="Tahoma" pitchFamily="34" charset="0"/>
              </a:rPr>
              <a:t> = # of bushels shipped from Clermont (node 3) to Ocala (node 4)</a:t>
            </a:r>
          </a:p>
          <a:p>
            <a:pPr eaLnBrk="0" hangingPunct="0">
              <a:lnSpc>
                <a:spcPct val="130000"/>
              </a:lnSpc>
            </a:pPr>
            <a:r>
              <a:rPr lang="en-US" sz="2000" dirty="0">
                <a:latin typeface="Tahoma" pitchFamily="34" charset="0"/>
              </a:rPr>
              <a:t>X</a:t>
            </a:r>
            <a:r>
              <a:rPr lang="en-US" sz="2000" baseline="-25000" dirty="0">
                <a:latin typeface="Tahoma" pitchFamily="34" charset="0"/>
              </a:rPr>
              <a:t>35</a:t>
            </a:r>
            <a:r>
              <a:rPr lang="en-US" sz="2000" dirty="0">
                <a:latin typeface="Tahoma" pitchFamily="34" charset="0"/>
              </a:rPr>
              <a:t> = # of bushels shipped from Clermont (node 3) to Orlando (node 5)</a:t>
            </a:r>
          </a:p>
          <a:p>
            <a:pPr eaLnBrk="0" hangingPunct="0">
              <a:lnSpc>
                <a:spcPct val="130000"/>
              </a:lnSpc>
            </a:pPr>
            <a:r>
              <a:rPr lang="en-US" sz="2000" dirty="0">
                <a:latin typeface="Tahoma" pitchFamily="34" charset="0"/>
              </a:rPr>
              <a:t>X</a:t>
            </a:r>
            <a:r>
              <a:rPr lang="en-US" sz="2000" baseline="-25000" dirty="0">
                <a:latin typeface="Tahoma" pitchFamily="34" charset="0"/>
              </a:rPr>
              <a:t>36</a:t>
            </a:r>
            <a:r>
              <a:rPr lang="en-US" sz="2000" dirty="0">
                <a:latin typeface="Tahoma" pitchFamily="34" charset="0"/>
              </a:rPr>
              <a:t> = # of bushels shipped from Clermont (node 3) to Leesburg (node 6)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i="1">
                <a:solidFill>
                  <a:schemeClr val="hlink"/>
                </a:solidFill>
              </a:rPr>
              <a:t>Defining the Objective Function</a:t>
            </a:r>
          </a:p>
        </p:txBody>
      </p:sp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354013" y="1728788"/>
            <a:ext cx="7977187" cy="2649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919163" indent="-919163" algn="ctr" eaLnBrk="0" hangingPunct="0">
              <a:lnSpc>
                <a:spcPct val="130000"/>
              </a:lnSpc>
              <a:spcBef>
                <a:spcPct val="50000"/>
              </a:spcBef>
              <a:tabLst>
                <a:tab pos="1836738" algn="l"/>
              </a:tabLst>
            </a:pPr>
            <a:r>
              <a:rPr lang="en-US" sz="3200" dirty="0">
                <a:latin typeface="Tahoma" pitchFamily="34" charset="0"/>
              </a:rPr>
              <a:t>Minimize the total number of bushel-miles.</a:t>
            </a:r>
            <a:endParaRPr lang="en-US" sz="2800" dirty="0">
              <a:latin typeface="Tahoma" pitchFamily="34" charset="0"/>
            </a:endParaRPr>
          </a:p>
          <a:p>
            <a:pPr marL="919163" indent="-919163" eaLnBrk="0" hangingPunct="0">
              <a:spcBef>
                <a:spcPct val="50000"/>
              </a:spcBef>
              <a:tabLst>
                <a:tab pos="1836738" algn="l"/>
              </a:tabLst>
            </a:pPr>
            <a:r>
              <a:rPr lang="en-US" sz="2400" dirty="0">
                <a:latin typeface="Tahoma" pitchFamily="34" charset="0"/>
              </a:rPr>
              <a:t>		</a:t>
            </a:r>
            <a:r>
              <a:rPr lang="en-US" sz="2800" dirty="0">
                <a:latin typeface="Tahoma" pitchFamily="34" charset="0"/>
              </a:rPr>
              <a:t>MIN:	21X</a:t>
            </a:r>
            <a:r>
              <a:rPr lang="en-US" sz="2800" baseline="-25000" dirty="0">
                <a:latin typeface="Tahoma" pitchFamily="34" charset="0"/>
              </a:rPr>
              <a:t>14</a:t>
            </a:r>
            <a:r>
              <a:rPr lang="en-US" sz="2800" dirty="0">
                <a:latin typeface="Tahoma" pitchFamily="34" charset="0"/>
              </a:rPr>
              <a:t> + 50X</a:t>
            </a:r>
            <a:r>
              <a:rPr lang="en-US" sz="2800" baseline="-25000" dirty="0">
                <a:latin typeface="Tahoma" pitchFamily="34" charset="0"/>
              </a:rPr>
              <a:t>15</a:t>
            </a:r>
            <a:r>
              <a:rPr lang="en-US" sz="2800" dirty="0">
                <a:latin typeface="Tahoma" pitchFamily="34" charset="0"/>
              </a:rPr>
              <a:t> + 40X</a:t>
            </a:r>
            <a:r>
              <a:rPr lang="en-US" sz="2800" baseline="-25000" dirty="0">
                <a:latin typeface="Tahoma" pitchFamily="34" charset="0"/>
              </a:rPr>
              <a:t>16</a:t>
            </a:r>
            <a:r>
              <a:rPr lang="en-US" sz="2800" dirty="0">
                <a:latin typeface="Tahoma" pitchFamily="34" charset="0"/>
              </a:rPr>
              <a:t> +</a:t>
            </a:r>
          </a:p>
          <a:p>
            <a:pPr marL="919163" indent="-919163" eaLnBrk="0" hangingPunct="0">
              <a:spcBef>
                <a:spcPct val="50000"/>
              </a:spcBef>
              <a:tabLst>
                <a:tab pos="1836738" algn="l"/>
              </a:tabLst>
            </a:pPr>
            <a:r>
              <a:rPr lang="en-US" sz="2800" dirty="0">
                <a:latin typeface="Tahoma" pitchFamily="34" charset="0"/>
              </a:rPr>
              <a:t>			35X</a:t>
            </a:r>
            <a:r>
              <a:rPr lang="en-US" sz="2800" baseline="-25000" dirty="0">
                <a:latin typeface="Tahoma" pitchFamily="34" charset="0"/>
              </a:rPr>
              <a:t>24</a:t>
            </a:r>
            <a:r>
              <a:rPr lang="en-US" sz="2800" dirty="0">
                <a:latin typeface="Tahoma" pitchFamily="34" charset="0"/>
              </a:rPr>
              <a:t> + 30X</a:t>
            </a:r>
            <a:r>
              <a:rPr lang="en-US" sz="2800" baseline="-25000" dirty="0">
                <a:latin typeface="Tahoma" pitchFamily="34" charset="0"/>
              </a:rPr>
              <a:t>25</a:t>
            </a:r>
            <a:r>
              <a:rPr lang="en-US" sz="2800" dirty="0">
                <a:latin typeface="Tahoma" pitchFamily="34" charset="0"/>
              </a:rPr>
              <a:t> + 22X</a:t>
            </a:r>
            <a:r>
              <a:rPr lang="en-US" sz="2800" baseline="-25000" dirty="0">
                <a:latin typeface="Tahoma" pitchFamily="34" charset="0"/>
              </a:rPr>
              <a:t>26</a:t>
            </a:r>
            <a:r>
              <a:rPr lang="en-US" sz="2800" dirty="0">
                <a:latin typeface="Tahoma" pitchFamily="34" charset="0"/>
              </a:rPr>
              <a:t> + </a:t>
            </a:r>
          </a:p>
          <a:p>
            <a:pPr marL="919163" indent="-919163" eaLnBrk="0" hangingPunct="0">
              <a:spcBef>
                <a:spcPct val="50000"/>
              </a:spcBef>
              <a:tabLst>
                <a:tab pos="1836738" algn="l"/>
              </a:tabLst>
            </a:pPr>
            <a:r>
              <a:rPr lang="en-US" sz="2800" dirty="0">
                <a:latin typeface="Tahoma" pitchFamily="34" charset="0"/>
              </a:rPr>
              <a:t>			55X</a:t>
            </a:r>
            <a:r>
              <a:rPr lang="en-US" sz="2800" baseline="-25000" dirty="0">
                <a:latin typeface="Tahoma" pitchFamily="34" charset="0"/>
              </a:rPr>
              <a:t>34</a:t>
            </a:r>
            <a:r>
              <a:rPr lang="en-US" sz="2800" dirty="0">
                <a:latin typeface="Tahoma" pitchFamily="34" charset="0"/>
              </a:rPr>
              <a:t> + 20X</a:t>
            </a:r>
            <a:r>
              <a:rPr lang="en-US" sz="2800" baseline="-25000" dirty="0">
                <a:latin typeface="Tahoma" pitchFamily="34" charset="0"/>
              </a:rPr>
              <a:t>35</a:t>
            </a:r>
            <a:r>
              <a:rPr lang="en-US" sz="2800" dirty="0">
                <a:latin typeface="Tahoma" pitchFamily="34" charset="0"/>
              </a:rPr>
              <a:t> + 25X</a:t>
            </a:r>
            <a:r>
              <a:rPr lang="en-US" sz="2800" baseline="-25000" dirty="0">
                <a:latin typeface="Tahoma" pitchFamily="34" charset="0"/>
              </a:rPr>
              <a:t>36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617538" y="341313"/>
            <a:ext cx="7772400" cy="722312"/>
          </a:xfrm>
          <a:noFill/>
          <a:ln/>
        </p:spPr>
        <p:txBody>
          <a:bodyPr lIns="92075" tIns="46038" rIns="92075" bIns="46038"/>
          <a:lstStyle/>
          <a:p>
            <a:r>
              <a:rPr lang="en-US" i="1">
                <a:solidFill>
                  <a:schemeClr val="hlink"/>
                </a:solidFill>
              </a:rPr>
              <a:t>Defining the Constraints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6429375" cy="4945063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sz="2800" dirty="0"/>
              <a:t>Capacity constraints</a:t>
            </a:r>
          </a:p>
          <a:p>
            <a:pPr lvl="1" indent="-284163">
              <a:buFontTx/>
              <a:buNone/>
            </a:pPr>
            <a:r>
              <a:rPr lang="en-US" sz="2400" dirty="0"/>
              <a:t>X</a:t>
            </a:r>
            <a:r>
              <a:rPr lang="en-US" sz="2400" baseline="-25000" dirty="0"/>
              <a:t>14</a:t>
            </a:r>
            <a:r>
              <a:rPr lang="en-US" sz="2400" dirty="0"/>
              <a:t> + X</a:t>
            </a:r>
            <a:r>
              <a:rPr lang="en-US" sz="2400" baseline="-25000" dirty="0"/>
              <a:t>24</a:t>
            </a:r>
            <a:r>
              <a:rPr lang="en-US" sz="2400" dirty="0"/>
              <a:t> + X</a:t>
            </a:r>
            <a:r>
              <a:rPr lang="en-US" sz="2400" baseline="-25000" dirty="0"/>
              <a:t>34</a:t>
            </a:r>
            <a:r>
              <a:rPr lang="en-US" sz="2400" dirty="0"/>
              <a:t> &lt;= 200,000	} Ocala</a:t>
            </a:r>
          </a:p>
          <a:p>
            <a:pPr lvl="1" indent="-284163">
              <a:buFontTx/>
              <a:buNone/>
            </a:pPr>
            <a:r>
              <a:rPr lang="en-US" sz="2400" dirty="0"/>
              <a:t>X</a:t>
            </a:r>
            <a:r>
              <a:rPr lang="en-US" sz="2400" baseline="-25000" dirty="0"/>
              <a:t>15</a:t>
            </a:r>
            <a:r>
              <a:rPr lang="en-US" sz="2400" dirty="0"/>
              <a:t> + X</a:t>
            </a:r>
            <a:r>
              <a:rPr lang="en-US" sz="2400" baseline="-25000" dirty="0"/>
              <a:t>25</a:t>
            </a:r>
            <a:r>
              <a:rPr lang="en-US" sz="2400" dirty="0"/>
              <a:t> + X</a:t>
            </a:r>
            <a:r>
              <a:rPr lang="en-US" sz="2400" baseline="-25000" dirty="0"/>
              <a:t>35</a:t>
            </a:r>
            <a:r>
              <a:rPr lang="en-US" sz="2400" dirty="0"/>
              <a:t> &lt;= 600,000	} Orlando</a:t>
            </a:r>
          </a:p>
          <a:p>
            <a:pPr lvl="1" indent="-284163">
              <a:buFontTx/>
              <a:buNone/>
            </a:pPr>
            <a:r>
              <a:rPr lang="en-US" sz="2400" dirty="0"/>
              <a:t>X</a:t>
            </a:r>
            <a:r>
              <a:rPr lang="en-US" sz="2400" baseline="-25000" dirty="0"/>
              <a:t>16</a:t>
            </a:r>
            <a:r>
              <a:rPr lang="en-US" sz="2400" dirty="0"/>
              <a:t> + X</a:t>
            </a:r>
            <a:r>
              <a:rPr lang="en-US" sz="2400" baseline="-25000" dirty="0"/>
              <a:t>26</a:t>
            </a:r>
            <a:r>
              <a:rPr lang="en-US" sz="2400" dirty="0"/>
              <a:t> + X</a:t>
            </a:r>
            <a:r>
              <a:rPr lang="en-US" sz="2400" baseline="-25000" dirty="0"/>
              <a:t>36</a:t>
            </a:r>
            <a:r>
              <a:rPr lang="en-US" sz="2400" dirty="0"/>
              <a:t> &lt;= 225,000	} Leesburg</a:t>
            </a:r>
          </a:p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en-US" sz="2800" dirty="0"/>
              <a:t>Supply constraints</a:t>
            </a:r>
            <a:endParaRPr lang="en-US" sz="2400" dirty="0"/>
          </a:p>
          <a:p>
            <a:pPr lvl="1" indent="-284163">
              <a:buFontTx/>
              <a:buNone/>
            </a:pPr>
            <a:r>
              <a:rPr lang="en-US" sz="2400" dirty="0"/>
              <a:t>X</a:t>
            </a:r>
            <a:r>
              <a:rPr lang="en-US" sz="2400" baseline="-25000" dirty="0"/>
              <a:t>14</a:t>
            </a:r>
            <a:r>
              <a:rPr lang="en-US" sz="2400" dirty="0"/>
              <a:t> + X</a:t>
            </a:r>
            <a:r>
              <a:rPr lang="en-US" sz="2400" baseline="-25000" dirty="0"/>
              <a:t>15</a:t>
            </a:r>
            <a:r>
              <a:rPr lang="en-US" sz="2400" dirty="0"/>
              <a:t> + X</a:t>
            </a:r>
            <a:r>
              <a:rPr lang="en-US" sz="2400" baseline="-25000" dirty="0"/>
              <a:t>16</a:t>
            </a:r>
            <a:r>
              <a:rPr lang="en-US" sz="2400" dirty="0"/>
              <a:t> = 275,000	} Mt. Dora</a:t>
            </a:r>
          </a:p>
          <a:p>
            <a:pPr lvl="1" indent="-284163">
              <a:buFontTx/>
              <a:buNone/>
            </a:pPr>
            <a:r>
              <a:rPr lang="en-US" sz="2400" dirty="0"/>
              <a:t>X</a:t>
            </a:r>
            <a:r>
              <a:rPr lang="en-US" sz="2400" baseline="-25000" dirty="0"/>
              <a:t>24</a:t>
            </a:r>
            <a:r>
              <a:rPr lang="en-US" sz="2400" dirty="0"/>
              <a:t> + X</a:t>
            </a:r>
            <a:r>
              <a:rPr lang="en-US" sz="2400" baseline="-25000" dirty="0"/>
              <a:t>25</a:t>
            </a:r>
            <a:r>
              <a:rPr lang="en-US" sz="2400" dirty="0"/>
              <a:t> + X</a:t>
            </a:r>
            <a:r>
              <a:rPr lang="en-US" sz="2400" baseline="-25000" dirty="0"/>
              <a:t>26</a:t>
            </a:r>
            <a:r>
              <a:rPr lang="en-US" sz="2400" dirty="0"/>
              <a:t> = 400,000	} Eustis</a:t>
            </a:r>
          </a:p>
          <a:p>
            <a:pPr lvl="1" indent="-284163">
              <a:buFontTx/>
              <a:buNone/>
            </a:pPr>
            <a:r>
              <a:rPr lang="en-US" sz="2400" dirty="0"/>
              <a:t>X</a:t>
            </a:r>
            <a:r>
              <a:rPr lang="en-US" sz="2400" baseline="-25000" dirty="0"/>
              <a:t>34</a:t>
            </a:r>
            <a:r>
              <a:rPr lang="en-US" sz="2400" dirty="0"/>
              <a:t> + X</a:t>
            </a:r>
            <a:r>
              <a:rPr lang="en-US" sz="2400" baseline="-25000" dirty="0"/>
              <a:t>35</a:t>
            </a:r>
            <a:r>
              <a:rPr lang="en-US" sz="2400" dirty="0"/>
              <a:t> + X</a:t>
            </a:r>
            <a:r>
              <a:rPr lang="en-US" sz="2400" baseline="-25000" dirty="0"/>
              <a:t>36</a:t>
            </a:r>
            <a:r>
              <a:rPr lang="en-US" sz="2400" dirty="0"/>
              <a:t> = 300,000	} Clermont</a:t>
            </a:r>
          </a:p>
          <a:p>
            <a:r>
              <a:rPr lang="en-US" sz="2800" dirty="0"/>
              <a:t>Nonnegativity conditions</a:t>
            </a:r>
          </a:p>
          <a:p>
            <a:pPr lvl="1" indent="-284163">
              <a:lnSpc>
                <a:spcPct val="70000"/>
              </a:lnSpc>
              <a:buFontTx/>
              <a:buNone/>
            </a:pPr>
            <a:r>
              <a:rPr lang="en-US" sz="2400" dirty="0" err="1"/>
              <a:t>X</a:t>
            </a:r>
            <a:r>
              <a:rPr lang="en-US" sz="2400" i="1" baseline="-25000" dirty="0" err="1">
                <a:latin typeface="Times New Roman" pitchFamily="18" charset="0"/>
              </a:rPr>
              <a:t>ij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/>
              <a:t>&gt;= 0  for all </a:t>
            </a:r>
            <a:r>
              <a:rPr lang="en-US" sz="2400" i="1" dirty="0" err="1">
                <a:latin typeface="Times New Roman" pitchFamily="18" charset="0"/>
              </a:rPr>
              <a:t>i</a:t>
            </a:r>
            <a:r>
              <a:rPr lang="en-US" sz="2400" i="1" dirty="0"/>
              <a:t> </a:t>
            </a:r>
            <a:r>
              <a:rPr lang="en-US" sz="2400" dirty="0"/>
              <a:t>and</a:t>
            </a:r>
            <a:r>
              <a:rPr lang="en-US" sz="2400" i="1" dirty="0"/>
              <a:t> </a:t>
            </a:r>
            <a:r>
              <a:rPr lang="en-US" sz="2400" i="1" dirty="0">
                <a:latin typeface="Times New Roman" pitchFamily="18" charset="0"/>
              </a:rPr>
              <a:t>j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i="1">
                <a:solidFill>
                  <a:schemeClr val="hlink"/>
                </a:solidFill>
              </a:rPr>
              <a:t>Implementing the Model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868363"/>
          </a:xfrm>
          <a:noFill/>
          <a:ln/>
        </p:spPr>
        <p:txBody>
          <a:bodyPr lIns="92075" tIns="46038" rIns="92075" bIns="46038"/>
          <a:lstStyle/>
          <a:p>
            <a:pPr algn="ctr">
              <a:buFont typeface="Wingdings" pitchFamily="2" charset="2"/>
              <a:buNone/>
            </a:pPr>
            <a:r>
              <a:rPr lang="en-US" dirty="0"/>
              <a:t>See file </a:t>
            </a:r>
            <a:r>
              <a:rPr lang="en-US" dirty="0">
                <a:hlinkClick r:id="rId3" action="ppaction://hlinkfile"/>
              </a:rPr>
              <a:t>Fig3-26.xlsm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77825"/>
            <a:ext cx="8059738" cy="838200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80000"/>
              </a:lnSpc>
            </a:pPr>
            <a:r>
              <a:rPr lang="en-US" sz="4000" i="1">
                <a:solidFill>
                  <a:schemeClr val="hlink"/>
                </a:solidFill>
              </a:rPr>
              <a:t>A Blending Problem:</a:t>
            </a:r>
            <a:br>
              <a:rPr lang="en-US" sz="4000" i="1">
                <a:solidFill>
                  <a:schemeClr val="hlink"/>
                </a:solidFill>
              </a:rPr>
            </a:br>
            <a:r>
              <a:rPr lang="en-US" sz="4000" i="1">
                <a:solidFill>
                  <a:schemeClr val="hlink"/>
                </a:solidFill>
              </a:rPr>
              <a:t>The Agri-Pro Company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5913" y="1239838"/>
            <a:ext cx="8758237" cy="1900237"/>
          </a:xfrm>
          <a:noFill/>
          <a:ln/>
        </p:spPr>
        <p:txBody>
          <a:bodyPr lIns="92075" tIns="46038" rIns="92075" bIns="46038"/>
          <a:lstStyle/>
          <a:p>
            <a:r>
              <a:rPr lang="en-US" sz="2800" dirty="0"/>
              <a:t>Agri-Pro has received an order for 8,000 pounds of chicken feed to be mixed from the following feeds.</a:t>
            </a:r>
          </a:p>
        </p:txBody>
      </p:sp>
      <p:grpSp>
        <p:nvGrpSpPr>
          <p:cNvPr id="38919" name="Group 7"/>
          <p:cNvGrpSpPr>
            <a:grpSpLocks/>
          </p:cNvGrpSpPr>
          <p:nvPr/>
        </p:nvGrpSpPr>
        <p:grpSpPr bwMode="auto">
          <a:xfrm>
            <a:off x="642938" y="2293938"/>
            <a:ext cx="7993062" cy="2524125"/>
            <a:chOff x="405" y="1445"/>
            <a:chExt cx="5035" cy="1590"/>
          </a:xfrm>
        </p:grpSpPr>
        <p:sp>
          <p:nvSpPr>
            <p:cNvPr id="38916" name="Rectangle 4"/>
            <p:cNvSpPr>
              <a:spLocks noChangeArrowheads="1"/>
            </p:cNvSpPr>
            <p:nvPr/>
          </p:nvSpPr>
          <p:spPr bwMode="auto">
            <a:xfrm>
              <a:off x="458" y="1690"/>
              <a:ext cx="4779" cy="13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50000"/>
                </a:spcBef>
                <a:tabLst>
                  <a:tab pos="2738438" algn="ctr"/>
                  <a:tab pos="4116388" algn="ctr"/>
                  <a:tab pos="5494338" algn="ctr"/>
                  <a:tab pos="6854825" algn="ctr"/>
                </a:tabLst>
              </a:pPr>
              <a:r>
                <a:rPr lang="en-US" sz="2000" b="1" dirty="0"/>
                <a:t>Nutrient	Feed 1	Feed 2 	 Feed 3	Feed 4</a:t>
              </a:r>
            </a:p>
            <a:p>
              <a:pPr eaLnBrk="0" hangingPunct="0">
                <a:lnSpc>
                  <a:spcPct val="90000"/>
                </a:lnSpc>
                <a:spcBef>
                  <a:spcPct val="50000"/>
                </a:spcBef>
                <a:tabLst>
                  <a:tab pos="2738438" algn="ctr"/>
                  <a:tab pos="4116388" algn="ctr"/>
                  <a:tab pos="5494338" algn="ctr"/>
                  <a:tab pos="6854825" algn="ctr"/>
                </a:tabLst>
              </a:pPr>
              <a:r>
                <a:rPr lang="en-US" sz="2000" b="1" dirty="0"/>
                <a:t>Corn	30%	5%	20%	10%</a:t>
              </a:r>
            </a:p>
            <a:p>
              <a:pPr eaLnBrk="0" hangingPunct="0">
                <a:lnSpc>
                  <a:spcPct val="90000"/>
                </a:lnSpc>
                <a:spcBef>
                  <a:spcPct val="50000"/>
                </a:spcBef>
                <a:tabLst>
                  <a:tab pos="2738438" algn="ctr"/>
                  <a:tab pos="4116388" algn="ctr"/>
                  <a:tab pos="5494338" algn="ctr"/>
                  <a:tab pos="6854825" algn="ctr"/>
                </a:tabLst>
              </a:pPr>
              <a:r>
                <a:rPr lang="en-US" sz="2000" b="1" dirty="0"/>
                <a:t>Grain	10%	3%	15%	10%</a:t>
              </a:r>
            </a:p>
            <a:p>
              <a:pPr eaLnBrk="0" hangingPunct="0">
                <a:lnSpc>
                  <a:spcPct val="90000"/>
                </a:lnSpc>
                <a:spcBef>
                  <a:spcPct val="50000"/>
                </a:spcBef>
                <a:tabLst>
                  <a:tab pos="2738438" algn="ctr"/>
                  <a:tab pos="4116388" algn="ctr"/>
                  <a:tab pos="5494338" algn="ctr"/>
                  <a:tab pos="6854825" algn="ctr"/>
                </a:tabLst>
              </a:pPr>
              <a:r>
                <a:rPr lang="en-US" sz="2000" b="1" dirty="0"/>
                <a:t>Minerals	20%	20%	20%	30%</a:t>
              </a:r>
            </a:p>
            <a:p>
              <a:pPr eaLnBrk="0" hangingPunct="0">
                <a:lnSpc>
                  <a:spcPct val="90000"/>
                </a:lnSpc>
                <a:spcBef>
                  <a:spcPct val="50000"/>
                </a:spcBef>
                <a:tabLst>
                  <a:tab pos="2738438" algn="ctr"/>
                  <a:tab pos="4116388" algn="ctr"/>
                  <a:tab pos="5494338" algn="ctr"/>
                  <a:tab pos="6854825" algn="ctr"/>
                </a:tabLst>
              </a:pPr>
              <a:r>
                <a:rPr lang="en-US" sz="2000" b="1" dirty="0"/>
                <a:t>Cost per pound	$0.25	$0.30	$0.32	$0.15</a:t>
              </a:r>
            </a:p>
          </p:txBody>
        </p:sp>
        <p:sp>
          <p:nvSpPr>
            <p:cNvPr id="38917" name="Line 5"/>
            <p:cNvSpPr>
              <a:spLocks noChangeShapeType="1"/>
            </p:cNvSpPr>
            <p:nvPr/>
          </p:nvSpPr>
          <p:spPr bwMode="auto">
            <a:xfrm>
              <a:off x="489" y="1935"/>
              <a:ext cx="466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18" name="Rectangle 6"/>
            <p:cNvSpPr>
              <a:spLocks noChangeArrowheads="1"/>
            </p:cNvSpPr>
            <p:nvPr/>
          </p:nvSpPr>
          <p:spPr bwMode="auto">
            <a:xfrm>
              <a:off x="405" y="1445"/>
              <a:ext cx="503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  <a:tabLst>
                  <a:tab pos="4694238" algn="ctr"/>
                </a:tabLst>
              </a:pPr>
              <a:r>
                <a:rPr lang="en-US" sz="2000" b="1" dirty="0"/>
                <a:t>	Percent of Nutrient in</a:t>
              </a:r>
            </a:p>
          </p:txBody>
        </p:sp>
      </p:grpSp>
      <p:sp>
        <p:nvSpPr>
          <p:cNvPr id="38920" name="Rectangle 8"/>
          <p:cNvSpPr>
            <a:spLocks noChangeArrowheads="1"/>
          </p:cNvSpPr>
          <p:nvPr/>
        </p:nvSpPr>
        <p:spPr bwMode="auto">
          <a:xfrm>
            <a:off x="304800" y="5065713"/>
            <a:ext cx="8758238" cy="103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</a:pPr>
            <a:r>
              <a:rPr lang="en-US" sz="2800" dirty="0">
                <a:latin typeface="Tahoma" pitchFamily="34" charset="0"/>
              </a:rPr>
              <a:t>The order must contain at least 20% corn, 15% grain, and 15% minerals.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i="1">
                <a:solidFill>
                  <a:schemeClr val="hlink"/>
                </a:solidFill>
              </a:rPr>
              <a:t>Defining the Decision Variables</a:t>
            </a:r>
          </a:p>
        </p:txBody>
      </p:sp>
      <p:sp>
        <p:nvSpPr>
          <p:cNvPr id="39939" name="Rectangle 3"/>
          <p:cNvSpPr>
            <a:spLocks noChangeArrowheads="1"/>
          </p:cNvSpPr>
          <p:nvPr/>
        </p:nvSpPr>
        <p:spPr bwMode="auto">
          <a:xfrm>
            <a:off x="1828800" y="1905000"/>
            <a:ext cx="5811838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en-US" sz="2400" dirty="0">
                <a:latin typeface="Tahoma" pitchFamily="34" charset="0"/>
              </a:rPr>
              <a:t>X</a:t>
            </a:r>
            <a:r>
              <a:rPr lang="en-US" sz="2400" baseline="-25000" dirty="0">
                <a:latin typeface="Tahoma" pitchFamily="34" charset="0"/>
              </a:rPr>
              <a:t>1</a:t>
            </a:r>
            <a:r>
              <a:rPr lang="en-US" sz="2400" dirty="0">
                <a:latin typeface="Tahoma" pitchFamily="34" charset="0"/>
              </a:rPr>
              <a:t> = pounds of feed 1 to use in the mix</a:t>
            </a:r>
          </a:p>
          <a:p>
            <a:pPr eaLnBrk="0" hangingPunct="0">
              <a:lnSpc>
                <a:spcPct val="150000"/>
              </a:lnSpc>
            </a:pPr>
            <a:r>
              <a:rPr lang="en-US" sz="2400" dirty="0">
                <a:latin typeface="Tahoma" pitchFamily="34" charset="0"/>
              </a:rPr>
              <a:t>X</a:t>
            </a:r>
            <a:r>
              <a:rPr lang="en-US" sz="2400" baseline="-25000" dirty="0">
                <a:latin typeface="Tahoma" pitchFamily="34" charset="0"/>
              </a:rPr>
              <a:t>2</a:t>
            </a:r>
            <a:r>
              <a:rPr lang="en-US" sz="2400" dirty="0">
                <a:latin typeface="Tahoma" pitchFamily="34" charset="0"/>
              </a:rPr>
              <a:t> = pounds of feed 2 to use in the mix</a:t>
            </a:r>
          </a:p>
          <a:p>
            <a:pPr eaLnBrk="0" hangingPunct="0">
              <a:lnSpc>
                <a:spcPct val="150000"/>
              </a:lnSpc>
            </a:pPr>
            <a:r>
              <a:rPr lang="en-US" sz="2400" dirty="0">
                <a:latin typeface="Tahoma" pitchFamily="34" charset="0"/>
              </a:rPr>
              <a:t>X</a:t>
            </a:r>
            <a:r>
              <a:rPr lang="en-US" sz="2400" baseline="-25000" dirty="0">
                <a:latin typeface="Tahoma" pitchFamily="34" charset="0"/>
              </a:rPr>
              <a:t>3</a:t>
            </a:r>
            <a:r>
              <a:rPr lang="en-US" sz="2400" dirty="0">
                <a:latin typeface="Tahoma" pitchFamily="34" charset="0"/>
              </a:rPr>
              <a:t> = pounds of feed 3 to use in the mix</a:t>
            </a:r>
          </a:p>
          <a:p>
            <a:pPr eaLnBrk="0" hangingPunct="0">
              <a:lnSpc>
                <a:spcPct val="150000"/>
              </a:lnSpc>
            </a:pPr>
            <a:r>
              <a:rPr lang="en-US" sz="2400" dirty="0">
                <a:latin typeface="Tahoma" pitchFamily="34" charset="0"/>
              </a:rPr>
              <a:t>X</a:t>
            </a:r>
            <a:r>
              <a:rPr lang="en-US" sz="2400" baseline="-25000" dirty="0">
                <a:latin typeface="Tahoma" pitchFamily="34" charset="0"/>
              </a:rPr>
              <a:t>4</a:t>
            </a:r>
            <a:r>
              <a:rPr lang="en-US" sz="2400" dirty="0">
                <a:latin typeface="Tahoma" pitchFamily="34" charset="0"/>
              </a:rPr>
              <a:t> = pounds of feed 4 to use in the mix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i="1">
                <a:solidFill>
                  <a:schemeClr val="hlink"/>
                </a:solidFill>
              </a:rPr>
              <a:t>Defining the Objective Function</a:t>
            </a:r>
          </a:p>
        </p:txBody>
      </p:sp>
      <p:sp>
        <p:nvSpPr>
          <p:cNvPr id="40963" name="Rectangle 3"/>
          <p:cNvSpPr>
            <a:spLocks noChangeArrowheads="1"/>
          </p:cNvSpPr>
          <p:nvPr/>
        </p:nvSpPr>
        <p:spPr bwMode="auto">
          <a:xfrm>
            <a:off x="354013" y="1728788"/>
            <a:ext cx="7977187" cy="160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919163" indent="-919163" algn="ctr" eaLnBrk="0" hangingPunct="0">
              <a:lnSpc>
                <a:spcPct val="130000"/>
              </a:lnSpc>
              <a:spcBef>
                <a:spcPct val="50000"/>
              </a:spcBef>
              <a:tabLst>
                <a:tab pos="1836738" algn="l"/>
              </a:tabLst>
            </a:pPr>
            <a:r>
              <a:rPr lang="en-US" sz="3200" dirty="0">
                <a:latin typeface="Tahoma" pitchFamily="34" charset="0"/>
              </a:rPr>
              <a:t>Minimize the total cost of filling the order.</a:t>
            </a:r>
            <a:endParaRPr lang="en-US" sz="2800" dirty="0">
              <a:latin typeface="Tahoma" pitchFamily="34" charset="0"/>
            </a:endParaRPr>
          </a:p>
          <a:p>
            <a:pPr marL="919163" indent="-919163" algn="ctr" eaLnBrk="0" hangingPunct="0">
              <a:lnSpc>
                <a:spcPct val="130000"/>
              </a:lnSpc>
              <a:spcBef>
                <a:spcPct val="50000"/>
              </a:spcBef>
              <a:tabLst>
                <a:tab pos="1836738" algn="l"/>
              </a:tabLst>
            </a:pPr>
            <a:r>
              <a:rPr lang="en-US" sz="3200" dirty="0">
                <a:latin typeface="Tahoma" pitchFamily="34" charset="0"/>
              </a:rPr>
              <a:t>MIN:	   0.25X</a:t>
            </a:r>
            <a:r>
              <a:rPr lang="en-US" sz="3200" baseline="-25000" dirty="0">
                <a:latin typeface="Tahoma" pitchFamily="34" charset="0"/>
              </a:rPr>
              <a:t>1</a:t>
            </a:r>
            <a:r>
              <a:rPr lang="en-US" sz="3200" dirty="0">
                <a:latin typeface="Tahoma" pitchFamily="34" charset="0"/>
              </a:rPr>
              <a:t> + 0.30X</a:t>
            </a:r>
            <a:r>
              <a:rPr lang="en-US" sz="3200" baseline="-25000" dirty="0">
                <a:latin typeface="Tahoma" pitchFamily="34" charset="0"/>
              </a:rPr>
              <a:t>2</a:t>
            </a:r>
            <a:r>
              <a:rPr lang="en-US" sz="3200" dirty="0">
                <a:latin typeface="Tahoma" pitchFamily="34" charset="0"/>
              </a:rPr>
              <a:t> + 0.32X</a:t>
            </a:r>
            <a:r>
              <a:rPr lang="en-US" sz="3200" baseline="-25000" dirty="0">
                <a:latin typeface="Tahoma" pitchFamily="34" charset="0"/>
              </a:rPr>
              <a:t>3</a:t>
            </a:r>
            <a:r>
              <a:rPr lang="en-US" sz="3200" dirty="0">
                <a:latin typeface="Tahoma" pitchFamily="34" charset="0"/>
              </a:rPr>
              <a:t> + 0.15X</a:t>
            </a:r>
            <a:r>
              <a:rPr lang="en-US" sz="3200" baseline="-25000" dirty="0">
                <a:latin typeface="Tahoma" pitchFamily="34" charset="0"/>
              </a:rPr>
              <a:t>4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617538" y="417513"/>
            <a:ext cx="7772400" cy="722312"/>
          </a:xfrm>
          <a:noFill/>
          <a:ln/>
        </p:spPr>
        <p:txBody>
          <a:bodyPr lIns="92075" tIns="46038" rIns="92075" bIns="46038"/>
          <a:lstStyle/>
          <a:p>
            <a:r>
              <a:rPr lang="en-US" i="1">
                <a:solidFill>
                  <a:schemeClr val="hlink"/>
                </a:solidFill>
              </a:rPr>
              <a:t>Defining the Constraints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55738"/>
            <a:ext cx="8077200" cy="4945062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sz="2800" dirty="0"/>
              <a:t>Produce 8,000 pounds of feed</a:t>
            </a:r>
          </a:p>
          <a:p>
            <a:pPr lvl="1" indent="-284163">
              <a:buFontTx/>
              <a:buNone/>
            </a:pPr>
            <a:r>
              <a:rPr lang="en-US" sz="2400" dirty="0"/>
              <a:t>X</a:t>
            </a:r>
            <a:r>
              <a:rPr lang="en-US" sz="2400" baseline="-25000" dirty="0"/>
              <a:t>1</a:t>
            </a:r>
            <a:r>
              <a:rPr lang="en-US" sz="2400" dirty="0"/>
              <a:t> + X</a:t>
            </a:r>
            <a:r>
              <a:rPr lang="en-US" sz="2400" baseline="-25000" dirty="0"/>
              <a:t>2</a:t>
            </a:r>
            <a:r>
              <a:rPr lang="en-US" sz="2400" dirty="0"/>
              <a:t> + X</a:t>
            </a:r>
            <a:r>
              <a:rPr lang="en-US" sz="2400" baseline="-25000" dirty="0"/>
              <a:t>3</a:t>
            </a:r>
            <a:r>
              <a:rPr lang="en-US" sz="2400" dirty="0"/>
              <a:t> + X</a:t>
            </a:r>
            <a:r>
              <a:rPr lang="en-US" sz="2400" baseline="-25000" dirty="0"/>
              <a:t>4</a:t>
            </a:r>
            <a:r>
              <a:rPr lang="en-US" sz="2400" dirty="0"/>
              <a:t> = 8,000</a:t>
            </a:r>
          </a:p>
          <a:p>
            <a:r>
              <a:rPr lang="en-US" sz="2800" dirty="0"/>
              <a:t>Mix consists of  at least 20% corn </a:t>
            </a:r>
            <a:endParaRPr lang="en-US" dirty="0"/>
          </a:p>
          <a:p>
            <a:pPr lvl="1" indent="-284163">
              <a:buFontTx/>
              <a:buNone/>
            </a:pPr>
            <a:r>
              <a:rPr lang="en-US" sz="2400" dirty="0"/>
              <a:t>(0.3X</a:t>
            </a:r>
            <a:r>
              <a:rPr lang="en-US" sz="2400" baseline="-25000" dirty="0"/>
              <a:t>1</a:t>
            </a:r>
            <a:r>
              <a:rPr lang="en-US" sz="2400" dirty="0"/>
              <a:t> + 0.05X</a:t>
            </a:r>
            <a:r>
              <a:rPr lang="en-US" sz="2400" baseline="-25000" dirty="0"/>
              <a:t>2</a:t>
            </a:r>
            <a:r>
              <a:rPr lang="en-US" sz="2400" dirty="0"/>
              <a:t> + 0.2X</a:t>
            </a:r>
            <a:r>
              <a:rPr lang="en-US" sz="2400" baseline="-25000" dirty="0"/>
              <a:t>3</a:t>
            </a:r>
            <a:r>
              <a:rPr lang="en-US" sz="2400" dirty="0"/>
              <a:t> + 0.1X</a:t>
            </a:r>
            <a:r>
              <a:rPr lang="en-US" sz="2400" baseline="-25000" dirty="0"/>
              <a:t>4</a:t>
            </a:r>
            <a:r>
              <a:rPr lang="en-US" sz="2400" dirty="0"/>
              <a:t>)/8000 &gt;= 0.2</a:t>
            </a:r>
          </a:p>
          <a:p>
            <a:r>
              <a:rPr lang="en-US" sz="2800" dirty="0"/>
              <a:t>Mix consists of  at least 15% grain</a:t>
            </a:r>
            <a:endParaRPr lang="en-US" dirty="0"/>
          </a:p>
          <a:p>
            <a:pPr lvl="1" indent="-284163">
              <a:buFontTx/>
              <a:buNone/>
            </a:pPr>
            <a:r>
              <a:rPr lang="en-US" sz="2400" dirty="0"/>
              <a:t>(0.1X</a:t>
            </a:r>
            <a:r>
              <a:rPr lang="en-US" sz="2400" baseline="-25000" dirty="0"/>
              <a:t>1</a:t>
            </a:r>
            <a:r>
              <a:rPr lang="en-US" sz="2400" dirty="0"/>
              <a:t> + 0.3X</a:t>
            </a:r>
            <a:r>
              <a:rPr lang="en-US" sz="2400" baseline="-25000" dirty="0"/>
              <a:t>2</a:t>
            </a:r>
            <a:r>
              <a:rPr lang="en-US" sz="2400" dirty="0"/>
              <a:t> + 0.15X</a:t>
            </a:r>
            <a:r>
              <a:rPr lang="en-US" sz="2400" baseline="-25000" dirty="0"/>
              <a:t>3</a:t>
            </a:r>
            <a:r>
              <a:rPr lang="en-US" sz="2400" dirty="0"/>
              <a:t> + 0.1X</a:t>
            </a:r>
            <a:r>
              <a:rPr lang="en-US" sz="2400" baseline="-25000" dirty="0"/>
              <a:t>4</a:t>
            </a:r>
            <a:r>
              <a:rPr lang="en-US" sz="2400" dirty="0"/>
              <a:t>)/8000 &gt;= 0.15</a:t>
            </a:r>
          </a:p>
          <a:p>
            <a:r>
              <a:rPr lang="en-US" sz="2800" dirty="0"/>
              <a:t>Mix consists of  at least 15% minerals</a:t>
            </a:r>
          </a:p>
          <a:p>
            <a:pPr lvl="1" indent="-284163">
              <a:buFontTx/>
              <a:buNone/>
            </a:pPr>
            <a:r>
              <a:rPr lang="en-US" sz="2400" dirty="0"/>
              <a:t>(0.2X</a:t>
            </a:r>
            <a:r>
              <a:rPr lang="en-US" sz="2400" baseline="-25000" dirty="0"/>
              <a:t>1</a:t>
            </a:r>
            <a:r>
              <a:rPr lang="en-US" sz="2400" dirty="0"/>
              <a:t> + 0.2X</a:t>
            </a:r>
            <a:r>
              <a:rPr lang="en-US" sz="2400" baseline="-25000" dirty="0"/>
              <a:t>2</a:t>
            </a:r>
            <a:r>
              <a:rPr lang="en-US" sz="2400" dirty="0"/>
              <a:t> + 0.2X</a:t>
            </a:r>
            <a:r>
              <a:rPr lang="en-US" sz="2400" baseline="-25000" dirty="0"/>
              <a:t>3</a:t>
            </a:r>
            <a:r>
              <a:rPr lang="en-US" sz="2400" dirty="0"/>
              <a:t> + 0.3X</a:t>
            </a:r>
            <a:r>
              <a:rPr lang="en-US" sz="2400" baseline="-25000" dirty="0"/>
              <a:t>4</a:t>
            </a:r>
            <a:r>
              <a:rPr lang="en-US" sz="2400" dirty="0"/>
              <a:t>)/8000 &gt;= 0.15</a:t>
            </a:r>
          </a:p>
          <a:p>
            <a:r>
              <a:rPr lang="en-US" sz="2800" dirty="0"/>
              <a:t>Nonnegativity conditions</a:t>
            </a:r>
          </a:p>
          <a:p>
            <a:pPr lvl="1" indent="-284163">
              <a:buFontTx/>
              <a:buNone/>
            </a:pPr>
            <a:r>
              <a:rPr lang="en-US" sz="2400" dirty="0"/>
              <a:t>X</a:t>
            </a:r>
            <a:r>
              <a:rPr lang="en-US" sz="2400" baseline="-25000" dirty="0"/>
              <a:t>1</a:t>
            </a:r>
            <a:r>
              <a:rPr lang="en-US" sz="2400" dirty="0"/>
              <a:t>, X</a:t>
            </a:r>
            <a:r>
              <a:rPr lang="en-US" sz="2400" baseline="-25000" dirty="0"/>
              <a:t>2</a:t>
            </a:r>
            <a:r>
              <a:rPr lang="en-US" sz="2400" dirty="0"/>
              <a:t>, X</a:t>
            </a:r>
            <a:r>
              <a:rPr lang="en-US" sz="2400" baseline="-25000" dirty="0"/>
              <a:t>3</a:t>
            </a:r>
            <a:r>
              <a:rPr lang="en-US" sz="2400" dirty="0"/>
              <a:t>, X</a:t>
            </a:r>
            <a:r>
              <a:rPr lang="en-US" sz="2400" baseline="-25000" dirty="0"/>
              <a:t>4 </a:t>
            </a:r>
            <a:r>
              <a:rPr lang="en-US" sz="2400" dirty="0"/>
              <a:t> &gt;= 0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build="p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77825"/>
            <a:ext cx="7772400" cy="522288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A Comment About Scaling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071563"/>
            <a:ext cx="8229600" cy="5557837"/>
          </a:xfrm>
          <a:noFill/>
          <a:ln/>
        </p:spPr>
        <p:txBody>
          <a:bodyPr lIns="92075" tIns="46038" rIns="92075" bIns="46038"/>
          <a:lstStyle/>
          <a:p>
            <a:r>
              <a:rPr lang="en-US" sz="2800" dirty="0"/>
              <a:t>Notice the coefficient for X</a:t>
            </a:r>
            <a:r>
              <a:rPr lang="en-US" sz="2800" baseline="-25000" dirty="0"/>
              <a:t>2</a:t>
            </a:r>
            <a:r>
              <a:rPr lang="en-US" sz="2800" dirty="0"/>
              <a:t> in the ‘corn’ constraint is 0.05/8000 = 0.00000625</a:t>
            </a:r>
          </a:p>
          <a:p>
            <a:r>
              <a:rPr lang="en-US" sz="2800" dirty="0"/>
              <a:t>As Solver runs, intermediate calculations are made that make coefficients larger or smaller.</a:t>
            </a:r>
          </a:p>
          <a:p>
            <a:r>
              <a:rPr lang="en-US" sz="2800" dirty="0"/>
              <a:t>Storage problems may force the computer to use approximations of the actual numbers.</a:t>
            </a:r>
          </a:p>
          <a:p>
            <a:r>
              <a:rPr lang="en-US" sz="2800" dirty="0"/>
              <a:t>Such ‘scaling’ problems sometimes prevents Solver from being able to solve the problem accurately.</a:t>
            </a:r>
          </a:p>
          <a:p>
            <a:r>
              <a:rPr lang="en-US" sz="2800" dirty="0"/>
              <a:t>Most problems can be formulated in a way to minimize scaling errors...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i="1">
                <a:solidFill>
                  <a:schemeClr val="hlink"/>
                </a:solidFill>
              </a:rPr>
              <a:t>Re-Defining the Decision Variables</a:t>
            </a:r>
          </a:p>
        </p:txBody>
      </p:sp>
      <p:sp>
        <p:nvSpPr>
          <p:cNvPr id="44035" name="Rectangle 3"/>
          <p:cNvSpPr>
            <a:spLocks noChangeArrowheads="1"/>
          </p:cNvSpPr>
          <p:nvPr/>
        </p:nvSpPr>
        <p:spPr bwMode="auto">
          <a:xfrm>
            <a:off x="533400" y="1524000"/>
            <a:ext cx="8001000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en-US" sz="2400" dirty="0">
                <a:latin typeface="Tahoma" pitchFamily="34" charset="0"/>
              </a:rPr>
              <a:t>X</a:t>
            </a:r>
            <a:r>
              <a:rPr lang="en-US" sz="2400" baseline="-25000" dirty="0">
                <a:latin typeface="Tahoma" pitchFamily="34" charset="0"/>
              </a:rPr>
              <a:t>1</a:t>
            </a:r>
            <a:r>
              <a:rPr lang="en-US" sz="2400" dirty="0">
                <a:latin typeface="Tahoma" pitchFamily="34" charset="0"/>
              </a:rPr>
              <a:t> = </a:t>
            </a:r>
            <a:r>
              <a:rPr lang="en-US" sz="2400" b="1" i="1" dirty="0">
                <a:latin typeface="Tahoma" pitchFamily="34" charset="0"/>
              </a:rPr>
              <a:t>thousands of pounds</a:t>
            </a:r>
            <a:r>
              <a:rPr lang="en-US" sz="2400" dirty="0">
                <a:latin typeface="Tahoma" pitchFamily="34" charset="0"/>
              </a:rPr>
              <a:t> of feed 1 to use in the mix</a:t>
            </a:r>
          </a:p>
          <a:p>
            <a:pPr eaLnBrk="0" hangingPunct="0">
              <a:lnSpc>
                <a:spcPct val="150000"/>
              </a:lnSpc>
            </a:pPr>
            <a:r>
              <a:rPr lang="en-US" sz="2400" dirty="0">
                <a:latin typeface="Tahoma" pitchFamily="34" charset="0"/>
              </a:rPr>
              <a:t>X</a:t>
            </a:r>
            <a:r>
              <a:rPr lang="en-US" sz="2400" baseline="-25000" dirty="0">
                <a:latin typeface="Tahoma" pitchFamily="34" charset="0"/>
              </a:rPr>
              <a:t>2</a:t>
            </a:r>
            <a:r>
              <a:rPr lang="en-US" sz="2400" dirty="0">
                <a:latin typeface="Tahoma" pitchFamily="34" charset="0"/>
              </a:rPr>
              <a:t> = </a:t>
            </a:r>
            <a:r>
              <a:rPr lang="en-US" sz="2400" b="1" i="1" dirty="0">
                <a:latin typeface="Tahoma" pitchFamily="34" charset="0"/>
              </a:rPr>
              <a:t>thousands of pounds</a:t>
            </a:r>
            <a:r>
              <a:rPr lang="en-US" sz="2400" dirty="0">
                <a:latin typeface="Tahoma" pitchFamily="34" charset="0"/>
              </a:rPr>
              <a:t> of feed 2 to use in the mix</a:t>
            </a:r>
          </a:p>
          <a:p>
            <a:pPr eaLnBrk="0" hangingPunct="0">
              <a:lnSpc>
                <a:spcPct val="150000"/>
              </a:lnSpc>
            </a:pPr>
            <a:r>
              <a:rPr lang="en-US" sz="2400" dirty="0">
                <a:latin typeface="Tahoma" pitchFamily="34" charset="0"/>
              </a:rPr>
              <a:t>X</a:t>
            </a:r>
            <a:r>
              <a:rPr lang="en-US" sz="2400" baseline="-25000" dirty="0">
                <a:latin typeface="Tahoma" pitchFamily="34" charset="0"/>
              </a:rPr>
              <a:t>3</a:t>
            </a:r>
            <a:r>
              <a:rPr lang="en-US" sz="2400" dirty="0">
                <a:latin typeface="Tahoma" pitchFamily="34" charset="0"/>
              </a:rPr>
              <a:t> = </a:t>
            </a:r>
            <a:r>
              <a:rPr lang="en-US" sz="2400" b="1" i="1" dirty="0">
                <a:latin typeface="Tahoma" pitchFamily="34" charset="0"/>
              </a:rPr>
              <a:t>thousands of pounds</a:t>
            </a:r>
            <a:r>
              <a:rPr lang="en-US" sz="2400" dirty="0">
                <a:latin typeface="Tahoma" pitchFamily="34" charset="0"/>
              </a:rPr>
              <a:t> of feed 3 to use in the mix</a:t>
            </a:r>
          </a:p>
          <a:p>
            <a:pPr eaLnBrk="0" hangingPunct="0">
              <a:lnSpc>
                <a:spcPct val="150000"/>
              </a:lnSpc>
            </a:pPr>
            <a:r>
              <a:rPr lang="en-US" sz="2400" dirty="0">
                <a:latin typeface="Tahoma" pitchFamily="34" charset="0"/>
              </a:rPr>
              <a:t>X</a:t>
            </a:r>
            <a:r>
              <a:rPr lang="en-US" sz="2400" baseline="-25000" dirty="0">
                <a:latin typeface="Tahoma" pitchFamily="34" charset="0"/>
              </a:rPr>
              <a:t>4</a:t>
            </a:r>
            <a:r>
              <a:rPr lang="en-US" sz="2400" dirty="0">
                <a:latin typeface="Tahoma" pitchFamily="34" charset="0"/>
              </a:rPr>
              <a:t> = </a:t>
            </a:r>
            <a:r>
              <a:rPr lang="en-US" sz="2400" b="1" i="1" dirty="0">
                <a:latin typeface="Tahoma" pitchFamily="34" charset="0"/>
              </a:rPr>
              <a:t>thousands of pounds</a:t>
            </a:r>
            <a:r>
              <a:rPr lang="en-US" sz="2400" dirty="0">
                <a:latin typeface="Tahoma" pitchFamily="34" charset="0"/>
              </a:rPr>
              <a:t> of feed 4 to use in the mix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i="1">
                <a:solidFill>
                  <a:schemeClr val="hlink"/>
                </a:solidFill>
              </a:rPr>
              <a:t>Re-Defining the </a:t>
            </a:r>
            <a:br>
              <a:rPr lang="en-US" i="1">
                <a:solidFill>
                  <a:schemeClr val="hlink"/>
                </a:solidFill>
              </a:rPr>
            </a:br>
            <a:r>
              <a:rPr lang="en-US" i="1">
                <a:solidFill>
                  <a:schemeClr val="hlink"/>
                </a:solidFill>
              </a:rPr>
              <a:t>Objective Function</a:t>
            </a:r>
          </a:p>
        </p:txBody>
      </p:sp>
      <p:sp>
        <p:nvSpPr>
          <p:cNvPr id="45059" name="Rectangle 3"/>
          <p:cNvSpPr>
            <a:spLocks noChangeArrowheads="1"/>
          </p:cNvSpPr>
          <p:nvPr/>
        </p:nvSpPr>
        <p:spPr bwMode="auto">
          <a:xfrm>
            <a:off x="354013" y="1728788"/>
            <a:ext cx="7977187" cy="160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919163" indent="-919163" algn="ctr" eaLnBrk="0" hangingPunct="0">
              <a:lnSpc>
                <a:spcPct val="130000"/>
              </a:lnSpc>
              <a:spcBef>
                <a:spcPct val="50000"/>
              </a:spcBef>
              <a:tabLst>
                <a:tab pos="1836738" algn="l"/>
              </a:tabLst>
            </a:pPr>
            <a:r>
              <a:rPr lang="en-US" sz="3200" dirty="0">
                <a:latin typeface="Tahoma" pitchFamily="34" charset="0"/>
              </a:rPr>
              <a:t>Minimize the total cost of filling the order.</a:t>
            </a:r>
            <a:endParaRPr lang="en-US" sz="2800" dirty="0">
              <a:latin typeface="Tahoma" pitchFamily="34" charset="0"/>
            </a:endParaRPr>
          </a:p>
          <a:p>
            <a:pPr marL="919163" indent="-919163" algn="ctr" eaLnBrk="0" hangingPunct="0">
              <a:lnSpc>
                <a:spcPct val="130000"/>
              </a:lnSpc>
              <a:spcBef>
                <a:spcPct val="50000"/>
              </a:spcBef>
              <a:tabLst>
                <a:tab pos="1836738" algn="l"/>
              </a:tabLst>
            </a:pPr>
            <a:r>
              <a:rPr lang="en-US" sz="3200" dirty="0">
                <a:latin typeface="Tahoma" pitchFamily="34" charset="0"/>
              </a:rPr>
              <a:t>MIN:	   250X</a:t>
            </a:r>
            <a:r>
              <a:rPr lang="en-US" sz="3200" baseline="-25000" dirty="0">
                <a:latin typeface="Tahoma" pitchFamily="34" charset="0"/>
              </a:rPr>
              <a:t>1</a:t>
            </a:r>
            <a:r>
              <a:rPr lang="en-US" sz="3200" dirty="0">
                <a:latin typeface="Tahoma" pitchFamily="34" charset="0"/>
              </a:rPr>
              <a:t> + 300X</a:t>
            </a:r>
            <a:r>
              <a:rPr lang="en-US" sz="3200" baseline="-25000" dirty="0">
                <a:latin typeface="Tahoma" pitchFamily="34" charset="0"/>
              </a:rPr>
              <a:t>2</a:t>
            </a:r>
            <a:r>
              <a:rPr lang="en-US" sz="3200" dirty="0">
                <a:latin typeface="Tahoma" pitchFamily="34" charset="0"/>
              </a:rPr>
              <a:t> + 320X</a:t>
            </a:r>
            <a:r>
              <a:rPr lang="en-US" sz="3200" baseline="-25000" dirty="0">
                <a:latin typeface="Tahoma" pitchFamily="34" charset="0"/>
              </a:rPr>
              <a:t>3</a:t>
            </a:r>
            <a:r>
              <a:rPr lang="en-US" sz="3200" dirty="0">
                <a:latin typeface="Tahoma" pitchFamily="34" charset="0"/>
              </a:rPr>
              <a:t> + 150X</a:t>
            </a:r>
            <a:r>
              <a:rPr lang="en-US" sz="3200" baseline="-25000" dirty="0">
                <a:latin typeface="Tahoma" pitchFamily="34" charset="0"/>
              </a:rPr>
              <a:t>4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606425"/>
            <a:ext cx="7772400" cy="722313"/>
          </a:xfrm>
          <a:noFill/>
          <a:ln/>
        </p:spPr>
        <p:txBody>
          <a:bodyPr lIns="92075" tIns="46038" rIns="92075" bIns="46038"/>
          <a:lstStyle/>
          <a:p>
            <a:r>
              <a:rPr lang="en-US" i="1">
                <a:solidFill>
                  <a:schemeClr val="hlink"/>
                </a:solidFill>
              </a:rPr>
              <a:t>Re-Defining the Constraints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6927850" cy="4945063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sz="2800" dirty="0"/>
              <a:t>Produce 8,000 pounds of feed</a:t>
            </a:r>
          </a:p>
          <a:p>
            <a:pPr lvl="1" indent="-284163">
              <a:buFontTx/>
              <a:buNone/>
            </a:pPr>
            <a:r>
              <a:rPr lang="en-US" sz="2400" dirty="0"/>
              <a:t>X</a:t>
            </a:r>
            <a:r>
              <a:rPr lang="en-US" sz="2400" baseline="-25000" dirty="0"/>
              <a:t>1</a:t>
            </a:r>
            <a:r>
              <a:rPr lang="en-US" sz="2400" dirty="0"/>
              <a:t> + X</a:t>
            </a:r>
            <a:r>
              <a:rPr lang="en-US" sz="2400" baseline="-25000" dirty="0"/>
              <a:t>2</a:t>
            </a:r>
            <a:r>
              <a:rPr lang="en-US" sz="2400" dirty="0"/>
              <a:t> + X</a:t>
            </a:r>
            <a:r>
              <a:rPr lang="en-US" sz="2400" baseline="-25000" dirty="0"/>
              <a:t>3</a:t>
            </a:r>
            <a:r>
              <a:rPr lang="en-US" sz="2400" dirty="0"/>
              <a:t> + X</a:t>
            </a:r>
            <a:r>
              <a:rPr lang="en-US" sz="2400" baseline="-25000" dirty="0"/>
              <a:t>4</a:t>
            </a:r>
            <a:r>
              <a:rPr lang="en-US" sz="2400" dirty="0"/>
              <a:t> = 8</a:t>
            </a:r>
          </a:p>
          <a:p>
            <a:r>
              <a:rPr lang="en-US" sz="2800" dirty="0"/>
              <a:t>Mix consists of  at least 20% corn </a:t>
            </a:r>
            <a:endParaRPr lang="en-US" dirty="0"/>
          </a:p>
          <a:p>
            <a:pPr lvl="1" indent="-284163">
              <a:buFontTx/>
              <a:buNone/>
            </a:pPr>
            <a:r>
              <a:rPr lang="en-US" sz="2400" dirty="0"/>
              <a:t>(0.3X</a:t>
            </a:r>
            <a:r>
              <a:rPr lang="en-US" sz="2400" baseline="-25000" dirty="0"/>
              <a:t>1</a:t>
            </a:r>
            <a:r>
              <a:rPr lang="en-US" sz="2400" dirty="0"/>
              <a:t> + 0.05X</a:t>
            </a:r>
            <a:r>
              <a:rPr lang="en-US" sz="2400" baseline="-25000" dirty="0"/>
              <a:t>2</a:t>
            </a:r>
            <a:r>
              <a:rPr lang="en-US" sz="2400" dirty="0"/>
              <a:t> + 0.2X</a:t>
            </a:r>
            <a:r>
              <a:rPr lang="en-US" sz="2400" baseline="-25000" dirty="0"/>
              <a:t>3</a:t>
            </a:r>
            <a:r>
              <a:rPr lang="en-US" sz="2400" dirty="0"/>
              <a:t> + 0.1X</a:t>
            </a:r>
            <a:r>
              <a:rPr lang="en-US" sz="2400" baseline="-25000" dirty="0"/>
              <a:t>4</a:t>
            </a:r>
            <a:r>
              <a:rPr lang="en-US" sz="2400" dirty="0"/>
              <a:t>)/8 &gt;= 0.2</a:t>
            </a:r>
          </a:p>
          <a:p>
            <a:r>
              <a:rPr lang="en-US" sz="2800" dirty="0"/>
              <a:t>Mix consists of  at least 15% grain</a:t>
            </a:r>
            <a:endParaRPr lang="en-US" dirty="0"/>
          </a:p>
          <a:p>
            <a:pPr lvl="1" indent="-284163">
              <a:buFontTx/>
              <a:buNone/>
            </a:pPr>
            <a:r>
              <a:rPr lang="en-US" sz="2400" dirty="0"/>
              <a:t>(0.1X</a:t>
            </a:r>
            <a:r>
              <a:rPr lang="en-US" sz="2400" baseline="-25000" dirty="0"/>
              <a:t>1</a:t>
            </a:r>
            <a:r>
              <a:rPr lang="en-US" sz="2400" dirty="0"/>
              <a:t> + 0.3X</a:t>
            </a:r>
            <a:r>
              <a:rPr lang="en-US" sz="2400" baseline="-25000" dirty="0"/>
              <a:t>2</a:t>
            </a:r>
            <a:r>
              <a:rPr lang="en-US" sz="2400" dirty="0"/>
              <a:t> + 0.15X</a:t>
            </a:r>
            <a:r>
              <a:rPr lang="en-US" sz="2400" baseline="-25000" dirty="0"/>
              <a:t>3</a:t>
            </a:r>
            <a:r>
              <a:rPr lang="en-US" sz="2400" dirty="0"/>
              <a:t> + 0.1X</a:t>
            </a:r>
            <a:r>
              <a:rPr lang="en-US" sz="2400" baseline="-25000" dirty="0"/>
              <a:t>4</a:t>
            </a:r>
            <a:r>
              <a:rPr lang="en-US" sz="2400" dirty="0"/>
              <a:t>)/8 &gt;= 0.15</a:t>
            </a:r>
          </a:p>
          <a:p>
            <a:r>
              <a:rPr lang="en-US" sz="2800" dirty="0"/>
              <a:t>Mix consists of  at least 15% minerals</a:t>
            </a:r>
          </a:p>
          <a:p>
            <a:pPr lvl="1" indent="-284163">
              <a:buFontTx/>
              <a:buNone/>
            </a:pPr>
            <a:r>
              <a:rPr lang="en-US" sz="2400" dirty="0"/>
              <a:t>(0.2X</a:t>
            </a:r>
            <a:r>
              <a:rPr lang="en-US" sz="2400" baseline="-25000" dirty="0"/>
              <a:t>1</a:t>
            </a:r>
            <a:r>
              <a:rPr lang="en-US" sz="2400" dirty="0"/>
              <a:t> + 0.2X</a:t>
            </a:r>
            <a:r>
              <a:rPr lang="en-US" sz="2400" baseline="-25000" dirty="0"/>
              <a:t>2</a:t>
            </a:r>
            <a:r>
              <a:rPr lang="en-US" sz="2400" dirty="0"/>
              <a:t> + 0.2X</a:t>
            </a:r>
            <a:r>
              <a:rPr lang="en-US" sz="2400" baseline="-25000" dirty="0"/>
              <a:t>3</a:t>
            </a:r>
            <a:r>
              <a:rPr lang="en-US" sz="2400" dirty="0"/>
              <a:t> + 0.3X</a:t>
            </a:r>
            <a:r>
              <a:rPr lang="en-US" sz="2400" baseline="-25000" dirty="0"/>
              <a:t>4</a:t>
            </a:r>
            <a:r>
              <a:rPr lang="en-US" sz="2400" dirty="0"/>
              <a:t>)/8 &gt;= 0.15</a:t>
            </a:r>
          </a:p>
          <a:p>
            <a:r>
              <a:rPr lang="en-US" sz="2800" dirty="0"/>
              <a:t>Nonnegativity conditions</a:t>
            </a:r>
          </a:p>
          <a:p>
            <a:pPr lvl="1" indent="-284163">
              <a:buFontTx/>
              <a:buNone/>
            </a:pPr>
            <a:r>
              <a:rPr lang="en-US" sz="2400" dirty="0"/>
              <a:t>X</a:t>
            </a:r>
            <a:r>
              <a:rPr lang="en-US" sz="2400" baseline="-25000" dirty="0"/>
              <a:t>1</a:t>
            </a:r>
            <a:r>
              <a:rPr lang="en-US" sz="2400" dirty="0"/>
              <a:t>, X</a:t>
            </a:r>
            <a:r>
              <a:rPr lang="en-US" sz="2400" baseline="-25000" dirty="0"/>
              <a:t>2</a:t>
            </a:r>
            <a:r>
              <a:rPr lang="en-US" sz="2400" dirty="0"/>
              <a:t>, X</a:t>
            </a:r>
            <a:r>
              <a:rPr lang="en-US" sz="2400" baseline="-25000" dirty="0"/>
              <a:t>3</a:t>
            </a:r>
            <a:r>
              <a:rPr lang="en-US" sz="2400" dirty="0"/>
              <a:t>, X</a:t>
            </a:r>
            <a:r>
              <a:rPr lang="en-US" sz="2400" baseline="-25000" dirty="0"/>
              <a:t>4 </a:t>
            </a:r>
            <a:r>
              <a:rPr lang="en-US" sz="2400" dirty="0"/>
              <a:t> &gt;= 0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build="p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250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Scaling: Before and After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19200"/>
            <a:ext cx="8153400" cy="4876800"/>
          </a:xfrm>
          <a:noFill/>
          <a:ln/>
        </p:spPr>
        <p:txBody>
          <a:bodyPr lIns="92075" tIns="46038" rIns="92075" bIns="46038"/>
          <a:lstStyle/>
          <a:p>
            <a:r>
              <a:rPr lang="en-US" dirty="0"/>
              <a:t>Before:</a:t>
            </a:r>
          </a:p>
          <a:p>
            <a:pPr lvl="1"/>
            <a:r>
              <a:rPr lang="en-US" dirty="0"/>
              <a:t>Largest constraint coefficient was 8,000</a:t>
            </a:r>
          </a:p>
          <a:p>
            <a:pPr lvl="1"/>
            <a:r>
              <a:rPr lang="en-US" dirty="0"/>
              <a:t>Smallest constraint coefficient was </a:t>
            </a:r>
          </a:p>
          <a:p>
            <a:pPr lvl="1">
              <a:buFontTx/>
              <a:buNone/>
            </a:pPr>
            <a:r>
              <a:rPr lang="en-US" dirty="0"/>
              <a:t>    0.05/8 = 0.00000625.</a:t>
            </a:r>
          </a:p>
          <a:p>
            <a:r>
              <a:rPr lang="en-US" dirty="0"/>
              <a:t>After: </a:t>
            </a:r>
          </a:p>
          <a:p>
            <a:pPr lvl="1"/>
            <a:r>
              <a:rPr lang="en-US" dirty="0"/>
              <a:t>Largest constraint coefficient is 8</a:t>
            </a:r>
          </a:p>
          <a:p>
            <a:pPr lvl="1"/>
            <a:r>
              <a:rPr lang="en-US" dirty="0"/>
              <a:t>Smallest constraint coefficient is </a:t>
            </a:r>
          </a:p>
          <a:p>
            <a:pPr lvl="1">
              <a:buFontTx/>
              <a:buNone/>
            </a:pPr>
            <a:r>
              <a:rPr lang="en-US" dirty="0"/>
              <a:t>	0.05/8 = 0.00625.</a:t>
            </a:r>
          </a:p>
          <a:p>
            <a:r>
              <a:rPr lang="en-US" dirty="0"/>
              <a:t>The problem is now more evenly scaled!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build="p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i="1">
                <a:solidFill>
                  <a:schemeClr val="hlink"/>
                </a:solidFill>
              </a:rPr>
              <a:t>Implementing the Model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868363"/>
          </a:xfrm>
          <a:noFill/>
          <a:ln/>
        </p:spPr>
        <p:txBody>
          <a:bodyPr lIns="92075" tIns="46038" rIns="92075" bIns="46038"/>
          <a:lstStyle/>
          <a:p>
            <a:pPr algn="ctr">
              <a:buFont typeface="Wingdings" pitchFamily="2" charset="2"/>
              <a:buNone/>
            </a:pPr>
            <a:r>
              <a:rPr lang="en-US" dirty="0"/>
              <a:t>See file </a:t>
            </a:r>
            <a:r>
              <a:rPr lang="en-US" dirty="0">
                <a:hlinkClick r:id="rId3" action="ppaction://hlinkfile"/>
              </a:rPr>
              <a:t>Fig3-30.xlsm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185738"/>
            <a:ext cx="7772400" cy="1109662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80000"/>
              </a:lnSpc>
            </a:pPr>
            <a:r>
              <a:rPr lang="en-US" sz="4000" i="1" dirty="0">
                <a:solidFill>
                  <a:schemeClr val="hlink"/>
                </a:solidFill>
              </a:rPr>
              <a:t>A Production Planning Problem:</a:t>
            </a:r>
            <a:br>
              <a:rPr lang="en-US" sz="4000" i="1" dirty="0">
                <a:solidFill>
                  <a:schemeClr val="hlink"/>
                </a:solidFill>
              </a:rPr>
            </a:br>
            <a:r>
              <a:rPr lang="en-US" sz="4000" i="1" dirty="0">
                <a:solidFill>
                  <a:schemeClr val="hlink"/>
                </a:solidFill>
              </a:rPr>
              <a:t>The Upton Corporation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3213" y="1384300"/>
            <a:ext cx="8758237" cy="901700"/>
          </a:xfrm>
          <a:noFill/>
          <a:ln/>
        </p:spPr>
        <p:txBody>
          <a:bodyPr lIns="92075" tIns="46038" rIns="92075" bIns="46038"/>
          <a:lstStyle/>
          <a:p>
            <a:r>
              <a:rPr lang="en-US" sz="2400" dirty="0"/>
              <a:t>Upton is planning the production of their heavy-duty air compressors for the next 6 months.</a:t>
            </a:r>
          </a:p>
        </p:txBody>
      </p:sp>
      <p:sp>
        <p:nvSpPr>
          <p:cNvPr id="51208" name="Rectangle 8"/>
          <p:cNvSpPr>
            <a:spLocks noChangeArrowheads="1"/>
          </p:cNvSpPr>
          <p:nvPr/>
        </p:nvSpPr>
        <p:spPr bwMode="auto">
          <a:xfrm>
            <a:off x="330200" y="4468812"/>
            <a:ext cx="7899400" cy="185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2400" dirty="0">
                <a:latin typeface="Tahoma" pitchFamily="34" charset="0"/>
              </a:rPr>
              <a:t>Beginning inventory = 2,750 units </a:t>
            </a: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2400" dirty="0">
                <a:latin typeface="Tahoma" pitchFamily="34" charset="0"/>
              </a:rPr>
              <a:t>Safety stock = 1,500 units</a:t>
            </a: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2400" dirty="0">
                <a:latin typeface="Tahoma" pitchFamily="34" charset="0"/>
              </a:rPr>
              <a:t>Unit carrying cost = 1.5% of unit production cost</a:t>
            </a: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2400" dirty="0">
                <a:latin typeface="Tahoma" pitchFamily="34" charset="0"/>
              </a:rPr>
              <a:t>Maximum warehouse capacity = 6,000 units</a:t>
            </a:r>
          </a:p>
        </p:txBody>
      </p:sp>
      <p:grpSp>
        <p:nvGrpSpPr>
          <p:cNvPr id="51211" name="Group 11"/>
          <p:cNvGrpSpPr>
            <a:grpSpLocks/>
          </p:cNvGrpSpPr>
          <p:nvPr/>
        </p:nvGrpSpPr>
        <p:grpSpPr bwMode="auto">
          <a:xfrm>
            <a:off x="381000" y="1981200"/>
            <a:ext cx="8753475" cy="2378075"/>
            <a:chOff x="240" y="1430"/>
            <a:chExt cx="5514" cy="1498"/>
          </a:xfrm>
        </p:grpSpPr>
        <p:sp>
          <p:nvSpPr>
            <p:cNvPr id="51204" name="Rectangle 4"/>
            <p:cNvSpPr>
              <a:spLocks noChangeArrowheads="1"/>
            </p:cNvSpPr>
            <p:nvPr/>
          </p:nvSpPr>
          <p:spPr bwMode="auto">
            <a:xfrm>
              <a:off x="240" y="1583"/>
              <a:ext cx="5514" cy="13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50000"/>
                </a:spcBef>
                <a:tabLst>
                  <a:tab pos="3141663" algn="ctr"/>
                  <a:tab pos="4110038" algn="ctr"/>
                  <a:tab pos="5029200" algn="ctr"/>
                  <a:tab pos="5999163" algn="ctr"/>
                  <a:tab pos="6851650" algn="ctr"/>
                  <a:tab pos="7837488" algn="ctr"/>
                </a:tabLst>
              </a:pPr>
              <a:r>
                <a:rPr lang="en-US" sz="2000" dirty="0">
                  <a:latin typeface="Tahoma" pitchFamily="34" charset="0"/>
                </a:rPr>
                <a:t>	1	2 	 3	4	5	6</a:t>
              </a:r>
            </a:p>
            <a:p>
              <a:pPr eaLnBrk="0" hangingPunct="0">
                <a:lnSpc>
                  <a:spcPct val="90000"/>
                </a:lnSpc>
                <a:spcBef>
                  <a:spcPct val="50000"/>
                </a:spcBef>
                <a:tabLst>
                  <a:tab pos="3141663" algn="ctr"/>
                  <a:tab pos="4110038" algn="ctr"/>
                  <a:tab pos="5029200" algn="ctr"/>
                  <a:tab pos="5999163" algn="ctr"/>
                  <a:tab pos="6851650" algn="ctr"/>
                  <a:tab pos="7837488" algn="ctr"/>
                </a:tabLst>
              </a:pPr>
              <a:r>
                <a:rPr lang="en-US" sz="2000" dirty="0">
                  <a:latin typeface="Tahoma" pitchFamily="34" charset="0"/>
                </a:rPr>
                <a:t>Unit Production Cost	$240	$250	$265	$285	$280	$260</a:t>
              </a:r>
            </a:p>
            <a:p>
              <a:pPr eaLnBrk="0" hangingPunct="0">
                <a:lnSpc>
                  <a:spcPct val="90000"/>
                </a:lnSpc>
                <a:spcBef>
                  <a:spcPct val="50000"/>
                </a:spcBef>
                <a:tabLst>
                  <a:tab pos="3141663" algn="ctr"/>
                  <a:tab pos="4110038" algn="ctr"/>
                  <a:tab pos="5029200" algn="ctr"/>
                  <a:tab pos="5999163" algn="ctr"/>
                  <a:tab pos="6851650" algn="ctr"/>
                  <a:tab pos="7837488" algn="ctr"/>
                </a:tabLst>
              </a:pPr>
              <a:r>
                <a:rPr lang="en-US" sz="2000" dirty="0">
                  <a:latin typeface="Tahoma" pitchFamily="34" charset="0"/>
                </a:rPr>
                <a:t>Units Demanded	1,000	4,500	6,000	5,500	3,500	4,000</a:t>
              </a:r>
            </a:p>
            <a:p>
              <a:pPr eaLnBrk="0" hangingPunct="0">
                <a:lnSpc>
                  <a:spcPct val="90000"/>
                </a:lnSpc>
                <a:spcBef>
                  <a:spcPct val="50000"/>
                </a:spcBef>
                <a:tabLst>
                  <a:tab pos="3141663" algn="ctr"/>
                  <a:tab pos="4110038" algn="ctr"/>
                  <a:tab pos="5029200" algn="ctr"/>
                  <a:tab pos="5999163" algn="ctr"/>
                  <a:tab pos="6851650" algn="ctr"/>
                  <a:tab pos="7837488" algn="ctr"/>
                </a:tabLst>
              </a:pPr>
              <a:r>
                <a:rPr lang="en-US" sz="2000" dirty="0">
                  <a:latin typeface="Tahoma" pitchFamily="34" charset="0"/>
                </a:rPr>
                <a:t>Maximum Production	4,000	3,500	4,000	4,500	4,000	3,500</a:t>
              </a:r>
            </a:p>
            <a:p>
              <a:pPr eaLnBrk="0" hangingPunct="0">
                <a:lnSpc>
                  <a:spcPct val="90000"/>
                </a:lnSpc>
                <a:spcBef>
                  <a:spcPct val="50000"/>
                </a:spcBef>
                <a:tabLst>
                  <a:tab pos="3141663" algn="ctr"/>
                  <a:tab pos="4110038" algn="ctr"/>
                  <a:tab pos="5029200" algn="ctr"/>
                  <a:tab pos="5999163" algn="ctr"/>
                  <a:tab pos="6851650" algn="ctr"/>
                  <a:tab pos="7837488" algn="ctr"/>
                </a:tabLst>
              </a:pPr>
              <a:r>
                <a:rPr lang="en-US" sz="2000" dirty="0">
                  <a:latin typeface="Tahoma" pitchFamily="34" charset="0"/>
                </a:rPr>
                <a:t>Minimum Production	2,000	1,750	2,000	2,250	2,000	1,750</a:t>
              </a:r>
            </a:p>
          </p:txBody>
        </p:sp>
        <p:sp>
          <p:nvSpPr>
            <p:cNvPr id="51206" name="Rectangle 6"/>
            <p:cNvSpPr>
              <a:spLocks noChangeArrowheads="1"/>
            </p:cNvSpPr>
            <p:nvPr/>
          </p:nvSpPr>
          <p:spPr bwMode="auto">
            <a:xfrm>
              <a:off x="522" y="1430"/>
              <a:ext cx="503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  <a:tabLst>
                  <a:tab pos="5080000" algn="ctr"/>
                </a:tabLst>
              </a:pPr>
              <a:r>
                <a:rPr lang="en-US" sz="2000" b="1" dirty="0"/>
                <a:t>	</a:t>
              </a:r>
              <a:r>
                <a:rPr lang="en-US" sz="2000" dirty="0"/>
                <a:t>Month</a:t>
              </a:r>
            </a:p>
          </p:txBody>
        </p:sp>
        <p:sp>
          <p:nvSpPr>
            <p:cNvPr id="51209" name="Line 9"/>
            <p:cNvSpPr>
              <a:spLocks noChangeShapeType="1"/>
            </p:cNvSpPr>
            <p:nvPr/>
          </p:nvSpPr>
          <p:spPr bwMode="auto">
            <a:xfrm>
              <a:off x="288" y="2928"/>
              <a:ext cx="51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1210" name="Line 10"/>
            <p:cNvSpPr>
              <a:spLocks noChangeShapeType="1"/>
            </p:cNvSpPr>
            <p:nvPr/>
          </p:nvSpPr>
          <p:spPr bwMode="auto">
            <a:xfrm>
              <a:off x="288" y="1872"/>
              <a:ext cx="51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24200" y="6381750"/>
            <a:ext cx="2895600" cy="476250"/>
          </a:xfr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08037"/>
          </a:xfrm>
          <a:noFill/>
          <a:ln/>
        </p:spPr>
        <p:txBody>
          <a:bodyPr lIns="92075" tIns="46038" rIns="92075" bIns="46038"/>
          <a:lstStyle/>
          <a:p>
            <a:r>
              <a:rPr lang="en-US" i="1">
                <a:solidFill>
                  <a:schemeClr val="hlink"/>
                </a:solidFill>
              </a:rPr>
              <a:t>Defining the Decision Variables</a:t>
            </a:r>
          </a:p>
        </p:txBody>
      </p:sp>
      <p:sp>
        <p:nvSpPr>
          <p:cNvPr id="52227" name="Rectangle 3"/>
          <p:cNvSpPr>
            <a:spLocks noChangeArrowheads="1"/>
          </p:cNvSpPr>
          <p:nvPr/>
        </p:nvSpPr>
        <p:spPr bwMode="auto">
          <a:xfrm>
            <a:off x="304800" y="1524000"/>
            <a:ext cx="8839200" cy="1928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752475" indent="-752475" eaLnBrk="0" hangingPunct="0">
              <a:lnSpc>
                <a:spcPct val="110000"/>
              </a:lnSpc>
            </a:pPr>
            <a:r>
              <a:rPr lang="en-US" sz="2800" dirty="0">
                <a:latin typeface="Tahoma" pitchFamily="34" charset="0"/>
              </a:rPr>
              <a:t>P</a:t>
            </a:r>
            <a:r>
              <a:rPr lang="en-US" sz="2800" i="1" baseline="-25000" dirty="0">
                <a:latin typeface="Times New Roman" pitchFamily="18" charset="0"/>
              </a:rPr>
              <a:t>i</a:t>
            </a:r>
            <a:r>
              <a:rPr lang="en-US" sz="2800" dirty="0">
                <a:latin typeface="Tahoma" pitchFamily="34" charset="0"/>
              </a:rPr>
              <a:t> = number of units to produce in month </a:t>
            </a:r>
            <a:r>
              <a:rPr lang="en-US" sz="2800" i="1" dirty="0">
                <a:latin typeface="Times New Roman" pitchFamily="18" charset="0"/>
              </a:rPr>
              <a:t>i,</a:t>
            </a:r>
            <a:r>
              <a:rPr lang="en-US" sz="2800" i="1" dirty="0">
                <a:latin typeface="Tahoma" pitchFamily="34" charset="0"/>
              </a:rPr>
              <a:t> </a:t>
            </a:r>
            <a:r>
              <a:rPr lang="en-US" sz="2800" i="1" dirty="0">
                <a:latin typeface="Times New Roman" pitchFamily="18" charset="0"/>
              </a:rPr>
              <a:t>i</a:t>
            </a:r>
            <a:r>
              <a:rPr lang="en-US" sz="2800" dirty="0">
                <a:latin typeface="Tahoma" pitchFamily="34" charset="0"/>
              </a:rPr>
              <a:t>=1 to 6</a:t>
            </a:r>
          </a:p>
          <a:p>
            <a:pPr marL="752475" indent="-752475" eaLnBrk="0" hangingPunct="0">
              <a:lnSpc>
                <a:spcPct val="110000"/>
              </a:lnSpc>
            </a:pPr>
            <a:endParaRPr lang="en-US" sz="2800" i="1" dirty="0">
              <a:latin typeface="Tahoma" pitchFamily="34" charset="0"/>
            </a:endParaRPr>
          </a:p>
          <a:p>
            <a:pPr marL="752475" indent="-752475" eaLnBrk="0" hangingPunct="0">
              <a:lnSpc>
                <a:spcPct val="110000"/>
              </a:lnSpc>
            </a:pPr>
            <a:r>
              <a:rPr lang="en-US" sz="2800" dirty="0">
                <a:latin typeface="Tahoma" pitchFamily="34" charset="0"/>
              </a:rPr>
              <a:t>B</a:t>
            </a:r>
            <a:r>
              <a:rPr lang="en-US" sz="2800" i="1" baseline="-25000" dirty="0">
                <a:latin typeface="Times New Roman" pitchFamily="18" charset="0"/>
              </a:rPr>
              <a:t>i</a:t>
            </a:r>
            <a:r>
              <a:rPr lang="en-US" sz="2800" dirty="0">
                <a:latin typeface="Times New Roman" pitchFamily="18" charset="0"/>
              </a:rPr>
              <a:t> </a:t>
            </a:r>
            <a:r>
              <a:rPr lang="en-US" sz="2800" dirty="0">
                <a:latin typeface="Tahoma" pitchFamily="34" charset="0"/>
              </a:rPr>
              <a:t>= beginning inventory month </a:t>
            </a:r>
            <a:r>
              <a:rPr lang="en-US" sz="2800" i="1" dirty="0">
                <a:latin typeface="Times New Roman" pitchFamily="18" charset="0"/>
              </a:rPr>
              <a:t>i,</a:t>
            </a:r>
            <a:r>
              <a:rPr lang="en-US" sz="2800" i="1" dirty="0">
                <a:latin typeface="Tahoma" pitchFamily="34" charset="0"/>
              </a:rPr>
              <a:t>  </a:t>
            </a:r>
            <a:r>
              <a:rPr lang="en-US" sz="2800" i="1" dirty="0">
                <a:latin typeface="Times New Roman" pitchFamily="18" charset="0"/>
              </a:rPr>
              <a:t>i</a:t>
            </a:r>
            <a:r>
              <a:rPr lang="en-US" sz="2800" dirty="0">
                <a:latin typeface="Tahoma" pitchFamily="34" charset="0"/>
              </a:rPr>
              <a:t>=1 to 7</a:t>
            </a:r>
          </a:p>
          <a:p>
            <a:pPr marL="752475" indent="-752475" eaLnBrk="0" hangingPunct="0"/>
            <a:endParaRPr lang="en-US" sz="2800" dirty="0">
              <a:latin typeface="Tahoma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i="1">
                <a:solidFill>
                  <a:schemeClr val="hlink"/>
                </a:solidFill>
              </a:rPr>
              <a:t>Defining the Objective Function</a:t>
            </a:r>
          </a:p>
        </p:txBody>
      </p:sp>
      <p:sp>
        <p:nvSpPr>
          <p:cNvPr id="53251" name="Rectangle 3"/>
          <p:cNvSpPr>
            <a:spLocks noChangeArrowheads="1"/>
          </p:cNvSpPr>
          <p:nvPr/>
        </p:nvSpPr>
        <p:spPr bwMode="auto">
          <a:xfrm>
            <a:off x="426563" y="1697831"/>
            <a:ext cx="8534400" cy="3462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919163" indent="-919163" algn="ctr" eaLnBrk="0" hangingPunct="0">
              <a:lnSpc>
                <a:spcPct val="50000"/>
              </a:lnSpc>
              <a:spcBef>
                <a:spcPct val="50000"/>
              </a:spcBef>
              <a:tabLst>
                <a:tab pos="1836738" algn="l"/>
              </a:tabLst>
            </a:pPr>
            <a:r>
              <a:rPr lang="en-US" sz="3200" dirty="0">
                <a:latin typeface="Tahoma" pitchFamily="34" charset="0"/>
              </a:rPr>
              <a:t>Minimize the total cost production </a:t>
            </a:r>
          </a:p>
          <a:p>
            <a:pPr marL="919163" indent="-919163" algn="ctr" eaLnBrk="0" hangingPunct="0">
              <a:lnSpc>
                <a:spcPct val="50000"/>
              </a:lnSpc>
              <a:spcBef>
                <a:spcPct val="50000"/>
              </a:spcBef>
              <a:tabLst>
                <a:tab pos="1836738" algn="l"/>
              </a:tabLst>
            </a:pPr>
            <a:r>
              <a:rPr lang="en-US" sz="3200" dirty="0">
                <a:latin typeface="Tahoma" pitchFamily="34" charset="0"/>
              </a:rPr>
              <a:t>&amp; inventory costs.</a:t>
            </a:r>
            <a:endParaRPr lang="en-US" sz="2800" dirty="0">
              <a:latin typeface="Tahoma" pitchFamily="34" charset="0"/>
            </a:endParaRPr>
          </a:p>
          <a:p>
            <a:pPr marL="919163" indent="-919163" eaLnBrk="0" hangingPunct="0">
              <a:lnSpc>
                <a:spcPct val="130000"/>
              </a:lnSpc>
              <a:spcBef>
                <a:spcPct val="50000"/>
              </a:spcBef>
              <a:tabLst>
                <a:tab pos="1836738" algn="l"/>
              </a:tabLst>
            </a:pPr>
            <a:r>
              <a:rPr lang="en-US" sz="2800" dirty="0">
                <a:latin typeface="Tahoma" pitchFamily="34" charset="0"/>
              </a:rPr>
              <a:t>MIN</a:t>
            </a:r>
            <a:r>
              <a:rPr lang="en-US" sz="3600" dirty="0">
                <a:latin typeface="Tahoma" pitchFamily="34" charset="0"/>
              </a:rPr>
              <a:t>:	</a:t>
            </a:r>
            <a:r>
              <a:rPr lang="en-US" sz="2800" dirty="0">
                <a:latin typeface="Tahoma" pitchFamily="34" charset="0"/>
              </a:rPr>
              <a:t>240P</a:t>
            </a:r>
            <a:r>
              <a:rPr lang="en-US" sz="2800" baseline="-25000" dirty="0">
                <a:latin typeface="Tahoma" pitchFamily="34" charset="0"/>
              </a:rPr>
              <a:t>1</a:t>
            </a:r>
            <a:r>
              <a:rPr lang="en-US" sz="2800" dirty="0">
                <a:latin typeface="Tahoma" pitchFamily="34" charset="0"/>
              </a:rPr>
              <a:t>+250P</a:t>
            </a:r>
            <a:r>
              <a:rPr lang="en-US" sz="2800" baseline="-25000" dirty="0">
                <a:latin typeface="Tahoma" pitchFamily="34" charset="0"/>
              </a:rPr>
              <a:t>2</a:t>
            </a:r>
            <a:r>
              <a:rPr lang="en-US" sz="2800" dirty="0">
                <a:latin typeface="Tahoma" pitchFamily="34" charset="0"/>
              </a:rPr>
              <a:t>+265P</a:t>
            </a:r>
            <a:r>
              <a:rPr lang="en-US" sz="2800" baseline="-25000" dirty="0">
                <a:latin typeface="Tahoma" pitchFamily="34" charset="0"/>
              </a:rPr>
              <a:t>3</a:t>
            </a:r>
            <a:r>
              <a:rPr lang="en-US" sz="2800" dirty="0">
                <a:latin typeface="Tahoma" pitchFamily="34" charset="0"/>
              </a:rPr>
              <a:t>+285P</a:t>
            </a:r>
            <a:r>
              <a:rPr lang="en-US" sz="2800" baseline="-25000" dirty="0">
                <a:latin typeface="Tahoma" pitchFamily="34" charset="0"/>
              </a:rPr>
              <a:t>4</a:t>
            </a:r>
            <a:r>
              <a:rPr lang="en-US" sz="2800" dirty="0">
                <a:latin typeface="Tahoma" pitchFamily="34" charset="0"/>
              </a:rPr>
              <a:t>+280P</a:t>
            </a:r>
            <a:r>
              <a:rPr lang="en-US" sz="2800" baseline="-25000" dirty="0">
                <a:latin typeface="Tahoma" pitchFamily="34" charset="0"/>
              </a:rPr>
              <a:t>5</a:t>
            </a:r>
            <a:r>
              <a:rPr lang="en-US" sz="2800" dirty="0">
                <a:latin typeface="Tahoma" pitchFamily="34" charset="0"/>
              </a:rPr>
              <a:t>+260P</a:t>
            </a:r>
            <a:r>
              <a:rPr lang="en-US" sz="2800" baseline="-25000" dirty="0">
                <a:latin typeface="Tahoma" pitchFamily="34" charset="0"/>
              </a:rPr>
              <a:t>6</a:t>
            </a:r>
          </a:p>
          <a:p>
            <a:pPr marL="919163" indent="-919163" eaLnBrk="0" hangingPunct="0">
              <a:spcBef>
                <a:spcPct val="50000"/>
              </a:spcBef>
              <a:tabLst>
                <a:tab pos="1836738" algn="l"/>
              </a:tabLst>
            </a:pPr>
            <a:r>
              <a:rPr lang="en-US" sz="2800" dirty="0">
                <a:latin typeface="Tahoma" pitchFamily="34" charset="0"/>
              </a:rPr>
              <a:t>   + 3.6(B</a:t>
            </a:r>
            <a:r>
              <a:rPr lang="en-US" sz="2800" baseline="-25000" dirty="0">
                <a:latin typeface="Tahoma" pitchFamily="34" charset="0"/>
              </a:rPr>
              <a:t>1</a:t>
            </a:r>
            <a:r>
              <a:rPr lang="en-US" sz="2800" dirty="0">
                <a:latin typeface="Tahoma" pitchFamily="34" charset="0"/>
              </a:rPr>
              <a:t>+B</a:t>
            </a:r>
            <a:r>
              <a:rPr lang="en-US" sz="2800" baseline="-25000" dirty="0">
                <a:latin typeface="Tahoma" pitchFamily="34" charset="0"/>
              </a:rPr>
              <a:t>2</a:t>
            </a:r>
            <a:r>
              <a:rPr lang="en-US" sz="2800" dirty="0">
                <a:latin typeface="Tahoma" pitchFamily="34" charset="0"/>
              </a:rPr>
              <a:t>)/2 + 3.75(B</a:t>
            </a:r>
            <a:r>
              <a:rPr lang="en-US" sz="2800" baseline="-25000" dirty="0">
                <a:latin typeface="Tahoma" pitchFamily="34" charset="0"/>
              </a:rPr>
              <a:t>2</a:t>
            </a:r>
            <a:r>
              <a:rPr lang="en-US" sz="2800" dirty="0">
                <a:latin typeface="Tahoma" pitchFamily="34" charset="0"/>
              </a:rPr>
              <a:t>+B</a:t>
            </a:r>
            <a:r>
              <a:rPr lang="en-US" sz="2800" baseline="-25000" dirty="0">
                <a:latin typeface="Tahoma" pitchFamily="34" charset="0"/>
              </a:rPr>
              <a:t>3</a:t>
            </a:r>
            <a:r>
              <a:rPr lang="en-US" sz="2800" dirty="0">
                <a:latin typeface="Tahoma" pitchFamily="34" charset="0"/>
              </a:rPr>
              <a:t>)/2 + 3.98(B</a:t>
            </a:r>
            <a:r>
              <a:rPr lang="en-US" sz="2800" baseline="-25000" dirty="0">
                <a:latin typeface="Tahoma" pitchFamily="34" charset="0"/>
              </a:rPr>
              <a:t>3</a:t>
            </a:r>
            <a:r>
              <a:rPr lang="en-US" sz="2800" dirty="0">
                <a:latin typeface="Tahoma" pitchFamily="34" charset="0"/>
              </a:rPr>
              <a:t>+B</a:t>
            </a:r>
            <a:r>
              <a:rPr lang="en-US" sz="2800" baseline="-25000" dirty="0">
                <a:latin typeface="Tahoma" pitchFamily="34" charset="0"/>
              </a:rPr>
              <a:t>4</a:t>
            </a:r>
            <a:r>
              <a:rPr lang="en-US" sz="2800" dirty="0">
                <a:latin typeface="Tahoma" pitchFamily="34" charset="0"/>
              </a:rPr>
              <a:t>)/2 </a:t>
            </a:r>
          </a:p>
          <a:p>
            <a:pPr marL="919163" indent="-919163" eaLnBrk="0" hangingPunct="0">
              <a:spcBef>
                <a:spcPct val="50000"/>
              </a:spcBef>
              <a:tabLst>
                <a:tab pos="1836738" algn="l"/>
              </a:tabLst>
            </a:pPr>
            <a:r>
              <a:rPr lang="en-US" sz="2800" dirty="0">
                <a:latin typeface="Tahoma" pitchFamily="34" charset="0"/>
              </a:rPr>
              <a:t>   + 4.28(B</a:t>
            </a:r>
            <a:r>
              <a:rPr lang="en-US" sz="2800" baseline="-25000" dirty="0">
                <a:latin typeface="Tahoma" pitchFamily="34" charset="0"/>
              </a:rPr>
              <a:t>4</a:t>
            </a:r>
            <a:r>
              <a:rPr lang="en-US" sz="2800" dirty="0">
                <a:latin typeface="Tahoma" pitchFamily="34" charset="0"/>
              </a:rPr>
              <a:t>+B</a:t>
            </a:r>
            <a:r>
              <a:rPr lang="en-US" sz="2800" baseline="-25000" dirty="0">
                <a:latin typeface="Tahoma" pitchFamily="34" charset="0"/>
              </a:rPr>
              <a:t>5</a:t>
            </a:r>
            <a:r>
              <a:rPr lang="en-US" sz="2800" dirty="0">
                <a:latin typeface="Tahoma" pitchFamily="34" charset="0"/>
              </a:rPr>
              <a:t>)/2 + 4.20(B</a:t>
            </a:r>
            <a:r>
              <a:rPr lang="en-US" sz="2800" baseline="-25000" dirty="0">
                <a:latin typeface="Tahoma" pitchFamily="34" charset="0"/>
              </a:rPr>
              <a:t>5</a:t>
            </a:r>
            <a:r>
              <a:rPr lang="en-US" sz="2800" dirty="0">
                <a:latin typeface="Tahoma" pitchFamily="34" charset="0"/>
              </a:rPr>
              <a:t>+ B</a:t>
            </a:r>
            <a:r>
              <a:rPr lang="en-US" sz="2800" baseline="-25000" dirty="0">
                <a:latin typeface="Tahoma" pitchFamily="34" charset="0"/>
              </a:rPr>
              <a:t>6</a:t>
            </a:r>
            <a:r>
              <a:rPr lang="en-US" sz="2800" dirty="0">
                <a:latin typeface="Tahoma" pitchFamily="34" charset="0"/>
              </a:rPr>
              <a:t>)/2 + 3.9(B</a:t>
            </a:r>
            <a:r>
              <a:rPr lang="en-US" sz="2800" baseline="-25000" dirty="0">
                <a:latin typeface="Tahoma" pitchFamily="34" charset="0"/>
              </a:rPr>
              <a:t>6</a:t>
            </a:r>
            <a:r>
              <a:rPr lang="en-US" sz="2800" dirty="0">
                <a:latin typeface="Tahoma" pitchFamily="34" charset="0"/>
              </a:rPr>
              <a:t>+B</a:t>
            </a:r>
            <a:r>
              <a:rPr lang="en-US" sz="2800" baseline="-25000" dirty="0">
                <a:latin typeface="Tahoma" pitchFamily="34" charset="0"/>
              </a:rPr>
              <a:t>7</a:t>
            </a:r>
            <a:r>
              <a:rPr lang="en-US" sz="2800" dirty="0">
                <a:latin typeface="Tahoma" pitchFamily="34" charset="0"/>
              </a:rPr>
              <a:t>)/2</a:t>
            </a:r>
            <a:r>
              <a:rPr lang="en-US" sz="2400" dirty="0">
                <a:latin typeface="Tahoma" pitchFamily="34" charset="0"/>
              </a:rPr>
              <a:t> </a:t>
            </a:r>
          </a:p>
          <a:p>
            <a:pPr marL="919163" indent="-919163" eaLnBrk="0" hangingPunct="0">
              <a:lnSpc>
                <a:spcPct val="50000"/>
              </a:lnSpc>
              <a:spcBef>
                <a:spcPct val="50000"/>
              </a:spcBef>
              <a:tabLst>
                <a:tab pos="1836738" algn="l"/>
              </a:tabLst>
            </a:pPr>
            <a:endParaRPr lang="en-US" sz="2400" dirty="0">
              <a:latin typeface="Tahoma" pitchFamily="34" charset="0"/>
            </a:endParaRPr>
          </a:p>
        </p:txBody>
      </p:sp>
      <p:sp>
        <p:nvSpPr>
          <p:cNvPr id="53252" name="Text Box 4"/>
          <p:cNvSpPr txBox="1">
            <a:spLocks noChangeArrowheads="1"/>
          </p:cNvSpPr>
          <p:nvPr/>
        </p:nvSpPr>
        <p:spPr bwMode="auto">
          <a:xfrm>
            <a:off x="762000" y="5349875"/>
            <a:ext cx="7543800" cy="82232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>
                <a:solidFill>
                  <a:schemeClr val="bg1"/>
                </a:solidFill>
                <a:latin typeface="Tahoma" pitchFamily="34" charset="0"/>
              </a:rPr>
              <a:t>Note: The beginning inventory in any month is the same as the ending inventory in the previous month.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54025"/>
            <a:ext cx="7772400" cy="676275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Defining the Constraints - I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7848600" cy="4419600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105000"/>
              </a:lnSpc>
              <a:spcBef>
                <a:spcPct val="0"/>
              </a:spcBef>
            </a:pPr>
            <a:r>
              <a:rPr lang="en-US" dirty="0"/>
              <a:t>Production levels</a:t>
            </a:r>
          </a:p>
          <a:p>
            <a:pPr>
              <a:lnSpc>
                <a:spcPct val="105000"/>
              </a:lnSpc>
              <a:buFont typeface="Wingdings" pitchFamily="2" charset="2"/>
              <a:buNone/>
            </a:pPr>
            <a:r>
              <a:rPr lang="en-US" dirty="0"/>
              <a:t>		2,000 &lt;= P</a:t>
            </a:r>
            <a:r>
              <a:rPr lang="en-US" baseline="-25000" dirty="0"/>
              <a:t>1</a:t>
            </a:r>
            <a:r>
              <a:rPr lang="en-US" dirty="0"/>
              <a:t> &lt;= 4,000 } month 1</a:t>
            </a:r>
          </a:p>
          <a:p>
            <a:pPr>
              <a:lnSpc>
                <a:spcPct val="105000"/>
              </a:lnSpc>
              <a:buFont typeface="Wingdings" pitchFamily="2" charset="2"/>
              <a:buNone/>
            </a:pPr>
            <a:r>
              <a:rPr lang="en-US" dirty="0"/>
              <a:t>		1,750 &lt;= P</a:t>
            </a:r>
            <a:r>
              <a:rPr lang="en-US" baseline="-25000" dirty="0"/>
              <a:t>2</a:t>
            </a:r>
            <a:r>
              <a:rPr lang="en-US" dirty="0"/>
              <a:t> &lt;= 3,500 } month 2</a:t>
            </a:r>
          </a:p>
          <a:p>
            <a:pPr>
              <a:lnSpc>
                <a:spcPct val="105000"/>
              </a:lnSpc>
              <a:buFont typeface="Wingdings" pitchFamily="2" charset="2"/>
              <a:buNone/>
            </a:pPr>
            <a:r>
              <a:rPr lang="en-US" dirty="0"/>
              <a:t>		2,000 &lt;= P</a:t>
            </a:r>
            <a:r>
              <a:rPr lang="en-US" baseline="-25000" dirty="0"/>
              <a:t>3</a:t>
            </a:r>
            <a:r>
              <a:rPr lang="en-US" dirty="0"/>
              <a:t> &lt;= 4,000 } month 3</a:t>
            </a:r>
          </a:p>
          <a:p>
            <a:pPr>
              <a:lnSpc>
                <a:spcPct val="105000"/>
              </a:lnSpc>
              <a:buFont typeface="Wingdings" pitchFamily="2" charset="2"/>
              <a:buNone/>
            </a:pPr>
            <a:r>
              <a:rPr lang="en-US" dirty="0"/>
              <a:t>		2,250 &lt;= P</a:t>
            </a:r>
            <a:r>
              <a:rPr lang="en-US" baseline="-25000" dirty="0"/>
              <a:t>4</a:t>
            </a:r>
            <a:r>
              <a:rPr lang="en-US" dirty="0"/>
              <a:t> &lt;= 4,500 } month 4</a:t>
            </a:r>
          </a:p>
          <a:p>
            <a:pPr>
              <a:lnSpc>
                <a:spcPct val="105000"/>
              </a:lnSpc>
              <a:buFont typeface="Wingdings" pitchFamily="2" charset="2"/>
              <a:buNone/>
            </a:pPr>
            <a:r>
              <a:rPr lang="en-US" dirty="0"/>
              <a:t>		2,000 &lt;= P</a:t>
            </a:r>
            <a:r>
              <a:rPr lang="en-US" baseline="-25000" dirty="0"/>
              <a:t>5</a:t>
            </a:r>
            <a:r>
              <a:rPr lang="en-US" dirty="0"/>
              <a:t> &lt;= 4,000 } month 5</a:t>
            </a:r>
          </a:p>
          <a:p>
            <a:pPr>
              <a:lnSpc>
                <a:spcPct val="105000"/>
              </a:lnSpc>
              <a:buFont typeface="Wingdings" pitchFamily="2" charset="2"/>
              <a:buNone/>
            </a:pPr>
            <a:r>
              <a:rPr lang="en-US" dirty="0"/>
              <a:t>		1,750 &lt;= P</a:t>
            </a:r>
            <a:r>
              <a:rPr lang="en-US" baseline="-25000" dirty="0"/>
              <a:t>6</a:t>
            </a:r>
            <a:r>
              <a:rPr lang="en-US" dirty="0"/>
              <a:t> &lt;= 3,500 } month 6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5" grpId="0" build="p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54025"/>
            <a:ext cx="7772400" cy="676275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Defining the Constraints - II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382000" cy="4419600"/>
          </a:xfrm>
          <a:noFill/>
          <a:ln/>
        </p:spPr>
        <p:txBody>
          <a:bodyPr lIns="92075" tIns="46038" rIns="92075" bIns="46038"/>
          <a:lstStyle/>
          <a:p>
            <a:r>
              <a:rPr lang="en-US" dirty="0"/>
              <a:t>Ending Inventory (EI = BI + P - D)</a:t>
            </a:r>
          </a:p>
          <a:p>
            <a:pPr algn="ctr">
              <a:lnSpc>
                <a:spcPct val="110000"/>
              </a:lnSpc>
              <a:buFont typeface="Wingdings" pitchFamily="2" charset="2"/>
              <a:buNone/>
            </a:pPr>
            <a:r>
              <a:rPr lang="en-US" sz="3000" dirty="0"/>
              <a:t>1,500 </a:t>
            </a:r>
            <a:r>
              <a:rPr lang="en-US" sz="3000" u="sng" dirty="0"/>
              <a:t>&lt;</a:t>
            </a:r>
            <a:r>
              <a:rPr lang="en-US" sz="3000" dirty="0"/>
              <a:t>  B</a:t>
            </a:r>
            <a:r>
              <a:rPr lang="en-US" sz="3000" baseline="-25000" dirty="0"/>
              <a:t>1 </a:t>
            </a:r>
            <a:r>
              <a:rPr lang="en-US" sz="3000" dirty="0"/>
              <a:t>+ P</a:t>
            </a:r>
            <a:r>
              <a:rPr lang="en-US" sz="3000" baseline="-25000" dirty="0"/>
              <a:t>1 </a:t>
            </a:r>
            <a:r>
              <a:rPr lang="en-US" sz="3000" dirty="0"/>
              <a:t>- 1,000 </a:t>
            </a:r>
            <a:r>
              <a:rPr lang="en-US" sz="3000" u="sng" dirty="0"/>
              <a:t>&lt;</a:t>
            </a:r>
            <a:r>
              <a:rPr lang="en-US" sz="3000" dirty="0"/>
              <a:t> 6,000 } month 1</a:t>
            </a:r>
          </a:p>
          <a:p>
            <a:pPr algn="ctr">
              <a:lnSpc>
                <a:spcPct val="110000"/>
              </a:lnSpc>
              <a:buFont typeface="Wingdings" pitchFamily="2" charset="2"/>
              <a:buNone/>
            </a:pPr>
            <a:r>
              <a:rPr lang="en-US" sz="3000" dirty="0"/>
              <a:t>1,500 </a:t>
            </a:r>
            <a:r>
              <a:rPr lang="en-US" sz="3000" u="sng" dirty="0"/>
              <a:t>&lt;</a:t>
            </a:r>
            <a:r>
              <a:rPr lang="en-US" sz="3000" dirty="0"/>
              <a:t>  B</a:t>
            </a:r>
            <a:r>
              <a:rPr lang="en-US" sz="3000" baseline="-25000" dirty="0"/>
              <a:t>2 </a:t>
            </a:r>
            <a:r>
              <a:rPr lang="en-US" sz="3000" dirty="0"/>
              <a:t>+ P</a:t>
            </a:r>
            <a:r>
              <a:rPr lang="en-US" sz="3000" baseline="-25000" dirty="0"/>
              <a:t>2 </a:t>
            </a:r>
            <a:r>
              <a:rPr lang="en-US" sz="3000" dirty="0"/>
              <a:t>- 4,500 </a:t>
            </a:r>
            <a:r>
              <a:rPr lang="en-US" sz="3000" u="sng" dirty="0"/>
              <a:t>&lt;</a:t>
            </a:r>
            <a:r>
              <a:rPr lang="en-US" sz="3000" dirty="0"/>
              <a:t> 6,000 } month 2</a:t>
            </a:r>
          </a:p>
          <a:p>
            <a:pPr algn="ctr">
              <a:lnSpc>
                <a:spcPct val="110000"/>
              </a:lnSpc>
              <a:buFont typeface="Wingdings" pitchFamily="2" charset="2"/>
              <a:buNone/>
            </a:pPr>
            <a:r>
              <a:rPr lang="en-US" sz="3000" dirty="0"/>
              <a:t>1,500 </a:t>
            </a:r>
            <a:r>
              <a:rPr lang="en-US" sz="3000" u="sng" dirty="0"/>
              <a:t>&lt;</a:t>
            </a:r>
            <a:r>
              <a:rPr lang="en-US" sz="3000" dirty="0"/>
              <a:t>  B</a:t>
            </a:r>
            <a:r>
              <a:rPr lang="en-US" sz="3000" baseline="-25000" dirty="0"/>
              <a:t>3 </a:t>
            </a:r>
            <a:r>
              <a:rPr lang="en-US" sz="3000" dirty="0"/>
              <a:t>+ P</a:t>
            </a:r>
            <a:r>
              <a:rPr lang="en-US" sz="3000" baseline="-25000" dirty="0"/>
              <a:t>3 </a:t>
            </a:r>
            <a:r>
              <a:rPr lang="en-US" sz="3000" dirty="0"/>
              <a:t>- 6,000 </a:t>
            </a:r>
            <a:r>
              <a:rPr lang="en-US" sz="3000" u="sng" dirty="0"/>
              <a:t>&lt;</a:t>
            </a:r>
            <a:r>
              <a:rPr lang="en-US" sz="3000" dirty="0"/>
              <a:t> 6,000 } month 3</a:t>
            </a:r>
          </a:p>
          <a:p>
            <a:pPr algn="ctr">
              <a:lnSpc>
                <a:spcPct val="110000"/>
              </a:lnSpc>
              <a:buFont typeface="Wingdings" pitchFamily="2" charset="2"/>
              <a:buNone/>
            </a:pPr>
            <a:r>
              <a:rPr lang="en-US" sz="3000" dirty="0"/>
              <a:t>1,500 </a:t>
            </a:r>
            <a:r>
              <a:rPr lang="en-US" sz="3000" u="sng" dirty="0"/>
              <a:t>&lt;</a:t>
            </a:r>
            <a:r>
              <a:rPr lang="en-US" sz="3000" dirty="0"/>
              <a:t>  B</a:t>
            </a:r>
            <a:r>
              <a:rPr lang="en-US" sz="3000" baseline="-25000" dirty="0"/>
              <a:t>4 </a:t>
            </a:r>
            <a:r>
              <a:rPr lang="en-US" sz="3000" dirty="0"/>
              <a:t>+ P</a:t>
            </a:r>
            <a:r>
              <a:rPr lang="en-US" sz="3000" baseline="-25000" dirty="0"/>
              <a:t>4 </a:t>
            </a:r>
            <a:r>
              <a:rPr lang="en-US" sz="3000" dirty="0"/>
              <a:t>- 5,500 </a:t>
            </a:r>
            <a:r>
              <a:rPr lang="en-US" sz="3000" u="sng" dirty="0"/>
              <a:t>&lt;</a:t>
            </a:r>
            <a:r>
              <a:rPr lang="en-US" sz="3000" dirty="0"/>
              <a:t> 6,000 } month 4</a:t>
            </a:r>
          </a:p>
          <a:p>
            <a:pPr algn="ctr">
              <a:lnSpc>
                <a:spcPct val="110000"/>
              </a:lnSpc>
              <a:buFont typeface="Wingdings" pitchFamily="2" charset="2"/>
              <a:buNone/>
            </a:pPr>
            <a:r>
              <a:rPr lang="en-US" sz="3000" dirty="0"/>
              <a:t>1,500 </a:t>
            </a:r>
            <a:r>
              <a:rPr lang="en-US" sz="3000" u="sng" dirty="0"/>
              <a:t>&lt;</a:t>
            </a:r>
            <a:r>
              <a:rPr lang="en-US" sz="3000" dirty="0"/>
              <a:t>  B</a:t>
            </a:r>
            <a:r>
              <a:rPr lang="en-US" sz="3000" baseline="-25000" dirty="0"/>
              <a:t>5 </a:t>
            </a:r>
            <a:r>
              <a:rPr lang="en-US" sz="3000" dirty="0"/>
              <a:t>+ P</a:t>
            </a:r>
            <a:r>
              <a:rPr lang="en-US" sz="3000" baseline="-25000" dirty="0"/>
              <a:t>5 </a:t>
            </a:r>
            <a:r>
              <a:rPr lang="en-US" sz="3000" dirty="0"/>
              <a:t>- 3,500 </a:t>
            </a:r>
            <a:r>
              <a:rPr lang="en-US" sz="3000" u="sng" dirty="0"/>
              <a:t>&lt;</a:t>
            </a:r>
            <a:r>
              <a:rPr lang="en-US" sz="3000" dirty="0"/>
              <a:t> 6,000 } month 5</a:t>
            </a:r>
          </a:p>
          <a:p>
            <a:pPr algn="ctr">
              <a:lnSpc>
                <a:spcPct val="110000"/>
              </a:lnSpc>
              <a:buFont typeface="Wingdings" pitchFamily="2" charset="2"/>
              <a:buNone/>
            </a:pPr>
            <a:r>
              <a:rPr lang="en-US" sz="3000" dirty="0"/>
              <a:t>1,500 </a:t>
            </a:r>
            <a:r>
              <a:rPr lang="en-US" sz="3000" u="sng" dirty="0"/>
              <a:t>&lt;</a:t>
            </a:r>
            <a:r>
              <a:rPr lang="en-US" sz="3000" dirty="0"/>
              <a:t>  B</a:t>
            </a:r>
            <a:r>
              <a:rPr lang="en-US" sz="3000" baseline="-25000" dirty="0"/>
              <a:t>6 </a:t>
            </a:r>
            <a:r>
              <a:rPr lang="en-US" sz="3000" dirty="0"/>
              <a:t>+ P</a:t>
            </a:r>
            <a:r>
              <a:rPr lang="en-US" sz="3000" baseline="-25000" dirty="0"/>
              <a:t>6 </a:t>
            </a:r>
            <a:r>
              <a:rPr lang="en-US" sz="3000" dirty="0"/>
              <a:t>- 4,000 </a:t>
            </a:r>
            <a:r>
              <a:rPr lang="en-US" sz="3000" u="sng" dirty="0"/>
              <a:t>&lt;</a:t>
            </a:r>
            <a:r>
              <a:rPr lang="en-US" sz="3000" dirty="0"/>
              <a:t> 6,000 } month 6</a:t>
            </a:r>
          </a:p>
          <a:p>
            <a:pPr>
              <a:buFont typeface="Wingdings" pitchFamily="2" charset="2"/>
              <a:buNone/>
            </a:pPr>
            <a:endParaRPr lang="en-US" sz="30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3" grpId="0" build="p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669925" y="169863"/>
            <a:ext cx="7772400" cy="809625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Defining the Constraints - III</a:t>
            </a:r>
            <a:endParaRPr lang="en-US" sz="1600" i="1">
              <a:solidFill>
                <a:schemeClr val="hlink"/>
              </a:solidFill>
            </a:endParaRP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914400"/>
            <a:ext cx="7924800" cy="4953000"/>
          </a:xfrm>
          <a:noFill/>
          <a:ln/>
        </p:spPr>
        <p:txBody>
          <a:bodyPr lIns="92075" tIns="46038" rIns="92075" bIns="46038"/>
          <a:lstStyle/>
          <a:p>
            <a:r>
              <a:rPr lang="en-US" dirty="0"/>
              <a:t>Beginning Balances</a:t>
            </a:r>
          </a:p>
          <a:p>
            <a:pPr>
              <a:buFont typeface="Wingdings" pitchFamily="2" charset="2"/>
              <a:buNone/>
            </a:pPr>
            <a:r>
              <a:rPr lang="en-US" dirty="0">
                <a:latin typeface="Times New Roman" pitchFamily="18" charset="0"/>
              </a:rPr>
              <a:t>		B</a:t>
            </a:r>
            <a:r>
              <a:rPr lang="en-US" baseline="-25000" dirty="0">
                <a:latin typeface="Times New Roman" pitchFamily="18" charset="0"/>
              </a:rPr>
              <a:t>1</a:t>
            </a:r>
            <a:r>
              <a:rPr lang="en-US" dirty="0">
                <a:latin typeface="Times New Roman" pitchFamily="18" charset="0"/>
              </a:rPr>
              <a:t> = 2750</a:t>
            </a:r>
          </a:p>
          <a:p>
            <a:pPr>
              <a:buFont typeface="Wingdings" pitchFamily="2" charset="2"/>
              <a:buNone/>
            </a:pPr>
            <a:r>
              <a:rPr lang="en-US" dirty="0">
                <a:latin typeface="Times New Roman" pitchFamily="18" charset="0"/>
              </a:rPr>
              <a:t>		B</a:t>
            </a:r>
            <a:r>
              <a:rPr lang="en-US" baseline="-25000" dirty="0">
                <a:latin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</a:rPr>
              <a:t> = B</a:t>
            </a:r>
            <a:r>
              <a:rPr lang="en-US" baseline="-25000" dirty="0">
                <a:latin typeface="Times New Roman" pitchFamily="18" charset="0"/>
              </a:rPr>
              <a:t>1</a:t>
            </a:r>
            <a:r>
              <a:rPr lang="en-US" dirty="0">
                <a:latin typeface="Times New Roman" pitchFamily="18" charset="0"/>
              </a:rPr>
              <a:t> + P</a:t>
            </a:r>
            <a:r>
              <a:rPr lang="en-US" baseline="-25000" dirty="0">
                <a:latin typeface="Times New Roman" pitchFamily="18" charset="0"/>
              </a:rPr>
              <a:t>1</a:t>
            </a:r>
            <a:r>
              <a:rPr lang="en-US" dirty="0">
                <a:latin typeface="Times New Roman" pitchFamily="18" charset="0"/>
              </a:rPr>
              <a:t> - 1,000</a:t>
            </a:r>
          </a:p>
          <a:p>
            <a:pPr>
              <a:buFont typeface="Wingdings" pitchFamily="2" charset="2"/>
              <a:buNone/>
            </a:pPr>
            <a:r>
              <a:rPr lang="en-US" dirty="0">
                <a:latin typeface="Times New Roman" pitchFamily="18" charset="0"/>
              </a:rPr>
              <a:t>		B</a:t>
            </a:r>
            <a:r>
              <a:rPr lang="en-US" baseline="-25000" dirty="0">
                <a:latin typeface="Times New Roman" pitchFamily="18" charset="0"/>
              </a:rPr>
              <a:t>3</a:t>
            </a:r>
            <a:r>
              <a:rPr lang="en-US" dirty="0">
                <a:latin typeface="Times New Roman" pitchFamily="18" charset="0"/>
              </a:rPr>
              <a:t> = B</a:t>
            </a:r>
            <a:r>
              <a:rPr lang="en-US" baseline="-25000" dirty="0">
                <a:latin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</a:rPr>
              <a:t> + P</a:t>
            </a:r>
            <a:r>
              <a:rPr lang="en-US" baseline="-25000" dirty="0">
                <a:latin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</a:rPr>
              <a:t> - 4,500</a:t>
            </a:r>
          </a:p>
          <a:p>
            <a:pPr>
              <a:buFont typeface="Wingdings" pitchFamily="2" charset="2"/>
              <a:buNone/>
            </a:pPr>
            <a:r>
              <a:rPr lang="en-US" dirty="0">
                <a:latin typeface="Times New Roman" pitchFamily="18" charset="0"/>
              </a:rPr>
              <a:t>		B</a:t>
            </a:r>
            <a:r>
              <a:rPr lang="en-US" baseline="-25000" dirty="0">
                <a:latin typeface="Times New Roman" pitchFamily="18" charset="0"/>
              </a:rPr>
              <a:t>4</a:t>
            </a:r>
            <a:r>
              <a:rPr lang="en-US" dirty="0">
                <a:latin typeface="Times New Roman" pitchFamily="18" charset="0"/>
              </a:rPr>
              <a:t> = B</a:t>
            </a:r>
            <a:r>
              <a:rPr lang="en-US" baseline="-25000" dirty="0">
                <a:latin typeface="Times New Roman" pitchFamily="18" charset="0"/>
              </a:rPr>
              <a:t>3</a:t>
            </a:r>
            <a:r>
              <a:rPr lang="en-US" dirty="0">
                <a:latin typeface="Times New Roman" pitchFamily="18" charset="0"/>
              </a:rPr>
              <a:t> + P</a:t>
            </a:r>
            <a:r>
              <a:rPr lang="en-US" baseline="-25000" dirty="0">
                <a:latin typeface="Times New Roman" pitchFamily="18" charset="0"/>
              </a:rPr>
              <a:t>3</a:t>
            </a:r>
            <a:r>
              <a:rPr lang="en-US" dirty="0">
                <a:latin typeface="Times New Roman" pitchFamily="18" charset="0"/>
              </a:rPr>
              <a:t> - 6,000</a:t>
            </a:r>
          </a:p>
          <a:p>
            <a:pPr>
              <a:buFont typeface="Wingdings" pitchFamily="2" charset="2"/>
              <a:buNone/>
            </a:pPr>
            <a:r>
              <a:rPr lang="en-US" dirty="0">
                <a:latin typeface="Times New Roman" pitchFamily="18" charset="0"/>
              </a:rPr>
              <a:t>		B</a:t>
            </a:r>
            <a:r>
              <a:rPr lang="en-US" baseline="-25000" dirty="0">
                <a:latin typeface="Times New Roman" pitchFamily="18" charset="0"/>
              </a:rPr>
              <a:t>5</a:t>
            </a:r>
            <a:r>
              <a:rPr lang="en-US" dirty="0">
                <a:latin typeface="Times New Roman" pitchFamily="18" charset="0"/>
              </a:rPr>
              <a:t> = B</a:t>
            </a:r>
            <a:r>
              <a:rPr lang="en-US" baseline="-25000" dirty="0">
                <a:latin typeface="Times New Roman" pitchFamily="18" charset="0"/>
              </a:rPr>
              <a:t>4</a:t>
            </a:r>
            <a:r>
              <a:rPr lang="en-US" dirty="0">
                <a:latin typeface="Times New Roman" pitchFamily="18" charset="0"/>
              </a:rPr>
              <a:t> + P</a:t>
            </a:r>
            <a:r>
              <a:rPr lang="en-US" baseline="-25000" dirty="0">
                <a:latin typeface="Times New Roman" pitchFamily="18" charset="0"/>
              </a:rPr>
              <a:t>4</a:t>
            </a:r>
            <a:r>
              <a:rPr lang="en-US" dirty="0">
                <a:latin typeface="Times New Roman" pitchFamily="18" charset="0"/>
              </a:rPr>
              <a:t> - 5,500</a:t>
            </a:r>
          </a:p>
          <a:p>
            <a:pPr>
              <a:buFont typeface="Wingdings" pitchFamily="2" charset="2"/>
              <a:buNone/>
            </a:pPr>
            <a:r>
              <a:rPr lang="en-US" dirty="0">
                <a:latin typeface="Times New Roman" pitchFamily="18" charset="0"/>
              </a:rPr>
              <a:t>		B</a:t>
            </a:r>
            <a:r>
              <a:rPr lang="en-US" baseline="-25000" dirty="0">
                <a:latin typeface="Times New Roman" pitchFamily="18" charset="0"/>
              </a:rPr>
              <a:t>6</a:t>
            </a:r>
            <a:r>
              <a:rPr lang="en-US" dirty="0">
                <a:latin typeface="Times New Roman" pitchFamily="18" charset="0"/>
              </a:rPr>
              <a:t> = B</a:t>
            </a:r>
            <a:r>
              <a:rPr lang="en-US" baseline="-25000" dirty="0">
                <a:latin typeface="Times New Roman" pitchFamily="18" charset="0"/>
              </a:rPr>
              <a:t>5</a:t>
            </a:r>
            <a:r>
              <a:rPr lang="en-US" dirty="0">
                <a:latin typeface="Times New Roman" pitchFamily="18" charset="0"/>
              </a:rPr>
              <a:t> + P</a:t>
            </a:r>
            <a:r>
              <a:rPr lang="en-US" baseline="-25000" dirty="0">
                <a:latin typeface="Times New Roman" pitchFamily="18" charset="0"/>
              </a:rPr>
              <a:t>5</a:t>
            </a:r>
            <a:r>
              <a:rPr lang="en-US" dirty="0">
                <a:latin typeface="Times New Roman" pitchFamily="18" charset="0"/>
              </a:rPr>
              <a:t> - 3,500</a:t>
            </a:r>
          </a:p>
          <a:p>
            <a:pPr>
              <a:buFont typeface="Wingdings" pitchFamily="2" charset="2"/>
              <a:buNone/>
            </a:pPr>
            <a:r>
              <a:rPr lang="en-US" dirty="0">
                <a:latin typeface="Times New Roman" pitchFamily="18" charset="0"/>
              </a:rPr>
              <a:t>		B</a:t>
            </a:r>
            <a:r>
              <a:rPr lang="en-US" baseline="-25000" dirty="0">
                <a:latin typeface="Times New Roman" pitchFamily="18" charset="0"/>
              </a:rPr>
              <a:t>7</a:t>
            </a:r>
            <a:r>
              <a:rPr lang="en-US" dirty="0">
                <a:latin typeface="Times New Roman" pitchFamily="18" charset="0"/>
              </a:rPr>
              <a:t> = B</a:t>
            </a:r>
            <a:r>
              <a:rPr lang="en-US" baseline="-25000" dirty="0">
                <a:latin typeface="Times New Roman" pitchFamily="18" charset="0"/>
              </a:rPr>
              <a:t>6</a:t>
            </a:r>
            <a:r>
              <a:rPr lang="en-US" dirty="0">
                <a:latin typeface="Times New Roman" pitchFamily="18" charset="0"/>
              </a:rPr>
              <a:t> + P</a:t>
            </a:r>
            <a:r>
              <a:rPr lang="en-US" baseline="-25000" dirty="0">
                <a:latin typeface="Times New Roman" pitchFamily="18" charset="0"/>
              </a:rPr>
              <a:t>6</a:t>
            </a:r>
            <a:r>
              <a:rPr lang="en-US" dirty="0">
                <a:latin typeface="Times New Roman" pitchFamily="18" charset="0"/>
              </a:rPr>
              <a:t> - 4,000</a:t>
            </a:r>
          </a:p>
          <a:p>
            <a:pPr>
              <a:buFont typeface="Wingdings" pitchFamily="2" charset="2"/>
              <a:buNone/>
            </a:pPr>
            <a:endParaRPr lang="en-US" dirty="0">
              <a:latin typeface="Times New Roman" pitchFamily="18" charset="0"/>
            </a:endParaRPr>
          </a:p>
        </p:txBody>
      </p:sp>
      <p:sp>
        <p:nvSpPr>
          <p:cNvPr id="55300" name="Rectangle 4"/>
          <p:cNvSpPr>
            <a:spLocks noChangeArrowheads="1"/>
          </p:cNvSpPr>
          <p:nvPr/>
        </p:nvSpPr>
        <p:spPr bwMode="auto">
          <a:xfrm>
            <a:off x="6019800" y="1981200"/>
            <a:ext cx="2514600" cy="301307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 dirty="0">
                <a:solidFill>
                  <a:schemeClr val="bg1"/>
                </a:solidFill>
                <a:latin typeface="Tahoma" pitchFamily="34" charset="0"/>
              </a:rPr>
              <a:t>Notice that the B</a:t>
            </a:r>
            <a:r>
              <a:rPr lang="en-US" sz="2400" i="1" baseline="-25000" dirty="0">
                <a:solidFill>
                  <a:schemeClr val="bg1"/>
                </a:solidFill>
                <a:latin typeface="Times New Roman" pitchFamily="18" charset="0"/>
              </a:rPr>
              <a:t>i</a:t>
            </a:r>
            <a:r>
              <a:rPr lang="en-US" sz="2400" dirty="0">
                <a:solidFill>
                  <a:schemeClr val="bg1"/>
                </a:solidFill>
                <a:latin typeface="Tahoma" pitchFamily="34" charset="0"/>
              </a:rPr>
              <a:t> can be computed directly from the P</a:t>
            </a:r>
            <a:r>
              <a:rPr lang="en-US" sz="2400" i="1" baseline="-25000" dirty="0">
                <a:solidFill>
                  <a:schemeClr val="bg1"/>
                </a:solidFill>
                <a:latin typeface="Times New Roman" pitchFamily="18" charset="0"/>
              </a:rPr>
              <a:t>i</a:t>
            </a:r>
            <a:r>
              <a:rPr lang="en-US" sz="2400" i="1" dirty="0">
                <a:solidFill>
                  <a:schemeClr val="bg1"/>
                </a:solidFill>
                <a:latin typeface="Tahoma" pitchFamily="34" charset="0"/>
              </a:rPr>
              <a:t>.  </a:t>
            </a:r>
            <a:r>
              <a:rPr lang="en-US" sz="2400" dirty="0">
                <a:solidFill>
                  <a:schemeClr val="bg1"/>
                </a:solidFill>
                <a:latin typeface="Tahoma" pitchFamily="34" charset="0"/>
              </a:rPr>
              <a:t>Therefore, only the P</a:t>
            </a:r>
            <a:r>
              <a:rPr lang="en-US" sz="2400" i="1" baseline="-25000" dirty="0">
                <a:solidFill>
                  <a:schemeClr val="bg1"/>
                </a:solidFill>
                <a:latin typeface="Times New Roman" pitchFamily="18" charset="0"/>
              </a:rPr>
              <a:t>i</a:t>
            </a:r>
            <a:r>
              <a:rPr lang="en-US" sz="2400" i="1" dirty="0">
                <a:solidFill>
                  <a:schemeClr val="bg1"/>
                </a:solidFill>
                <a:latin typeface="Tahoma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Tahoma" pitchFamily="34" charset="0"/>
              </a:rPr>
              <a:t>need to be identified as changing cells.</a:t>
            </a:r>
            <a:r>
              <a:rPr lang="en-US" sz="2400" i="1" dirty="0">
                <a:solidFill>
                  <a:schemeClr val="bg1"/>
                </a:solidFill>
                <a:latin typeface="Tahoma" pitchFamily="34" charset="0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5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55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5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5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9" grpId="0" uiExpand="1" build="p"/>
      <p:bldP spid="55300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i="1">
                <a:solidFill>
                  <a:schemeClr val="hlink"/>
                </a:solidFill>
              </a:rPr>
              <a:t>Implementing the Model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868363"/>
          </a:xfrm>
          <a:noFill/>
          <a:ln/>
        </p:spPr>
        <p:txBody>
          <a:bodyPr lIns="92075" tIns="46038" rIns="92075" bIns="46038"/>
          <a:lstStyle/>
          <a:p>
            <a:pPr algn="ctr">
              <a:buFont typeface="Wingdings" pitchFamily="2" charset="2"/>
              <a:buNone/>
            </a:pPr>
            <a:r>
              <a:rPr lang="en-US" dirty="0"/>
              <a:t>See file </a:t>
            </a:r>
            <a:r>
              <a:rPr lang="en-US" dirty="0">
                <a:hlinkClick r:id="rId3" action="ppaction://hlinkfile"/>
              </a:rPr>
              <a:t>Fig3-33.xlsm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414338"/>
            <a:ext cx="7772400" cy="1109662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80000"/>
              </a:lnSpc>
            </a:pPr>
            <a:r>
              <a:rPr lang="en-US" sz="4000" i="1">
                <a:solidFill>
                  <a:schemeClr val="hlink"/>
                </a:solidFill>
              </a:rPr>
              <a:t>A Multi-Period Cash Flow Problem:</a:t>
            </a:r>
            <a:br>
              <a:rPr lang="en-US" sz="4000" i="1">
                <a:solidFill>
                  <a:schemeClr val="hlink"/>
                </a:solidFill>
              </a:rPr>
            </a:br>
            <a:r>
              <a:rPr lang="en-US" sz="4000" i="1">
                <a:solidFill>
                  <a:schemeClr val="hlink"/>
                </a:solidFill>
              </a:rPr>
              <a:t>The Taco-Viva Sinking Fund - I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3213" y="1727200"/>
            <a:ext cx="8307387" cy="2540000"/>
          </a:xfrm>
          <a:noFill/>
          <a:ln/>
        </p:spPr>
        <p:txBody>
          <a:bodyPr lIns="92075" tIns="46038" rIns="92075" bIns="46038"/>
          <a:lstStyle/>
          <a:p>
            <a:r>
              <a:rPr lang="en-US" sz="2400" dirty="0"/>
              <a:t>Taco-Viva needs a sinking fund to pay $800,000 in building costs for a new restaurant in the next 6 months. </a:t>
            </a:r>
          </a:p>
          <a:p>
            <a:r>
              <a:rPr lang="en-US" sz="2400" dirty="0"/>
              <a:t> Payments of $250,000 are due at the end of months 2 and 4, and a final payment of $300,000 is due at the end of month 6.</a:t>
            </a:r>
          </a:p>
          <a:p>
            <a:r>
              <a:rPr lang="en-US" sz="2400" dirty="0"/>
              <a:t>The following investments may be used.</a:t>
            </a:r>
          </a:p>
        </p:txBody>
      </p:sp>
      <p:grpSp>
        <p:nvGrpSpPr>
          <p:cNvPr id="57350" name="Group 6"/>
          <p:cNvGrpSpPr>
            <a:grpSpLocks/>
          </p:cNvGrpSpPr>
          <p:nvPr/>
        </p:nvGrpSpPr>
        <p:grpSpPr bwMode="auto">
          <a:xfrm>
            <a:off x="195263" y="4343400"/>
            <a:ext cx="8920162" cy="2224088"/>
            <a:chOff x="123" y="2566"/>
            <a:chExt cx="5619" cy="1401"/>
          </a:xfrm>
        </p:grpSpPr>
        <p:sp>
          <p:nvSpPr>
            <p:cNvPr id="57348" name="Rectangle 4"/>
            <p:cNvSpPr>
              <a:spLocks noChangeArrowheads="1"/>
            </p:cNvSpPr>
            <p:nvPr/>
          </p:nvSpPr>
          <p:spPr bwMode="auto">
            <a:xfrm>
              <a:off x="123" y="2566"/>
              <a:ext cx="5619" cy="14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lnSpc>
                  <a:spcPct val="80000"/>
                </a:lnSpc>
                <a:spcBef>
                  <a:spcPct val="50000"/>
                </a:spcBef>
                <a:tabLst>
                  <a:tab pos="685800" algn="ctr"/>
                  <a:tab pos="2740025" algn="ctr"/>
                  <a:tab pos="5197475" algn="ctr"/>
                  <a:tab pos="7535863" algn="ctr"/>
                </a:tabLst>
              </a:pPr>
              <a:r>
                <a:rPr lang="en-US" sz="2000" b="1" dirty="0"/>
                <a:t>Investment	Available in Month	Months to Maturity	Yield at Maturity</a:t>
              </a:r>
            </a:p>
            <a:p>
              <a:pPr eaLnBrk="0" hangingPunct="0">
                <a:lnSpc>
                  <a:spcPct val="70000"/>
                </a:lnSpc>
                <a:spcBef>
                  <a:spcPct val="50000"/>
                </a:spcBef>
                <a:tabLst>
                  <a:tab pos="685800" algn="ctr"/>
                  <a:tab pos="2740025" algn="ctr"/>
                  <a:tab pos="5197475" algn="ctr"/>
                  <a:tab pos="7535863" algn="ctr"/>
                </a:tabLst>
              </a:pPr>
              <a:r>
                <a:rPr lang="en-US" sz="2000" b="1" dirty="0"/>
                <a:t>	A	1, 2, 3, 4, 5, 6	1	1.8%</a:t>
              </a:r>
            </a:p>
            <a:p>
              <a:pPr eaLnBrk="0" hangingPunct="0">
                <a:lnSpc>
                  <a:spcPct val="70000"/>
                </a:lnSpc>
                <a:spcBef>
                  <a:spcPct val="50000"/>
                </a:spcBef>
                <a:tabLst>
                  <a:tab pos="685800" algn="ctr"/>
                  <a:tab pos="2740025" algn="ctr"/>
                  <a:tab pos="5197475" algn="ctr"/>
                  <a:tab pos="7535863" algn="ctr"/>
                </a:tabLst>
              </a:pPr>
              <a:r>
                <a:rPr lang="en-US" sz="2000" b="1" dirty="0"/>
                <a:t>	B	1, 3, 5	2	3.5%</a:t>
              </a:r>
            </a:p>
            <a:p>
              <a:pPr eaLnBrk="0" hangingPunct="0">
                <a:lnSpc>
                  <a:spcPct val="70000"/>
                </a:lnSpc>
                <a:spcBef>
                  <a:spcPct val="50000"/>
                </a:spcBef>
                <a:tabLst>
                  <a:tab pos="685800" algn="ctr"/>
                  <a:tab pos="2740025" algn="ctr"/>
                  <a:tab pos="5197475" algn="ctr"/>
                  <a:tab pos="7535863" algn="ctr"/>
                </a:tabLst>
              </a:pPr>
              <a:r>
                <a:rPr lang="en-US" sz="2000" b="1" dirty="0"/>
                <a:t>	C	1, 4	3	5.8%</a:t>
              </a:r>
            </a:p>
            <a:p>
              <a:pPr eaLnBrk="0" hangingPunct="0">
                <a:lnSpc>
                  <a:spcPct val="70000"/>
                </a:lnSpc>
                <a:spcBef>
                  <a:spcPct val="50000"/>
                </a:spcBef>
                <a:tabLst>
                  <a:tab pos="685800" algn="ctr"/>
                  <a:tab pos="2740025" algn="ctr"/>
                  <a:tab pos="5197475" algn="ctr"/>
                  <a:tab pos="7535863" algn="ctr"/>
                </a:tabLst>
              </a:pPr>
              <a:r>
                <a:rPr lang="en-US" sz="2000" b="1" dirty="0"/>
                <a:t>	D	1	6	11.0%</a:t>
              </a:r>
            </a:p>
            <a:p>
              <a:pPr eaLnBrk="0" hangingPunct="0">
                <a:lnSpc>
                  <a:spcPct val="90000"/>
                </a:lnSpc>
                <a:spcBef>
                  <a:spcPct val="50000"/>
                </a:spcBef>
                <a:tabLst>
                  <a:tab pos="685800" algn="ctr"/>
                  <a:tab pos="2740025" algn="ctr"/>
                  <a:tab pos="5197475" algn="ctr"/>
                  <a:tab pos="7535863" algn="ctr"/>
                </a:tabLst>
              </a:pPr>
              <a:endParaRPr lang="en-US" sz="2000" b="1" dirty="0"/>
            </a:p>
          </p:txBody>
        </p:sp>
        <p:sp>
          <p:nvSpPr>
            <p:cNvPr id="57349" name="Line 5"/>
            <p:cNvSpPr>
              <a:spLocks noChangeShapeType="1"/>
            </p:cNvSpPr>
            <p:nvPr/>
          </p:nvSpPr>
          <p:spPr bwMode="auto">
            <a:xfrm flipV="1">
              <a:off x="154" y="2756"/>
              <a:ext cx="5416" cy="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7351" name="Rectangle 7"/>
          <p:cNvSpPr>
            <a:spLocks noChangeArrowheads="1"/>
          </p:cNvSpPr>
          <p:nvPr/>
        </p:nvSpPr>
        <p:spPr bwMode="auto">
          <a:xfrm>
            <a:off x="254000" y="4699000"/>
            <a:ext cx="8758238" cy="185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327025"/>
            <a:ext cx="7772400" cy="660400"/>
          </a:xfrm>
          <a:noFill/>
          <a:ln/>
        </p:spPr>
        <p:txBody>
          <a:bodyPr lIns="92075" tIns="46038" rIns="92075" bIns="46038"/>
          <a:lstStyle/>
          <a:p>
            <a:r>
              <a:rPr lang="en-US" sz="3800" i="1" dirty="0">
                <a:solidFill>
                  <a:schemeClr val="hlink"/>
                </a:solidFill>
              </a:rPr>
              <a:t>Summary of Possible Cash Flows</a:t>
            </a:r>
          </a:p>
        </p:txBody>
      </p:sp>
      <p:grpSp>
        <p:nvGrpSpPr>
          <p:cNvPr id="58375" name="Group 7"/>
          <p:cNvGrpSpPr>
            <a:grpSpLocks/>
          </p:cNvGrpSpPr>
          <p:nvPr/>
        </p:nvGrpSpPr>
        <p:grpSpPr bwMode="auto">
          <a:xfrm>
            <a:off x="228600" y="1143000"/>
            <a:ext cx="8837613" cy="5360988"/>
            <a:chOff x="165" y="487"/>
            <a:chExt cx="5567" cy="3377"/>
          </a:xfrm>
        </p:grpSpPr>
        <p:sp>
          <p:nvSpPr>
            <p:cNvPr id="58371" name="Rectangle 3"/>
            <p:cNvSpPr>
              <a:spLocks noChangeArrowheads="1"/>
            </p:cNvSpPr>
            <p:nvPr/>
          </p:nvSpPr>
          <p:spPr bwMode="auto">
            <a:xfrm>
              <a:off x="165" y="711"/>
              <a:ext cx="5567" cy="31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defTabSz="919163" eaLnBrk="0" hangingPunct="0">
                <a:lnSpc>
                  <a:spcPct val="90000"/>
                </a:lnSpc>
                <a:tabLst>
                  <a:tab pos="919163" algn="ctr"/>
                  <a:tab pos="2339975" algn="ctr"/>
                  <a:tab pos="3259138" algn="ctr"/>
                  <a:tab pos="4178300" algn="ctr"/>
                  <a:tab pos="5080000" algn="ctr"/>
                  <a:tab pos="5999163" algn="ctr"/>
                  <a:tab pos="6918325" algn="ctr"/>
                  <a:tab pos="7837488" algn="ctr"/>
                </a:tabLst>
              </a:pPr>
              <a:r>
                <a:rPr lang="en-US" sz="2400" b="1" dirty="0">
                  <a:latin typeface="Times New Roman" pitchFamily="18" charset="0"/>
                </a:rPr>
                <a:t>	</a:t>
              </a:r>
              <a:r>
                <a:rPr lang="en-US" sz="2300" b="1" dirty="0">
                  <a:latin typeface="Times New Roman" pitchFamily="18" charset="0"/>
                </a:rPr>
                <a:t>Investment	1	2	3	4	5	6	7</a:t>
              </a:r>
            </a:p>
            <a:p>
              <a:pPr defTabSz="919163" eaLnBrk="0" hangingPunct="0">
                <a:lnSpc>
                  <a:spcPct val="120000"/>
                </a:lnSpc>
                <a:tabLst>
                  <a:tab pos="919163" algn="ctr"/>
                  <a:tab pos="2339975" algn="ctr"/>
                  <a:tab pos="3259138" algn="ctr"/>
                  <a:tab pos="4178300" algn="ctr"/>
                  <a:tab pos="5080000" algn="ctr"/>
                  <a:tab pos="5999163" algn="ctr"/>
                  <a:tab pos="6918325" algn="ctr"/>
                  <a:tab pos="7837488" algn="ctr"/>
                </a:tabLst>
              </a:pPr>
              <a:r>
                <a:rPr lang="en-US" sz="2300" b="1" dirty="0">
                  <a:latin typeface="Times New Roman" pitchFamily="18" charset="0"/>
                </a:rPr>
                <a:t>	A</a:t>
              </a:r>
              <a:r>
                <a:rPr lang="en-US" sz="2300" b="1" baseline="-25000" dirty="0">
                  <a:latin typeface="Times New Roman" pitchFamily="18" charset="0"/>
                </a:rPr>
                <a:t>1</a:t>
              </a:r>
              <a:r>
                <a:rPr lang="en-US" sz="2300" b="1" dirty="0">
                  <a:latin typeface="Times New Roman" pitchFamily="18" charset="0"/>
                </a:rPr>
                <a:t>	-1	1.018						</a:t>
              </a:r>
            </a:p>
            <a:p>
              <a:pPr defTabSz="919163" eaLnBrk="0" hangingPunct="0">
                <a:lnSpc>
                  <a:spcPct val="90000"/>
                </a:lnSpc>
                <a:tabLst>
                  <a:tab pos="919163" algn="ctr"/>
                  <a:tab pos="2339975" algn="ctr"/>
                  <a:tab pos="3259138" algn="ctr"/>
                  <a:tab pos="4178300" algn="ctr"/>
                  <a:tab pos="5080000" algn="ctr"/>
                  <a:tab pos="5999163" algn="ctr"/>
                  <a:tab pos="6918325" algn="ctr"/>
                  <a:tab pos="7837488" algn="ctr"/>
                </a:tabLst>
              </a:pPr>
              <a:r>
                <a:rPr lang="en-US" sz="2300" b="1" dirty="0">
                  <a:latin typeface="Times New Roman" pitchFamily="18" charset="0"/>
                </a:rPr>
                <a:t>	B</a:t>
              </a:r>
              <a:r>
                <a:rPr lang="en-US" sz="2300" b="1" baseline="-25000" dirty="0">
                  <a:latin typeface="Times New Roman" pitchFamily="18" charset="0"/>
                </a:rPr>
                <a:t>1</a:t>
              </a:r>
              <a:r>
                <a:rPr lang="en-US" sz="2300" b="1" dirty="0">
                  <a:latin typeface="Times New Roman" pitchFamily="18" charset="0"/>
                </a:rPr>
                <a:t>	-1	&lt;</a:t>
              </a:r>
              <a:r>
                <a:rPr lang="en-US" sz="2300" b="1" baseline="38000" dirty="0">
                  <a:latin typeface="Times New Roman" pitchFamily="18" charset="0"/>
                </a:rPr>
                <a:t>_____</a:t>
              </a:r>
              <a:r>
                <a:rPr lang="en-US" sz="2300" b="1" dirty="0">
                  <a:latin typeface="Times New Roman" pitchFamily="18" charset="0"/>
                </a:rPr>
                <a:t>&gt;	1.035					</a:t>
              </a:r>
            </a:p>
            <a:p>
              <a:pPr defTabSz="919163" eaLnBrk="0" hangingPunct="0">
                <a:lnSpc>
                  <a:spcPct val="90000"/>
                </a:lnSpc>
                <a:tabLst>
                  <a:tab pos="919163" algn="ctr"/>
                  <a:tab pos="2339975" algn="ctr"/>
                  <a:tab pos="3259138" algn="ctr"/>
                  <a:tab pos="4178300" algn="ctr"/>
                  <a:tab pos="5080000" algn="ctr"/>
                  <a:tab pos="5999163" algn="ctr"/>
                  <a:tab pos="6918325" algn="ctr"/>
                  <a:tab pos="7837488" algn="ctr"/>
                </a:tabLst>
              </a:pPr>
              <a:r>
                <a:rPr lang="en-US" sz="2300" b="1" dirty="0">
                  <a:latin typeface="Times New Roman" pitchFamily="18" charset="0"/>
                </a:rPr>
                <a:t>	C</a:t>
              </a:r>
              <a:r>
                <a:rPr lang="en-US" sz="2300" b="1" baseline="-25000" dirty="0">
                  <a:latin typeface="Times New Roman" pitchFamily="18" charset="0"/>
                </a:rPr>
                <a:t>1</a:t>
              </a:r>
              <a:r>
                <a:rPr lang="en-US" sz="2300" b="1" dirty="0">
                  <a:latin typeface="Times New Roman" pitchFamily="18" charset="0"/>
                </a:rPr>
                <a:t>	-1	 &lt;</a:t>
              </a:r>
              <a:r>
                <a:rPr lang="en-US" sz="2300" b="1" baseline="38000" dirty="0">
                  <a:latin typeface="Times New Roman" pitchFamily="18" charset="0"/>
                </a:rPr>
                <a:t>_____</a:t>
              </a:r>
              <a:r>
                <a:rPr lang="en-US" sz="2300" b="1" dirty="0">
                  <a:latin typeface="Times New Roman" pitchFamily="18" charset="0"/>
                </a:rPr>
                <a:t>&gt;	&lt;</a:t>
              </a:r>
              <a:r>
                <a:rPr lang="en-US" sz="2300" b="1" baseline="38000" dirty="0">
                  <a:latin typeface="Times New Roman" pitchFamily="18" charset="0"/>
                </a:rPr>
                <a:t>_____</a:t>
              </a:r>
              <a:r>
                <a:rPr lang="en-US" sz="2300" b="1" dirty="0">
                  <a:latin typeface="Times New Roman" pitchFamily="18" charset="0"/>
                </a:rPr>
                <a:t>&gt;	 1.058				</a:t>
              </a:r>
            </a:p>
            <a:p>
              <a:pPr defTabSz="919163" eaLnBrk="0" hangingPunct="0">
                <a:lnSpc>
                  <a:spcPct val="90000"/>
                </a:lnSpc>
                <a:tabLst>
                  <a:tab pos="919163" algn="ctr"/>
                  <a:tab pos="2339975" algn="ctr"/>
                  <a:tab pos="3259138" algn="ctr"/>
                  <a:tab pos="4178300" algn="ctr"/>
                  <a:tab pos="5080000" algn="ctr"/>
                  <a:tab pos="5999163" algn="ctr"/>
                  <a:tab pos="6918325" algn="ctr"/>
                  <a:tab pos="7837488" algn="ctr"/>
                </a:tabLst>
              </a:pPr>
              <a:r>
                <a:rPr lang="en-US" sz="2300" b="1" dirty="0">
                  <a:latin typeface="Times New Roman" pitchFamily="18" charset="0"/>
                </a:rPr>
                <a:t>	D</a:t>
              </a:r>
              <a:r>
                <a:rPr lang="en-US" sz="2300" b="1" baseline="-25000" dirty="0">
                  <a:latin typeface="Times New Roman" pitchFamily="18" charset="0"/>
                </a:rPr>
                <a:t>1</a:t>
              </a:r>
              <a:r>
                <a:rPr lang="en-US" sz="2300" b="1" dirty="0">
                  <a:latin typeface="Times New Roman" pitchFamily="18" charset="0"/>
                </a:rPr>
                <a:t>	-1	 &lt;</a:t>
              </a:r>
              <a:r>
                <a:rPr lang="en-US" sz="2300" b="1" baseline="38000" dirty="0">
                  <a:latin typeface="Times New Roman" pitchFamily="18" charset="0"/>
                </a:rPr>
                <a:t>_____</a:t>
              </a:r>
              <a:r>
                <a:rPr lang="en-US" sz="2300" b="1" dirty="0">
                  <a:latin typeface="Times New Roman" pitchFamily="18" charset="0"/>
                </a:rPr>
                <a:t>&gt;	 &lt;</a:t>
              </a:r>
              <a:r>
                <a:rPr lang="en-US" sz="2300" b="1" baseline="38000" dirty="0">
                  <a:latin typeface="Times New Roman" pitchFamily="18" charset="0"/>
                </a:rPr>
                <a:t>_____</a:t>
              </a:r>
              <a:r>
                <a:rPr lang="en-US" sz="2300" b="1" dirty="0">
                  <a:latin typeface="Times New Roman" pitchFamily="18" charset="0"/>
                </a:rPr>
                <a:t>&gt;	 &lt;</a:t>
              </a:r>
              <a:r>
                <a:rPr lang="en-US" sz="2300" b="1" baseline="38000" dirty="0">
                  <a:latin typeface="Times New Roman" pitchFamily="18" charset="0"/>
                </a:rPr>
                <a:t>_____</a:t>
              </a:r>
              <a:r>
                <a:rPr lang="en-US" sz="2300" b="1" dirty="0">
                  <a:latin typeface="Times New Roman" pitchFamily="18" charset="0"/>
                </a:rPr>
                <a:t>&gt;	 &lt;</a:t>
              </a:r>
              <a:r>
                <a:rPr lang="en-US" sz="2300" b="1" baseline="38000" dirty="0">
                  <a:latin typeface="Times New Roman" pitchFamily="18" charset="0"/>
                </a:rPr>
                <a:t>_____</a:t>
              </a:r>
              <a:r>
                <a:rPr lang="en-US" sz="2300" b="1" dirty="0">
                  <a:latin typeface="Times New Roman" pitchFamily="18" charset="0"/>
                </a:rPr>
                <a:t>&gt;	 &lt;</a:t>
              </a:r>
              <a:r>
                <a:rPr lang="en-US" sz="2300" b="1" baseline="38000" dirty="0">
                  <a:latin typeface="Times New Roman" pitchFamily="18" charset="0"/>
                </a:rPr>
                <a:t>_____</a:t>
              </a:r>
              <a:r>
                <a:rPr lang="en-US" sz="2300" b="1" dirty="0">
                  <a:latin typeface="Times New Roman" pitchFamily="18" charset="0"/>
                </a:rPr>
                <a:t>&gt;	 1.11</a:t>
              </a:r>
            </a:p>
            <a:p>
              <a:pPr defTabSz="919163" eaLnBrk="0" hangingPunct="0">
                <a:lnSpc>
                  <a:spcPct val="90000"/>
                </a:lnSpc>
                <a:tabLst>
                  <a:tab pos="919163" algn="ctr"/>
                  <a:tab pos="2339975" algn="ctr"/>
                  <a:tab pos="3259138" algn="ctr"/>
                  <a:tab pos="4178300" algn="ctr"/>
                  <a:tab pos="5080000" algn="ctr"/>
                  <a:tab pos="5999163" algn="ctr"/>
                  <a:tab pos="6918325" algn="ctr"/>
                  <a:tab pos="7837488" algn="ctr"/>
                </a:tabLst>
              </a:pPr>
              <a:r>
                <a:rPr lang="en-US" sz="2300" b="1" dirty="0">
                  <a:latin typeface="Times New Roman" pitchFamily="18" charset="0"/>
                </a:rPr>
                <a:t>	A</a:t>
              </a:r>
              <a:r>
                <a:rPr lang="en-US" sz="2300" b="1" baseline="-25000" dirty="0">
                  <a:latin typeface="Times New Roman" pitchFamily="18" charset="0"/>
                </a:rPr>
                <a:t>2</a:t>
              </a:r>
              <a:r>
                <a:rPr lang="en-US" sz="2300" b="1" dirty="0">
                  <a:latin typeface="Times New Roman" pitchFamily="18" charset="0"/>
                </a:rPr>
                <a:t>		-1	1.018					</a:t>
              </a:r>
            </a:p>
            <a:p>
              <a:pPr defTabSz="919163" eaLnBrk="0" hangingPunct="0">
                <a:lnSpc>
                  <a:spcPct val="90000"/>
                </a:lnSpc>
                <a:tabLst>
                  <a:tab pos="919163" algn="ctr"/>
                  <a:tab pos="2339975" algn="ctr"/>
                  <a:tab pos="3259138" algn="ctr"/>
                  <a:tab pos="4178300" algn="ctr"/>
                  <a:tab pos="5080000" algn="ctr"/>
                  <a:tab pos="5999163" algn="ctr"/>
                  <a:tab pos="6918325" algn="ctr"/>
                  <a:tab pos="7837488" algn="ctr"/>
                </a:tabLst>
              </a:pPr>
              <a:r>
                <a:rPr lang="en-US" sz="2300" b="1" dirty="0">
                  <a:latin typeface="Times New Roman" pitchFamily="18" charset="0"/>
                </a:rPr>
                <a:t>	A</a:t>
              </a:r>
              <a:r>
                <a:rPr lang="en-US" sz="2300" b="1" baseline="-25000" dirty="0">
                  <a:latin typeface="Times New Roman" pitchFamily="18" charset="0"/>
                </a:rPr>
                <a:t>3</a:t>
              </a:r>
              <a:r>
                <a:rPr lang="en-US" sz="2300" b="1" dirty="0">
                  <a:latin typeface="Times New Roman" pitchFamily="18" charset="0"/>
                </a:rPr>
                <a:t>			-1	1.018				</a:t>
              </a:r>
            </a:p>
            <a:p>
              <a:pPr defTabSz="919163" eaLnBrk="0" hangingPunct="0">
                <a:lnSpc>
                  <a:spcPct val="90000"/>
                </a:lnSpc>
                <a:tabLst>
                  <a:tab pos="919163" algn="ctr"/>
                  <a:tab pos="2339975" algn="ctr"/>
                  <a:tab pos="3259138" algn="ctr"/>
                  <a:tab pos="4178300" algn="ctr"/>
                  <a:tab pos="5080000" algn="ctr"/>
                  <a:tab pos="5999163" algn="ctr"/>
                  <a:tab pos="6918325" algn="ctr"/>
                  <a:tab pos="7837488" algn="ctr"/>
                </a:tabLst>
              </a:pPr>
              <a:r>
                <a:rPr lang="en-US" sz="2300" b="1" dirty="0">
                  <a:latin typeface="Times New Roman" pitchFamily="18" charset="0"/>
                </a:rPr>
                <a:t>	B</a:t>
              </a:r>
              <a:r>
                <a:rPr lang="en-US" sz="2300" b="1" baseline="-25000" dirty="0">
                  <a:latin typeface="Times New Roman" pitchFamily="18" charset="0"/>
                </a:rPr>
                <a:t>3</a:t>
              </a:r>
              <a:r>
                <a:rPr lang="en-US" sz="2300" b="1" dirty="0">
                  <a:latin typeface="Times New Roman" pitchFamily="18" charset="0"/>
                </a:rPr>
                <a:t>			-1	 &lt;</a:t>
              </a:r>
              <a:r>
                <a:rPr lang="en-US" sz="2300" b="1" baseline="38000" dirty="0">
                  <a:latin typeface="Times New Roman" pitchFamily="18" charset="0"/>
                </a:rPr>
                <a:t>_____</a:t>
              </a:r>
              <a:r>
                <a:rPr lang="en-US" sz="2300" b="1" dirty="0">
                  <a:latin typeface="Times New Roman" pitchFamily="18" charset="0"/>
                </a:rPr>
                <a:t>&gt;	 1.035			</a:t>
              </a:r>
            </a:p>
            <a:p>
              <a:pPr defTabSz="919163" eaLnBrk="0" hangingPunct="0">
                <a:lnSpc>
                  <a:spcPct val="90000"/>
                </a:lnSpc>
                <a:tabLst>
                  <a:tab pos="919163" algn="ctr"/>
                  <a:tab pos="2339975" algn="ctr"/>
                  <a:tab pos="3259138" algn="ctr"/>
                  <a:tab pos="4178300" algn="ctr"/>
                  <a:tab pos="5080000" algn="ctr"/>
                  <a:tab pos="5999163" algn="ctr"/>
                  <a:tab pos="6918325" algn="ctr"/>
                  <a:tab pos="7837488" algn="ctr"/>
                </a:tabLst>
              </a:pPr>
              <a:r>
                <a:rPr lang="en-US" sz="2300" b="1" dirty="0">
                  <a:latin typeface="Times New Roman" pitchFamily="18" charset="0"/>
                </a:rPr>
                <a:t>	A</a:t>
              </a:r>
              <a:r>
                <a:rPr lang="en-US" sz="2300" b="1" baseline="-25000" dirty="0">
                  <a:latin typeface="Times New Roman" pitchFamily="18" charset="0"/>
                </a:rPr>
                <a:t>4</a:t>
              </a:r>
              <a:r>
                <a:rPr lang="en-US" sz="2300" b="1" dirty="0">
                  <a:latin typeface="Times New Roman" pitchFamily="18" charset="0"/>
                </a:rPr>
                <a:t>				-1	1.018			</a:t>
              </a:r>
            </a:p>
            <a:p>
              <a:pPr defTabSz="919163" eaLnBrk="0" hangingPunct="0">
                <a:lnSpc>
                  <a:spcPct val="90000"/>
                </a:lnSpc>
                <a:tabLst>
                  <a:tab pos="919163" algn="ctr"/>
                  <a:tab pos="2339975" algn="ctr"/>
                  <a:tab pos="3259138" algn="ctr"/>
                  <a:tab pos="4178300" algn="ctr"/>
                  <a:tab pos="5080000" algn="ctr"/>
                  <a:tab pos="5999163" algn="ctr"/>
                  <a:tab pos="6918325" algn="ctr"/>
                  <a:tab pos="7837488" algn="ctr"/>
                </a:tabLst>
              </a:pPr>
              <a:r>
                <a:rPr lang="en-US" sz="2300" b="1" dirty="0">
                  <a:latin typeface="Times New Roman" pitchFamily="18" charset="0"/>
                </a:rPr>
                <a:t>	C</a:t>
              </a:r>
              <a:r>
                <a:rPr lang="en-US" sz="2300" b="1" baseline="-25000" dirty="0">
                  <a:latin typeface="Times New Roman" pitchFamily="18" charset="0"/>
                </a:rPr>
                <a:t>4</a:t>
              </a:r>
              <a:r>
                <a:rPr lang="en-US" sz="2300" b="1" dirty="0">
                  <a:latin typeface="Times New Roman" pitchFamily="18" charset="0"/>
                </a:rPr>
                <a:t>				-1	 &lt;</a:t>
              </a:r>
              <a:r>
                <a:rPr lang="en-US" sz="2300" b="1" baseline="38000" dirty="0">
                  <a:latin typeface="Times New Roman" pitchFamily="18" charset="0"/>
                </a:rPr>
                <a:t>_____</a:t>
              </a:r>
              <a:r>
                <a:rPr lang="en-US" sz="2300" b="1" dirty="0">
                  <a:latin typeface="Times New Roman" pitchFamily="18" charset="0"/>
                </a:rPr>
                <a:t>&gt;	 &lt;</a:t>
              </a:r>
              <a:r>
                <a:rPr lang="en-US" sz="2300" b="1" baseline="38000" dirty="0">
                  <a:latin typeface="Times New Roman" pitchFamily="18" charset="0"/>
                </a:rPr>
                <a:t>_____</a:t>
              </a:r>
              <a:r>
                <a:rPr lang="en-US" sz="2300" b="1" dirty="0">
                  <a:latin typeface="Times New Roman" pitchFamily="18" charset="0"/>
                </a:rPr>
                <a:t>&gt;	 1.058</a:t>
              </a:r>
            </a:p>
            <a:p>
              <a:pPr defTabSz="919163" eaLnBrk="0" hangingPunct="0">
                <a:lnSpc>
                  <a:spcPct val="90000"/>
                </a:lnSpc>
                <a:tabLst>
                  <a:tab pos="919163" algn="ctr"/>
                  <a:tab pos="2339975" algn="ctr"/>
                  <a:tab pos="3259138" algn="ctr"/>
                  <a:tab pos="4178300" algn="ctr"/>
                  <a:tab pos="5080000" algn="ctr"/>
                  <a:tab pos="5999163" algn="ctr"/>
                  <a:tab pos="6918325" algn="ctr"/>
                  <a:tab pos="7837488" algn="ctr"/>
                </a:tabLst>
              </a:pPr>
              <a:r>
                <a:rPr lang="en-US" sz="2300" b="1" dirty="0">
                  <a:latin typeface="Times New Roman" pitchFamily="18" charset="0"/>
                </a:rPr>
                <a:t>	A</a:t>
              </a:r>
              <a:r>
                <a:rPr lang="en-US" sz="2300" b="1" baseline="-25000" dirty="0">
                  <a:latin typeface="Times New Roman" pitchFamily="18" charset="0"/>
                </a:rPr>
                <a:t>5</a:t>
              </a:r>
              <a:r>
                <a:rPr lang="en-US" sz="2300" b="1" dirty="0">
                  <a:latin typeface="Times New Roman" pitchFamily="18" charset="0"/>
                </a:rPr>
                <a:t>					-1	1.018		</a:t>
              </a:r>
            </a:p>
            <a:p>
              <a:pPr defTabSz="919163" eaLnBrk="0" hangingPunct="0">
                <a:lnSpc>
                  <a:spcPct val="90000"/>
                </a:lnSpc>
                <a:tabLst>
                  <a:tab pos="919163" algn="ctr"/>
                  <a:tab pos="2339975" algn="ctr"/>
                  <a:tab pos="3259138" algn="ctr"/>
                  <a:tab pos="4178300" algn="ctr"/>
                  <a:tab pos="5080000" algn="ctr"/>
                  <a:tab pos="5999163" algn="ctr"/>
                  <a:tab pos="6918325" algn="ctr"/>
                  <a:tab pos="7837488" algn="ctr"/>
                </a:tabLst>
              </a:pPr>
              <a:r>
                <a:rPr lang="en-US" sz="2300" b="1" dirty="0">
                  <a:latin typeface="Times New Roman" pitchFamily="18" charset="0"/>
                </a:rPr>
                <a:t>	B</a:t>
              </a:r>
              <a:r>
                <a:rPr lang="en-US" sz="2300" b="1" baseline="-25000" dirty="0">
                  <a:latin typeface="Times New Roman" pitchFamily="18" charset="0"/>
                </a:rPr>
                <a:t>5</a:t>
              </a:r>
              <a:r>
                <a:rPr lang="en-US" sz="2300" b="1" dirty="0">
                  <a:latin typeface="Times New Roman" pitchFamily="18" charset="0"/>
                </a:rPr>
                <a:t>					-1	 &lt;</a:t>
              </a:r>
              <a:r>
                <a:rPr lang="en-US" sz="2300" b="1" baseline="38000" dirty="0">
                  <a:latin typeface="Times New Roman" pitchFamily="18" charset="0"/>
                </a:rPr>
                <a:t>_____</a:t>
              </a:r>
              <a:r>
                <a:rPr lang="en-US" sz="2300" b="1" dirty="0">
                  <a:latin typeface="Times New Roman" pitchFamily="18" charset="0"/>
                </a:rPr>
                <a:t>&gt;	 1.035</a:t>
              </a:r>
            </a:p>
            <a:p>
              <a:pPr defTabSz="919163" eaLnBrk="0" hangingPunct="0">
                <a:lnSpc>
                  <a:spcPct val="90000"/>
                </a:lnSpc>
                <a:tabLst>
                  <a:tab pos="919163" algn="ctr"/>
                  <a:tab pos="2339975" algn="ctr"/>
                  <a:tab pos="3259138" algn="ctr"/>
                  <a:tab pos="4178300" algn="ctr"/>
                  <a:tab pos="5080000" algn="ctr"/>
                  <a:tab pos="5999163" algn="ctr"/>
                  <a:tab pos="6918325" algn="ctr"/>
                  <a:tab pos="7837488" algn="ctr"/>
                </a:tabLst>
              </a:pPr>
              <a:r>
                <a:rPr lang="en-US" sz="2300" b="1" dirty="0">
                  <a:latin typeface="Times New Roman" pitchFamily="18" charset="0"/>
                </a:rPr>
                <a:t>	A</a:t>
              </a:r>
              <a:r>
                <a:rPr lang="en-US" sz="2300" b="1" baseline="-25000" dirty="0">
                  <a:latin typeface="Times New Roman" pitchFamily="18" charset="0"/>
                </a:rPr>
                <a:t>6</a:t>
              </a:r>
              <a:r>
                <a:rPr lang="en-US" sz="2300" b="1" dirty="0">
                  <a:latin typeface="Times New Roman" pitchFamily="18" charset="0"/>
                </a:rPr>
                <a:t>						-1	1.018	</a:t>
              </a:r>
              <a:r>
                <a:rPr lang="en-US" sz="2300" b="1" dirty="0" err="1">
                  <a:latin typeface="Times New Roman" pitchFamily="18" charset="0"/>
                </a:rPr>
                <a:t>Req’d</a:t>
              </a:r>
              <a:r>
                <a:rPr lang="en-US" sz="2300" b="1" dirty="0">
                  <a:latin typeface="Times New Roman" pitchFamily="18" charset="0"/>
                </a:rPr>
                <a:t> Payments 	$0	$0	$250	</a:t>
              </a:r>
              <a:r>
                <a:rPr lang="en-US" sz="2400" b="1" dirty="0">
                  <a:latin typeface="Times New Roman" pitchFamily="18" charset="0"/>
                </a:rPr>
                <a:t>$0	$250	$0	$300</a:t>
              </a:r>
              <a:endParaRPr lang="en-US" sz="2300" b="1" dirty="0">
                <a:latin typeface="Times New Roman" pitchFamily="18" charset="0"/>
              </a:endParaRPr>
            </a:p>
            <a:p>
              <a:pPr defTabSz="919163" eaLnBrk="0" hangingPunct="0">
                <a:lnSpc>
                  <a:spcPct val="90000"/>
                </a:lnSpc>
                <a:tabLst>
                  <a:tab pos="919163" algn="ctr"/>
                  <a:tab pos="2339975" algn="ctr"/>
                  <a:tab pos="3259138" algn="ctr"/>
                  <a:tab pos="4178300" algn="ctr"/>
                  <a:tab pos="5080000" algn="ctr"/>
                  <a:tab pos="5999163" algn="ctr"/>
                  <a:tab pos="6918325" algn="ctr"/>
                  <a:tab pos="7837488" algn="ctr"/>
                </a:tabLst>
              </a:pPr>
              <a:r>
                <a:rPr lang="en-US" sz="2300" b="1" dirty="0">
                  <a:latin typeface="Times New Roman" pitchFamily="18" charset="0"/>
                </a:rPr>
                <a:t>	(in $1,000s)	</a:t>
              </a:r>
            </a:p>
          </p:txBody>
        </p:sp>
        <p:sp>
          <p:nvSpPr>
            <p:cNvPr id="58372" name="Line 4"/>
            <p:cNvSpPr>
              <a:spLocks noChangeShapeType="1"/>
            </p:cNvSpPr>
            <p:nvPr/>
          </p:nvSpPr>
          <p:spPr bwMode="auto">
            <a:xfrm>
              <a:off x="312" y="949"/>
              <a:ext cx="520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73" name="Line 5"/>
            <p:cNvSpPr>
              <a:spLocks noChangeShapeType="1"/>
            </p:cNvSpPr>
            <p:nvPr/>
          </p:nvSpPr>
          <p:spPr bwMode="auto">
            <a:xfrm>
              <a:off x="229" y="3414"/>
              <a:ext cx="520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74" name="Rectangle 6"/>
            <p:cNvSpPr>
              <a:spLocks noChangeArrowheads="1"/>
            </p:cNvSpPr>
            <p:nvPr/>
          </p:nvSpPr>
          <p:spPr bwMode="auto">
            <a:xfrm>
              <a:off x="450" y="487"/>
              <a:ext cx="52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  <a:tabLst>
                  <a:tab pos="1487488" algn="l"/>
                </a:tabLst>
              </a:pPr>
              <a:r>
                <a:rPr lang="en-US" sz="2400"/>
                <a:t>	</a:t>
              </a:r>
              <a:r>
                <a:rPr lang="en-US" sz="2400">
                  <a:latin typeface="Times New Roman" pitchFamily="18" charset="0"/>
                </a:rPr>
                <a:t>Cash Inflow/Outflow at the Beginning of Month</a:t>
              </a:r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08037"/>
          </a:xfrm>
          <a:noFill/>
          <a:ln/>
        </p:spPr>
        <p:txBody>
          <a:bodyPr lIns="92075" tIns="46038" rIns="92075" bIns="46038"/>
          <a:lstStyle/>
          <a:p>
            <a:r>
              <a:rPr lang="en-US" i="1">
                <a:solidFill>
                  <a:schemeClr val="hlink"/>
                </a:solidFill>
              </a:rPr>
              <a:t>Defining the Decision Variables</a:t>
            </a:r>
          </a:p>
        </p:txBody>
      </p:sp>
      <p:sp>
        <p:nvSpPr>
          <p:cNvPr id="59395" name="Rectangle 3"/>
          <p:cNvSpPr>
            <a:spLocks noChangeArrowheads="1"/>
          </p:cNvSpPr>
          <p:nvPr/>
        </p:nvSpPr>
        <p:spPr bwMode="auto">
          <a:xfrm>
            <a:off x="396875" y="1444625"/>
            <a:ext cx="8670925" cy="419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635000" indent="-635000" eaLnBrk="0" hangingPunct="0">
              <a:lnSpc>
                <a:spcPct val="120000"/>
              </a:lnSpc>
            </a:pPr>
            <a:r>
              <a:rPr lang="en-US" sz="2800" dirty="0">
                <a:latin typeface="Tahoma" pitchFamily="34" charset="0"/>
              </a:rPr>
              <a:t>A</a:t>
            </a:r>
            <a:r>
              <a:rPr lang="en-US" sz="2800" i="1" baseline="-25000" dirty="0">
                <a:latin typeface="Times New Roman" pitchFamily="18" charset="0"/>
              </a:rPr>
              <a:t>i</a:t>
            </a:r>
            <a:r>
              <a:rPr lang="en-US" sz="2800" dirty="0">
                <a:latin typeface="Times New Roman" pitchFamily="18" charset="0"/>
              </a:rPr>
              <a:t> </a:t>
            </a:r>
            <a:r>
              <a:rPr lang="en-US" sz="2800" dirty="0">
                <a:latin typeface="Tahoma" pitchFamily="34" charset="0"/>
              </a:rPr>
              <a:t>= amount (in $1,000s) placed in investment A at the beginning of month </a:t>
            </a:r>
            <a:r>
              <a:rPr lang="en-US" sz="2800" i="1" dirty="0" err="1">
                <a:latin typeface="Times New Roman" pitchFamily="18" charset="0"/>
              </a:rPr>
              <a:t>i</a:t>
            </a:r>
            <a:r>
              <a:rPr lang="en-US" sz="2800" dirty="0">
                <a:latin typeface="Tahoma" pitchFamily="34" charset="0"/>
              </a:rPr>
              <a:t>=1, 2, 3, 4, 5, 6</a:t>
            </a:r>
          </a:p>
          <a:p>
            <a:pPr marL="635000" indent="-635000" eaLnBrk="0" hangingPunct="0">
              <a:lnSpc>
                <a:spcPct val="120000"/>
              </a:lnSpc>
            </a:pPr>
            <a:r>
              <a:rPr lang="en-US" sz="2800" dirty="0">
                <a:latin typeface="Tahoma" pitchFamily="34" charset="0"/>
              </a:rPr>
              <a:t>B</a:t>
            </a:r>
            <a:r>
              <a:rPr lang="en-US" sz="2800" i="1" baseline="-25000" dirty="0">
                <a:latin typeface="Times New Roman" pitchFamily="18" charset="0"/>
              </a:rPr>
              <a:t>i</a:t>
            </a:r>
            <a:r>
              <a:rPr lang="en-US" sz="2800" dirty="0">
                <a:latin typeface="Times New Roman" pitchFamily="18" charset="0"/>
              </a:rPr>
              <a:t> </a:t>
            </a:r>
            <a:r>
              <a:rPr lang="en-US" sz="2800" dirty="0">
                <a:latin typeface="Tahoma" pitchFamily="34" charset="0"/>
              </a:rPr>
              <a:t>= amount (in $1,000s) placed in investment B at the beginning of month </a:t>
            </a:r>
            <a:r>
              <a:rPr lang="en-US" sz="2800" i="1" dirty="0" err="1">
                <a:latin typeface="Times New Roman" pitchFamily="18" charset="0"/>
              </a:rPr>
              <a:t>i</a:t>
            </a:r>
            <a:r>
              <a:rPr lang="en-US" sz="2800" dirty="0">
                <a:latin typeface="Tahoma" pitchFamily="34" charset="0"/>
              </a:rPr>
              <a:t>=1, 3, 5</a:t>
            </a:r>
          </a:p>
          <a:p>
            <a:pPr marL="635000" indent="-635000" eaLnBrk="0" hangingPunct="0">
              <a:lnSpc>
                <a:spcPct val="120000"/>
              </a:lnSpc>
            </a:pPr>
            <a:r>
              <a:rPr lang="en-US" sz="2800" dirty="0">
                <a:latin typeface="Tahoma" pitchFamily="34" charset="0"/>
              </a:rPr>
              <a:t>C</a:t>
            </a:r>
            <a:r>
              <a:rPr lang="en-US" sz="2800" i="1" baseline="-25000" dirty="0">
                <a:latin typeface="Times New Roman" pitchFamily="18" charset="0"/>
              </a:rPr>
              <a:t>i</a:t>
            </a:r>
            <a:r>
              <a:rPr lang="en-US" sz="2800" dirty="0">
                <a:latin typeface="Times New Roman" pitchFamily="18" charset="0"/>
              </a:rPr>
              <a:t> </a:t>
            </a:r>
            <a:r>
              <a:rPr lang="en-US" sz="2800" dirty="0">
                <a:latin typeface="Tahoma" pitchFamily="34" charset="0"/>
              </a:rPr>
              <a:t>= amount (in $1,000s) placed in investment C at the beginning of month </a:t>
            </a:r>
            <a:r>
              <a:rPr lang="en-US" sz="2800" i="1" dirty="0" err="1">
                <a:latin typeface="Times New Roman" pitchFamily="18" charset="0"/>
              </a:rPr>
              <a:t>i</a:t>
            </a:r>
            <a:r>
              <a:rPr lang="en-US" sz="2800" dirty="0">
                <a:latin typeface="Tahoma" pitchFamily="34" charset="0"/>
              </a:rPr>
              <a:t>=1, 4</a:t>
            </a:r>
          </a:p>
          <a:p>
            <a:pPr marL="635000" indent="-635000" eaLnBrk="0" hangingPunct="0">
              <a:lnSpc>
                <a:spcPct val="120000"/>
              </a:lnSpc>
            </a:pPr>
            <a:r>
              <a:rPr lang="en-US" sz="2800" dirty="0">
                <a:latin typeface="Tahoma" pitchFamily="34" charset="0"/>
              </a:rPr>
              <a:t>D</a:t>
            </a:r>
            <a:r>
              <a:rPr lang="en-US" sz="2800" i="1" baseline="-25000" dirty="0">
                <a:latin typeface="Times New Roman" pitchFamily="18" charset="0"/>
              </a:rPr>
              <a:t>i</a:t>
            </a:r>
            <a:r>
              <a:rPr lang="en-US" sz="2800" dirty="0">
                <a:latin typeface="Times New Roman" pitchFamily="18" charset="0"/>
              </a:rPr>
              <a:t> </a:t>
            </a:r>
            <a:r>
              <a:rPr lang="en-US" sz="2800" dirty="0">
                <a:latin typeface="Tahoma" pitchFamily="34" charset="0"/>
              </a:rPr>
              <a:t>= amount (in $1,000s) placed in investment D at the beginning of month </a:t>
            </a:r>
            <a:r>
              <a:rPr lang="en-US" sz="2800" i="1" dirty="0" err="1">
                <a:latin typeface="Times New Roman" pitchFamily="18" charset="0"/>
              </a:rPr>
              <a:t>i</a:t>
            </a:r>
            <a:r>
              <a:rPr lang="en-US" sz="2800" dirty="0">
                <a:latin typeface="Tahoma" pitchFamily="34" charset="0"/>
              </a:rPr>
              <a:t>=1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i="1">
                <a:solidFill>
                  <a:schemeClr val="hlink"/>
                </a:solidFill>
              </a:rPr>
              <a:t>Defining the Objective Function</a:t>
            </a:r>
          </a:p>
        </p:txBody>
      </p:sp>
      <p:sp>
        <p:nvSpPr>
          <p:cNvPr id="60419" name="Rectangle 3"/>
          <p:cNvSpPr>
            <a:spLocks noChangeArrowheads="1"/>
          </p:cNvSpPr>
          <p:nvPr/>
        </p:nvSpPr>
        <p:spPr bwMode="auto">
          <a:xfrm>
            <a:off x="128588" y="1728788"/>
            <a:ext cx="9013825" cy="171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919163" indent="-919163" algn="ctr" eaLnBrk="0" hangingPunct="0">
              <a:lnSpc>
                <a:spcPct val="130000"/>
              </a:lnSpc>
              <a:spcBef>
                <a:spcPct val="50000"/>
              </a:spcBef>
              <a:tabLst>
                <a:tab pos="1836738" algn="l"/>
              </a:tabLst>
            </a:pPr>
            <a:r>
              <a:rPr lang="en-US" sz="3200" dirty="0">
                <a:latin typeface="Tahoma" pitchFamily="34" charset="0"/>
              </a:rPr>
              <a:t>Minimize the total cash invested in month 1.</a:t>
            </a:r>
            <a:endParaRPr lang="en-US" sz="2800" dirty="0">
              <a:latin typeface="Tahoma" pitchFamily="34" charset="0"/>
            </a:endParaRPr>
          </a:p>
          <a:p>
            <a:pPr marL="919163" indent="-919163" algn="ctr" eaLnBrk="0" hangingPunct="0">
              <a:lnSpc>
                <a:spcPct val="130000"/>
              </a:lnSpc>
              <a:spcBef>
                <a:spcPct val="50000"/>
              </a:spcBef>
              <a:tabLst>
                <a:tab pos="1836738" algn="l"/>
              </a:tabLst>
            </a:pPr>
            <a:r>
              <a:rPr lang="en-US" sz="3600" dirty="0">
                <a:latin typeface="Tahoma" pitchFamily="34" charset="0"/>
              </a:rPr>
              <a:t>MIN: A</a:t>
            </a:r>
            <a:r>
              <a:rPr lang="en-US" sz="3600" baseline="-25000" dirty="0">
                <a:latin typeface="Tahoma" pitchFamily="34" charset="0"/>
              </a:rPr>
              <a:t>1</a:t>
            </a:r>
            <a:r>
              <a:rPr lang="en-US" sz="3600" dirty="0">
                <a:latin typeface="Tahoma" pitchFamily="34" charset="0"/>
              </a:rPr>
              <a:t> + B</a:t>
            </a:r>
            <a:r>
              <a:rPr lang="en-US" sz="3600" baseline="-25000" dirty="0">
                <a:latin typeface="Tahoma" pitchFamily="34" charset="0"/>
              </a:rPr>
              <a:t>1</a:t>
            </a:r>
            <a:r>
              <a:rPr lang="en-US" sz="3600" dirty="0">
                <a:latin typeface="Tahoma" pitchFamily="34" charset="0"/>
              </a:rPr>
              <a:t> + C</a:t>
            </a:r>
            <a:r>
              <a:rPr lang="en-US" sz="3600" baseline="-25000" dirty="0">
                <a:latin typeface="Tahoma" pitchFamily="34" charset="0"/>
              </a:rPr>
              <a:t>1</a:t>
            </a:r>
            <a:r>
              <a:rPr lang="en-US" sz="3600" dirty="0">
                <a:latin typeface="Tahoma" pitchFamily="34" charset="0"/>
              </a:rPr>
              <a:t> + D</a:t>
            </a:r>
            <a:r>
              <a:rPr lang="en-US" sz="3600" baseline="-25000" dirty="0">
                <a:latin typeface="Tahoma" pitchFamily="34" charset="0"/>
              </a:rPr>
              <a:t>1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617538" y="387350"/>
            <a:ext cx="7772400" cy="676275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Defining the Constraints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43000"/>
            <a:ext cx="8534400" cy="4652963"/>
          </a:xfrm>
          <a:ln/>
        </p:spPr>
        <p:txBody>
          <a:bodyPr lIns="92075" tIns="46038" rIns="92075" bIns="46038"/>
          <a:lstStyle/>
          <a:p>
            <a:r>
              <a:rPr lang="en-US" sz="2800" dirty="0"/>
              <a:t>Cash Flow Constraints</a:t>
            </a:r>
          </a:p>
          <a:p>
            <a:pPr lvl="1">
              <a:buFontTx/>
              <a:buNone/>
            </a:pPr>
            <a:r>
              <a:rPr lang="en-US" sz="2400" dirty="0"/>
              <a:t>1.018A</a:t>
            </a:r>
            <a:r>
              <a:rPr lang="en-US" sz="2400" baseline="-25000" dirty="0"/>
              <a:t>1</a:t>
            </a:r>
            <a:r>
              <a:rPr lang="en-US" sz="2400" dirty="0"/>
              <a:t> – 1A</a:t>
            </a:r>
            <a:r>
              <a:rPr lang="en-US" sz="2400" baseline="-25000" dirty="0"/>
              <a:t>2</a:t>
            </a:r>
            <a:r>
              <a:rPr lang="en-US" sz="2400" dirty="0"/>
              <a:t> =  0 			 } month 2</a:t>
            </a:r>
          </a:p>
          <a:p>
            <a:pPr lvl="1">
              <a:buFontTx/>
              <a:buNone/>
            </a:pPr>
            <a:r>
              <a:rPr lang="en-US" sz="2400" dirty="0"/>
              <a:t>1.035B</a:t>
            </a:r>
            <a:r>
              <a:rPr lang="en-US" sz="2400" baseline="-25000" dirty="0"/>
              <a:t>1</a:t>
            </a:r>
            <a:r>
              <a:rPr lang="en-US" sz="2400" dirty="0"/>
              <a:t> + 1.018A</a:t>
            </a:r>
            <a:r>
              <a:rPr lang="en-US" sz="2400" baseline="-25000" dirty="0"/>
              <a:t>2</a:t>
            </a:r>
            <a:r>
              <a:rPr lang="en-US" sz="2400" dirty="0"/>
              <a:t> – 1A</a:t>
            </a:r>
            <a:r>
              <a:rPr lang="en-US" sz="2400" baseline="-25000" dirty="0"/>
              <a:t>3</a:t>
            </a:r>
            <a:r>
              <a:rPr lang="en-US" sz="2400" dirty="0"/>
              <a:t> – 1B</a:t>
            </a:r>
            <a:r>
              <a:rPr lang="en-US" sz="2400" baseline="-25000" dirty="0"/>
              <a:t>3</a:t>
            </a:r>
            <a:r>
              <a:rPr lang="en-US" sz="2400" dirty="0"/>
              <a:t> = 250 } month 3</a:t>
            </a:r>
          </a:p>
          <a:p>
            <a:pPr lvl="1">
              <a:buFontTx/>
              <a:buNone/>
            </a:pPr>
            <a:r>
              <a:rPr lang="en-US" sz="2400" dirty="0"/>
              <a:t>1.058C</a:t>
            </a:r>
            <a:r>
              <a:rPr lang="en-US" sz="2400" baseline="-25000" dirty="0"/>
              <a:t>1</a:t>
            </a:r>
            <a:r>
              <a:rPr lang="en-US" sz="2400" dirty="0"/>
              <a:t> + 1.018A</a:t>
            </a:r>
            <a:r>
              <a:rPr lang="en-US" sz="2400" baseline="-25000" dirty="0"/>
              <a:t>3</a:t>
            </a:r>
            <a:r>
              <a:rPr lang="en-US" sz="2400" dirty="0"/>
              <a:t> – 1A</a:t>
            </a:r>
            <a:r>
              <a:rPr lang="en-US" sz="2400" baseline="-25000" dirty="0"/>
              <a:t>4</a:t>
            </a:r>
            <a:r>
              <a:rPr lang="en-US" sz="2400" dirty="0"/>
              <a:t> – 1C</a:t>
            </a:r>
            <a:r>
              <a:rPr lang="en-US" sz="2400" baseline="-25000" dirty="0"/>
              <a:t>4</a:t>
            </a:r>
            <a:r>
              <a:rPr lang="en-US" sz="2400" dirty="0"/>
              <a:t> =  0 	 } month 4</a:t>
            </a:r>
          </a:p>
          <a:p>
            <a:pPr lvl="1">
              <a:buFontTx/>
              <a:buNone/>
            </a:pPr>
            <a:r>
              <a:rPr lang="en-US" sz="2400" dirty="0"/>
              <a:t>1.035B</a:t>
            </a:r>
            <a:r>
              <a:rPr lang="en-US" sz="2400" baseline="-25000" dirty="0"/>
              <a:t>3</a:t>
            </a:r>
            <a:r>
              <a:rPr lang="en-US" sz="2400" dirty="0"/>
              <a:t> + 1.018A</a:t>
            </a:r>
            <a:r>
              <a:rPr lang="en-US" sz="2400" baseline="-25000" dirty="0"/>
              <a:t>4</a:t>
            </a:r>
            <a:r>
              <a:rPr lang="en-US" sz="2400" dirty="0"/>
              <a:t> – 1A</a:t>
            </a:r>
            <a:r>
              <a:rPr lang="en-US" sz="2400" baseline="-25000" dirty="0"/>
              <a:t>5</a:t>
            </a:r>
            <a:r>
              <a:rPr lang="en-US" sz="2400" dirty="0"/>
              <a:t> – 1B</a:t>
            </a:r>
            <a:r>
              <a:rPr lang="en-US" sz="2400" baseline="-25000" dirty="0"/>
              <a:t>5</a:t>
            </a:r>
            <a:r>
              <a:rPr lang="en-US" sz="2400" dirty="0"/>
              <a:t> = 250 } month 5</a:t>
            </a:r>
          </a:p>
          <a:p>
            <a:pPr lvl="1">
              <a:buFontTx/>
              <a:buNone/>
            </a:pPr>
            <a:r>
              <a:rPr lang="en-US" sz="2400" dirty="0"/>
              <a:t>1.018A</a:t>
            </a:r>
            <a:r>
              <a:rPr lang="en-US" sz="2400" baseline="-25000" dirty="0"/>
              <a:t>5</a:t>
            </a:r>
            <a:r>
              <a:rPr lang="en-US" sz="2400" dirty="0"/>
              <a:t> –1A</a:t>
            </a:r>
            <a:r>
              <a:rPr lang="en-US" sz="2400" baseline="-25000" dirty="0"/>
              <a:t>6</a:t>
            </a:r>
            <a:r>
              <a:rPr lang="en-US" sz="2400" dirty="0"/>
              <a:t> =  0 			 } month 6</a:t>
            </a:r>
          </a:p>
          <a:p>
            <a:pPr lvl="1">
              <a:buFontTx/>
              <a:buNone/>
            </a:pPr>
            <a:r>
              <a:rPr lang="en-US" sz="2400" dirty="0"/>
              <a:t>1.11D</a:t>
            </a:r>
            <a:r>
              <a:rPr lang="en-US" sz="2400" baseline="-25000" dirty="0"/>
              <a:t>1</a:t>
            </a:r>
            <a:r>
              <a:rPr lang="en-US" sz="2400" dirty="0"/>
              <a:t> + 1.058C</a:t>
            </a:r>
            <a:r>
              <a:rPr lang="en-US" sz="2400" baseline="-25000" dirty="0"/>
              <a:t>4</a:t>
            </a:r>
            <a:r>
              <a:rPr lang="en-US" sz="2400" dirty="0"/>
              <a:t> + 1.035B</a:t>
            </a:r>
            <a:r>
              <a:rPr lang="en-US" sz="2400" baseline="-25000" dirty="0"/>
              <a:t>5</a:t>
            </a:r>
            <a:r>
              <a:rPr lang="en-US" sz="2400" dirty="0"/>
              <a:t> + 1.018A</a:t>
            </a:r>
            <a:r>
              <a:rPr lang="en-US" sz="2400" baseline="-25000" dirty="0"/>
              <a:t>6</a:t>
            </a:r>
            <a:r>
              <a:rPr lang="en-US" sz="2400" dirty="0"/>
              <a:t> = 300 } month 7</a:t>
            </a:r>
          </a:p>
          <a:p>
            <a:r>
              <a:rPr lang="en-US" sz="2800" dirty="0"/>
              <a:t>Nonnegativity Conditions</a:t>
            </a:r>
            <a:endParaRPr lang="en-US" sz="3600" dirty="0"/>
          </a:p>
          <a:p>
            <a:pPr lvl="1">
              <a:buFontTx/>
              <a:buNone/>
            </a:pPr>
            <a:r>
              <a:rPr lang="en-US" sz="2400" dirty="0"/>
              <a:t>A</a:t>
            </a:r>
            <a:r>
              <a:rPr lang="en-US" sz="2400" i="1" baseline="-25000" dirty="0">
                <a:latin typeface="Times New Roman" pitchFamily="18" charset="0"/>
              </a:rPr>
              <a:t>i</a:t>
            </a:r>
            <a:r>
              <a:rPr lang="en-US" sz="2400" dirty="0"/>
              <a:t>, B</a:t>
            </a:r>
            <a:r>
              <a:rPr lang="en-US" sz="2400" i="1" baseline="-25000" dirty="0">
                <a:latin typeface="Times New Roman" pitchFamily="18" charset="0"/>
              </a:rPr>
              <a:t>i</a:t>
            </a:r>
            <a:r>
              <a:rPr lang="en-US" sz="2400" dirty="0"/>
              <a:t>, C</a:t>
            </a:r>
            <a:r>
              <a:rPr lang="en-US" sz="2400" i="1" baseline="-25000" dirty="0">
                <a:latin typeface="Times New Roman" pitchFamily="18" charset="0"/>
              </a:rPr>
              <a:t>i</a:t>
            </a:r>
            <a:r>
              <a:rPr lang="en-US" sz="2400" dirty="0"/>
              <a:t>, D</a:t>
            </a:r>
            <a:r>
              <a:rPr lang="en-US" sz="2400" i="1" baseline="-25000" dirty="0">
                <a:latin typeface="Times New Roman" pitchFamily="18" charset="0"/>
              </a:rPr>
              <a:t>i</a:t>
            </a:r>
            <a:r>
              <a:rPr lang="en-US" sz="2400" i="1" baseline="-25000" dirty="0"/>
              <a:t> </a:t>
            </a:r>
            <a:r>
              <a:rPr lang="en-US" sz="2400" dirty="0"/>
              <a:t>&gt;=  0, for all </a:t>
            </a:r>
            <a:r>
              <a:rPr lang="en-US" sz="2400" i="1" dirty="0" err="1">
                <a:latin typeface="Times New Roman" pitchFamily="18" charset="0"/>
              </a:rPr>
              <a:t>i</a:t>
            </a:r>
            <a:r>
              <a:rPr lang="en-US" sz="2400" i="1" dirty="0"/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i="1">
                <a:solidFill>
                  <a:schemeClr val="hlink"/>
                </a:solidFill>
              </a:rPr>
              <a:t>Implementing the Model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868363"/>
          </a:xfrm>
          <a:noFill/>
          <a:ln/>
        </p:spPr>
        <p:txBody>
          <a:bodyPr lIns="92075" tIns="46038" rIns="92075" bIns="46038"/>
          <a:lstStyle/>
          <a:p>
            <a:pPr algn="ctr">
              <a:buFont typeface="Wingdings" pitchFamily="2" charset="2"/>
              <a:buNone/>
            </a:pPr>
            <a:r>
              <a:rPr lang="en-US" dirty="0"/>
              <a:t>See file </a:t>
            </a:r>
            <a:r>
              <a:rPr lang="en-US" dirty="0">
                <a:hlinkClick r:id="rId3" action="ppaction://hlinkfile"/>
              </a:rPr>
              <a:t>Fig3-37.xlsm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667000"/>
            <a:ext cx="7772400" cy="1219200"/>
          </a:xfrm>
          <a:noFill/>
          <a:ln/>
        </p:spPr>
        <p:txBody>
          <a:bodyPr lIns="92075" tIns="46038" rIns="92075" bIns="46038"/>
          <a:lstStyle/>
          <a:p>
            <a:r>
              <a:rPr lang="en-US">
                <a:solidFill>
                  <a:schemeClr val="hlink"/>
                </a:solidFill>
              </a:rPr>
              <a:t>End of Chapter 3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DA5">
  <a:themeElements>
    <a:clrScheme name="SMDA5 8">
      <a:dk1>
        <a:srgbClr val="003366"/>
      </a:dk1>
      <a:lt1>
        <a:srgbClr val="FFFFFF"/>
      </a:lt1>
      <a:dk2>
        <a:srgbClr val="000099"/>
      </a:dk2>
      <a:lt2>
        <a:srgbClr val="CCFFFF"/>
      </a:lt2>
      <a:accent1>
        <a:srgbClr val="3366CC"/>
      </a:accent1>
      <a:accent2>
        <a:srgbClr val="00B000"/>
      </a:accent2>
      <a:accent3>
        <a:srgbClr val="AAAACA"/>
      </a:accent3>
      <a:accent4>
        <a:srgbClr val="DADADA"/>
      </a:accent4>
      <a:accent5>
        <a:srgbClr val="ADB8E2"/>
      </a:accent5>
      <a:accent6>
        <a:srgbClr val="009F00"/>
      </a:accent6>
      <a:hlink>
        <a:srgbClr val="66CCFF"/>
      </a:hlink>
      <a:folHlink>
        <a:srgbClr val="FFE701"/>
      </a:folHlink>
    </a:clrScheme>
    <a:fontScheme name="SMDA5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SMDA5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DA5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DA5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DA5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DA5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DA5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DA5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DA5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DA5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DA5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DA5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DA5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SMDA5</Template>
  <TotalTime>1310</TotalTime>
  <Words>4978</Words>
  <Application>Microsoft Office PowerPoint</Application>
  <PresentationFormat>On-screen Show (4:3)</PresentationFormat>
  <Paragraphs>463</Paragraphs>
  <Slides>53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8" baseType="lpstr">
      <vt:lpstr>Arial</vt:lpstr>
      <vt:lpstr>Tahoma</vt:lpstr>
      <vt:lpstr>Times New Roman</vt:lpstr>
      <vt:lpstr>Wingdings</vt:lpstr>
      <vt:lpstr>SMDA5</vt:lpstr>
      <vt:lpstr>Spreadsheet Modeling  &amp; Decision Analysis</vt:lpstr>
      <vt:lpstr>Modeling and Solving LP Problems in a Spreadsheet</vt:lpstr>
      <vt:lpstr>Introduction</vt:lpstr>
      <vt:lpstr>Spreadsheet Solvers</vt:lpstr>
      <vt:lpstr>Analytic Solver Platform</vt:lpstr>
      <vt:lpstr>The Steps in Implementing an LP Model in a Spreadsheet</vt:lpstr>
      <vt:lpstr> Let’s Implement a Model for the  Blue Ridge Hot Tubs Example...</vt:lpstr>
      <vt:lpstr>Implementing the Model</vt:lpstr>
      <vt:lpstr>How Solver Views the Model</vt:lpstr>
      <vt:lpstr>Let’s go back to Excel and see how “Solver” works...</vt:lpstr>
      <vt:lpstr>Goals For Spreadsheet Design</vt:lpstr>
      <vt:lpstr>Spreadsheet Design Guidelines - I</vt:lpstr>
      <vt:lpstr>Spreadsheet Design Guidelines - II</vt:lpstr>
      <vt:lpstr>Make vs. Buy Decisions: The Electro-Poly Corporation</vt:lpstr>
      <vt:lpstr>Defining the Decision Variables</vt:lpstr>
      <vt:lpstr>Defining the Objective Function</vt:lpstr>
      <vt:lpstr>Defining the Constraints</vt:lpstr>
      <vt:lpstr>Implementing the Model</vt:lpstr>
      <vt:lpstr>An Investment Problem: Retirement Planning Services, Inc.</vt:lpstr>
      <vt:lpstr>Investment Restrictions</vt:lpstr>
      <vt:lpstr>Defining the Decision Variables</vt:lpstr>
      <vt:lpstr>Defining the Objective Function</vt:lpstr>
      <vt:lpstr>Defining the Constraints</vt:lpstr>
      <vt:lpstr>Implementing the Model</vt:lpstr>
      <vt:lpstr>A Transportation Problem: Tropicsun</vt:lpstr>
      <vt:lpstr>Defining the Decision Variables</vt:lpstr>
      <vt:lpstr>Defining the Objective Function</vt:lpstr>
      <vt:lpstr>Defining the Constraints</vt:lpstr>
      <vt:lpstr>Implementing the Model</vt:lpstr>
      <vt:lpstr>A Blending Problem: The Agri-Pro Company</vt:lpstr>
      <vt:lpstr>Defining the Decision Variables</vt:lpstr>
      <vt:lpstr>Defining the Objective Function</vt:lpstr>
      <vt:lpstr>Defining the Constraints</vt:lpstr>
      <vt:lpstr>A Comment About Scaling</vt:lpstr>
      <vt:lpstr>Re-Defining the Decision Variables</vt:lpstr>
      <vt:lpstr>Re-Defining the  Objective Function</vt:lpstr>
      <vt:lpstr>Re-Defining the Constraints</vt:lpstr>
      <vt:lpstr>Scaling: Before and After</vt:lpstr>
      <vt:lpstr>Implementing the Model</vt:lpstr>
      <vt:lpstr>A Production Planning Problem: The Upton Corporation</vt:lpstr>
      <vt:lpstr>Defining the Decision Variables</vt:lpstr>
      <vt:lpstr>Defining the Objective Function</vt:lpstr>
      <vt:lpstr>Defining the Constraints - I</vt:lpstr>
      <vt:lpstr>Defining the Constraints - II</vt:lpstr>
      <vt:lpstr>Defining the Constraints - III</vt:lpstr>
      <vt:lpstr>Implementing the Model</vt:lpstr>
      <vt:lpstr>A Multi-Period Cash Flow Problem: The Taco-Viva Sinking Fund - I</vt:lpstr>
      <vt:lpstr>Summary of Possible Cash Flows</vt:lpstr>
      <vt:lpstr>Defining the Decision Variables</vt:lpstr>
      <vt:lpstr>Defining the Objective Function</vt:lpstr>
      <vt:lpstr>Defining the Constraints</vt:lpstr>
      <vt:lpstr>Implementing the Model</vt:lpstr>
      <vt:lpstr>End of Chapter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Spreadsheet Modeling &amp; Decision Analysis:</dc:title>
  <dc:creator>Cliff Ragsdale</dc:creator>
  <cp:lastModifiedBy>Arie Harel</cp:lastModifiedBy>
  <cp:revision>142</cp:revision>
  <dcterms:created xsi:type="dcterms:W3CDTF">1995-06-17T23:31:02Z</dcterms:created>
  <dcterms:modified xsi:type="dcterms:W3CDTF">2020-11-09T00:45:23Z</dcterms:modified>
</cp:coreProperties>
</file>