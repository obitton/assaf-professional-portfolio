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38"/>
  </p:notesMasterIdLst>
  <p:handoutMasterIdLst>
    <p:handoutMasterId r:id="rId39"/>
  </p:handoutMasterIdLst>
  <p:sldIdLst>
    <p:sldId id="335" r:id="rId2"/>
    <p:sldId id="256" r:id="rId3"/>
    <p:sldId id="279" r:id="rId4"/>
    <p:sldId id="288" r:id="rId5"/>
    <p:sldId id="303" r:id="rId6"/>
    <p:sldId id="328" r:id="rId7"/>
    <p:sldId id="304" r:id="rId8"/>
    <p:sldId id="284" r:id="rId9"/>
    <p:sldId id="305" r:id="rId10"/>
    <p:sldId id="306" r:id="rId11"/>
    <p:sldId id="291" r:id="rId12"/>
    <p:sldId id="331" r:id="rId13"/>
    <p:sldId id="307" r:id="rId14"/>
    <p:sldId id="308" r:id="rId15"/>
    <p:sldId id="309" r:id="rId16"/>
    <p:sldId id="310" r:id="rId17"/>
    <p:sldId id="296" r:id="rId18"/>
    <p:sldId id="332" r:id="rId19"/>
    <p:sldId id="311" r:id="rId20"/>
    <p:sldId id="312" r:id="rId21"/>
    <p:sldId id="313" r:id="rId22"/>
    <p:sldId id="329" r:id="rId23"/>
    <p:sldId id="314" r:id="rId24"/>
    <p:sldId id="317" r:id="rId25"/>
    <p:sldId id="319" r:id="rId26"/>
    <p:sldId id="326" r:id="rId27"/>
    <p:sldId id="327" r:id="rId28"/>
    <p:sldId id="340" r:id="rId29"/>
    <p:sldId id="336" r:id="rId30"/>
    <p:sldId id="323" r:id="rId31"/>
    <p:sldId id="324" r:id="rId32"/>
    <p:sldId id="321" r:id="rId33"/>
    <p:sldId id="294" r:id="rId34"/>
    <p:sldId id="325" r:id="rId35"/>
    <p:sldId id="278" r:id="rId36"/>
    <p:sldId id="334"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FFFF00"/>
    <a:srgbClr val="3399FF"/>
    <a:srgbClr val="CC0000"/>
    <a:srgbClr val="FFFFFF"/>
    <a:srgbClr val="856EF8"/>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28" autoAdjust="0"/>
    <p:restoredTop sz="94660"/>
  </p:normalViewPr>
  <p:slideViewPr>
    <p:cSldViewPr>
      <p:cViewPr varScale="1">
        <p:scale>
          <a:sx n="102" d="100"/>
          <a:sy n="102" d="100"/>
        </p:scale>
        <p:origin x="28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888"/>
    </p:cViewPr>
  </p:sorterViewPr>
  <p:notesViewPr>
    <p:cSldViewPr>
      <p:cViewPr varScale="1">
        <p:scale>
          <a:sx n="43" d="100"/>
          <a:sy n="43" d="100"/>
        </p:scale>
        <p:origin x="-1244" y="-7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7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eaLnBrk="0" hangingPunct="0">
              <a:defRPr sz="1000" i="1"/>
            </a:lvl1pPr>
          </a:lstStyle>
          <a:p>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eaLnBrk="0" hangingPunct="0">
              <a:defRPr sz="1000" i="1"/>
            </a:lvl1pPr>
          </a:lstStyle>
          <a:p>
            <a:endParaRPr lang="en-US"/>
          </a:p>
        </p:txBody>
      </p:sp>
      <p:sp>
        <p:nvSpPr>
          <p:cNvPr id="2052"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eaLnBrk="0" hangingPunct="0">
              <a:defRPr sz="1000" i="1"/>
            </a:lvl1pPr>
          </a:lstStyle>
          <a:p>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eaLnBrk="0" hangingPunct="0">
              <a:defRPr sz="1000" i="1"/>
            </a:lvl1pPr>
          </a:lstStyle>
          <a:p>
            <a:fld id="{CC0F1C4A-1BDB-4675-A076-048C31831125}" type="slidenum">
              <a:rPr lang="en-US"/>
              <a:pPr/>
              <a:t>‹#›</a:t>
            </a:fld>
            <a:endParaRPr lang="en-US"/>
          </a:p>
        </p:txBody>
      </p:sp>
    </p:spTree>
    <p:extLst>
      <p:ext uri="{BB962C8B-B14F-4D97-AF65-F5344CB8AC3E}">
        <p14:creationId xmlns:p14="http://schemas.microsoft.com/office/powerpoint/2010/main" val="22701387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2589D30-6639-4274-9B42-3F9D5FCCD1DC}" type="slidenum">
              <a:rPr lang="en-US"/>
              <a:pPr/>
              <a:t>1</a:t>
            </a:fld>
            <a:endParaRPr lang="en-US"/>
          </a:p>
        </p:txBody>
      </p:sp>
      <p:sp>
        <p:nvSpPr>
          <p:cNvPr id="27651" name="Rectangle 2"/>
          <p:cNvSpPr>
            <a:spLocks noGrp="1" noRot="1" noChangeAspect="1" noChangeArrowheads="1" noTextEdit="1"/>
          </p:cNvSpPr>
          <p:nvPr>
            <p:ph type="sldImg"/>
          </p:nvPr>
        </p:nvSpPr>
        <p:spPr>
          <a:xfrm>
            <a:off x="1150938" y="692150"/>
            <a:ext cx="4556125" cy="3416300"/>
          </a:xfrm>
          <a:ln/>
        </p:spPr>
      </p:sp>
      <p:sp>
        <p:nvSpPr>
          <p:cNvPr id="27652"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1350950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a:t>
            </a:fld>
            <a:endParaRPr lang="en-US"/>
          </a:p>
        </p:txBody>
      </p:sp>
    </p:spTree>
    <p:extLst>
      <p:ext uri="{BB962C8B-B14F-4D97-AF65-F5344CB8AC3E}">
        <p14:creationId xmlns:p14="http://schemas.microsoft.com/office/powerpoint/2010/main" val="4022083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a:t>
            </a:fld>
            <a:endParaRPr lang="en-US"/>
          </a:p>
        </p:txBody>
      </p:sp>
    </p:spTree>
    <p:extLst>
      <p:ext uri="{BB962C8B-B14F-4D97-AF65-F5344CB8AC3E}">
        <p14:creationId xmlns:p14="http://schemas.microsoft.com/office/powerpoint/2010/main" val="3016304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4</a:t>
            </a:fld>
            <a:endParaRPr lang="en-US"/>
          </a:p>
        </p:txBody>
      </p:sp>
    </p:spTree>
    <p:extLst>
      <p:ext uri="{BB962C8B-B14F-4D97-AF65-F5344CB8AC3E}">
        <p14:creationId xmlns:p14="http://schemas.microsoft.com/office/powerpoint/2010/main" val="1415247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5</a:t>
            </a:fld>
            <a:endParaRPr lang="en-US"/>
          </a:p>
        </p:txBody>
      </p:sp>
    </p:spTree>
    <p:extLst>
      <p:ext uri="{BB962C8B-B14F-4D97-AF65-F5344CB8AC3E}">
        <p14:creationId xmlns:p14="http://schemas.microsoft.com/office/powerpoint/2010/main" val="3196913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6</a:t>
            </a:fld>
            <a:endParaRPr lang="en-US"/>
          </a:p>
        </p:txBody>
      </p:sp>
    </p:spTree>
    <p:extLst>
      <p:ext uri="{BB962C8B-B14F-4D97-AF65-F5344CB8AC3E}">
        <p14:creationId xmlns:p14="http://schemas.microsoft.com/office/powerpoint/2010/main" val="1206562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7</a:t>
            </a:fld>
            <a:endParaRPr lang="en-US"/>
          </a:p>
        </p:txBody>
      </p:sp>
    </p:spTree>
    <p:extLst>
      <p:ext uri="{BB962C8B-B14F-4D97-AF65-F5344CB8AC3E}">
        <p14:creationId xmlns:p14="http://schemas.microsoft.com/office/powerpoint/2010/main" val="3985903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8</a:t>
            </a:fld>
            <a:endParaRPr lang="en-US"/>
          </a:p>
        </p:txBody>
      </p:sp>
    </p:spTree>
    <p:extLst>
      <p:ext uri="{BB962C8B-B14F-4D97-AF65-F5344CB8AC3E}">
        <p14:creationId xmlns:p14="http://schemas.microsoft.com/office/powerpoint/2010/main" val="108521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9</a:t>
            </a:fld>
            <a:endParaRPr lang="en-US"/>
          </a:p>
        </p:txBody>
      </p:sp>
    </p:spTree>
    <p:extLst>
      <p:ext uri="{BB962C8B-B14F-4D97-AF65-F5344CB8AC3E}">
        <p14:creationId xmlns:p14="http://schemas.microsoft.com/office/powerpoint/2010/main" val="591889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10</a:t>
            </a:fld>
            <a:endParaRPr lang="en-US"/>
          </a:p>
        </p:txBody>
      </p:sp>
    </p:spTree>
    <p:extLst>
      <p:ext uri="{BB962C8B-B14F-4D97-AF65-F5344CB8AC3E}">
        <p14:creationId xmlns:p14="http://schemas.microsoft.com/office/powerpoint/2010/main" val="49313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11</a:t>
            </a:fld>
            <a:endParaRPr lang="en-US"/>
          </a:p>
        </p:txBody>
      </p:sp>
    </p:spTree>
    <p:extLst>
      <p:ext uri="{BB962C8B-B14F-4D97-AF65-F5344CB8AC3E}">
        <p14:creationId xmlns:p14="http://schemas.microsoft.com/office/powerpoint/2010/main" val="96977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12</a:t>
            </a:fld>
            <a:endParaRPr lang="en-US"/>
          </a:p>
        </p:txBody>
      </p:sp>
    </p:spTree>
    <p:extLst>
      <p:ext uri="{BB962C8B-B14F-4D97-AF65-F5344CB8AC3E}">
        <p14:creationId xmlns:p14="http://schemas.microsoft.com/office/powerpoint/2010/main" val="2568664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13</a:t>
            </a:fld>
            <a:endParaRPr lang="en-US"/>
          </a:p>
        </p:txBody>
      </p:sp>
    </p:spTree>
    <p:extLst>
      <p:ext uri="{BB962C8B-B14F-4D97-AF65-F5344CB8AC3E}">
        <p14:creationId xmlns:p14="http://schemas.microsoft.com/office/powerpoint/2010/main" val="2335419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14</a:t>
            </a:fld>
            <a:endParaRPr lang="en-US"/>
          </a:p>
        </p:txBody>
      </p:sp>
    </p:spTree>
    <p:extLst>
      <p:ext uri="{BB962C8B-B14F-4D97-AF65-F5344CB8AC3E}">
        <p14:creationId xmlns:p14="http://schemas.microsoft.com/office/powerpoint/2010/main" val="3771311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15</a:t>
            </a:fld>
            <a:endParaRPr lang="en-US"/>
          </a:p>
        </p:txBody>
      </p:sp>
    </p:spTree>
    <p:extLst>
      <p:ext uri="{BB962C8B-B14F-4D97-AF65-F5344CB8AC3E}">
        <p14:creationId xmlns:p14="http://schemas.microsoft.com/office/powerpoint/2010/main" val="3328808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16</a:t>
            </a:fld>
            <a:endParaRPr lang="en-US"/>
          </a:p>
        </p:txBody>
      </p:sp>
    </p:spTree>
    <p:extLst>
      <p:ext uri="{BB962C8B-B14F-4D97-AF65-F5344CB8AC3E}">
        <p14:creationId xmlns:p14="http://schemas.microsoft.com/office/powerpoint/2010/main" val="2832774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17</a:t>
            </a:fld>
            <a:endParaRPr lang="en-US"/>
          </a:p>
        </p:txBody>
      </p:sp>
    </p:spTree>
    <p:extLst>
      <p:ext uri="{BB962C8B-B14F-4D97-AF65-F5344CB8AC3E}">
        <p14:creationId xmlns:p14="http://schemas.microsoft.com/office/powerpoint/2010/main" val="2555999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18</a:t>
            </a:fld>
            <a:endParaRPr lang="en-US"/>
          </a:p>
        </p:txBody>
      </p:sp>
    </p:spTree>
    <p:extLst>
      <p:ext uri="{BB962C8B-B14F-4D97-AF65-F5344CB8AC3E}">
        <p14:creationId xmlns:p14="http://schemas.microsoft.com/office/powerpoint/2010/main" val="102158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19</a:t>
            </a:fld>
            <a:endParaRPr lang="en-US"/>
          </a:p>
        </p:txBody>
      </p:sp>
    </p:spTree>
    <p:extLst>
      <p:ext uri="{BB962C8B-B14F-4D97-AF65-F5344CB8AC3E}">
        <p14:creationId xmlns:p14="http://schemas.microsoft.com/office/powerpoint/2010/main" val="2489742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20</a:t>
            </a:fld>
            <a:endParaRPr lang="en-US"/>
          </a:p>
        </p:txBody>
      </p:sp>
    </p:spTree>
    <p:extLst>
      <p:ext uri="{BB962C8B-B14F-4D97-AF65-F5344CB8AC3E}">
        <p14:creationId xmlns:p14="http://schemas.microsoft.com/office/powerpoint/2010/main" val="647370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21</a:t>
            </a:fld>
            <a:endParaRPr lang="en-US"/>
          </a:p>
        </p:txBody>
      </p:sp>
    </p:spTree>
    <p:extLst>
      <p:ext uri="{BB962C8B-B14F-4D97-AF65-F5344CB8AC3E}">
        <p14:creationId xmlns:p14="http://schemas.microsoft.com/office/powerpoint/2010/main" val="4097226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22</a:t>
            </a:fld>
            <a:endParaRPr lang="en-US"/>
          </a:p>
        </p:txBody>
      </p:sp>
    </p:spTree>
    <p:extLst>
      <p:ext uri="{BB962C8B-B14F-4D97-AF65-F5344CB8AC3E}">
        <p14:creationId xmlns:p14="http://schemas.microsoft.com/office/powerpoint/2010/main" val="3370369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23</a:t>
            </a:fld>
            <a:endParaRPr lang="en-US"/>
          </a:p>
        </p:txBody>
      </p:sp>
    </p:spTree>
    <p:extLst>
      <p:ext uri="{BB962C8B-B14F-4D97-AF65-F5344CB8AC3E}">
        <p14:creationId xmlns:p14="http://schemas.microsoft.com/office/powerpoint/2010/main" val="467284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24</a:t>
            </a:fld>
            <a:endParaRPr lang="en-US"/>
          </a:p>
        </p:txBody>
      </p:sp>
    </p:spTree>
    <p:extLst>
      <p:ext uri="{BB962C8B-B14F-4D97-AF65-F5344CB8AC3E}">
        <p14:creationId xmlns:p14="http://schemas.microsoft.com/office/powerpoint/2010/main" val="1615944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25</a:t>
            </a:fld>
            <a:endParaRPr lang="en-US"/>
          </a:p>
        </p:txBody>
      </p:sp>
    </p:spTree>
    <p:extLst>
      <p:ext uri="{BB962C8B-B14F-4D97-AF65-F5344CB8AC3E}">
        <p14:creationId xmlns:p14="http://schemas.microsoft.com/office/powerpoint/2010/main" val="20918283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26</a:t>
            </a:fld>
            <a:endParaRPr lang="en-US"/>
          </a:p>
        </p:txBody>
      </p:sp>
    </p:spTree>
    <p:extLst>
      <p:ext uri="{BB962C8B-B14F-4D97-AF65-F5344CB8AC3E}">
        <p14:creationId xmlns:p14="http://schemas.microsoft.com/office/powerpoint/2010/main" val="28206926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27</a:t>
            </a:fld>
            <a:endParaRPr lang="en-US"/>
          </a:p>
        </p:txBody>
      </p:sp>
    </p:spTree>
    <p:extLst>
      <p:ext uri="{BB962C8B-B14F-4D97-AF65-F5344CB8AC3E}">
        <p14:creationId xmlns:p14="http://schemas.microsoft.com/office/powerpoint/2010/main" val="2535909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28</a:t>
            </a:fld>
            <a:endParaRPr lang="en-US"/>
          </a:p>
        </p:txBody>
      </p:sp>
    </p:spTree>
    <p:extLst>
      <p:ext uri="{BB962C8B-B14F-4D97-AF65-F5344CB8AC3E}">
        <p14:creationId xmlns:p14="http://schemas.microsoft.com/office/powerpoint/2010/main" val="10227566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29</a:t>
            </a:fld>
            <a:endParaRPr lang="en-US"/>
          </a:p>
        </p:txBody>
      </p:sp>
    </p:spTree>
    <p:extLst>
      <p:ext uri="{BB962C8B-B14F-4D97-AF65-F5344CB8AC3E}">
        <p14:creationId xmlns:p14="http://schemas.microsoft.com/office/powerpoint/2010/main" val="3366121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30</a:t>
            </a:fld>
            <a:endParaRPr lang="en-US"/>
          </a:p>
        </p:txBody>
      </p:sp>
    </p:spTree>
    <p:extLst>
      <p:ext uri="{BB962C8B-B14F-4D97-AF65-F5344CB8AC3E}">
        <p14:creationId xmlns:p14="http://schemas.microsoft.com/office/powerpoint/2010/main" val="7470433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31</a:t>
            </a:fld>
            <a:endParaRPr lang="en-US"/>
          </a:p>
        </p:txBody>
      </p:sp>
    </p:spTree>
    <p:extLst>
      <p:ext uri="{BB962C8B-B14F-4D97-AF65-F5344CB8AC3E}">
        <p14:creationId xmlns:p14="http://schemas.microsoft.com/office/powerpoint/2010/main" val="7358599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32</a:t>
            </a:fld>
            <a:endParaRPr lang="en-US"/>
          </a:p>
        </p:txBody>
      </p:sp>
    </p:spTree>
    <p:extLst>
      <p:ext uri="{BB962C8B-B14F-4D97-AF65-F5344CB8AC3E}">
        <p14:creationId xmlns:p14="http://schemas.microsoft.com/office/powerpoint/2010/main" val="38499060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33</a:t>
            </a:fld>
            <a:endParaRPr lang="en-US"/>
          </a:p>
        </p:txBody>
      </p:sp>
    </p:spTree>
    <p:extLst>
      <p:ext uri="{BB962C8B-B14F-4D97-AF65-F5344CB8AC3E}">
        <p14:creationId xmlns:p14="http://schemas.microsoft.com/office/powerpoint/2010/main" val="32723678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34</a:t>
            </a:fld>
            <a:endParaRPr lang="en-US"/>
          </a:p>
        </p:txBody>
      </p:sp>
    </p:spTree>
    <p:extLst>
      <p:ext uri="{BB962C8B-B14F-4D97-AF65-F5344CB8AC3E}">
        <p14:creationId xmlns:p14="http://schemas.microsoft.com/office/powerpoint/2010/main" val="2603554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C0F1C4A-1BDB-4675-A076-048C31831125}" type="slidenum">
              <a:rPr lang="en-US" smtClean="0"/>
              <a:pPr/>
              <a:t>35</a:t>
            </a:fld>
            <a:endParaRPr lang="en-US"/>
          </a:p>
        </p:txBody>
      </p:sp>
    </p:spTree>
    <p:extLst>
      <p:ext uri="{BB962C8B-B14F-4D97-AF65-F5344CB8AC3E}">
        <p14:creationId xmlns:p14="http://schemas.microsoft.com/office/powerpoint/2010/main" val="1164481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E2A59D82-6C7D-43DD-9107-1F6E801B1F3A}" type="slidenum">
              <a:rPr lang="en-US"/>
              <a:pPr/>
              <a:t>36</a:t>
            </a:fld>
            <a:endParaRPr lang="en-US"/>
          </a:p>
        </p:txBody>
      </p:sp>
      <p:sp>
        <p:nvSpPr>
          <p:cNvPr id="4099" name="Rectangle 2"/>
          <p:cNvSpPr>
            <a:spLocks noGrp="1" noRot="1" noChangeAspect="1" noChangeArrowheads="1" noTextEdit="1"/>
          </p:cNvSpPr>
          <p:nvPr>
            <p:ph type="sldImg"/>
          </p:nvPr>
        </p:nvSpPr>
        <p:spPr>
          <a:xfrm>
            <a:off x="1150938" y="692150"/>
            <a:ext cx="4556125" cy="3416300"/>
          </a:xfrm>
          <a:ln/>
        </p:spPr>
      </p:sp>
      <p:sp>
        <p:nvSpPr>
          <p:cNvPr id="4100"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3144267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E8457E46-4B9D-4D0A-8F94-2621E3ACD22A}"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51C8AD3C-E222-4D50-89A5-C8FFD3442D13}"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7C09E59B-CA8C-445C-A169-E1D142BEF98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A08764BF-499F-4E91-80E9-3CDF96C0372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9" name="Slide Number Placeholder 8"/>
          <p:cNvSpPr>
            <a:spLocks noGrp="1"/>
          </p:cNvSpPr>
          <p:nvPr>
            <p:ph type="sldNum" sz="quarter" idx="12"/>
          </p:nvPr>
        </p:nvSpPr>
        <p:spPr/>
        <p:txBody>
          <a:bodyPr/>
          <a:lstStyle>
            <a:lvl1pPr>
              <a:defRPr/>
            </a:lvl1pPr>
          </a:lstStyle>
          <a:p>
            <a:fld id="{90949D44-C9FB-4ADC-B9DA-A4913ED6D93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5" name="Slide Number Placeholder 4"/>
          <p:cNvSpPr>
            <a:spLocks noGrp="1"/>
          </p:cNvSpPr>
          <p:nvPr>
            <p:ph type="sldNum" sz="quarter" idx="12"/>
          </p:nvPr>
        </p:nvSpPr>
        <p:spPr/>
        <p:txBody>
          <a:bodyPr/>
          <a:lstStyle>
            <a:lvl1pPr>
              <a:defRPr/>
            </a:lvl1pPr>
          </a:lstStyle>
          <a:p>
            <a:fld id="{4D7CFB3E-BE6E-4874-94BE-57C4113FD4ED}"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4" name="Slide Number Placeholder 3"/>
          <p:cNvSpPr>
            <a:spLocks noGrp="1"/>
          </p:cNvSpPr>
          <p:nvPr>
            <p:ph type="sldNum" sz="quarter" idx="12"/>
          </p:nvPr>
        </p:nvSpPr>
        <p:spPr/>
        <p:txBody>
          <a:bodyPr/>
          <a:lstStyle>
            <a:lvl1pPr>
              <a:defRPr/>
            </a:lvl1pPr>
          </a:lstStyle>
          <a:p>
            <a:fld id="{0CE9C2AC-C7BF-430E-AAD6-79F9A91891E6}"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70B0E33E-A32C-42C9-80E2-482543D8662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F936ECD6-F6FE-4A2A-9B1D-E27AB0356CF1}"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CDED400F-2558-4D01-B3E1-4EA728D994F6}"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8C213769-E07F-4E76-866E-B411C4062E2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656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656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6656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r>
              <a:rPr lang="en-US" dirty="0"/>
              <a:t>© 2017 Cengage Learning. All Rights Reserved. May not be scanned, copied or duplicated, or posted to a publicly accessible website, in whole or in part.</a:t>
            </a:r>
          </a:p>
        </p:txBody>
      </p:sp>
      <p:sp>
        <p:nvSpPr>
          <p:cNvPr id="6656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CED5526-5948-4977-8FBC-4C89BBBB6DFE}"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Font typeface="Wingdings" pitchFamily="2" charset="2"/>
        <a:buChar char="Ø"/>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Fig4-1.xls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Fig4-1.xls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Fig4-4.xlsm"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Fig4-4.xlsm"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notesSlide" Target="../notesSlides/notesSlide28.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hyperlink" Target="Fig4-12.xlsm"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hyperlink" Target="Fig4-14.xls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219200"/>
            <a:ext cx="7772400" cy="1143000"/>
          </a:xfrm>
          <a:noFill/>
        </p:spPr>
        <p:txBody>
          <a:bodyPr lIns="92075" tIns="46038" rIns="92075" bIns="46038"/>
          <a:lstStyle/>
          <a:p>
            <a:pPr eaLnBrk="1" hangingPunct="1"/>
            <a:r>
              <a:rPr lang="en-US" b="1" i="1">
                <a:solidFill>
                  <a:schemeClr val="hlink"/>
                </a:solidFill>
              </a:rPr>
              <a:t>Spreadsheet Modeling </a:t>
            </a:r>
            <a:br>
              <a:rPr lang="en-US" b="1" i="1">
                <a:solidFill>
                  <a:schemeClr val="hlink"/>
                </a:solidFill>
              </a:rPr>
            </a:br>
            <a:r>
              <a:rPr lang="en-US" b="1" i="1">
                <a:solidFill>
                  <a:schemeClr val="hlink"/>
                </a:solidFill>
              </a:rPr>
              <a:t>&amp; Decision Analysis</a:t>
            </a:r>
          </a:p>
        </p:txBody>
      </p:sp>
      <p:sp>
        <p:nvSpPr>
          <p:cNvPr id="2051" name="Rectangle 3"/>
          <p:cNvSpPr>
            <a:spLocks noGrp="1" noChangeArrowheads="1"/>
          </p:cNvSpPr>
          <p:nvPr>
            <p:ph type="subTitle" idx="1"/>
          </p:nvPr>
        </p:nvSpPr>
        <p:spPr>
          <a:xfrm>
            <a:off x="1371600" y="2895600"/>
            <a:ext cx="6400800" cy="1752600"/>
          </a:xfrm>
          <a:noFill/>
        </p:spPr>
        <p:txBody>
          <a:bodyPr lIns="92075" tIns="46038" rIns="92075" bIns="46038"/>
          <a:lstStyle/>
          <a:p>
            <a:pPr eaLnBrk="1" hangingPunct="1"/>
            <a:r>
              <a:rPr lang="en-US" dirty="0"/>
              <a:t>A Practical Introduction to Business Analytics </a:t>
            </a:r>
          </a:p>
          <a:p>
            <a:pPr eaLnBrk="1" hangingPunct="1"/>
            <a:r>
              <a:rPr lang="en-US" sz="2400" dirty="0"/>
              <a:t>8</a:t>
            </a:r>
            <a:r>
              <a:rPr lang="en-US" sz="2400" baseline="30000" dirty="0"/>
              <a:t>th</a:t>
            </a:r>
            <a:r>
              <a:rPr lang="en-US" sz="2400" dirty="0"/>
              <a:t> edition</a:t>
            </a:r>
          </a:p>
          <a:p>
            <a:pPr eaLnBrk="1" hangingPunct="1"/>
            <a:endParaRPr lang="en-US" dirty="0"/>
          </a:p>
          <a:p>
            <a:pPr eaLnBrk="1" hangingPunct="1"/>
            <a:r>
              <a:rPr lang="en-US" dirty="0"/>
              <a:t>Cliff T. Ragsdale</a:t>
            </a:r>
          </a:p>
          <a:p>
            <a:pPr eaLnBrk="1" hangingPunct="1"/>
            <a:endParaRPr lang="en-US"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4680" y="4343400"/>
            <a:ext cx="1615440" cy="2019300"/>
          </a:xfrm>
          <a:prstGeom prst="rect">
            <a:avLst/>
          </a:prstGeom>
        </p:spPr>
      </p:pic>
    </p:spTree>
    <p:extLst>
      <p:ext uri="{BB962C8B-B14F-4D97-AF65-F5344CB8AC3E}">
        <p14:creationId xmlns:p14="http://schemas.microsoft.com/office/powerpoint/2010/main" val="330202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2209800"/>
            <a:ext cx="7772400" cy="2362200"/>
          </a:xfrm>
          <a:noFill/>
          <a:ln/>
        </p:spPr>
        <p:txBody>
          <a:bodyPr lIns="92075" tIns="46038" rIns="92075" bIns="46038"/>
          <a:lstStyle/>
          <a:p>
            <a:r>
              <a:rPr lang="en-US">
                <a:solidFill>
                  <a:schemeClr val="tx1"/>
                </a:solidFill>
              </a:rPr>
              <a:t>Sensitivity Analysis and </a:t>
            </a:r>
            <a:br>
              <a:rPr lang="en-US">
                <a:solidFill>
                  <a:schemeClr val="tx1"/>
                </a:solidFill>
              </a:rPr>
            </a:br>
            <a:r>
              <a:rPr lang="en-US">
                <a:solidFill>
                  <a:schemeClr val="tx1"/>
                </a:solidFill>
              </a:rPr>
              <a:t>the Simplex Method</a:t>
            </a:r>
          </a:p>
        </p:txBody>
      </p:sp>
      <p:sp>
        <p:nvSpPr>
          <p:cNvPr id="6147" name="Rectangle 3"/>
          <p:cNvSpPr>
            <a:spLocks noChangeArrowheads="1"/>
          </p:cNvSpPr>
          <p:nvPr/>
        </p:nvSpPr>
        <p:spPr bwMode="auto">
          <a:xfrm>
            <a:off x="762000" y="228600"/>
            <a:ext cx="7772400" cy="2362200"/>
          </a:xfrm>
          <a:prstGeom prst="rect">
            <a:avLst/>
          </a:prstGeom>
          <a:noFill/>
          <a:ln w="9525">
            <a:noFill/>
            <a:miter lim="800000"/>
            <a:headEnd/>
            <a:tailEnd/>
          </a:ln>
          <a:effectLst/>
        </p:spPr>
        <p:txBody>
          <a:bodyPr lIns="92075" tIns="46038" rIns="92075" bIns="46038" anchor="ctr"/>
          <a:lstStyle/>
          <a:p>
            <a:pPr algn="ctr" eaLnBrk="0" hangingPunct="0"/>
            <a:r>
              <a:rPr lang="en-US" sz="4400" b="1" i="1">
                <a:solidFill>
                  <a:schemeClr val="hlink"/>
                </a:solidFill>
                <a:latin typeface="Tahoma" pitchFamily="34" charset="0"/>
              </a:rPr>
              <a:t>Chapter 4</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557212"/>
          </a:xfrm>
          <a:noFill/>
          <a:ln/>
        </p:spPr>
        <p:txBody>
          <a:bodyPr lIns="92075" tIns="46038" rIns="92075" bIns="46038"/>
          <a:lstStyle/>
          <a:p>
            <a:r>
              <a:rPr lang="en-US" i="1">
                <a:solidFill>
                  <a:schemeClr val="hlink"/>
                </a:solidFill>
              </a:rPr>
              <a:t>Introduction</a:t>
            </a:r>
          </a:p>
        </p:txBody>
      </p:sp>
      <p:sp>
        <p:nvSpPr>
          <p:cNvPr id="7171" name="Rectangle 3"/>
          <p:cNvSpPr>
            <a:spLocks noGrp="1" noChangeArrowheads="1"/>
          </p:cNvSpPr>
          <p:nvPr>
            <p:ph type="body" idx="1"/>
          </p:nvPr>
        </p:nvSpPr>
        <p:spPr>
          <a:xfrm>
            <a:off x="457200" y="1462088"/>
            <a:ext cx="8077200" cy="4152900"/>
          </a:xfrm>
          <a:noFill/>
          <a:ln/>
        </p:spPr>
        <p:txBody>
          <a:bodyPr lIns="92075" tIns="46038" rIns="92075" bIns="46038"/>
          <a:lstStyle/>
          <a:p>
            <a:r>
              <a:rPr lang="en-US" dirty="0"/>
              <a:t>When solving an LP problem we assume that values of all model coefficients are known with certainty.</a:t>
            </a:r>
          </a:p>
          <a:p>
            <a:r>
              <a:rPr lang="en-US" dirty="0"/>
              <a:t>Such certainty rarely exists.</a:t>
            </a:r>
          </a:p>
          <a:p>
            <a:r>
              <a:rPr lang="en-US" dirty="0"/>
              <a:t>Sensitivity analysis helps answer questions about how sensitive the optimal solution is to changes in various coefficients in a model.</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171">
                                            <p:txEl>
                                              <p:pRg st="0" end="0"/>
                                            </p:txEl>
                                          </p:spTgt>
                                        </p:tgtEl>
                                        <p:attrNameLst>
                                          <p:attrName>ppt_c</p:attrName>
                                        </p:attrNameLst>
                                      </p:cBhvr>
                                      <p:to>
                                        <a:srgbClr val="C0C0C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171">
                                            <p:txEl>
                                              <p:pRg st="1" end="1"/>
                                            </p:txEl>
                                          </p:spTgt>
                                        </p:tgtEl>
                                        <p:attrNameLst>
                                          <p:attrName>ppt_c</p:attrName>
                                        </p:attrNameLst>
                                      </p:cBhvr>
                                      <p:to>
                                        <a:srgbClr val="C0C0C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 y="228600"/>
            <a:ext cx="8915400" cy="1219200"/>
          </a:xfrm>
          <a:noFill/>
          <a:ln/>
        </p:spPr>
        <p:txBody>
          <a:bodyPr lIns="92075" tIns="46038" rIns="92075" bIns="46038"/>
          <a:lstStyle/>
          <a:p>
            <a:r>
              <a:rPr lang="en-US" sz="4000" i="1">
                <a:solidFill>
                  <a:schemeClr val="hlink"/>
                </a:solidFill>
              </a:rPr>
              <a:t>General Form of a </a:t>
            </a:r>
            <a:br>
              <a:rPr lang="en-US" sz="4000" i="1">
                <a:solidFill>
                  <a:schemeClr val="hlink"/>
                </a:solidFill>
              </a:rPr>
            </a:br>
            <a:r>
              <a:rPr lang="en-US" sz="4000" i="1">
                <a:solidFill>
                  <a:schemeClr val="hlink"/>
                </a:solidFill>
              </a:rPr>
              <a:t>Linear Programming (LP) Problem</a:t>
            </a:r>
          </a:p>
        </p:txBody>
      </p:sp>
      <p:sp>
        <p:nvSpPr>
          <p:cNvPr id="8195" name="Rectangle 3"/>
          <p:cNvSpPr>
            <a:spLocks noGrp="1" noChangeArrowheads="1"/>
          </p:cNvSpPr>
          <p:nvPr>
            <p:ph type="body" idx="1"/>
          </p:nvPr>
        </p:nvSpPr>
        <p:spPr>
          <a:xfrm>
            <a:off x="304800" y="1714500"/>
            <a:ext cx="8610600" cy="3117850"/>
          </a:xfrm>
          <a:noFill/>
          <a:ln/>
        </p:spPr>
        <p:txBody>
          <a:bodyPr lIns="92075" tIns="46038" rIns="92075" bIns="46038"/>
          <a:lstStyle/>
          <a:p>
            <a:pPr>
              <a:lnSpc>
                <a:spcPct val="120000"/>
              </a:lnSpc>
              <a:buFont typeface="Wingdings" pitchFamily="2" charset="2"/>
              <a:buNone/>
              <a:tabLst>
                <a:tab pos="2339975" algn="l"/>
              </a:tabLst>
            </a:pPr>
            <a:r>
              <a:rPr lang="en-US" sz="2800" dirty="0"/>
              <a:t>MAX (or MIN):  c</a:t>
            </a:r>
            <a:r>
              <a:rPr lang="en-US" sz="2800" baseline="-25000" dirty="0"/>
              <a:t>1</a:t>
            </a:r>
            <a:r>
              <a:rPr lang="en-US" sz="2800" dirty="0"/>
              <a:t>X</a:t>
            </a:r>
            <a:r>
              <a:rPr lang="en-US" sz="2800" baseline="-25000" dirty="0"/>
              <a:t>1</a:t>
            </a:r>
            <a:r>
              <a:rPr lang="en-US" sz="2800" dirty="0"/>
              <a:t> + c</a:t>
            </a:r>
            <a:r>
              <a:rPr lang="en-US" sz="2800" baseline="-25000" dirty="0"/>
              <a:t>2</a:t>
            </a:r>
            <a:r>
              <a:rPr lang="en-US" sz="2800" dirty="0"/>
              <a:t>X</a:t>
            </a:r>
            <a:r>
              <a:rPr lang="en-US" sz="2800" baseline="-25000" dirty="0"/>
              <a:t>2</a:t>
            </a:r>
            <a:r>
              <a:rPr lang="en-US" sz="2800" dirty="0"/>
              <a:t> + … + </a:t>
            </a:r>
            <a:r>
              <a:rPr lang="en-US" sz="2800" dirty="0" err="1"/>
              <a:t>c</a:t>
            </a:r>
            <a:r>
              <a:rPr lang="en-US" sz="2800" i="1" baseline="-25000" dirty="0" err="1">
                <a:latin typeface="Times New Roman" pitchFamily="18" charset="0"/>
              </a:rPr>
              <a:t>n</a:t>
            </a:r>
            <a:r>
              <a:rPr lang="en-US" sz="2800" dirty="0" err="1"/>
              <a:t>X</a:t>
            </a:r>
            <a:r>
              <a:rPr lang="en-US" sz="2800" i="1" baseline="-25000" dirty="0" err="1">
                <a:latin typeface="Times New Roman" pitchFamily="18" charset="0"/>
              </a:rPr>
              <a:t>n</a:t>
            </a:r>
            <a:endParaRPr lang="en-US" sz="2800" baseline="-25000" dirty="0">
              <a:latin typeface="Times New Roman" pitchFamily="18" charset="0"/>
            </a:endParaRPr>
          </a:p>
          <a:p>
            <a:pPr>
              <a:lnSpc>
                <a:spcPct val="120000"/>
              </a:lnSpc>
              <a:buFont typeface="Wingdings" pitchFamily="2" charset="2"/>
              <a:buNone/>
              <a:tabLst>
                <a:tab pos="2339975" algn="l"/>
              </a:tabLst>
            </a:pPr>
            <a:r>
              <a:rPr lang="en-US" sz="2800" dirty="0"/>
              <a:t>Subject to:	  a</a:t>
            </a:r>
            <a:r>
              <a:rPr lang="en-US" sz="2800" baseline="-25000" dirty="0"/>
              <a:t>11</a:t>
            </a:r>
            <a:r>
              <a:rPr lang="en-US" sz="2800" dirty="0"/>
              <a:t>X</a:t>
            </a:r>
            <a:r>
              <a:rPr lang="en-US" sz="2800" baseline="-25000" dirty="0"/>
              <a:t>1</a:t>
            </a:r>
            <a:r>
              <a:rPr lang="en-US" sz="2800" dirty="0"/>
              <a:t> + a</a:t>
            </a:r>
            <a:r>
              <a:rPr lang="en-US" sz="2800" baseline="-25000" dirty="0"/>
              <a:t>12</a:t>
            </a:r>
            <a:r>
              <a:rPr lang="en-US" sz="2800" dirty="0"/>
              <a:t>X</a:t>
            </a:r>
            <a:r>
              <a:rPr lang="en-US" sz="2800" baseline="-25000" dirty="0"/>
              <a:t>2</a:t>
            </a:r>
            <a:r>
              <a:rPr lang="en-US" sz="2800" dirty="0"/>
              <a:t> + … + a</a:t>
            </a:r>
            <a:r>
              <a:rPr lang="en-US" sz="2800" baseline="-25000" dirty="0"/>
              <a:t>1</a:t>
            </a:r>
            <a:r>
              <a:rPr lang="en-US" sz="2800" i="1" baseline="-25000" dirty="0">
                <a:latin typeface="Times New Roman" pitchFamily="18" charset="0"/>
              </a:rPr>
              <a:t>n</a:t>
            </a:r>
            <a:r>
              <a:rPr lang="en-US" sz="2800" dirty="0"/>
              <a:t>X</a:t>
            </a:r>
            <a:r>
              <a:rPr lang="en-US" sz="2800" i="1" baseline="-25000" dirty="0">
                <a:latin typeface="Times New Roman" pitchFamily="18" charset="0"/>
              </a:rPr>
              <a:t>n</a:t>
            </a:r>
            <a:r>
              <a:rPr lang="en-US" sz="2800" dirty="0"/>
              <a:t> &lt;= b</a:t>
            </a:r>
            <a:r>
              <a:rPr lang="en-US" sz="2800" baseline="-25000" dirty="0"/>
              <a:t>1</a:t>
            </a:r>
            <a:endParaRPr lang="en-US" sz="2800" dirty="0"/>
          </a:p>
          <a:p>
            <a:pPr>
              <a:lnSpc>
                <a:spcPct val="90000"/>
              </a:lnSpc>
              <a:buFont typeface="Wingdings" pitchFamily="2" charset="2"/>
              <a:buNone/>
              <a:tabLst>
                <a:tab pos="2339975" algn="l"/>
              </a:tabLst>
            </a:pPr>
            <a:r>
              <a:rPr lang="en-US" sz="2800" dirty="0"/>
              <a:t>					:</a:t>
            </a:r>
          </a:p>
          <a:p>
            <a:pPr>
              <a:lnSpc>
                <a:spcPct val="90000"/>
              </a:lnSpc>
              <a:buFont typeface="Wingdings" pitchFamily="2" charset="2"/>
              <a:buNone/>
              <a:tabLst>
                <a:tab pos="2339975" algn="l"/>
              </a:tabLst>
            </a:pPr>
            <a:r>
              <a:rPr lang="en-US" sz="2800" dirty="0"/>
              <a:t>		  a</a:t>
            </a:r>
            <a:r>
              <a:rPr lang="en-US" sz="2800" i="1" baseline="-25000" dirty="0">
                <a:latin typeface="Times New Roman" pitchFamily="18" charset="0"/>
              </a:rPr>
              <a:t>k</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k</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kn</a:t>
            </a:r>
            <a:r>
              <a:rPr lang="en-US" sz="2800" dirty="0" err="1"/>
              <a:t>X</a:t>
            </a:r>
            <a:r>
              <a:rPr lang="en-US" sz="2800" i="1" baseline="-25000" dirty="0" err="1">
                <a:latin typeface="Times New Roman" pitchFamily="18" charset="0"/>
              </a:rPr>
              <a:t>n</a:t>
            </a:r>
            <a:r>
              <a:rPr lang="en-US" sz="2800" dirty="0"/>
              <a:t> &gt;= b</a:t>
            </a:r>
            <a:r>
              <a:rPr lang="en-US" sz="2800" i="1" baseline="-25000" dirty="0">
                <a:latin typeface="Times New Roman" pitchFamily="18" charset="0"/>
              </a:rPr>
              <a:t>k</a:t>
            </a:r>
            <a:r>
              <a:rPr lang="en-US" sz="2800" dirty="0"/>
              <a:t> </a:t>
            </a:r>
          </a:p>
          <a:p>
            <a:pPr>
              <a:lnSpc>
                <a:spcPct val="90000"/>
              </a:lnSpc>
              <a:buFont typeface="Wingdings" pitchFamily="2" charset="2"/>
              <a:buNone/>
              <a:tabLst>
                <a:tab pos="2339975" algn="l"/>
              </a:tabLst>
            </a:pPr>
            <a:r>
              <a:rPr lang="en-US" sz="2800" dirty="0"/>
              <a:t>					:</a:t>
            </a:r>
          </a:p>
          <a:p>
            <a:pPr>
              <a:lnSpc>
                <a:spcPct val="90000"/>
              </a:lnSpc>
              <a:buFont typeface="Wingdings" pitchFamily="2" charset="2"/>
              <a:buNone/>
              <a:tabLst>
                <a:tab pos="2339975" algn="l"/>
              </a:tabLst>
            </a:pPr>
            <a:r>
              <a:rPr lang="en-US" sz="2800" dirty="0"/>
              <a:t>		  a</a:t>
            </a:r>
            <a:r>
              <a:rPr lang="en-US" sz="2800" i="1" baseline="-25000" dirty="0">
                <a:latin typeface="Times New Roman" pitchFamily="18" charset="0"/>
              </a:rPr>
              <a:t>m</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m</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mn</a:t>
            </a:r>
            <a:r>
              <a:rPr lang="en-US" sz="2800" dirty="0" err="1"/>
              <a:t>X</a:t>
            </a:r>
            <a:r>
              <a:rPr lang="en-US" sz="2800" i="1" baseline="-25000" dirty="0" err="1">
                <a:latin typeface="Times New Roman" pitchFamily="18" charset="0"/>
              </a:rPr>
              <a:t>n</a:t>
            </a:r>
            <a:r>
              <a:rPr lang="en-US" sz="2800" dirty="0"/>
              <a:t> = </a:t>
            </a:r>
            <a:r>
              <a:rPr lang="en-US" sz="2800" dirty="0" err="1"/>
              <a:t>b</a:t>
            </a:r>
            <a:r>
              <a:rPr lang="en-US" sz="2800" i="1" baseline="-25000" dirty="0" err="1">
                <a:latin typeface="Times New Roman" pitchFamily="18" charset="0"/>
              </a:rPr>
              <a:t>m</a:t>
            </a:r>
            <a:r>
              <a:rPr lang="en-US" sz="2800" dirty="0"/>
              <a:t> </a:t>
            </a:r>
          </a:p>
        </p:txBody>
      </p:sp>
      <p:sp>
        <p:nvSpPr>
          <p:cNvPr id="8197" name="Rectangle 5"/>
          <p:cNvSpPr>
            <a:spLocks noChangeArrowheads="1"/>
          </p:cNvSpPr>
          <p:nvPr/>
        </p:nvSpPr>
        <p:spPr bwMode="auto">
          <a:xfrm>
            <a:off x="609600" y="5029200"/>
            <a:ext cx="8077200" cy="1128713"/>
          </a:xfrm>
          <a:prstGeom prst="rect">
            <a:avLst/>
          </a:prstGeom>
          <a:noFill/>
          <a:ln w="9525">
            <a:noFill/>
            <a:miter lim="800000"/>
            <a:headEnd/>
            <a:tailEnd/>
          </a:ln>
          <a:effectLst/>
        </p:spPr>
        <p:txBody>
          <a:bodyPr lIns="92075" tIns="46038" rIns="92075" bIns="46038"/>
          <a:lstStyle/>
          <a:p>
            <a:pPr marL="342900" indent="-342900">
              <a:spcBef>
                <a:spcPct val="20000"/>
              </a:spcBef>
              <a:buClr>
                <a:schemeClr val="hlink"/>
              </a:buClr>
              <a:buFont typeface="Wingdings" pitchFamily="2" charset="2"/>
              <a:buChar char="§"/>
            </a:pPr>
            <a:r>
              <a:rPr lang="en-US" sz="3200" dirty="0"/>
              <a:t>How sensitive is a solution to changes in the c</a:t>
            </a:r>
            <a:r>
              <a:rPr lang="en-US" sz="3200" i="1" baseline="-25000" dirty="0">
                <a:latin typeface="Times New Roman" pitchFamily="18" charset="0"/>
              </a:rPr>
              <a:t>i</a:t>
            </a:r>
            <a:r>
              <a:rPr lang="en-US" sz="3200" dirty="0">
                <a:latin typeface="Times New Roman" pitchFamily="18" charset="0"/>
              </a:rPr>
              <a:t>,</a:t>
            </a:r>
            <a:r>
              <a:rPr lang="en-US" sz="3200" dirty="0"/>
              <a:t> </a:t>
            </a:r>
            <a:r>
              <a:rPr lang="en-US" sz="3200" dirty="0" err="1"/>
              <a:t>a</a:t>
            </a:r>
            <a:r>
              <a:rPr lang="en-US" sz="3200" i="1" baseline="-25000" dirty="0" err="1">
                <a:latin typeface="Times New Roman" pitchFamily="18" charset="0"/>
              </a:rPr>
              <a:t>ij</a:t>
            </a:r>
            <a:r>
              <a:rPr lang="en-US" sz="3200" dirty="0">
                <a:latin typeface="Times New Roman" pitchFamily="18" charset="0"/>
              </a:rPr>
              <a:t>,</a:t>
            </a:r>
            <a:r>
              <a:rPr lang="en-US" sz="3200" dirty="0"/>
              <a:t> and b</a:t>
            </a:r>
            <a:r>
              <a:rPr lang="en-US" sz="3200" i="1" baseline="-25000" dirty="0">
                <a:latin typeface="Times New Roman" pitchFamily="18" charset="0"/>
              </a:rPr>
              <a:t>i</a:t>
            </a:r>
            <a:r>
              <a:rPr lang="en-US" sz="3200" dirty="0"/>
              <a:t>?</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338138"/>
            <a:ext cx="7772400" cy="434975"/>
          </a:xfrm>
          <a:noFill/>
          <a:ln/>
        </p:spPr>
        <p:txBody>
          <a:bodyPr lIns="92075" tIns="46038" rIns="92075" bIns="46038"/>
          <a:lstStyle/>
          <a:p>
            <a:r>
              <a:rPr lang="en-US" sz="3600" i="1">
                <a:solidFill>
                  <a:schemeClr val="hlink"/>
                </a:solidFill>
              </a:rPr>
              <a:t>Approaches to </a:t>
            </a:r>
            <a:r>
              <a:rPr lang="en-US" sz="4000" i="1">
                <a:solidFill>
                  <a:schemeClr val="hlink"/>
                </a:solidFill>
              </a:rPr>
              <a:t>Sensitivity</a:t>
            </a:r>
            <a:r>
              <a:rPr lang="en-US" sz="3600" i="1">
                <a:solidFill>
                  <a:schemeClr val="hlink"/>
                </a:solidFill>
              </a:rPr>
              <a:t> Analysis</a:t>
            </a:r>
          </a:p>
        </p:txBody>
      </p:sp>
      <p:sp>
        <p:nvSpPr>
          <p:cNvPr id="9219" name="Rectangle 3"/>
          <p:cNvSpPr>
            <a:spLocks noGrp="1" noChangeArrowheads="1"/>
          </p:cNvSpPr>
          <p:nvPr>
            <p:ph type="body" idx="1"/>
          </p:nvPr>
        </p:nvSpPr>
        <p:spPr>
          <a:xfrm>
            <a:off x="317500" y="1274763"/>
            <a:ext cx="8329613" cy="4973637"/>
          </a:xfrm>
          <a:noFill/>
          <a:ln/>
        </p:spPr>
        <p:txBody>
          <a:bodyPr lIns="92075" tIns="46038" rIns="92075" bIns="46038"/>
          <a:lstStyle/>
          <a:p>
            <a:r>
              <a:rPr lang="en-US" dirty="0"/>
              <a:t>Change the data and re-solve the model!</a:t>
            </a:r>
          </a:p>
          <a:p>
            <a:pPr lvl="1"/>
            <a:r>
              <a:rPr lang="en-US" sz="3200" dirty="0"/>
              <a:t>Sometimes this is the only practical approach.</a:t>
            </a:r>
          </a:p>
          <a:p>
            <a:r>
              <a:rPr lang="en-US" dirty="0"/>
              <a:t>Solver also produces sensitivity reports that can answer various questions…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5800" y="338138"/>
            <a:ext cx="7772400" cy="434975"/>
          </a:xfrm>
          <a:noFill/>
          <a:ln/>
        </p:spPr>
        <p:txBody>
          <a:bodyPr lIns="92075" tIns="46038" rIns="92075" bIns="46038"/>
          <a:lstStyle/>
          <a:p>
            <a:r>
              <a:rPr lang="en-US" sz="4000" i="1" dirty="0">
                <a:solidFill>
                  <a:schemeClr val="hlink"/>
                </a:solidFill>
              </a:rPr>
              <a:t>Solver’s Sensitivity Report</a:t>
            </a:r>
          </a:p>
        </p:txBody>
      </p:sp>
      <p:sp>
        <p:nvSpPr>
          <p:cNvPr id="41987" name="Rectangle 3"/>
          <p:cNvSpPr>
            <a:spLocks noGrp="1" noChangeArrowheads="1"/>
          </p:cNvSpPr>
          <p:nvPr>
            <p:ph type="body" idx="1"/>
          </p:nvPr>
        </p:nvSpPr>
        <p:spPr>
          <a:xfrm>
            <a:off x="317500" y="1066800"/>
            <a:ext cx="8329613" cy="4973638"/>
          </a:xfrm>
          <a:noFill/>
          <a:ln/>
        </p:spPr>
        <p:txBody>
          <a:bodyPr lIns="92075" tIns="46038" rIns="92075" bIns="46038"/>
          <a:lstStyle/>
          <a:p>
            <a:r>
              <a:rPr lang="en-US" dirty="0"/>
              <a:t>Answers questions about:</a:t>
            </a:r>
          </a:p>
          <a:p>
            <a:pPr lvl="1"/>
            <a:r>
              <a:rPr lang="en-US" dirty="0"/>
              <a:t>Amounts by which objective function coefficients can change without changing the optimal solution.</a:t>
            </a:r>
          </a:p>
          <a:p>
            <a:pPr lvl="1"/>
            <a:r>
              <a:rPr lang="en-US" dirty="0"/>
              <a:t>The impact on the optimal objective function value of changes in constrained resources.</a:t>
            </a:r>
          </a:p>
          <a:p>
            <a:pPr lvl="1"/>
            <a:r>
              <a:rPr lang="en-US" dirty="0"/>
              <a:t>The impact on the optimal objective function value of forced changes in decision variables.</a:t>
            </a:r>
          </a:p>
          <a:p>
            <a:pPr lvl="1"/>
            <a:r>
              <a:rPr lang="en-US" dirty="0"/>
              <a:t>The impact changes in constraint coefficients will have on the optimal solution.</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1987">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rgbClr val="C0C0C0"/>
                                      </p:to>
                                    </p:animClr>
                                  </p:sub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rgbClr val="C0C0C0"/>
                                      </p:to>
                                    </p:animClr>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rgbClr val="C0C0C0"/>
                                      </p:to>
                                    </p:animClr>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2075" tIns="46038" rIns="92075" bIns="46038"/>
          <a:lstStyle/>
          <a:p>
            <a:r>
              <a:rPr lang="en-US" sz="4000" i="1">
                <a:solidFill>
                  <a:schemeClr val="hlink"/>
                </a:solidFill>
              </a:rPr>
              <a:t>Software</a:t>
            </a:r>
            <a:r>
              <a:rPr lang="en-US" i="1">
                <a:solidFill>
                  <a:schemeClr val="hlink"/>
                </a:solidFill>
              </a:rPr>
              <a:t> Note</a:t>
            </a:r>
          </a:p>
        </p:txBody>
      </p:sp>
      <p:sp>
        <p:nvSpPr>
          <p:cNvPr id="10243" name="Rectangle 3"/>
          <p:cNvSpPr>
            <a:spLocks noGrp="1" noChangeArrowheads="1"/>
          </p:cNvSpPr>
          <p:nvPr>
            <p:ph type="body" idx="1"/>
          </p:nvPr>
        </p:nvSpPr>
        <p:spPr>
          <a:xfrm>
            <a:off x="479425" y="1714500"/>
            <a:ext cx="8369300" cy="3117850"/>
          </a:xfrm>
          <a:noFill/>
          <a:ln/>
        </p:spPr>
        <p:txBody>
          <a:bodyPr lIns="92075" tIns="46038" rIns="92075" bIns="46038"/>
          <a:lstStyle/>
          <a:p>
            <a:pPr marL="0" indent="0">
              <a:lnSpc>
                <a:spcPct val="140000"/>
              </a:lnSpc>
              <a:buFont typeface="Wingdings" pitchFamily="2" charset="2"/>
              <a:buNone/>
            </a:pPr>
            <a:r>
              <a:rPr lang="en-US" dirty="0"/>
              <a:t>When solving LP problems, be sure to use an LP algorithm/engine as this allows Solver to provide more sensitivity information than it could otherwise.</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04800" y="304800"/>
            <a:ext cx="8686800" cy="1143000"/>
          </a:xfrm>
          <a:noFill/>
          <a:ln/>
        </p:spPr>
        <p:txBody>
          <a:bodyPr lIns="92075" tIns="46038" rIns="92075" bIns="46038"/>
          <a:lstStyle/>
          <a:p>
            <a:r>
              <a:rPr lang="en-US" sz="4000" i="1">
                <a:solidFill>
                  <a:schemeClr val="hlink"/>
                </a:solidFill>
              </a:rPr>
              <a:t>Once Again, We’ll Use The</a:t>
            </a:r>
            <a:br>
              <a:rPr lang="en-US" sz="4000" i="1">
                <a:solidFill>
                  <a:schemeClr val="hlink"/>
                </a:solidFill>
              </a:rPr>
            </a:br>
            <a:r>
              <a:rPr lang="en-US" sz="4000" i="1">
                <a:solidFill>
                  <a:schemeClr val="hlink"/>
                </a:solidFill>
              </a:rPr>
              <a:t> Blue Ridge Hot Tubs Example...</a:t>
            </a:r>
          </a:p>
        </p:txBody>
      </p:sp>
      <p:sp>
        <p:nvSpPr>
          <p:cNvPr id="11267" name="Rectangle 3"/>
          <p:cNvSpPr>
            <a:spLocks noChangeArrowheads="1"/>
          </p:cNvSpPr>
          <p:nvPr/>
        </p:nvSpPr>
        <p:spPr bwMode="auto">
          <a:xfrm>
            <a:off x="1481138" y="2246313"/>
            <a:ext cx="7150100" cy="2859087"/>
          </a:xfrm>
          <a:prstGeom prst="rect">
            <a:avLst/>
          </a:prstGeom>
          <a:noFill/>
          <a:ln w="9525">
            <a:noFill/>
            <a:miter lim="800000"/>
            <a:headEnd/>
            <a:tailEnd/>
          </a:ln>
          <a:effectLst/>
        </p:spPr>
        <p:txBody>
          <a:bodyPr lIns="92075" tIns="46038" rIns="92075" bIns="46038">
            <a:spAutoFit/>
          </a:bodyPr>
          <a:lstStyle/>
          <a:p>
            <a:pPr eaLnBrk="0" hangingPunct="0"/>
            <a:r>
              <a:rPr lang="en-US" sz="2800" dirty="0">
                <a:solidFill>
                  <a:srgbClr val="FFFFFF"/>
                </a:solidFill>
              </a:rPr>
              <a:t>MAX: 350X</a:t>
            </a:r>
            <a:r>
              <a:rPr lang="en-US" sz="2800" baseline="-25000" dirty="0">
                <a:solidFill>
                  <a:srgbClr val="FFFFFF"/>
                </a:solidFill>
              </a:rPr>
              <a:t>1</a:t>
            </a:r>
            <a:r>
              <a:rPr lang="en-US" sz="2800" dirty="0">
                <a:solidFill>
                  <a:srgbClr val="FFFFFF"/>
                </a:solidFill>
              </a:rPr>
              <a:t> + 300X</a:t>
            </a:r>
            <a:r>
              <a:rPr lang="en-US" sz="2800" baseline="-25000" dirty="0">
                <a:solidFill>
                  <a:srgbClr val="FFFFFF"/>
                </a:solidFill>
              </a:rPr>
              <a:t>2</a:t>
            </a:r>
            <a:r>
              <a:rPr lang="en-US" sz="2800" dirty="0">
                <a:solidFill>
                  <a:srgbClr val="FFFFFF"/>
                </a:solidFill>
              </a:rPr>
              <a:t>		}  profit</a:t>
            </a:r>
          </a:p>
          <a:p>
            <a:pPr eaLnBrk="0" hangingPunct="0">
              <a:spcBef>
                <a:spcPct val="20000"/>
              </a:spcBef>
            </a:pPr>
            <a:r>
              <a:rPr lang="en-US" sz="2800" dirty="0">
                <a:solidFill>
                  <a:srgbClr val="FFFFFF"/>
                </a:solidFill>
              </a:rPr>
              <a:t>S.T.:	1X</a:t>
            </a:r>
            <a:r>
              <a:rPr lang="en-US" sz="2800" baseline="-25000" dirty="0">
                <a:solidFill>
                  <a:srgbClr val="FFFFFF"/>
                </a:solidFill>
              </a:rPr>
              <a:t>1</a:t>
            </a:r>
            <a:r>
              <a:rPr lang="en-US" sz="2800" dirty="0">
                <a:solidFill>
                  <a:srgbClr val="FFFFFF"/>
                </a:solidFill>
              </a:rPr>
              <a:t> + 1X</a:t>
            </a:r>
            <a:r>
              <a:rPr lang="en-US" sz="2800" baseline="-25000" dirty="0">
                <a:solidFill>
                  <a:srgbClr val="FFFFFF"/>
                </a:solidFill>
              </a:rPr>
              <a:t>2</a:t>
            </a:r>
            <a:r>
              <a:rPr lang="en-US" sz="2800" dirty="0">
                <a:solidFill>
                  <a:srgbClr val="FFFFFF"/>
                </a:solidFill>
              </a:rPr>
              <a:t> &lt;= 200	}  pumps</a:t>
            </a:r>
          </a:p>
          <a:p>
            <a:pPr eaLnBrk="0" hangingPunct="0">
              <a:spcBef>
                <a:spcPct val="20000"/>
              </a:spcBef>
            </a:pPr>
            <a:r>
              <a:rPr lang="en-US" sz="2800" dirty="0">
                <a:solidFill>
                  <a:srgbClr val="FFFFFF"/>
                </a:solidFill>
              </a:rPr>
              <a:t>	9X</a:t>
            </a:r>
            <a:r>
              <a:rPr lang="en-US" sz="2800" baseline="-25000" dirty="0">
                <a:solidFill>
                  <a:srgbClr val="FFFFFF"/>
                </a:solidFill>
              </a:rPr>
              <a:t>1</a:t>
            </a:r>
            <a:r>
              <a:rPr lang="en-US" sz="2800" dirty="0">
                <a:solidFill>
                  <a:srgbClr val="FFFFFF"/>
                </a:solidFill>
              </a:rPr>
              <a:t> + 6X</a:t>
            </a:r>
            <a:r>
              <a:rPr lang="en-US" sz="2800" baseline="-25000" dirty="0">
                <a:solidFill>
                  <a:srgbClr val="FFFFFF"/>
                </a:solidFill>
              </a:rPr>
              <a:t>2</a:t>
            </a:r>
            <a:r>
              <a:rPr lang="en-US" sz="2800" dirty="0">
                <a:solidFill>
                  <a:srgbClr val="FFFFFF"/>
                </a:solidFill>
              </a:rPr>
              <a:t> &lt;= 1566	}  labor</a:t>
            </a:r>
          </a:p>
          <a:p>
            <a:pPr eaLnBrk="0" hangingPunct="0">
              <a:spcBef>
                <a:spcPct val="20000"/>
              </a:spcBef>
            </a:pPr>
            <a:r>
              <a:rPr lang="en-US" sz="2800" dirty="0">
                <a:solidFill>
                  <a:srgbClr val="FFFFFF"/>
                </a:solidFill>
              </a:rPr>
              <a:t>	12X</a:t>
            </a:r>
            <a:r>
              <a:rPr lang="en-US" sz="2800" baseline="-25000" dirty="0">
                <a:solidFill>
                  <a:srgbClr val="FFFFFF"/>
                </a:solidFill>
              </a:rPr>
              <a:t>1</a:t>
            </a:r>
            <a:r>
              <a:rPr lang="en-US" sz="2800" dirty="0">
                <a:solidFill>
                  <a:srgbClr val="FFFFFF"/>
                </a:solidFill>
              </a:rPr>
              <a:t> + 16X</a:t>
            </a:r>
            <a:r>
              <a:rPr lang="en-US" sz="2800" baseline="-25000" dirty="0">
                <a:solidFill>
                  <a:srgbClr val="FFFFFF"/>
                </a:solidFill>
              </a:rPr>
              <a:t>2</a:t>
            </a:r>
            <a:r>
              <a:rPr lang="en-US" sz="2800" dirty="0">
                <a:solidFill>
                  <a:srgbClr val="FFFFFF"/>
                </a:solidFill>
              </a:rPr>
              <a:t> &lt;= 2880	}  tubing</a:t>
            </a:r>
          </a:p>
          <a:p>
            <a:pPr eaLnBrk="0" hangingPunct="0">
              <a:spcBef>
                <a:spcPct val="20000"/>
              </a:spcBef>
            </a:pPr>
            <a:r>
              <a:rPr lang="en-US" sz="2800" dirty="0">
                <a:solidFill>
                  <a:srgbClr val="FFFFFF"/>
                </a:solidFill>
              </a:rPr>
              <a:t>	X</a:t>
            </a:r>
            <a:r>
              <a:rPr lang="en-US" sz="2800" baseline="-25000" dirty="0">
                <a:solidFill>
                  <a:srgbClr val="FFFFFF"/>
                </a:solidFill>
              </a:rPr>
              <a:t>1</a:t>
            </a:r>
            <a:r>
              <a:rPr lang="en-US" sz="2800" dirty="0">
                <a:solidFill>
                  <a:srgbClr val="FFFFFF"/>
                </a:solidFill>
              </a:rPr>
              <a:t>, X</a:t>
            </a:r>
            <a:r>
              <a:rPr lang="en-US" sz="2800" baseline="-25000" dirty="0">
                <a:solidFill>
                  <a:srgbClr val="FFFFFF"/>
                </a:solidFill>
              </a:rPr>
              <a:t>2</a:t>
            </a:r>
            <a:r>
              <a:rPr lang="en-US" sz="2800" dirty="0">
                <a:solidFill>
                  <a:srgbClr val="FFFFFF"/>
                </a:solidFill>
              </a:rPr>
              <a:t> &gt;= 0			} nonnegativity</a:t>
            </a:r>
            <a:endParaRPr lang="en-US" sz="2800" baseline="-25000" dirty="0">
              <a:solidFill>
                <a:srgbClr val="FFFFFF"/>
              </a:solidFill>
            </a:endParaRPr>
          </a:p>
          <a:p>
            <a:pPr eaLnBrk="0" hangingPunct="0"/>
            <a:endParaRPr lang="en-US" sz="2800" baseline="-25000" dirty="0">
              <a:solidFill>
                <a:srgbClr val="FFFFFF"/>
              </a:solidFill>
            </a:endParaRP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p:spPr>
        <p:txBody>
          <a:bodyPr lIns="92075" tIns="46038" rIns="92075" bIns="46038"/>
          <a:lstStyle/>
          <a:p>
            <a:r>
              <a:rPr lang="en-US" sz="4000" i="1">
                <a:solidFill>
                  <a:schemeClr val="hlink"/>
                </a:solidFill>
              </a:rPr>
              <a:t>The Answer Report</a:t>
            </a:r>
          </a:p>
        </p:txBody>
      </p:sp>
      <p:sp>
        <p:nvSpPr>
          <p:cNvPr id="12291" name="Rectangle 3"/>
          <p:cNvSpPr>
            <a:spLocks noChangeArrowheads="1"/>
          </p:cNvSpPr>
          <p:nvPr/>
        </p:nvSpPr>
        <p:spPr bwMode="auto">
          <a:xfrm>
            <a:off x="779463" y="1808163"/>
            <a:ext cx="7283450" cy="641350"/>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3600" dirty="0"/>
              <a:t>See file </a:t>
            </a:r>
            <a:r>
              <a:rPr lang="en-US" sz="3600" dirty="0">
                <a:hlinkClick r:id="rId3" action="ppaction://hlinkfile"/>
              </a:rPr>
              <a:t>Fig4-1.xlsm</a:t>
            </a:r>
            <a:endParaRPr lang="en-US" sz="3600" dirty="0"/>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2075" tIns="46038" rIns="92075" bIns="46038"/>
          <a:lstStyle/>
          <a:p>
            <a:r>
              <a:rPr lang="en-US" sz="4000" i="1">
                <a:solidFill>
                  <a:schemeClr val="hlink"/>
                </a:solidFill>
              </a:rPr>
              <a:t>The Sensitivity Report</a:t>
            </a:r>
          </a:p>
        </p:txBody>
      </p:sp>
      <p:sp>
        <p:nvSpPr>
          <p:cNvPr id="13315" name="Rectangle 3"/>
          <p:cNvSpPr>
            <a:spLocks noChangeArrowheads="1"/>
          </p:cNvSpPr>
          <p:nvPr/>
        </p:nvSpPr>
        <p:spPr bwMode="auto">
          <a:xfrm>
            <a:off x="779463" y="1808163"/>
            <a:ext cx="7283450" cy="641350"/>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3600" dirty="0"/>
              <a:t>See file </a:t>
            </a:r>
            <a:r>
              <a:rPr lang="en-US" sz="3600" dirty="0">
                <a:hlinkClick r:id="rId3" action="ppaction://hlinkfile"/>
              </a:rPr>
              <a:t>Fig4-1.xlsm</a:t>
            </a:r>
            <a:endParaRPr lang="en-US" sz="3600" dirty="0"/>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65" name="Rectangle 29"/>
          <p:cNvSpPr>
            <a:spLocks noChangeArrowheads="1"/>
          </p:cNvSpPr>
          <p:nvPr/>
        </p:nvSpPr>
        <p:spPr bwMode="auto">
          <a:xfrm>
            <a:off x="990600" y="381000"/>
            <a:ext cx="7772400" cy="609600"/>
          </a:xfrm>
          <a:prstGeom prst="rect">
            <a:avLst/>
          </a:prstGeom>
          <a:noFill/>
          <a:ln w="9525">
            <a:noFill/>
            <a:miter lim="800000"/>
            <a:headEnd/>
            <a:tailEnd/>
          </a:ln>
          <a:effectLst/>
        </p:spPr>
        <p:txBody>
          <a:bodyPr lIns="92075" tIns="46038" rIns="92075" bIns="46038" anchor="ctr"/>
          <a:lstStyle/>
          <a:p>
            <a:pPr algn="ctr" eaLnBrk="0" hangingPunct="0">
              <a:lnSpc>
                <a:spcPct val="90000"/>
              </a:lnSpc>
            </a:pPr>
            <a:r>
              <a:rPr lang="en-US" sz="3200" i="1">
                <a:solidFill>
                  <a:schemeClr val="hlink"/>
                </a:solidFill>
                <a:latin typeface="Tahoma" pitchFamily="34" charset="0"/>
              </a:rPr>
              <a:t>How Changes in Objective Coefficients Change the Slope of the Level Curve</a:t>
            </a:r>
          </a:p>
        </p:txBody>
      </p:sp>
      <p:grpSp>
        <p:nvGrpSpPr>
          <p:cNvPr id="14379" name="Group 43"/>
          <p:cNvGrpSpPr>
            <a:grpSpLocks/>
          </p:cNvGrpSpPr>
          <p:nvPr/>
        </p:nvGrpSpPr>
        <p:grpSpPr bwMode="auto">
          <a:xfrm>
            <a:off x="609600" y="838200"/>
            <a:ext cx="8137525" cy="5638800"/>
            <a:chOff x="544" y="288"/>
            <a:chExt cx="5126" cy="3552"/>
          </a:xfrm>
        </p:grpSpPr>
        <p:sp>
          <p:nvSpPr>
            <p:cNvPr id="14338" name="Freeform 2" descr="70%"/>
            <p:cNvSpPr>
              <a:spLocks/>
            </p:cNvSpPr>
            <p:nvPr/>
          </p:nvSpPr>
          <p:spPr bwMode="auto">
            <a:xfrm>
              <a:off x="948" y="1578"/>
              <a:ext cx="2383" cy="1903"/>
            </a:xfrm>
            <a:custGeom>
              <a:avLst/>
              <a:gdLst/>
              <a:ahLst/>
              <a:cxnLst>
                <a:cxn ang="0">
                  <a:pos x="0" y="0"/>
                </a:cxn>
                <a:cxn ang="0">
                  <a:pos x="0" y="1902"/>
                </a:cxn>
                <a:cxn ang="0">
                  <a:pos x="2382" y="1896"/>
                </a:cxn>
                <a:cxn ang="0">
                  <a:pos x="1774" y="1186"/>
                </a:cxn>
                <a:cxn ang="0">
                  <a:pos x="1052" y="637"/>
                </a:cxn>
                <a:cxn ang="0">
                  <a:pos x="0" y="0"/>
                </a:cxn>
              </a:cxnLst>
              <a:rect l="0" t="0" r="r" b="b"/>
              <a:pathLst>
                <a:path w="2383" h="1903">
                  <a:moveTo>
                    <a:pt x="0" y="0"/>
                  </a:moveTo>
                  <a:lnTo>
                    <a:pt x="0" y="1902"/>
                  </a:lnTo>
                  <a:lnTo>
                    <a:pt x="2382" y="1896"/>
                  </a:lnTo>
                  <a:lnTo>
                    <a:pt x="1774" y="1186"/>
                  </a:lnTo>
                  <a:lnTo>
                    <a:pt x="1052" y="637"/>
                  </a:lnTo>
                  <a:lnTo>
                    <a:pt x="0" y="0"/>
                  </a:lnTo>
                </a:path>
              </a:pathLst>
            </a:custGeom>
            <a:pattFill prst="pct70">
              <a:fgClr>
                <a:srgbClr val="3399FF"/>
              </a:fgClr>
              <a:bgClr>
                <a:schemeClr val="bg1"/>
              </a:bgClr>
            </a:pattFill>
            <a:ln w="12700" cap="rnd" cmpd="sng">
              <a:solidFill>
                <a:schemeClr val="tx1"/>
              </a:solidFill>
              <a:prstDash val="solid"/>
              <a:round/>
              <a:headEnd/>
              <a:tailEnd/>
            </a:ln>
            <a:effectLst/>
          </p:spPr>
          <p:txBody>
            <a:bodyPr/>
            <a:lstStyle/>
            <a:p>
              <a:endParaRPr lang="en-US"/>
            </a:p>
          </p:txBody>
        </p:sp>
        <p:sp>
          <p:nvSpPr>
            <p:cNvPr id="14339" name="Line 3"/>
            <p:cNvSpPr>
              <a:spLocks noChangeShapeType="1"/>
            </p:cNvSpPr>
            <p:nvPr/>
          </p:nvSpPr>
          <p:spPr bwMode="auto">
            <a:xfrm>
              <a:off x="894" y="3483"/>
              <a:ext cx="3894" cy="0"/>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14340" name="Line 4"/>
            <p:cNvSpPr>
              <a:spLocks noChangeShapeType="1"/>
            </p:cNvSpPr>
            <p:nvPr/>
          </p:nvSpPr>
          <p:spPr bwMode="auto">
            <a:xfrm>
              <a:off x="1613" y="3483"/>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1" name="Line 5"/>
            <p:cNvSpPr>
              <a:spLocks noChangeShapeType="1"/>
            </p:cNvSpPr>
            <p:nvPr/>
          </p:nvSpPr>
          <p:spPr bwMode="auto">
            <a:xfrm>
              <a:off x="2272" y="3483"/>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2" name="Line 6"/>
            <p:cNvSpPr>
              <a:spLocks noChangeShapeType="1"/>
            </p:cNvSpPr>
            <p:nvPr/>
          </p:nvSpPr>
          <p:spPr bwMode="auto">
            <a:xfrm>
              <a:off x="2931" y="3483"/>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3" name="Line 7"/>
            <p:cNvSpPr>
              <a:spLocks noChangeShapeType="1"/>
            </p:cNvSpPr>
            <p:nvPr/>
          </p:nvSpPr>
          <p:spPr bwMode="auto">
            <a:xfrm>
              <a:off x="3590" y="3483"/>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4" name="Line 8"/>
            <p:cNvSpPr>
              <a:spLocks noChangeShapeType="1"/>
            </p:cNvSpPr>
            <p:nvPr/>
          </p:nvSpPr>
          <p:spPr bwMode="auto">
            <a:xfrm>
              <a:off x="4249" y="3483"/>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5" name="Line 9"/>
            <p:cNvSpPr>
              <a:spLocks noChangeShapeType="1"/>
            </p:cNvSpPr>
            <p:nvPr/>
          </p:nvSpPr>
          <p:spPr bwMode="auto">
            <a:xfrm flipV="1">
              <a:off x="954" y="404"/>
              <a:ext cx="0" cy="3127"/>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14346" name="Line 10"/>
            <p:cNvSpPr>
              <a:spLocks noChangeShapeType="1"/>
            </p:cNvSpPr>
            <p:nvPr/>
          </p:nvSpPr>
          <p:spPr bwMode="auto">
            <a:xfrm flipH="1">
              <a:off x="894" y="2954"/>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7" name="Line 11"/>
            <p:cNvSpPr>
              <a:spLocks noChangeShapeType="1"/>
            </p:cNvSpPr>
            <p:nvPr/>
          </p:nvSpPr>
          <p:spPr bwMode="auto">
            <a:xfrm flipH="1">
              <a:off x="894" y="2425"/>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8" name="Line 12"/>
            <p:cNvSpPr>
              <a:spLocks noChangeShapeType="1"/>
            </p:cNvSpPr>
            <p:nvPr/>
          </p:nvSpPr>
          <p:spPr bwMode="auto">
            <a:xfrm flipH="1">
              <a:off x="894" y="1895"/>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49" name="Line 13"/>
            <p:cNvSpPr>
              <a:spLocks noChangeShapeType="1"/>
            </p:cNvSpPr>
            <p:nvPr/>
          </p:nvSpPr>
          <p:spPr bwMode="auto">
            <a:xfrm flipH="1">
              <a:off x="894" y="1366"/>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50" name="Line 14"/>
            <p:cNvSpPr>
              <a:spLocks noChangeShapeType="1"/>
            </p:cNvSpPr>
            <p:nvPr/>
          </p:nvSpPr>
          <p:spPr bwMode="auto">
            <a:xfrm flipH="1">
              <a:off x="894" y="837"/>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4351" name="Rectangle 15"/>
            <p:cNvSpPr>
              <a:spLocks noChangeArrowheads="1"/>
            </p:cNvSpPr>
            <p:nvPr/>
          </p:nvSpPr>
          <p:spPr bwMode="auto">
            <a:xfrm>
              <a:off x="570" y="288"/>
              <a:ext cx="624" cy="288"/>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2</a:t>
              </a:r>
            </a:p>
          </p:txBody>
        </p:sp>
        <p:sp>
          <p:nvSpPr>
            <p:cNvPr id="14352" name="Rectangle 16"/>
            <p:cNvSpPr>
              <a:spLocks noChangeArrowheads="1"/>
            </p:cNvSpPr>
            <p:nvPr/>
          </p:nvSpPr>
          <p:spPr bwMode="auto">
            <a:xfrm>
              <a:off x="4608" y="3552"/>
              <a:ext cx="624" cy="288"/>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1</a:t>
              </a:r>
            </a:p>
          </p:txBody>
        </p:sp>
        <p:sp>
          <p:nvSpPr>
            <p:cNvPr id="14353" name="Rectangle 17"/>
            <p:cNvSpPr>
              <a:spLocks noChangeArrowheads="1"/>
            </p:cNvSpPr>
            <p:nvPr/>
          </p:nvSpPr>
          <p:spPr bwMode="auto">
            <a:xfrm>
              <a:off x="554" y="718"/>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14354" name="Rectangle 18"/>
            <p:cNvSpPr>
              <a:spLocks noChangeArrowheads="1"/>
            </p:cNvSpPr>
            <p:nvPr/>
          </p:nvSpPr>
          <p:spPr bwMode="auto">
            <a:xfrm>
              <a:off x="555" y="1266"/>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14355" name="Rectangle 19"/>
            <p:cNvSpPr>
              <a:spLocks noChangeArrowheads="1"/>
            </p:cNvSpPr>
            <p:nvPr/>
          </p:nvSpPr>
          <p:spPr bwMode="auto">
            <a:xfrm>
              <a:off x="544" y="178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14356" name="Rectangle 20"/>
            <p:cNvSpPr>
              <a:spLocks noChangeArrowheads="1"/>
            </p:cNvSpPr>
            <p:nvPr/>
          </p:nvSpPr>
          <p:spPr bwMode="auto">
            <a:xfrm>
              <a:off x="555" y="2320"/>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14357" name="Rectangle 21"/>
            <p:cNvSpPr>
              <a:spLocks noChangeArrowheads="1"/>
            </p:cNvSpPr>
            <p:nvPr/>
          </p:nvSpPr>
          <p:spPr bwMode="auto">
            <a:xfrm>
              <a:off x="587" y="2846"/>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14358" name="Rectangle 22"/>
            <p:cNvSpPr>
              <a:spLocks noChangeArrowheads="1"/>
            </p:cNvSpPr>
            <p:nvPr/>
          </p:nvSpPr>
          <p:spPr bwMode="auto">
            <a:xfrm>
              <a:off x="618" y="337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14359" name="Rectangle 23"/>
            <p:cNvSpPr>
              <a:spLocks noChangeArrowheads="1"/>
            </p:cNvSpPr>
            <p:nvPr/>
          </p:nvSpPr>
          <p:spPr bwMode="auto">
            <a:xfrm>
              <a:off x="777" y="355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14360" name="Rectangle 24"/>
            <p:cNvSpPr>
              <a:spLocks noChangeArrowheads="1"/>
            </p:cNvSpPr>
            <p:nvPr/>
          </p:nvSpPr>
          <p:spPr bwMode="auto">
            <a:xfrm>
              <a:off x="1451" y="3563"/>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14361" name="Rectangle 25"/>
            <p:cNvSpPr>
              <a:spLocks noChangeArrowheads="1"/>
            </p:cNvSpPr>
            <p:nvPr/>
          </p:nvSpPr>
          <p:spPr bwMode="auto">
            <a:xfrm>
              <a:off x="2082" y="354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14362" name="Rectangle 26"/>
            <p:cNvSpPr>
              <a:spLocks noChangeArrowheads="1"/>
            </p:cNvSpPr>
            <p:nvPr/>
          </p:nvSpPr>
          <p:spPr bwMode="auto">
            <a:xfrm>
              <a:off x="2734" y="355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14363" name="Rectangle 27"/>
            <p:cNvSpPr>
              <a:spLocks noChangeArrowheads="1"/>
            </p:cNvSpPr>
            <p:nvPr/>
          </p:nvSpPr>
          <p:spPr bwMode="auto">
            <a:xfrm>
              <a:off x="3398" y="356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14364" name="Rectangle 28"/>
            <p:cNvSpPr>
              <a:spLocks noChangeArrowheads="1"/>
            </p:cNvSpPr>
            <p:nvPr/>
          </p:nvSpPr>
          <p:spPr bwMode="auto">
            <a:xfrm>
              <a:off x="4060" y="3562"/>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14366" name="Line 30"/>
            <p:cNvSpPr>
              <a:spLocks noChangeShapeType="1"/>
            </p:cNvSpPr>
            <p:nvPr/>
          </p:nvSpPr>
          <p:spPr bwMode="auto">
            <a:xfrm>
              <a:off x="954" y="1584"/>
              <a:ext cx="1059" cy="636"/>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4367" name="Line 31"/>
            <p:cNvSpPr>
              <a:spLocks noChangeShapeType="1"/>
            </p:cNvSpPr>
            <p:nvPr/>
          </p:nvSpPr>
          <p:spPr bwMode="auto">
            <a:xfrm>
              <a:off x="2004" y="2214"/>
              <a:ext cx="726" cy="552"/>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4368" name="Line 32"/>
            <p:cNvSpPr>
              <a:spLocks noChangeShapeType="1"/>
            </p:cNvSpPr>
            <p:nvPr/>
          </p:nvSpPr>
          <p:spPr bwMode="auto">
            <a:xfrm>
              <a:off x="2724" y="2766"/>
              <a:ext cx="612" cy="714"/>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4369" name="Line 33"/>
            <p:cNvSpPr>
              <a:spLocks noChangeShapeType="1"/>
            </p:cNvSpPr>
            <p:nvPr/>
          </p:nvSpPr>
          <p:spPr bwMode="auto">
            <a:xfrm flipH="1" flipV="1">
              <a:off x="954" y="1097"/>
              <a:ext cx="2536" cy="239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4370" name="Line 34"/>
            <p:cNvSpPr>
              <a:spLocks noChangeShapeType="1"/>
            </p:cNvSpPr>
            <p:nvPr/>
          </p:nvSpPr>
          <p:spPr bwMode="auto">
            <a:xfrm flipH="1">
              <a:off x="2776" y="2133"/>
              <a:ext cx="884" cy="561"/>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14371" name="Rectangle 35"/>
            <p:cNvSpPr>
              <a:spLocks noChangeArrowheads="1"/>
            </p:cNvSpPr>
            <p:nvPr/>
          </p:nvSpPr>
          <p:spPr bwMode="auto">
            <a:xfrm>
              <a:off x="2035" y="1342"/>
              <a:ext cx="1676" cy="231"/>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b="1"/>
                <a:t>new optimal solution </a:t>
              </a:r>
            </a:p>
          </p:txBody>
        </p:sp>
        <p:sp>
          <p:nvSpPr>
            <p:cNvPr id="14372" name="Line 36"/>
            <p:cNvSpPr>
              <a:spLocks noChangeShapeType="1"/>
            </p:cNvSpPr>
            <p:nvPr/>
          </p:nvSpPr>
          <p:spPr bwMode="auto">
            <a:xfrm>
              <a:off x="954" y="1570"/>
              <a:ext cx="3578" cy="190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4373" name="Line 37"/>
            <p:cNvSpPr>
              <a:spLocks noChangeShapeType="1"/>
            </p:cNvSpPr>
            <p:nvPr/>
          </p:nvSpPr>
          <p:spPr bwMode="auto">
            <a:xfrm flipH="1">
              <a:off x="1272" y="1097"/>
              <a:ext cx="756" cy="229"/>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14374" name="Rectangle 38"/>
            <p:cNvSpPr>
              <a:spLocks noChangeArrowheads="1"/>
            </p:cNvSpPr>
            <p:nvPr/>
          </p:nvSpPr>
          <p:spPr bwMode="auto">
            <a:xfrm>
              <a:off x="2079" y="975"/>
              <a:ext cx="1433" cy="231"/>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b="1"/>
                <a:t>original level curve </a:t>
              </a:r>
            </a:p>
          </p:txBody>
        </p:sp>
        <p:sp>
          <p:nvSpPr>
            <p:cNvPr id="14375" name="Line 39"/>
            <p:cNvSpPr>
              <a:spLocks noChangeShapeType="1"/>
            </p:cNvSpPr>
            <p:nvPr/>
          </p:nvSpPr>
          <p:spPr bwMode="auto">
            <a:xfrm flipH="1">
              <a:off x="1010" y="1434"/>
              <a:ext cx="1028" cy="103"/>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14376" name="Rectangle 40"/>
            <p:cNvSpPr>
              <a:spLocks noChangeArrowheads="1"/>
            </p:cNvSpPr>
            <p:nvPr/>
          </p:nvSpPr>
          <p:spPr bwMode="auto">
            <a:xfrm>
              <a:off x="3551" y="2006"/>
              <a:ext cx="2054" cy="231"/>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b="1"/>
                <a:t>original  optimal solution </a:t>
              </a:r>
            </a:p>
          </p:txBody>
        </p:sp>
        <p:sp>
          <p:nvSpPr>
            <p:cNvPr id="14377" name="Rectangle 41"/>
            <p:cNvSpPr>
              <a:spLocks noChangeArrowheads="1"/>
            </p:cNvSpPr>
            <p:nvPr/>
          </p:nvSpPr>
          <p:spPr bwMode="auto">
            <a:xfrm>
              <a:off x="3994" y="2522"/>
              <a:ext cx="1676" cy="231"/>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b="1"/>
                <a:t>new level curve </a:t>
              </a:r>
            </a:p>
          </p:txBody>
        </p:sp>
        <p:sp>
          <p:nvSpPr>
            <p:cNvPr id="14378" name="Line 42"/>
            <p:cNvSpPr>
              <a:spLocks noChangeShapeType="1"/>
            </p:cNvSpPr>
            <p:nvPr/>
          </p:nvSpPr>
          <p:spPr bwMode="auto">
            <a:xfrm flipH="1">
              <a:off x="3483" y="2635"/>
              <a:ext cx="756" cy="229"/>
            </a:xfrm>
            <a:prstGeom prst="line">
              <a:avLst/>
            </a:prstGeom>
            <a:noFill/>
            <a:ln w="25400">
              <a:solidFill>
                <a:schemeClr val="tx1"/>
              </a:solidFill>
              <a:round/>
              <a:headEnd type="none" w="sm" len="sm"/>
              <a:tailEnd type="stealth" w="med" len="lg"/>
            </a:ln>
            <a:effectLst/>
          </p:spPr>
          <p:txBody>
            <a:bodyPr wrap="none" anchor="ctr"/>
            <a:lstStyle/>
            <a:p>
              <a:endParaRPr lang="en-US"/>
            </a:p>
          </p:txBody>
        </p:sp>
      </p:grpSp>
      <p:sp>
        <p:nvSpPr>
          <p:cNvPr id="2" name="Footer Placeholder 1"/>
          <p:cNvSpPr>
            <a:spLocks noGrp="1"/>
          </p:cNvSpPr>
          <p:nvPr>
            <p:ph type="ftr" sz="quarter" idx="11"/>
          </p:nvPr>
        </p:nvSpPr>
        <p:spPr>
          <a:xfrm>
            <a:off x="3108325" y="6370638"/>
            <a:ext cx="2895600" cy="476250"/>
          </a:xfr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990600" y="381000"/>
            <a:ext cx="7772400" cy="609600"/>
          </a:xfrm>
          <a:prstGeom prst="rect">
            <a:avLst/>
          </a:prstGeom>
          <a:noFill/>
          <a:ln w="9525">
            <a:noFill/>
            <a:miter lim="800000"/>
            <a:headEnd/>
            <a:tailEnd/>
          </a:ln>
          <a:effectLst/>
        </p:spPr>
        <p:txBody>
          <a:bodyPr lIns="92075" tIns="46038" rIns="92075" bIns="46038" anchor="ctr"/>
          <a:lstStyle/>
          <a:p>
            <a:pPr algn="ctr" eaLnBrk="0" hangingPunct="0">
              <a:lnSpc>
                <a:spcPct val="90000"/>
              </a:lnSpc>
            </a:pPr>
            <a:r>
              <a:rPr lang="en-US" sz="3200" i="1">
                <a:solidFill>
                  <a:schemeClr val="hlink"/>
                </a:solidFill>
                <a:latin typeface="Tahoma" pitchFamily="34" charset="0"/>
              </a:rPr>
              <a:t>How Changes in Objective Coefficients Change the Slope of the Level Curve</a:t>
            </a:r>
          </a:p>
        </p:txBody>
      </p:sp>
      <p:sp>
        <p:nvSpPr>
          <p:cNvPr id="63532" name="Rectangle 44"/>
          <p:cNvSpPr>
            <a:spLocks noChangeArrowheads="1"/>
          </p:cNvSpPr>
          <p:nvPr/>
        </p:nvSpPr>
        <p:spPr bwMode="auto">
          <a:xfrm>
            <a:off x="779463" y="1808163"/>
            <a:ext cx="7283450" cy="641350"/>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3600" dirty="0"/>
              <a:t>See file </a:t>
            </a:r>
            <a:r>
              <a:rPr lang="en-US" sz="3600" dirty="0">
                <a:hlinkClick r:id="rId3" action="ppaction://hlinkfile"/>
              </a:rPr>
              <a:t>Fig4-4.xlsm</a:t>
            </a:r>
            <a:endParaRPr lang="en-US" sz="3600"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44475" y="228600"/>
            <a:ext cx="8755063" cy="1219200"/>
          </a:xfrm>
          <a:noFill/>
          <a:ln/>
        </p:spPr>
        <p:txBody>
          <a:bodyPr lIns="92075" tIns="46038" rIns="92075" bIns="46038"/>
          <a:lstStyle/>
          <a:p>
            <a:r>
              <a:rPr lang="en-US" sz="3600" i="1">
                <a:solidFill>
                  <a:schemeClr val="hlink"/>
                </a:solidFill>
              </a:rPr>
              <a:t>Changes in </a:t>
            </a:r>
            <a:br>
              <a:rPr lang="en-US" sz="3600" i="1">
                <a:solidFill>
                  <a:schemeClr val="hlink"/>
                </a:solidFill>
              </a:rPr>
            </a:br>
            <a:r>
              <a:rPr lang="en-US" sz="3600" i="1">
                <a:solidFill>
                  <a:schemeClr val="hlink"/>
                </a:solidFill>
              </a:rPr>
              <a:t>Objective Function Coefficients</a:t>
            </a:r>
          </a:p>
        </p:txBody>
      </p:sp>
      <p:sp>
        <p:nvSpPr>
          <p:cNvPr id="15363" name="Rectangle 3"/>
          <p:cNvSpPr>
            <a:spLocks noGrp="1" noChangeArrowheads="1"/>
          </p:cNvSpPr>
          <p:nvPr>
            <p:ph type="body" idx="1"/>
          </p:nvPr>
        </p:nvSpPr>
        <p:spPr>
          <a:xfrm>
            <a:off x="1066800" y="1600200"/>
            <a:ext cx="7467600" cy="4186238"/>
          </a:xfrm>
          <a:noFill/>
          <a:ln/>
        </p:spPr>
        <p:txBody>
          <a:bodyPr lIns="92075" tIns="46038" rIns="92075" bIns="46038"/>
          <a:lstStyle/>
          <a:p>
            <a:pPr marL="0" indent="0">
              <a:lnSpc>
                <a:spcPct val="120000"/>
              </a:lnSpc>
              <a:buFont typeface="Wingdings" pitchFamily="2" charset="2"/>
              <a:buNone/>
            </a:pPr>
            <a:r>
              <a:rPr lang="en-US" sz="3000" dirty="0"/>
              <a:t>Values in the “Allowable Increase” and “Allowable Decrease” columns for the Decision Cells indicate the amounts by which an objective function coefficient can change without changing the optimal solution, </a:t>
            </a:r>
            <a:r>
              <a:rPr lang="en-US" sz="3000" i="1" dirty="0"/>
              <a:t>assuming all other coefficients remain constant</a:t>
            </a:r>
            <a:r>
              <a:rPr lang="en-US" sz="3000" dirty="0"/>
              <a:t>.</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2075" tIns="46038" rIns="92075" bIns="46038"/>
          <a:lstStyle/>
          <a:p>
            <a:r>
              <a:rPr lang="en-US" sz="4000" i="1">
                <a:solidFill>
                  <a:schemeClr val="hlink"/>
                </a:solidFill>
              </a:rPr>
              <a:t>Alternate Optimal Solutions</a:t>
            </a:r>
          </a:p>
        </p:txBody>
      </p:sp>
      <p:sp>
        <p:nvSpPr>
          <p:cNvPr id="16387" name="Rectangle 3"/>
          <p:cNvSpPr>
            <a:spLocks noGrp="1" noChangeArrowheads="1"/>
          </p:cNvSpPr>
          <p:nvPr>
            <p:ph type="body" idx="1"/>
          </p:nvPr>
        </p:nvSpPr>
        <p:spPr>
          <a:xfrm>
            <a:off x="698500" y="1600200"/>
            <a:ext cx="7907338" cy="4525963"/>
          </a:xfrm>
          <a:noFill/>
          <a:ln/>
        </p:spPr>
        <p:txBody>
          <a:bodyPr lIns="92075" tIns="46038" rIns="92075" bIns="46038"/>
          <a:lstStyle/>
          <a:p>
            <a:pPr marL="0" indent="0">
              <a:lnSpc>
                <a:spcPct val="130000"/>
              </a:lnSpc>
              <a:buFont typeface="Wingdings" pitchFamily="2" charset="2"/>
              <a:buNone/>
            </a:pPr>
            <a:r>
              <a:rPr lang="en-US" dirty="0"/>
              <a:t>Values of zero (0) in the “Allowable Increase” or “Allowable Decrease” columns for the Decision Cells indicate that an alternate optimal solution exists.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44475" y="228600"/>
            <a:ext cx="8755063" cy="709613"/>
          </a:xfrm>
          <a:noFill/>
          <a:ln/>
        </p:spPr>
        <p:txBody>
          <a:bodyPr lIns="92075" tIns="46038" rIns="92075" bIns="46038"/>
          <a:lstStyle/>
          <a:p>
            <a:r>
              <a:rPr lang="en-US" sz="4000" i="1">
                <a:solidFill>
                  <a:schemeClr val="hlink"/>
                </a:solidFill>
              </a:rPr>
              <a:t>Changes in Constraint RHS Values</a:t>
            </a:r>
          </a:p>
        </p:txBody>
      </p:sp>
      <p:sp>
        <p:nvSpPr>
          <p:cNvPr id="17411" name="Rectangle 3"/>
          <p:cNvSpPr>
            <a:spLocks noGrp="1" noChangeArrowheads="1"/>
          </p:cNvSpPr>
          <p:nvPr>
            <p:ph type="body" idx="1"/>
          </p:nvPr>
        </p:nvSpPr>
        <p:spPr>
          <a:xfrm>
            <a:off x="379413" y="896938"/>
            <a:ext cx="8602662" cy="5640387"/>
          </a:xfrm>
          <a:noFill/>
          <a:ln/>
        </p:spPr>
        <p:txBody>
          <a:bodyPr lIns="92075" tIns="46038" rIns="92075" bIns="46038"/>
          <a:lstStyle/>
          <a:p>
            <a:pPr marL="284163" indent="-284163">
              <a:lnSpc>
                <a:spcPct val="120000"/>
              </a:lnSpc>
            </a:pPr>
            <a:r>
              <a:rPr lang="en-US" sz="2800" dirty="0"/>
              <a:t>The </a:t>
            </a:r>
            <a:r>
              <a:rPr lang="en-US" sz="2800" i="1" u="sng" dirty="0">
                <a:solidFill>
                  <a:srgbClr val="FFFF00"/>
                </a:solidFill>
              </a:rPr>
              <a:t>shadow price</a:t>
            </a:r>
            <a:r>
              <a:rPr lang="en-US" sz="2800" dirty="0"/>
              <a:t> of a constraint indicates the amount by which the objective function value changes given a unit </a:t>
            </a:r>
            <a:r>
              <a:rPr lang="en-US" sz="2800" i="1" dirty="0"/>
              <a:t>increase</a:t>
            </a:r>
            <a:r>
              <a:rPr lang="en-US" sz="2800" dirty="0"/>
              <a:t> in the RHS value of the constraint, </a:t>
            </a:r>
            <a:r>
              <a:rPr lang="en-US" sz="2800" i="1" dirty="0"/>
              <a:t>assuming all other coefficients remain constant</a:t>
            </a:r>
            <a:r>
              <a:rPr lang="en-US" sz="2800" dirty="0"/>
              <a:t>.</a:t>
            </a:r>
          </a:p>
          <a:p>
            <a:pPr marL="284163" indent="-284163">
              <a:lnSpc>
                <a:spcPct val="120000"/>
              </a:lnSpc>
            </a:pPr>
            <a:r>
              <a:rPr lang="en-US" sz="2800" dirty="0"/>
              <a:t>Shadow prices hold only within RHS changes falling within the values in “Allowable Increase” and “Allowable Decrease” columns.</a:t>
            </a:r>
          </a:p>
          <a:p>
            <a:pPr marL="284163" indent="-284163">
              <a:lnSpc>
                <a:spcPct val="120000"/>
              </a:lnSpc>
            </a:pPr>
            <a:r>
              <a:rPr lang="en-US" sz="2800" dirty="0"/>
              <a:t>Shadow prices for nonbinding constraints are always zero.</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7411">
                                            <p:txEl>
                                              <p:pRg st="0" end="0"/>
                                            </p:txEl>
                                          </p:spTgt>
                                        </p:tgtEl>
                                        <p:attrNameLst>
                                          <p:attrName>ppt_c</p:attrName>
                                        </p:attrNameLst>
                                      </p:cBhvr>
                                      <p:to>
                                        <a:srgbClr val="C0C0C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41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7411">
                                            <p:txEl>
                                              <p:pRg st="1" end="1"/>
                                            </p:txEl>
                                          </p:spTgt>
                                        </p:tgtEl>
                                        <p:attrNameLst>
                                          <p:attrName>ppt_c</p:attrName>
                                        </p:attrNameLst>
                                      </p:cBhvr>
                                      <p:to>
                                        <a:srgbClr val="C0C0C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44475" y="509588"/>
            <a:ext cx="8755063" cy="709612"/>
          </a:xfrm>
          <a:noFill/>
          <a:ln/>
        </p:spPr>
        <p:txBody>
          <a:bodyPr lIns="92075" tIns="46038" rIns="92075" bIns="46038"/>
          <a:lstStyle/>
          <a:p>
            <a:pPr>
              <a:lnSpc>
                <a:spcPct val="80000"/>
              </a:lnSpc>
            </a:pPr>
            <a:r>
              <a:rPr lang="en-US" sz="4000" i="1">
                <a:solidFill>
                  <a:schemeClr val="hlink"/>
                </a:solidFill>
              </a:rPr>
              <a:t>Comments About Changes </a:t>
            </a:r>
            <a:br>
              <a:rPr lang="en-US" sz="4000" i="1">
                <a:solidFill>
                  <a:schemeClr val="hlink"/>
                </a:solidFill>
              </a:rPr>
            </a:br>
            <a:r>
              <a:rPr lang="en-US" sz="4000" i="1">
                <a:solidFill>
                  <a:schemeClr val="hlink"/>
                </a:solidFill>
              </a:rPr>
              <a:t>in Constraint RHS Values</a:t>
            </a:r>
          </a:p>
        </p:txBody>
      </p:sp>
      <p:sp>
        <p:nvSpPr>
          <p:cNvPr id="18435" name="Rectangle 3"/>
          <p:cNvSpPr>
            <a:spLocks noGrp="1" noChangeArrowheads="1"/>
          </p:cNvSpPr>
          <p:nvPr>
            <p:ph type="body" idx="1"/>
          </p:nvPr>
        </p:nvSpPr>
        <p:spPr>
          <a:xfrm>
            <a:off x="379413" y="1646238"/>
            <a:ext cx="8602662" cy="4754562"/>
          </a:xfrm>
          <a:noFill/>
          <a:ln/>
        </p:spPr>
        <p:txBody>
          <a:bodyPr lIns="92075" tIns="46038" rIns="92075" bIns="46038"/>
          <a:lstStyle/>
          <a:p>
            <a:pPr marL="284163" indent="-284163">
              <a:lnSpc>
                <a:spcPct val="120000"/>
              </a:lnSpc>
            </a:pPr>
            <a:r>
              <a:rPr lang="en-US" sz="2800" dirty="0"/>
              <a:t>Shadow prices only indicate the changes that occur in the objective function value as RHS values change.</a:t>
            </a:r>
          </a:p>
          <a:p>
            <a:pPr marL="284163" indent="-284163">
              <a:lnSpc>
                <a:spcPct val="120000"/>
              </a:lnSpc>
            </a:pPr>
            <a:r>
              <a:rPr lang="en-US" sz="2800" dirty="0"/>
              <a:t>Changing a RHS value for a binding constraint also changes the feasible region and the optimal solution (see graph on following slide).</a:t>
            </a:r>
          </a:p>
          <a:p>
            <a:pPr marL="284163" indent="-284163">
              <a:lnSpc>
                <a:spcPct val="120000"/>
              </a:lnSpc>
            </a:pPr>
            <a:r>
              <a:rPr lang="en-US" sz="2800" dirty="0"/>
              <a:t>To find the optimal solution after changing a binding RHS value, you must re-solve the problem.</a:t>
            </a:r>
          </a:p>
        </p:txBody>
      </p:sp>
      <p:sp>
        <p:nvSpPr>
          <p:cNvPr id="2" name="Footer Placeholder 1"/>
          <p:cNvSpPr>
            <a:spLocks noGrp="1"/>
          </p:cNvSpPr>
          <p:nvPr>
            <p:ph type="ftr" sz="quarter" idx="1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0" end="0"/>
                                            </p:txEl>
                                          </p:spTgt>
                                        </p:tgtEl>
                                        <p:attrNameLst>
                                          <p:attrName>ppt_c</p:attrName>
                                        </p:attrNameLst>
                                      </p:cBhvr>
                                      <p:to>
                                        <a:srgbClr val="C0C0C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8435">
                                            <p:txEl>
                                              <p:pRg st="1" end="1"/>
                                            </p:txEl>
                                          </p:spTgt>
                                        </p:tgtEl>
                                        <p:attrNameLst>
                                          <p:attrName>ppt_c</p:attrName>
                                        </p:attrNameLst>
                                      </p:cBhvr>
                                      <p:to>
                                        <a:srgbClr val="C0C0C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86" name="Rectangle 30"/>
          <p:cNvSpPr>
            <a:spLocks noChangeArrowheads="1"/>
          </p:cNvSpPr>
          <p:nvPr/>
        </p:nvSpPr>
        <p:spPr bwMode="auto">
          <a:xfrm>
            <a:off x="1036638" y="381000"/>
            <a:ext cx="7650162" cy="609600"/>
          </a:xfrm>
          <a:prstGeom prst="rect">
            <a:avLst/>
          </a:prstGeom>
          <a:noFill/>
          <a:ln w="9525">
            <a:noFill/>
            <a:miter lim="800000"/>
            <a:headEnd/>
            <a:tailEnd/>
          </a:ln>
          <a:effectLst/>
        </p:spPr>
        <p:txBody>
          <a:bodyPr lIns="92075" tIns="46038" rIns="92075" bIns="46038" anchor="ctr"/>
          <a:lstStyle/>
          <a:p>
            <a:pPr algn="ctr" eaLnBrk="0" hangingPunct="0">
              <a:lnSpc>
                <a:spcPct val="80000"/>
              </a:lnSpc>
            </a:pPr>
            <a:r>
              <a:rPr lang="en-US" sz="3000" i="1">
                <a:solidFill>
                  <a:schemeClr val="hlink"/>
                </a:solidFill>
                <a:latin typeface="Tahoma" pitchFamily="34" charset="0"/>
              </a:rPr>
              <a:t>How Changing an RHS Value Can Change the Feasible Region and Optimal Solution</a:t>
            </a:r>
          </a:p>
        </p:txBody>
      </p:sp>
      <p:sp>
        <p:nvSpPr>
          <p:cNvPr id="19458" name="Freeform 2" descr="70%"/>
          <p:cNvSpPr>
            <a:spLocks/>
          </p:cNvSpPr>
          <p:nvPr/>
        </p:nvSpPr>
        <p:spPr bwMode="auto">
          <a:xfrm>
            <a:off x="3981450" y="4724400"/>
            <a:ext cx="1306513" cy="1182688"/>
          </a:xfrm>
          <a:custGeom>
            <a:avLst/>
            <a:gdLst/>
            <a:ahLst/>
            <a:cxnLst>
              <a:cxn ang="0">
                <a:pos x="606" y="744"/>
              </a:cxn>
              <a:cxn ang="0">
                <a:pos x="822" y="744"/>
              </a:cxn>
              <a:cxn ang="0">
                <a:pos x="522" y="378"/>
              </a:cxn>
              <a:cxn ang="0">
                <a:pos x="0" y="0"/>
              </a:cxn>
              <a:cxn ang="0">
                <a:pos x="606" y="744"/>
              </a:cxn>
            </a:cxnLst>
            <a:rect l="0" t="0" r="r" b="b"/>
            <a:pathLst>
              <a:path w="823" h="745">
                <a:moveTo>
                  <a:pt x="606" y="744"/>
                </a:moveTo>
                <a:lnTo>
                  <a:pt x="822" y="744"/>
                </a:lnTo>
                <a:lnTo>
                  <a:pt x="522" y="378"/>
                </a:lnTo>
                <a:lnTo>
                  <a:pt x="0" y="0"/>
                </a:lnTo>
                <a:lnTo>
                  <a:pt x="606" y="744"/>
                </a:lnTo>
              </a:path>
            </a:pathLst>
          </a:custGeom>
          <a:pattFill prst="pct70">
            <a:fgClr>
              <a:srgbClr val="3399FF"/>
            </a:fgClr>
            <a:bgClr>
              <a:schemeClr val="bg1"/>
            </a:bgClr>
          </a:pattFill>
          <a:ln w="25400" cap="rnd" cmpd="sng">
            <a:solidFill>
              <a:schemeClr val="tx1"/>
            </a:solidFill>
            <a:prstDash val="solid"/>
            <a:round/>
            <a:headEnd/>
            <a:tailEnd/>
          </a:ln>
          <a:effectLst/>
        </p:spPr>
        <p:txBody>
          <a:bodyPr/>
          <a:lstStyle/>
          <a:p>
            <a:endParaRPr lang="en-US"/>
          </a:p>
        </p:txBody>
      </p:sp>
      <p:sp>
        <p:nvSpPr>
          <p:cNvPr id="19459" name="Freeform 3" descr="70%"/>
          <p:cNvSpPr>
            <a:spLocks/>
          </p:cNvSpPr>
          <p:nvPr/>
        </p:nvSpPr>
        <p:spPr bwMode="auto">
          <a:xfrm>
            <a:off x="1200150" y="2886075"/>
            <a:ext cx="3783013" cy="3021013"/>
          </a:xfrm>
          <a:custGeom>
            <a:avLst/>
            <a:gdLst/>
            <a:ahLst/>
            <a:cxnLst>
              <a:cxn ang="0">
                <a:pos x="0" y="0"/>
              </a:cxn>
              <a:cxn ang="0">
                <a:pos x="0" y="1902"/>
              </a:cxn>
              <a:cxn ang="0">
                <a:pos x="2382" y="1896"/>
              </a:cxn>
              <a:cxn ang="0">
                <a:pos x="1774" y="1186"/>
              </a:cxn>
              <a:cxn ang="0">
                <a:pos x="1052" y="637"/>
              </a:cxn>
              <a:cxn ang="0">
                <a:pos x="0" y="0"/>
              </a:cxn>
            </a:cxnLst>
            <a:rect l="0" t="0" r="r" b="b"/>
            <a:pathLst>
              <a:path w="2383" h="1903">
                <a:moveTo>
                  <a:pt x="0" y="0"/>
                </a:moveTo>
                <a:lnTo>
                  <a:pt x="0" y="1902"/>
                </a:lnTo>
                <a:lnTo>
                  <a:pt x="2382" y="1896"/>
                </a:lnTo>
                <a:lnTo>
                  <a:pt x="1774" y="1186"/>
                </a:lnTo>
                <a:lnTo>
                  <a:pt x="1052" y="637"/>
                </a:lnTo>
                <a:lnTo>
                  <a:pt x="0" y="0"/>
                </a:lnTo>
              </a:path>
            </a:pathLst>
          </a:custGeom>
          <a:pattFill prst="pct70">
            <a:fgClr>
              <a:srgbClr val="3399FF"/>
            </a:fgClr>
            <a:bgClr>
              <a:schemeClr val="bg1"/>
            </a:bgClr>
          </a:pattFill>
          <a:ln w="12700" cap="rnd" cmpd="sng">
            <a:solidFill>
              <a:schemeClr val="tx1"/>
            </a:solidFill>
            <a:prstDash val="solid"/>
            <a:round/>
            <a:headEnd/>
            <a:tailEnd/>
          </a:ln>
          <a:effectLst/>
        </p:spPr>
        <p:txBody>
          <a:bodyPr/>
          <a:lstStyle/>
          <a:p>
            <a:endParaRPr lang="en-US"/>
          </a:p>
        </p:txBody>
      </p:sp>
      <p:sp>
        <p:nvSpPr>
          <p:cNvPr id="19460" name="Line 4"/>
          <p:cNvSpPr>
            <a:spLocks noChangeShapeType="1"/>
          </p:cNvSpPr>
          <p:nvPr/>
        </p:nvSpPr>
        <p:spPr bwMode="auto">
          <a:xfrm>
            <a:off x="1114425" y="5910263"/>
            <a:ext cx="6181725" cy="0"/>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19461" name="Line 5"/>
          <p:cNvSpPr>
            <a:spLocks noChangeShapeType="1"/>
          </p:cNvSpPr>
          <p:nvPr/>
        </p:nvSpPr>
        <p:spPr bwMode="auto">
          <a:xfrm>
            <a:off x="2255838" y="5910263"/>
            <a:ext cx="0" cy="7620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2" name="Line 6"/>
          <p:cNvSpPr>
            <a:spLocks noChangeShapeType="1"/>
          </p:cNvSpPr>
          <p:nvPr/>
        </p:nvSpPr>
        <p:spPr bwMode="auto">
          <a:xfrm>
            <a:off x="3302000" y="5910263"/>
            <a:ext cx="0" cy="7620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3" name="Line 7"/>
          <p:cNvSpPr>
            <a:spLocks noChangeShapeType="1"/>
          </p:cNvSpPr>
          <p:nvPr/>
        </p:nvSpPr>
        <p:spPr bwMode="auto">
          <a:xfrm>
            <a:off x="4348163" y="5910263"/>
            <a:ext cx="0" cy="7620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4" name="Line 8"/>
          <p:cNvSpPr>
            <a:spLocks noChangeShapeType="1"/>
          </p:cNvSpPr>
          <p:nvPr/>
        </p:nvSpPr>
        <p:spPr bwMode="auto">
          <a:xfrm>
            <a:off x="5394325" y="5910263"/>
            <a:ext cx="0" cy="7620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5" name="Line 9"/>
          <p:cNvSpPr>
            <a:spLocks noChangeShapeType="1"/>
          </p:cNvSpPr>
          <p:nvPr/>
        </p:nvSpPr>
        <p:spPr bwMode="auto">
          <a:xfrm>
            <a:off x="6440488" y="5910263"/>
            <a:ext cx="0" cy="7620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6" name="Line 10"/>
          <p:cNvSpPr>
            <a:spLocks noChangeShapeType="1"/>
          </p:cNvSpPr>
          <p:nvPr/>
        </p:nvSpPr>
        <p:spPr bwMode="auto">
          <a:xfrm flipV="1">
            <a:off x="1209675" y="1022350"/>
            <a:ext cx="0" cy="4964113"/>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19467" name="Line 11"/>
          <p:cNvSpPr>
            <a:spLocks noChangeShapeType="1"/>
          </p:cNvSpPr>
          <p:nvPr/>
        </p:nvSpPr>
        <p:spPr bwMode="auto">
          <a:xfrm flipH="1">
            <a:off x="1114425" y="5070475"/>
            <a:ext cx="9525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8" name="Line 12"/>
          <p:cNvSpPr>
            <a:spLocks noChangeShapeType="1"/>
          </p:cNvSpPr>
          <p:nvPr/>
        </p:nvSpPr>
        <p:spPr bwMode="auto">
          <a:xfrm flipH="1">
            <a:off x="1114425" y="4230688"/>
            <a:ext cx="9525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69" name="Line 13"/>
          <p:cNvSpPr>
            <a:spLocks noChangeShapeType="1"/>
          </p:cNvSpPr>
          <p:nvPr/>
        </p:nvSpPr>
        <p:spPr bwMode="auto">
          <a:xfrm flipH="1">
            <a:off x="1114425" y="3389313"/>
            <a:ext cx="9525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70" name="Line 14"/>
          <p:cNvSpPr>
            <a:spLocks noChangeShapeType="1"/>
          </p:cNvSpPr>
          <p:nvPr/>
        </p:nvSpPr>
        <p:spPr bwMode="auto">
          <a:xfrm flipH="1">
            <a:off x="1114425" y="2549525"/>
            <a:ext cx="9525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71" name="Line 15"/>
          <p:cNvSpPr>
            <a:spLocks noChangeShapeType="1"/>
          </p:cNvSpPr>
          <p:nvPr/>
        </p:nvSpPr>
        <p:spPr bwMode="auto">
          <a:xfrm flipH="1">
            <a:off x="1114425" y="1709738"/>
            <a:ext cx="9525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19472" name="Rectangle 16"/>
          <p:cNvSpPr>
            <a:spLocks noChangeArrowheads="1"/>
          </p:cNvSpPr>
          <p:nvPr/>
        </p:nvSpPr>
        <p:spPr bwMode="auto">
          <a:xfrm>
            <a:off x="600075" y="838200"/>
            <a:ext cx="990600" cy="457200"/>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2</a:t>
            </a:r>
          </a:p>
        </p:txBody>
      </p:sp>
      <p:sp>
        <p:nvSpPr>
          <p:cNvPr id="19473" name="Rectangle 17"/>
          <p:cNvSpPr>
            <a:spLocks noChangeArrowheads="1"/>
          </p:cNvSpPr>
          <p:nvPr/>
        </p:nvSpPr>
        <p:spPr bwMode="auto">
          <a:xfrm>
            <a:off x="7010400" y="6019800"/>
            <a:ext cx="990600" cy="457200"/>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1</a:t>
            </a:r>
          </a:p>
        </p:txBody>
      </p:sp>
      <p:sp>
        <p:nvSpPr>
          <p:cNvPr id="19474" name="Rectangle 18"/>
          <p:cNvSpPr>
            <a:spLocks noChangeArrowheads="1"/>
          </p:cNvSpPr>
          <p:nvPr/>
        </p:nvSpPr>
        <p:spPr bwMode="auto">
          <a:xfrm>
            <a:off x="574675" y="152082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19475" name="Rectangle 19"/>
          <p:cNvSpPr>
            <a:spLocks noChangeArrowheads="1"/>
          </p:cNvSpPr>
          <p:nvPr/>
        </p:nvSpPr>
        <p:spPr bwMode="auto">
          <a:xfrm>
            <a:off x="576263" y="239077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19476" name="Rectangle 20"/>
          <p:cNvSpPr>
            <a:spLocks noChangeArrowheads="1"/>
          </p:cNvSpPr>
          <p:nvPr/>
        </p:nvSpPr>
        <p:spPr bwMode="auto">
          <a:xfrm>
            <a:off x="558800" y="320992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19477" name="Rectangle 21"/>
          <p:cNvSpPr>
            <a:spLocks noChangeArrowheads="1"/>
          </p:cNvSpPr>
          <p:nvPr/>
        </p:nvSpPr>
        <p:spPr bwMode="auto">
          <a:xfrm>
            <a:off x="576263" y="4064000"/>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19478" name="Rectangle 22"/>
          <p:cNvSpPr>
            <a:spLocks noChangeArrowheads="1"/>
          </p:cNvSpPr>
          <p:nvPr/>
        </p:nvSpPr>
        <p:spPr bwMode="auto">
          <a:xfrm>
            <a:off x="627063" y="489902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19479" name="Rectangle 23"/>
          <p:cNvSpPr>
            <a:spLocks noChangeArrowheads="1"/>
          </p:cNvSpPr>
          <p:nvPr/>
        </p:nvSpPr>
        <p:spPr bwMode="auto">
          <a:xfrm>
            <a:off x="676275" y="5734050"/>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19480" name="Rectangle 24"/>
          <p:cNvSpPr>
            <a:spLocks noChangeArrowheads="1"/>
          </p:cNvSpPr>
          <p:nvPr/>
        </p:nvSpPr>
        <p:spPr bwMode="auto">
          <a:xfrm>
            <a:off x="928688" y="6019800"/>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19481" name="Rectangle 25"/>
          <p:cNvSpPr>
            <a:spLocks noChangeArrowheads="1"/>
          </p:cNvSpPr>
          <p:nvPr/>
        </p:nvSpPr>
        <p:spPr bwMode="auto">
          <a:xfrm>
            <a:off x="1998663" y="6037263"/>
            <a:ext cx="568325" cy="366712"/>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19482" name="Rectangle 26"/>
          <p:cNvSpPr>
            <a:spLocks noChangeArrowheads="1"/>
          </p:cNvSpPr>
          <p:nvPr/>
        </p:nvSpPr>
        <p:spPr bwMode="auto">
          <a:xfrm>
            <a:off x="3000375" y="600392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19483" name="Rectangle 27"/>
          <p:cNvSpPr>
            <a:spLocks noChangeArrowheads="1"/>
          </p:cNvSpPr>
          <p:nvPr/>
        </p:nvSpPr>
        <p:spPr bwMode="auto">
          <a:xfrm>
            <a:off x="4035425" y="6019800"/>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19484" name="Rectangle 28"/>
          <p:cNvSpPr>
            <a:spLocks noChangeArrowheads="1"/>
          </p:cNvSpPr>
          <p:nvPr/>
        </p:nvSpPr>
        <p:spPr bwMode="auto">
          <a:xfrm>
            <a:off x="5089525" y="603567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19485" name="Rectangle 29"/>
          <p:cNvSpPr>
            <a:spLocks noChangeArrowheads="1"/>
          </p:cNvSpPr>
          <p:nvPr/>
        </p:nvSpPr>
        <p:spPr bwMode="auto">
          <a:xfrm>
            <a:off x="6140450" y="6035675"/>
            <a:ext cx="568325"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19487" name="Line 31"/>
          <p:cNvSpPr>
            <a:spLocks noChangeShapeType="1"/>
          </p:cNvSpPr>
          <p:nvPr/>
        </p:nvSpPr>
        <p:spPr bwMode="auto">
          <a:xfrm>
            <a:off x="1209675" y="2895600"/>
            <a:ext cx="1681163" cy="1009650"/>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9488" name="Line 32"/>
          <p:cNvSpPr>
            <a:spLocks noChangeShapeType="1"/>
          </p:cNvSpPr>
          <p:nvPr/>
        </p:nvSpPr>
        <p:spPr bwMode="auto">
          <a:xfrm>
            <a:off x="2886075" y="3905250"/>
            <a:ext cx="1933575" cy="1419225"/>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9489" name="Line 33"/>
          <p:cNvSpPr>
            <a:spLocks noChangeShapeType="1"/>
          </p:cNvSpPr>
          <p:nvPr/>
        </p:nvSpPr>
        <p:spPr bwMode="auto">
          <a:xfrm>
            <a:off x="4810125" y="5324475"/>
            <a:ext cx="495300" cy="590550"/>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19490" name="Line 34"/>
          <p:cNvSpPr>
            <a:spLocks noChangeShapeType="1"/>
          </p:cNvSpPr>
          <p:nvPr/>
        </p:nvSpPr>
        <p:spPr bwMode="auto">
          <a:xfrm flipV="1">
            <a:off x="4076700" y="3525838"/>
            <a:ext cx="457200" cy="1169987"/>
          </a:xfrm>
          <a:prstGeom prst="line">
            <a:avLst/>
          </a:prstGeom>
          <a:noFill/>
          <a:ln w="25400">
            <a:solidFill>
              <a:schemeClr val="tx1"/>
            </a:solidFill>
            <a:round/>
            <a:headEnd type="stealth" w="med" len="lg"/>
            <a:tailEnd type="none" w="sm" len="sm"/>
          </a:ln>
          <a:effectLst/>
        </p:spPr>
        <p:txBody>
          <a:bodyPr wrap="none" anchor="ctr"/>
          <a:lstStyle/>
          <a:p>
            <a:endParaRPr lang="en-US"/>
          </a:p>
        </p:txBody>
      </p:sp>
      <p:sp>
        <p:nvSpPr>
          <p:cNvPr id="19491" name="Rectangle 35"/>
          <p:cNvSpPr>
            <a:spLocks noChangeArrowheads="1"/>
          </p:cNvSpPr>
          <p:nvPr/>
        </p:nvSpPr>
        <p:spPr bwMode="auto">
          <a:xfrm>
            <a:off x="4533900" y="3260725"/>
            <a:ext cx="2305050"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a:t>old optimal solution</a:t>
            </a:r>
          </a:p>
        </p:txBody>
      </p:sp>
      <p:sp>
        <p:nvSpPr>
          <p:cNvPr id="19492" name="Line 36"/>
          <p:cNvSpPr>
            <a:spLocks noChangeShapeType="1"/>
          </p:cNvSpPr>
          <p:nvPr/>
        </p:nvSpPr>
        <p:spPr bwMode="auto">
          <a:xfrm flipV="1">
            <a:off x="4865688" y="4953000"/>
            <a:ext cx="400050" cy="247650"/>
          </a:xfrm>
          <a:prstGeom prst="line">
            <a:avLst/>
          </a:prstGeom>
          <a:noFill/>
          <a:ln w="25400">
            <a:solidFill>
              <a:schemeClr val="tx1"/>
            </a:solidFill>
            <a:round/>
            <a:headEnd type="stealth" w="med" len="lg"/>
            <a:tailEnd type="none" w="sm" len="sm"/>
          </a:ln>
          <a:effectLst/>
        </p:spPr>
        <p:txBody>
          <a:bodyPr wrap="none" anchor="ctr"/>
          <a:lstStyle/>
          <a:p>
            <a:endParaRPr lang="en-US"/>
          </a:p>
        </p:txBody>
      </p:sp>
      <p:sp>
        <p:nvSpPr>
          <p:cNvPr id="19493" name="Rectangle 37"/>
          <p:cNvSpPr>
            <a:spLocks noChangeArrowheads="1"/>
          </p:cNvSpPr>
          <p:nvPr/>
        </p:nvSpPr>
        <p:spPr bwMode="auto">
          <a:xfrm>
            <a:off x="5303838" y="4733925"/>
            <a:ext cx="2305050"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a:t>new optimal solution</a:t>
            </a:r>
          </a:p>
        </p:txBody>
      </p:sp>
      <p:sp>
        <p:nvSpPr>
          <p:cNvPr id="19494" name="Rectangle 38"/>
          <p:cNvSpPr>
            <a:spLocks noChangeArrowheads="1"/>
          </p:cNvSpPr>
          <p:nvPr/>
        </p:nvSpPr>
        <p:spPr bwMode="auto">
          <a:xfrm>
            <a:off x="5018088" y="3779838"/>
            <a:ext cx="2239962" cy="366712"/>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a:t>old labor constraint</a:t>
            </a:r>
          </a:p>
        </p:txBody>
      </p:sp>
      <p:sp>
        <p:nvSpPr>
          <p:cNvPr id="19495" name="Line 39"/>
          <p:cNvSpPr>
            <a:spLocks noChangeShapeType="1"/>
          </p:cNvSpPr>
          <p:nvPr/>
        </p:nvSpPr>
        <p:spPr bwMode="auto">
          <a:xfrm flipV="1">
            <a:off x="4530725" y="3976688"/>
            <a:ext cx="504825" cy="1306512"/>
          </a:xfrm>
          <a:prstGeom prst="line">
            <a:avLst/>
          </a:prstGeom>
          <a:noFill/>
          <a:ln w="25400">
            <a:solidFill>
              <a:schemeClr val="tx1"/>
            </a:solidFill>
            <a:round/>
            <a:headEnd type="stealth" w="med" len="lg"/>
            <a:tailEnd type="none" w="sm" len="sm"/>
          </a:ln>
          <a:effectLst/>
        </p:spPr>
        <p:txBody>
          <a:bodyPr wrap="none" anchor="ctr"/>
          <a:lstStyle/>
          <a:p>
            <a:endParaRPr lang="en-US"/>
          </a:p>
        </p:txBody>
      </p:sp>
      <p:sp>
        <p:nvSpPr>
          <p:cNvPr id="19496" name="Rectangle 40"/>
          <p:cNvSpPr>
            <a:spLocks noChangeArrowheads="1"/>
          </p:cNvSpPr>
          <p:nvPr/>
        </p:nvSpPr>
        <p:spPr bwMode="auto">
          <a:xfrm>
            <a:off x="5754688" y="5235575"/>
            <a:ext cx="2239962" cy="366713"/>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a:t>new labor constraint</a:t>
            </a:r>
          </a:p>
        </p:txBody>
      </p:sp>
      <p:sp>
        <p:nvSpPr>
          <p:cNvPr id="19497" name="Line 41"/>
          <p:cNvSpPr>
            <a:spLocks noChangeShapeType="1"/>
          </p:cNvSpPr>
          <p:nvPr/>
        </p:nvSpPr>
        <p:spPr bwMode="auto">
          <a:xfrm flipV="1">
            <a:off x="5253038" y="5430838"/>
            <a:ext cx="434975" cy="222250"/>
          </a:xfrm>
          <a:prstGeom prst="line">
            <a:avLst/>
          </a:prstGeom>
          <a:noFill/>
          <a:ln w="25400">
            <a:solidFill>
              <a:schemeClr val="tx1"/>
            </a:solidFill>
            <a:round/>
            <a:headEnd type="stealth" w="med" len="lg"/>
            <a:tailEnd type="none" w="sm" len="sm"/>
          </a:ln>
          <a:effectLst/>
        </p:spPr>
        <p:txBody>
          <a:bodyPr wrap="none" anchor="ctr"/>
          <a:lstStyle/>
          <a:p>
            <a:endParaRPr lang="en-US"/>
          </a:p>
        </p:txBody>
      </p:sp>
      <p:sp>
        <p:nvSpPr>
          <p:cNvPr id="19498" name="Rectangle 42"/>
          <p:cNvSpPr>
            <a:spLocks noChangeArrowheads="1"/>
          </p:cNvSpPr>
          <p:nvPr/>
        </p:nvSpPr>
        <p:spPr bwMode="auto">
          <a:xfrm>
            <a:off x="2565400" y="1920875"/>
            <a:ext cx="4376738" cy="831850"/>
          </a:xfrm>
          <a:prstGeom prst="rect">
            <a:avLst/>
          </a:prstGeom>
          <a:solidFill>
            <a:schemeClr val="tx1"/>
          </a:solidFill>
          <a:ln w="9525">
            <a:solidFill>
              <a:schemeClr val="tx1"/>
            </a:solidFill>
            <a:miter lim="800000"/>
            <a:headEnd/>
            <a:tailEnd/>
          </a:ln>
          <a:effectLst/>
        </p:spPr>
        <p:txBody>
          <a:bodyPr lIns="92075" tIns="46038" rIns="92075" bIns="46038">
            <a:spAutoFit/>
          </a:bodyPr>
          <a:lstStyle/>
          <a:p>
            <a:pPr eaLnBrk="0" hangingPunct="0">
              <a:spcBef>
                <a:spcPct val="50000"/>
              </a:spcBef>
            </a:pPr>
            <a:r>
              <a:rPr lang="en-US" sz="2400">
                <a:solidFill>
                  <a:schemeClr val="bg1"/>
                </a:solidFill>
              </a:rPr>
              <a:t>Suppose available labor hours increase from 1,566 to 1,728.</a:t>
            </a:r>
          </a:p>
        </p:txBody>
      </p:sp>
      <p:sp>
        <p:nvSpPr>
          <p:cNvPr id="2" name="Footer Placeholder 1"/>
          <p:cNvSpPr>
            <a:spLocks noGrp="1"/>
          </p:cNvSpPr>
          <p:nvPr>
            <p:ph type="ftr" sz="quarter" idx="11"/>
          </p:nvPr>
        </p:nvSpPr>
        <p:spPr>
          <a:xfrm>
            <a:off x="3124200" y="6409608"/>
            <a:ext cx="2895600" cy="325285"/>
          </a:xfr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5" name="Rectangle 3"/>
          <p:cNvSpPr>
            <a:spLocks noChangeArrowheads="1"/>
          </p:cNvSpPr>
          <p:nvPr/>
        </p:nvSpPr>
        <p:spPr bwMode="auto">
          <a:xfrm>
            <a:off x="779463" y="1808163"/>
            <a:ext cx="7283450" cy="641350"/>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3600" dirty="0"/>
              <a:t>See file </a:t>
            </a:r>
            <a:r>
              <a:rPr lang="en-US" sz="3600" dirty="0">
                <a:hlinkClick r:id="rId3" action="ppaction://hlinkfile"/>
              </a:rPr>
              <a:t>Fig4-4.xlsm</a:t>
            </a:r>
            <a:endParaRPr lang="en-US" sz="3600" dirty="0"/>
          </a:p>
        </p:txBody>
      </p:sp>
      <p:sp>
        <p:nvSpPr>
          <p:cNvPr id="64516" name="Rectangle 4"/>
          <p:cNvSpPr>
            <a:spLocks noChangeArrowheads="1"/>
          </p:cNvSpPr>
          <p:nvPr/>
        </p:nvSpPr>
        <p:spPr bwMode="auto">
          <a:xfrm>
            <a:off x="1036638" y="381000"/>
            <a:ext cx="7650162" cy="609600"/>
          </a:xfrm>
          <a:prstGeom prst="rect">
            <a:avLst/>
          </a:prstGeom>
          <a:noFill/>
          <a:ln w="9525">
            <a:noFill/>
            <a:miter lim="800000"/>
            <a:headEnd/>
            <a:tailEnd/>
          </a:ln>
          <a:effectLst/>
        </p:spPr>
        <p:txBody>
          <a:bodyPr lIns="92075" tIns="46038" rIns="92075" bIns="46038" anchor="ctr"/>
          <a:lstStyle/>
          <a:p>
            <a:pPr algn="ctr" eaLnBrk="0" hangingPunct="0">
              <a:lnSpc>
                <a:spcPct val="80000"/>
              </a:lnSpc>
            </a:pPr>
            <a:r>
              <a:rPr lang="en-US" sz="3000" i="1">
                <a:solidFill>
                  <a:schemeClr val="hlink"/>
                </a:solidFill>
                <a:latin typeface="Tahoma" pitchFamily="34" charset="0"/>
              </a:rPr>
              <a:t>How Changing an RHS Value Can Change the Feasible Region and Optimal Solution</a:t>
            </a:r>
          </a:p>
        </p:txBody>
      </p:sp>
      <p:sp>
        <p:nvSpPr>
          <p:cNvPr id="2" name="Footer Placeholder 1"/>
          <p:cNvSpPr>
            <a:spLocks noGrp="1"/>
          </p:cNvSpPr>
          <p:nvPr>
            <p:ph type="ftr" sz="quarter" idx="11"/>
          </p:nvPr>
        </p:nvSpPr>
        <p:spPr>
          <a:xfrm>
            <a:off x="3124200" y="6257925"/>
            <a:ext cx="2895600" cy="476250"/>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74638"/>
            <a:ext cx="8229600" cy="681037"/>
          </a:xfrm>
          <a:noFill/>
          <a:ln/>
        </p:spPr>
        <p:txBody>
          <a:bodyPr lIns="92075" tIns="46038" rIns="92075" bIns="46038"/>
          <a:lstStyle/>
          <a:p>
            <a:r>
              <a:rPr lang="en-US" sz="4000" i="1">
                <a:solidFill>
                  <a:schemeClr val="hlink"/>
                </a:solidFill>
              </a:rPr>
              <a:t>Other Uses of Shadow Prices</a:t>
            </a:r>
          </a:p>
        </p:txBody>
      </p:sp>
      <p:sp>
        <p:nvSpPr>
          <p:cNvPr id="20483" name="Rectangle 3"/>
          <p:cNvSpPr>
            <a:spLocks noGrp="1" noChangeArrowheads="1"/>
          </p:cNvSpPr>
          <p:nvPr>
            <p:ph type="body" idx="1"/>
          </p:nvPr>
        </p:nvSpPr>
        <p:spPr>
          <a:xfrm>
            <a:off x="304800" y="1600200"/>
            <a:ext cx="8534400" cy="4152900"/>
          </a:xfrm>
          <a:noFill/>
          <a:ln/>
        </p:spPr>
        <p:txBody>
          <a:bodyPr lIns="92075" tIns="46038" rIns="92075" bIns="46038"/>
          <a:lstStyle/>
          <a:p>
            <a:r>
              <a:rPr lang="en-US" sz="2800" dirty="0"/>
              <a:t>Suppose a new Hot Tub (the Typhoon-Lagoon) is being considered.  It generates a marginal profit of $320 and requires:</a:t>
            </a:r>
          </a:p>
          <a:p>
            <a:pPr lvl="1"/>
            <a:r>
              <a:rPr lang="en-US" sz="2400" dirty="0"/>
              <a:t>1 pump (shadow price = $200)</a:t>
            </a:r>
          </a:p>
          <a:p>
            <a:pPr lvl="1"/>
            <a:r>
              <a:rPr lang="en-US" sz="2400" dirty="0"/>
              <a:t> 8 hours of labor (shadow price = $16.67)</a:t>
            </a:r>
          </a:p>
          <a:p>
            <a:pPr lvl="1"/>
            <a:r>
              <a:rPr lang="en-US" sz="2400" dirty="0"/>
              <a:t>13 feet of tubing (shadow price = $0)</a:t>
            </a:r>
          </a:p>
          <a:p>
            <a:r>
              <a:rPr lang="en-US" sz="2800" dirty="0"/>
              <a:t>Q: Would it be profitable to produce any</a:t>
            </a:r>
            <a:r>
              <a:rPr lang="en-US" dirty="0"/>
              <a:t>?</a:t>
            </a:r>
          </a:p>
          <a:p>
            <a:pPr lvl="1">
              <a:buFontTx/>
              <a:buNone/>
            </a:pPr>
            <a:r>
              <a:rPr lang="en-US" dirty="0"/>
              <a:t>A: </a:t>
            </a:r>
            <a:r>
              <a:rPr lang="en-US" sz="2400" dirty="0"/>
              <a:t>$320 - $200*1 - $16.67*8 - $0*13 = -$13.33 = </a:t>
            </a:r>
            <a:r>
              <a:rPr lang="en-US" i="1" dirty="0">
                <a:solidFill>
                  <a:srgbClr val="FFFF00"/>
                </a:solidFill>
              </a:rPr>
              <a:t>No!</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04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048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48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06400" y="274638"/>
            <a:ext cx="8229600" cy="712787"/>
          </a:xfrm>
          <a:noFill/>
          <a:ln/>
        </p:spPr>
        <p:txBody>
          <a:bodyPr lIns="92075" tIns="46038" rIns="92075" bIns="46038"/>
          <a:lstStyle/>
          <a:p>
            <a:r>
              <a:rPr lang="en-US" sz="4000" i="1">
                <a:solidFill>
                  <a:schemeClr val="hlink"/>
                </a:solidFill>
              </a:rPr>
              <a:t>The Meaning of Reduced Costs</a:t>
            </a:r>
          </a:p>
        </p:txBody>
      </p:sp>
      <p:sp>
        <p:nvSpPr>
          <p:cNvPr id="21507" name="Rectangle 3"/>
          <p:cNvSpPr>
            <a:spLocks noGrp="1" noChangeArrowheads="1"/>
          </p:cNvSpPr>
          <p:nvPr>
            <p:ph type="body" idx="1"/>
          </p:nvPr>
        </p:nvSpPr>
        <p:spPr>
          <a:xfrm>
            <a:off x="533400" y="1161099"/>
            <a:ext cx="7772400" cy="1782762"/>
          </a:xfrm>
          <a:noFill/>
          <a:ln/>
        </p:spPr>
        <p:txBody>
          <a:bodyPr lIns="92075" tIns="46038" rIns="92075" bIns="46038"/>
          <a:lstStyle/>
          <a:p>
            <a:r>
              <a:rPr lang="en-US" sz="2800" dirty="0"/>
              <a:t>The </a:t>
            </a:r>
            <a:r>
              <a:rPr lang="en-US" sz="2800" i="1" u="sng" dirty="0">
                <a:solidFill>
                  <a:srgbClr val="FFFF00"/>
                </a:solidFill>
              </a:rPr>
              <a:t>reduced cost</a:t>
            </a:r>
            <a:r>
              <a:rPr lang="en-US" sz="2800" dirty="0"/>
              <a:t> for each product equals its per-unit marginal profit  minus the per-unit value of the resources it consumes (priced at their shadow prices).</a:t>
            </a:r>
          </a:p>
        </p:txBody>
      </p:sp>
      <p:sp>
        <p:nvSpPr>
          <p:cNvPr id="21508" name="Rectangle 4"/>
          <p:cNvSpPr>
            <a:spLocks noChangeArrowheads="1"/>
          </p:cNvSpPr>
          <p:nvPr/>
        </p:nvSpPr>
        <p:spPr bwMode="auto">
          <a:xfrm>
            <a:off x="416560" y="3175717"/>
            <a:ext cx="8737600" cy="3041650"/>
          </a:xfrm>
          <a:prstGeom prst="rect">
            <a:avLst/>
          </a:prstGeom>
          <a:noFill/>
          <a:ln w="9525">
            <a:noFill/>
            <a:miter lim="800000"/>
            <a:headEnd/>
            <a:tailEnd/>
          </a:ln>
          <a:effectLst/>
        </p:spPr>
        <p:txBody>
          <a:bodyPr lIns="92075" tIns="46038" rIns="92075" bIns="46038">
            <a:spAutoFit/>
          </a:bodyPr>
          <a:lstStyle/>
          <a:p>
            <a:pPr eaLnBrk="0" hangingPunct="0">
              <a:spcBef>
                <a:spcPct val="50000"/>
              </a:spcBef>
              <a:tabLst>
                <a:tab pos="1036638" algn="ctr"/>
                <a:tab pos="3943350" algn="ctr"/>
                <a:tab pos="6634163" algn="ctr"/>
              </a:tabLst>
            </a:pPr>
            <a:r>
              <a:rPr lang="en-US" sz="2400" dirty="0"/>
              <a:t>		Optimal Value of	Optimal Value of</a:t>
            </a:r>
          </a:p>
          <a:p>
            <a:pPr eaLnBrk="0" hangingPunct="0">
              <a:lnSpc>
                <a:spcPct val="10000"/>
              </a:lnSpc>
              <a:spcBef>
                <a:spcPct val="50000"/>
              </a:spcBef>
              <a:tabLst>
                <a:tab pos="1036638" algn="ctr"/>
                <a:tab pos="3943350" algn="ctr"/>
                <a:tab pos="6634163" algn="ctr"/>
              </a:tabLst>
            </a:pPr>
            <a:r>
              <a:rPr lang="en-US" sz="2400" dirty="0"/>
              <a:t>	Type of Problem	  Decision Variable 	Reduced Cost</a:t>
            </a:r>
          </a:p>
          <a:p>
            <a:pPr eaLnBrk="0" hangingPunct="0">
              <a:lnSpc>
                <a:spcPct val="10000"/>
              </a:lnSpc>
              <a:spcBef>
                <a:spcPct val="50000"/>
              </a:spcBef>
              <a:tabLst>
                <a:tab pos="1036638" algn="ctr"/>
                <a:tab pos="3943350" algn="ctr"/>
                <a:tab pos="6634163" algn="ctr"/>
              </a:tabLst>
            </a:pPr>
            <a:endParaRPr lang="en-US" sz="2400" dirty="0"/>
          </a:p>
          <a:p>
            <a:pPr eaLnBrk="0" hangingPunct="0">
              <a:lnSpc>
                <a:spcPct val="30000"/>
              </a:lnSpc>
              <a:spcBef>
                <a:spcPct val="50000"/>
              </a:spcBef>
              <a:tabLst>
                <a:tab pos="1036638" algn="ctr"/>
                <a:tab pos="3943350" algn="ctr"/>
                <a:tab pos="6634163" algn="ctr"/>
              </a:tabLst>
            </a:pPr>
            <a:r>
              <a:rPr lang="en-US" sz="2400" dirty="0"/>
              <a:t>		</a:t>
            </a:r>
            <a:r>
              <a:rPr lang="en-US" sz="2000" dirty="0"/>
              <a:t>at simple lower bound	&lt;=0</a:t>
            </a:r>
          </a:p>
          <a:p>
            <a:pPr eaLnBrk="0" hangingPunct="0">
              <a:lnSpc>
                <a:spcPct val="30000"/>
              </a:lnSpc>
              <a:spcBef>
                <a:spcPct val="50000"/>
              </a:spcBef>
              <a:tabLst>
                <a:tab pos="1036638" algn="ctr"/>
                <a:tab pos="3943350" algn="ctr"/>
                <a:tab pos="6634163" algn="ctr"/>
              </a:tabLst>
            </a:pPr>
            <a:r>
              <a:rPr lang="en-US" sz="2400" dirty="0"/>
              <a:t>	</a:t>
            </a:r>
            <a:r>
              <a:rPr lang="en-US" sz="2000" b="1" dirty="0"/>
              <a:t>Maximization</a:t>
            </a:r>
            <a:r>
              <a:rPr lang="en-US" sz="2400" dirty="0"/>
              <a:t>	</a:t>
            </a:r>
            <a:r>
              <a:rPr lang="en-US" sz="2000" dirty="0"/>
              <a:t>between lower &amp; upper bounds</a:t>
            </a:r>
            <a:r>
              <a:rPr lang="en-US" sz="2400" dirty="0"/>
              <a:t>	</a:t>
            </a:r>
            <a:r>
              <a:rPr lang="en-US" sz="2000" dirty="0"/>
              <a:t>=0</a:t>
            </a:r>
          </a:p>
          <a:p>
            <a:pPr eaLnBrk="0" hangingPunct="0">
              <a:lnSpc>
                <a:spcPct val="30000"/>
              </a:lnSpc>
              <a:spcBef>
                <a:spcPct val="50000"/>
              </a:spcBef>
              <a:tabLst>
                <a:tab pos="1036638" algn="ctr"/>
                <a:tab pos="3943350" algn="ctr"/>
                <a:tab pos="6634163" algn="ctr"/>
              </a:tabLst>
            </a:pPr>
            <a:r>
              <a:rPr lang="en-US" sz="2000" dirty="0"/>
              <a:t>		at simple upper bound	&gt;=0</a:t>
            </a:r>
          </a:p>
          <a:p>
            <a:pPr eaLnBrk="0" hangingPunct="0">
              <a:lnSpc>
                <a:spcPct val="30000"/>
              </a:lnSpc>
              <a:spcBef>
                <a:spcPct val="50000"/>
              </a:spcBef>
              <a:tabLst>
                <a:tab pos="1036638" algn="ctr"/>
                <a:tab pos="3943350" algn="ctr"/>
                <a:tab pos="6634163" algn="ctr"/>
              </a:tabLst>
            </a:pPr>
            <a:endParaRPr lang="en-US" sz="2000" dirty="0"/>
          </a:p>
          <a:p>
            <a:pPr eaLnBrk="0" hangingPunct="0">
              <a:lnSpc>
                <a:spcPct val="30000"/>
              </a:lnSpc>
              <a:spcBef>
                <a:spcPct val="50000"/>
              </a:spcBef>
              <a:tabLst>
                <a:tab pos="1036638" algn="ctr"/>
                <a:tab pos="3943350" algn="ctr"/>
                <a:tab pos="6634163" algn="ctr"/>
              </a:tabLst>
            </a:pPr>
            <a:r>
              <a:rPr lang="en-US" sz="2400" dirty="0"/>
              <a:t>		</a:t>
            </a:r>
            <a:r>
              <a:rPr lang="en-US" sz="2000" dirty="0"/>
              <a:t>at simple lower bound	&gt;=0</a:t>
            </a:r>
          </a:p>
          <a:p>
            <a:pPr eaLnBrk="0" hangingPunct="0">
              <a:lnSpc>
                <a:spcPct val="30000"/>
              </a:lnSpc>
              <a:spcBef>
                <a:spcPct val="50000"/>
              </a:spcBef>
              <a:tabLst>
                <a:tab pos="1036638" algn="ctr"/>
                <a:tab pos="3943350" algn="ctr"/>
                <a:tab pos="6634163" algn="ctr"/>
              </a:tabLst>
            </a:pPr>
            <a:r>
              <a:rPr lang="en-US" sz="2400" dirty="0"/>
              <a:t>	</a:t>
            </a:r>
            <a:r>
              <a:rPr lang="en-US" sz="2000" b="1" dirty="0"/>
              <a:t>Minimization</a:t>
            </a:r>
            <a:r>
              <a:rPr lang="en-US" sz="2400" dirty="0"/>
              <a:t>	</a:t>
            </a:r>
            <a:r>
              <a:rPr lang="en-US" sz="2000" dirty="0"/>
              <a:t>between lower &amp; upper bounds</a:t>
            </a:r>
            <a:r>
              <a:rPr lang="en-US" sz="2400" dirty="0"/>
              <a:t>	</a:t>
            </a:r>
            <a:r>
              <a:rPr lang="en-US" sz="2000" dirty="0"/>
              <a:t>=0</a:t>
            </a:r>
          </a:p>
          <a:p>
            <a:pPr eaLnBrk="0" hangingPunct="0">
              <a:lnSpc>
                <a:spcPct val="30000"/>
              </a:lnSpc>
              <a:spcBef>
                <a:spcPct val="50000"/>
              </a:spcBef>
              <a:tabLst>
                <a:tab pos="1036638" algn="ctr"/>
                <a:tab pos="3943350" algn="ctr"/>
                <a:tab pos="6634163" algn="ctr"/>
              </a:tabLst>
            </a:pPr>
            <a:r>
              <a:rPr lang="en-US" sz="2000" dirty="0"/>
              <a:t>		at simple upper bound	&lt;=0</a:t>
            </a:r>
          </a:p>
          <a:p>
            <a:pPr eaLnBrk="0" hangingPunct="0">
              <a:lnSpc>
                <a:spcPct val="30000"/>
              </a:lnSpc>
              <a:spcBef>
                <a:spcPct val="50000"/>
              </a:spcBef>
              <a:tabLst>
                <a:tab pos="1036638" algn="ctr"/>
                <a:tab pos="3943350" algn="ctr"/>
                <a:tab pos="6634163" algn="ctr"/>
              </a:tabLst>
            </a:pPr>
            <a:endParaRPr lang="en-US" sz="2000" dirty="0"/>
          </a:p>
        </p:txBody>
      </p:sp>
      <p:sp>
        <p:nvSpPr>
          <p:cNvPr id="2" name="Footer Placeholder 1"/>
          <p:cNvSpPr>
            <a:spLocks noGrp="1"/>
          </p:cNvSpPr>
          <p:nvPr>
            <p:ph type="ftr" sz="quarter" idx="11"/>
          </p:nvPr>
        </p:nvSpPr>
        <p:spPr>
          <a:xfrm>
            <a:off x="3124200" y="6418743"/>
            <a:ext cx="2895600" cy="357814"/>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377825"/>
            <a:ext cx="7772400" cy="577850"/>
          </a:xfrm>
          <a:noFill/>
          <a:ln/>
        </p:spPr>
        <p:txBody>
          <a:bodyPr lIns="92075" tIns="46038" rIns="92075" bIns="46038"/>
          <a:lstStyle/>
          <a:p>
            <a:r>
              <a:rPr lang="en-US" sz="4000" i="1">
                <a:solidFill>
                  <a:schemeClr val="hlink"/>
                </a:solidFill>
              </a:rPr>
              <a:t>Key Points - I</a:t>
            </a:r>
          </a:p>
        </p:txBody>
      </p:sp>
      <p:sp>
        <p:nvSpPr>
          <p:cNvPr id="22531" name="Rectangle 3"/>
          <p:cNvSpPr>
            <a:spLocks noGrp="1" noChangeArrowheads="1"/>
          </p:cNvSpPr>
          <p:nvPr>
            <p:ph type="body" idx="1"/>
          </p:nvPr>
        </p:nvSpPr>
        <p:spPr>
          <a:xfrm>
            <a:off x="295275" y="1182688"/>
            <a:ext cx="8420100" cy="4989512"/>
          </a:xfrm>
          <a:noFill/>
          <a:ln/>
        </p:spPr>
        <p:txBody>
          <a:bodyPr lIns="92075" tIns="46038" rIns="92075" bIns="46038"/>
          <a:lstStyle/>
          <a:p>
            <a:pPr>
              <a:lnSpc>
                <a:spcPct val="120000"/>
              </a:lnSpc>
            </a:pPr>
            <a:r>
              <a:rPr lang="en-US" sz="3000" dirty="0"/>
              <a:t>The shadow prices of resources equate the marginal value of the resources consumed with the marginal benefit of the goods being produced.</a:t>
            </a:r>
          </a:p>
          <a:p>
            <a:pPr>
              <a:lnSpc>
                <a:spcPct val="120000"/>
              </a:lnSpc>
            </a:pPr>
            <a:r>
              <a:rPr lang="en-US" sz="3000" dirty="0"/>
              <a:t>Resources in excess supply have a shadow price (or marginal value) of zero.</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377825"/>
            <a:ext cx="7772400" cy="577850"/>
          </a:xfrm>
          <a:noFill/>
          <a:ln/>
        </p:spPr>
        <p:txBody>
          <a:bodyPr lIns="92075" tIns="46038" rIns="92075" bIns="46038"/>
          <a:lstStyle/>
          <a:p>
            <a:r>
              <a:rPr lang="en-US" sz="4000" i="1">
                <a:solidFill>
                  <a:schemeClr val="hlink"/>
                </a:solidFill>
              </a:rPr>
              <a:t>Key Points-II</a:t>
            </a:r>
          </a:p>
        </p:txBody>
      </p:sp>
      <p:sp>
        <p:nvSpPr>
          <p:cNvPr id="49155" name="Rectangle 3"/>
          <p:cNvSpPr>
            <a:spLocks noGrp="1" noChangeArrowheads="1"/>
          </p:cNvSpPr>
          <p:nvPr>
            <p:ph type="body" idx="1"/>
          </p:nvPr>
        </p:nvSpPr>
        <p:spPr>
          <a:xfrm>
            <a:off x="295275" y="1182688"/>
            <a:ext cx="8420100" cy="4989512"/>
          </a:xfrm>
          <a:noFill/>
          <a:ln/>
        </p:spPr>
        <p:txBody>
          <a:bodyPr lIns="92075" tIns="46038" rIns="92075" bIns="46038"/>
          <a:lstStyle/>
          <a:p>
            <a:pPr>
              <a:lnSpc>
                <a:spcPct val="120000"/>
              </a:lnSpc>
            </a:pPr>
            <a:r>
              <a:rPr lang="en-US" sz="3000" dirty="0"/>
              <a:t>The reduced cost of a product is the difference between its marginal profit and the marginal value of the resources it consumes.</a:t>
            </a:r>
          </a:p>
          <a:p>
            <a:pPr>
              <a:lnSpc>
                <a:spcPct val="120000"/>
              </a:lnSpc>
            </a:pPr>
            <a:r>
              <a:rPr lang="en-US" sz="3000" dirty="0"/>
              <a:t>Products whose marginal profits are less than the marginal value of the goods required for their production will not be produced in an optimal solution.</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77813" y="390525"/>
            <a:ext cx="8621712" cy="676275"/>
          </a:xfrm>
          <a:noFill/>
          <a:ln/>
        </p:spPr>
        <p:txBody>
          <a:bodyPr lIns="92075" tIns="46038" rIns="92075" bIns="46038"/>
          <a:lstStyle/>
          <a:p>
            <a:r>
              <a:rPr lang="en-US" sz="4000" i="1">
                <a:solidFill>
                  <a:schemeClr val="hlink"/>
                </a:solidFill>
              </a:rPr>
              <a:t>Analyzing Changes in </a:t>
            </a:r>
            <a:br>
              <a:rPr lang="en-US" sz="4000" i="1">
                <a:solidFill>
                  <a:schemeClr val="hlink"/>
                </a:solidFill>
              </a:rPr>
            </a:br>
            <a:r>
              <a:rPr lang="en-US" sz="4000" i="1">
                <a:solidFill>
                  <a:schemeClr val="hlink"/>
                </a:solidFill>
              </a:rPr>
              <a:t>Constraint Coefficients</a:t>
            </a:r>
          </a:p>
        </p:txBody>
      </p:sp>
      <p:sp>
        <p:nvSpPr>
          <p:cNvPr id="23555" name="Rectangle 3"/>
          <p:cNvSpPr>
            <a:spLocks noGrp="1" noChangeArrowheads="1"/>
          </p:cNvSpPr>
          <p:nvPr>
            <p:ph type="body" idx="1"/>
          </p:nvPr>
        </p:nvSpPr>
        <p:spPr>
          <a:xfrm>
            <a:off x="304800" y="1295400"/>
            <a:ext cx="8229600" cy="5275263"/>
          </a:xfrm>
          <a:noFill/>
          <a:ln/>
        </p:spPr>
        <p:txBody>
          <a:bodyPr lIns="92075" tIns="46038" rIns="92075" bIns="46038"/>
          <a:lstStyle/>
          <a:p>
            <a:r>
              <a:rPr lang="en-US" sz="2800" dirty="0"/>
              <a:t>Q: Suppose a Typhoon-Lagoon required only 7 labor hours rather than 8.  </a:t>
            </a:r>
            <a:r>
              <a:rPr lang="en-US" dirty="0"/>
              <a:t>Is it now profitable to produce any?</a:t>
            </a:r>
          </a:p>
          <a:p>
            <a:pPr lvl="1">
              <a:buFontTx/>
              <a:buNone/>
            </a:pPr>
            <a:r>
              <a:rPr lang="en-US" dirty="0"/>
              <a:t>A:</a:t>
            </a:r>
            <a:r>
              <a:rPr lang="en-US" sz="2400" dirty="0"/>
              <a:t>	$320 - $200*1 - $16.67*7 - $0*13 = $3.31 = </a:t>
            </a:r>
            <a:r>
              <a:rPr lang="en-US" i="1" dirty="0">
                <a:solidFill>
                  <a:srgbClr val="FFFF00"/>
                </a:solidFill>
              </a:rPr>
              <a:t>Yes!</a:t>
            </a:r>
          </a:p>
          <a:p>
            <a:r>
              <a:rPr lang="en-US" dirty="0"/>
              <a:t>Q: </a:t>
            </a:r>
            <a:r>
              <a:rPr lang="en-US" sz="2800" dirty="0"/>
              <a:t>What is the maximum amount of labor Typhoon-Lagoons could require and still be profitable?</a:t>
            </a:r>
          </a:p>
          <a:p>
            <a:pPr lvl="1">
              <a:buFontTx/>
              <a:buNone/>
            </a:pPr>
            <a:r>
              <a:rPr lang="en-US" dirty="0"/>
              <a:t>A: </a:t>
            </a:r>
            <a:r>
              <a:rPr lang="en-US" sz="2400" dirty="0"/>
              <a:t>We need</a:t>
            </a:r>
            <a:r>
              <a:rPr lang="en-US" dirty="0"/>
              <a:t> </a:t>
            </a:r>
            <a:r>
              <a:rPr lang="en-US" sz="2400" dirty="0"/>
              <a:t>$320 - $200*1 - $16.67*L</a:t>
            </a:r>
            <a:r>
              <a:rPr lang="en-US" sz="2400" baseline="-25000" dirty="0"/>
              <a:t>3</a:t>
            </a:r>
            <a:r>
              <a:rPr lang="en-US" sz="2400" dirty="0"/>
              <a:t> - $0*13 &gt;=0</a:t>
            </a:r>
          </a:p>
          <a:p>
            <a:pPr lvl="1">
              <a:buFontTx/>
              <a:buNone/>
            </a:pPr>
            <a:r>
              <a:rPr lang="en-US" sz="2400" dirty="0"/>
              <a:t>		The above is true if L</a:t>
            </a:r>
            <a:r>
              <a:rPr lang="en-US" sz="2400" baseline="-25000" dirty="0"/>
              <a:t>3</a:t>
            </a:r>
            <a:r>
              <a:rPr lang="en-US" sz="2400" dirty="0"/>
              <a:t> &lt;= 120/16.67 = 7.20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3555">
                                            <p:txEl>
                                              <p:pRg st="3" end="3"/>
                                            </p:txEl>
                                          </p:spTgt>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bldLvl="2"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5800" y="377825"/>
            <a:ext cx="7772400" cy="592138"/>
          </a:xfrm>
          <a:noFill/>
          <a:ln/>
        </p:spPr>
        <p:txBody>
          <a:bodyPr lIns="92075" tIns="46038" rIns="92075" bIns="46038"/>
          <a:lstStyle/>
          <a:p>
            <a:r>
              <a:rPr lang="en-US" i="1">
                <a:solidFill>
                  <a:schemeClr val="hlink"/>
                </a:solidFill>
              </a:rPr>
              <a:t>A Warning About Degeneracy</a:t>
            </a:r>
          </a:p>
        </p:txBody>
      </p:sp>
      <p:sp>
        <p:nvSpPr>
          <p:cNvPr id="26627" name="Rectangle 3"/>
          <p:cNvSpPr>
            <a:spLocks noGrp="1" noChangeArrowheads="1"/>
          </p:cNvSpPr>
          <p:nvPr>
            <p:ph type="body" idx="1"/>
          </p:nvPr>
        </p:nvSpPr>
        <p:spPr>
          <a:xfrm>
            <a:off x="359569" y="1011082"/>
            <a:ext cx="8424862" cy="5161118"/>
          </a:xfrm>
          <a:noFill/>
          <a:ln/>
        </p:spPr>
        <p:txBody>
          <a:bodyPr lIns="92075" tIns="46038" rIns="92075" bIns="46038"/>
          <a:lstStyle/>
          <a:p>
            <a:r>
              <a:rPr lang="en-US" sz="2800" dirty="0"/>
              <a:t>The solution to an LP problem is degenerate if the Allowable Increase or Decrease on any constraint is zero (0).</a:t>
            </a:r>
          </a:p>
          <a:p>
            <a:r>
              <a:rPr lang="en-US" sz="2800" dirty="0"/>
              <a:t>When the solution is degenerate:</a:t>
            </a:r>
          </a:p>
          <a:p>
            <a:pPr marL="801688" lvl="1" indent="-344488">
              <a:buFontTx/>
              <a:buNone/>
            </a:pPr>
            <a:r>
              <a:rPr lang="en-US" sz="2600" dirty="0"/>
              <a:t>1.	The methods mentioned earlier for detecting alternate optimal solutions cannot be relied upon.</a:t>
            </a:r>
          </a:p>
          <a:p>
            <a:pPr marL="801688" lvl="1" indent="-344488">
              <a:buFontTx/>
              <a:buNone/>
            </a:pPr>
            <a:r>
              <a:rPr lang="en-US" sz="2600" dirty="0"/>
              <a:t>2.	The reduced costs for the changing cells may not be unique.  Also, the objective function coefficients for changing cells must change by at least as much as (and possibly more than) their respective reduced costs before the optimal solution would change.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627">
                                            <p:txEl>
                                              <p:pRg st="1" end="1"/>
                                            </p:txEl>
                                          </p:spTgt>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2662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6627">
                                            <p:txEl>
                                              <p:pRg st="2" end="2"/>
                                            </p:txEl>
                                          </p:spTgt>
                                        </p:tgtEl>
                                        <p:attrNameLst>
                                          <p:attrName>ppt_c</p:attrName>
                                        </p:attrNameLst>
                                      </p:cBhvr>
                                      <p:to>
                                        <a:srgbClr val="C0C0C0"/>
                                      </p:to>
                                    </p:animClr>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662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6627">
                                            <p:txEl>
                                              <p:pRg st="3" end="3"/>
                                            </p:txEl>
                                          </p:spTgt>
                                        </p:tgtEl>
                                        <p:attrNameLst>
                                          <p:attrName>ppt_c</p:attrName>
                                        </p:attrNameLst>
                                      </p:cBhvr>
                                      <p:to>
                                        <a:srgbClr val="C0C0C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bldLvl="2"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295275" y="609600"/>
            <a:ext cx="8391525" cy="5181600"/>
          </a:xfrm>
          <a:noFill/>
          <a:ln/>
        </p:spPr>
        <p:txBody>
          <a:bodyPr lIns="92075" tIns="46038" rIns="92075" bIns="46038"/>
          <a:lstStyle/>
          <a:p>
            <a:pPr>
              <a:lnSpc>
                <a:spcPct val="110000"/>
              </a:lnSpc>
            </a:pPr>
            <a:r>
              <a:rPr lang="en-US" sz="2800" dirty="0"/>
              <a:t>When the solution is degenerate </a:t>
            </a:r>
            <a:r>
              <a:rPr lang="en-US" sz="2000" dirty="0"/>
              <a:t>(cont’d)</a:t>
            </a:r>
            <a:r>
              <a:rPr lang="en-US" sz="2800" dirty="0"/>
              <a:t>:</a:t>
            </a:r>
          </a:p>
          <a:p>
            <a:pPr marL="854075" lvl="1" indent="-396875">
              <a:lnSpc>
                <a:spcPct val="110000"/>
              </a:lnSpc>
              <a:buFontTx/>
              <a:buNone/>
            </a:pPr>
            <a:r>
              <a:rPr lang="en-US" sz="2600" dirty="0"/>
              <a:t>3. The allowable increases and decreases for the objective function coefficients still hold and, in fact, the coefficients may have to be changed beyond the allowable increase and decrease limits before the optimal solution changes.</a:t>
            </a:r>
          </a:p>
          <a:p>
            <a:pPr marL="854075" lvl="1" indent="-396875">
              <a:lnSpc>
                <a:spcPct val="110000"/>
              </a:lnSpc>
              <a:buFontTx/>
              <a:buNone/>
            </a:pPr>
            <a:r>
              <a:rPr lang="en-US" sz="2600" dirty="0"/>
              <a:t>4. The given shadow prices and their ranges may still be interpreted in the usual way but they may not be unique.  That is, a different set of shadow prices and ranges may also apply to the problem (even if the optimal solution is unique).</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765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765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7650">
                                            <p:txEl>
                                              <p:pRg st="1" end="1"/>
                                            </p:txEl>
                                          </p:spTgt>
                                        </p:tgtEl>
                                        <p:attrNameLst>
                                          <p:attrName>ppt_c</p:attrName>
                                        </p:attrNameLst>
                                      </p:cBhvr>
                                      <p:to>
                                        <a:srgbClr val="C0C0C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765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7650">
                                            <p:txEl>
                                              <p:pRg st="2" end="2"/>
                                            </p:txEl>
                                          </p:spTgt>
                                        </p:tgtEl>
                                        <p:attrNameLst>
                                          <p:attrName>ppt_c</p:attrName>
                                        </p:attrNameLst>
                                      </p:cBhvr>
                                      <p:to>
                                        <a:srgbClr val="C0C0C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bldLvl="2"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415925"/>
            <a:ext cx="8229600" cy="571500"/>
          </a:xfrm>
        </p:spPr>
        <p:txBody>
          <a:bodyPr/>
          <a:lstStyle/>
          <a:p>
            <a:r>
              <a:rPr lang="en-US" sz="4000" i="1" dirty="0">
                <a:solidFill>
                  <a:schemeClr val="hlink"/>
                </a:solidFill>
              </a:rPr>
              <a:t>Ad Hoc Sensitivity Analysis</a:t>
            </a:r>
            <a:endParaRPr lang="en-US" sz="4000" dirty="0">
              <a:solidFill>
                <a:schemeClr val="hlink"/>
              </a:solidFill>
            </a:endParaRPr>
          </a:p>
        </p:txBody>
      </p:sp>
      <p:sp>
        <p:nvSpPr>
          <p:cNvPr id="35843" name="Rectangle 3"/>
          <p:cNvSpPr>
            <a:spLocks noGrp="1" noChangeArrowheads="1"/>
          </p:cNvSpPr>
          <p:nvPr>
            <p:ph type="body" idx="1"/>
          </p:nvPr>
        </p:nvSpPr>
        <p:spPr>
          <a:xfrm>
            <a:off x="609600" y="1066800"/>
            <a:ext cx="7772400" cy="4800600"/>
          </a:xfrm>
        </p:spPr>
        <p:txBody>
          <a:bodyPr/>
          <a:lstStyle/>
          <a:p>
            <a:r>
              <a:rPr lang="en-US" sz="2800" dirty="0"/>
              <a:t>We can use ASP’s ability to run multiple parameterized optimizations to carry out ad hoc sensitivity such as:</a:t>
            </a:r>
          </a:p>
          <a:p>
            <a:pPr lvl="1"/>
            <a:r>
              <a:rPr lang="en-US" sz="2600" dirty="0"/>
              <a:t>Spider Tables &amp; Plots </a:t>
            </a:r>
          </a:p>
          <a:p>
            <a:pPr lvl="2"/>
            <a:r>
              <a:rPr lang="en-US" dirty="0"/>
              <a:t>Summarize the optimal value for one output cell as individual changes are made to various input cells.</a:t>
            </a:r>
          </a:p>
          <a:p>
            <a:pPr lvl="1"/>
            <a:r>
              <a:rPr lang="en-US" sz="2600" dirty="0"/>
              <a:t>Solver Tables</a:t>
            </a:r>
          </a:p>
          <a:p>
            <a:pPr lvl="2"/>
            <a:r>
              <a:rPr lang="en-US" dirty="0"/>
              <a:t>Summarize the optimal value of multiple output cells as changes are made to a single input cell.</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8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2075" tIns="46038" rIns="92075" bIns="46038"/>
          <a:lstStyle/>
          <a:p>
            <a:r>
              <a:rPr lang="en-US" sz="4000" i="1" dirty="0">
                <a:solidFill>
                  <a:schemeClr val="hlink"/>
                </a:solidFill>
              </a:rPr>
              <a:t>Spider Tables &amp; Plots</a:t>
            </a:r>
          </a:p>
        </p:txBody>
      </p:sp>
      <p:sp>
        <p:nvSpPr>
          <p:cNvPr id="4" name="Rectangle 3"/>
          <p:cNvSpPr txBox="1">
            <a:spLocks noChangeArrowheads="1"/>
          </p:cNvSpPr>
          <p:nvPr/>
        </p:nvSpPr>
        <p:spPr bwMode="auto">
          <a:xfrm>
            <a:off x="774700" y="2736850"/>
            <a:ext cx="8153400" cy="1835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spcBef>
                <a:spcPct val="20000"/>
              </a:spcBef>
              <a:buClr>
                <a:schemeClr val="hlink"/>
              </a:buClr>
            </a:pPr>
            <a:r>
              <a:rPr lang="en-US" sz="2500" kern="0" dirty="0">
                <a:latin typeface="+mn-lt"/>
                <a:cs typeface="+mn-cs"/>
              </a:rPr>
              <a:t>Changes to input/parameter cells are indicated via</a:t>
            </a:r>
          </a:p>
          <a:p>
            <a:pPr marL="342900" lvl="0" indent="-342900">
              <a:spcBef>
                <a:spcPct val="20000"/>
              </a:spcBef>
              <a:buClr>
                <a:schemeClr val="hlink"/>
              </a:buClr>
              <a:buFont typeface="Wingdings" pitchFamily="2" charset="2"/>
              <a:buChar char="§"/>
            </a:pPr>
            <a:r>
              <a:rPr lang="en-US" sz="2500" kern="0" noProof="0" dirty="0">
                <a:latin typeface="+mn-lt"/>
                <a:cs typeface="+mn-cs"/>
              </a:rPr>
              <a:t>=</a:t>
            </a:r>
            <a:r>
              <a:rPr lang="en-US" sz="2500" kern="0" noProof="0" dirty="0" err="1">
                <a:latin typeface="+mn-lt"/>
                <a:cs typeface="+mn-cs"/>
              </a:rPr>
              <a:t>PsiOptParam</a:t>
            </a:r>
            <a:r>
              <a:rPr lang="en-US" sz="2500" kern="0" noProof="0" dirty="0">
                <a:latin typeface="+mn-lt"/>
                <a:cs typeface="+mn-cs"/>
              </a:rPr>
              <a:t>( min, max, </a:t>
            </a:r>
            <a:r>
              <a:rPr lang="en-US" sz="2500" kern="0" noProof="0" dirty="0" err="1">
                <a:latin typeface="+mn-lt"/>
                <a:cs typeface="+mn-cs"/>
              </a:rPr>
              <a:t>base_case</a:t>
            </a:r>
            <a:r>
              <a:rPr lang="en-US" sz="2500" kern="0" noProof="0" dirty="0">
                <a:latin typeface="+mn-lt"/>
                <a:cs typeface="+mn-cs"/>
              </a:rPr>
              <a:t> )</a:t>
            </a:r>
          </a:p>
          <a:p>
            <a:pPr marL="342900" lvl="0" indent="-342900">
              <a:spcBef>
                <a:spcPct val="20000"/>
              </a:spcBef>
              <a:buClr>
                <a:schemeClr val="hlink"/>
              </a:buClr>
              <a:buFont typeface="Wingdings" pitchFamily="2" charset="2"/>
              <a:buChar char="§"/>
            </a:pPr>
            <a:r>
              <a:rPr kumimoji="0" lang="en-US" sz="2500" b="0" i="0" u="none" strike="noStrike" kern="0" cap="none" spc="0" normalizeH="0" baseline="0" dirty="0">
                <a:ln>
                  <a:noFill/>
                </a:ln>
                <a:effectLst/>
                <a:uLnTx/>
                <a:uFillTx/>
                <a:latin typeface="+mn-lt"/>
                <a:ea typeface="+mn-ea"/>
                <a:cs typeface="+mn-cs"/>
              </a:rPr>
              <a:t>Changing P parameters over V</a:t>
            </a:r>
            <a:r>
              <a:rPr kumimoji="0" lang="en-US" sz="2500" b="0" i="0" u="none" strike="noStrike" kern="0" cap="none" spc="0" normalizeH="0" dirty="0">
                <a:ln>
                  <a:noFill/>
                </a:ln>
                <a:effectLst/>
                <a:uLnTx/>
                <a:uFillTx/>
                <a:latin typeface="+mn-lt"/>
                <a:ea typeface="+mn-ea"/>
                <a:cs typeface="+mn-cs"/>
              </a:rPr>
              <a:t> values requires P*V optimizations…</a:t>
            </a:r>
            <a:endParaRPr kumimoji="0" lang="en-US" sz="2500" b="0" i="0" u="none" strike="noStrike" kern="0" cap="none" spc="0" normalizeH="0" baseline="0" noProof="0" dirty="0">
              <a:ln>
                <a:noFill/>
              </a:ln>
              <a:effectLst/>
              <a:uLnTx/>
              <a:uFillTx/>
              <a:latin typeface="+mn-lt"/>
              <a:ea typeface="+mn-ea"/>
              <a:cs typeface="+mn-cs"/>
            </a:endParaRPr>
          </a:p>
        </p:txBody>
      </p:sp>
      <p:sp>
        <p:nvSpPr>
          <p:cNvPr id="5" name="TextBox 4"/>
          <p:cNvSpPr txBox="1"/>
          <p:nvPr/>
        </p:nvSpPr>
        <p:spPr>
          <a:xfrm>
            <a:off x="762000" y="1171575"/>
            <a:ext cx="7508875" cy="1292662"/>
          </a:xfrm>
          <a:prstGeom prst="rect">
            <a:avLst/>
          </a:prstGeom>
          <a:noFill/>
        </p:spPr>
        <p:txBody>
          <a:bodyPr wrap="square" rtlCol="0">
            <a:spAutoFit/>
          </a:bodyPr>
          <a:lstStyle/>
          <a:p>
            <a:r>
              <a:rPr lang="en-US" sz="2600" dirty="0"/>
              <a:t>Summarize the optimal values of </a:t>
            </a:r>
            <a:r>
              <a:rPr lang="en-US" sz="2600" u="sng" dirty="0"/>
              <a:t>one output cell</a:t>
            </a:r>
            <a:r>
              <a:rPr lang="en-US" sz="2600" dirty="0"/>
              <a:t> as individual changes are made to one or more inputs/parameters.</a:t>
            </a:r>
          </a:p>
        </p:txBody>
      </p:sp>
      <p:graphicFrame>
        <p:nvGraphicFramePr>
          <p:cNvPr id="6"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6905" name="Equation" r:id="rId4" imgW="114151" imgH="215619" progId="Equation.3">
                  <p:embed/>
                </p:oleObj>
              </mc:Choice>
              <mc:Fallback>
                <p:oleObj name="Equation" r:id="rId4" imgW="114151" imgH="215619" progId="Equation.3">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04" name="Picture 16" descr="C:\Users\CLIFFR~1\AppData\Local\Temp\SNAGHTML72e403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5289" y="1795227"/>
            <a:ext cx="3120441" cy="42162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5"/>
          <a:stretch>
            <a:fillRect/>
          </a:stretch>
        </p:blipFill>
        <p:spPr>
          <a:xfrm>
            <a:off x="109456" y="1432367"/>
            <a:ext cx="5645441" cy="2888365"/>
          </a:xfrm>
          <a:prstGeom prst="rect">
            <a:avLst/>
          </a:prstGeom>
        </p:spPr>
      </p:pic>
      <p:sp>
        <p:nvSpPr>
          <p:cNvPr id="36866" name="Rectangle 2"/>
          <p:cNvSpPr>
            <a:spLocks noGrp="1" noChangeArrowheads="1"/>
          </p:cNvSpPr>
          <p:nvPr>
            <p:ph type="title"/>
          </p:nvPr>
        </p:nvSpPr>
        <p:spPr>
          <a:noFill/>
          <a:ln/>
        </p:spPr>
        <p:txBody>
          <a:bodyPr lIns="92075" tIns="46038" rIns="92075" bIns="46038"/>
          <a:lstStyle/>
          <a:p>
            <a:r>
              <a:rPr lang="en-US" sz="4000" i="1" dirty="0">
                <a:solidFill>
                  <a:schemeClr val="hlink"/>
                </a:solidFill>
              </a:rPr>
              <a:t>Spider Tables &amp; Plots</a:t>
            </a:r>
          </a:p>
        </p:txBody>
      </p:sp>
      <p:sp>
        <p:nvSpPr>
          <p:cNvPr id="36867" name="Rectangle 3"/>
          <p:cNvSpPr>
            <a:spLocks noChangeArrowheads="1"/>
          </p:cNvSpPr>
          <p:nvPr/>
        </p:nvSpPr>
        <p:spPr bwMode="auto">
          <a:xfrm>
            <a:off x="457200" y="4961937"/>
            <a:ext cx="4651375" cy="493085"/>
          </a:xfrm>
          <a:prstGeom prst="rect">
            <a:avLst/>
          </a:prstGeom>
          <a:noFill/>
          <a:ln w="9525">
            <a:noFill/>
            <a:miter lim="800000"/>
            <a:headEnd/>
            <a:tailEnd/>
          </a:ln>
          <a:effectLst/>
        </p:spPr>
        <p:txBody>
          <a:bodyPr wrap="square" lIns="92075" tIns="46038" rIns="92075" bIns="46038">
            <a:spAutoFit/>
          </a:bodyPr>
          <a:lstStyle/>
          <a:p>
            <a:pPr algn="ctr" eaLnBrk="0" hangingPunct="0">
              <a:spcBef>
                <a:spcPct val="50000"/>
              </a:spcBef>
            </a:pPr>
            <a:r>
              <a:rPr lang="en-US" sz="2600" dirty="0"/>
              <a:t>See file: </a:t>
            </a:r>
            <a:r>
              <a:rPr lang="en-US" sz="2600" dirty="0">
                <a:hlinkClick r:id="rId6" action="ppaction://hlinkfile"/>
              </a:rPr>
              <a:t>Fig4-12.xlsm</a:t>
            </a:r>
            <a:endParaRPr lang="en-US" sz="3600"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grpSp>
        <p:nvGrpSpPr>
          <p:cNvPr id="10" name="Group 9"/>
          <p:cNvGrpSpPr/>
          <p:nvPr/>
        </p:nvGrpSpPr>
        <p:grpSpPr>
          <a:xfrm>
            <a:off x="4134295" y="2609850"/>
            <a:ext cx="1143000" cy="927100"/>
            <a:chOff x="4134295" y="2609850"/>
            <a:chExt cx="1143000" cy="927100"/>
          </a:xfrm>
        </p:grpSpPr>
        <p:graphicFrame>
          <p:nvGraphicFramePr>
            <p:cNvPr id="6" name="Object 5"/>
            <p:cNvGraphicFramePr>
              <a:graphicFrameLocks noChangeAspect="1"/>
            </p:cNvGraphicFramePr>
            <p:nvPr>
              <p:extLst>
                <p:ext uri="{D42A27DB-BD31-4B8C-83A1-F6EECF244321}">
                  <p14:modId xmlns:p14="http://schemas.microsoft.com/office/powerpoint/2010/main" val="2214062724"/>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37915" name="Equation" r:id="rId7" imgW="114151" imgH="215619" progId="Equation.3">
                    <p:embed/>
                  </p:oleObj>
                </mc:Choice>
                <mc:Fallback>
                  <p:oleObj name="Equation" r:id="rId7" imgW="114151" imgH="21561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Oval 10"/>
            <p:cNvSpPr/>
            <p:nvPr/>
          </p:nvSpPr>
          <p:spPr bwMode="auto">
            <a:xfrm>
              <a:off x="4134295" y="2609850"/>
              <a:ext cx="1143000" cy="533400"/>
            </a:xfrm>
            <a:prstGeom prst="ellipse">
              <a:avLst/>
            </a:prstGeom>
            <a:noFill/>
            <a:ln w="9525"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grpSp>
      <p:sp>
        <p:nvSpPr>
          <p:cNvPr id="5" name="Oval 4"/>
          <p:cNvSpPr/>
          <p:nvPr/>
        </p:nvSpPr>
        <p:spPr bwMode="auto">
          <a:xfrm>
            <a:off x="5835289" y="4961937"/>
            <a:ext cx="3120441" cy="493085"/>
          </a:xfrm>
          <a:prstGeom prst="ellipse">
            <a:avLst/>
          </a:prstGeom>
          <a:noFill/>
          <a:ln w="9525" cap="flat"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350034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2075" tIns="46038" rIns="92075" bIns="46038"/>
          <a:lstStyle/>
          <a:p>
            <a:r>
              <a:rPr lang="en-US" sz="4000" i="1" dirty="0">
                <a:solidFill>
                  <a:schemeClr val="hlink"/>
                </a:solidFill>
              </a:rPr>
              <a:t>Solver Tables</a:t>
            </a:r>
          </a:p>
        </p:txBody>
      </p:sp>
      <p:sp>
        <p:nvSpPr>
          <p:cNvPr id="36867" name="Rectangle 3"/>
          <p:cNvSpPr>
            <a:spLocks noChangeArrowheads="1"/>
          </p:cNvSpPr>
          <p:nvPr/>
        </p:nvSpPr>
        <p:spPr bwMode="auto">
          <a:xfrm>
            <a:off x="990600" y="4419600"/>
            <a:ext cx="7283450" cy="493085"/>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2600" dirty="0"/>
              <a:t>See file: </a:t>
            </a:r>
            <a:r>
              <a:rPr lang="en-US" sz="2600" dirty="0">
                <a:hlinkClick r:id="rId3" action="ppaction://hlinkfile"/>
              </a:rPr>
              <a:t>Fig4-16.xlsm</a:t>
            </a:r>
            <a:endParaRPr lang="en-US" sz="2600" dirty="0"/>
          </a:p>
        </p:txBody>
      </p:sp>
      <p:sp>
        <p:nvSpPr>
          <p:cNvPr id="4" name="Rectangle 3"/>
          <p:cNvSpPr txBox="1">
            <a:spLocks noChangeArrowheads="1"/>
          </p:cNvSpPr>
          <p:nvPr/>
        </p:nvSpPr>
        <p:spPr bwMode="auto">
          <a:xfrm>
            <a:off x="457200" y="1447800"/>
            <a:ext cx="8229600" cy="2667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R="0" lvl="0" algn="l" defTabSz="914400" rtl="0" eaLnBrk="1" fontAlgn="base" latinLnBrk="0" hangingPunct="1">
              <a:lnSpc>
                <a:spcPct val="100000"/>
              </a:lnSpc>
              <a:spcBef>
                <a:spcPct val="20000"/>
              </a:spcBef>
              <a:spcAft>
                <a:spcPct val="0"/>
              </a:spcAft>
              <a:buClr>
                <a:schemeClr val="hlink"/>
              </a:buClr>
              <a:buSzTx/>
              <a:tabLst/>
              <a:defRPr/>
            </a:pPr>
            <a:r>
              <a:rPr kumimoji="0" lang="en-US" sz="2600" b="0" i="0" u="none" strike="noStrike" kern="0" cap="none" spc="0" normalizeH="0" baseline="0" noProof="0" dirty="0">
                <a:ln>
                  <a:noFill/>
                </a:ln>
                <a:solidFill>
                  <a:schemeClr val="tx1"/>
                </a:solidFill>
                <a:effectLst/>
                <a:uLnTx/>
                <a:uFillTx/>
                <a:latin typeface="+mn-lt"/>
                <a:ea typeface="+mn-ea"/>
                <a:cs typeface="+mn-cs"/>
              </a:rPr>
              <a:t>Summarizes the optimal values</a:t>
            </a:r>
            <a:r>
              <a:rPr kumimoji="0" lang="en-US" sz="2600" b="0" i="0" u="none" strike="noStrike" kern="0" cap="none" spc="0" normalizeH="0" noProof="0" dirty="0">
                <a:ln>
                  <a:noFill/>
                </a:ln>
                <a:solidFill>
                  <a:schemeClr val="tx1"/>
                </a:solidFill>
                <a:effectLst/>
                <a:uLnTx/>
                <a:uFillTx/>
                <a:latin typeface="+mn-lt"/>
                <a:ea typeface="+mn-ea"/>
                <a:cs typeface="+mn-cs"/>
              </a:rPr>
              <a:t> of multiple output cells as changes are made to one input/parameter cell</a:t>
            </a:r>
            <a:endParaRPr kumimoji="0" lang="en-US" sz="26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
              <a:tabLst/>
              <a:defRPr/>
            </a:pPr>
            <a:endParaRPr kumimoji="0" lang="en-US" sz="26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
              <a:tabLst/>
              <a:defRPr/>
            </a:pPr>
            <a:r>
              <a:rPr kumimoji="0" lang="en-US" sz="2600" b="0" i="0" u="none" strike="noStrike" kern="0" cap="none" spc="0" normalizeH="0" baseline="0" noProof="0" dirty="0">
                <a:ln>
                  <a:noFill/>
                </a:ln>
                <a:solidFill>
                  <a:schemeClr val="tx1"/>
                </a:solidFill>
                <a:effectLst/>
                <a:uLnTx/>
                <a:uFillTx/>
                <a:latin typeface="+mn-lt"/>
                <a:ea typeface="+mn-ea"/>
                <a:cs typeface="+mn-cs"/>
              </a:rPr>
              <a:t>Use </a:t>
            </a:r>
            <a:r>
              <a:rPr kumimoji="0" lang="en-US" sz="2600" b="0" i="0" u="none" strike="noStrike" kern="0" cap="none" spc="0" normalizeH="0" baseline="0" noProof="0" dirty="0" err="1">
                <a:ln>
                  <a:noFill/>
                </a:ln>
                <a:solidFill>
                  <a:srgbClr val="FFFF00"/>
                </a:solidFill>
                <a:effectLst/>
                <a:uLnTx/>
                <a:uFillTx/>
                <a:latin typeface="+mn-lt"/>
                <a:ea typeface="+mn-ea"/>
                <a:cs typeface="+mn-cs"/>
              </a:rPr>
              <a:t>PsiOptParam</a:t>
            </a:r>
            <a:r>
              <a:rPr kumimoji="0" lang="en-US" sz="2600" b="0" i="0" u="none" strike="noStrike" kern="0" cap="none" spc="0" normalizeH="0" baseline="0" noProof="0" dirty="0">
                <a:ln>
                  <a:noFill/>
                </a:ln>
                <a:solidFill>
                  <a:srgbClr val="FFFF00"/>
                </a:solidFill>
                <a:effectLst/>
                <a:uLnTx/>
                <a:uFillTx/>
                <a:latin typeface="+mn-lt"/>
                <a:ea typeface="+mn-ea"/>
                <a:cs typeface="+mn-cs"/>
              </a:rPr>
              <a:t>( min, max, </a:t>
            </a:r>
            <a:r>
              <a:rPr kumimoji="0" lang="en-US" sz="2600" b="0" i="0" u="none" strike="noStrike" kern="0" cap="none" spc="0" normalizeH="0" baseline="0" noProof="0" dirty="0" err="1">
                <a:ln>
                  <a:noFill/>
                </a:ln>
                <a:solidFill>
                  <a:srgbClr val="FFFF00"/>
                </a:solidFill>
                <a:effectLst/>
                <a:uLnTx/>
                <a:uFillTx/>
                <a:latin typeface="+mn-lt"/>
                <a:ea typeface="+mn-ea"/>
                <a:cs typeface="+mn-cs"/>
              </a:rPr>
              <a:t>base_case</a:t>
            </a:r>
            <a:r>
              <a:rPr kumimoji="0" lang="en-US" sz="2600" b="0" i="0" u="none" strike="noStrike" kern="0" cap="none" spc="0" normalizeH="0" baseline="0" noProof="0" dirty="0">
                <a:ln>
                  <a:noFill/>
                </a:ln>
                <a:solidFill>
                  <a:srgbClr val="FFFF00"/>
                </a:solidFill>
                <a:effectLst/>
                <a:uLnTx/>
                <a:uFillTx/>
                <a:latin typeface="+mn-lt"/>
                <a:ea typeface="+mn-ea"/>
                <a:cs typeface="+mn-cs"/>
              </a:rPr>
              <a:t> )</a:t>
            </a:r>
            <a:r>
              <a:rPr kumimoji="0" lang="en-US" sz="2600" b="0" i="0" u="none" strike="noStrike" kern="0" cap="none" spc="0" normalizeH="0" baseline="0" noProof="0" dirty="0">
                <a:ln>
                  <a:noFill/>
                </a:ln>
                <a:solidFill>
                  <a:schemeClr val="tx1"/>
                </a:solidFill>
                <a:effectLst/>
                <a:uLnTx/>
                <a:uFillTx/>
                <a:latin typeface="+mn-lt"/>
                <a:ea typeface="+mn-ea"/>
                <a:cs typeface="+mn-cs"/>
              </a:rPr>
              <a:t> to specify values for the input  cell to take on  across multiple optimizations</a:t>
            </a: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
              <a:tabLst/>
              <a:defRPr/>
            </a:pPr>
            <a:endParaRPr kumimoji="0" lang="en-US" sz="2600" b="0" i="0" u="none" strike="noStrike" kern="0" cap="none" spc="0" normalizeH="0" baseline="0" noProof="0" dirty="0">
              <a:ln>
                <a:noFill/>
              </a:ln>
              <a:solidFill>
                <a:schemeClr val="tx1"/>
              </a:solidFill>
              <a:effectLst/>
              <a:uLnTx/>
              <a:uFillTx/>
              <a:latin typeface="+mn-lt"/>
              <a:ea typeface="+mn-ea"/>
              <a:cs typeface="+mn-cs"/>
            </a:endParaRP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28600" y="228600"/>
            <a:ext cx="8610600" cy="877888"/>
          </a:xfrm>
          <a:noFill/>
          <a:ln/>
        </p:spPr>
        <p:txBody>
          <a:bodyPr lIns="92075" tIns="46038" rIns="92075" bIns="46038"/>
          <a:lstStyle/>
          <a:p>
            <a:r>
              <a:rPr lang="en-US" sz="4000" i="1" dirty="0">
                <a:solidFill>
                  <a:schemeClr val="hlink"/>
                </a:solidFill>
              </a:rPr>
              <a:t>The Simplex Method</a:t>
            </a:r>
            <a:r>
              <a:rPr lang="en-US" sz="4000" i="1" dirty="0"/>
              <a:t> </a:t>
            </a:r>
          </a:p>
        </p:txBody>
      </p:sp>
      <p:sp>
        <p:nvSpPr>
          <p:cNvPr id="29699" name="Rectangle 3"/>
          <p:cNvSpPr>
            <a:spLocks noGrp="1" noChangeArrowheads="1"/>
          </p:cNvSpPr>
          <p:nvPr>
            <p:ph type="body" idx="1"/>
          </p:nvPr>
        </p:nvSpPr>
        <p:spPr>
          <a:xfrm>
            <a:off x="304800" y="3251200"/>
            <a:ext cx="8610600" cy="2684463"/>
          </a:xfrm>
          <a:noFill/>
          <a:ln/>
        </p:spPr>
        <p:txBody>
          <a:bodyPr lIns="92075" tIns="46038" rIns="92075" bIns="46038"/>
          <a:lstStyle/>
          <a:p>
            <a:pPr>
              <a:lnSpc>
                <a:spcPct val="120000"/>
              </a:lnSpc>
              <a:buFont typeface="Wingdings" pitchFamily="2" charset="2"/>
              <a:buNone/>
              <a:tabLst>
                <a:tab pos="2295525" algn="l"/>
              </a:tabLst>
            </a:pPr>
            <a:r>
              <a:rPr lang="en-US" sz="2800" dirty="0"/>
              <a:t>For example: 	a</a:t>
            </a:r>
            <a:r>
              <a:rPr lang="en-US" sz="2800" i="1" baseline="-25000" dirty="0">
                <a:latin typeface="Times New Roman" pitchFamily="18" charset="0"/>
              </a:rPr>
              <a:t>k</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k</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kn</a:t>
            </a:r>
            <a:r>
              <a:rPr lang="en-US" sz="2800" dirty="0" err="1"/>
              <a:t>X</a:t>
            </a:r>
            <a:r>
              <a:rPr lang="en-US" sz="2800" i="1" baseline="-25000" dirty="0" err="1">
                <a:latin typeface="Times New Roman" pitchFamily="18" charset="0"/>
              </a:rPr>
              <a:t>n</a:t>
            </a:r>
            <a:r>
              <a:rPr lang="en-US" sz="2800" dirty="0"/>
              <a:t> &lt;= b</a:t>
            </a:r>
            <a:r>
              <a:rPr lang="en-US" sz="2800" i="1" baseline="-25000" dirty="0">
                <a:latin typeface="Times New Roman" pitchFamily="18" charset="0"/>
              </a:rPr>
              <a:t>k</a:t>
            </a:r>
          </a:p>
          <a:p>
            <a:pPr>
              <a:lnSpc>
                <a:spcPct val="90000"/>
              </a:lnSpc>
              <a:buFont typeface="Wingdings" pitchFamily="2" charset="2"/>
              <a:buNone/>
              <a:tabLst>
                <a:tab pos="2295525" algn="l"/>
              </a:tabLst>
            </a:pPr>
            <a:r>
              <a:rPr lang="en-US" sz="2800" dirty="0"/>
              <a:t>converts to: 	a</a:t>
            </a:r>
            <a:r>
              <a:rPr lang="en-US" sz="2800" i="1" baseline="-25000" dirty="0">
                <a:latin typeface="Times New Roman" pitchFamily="18" charset="0"/>
              </a:rPr>
              <a:t>k</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k</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kn</a:t>
            </a:r>
            <a:r>
              <a:rPr lang="en-US" sz="2800" dirty="0" err="1"/>
              <a:t>X</a:t>
            </a:r>
            <a:r>
              <a:rPr lang="en-US" sz="2800" i="1" baseline="-25000" dirty="0" err="1">
                <a:latin typeface="Times New Roman" pitchFamily="18" charset="0"/>
              </a:rPr>
              <a:t>n</a:t>
            </a:r>
            <a:r>
              <a:rPr lang="en-US" sz="2800" dirty="0"/>
              <a:t> + </a:t>
            </a:r>
            <a:r>
              <a:rPr lang="en-US" sz="2800" dirty="0" err="1"/>
              <a:t>S</a:t>
            </a:r>
            <a:r>
              <a:rPr lang="en-US" sz="2800" i="1" baseline="-25000" dirty="0" err="1">
                <a:latin typeface="Times New Roman" pitchFamily="18" charset="0"/>
              </a:rPr>
              <a:t>k</a:t>
            </a:r>
            <a:r>
              <a:rPr lang="en-US" sz="2800" dirty="0"/>
              <a:t> = b</a:t>
            </a:r>
            <a:r>
              <a:rPr lang="en-US" sz="2800" i="1" baseline="-25000" dirty="0">
                <a:latin typeface="Times New Roman" pitchFamily="18" charset="0"/>
              </a:rPr>
              <a:t>k</a:t>
            </a:r>
          </a:p>
          <a:p>
            <a:pPr>
              <a:lnSpc>
                <a:spcPct val="90000"/>
              </a:lnSpc>
              <a:buFont typeface="Wingdings" pitchFamily="2" charset="2"/>
              <a:buNone/>
              <a:tabLst>
                <a:tab pos="2295525" algn="l"/>
              </a:tabLst>
            </a:pPr>
            <a:endParaRPr lang="en-US" sz="2800" dirty="0"/>
          </a:p>
          <a:p>
            <a:pPr>
              <a:lnSpc>
                <a:spcPct val="90000"/>
              </a:lnSpc>
              <a:buFont typeface="Wingdings" pitchFamily="2" charset="2"/>
              <a:buNone/>
              <a:tabLst>
                <a:tab pos="2295525" algn="l"/>
              </a:tabLst>
            </a:pPr>
            <a:r>
              <a:rPr lang="en-US" sz="2800" dirty="0"/>
              <a:t>And:	a</a:t>
            </a:r>
            <a:r>
              <a:rPr lang="en-US" sz="2800" i="1" baseline="-25000" dirty="0">
                <a:latin typeface="Times New Roman" pitchFamily="18" charset="0"/>
              </a:rPr>
              <a:t>k</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k</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kn</a:t>
            </a:r>
            <a:r>
              <a:rPr lang="en-US" sz="2800" dirty="0" err="1"/>
              <a:t>X</a:t>
            </a:r>
            <a:r>
              <a:rPr lang="en-US" sz="2800" i="1" baseline="-25000" dirty="0" err="1">
                <a:latin typeface="Times New Roman" pitchFamily="18" charset="0"/>
              </a:rPr>
              <a:t>n</a:t>
            </a:r>
            <a:r>
              <a:rPr lang="en-US" sz="2800" dirty="0"/>
              <a:t> &gt;= b</a:t>
            </a:r>
            <a:r>
              <a:rPr lang="en-US" sz="2800" i="1" baseline="-25000" dirty="0">
                <a:latin typeface="Times New Roman" pitchFamily="18" charset="0"/>
              </a:rPr>
              <a:t>k</a:t>
            </a:r>
          </a:p>
          <a:p>
            <a:pPr>
              <a:lnSpc>
                <a:spcPct val="90000"/>
              </a:lnSpc>
              <a:buFont typeface="Wingdings" pitchFamily="2" charset="2"/>
              <a:buNone/>
              <a:tabLst>
                <a:tab pos="2295525" algn="l"/>
              </a:tabLst>
            </a:pPr>
            <a:r>
              <a:rPr lang="en-US" sz="2800" dirty="0"/>
              <a:t>converts to: 	a</a:t>
            </a:r>
            <a:r>
              <a:rPr lang="en-US" sz="2800" i="1" baseline="-25000" dirty="0">
                <a:latin typeface="Times New Roman" pitchFamily="18" charset="0"/>
              </a:rPr>
              <a:t>k</a:t>
            </a:r>
            <a:r>
              <a:rPr lang="en-US" sz="2800" baseline="-25000" dirty="0"/>
              <a:t>1</a:t>
            </a:r>
            <a:r>
              <a:rPr lang="en-US" sz="2800" dirty="0"/>
              <a:t>X</a:t>
            </a:r>
            <a:r>
              <a:rPr lang="en-US" sz="2800" baseline="-25000" dirty="0"/>
              <a:t>1</a:t>
            </a:r>
            <a:r>
              <a:rPr lang="en-US" sz="2800" dirty="0"/>
              <a:t> + a</a:t>
            </a:r>
            <a:r>
              <a:rPr lang="en-US" sz="2800" i="1" baseline="-25000" dirty="0">
                <a:latin typeface="Times New Roman" pitchFamily="18" charset="0"/>
              </a:rPr>
              <a:t>k</a:t>
            </a:r>
            <a:r>
              <a:rPr lang="en-US" sz="2800" baseline="-25000" dirty="0"/>
              <a:t>2</a:t>
            </a:r>
            <a:r>
              <a:rPr lang="en-US" sz="2800" dirty="0"/>
              <a:t>X</a:t>
            </a:r>
            <a:r>
              <a:rPr lang="en-US" sz="2800" baseline="-25000" dirty="0"/>
              <a:t>2</a:t>
            </a:r>
            <a:r>
              <a:rPr lang="en-US" sz="2800" dirty="0"/>
              <a:t> + … + </a:t>
            </a:r>
            <a:r>
              <a:rPr lang="en-US" sz="2800" dirty="0" err="1"/>
              <a:t>a</a:t>
            </a:r>
            <a:r>
              <a:rPr lang="en-US" sz="2800" i="1" baseline="-25000" dirty="0" err="1">
                <a:latin typeface="Times New Roman" pitchFamily="18" charset="0"/>
              </a:rPr>
              <a:t>kn</a:t>
            </a:r>
            <a:r>
              <a:rPr lang="en-US" sz="2800" dirty="0" err="1"/>
              <a:t>X</a:t>
            </a:r>
            <a:r>
              <a:rPr lang="en-US" sz="2800" i="1" baseline="-25000" dirty="0" err="1">
                <a:latin typeface="Times New Roman" pitchFamily="18" charset="0"/>
              </a:rPr>
              <a:t>n</a:t>
            </a:r>
            <a:r>
              <a:rPr lang="en-US" sz="2800" dirty="0"/>
              <a:t> - </a:t>
            </a:r>
            <a:r>
              <a:rPr lang="en-US" sz="2800" dirty="0" err="1"/>
              <a:t>S</a:t>
            </a:r>
            <a:r>
              <a:rPr lang="en-US" sz="2800" i="1" baseline="-25000" dirty="0" err="1">
                <a:latin typeface="Times New Roman" pitchFamily="18" charset="0"/>
              </a:rPr>
              <a:t>k</a:t>
            </a:r>
            <a:r>
              <a:rPr lang="en-US" sz="2800" dirty="0"/>
              <a:t> = b</a:t>
            </a:r>
            <a:r>
              <a:rPr lang="en-US" sz="2800" i="1" baseline="-25000" dirty="0">
                <a:latin typeface="Times New Roman" pitchFamily="18" charset="0"/>
              </a:rPr>
              <a:t>k</a:t>
            </a:r>
          </a:p>
          <a:p>
            <a:pPr>
              <a:lnSpc>
                <a:spcPct val="90000"/>
              </a:lnSpc>
              <a:buFont typeface="Wingdings" pitchFamily="2" charset="2"/>
              <a:buNone/>
              <a:tabLst>
                <a:tab pos="2295525" algn="l"/>
              </a:tabLst>
            </a:pPr>
            <a:endParaRPr lang="en-US" sz="2800" dirty="0"/>
          </a:p>
          <a:p>
            <a:pPr>
              <a:lnSpc>
                <a:spcPct val="90000"/>
              </a:lnSpc>
              <a:buFont typeface="Wingdings" pitchFamily="2" charset="2"/>
              <a:buNone/>
              <a:tabLst>
                <a:tab pos="2295525" algn="l"/>
              </a:tabLst>
            </a:pPr>
            <a:r>
              <a:rPr lang="en-US" sz="2800" dirty="0">
                <a:latin typeface="Times New Roman" pitchFamily="18" charset="0"/>
              </a:rPr>
              <a:t>	</a:t>
            </a:r>
          </a:p>
        </p:txBody>
      </p:sp>
      <p:sp>
        <p:nvSpPr>
          <p:cNvPr id="29700" name="Rectangle 4"/>
          <p:cNvSpPr>
            <a:spLocks noChangeArrowheads="1"/>
          </p:cNvSpPr>
          <p:nvPr/>
        </p:nvSpPr>
        <p:spPr bwMode="auto">
          <a:xfrm>
            <a:off x="295275" y="1123950"/>
            <a:ext cx="8620125" cy="1920875"/>
          </a:xfrm>
          <a:prstGeom prst="rect">
            <a:avLst/>
          </a:prstGeom>
          <a:noFill/>
          <a:ln w="9525">
            <a:noFill/>
            <a:miter lim="800000"/>
            <a:headEnd/>
            <a:tailEnd/>
          </a:ln>
          <a:effectLst/>
        </p:spPr>
        <p:txBody>
          <a:bodyPr lIns="92075" tIns="46038" rIns="92075" bIns="46038">
            <a:spAutoFit/>
          </a:bodyPr>
          <a:lstStyle/>
          <a:p>
            <a:pPr marL="233363" indent="-233363" eaLnBrk="0" hangingPunct="0">
              <a:spcBef>
                <a:spcPct val="50000"/>
              </a:spcBef>
              <a:buClr>
                <a:schemeClr val="hlink"/>
              </a:buClr>
              <a:buFont typeface="Wingdings" pitchFamily="2" charset="2"/>
              <a:buChar char="§"/>
            </a:pPr>
            <a:r>
              <a:rPr lang="en-US" sz="3000" dirty="0"/>
              <a:t>To use the simplex method, we first convert all inequalities to equalities by adding slack variables to &lt;= constraints and subtracting slack variables from &gt;= constraints.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28600" y="228600"/>
            <a:ext cx="8610600" cy="877888"/>
          </a:xfrm>
          <a:noFill/>
          <a:ln/>
        </p:spPr>
        <p:txBody>
          <a:bodyPr lIns="92075" tIns="46038" rIns="92075" bIns="46038"/>
          <a:lstStyle/>
          <a:p>
            <a:r>
              <a:rPr lang="en-US" sz="4000" i="1">
                <a:solidFill>
                  <a:schemeClr val="hlink"/>
                </a:solidFill>
              </a:rPr>
              <a:t>For Our Example Problem...</a:t>
            </a:r>
          </a:p>
        </p:txBody>
      </p:sp>
      <p:sp>
        <p:nvSpPr>
          <p:cNvPr id="30723" name="Rectangle 3"/>
          <p:cNvSpPr>
            <a:spLocks noChangeArrowheads="1"/>
          </p:cNvSpPr>
          <p:nvPr/>
        </p:nvSpPr>
        <p:spPr bwMode="auto">
          <a:xfrm>
            <a:off x="623888" y="1298575"/>
            <a:ext cx="8208962" cy="2859088"/>
          </a:xfrm>
          <a:prstGeom prst="rect">
            <a:avLst/>
          </a:prstGeom>
          <a:noFill/>
          <a:ln w="9525">
            <a:noFill/>
            <a:miter lim="800000"/>
            <a:headEnd/>
            <a:tailEnd/>
          </a:ln>
          <a:effectLst/>
        </p:spPr>
        <p:txBody>
          <a:bodyPr lIns="92075" tIns="46038" rIns="92075" bIns="46038">
            <a:spAutoFit/>
          </a:bodyPr>
          <a:lstStyle/>
          <a:p>
            <a:pPr eaLnBrk="0" hangingPunct="0"/>
            <a:r>
              <a:rPr lang="en-US" sz="2800" dirty="0">
                <a:solidFill>
                  <a:srgbClr val="FFFFFF"/>
                </a:solidFill>
              </a:rPr>
              <a:t>MAX: 350X</a:t>
            </a:r>
            <a:r>
              <a:rPr lang="en-US" sz="2800" baseline="-25000" dirty="0">
                <a:solidFill>
                  <a:srgbClr val="FFFFFF"/>
                </a:solidFill>
              </a:rPr>
              <a:t>1</a:t>
            </a:r>
            <a:r>
              <a:rPr lang="en-US" sz="2800" dirty="0">
                <a:solidFill>
                  <a:srgbClr val="FFFFFF"/>
                </a:solidFill>
              </a:rPr>
              <a:t> + 300X</a:t>
            </a:r>
            <a:r>
              <a:rPr lang="en-US" sz="2800" baseline="-25000" dirty="0">
                <a:solidFill>
                  <a:srgbClr val="FFFFFF"/>
                </a:solidFill>
              </a:rPr>
              <a:t>2</a:t>
            </a:r>
            <a:r>
              <a:rPr lang="en-US" sz="2800" dirty="0">
                <a:solidFill>
                  <a:srgbClr val="FFFFFF"/>
                </a:solidFill>
              </a:rPr>
              <a:t>			}  profit</a:t>
            </a:r>
          </a:p>
          <a:p>
            <a:pPr eaLnBrk="0" hangingPunct="0">
              <a:spcBef>
                <a:spcPct val="20000"/>
              </a:spcBef>
            </a:pPr>
            <a:r>
              <a:rPr lang="en-US" sz="2800" dirty="0">
                <a:solidFill>
                  <a:srgbClr val="FFFFFF"/>
                </a:solidFill>
              </a:rPr>
              <a:t>S.T.:	1X</a:t>
            </a:r>
            <a:r>
              <a:rPr lang="en-US" sz="2800" baseline="-25000" dirty="0">
                <a:solidFill>
                  <a:srgbClr val="FFFFFF"/>
                </a:solidFill>
              </a:rPr>
              <a:t>1</a:t>
            </a:r>
            <a:r>
              <a:rPr lang="en-US" sz="2800" dirty="0">
                <a:solidFill>
                  <a:srgbClr val="FFFFFF"/>
                </a:solidFill>
              </a:rPr>
              <a:t> + 1X</a:t>
            </a:r>
            <a:r>
              <a:rPr lang="en-US" sz="2800" baseline="-25000" dirty="0">
                <a:solidFill>
                  <a:srgbClr val="FFFFFF"/>
                </a:solidFill>
              </a:rPr>
              <a:t>2</a:t>
            </a:r>
            <a:r>
              <a:rPr lang="en-US" sz="2800" dirty="0">
                <a:solidFill>
                  <a:srgbClr val="FFFFFF"/>
                </a:solidFill>
              </a:rPr>
              <a:t> + S</a:t>
            </a:r>
            <a:r>
              <a:rPr lang="en-US" sz="2800" baseline="-25000" dirty="0">
                <a:solidFill>
                  <a:srgbClr val="FFFFFF"/>
                </a:solidFill>
              </a:rPr>
              <a:t>1</a:t>
            </a:r>
            <a:r>
              <a:rPr lang="en-US" sz="2800" dirty="0">
                <a:solidFill>
                  <a:srgbClr val="FFFFFF"/>
                </a:solidFill>
              </a:rPr>
              <a:t> = 200		}  pumps</a:t>
            </a:r>
          </a:p>
          <a:p>
            <a:pPr eaLnBrk="0" hangingPunct="0">
              <a:spcBef>
                <a:spcPct val="20000"/>
              </a:spcBef>
            </a:pPr>
            <a:r>
              <a:rPr lang="en-US" sz="2800" dirty="0">
                <a:solidFill>
                  <a:srgbClr val="FFFFFF"/>
                </a:solidFill>
              </a:rPr>
              <a:t>	9X</a:t>
            </a:r>
            <a:r>
              <a:rPr lang="en-US" sz="2800" baseline="-25000" dirty="0">
                <a:solidFill>
                  <a:srgbClr val="FFFFFF"/>
                </a:solidFill>
              </a:rPr>
              <a:t>1</a:t>
            </a:r>
            <a:r>
              <a:rPr lang="en-US" sz="2800" dirty="0">
                <a:solidFill>
                  <a:srgbClr val="FFFFFF"/>
                </a:solidFill>
              </a:rPr>
              <a:t> + 6X</a:t>
            </a:r>
            <a:r>
              <a:rPr lang="en-US" sz="2800" baseline="-25000" dirty="0">
                <a:solidFill>
                  <a:srgbClr val="FFFFFF"/>
                </a:solidFill>
              </a:rPr>
              <a:t>2</a:t>
            </a:r>
            <a:r>
              <a:rPr lang="en-US" sz="2800" dirty="0">
                <a:solidFill>
                  <a:srgbClr val="FFFFFF"/>
                </a:solidFill>
              </a:rPr>
              <a:t> + S</a:t>
            </a:r>
            <a:r>
              <a:rPr lang="en-US" sz="2800" baseline="-25000" dirty="0">
                <a:solidFill>
                  <a:srgbClr val="FFFFFF"/>
                </a:solidFill>
              </a:rPr>
              <a:t>2</a:t>
            </a:r>
            <a:r>
              <a:rPr lang="en-US" sz="2800" dirty="0">
                <a:solidFill>
                  <a:srgbClr val="FFFFFF"/>
                </a:solidFill>
              </a:rPr>
              <a:t> = 1566		}  labor</a:t>
            </a:r>
          </a:p>
          <a:p>
            <a:pPr eaLnBrk="0" hangingPunct="0">
              <a:spcBef>
                <a:spcPct val="20000"/>
              </a:spcBef>
            </a:pPr>
            <a:r>
              <a:rPr lang="en-US" sz="2800" dirty="0">
                <a:solidFill>
                  <a:srgbClr val="FFFFFF"/>
                </a:solidFill>
              </a:rPr>
              <a:t>	12X</a:t>
            </a:r>
            <a:r>
              <a:rPr lang="en-US" sz="2800" baseline="-25000" dirty="0">
                <a:solidFill>
                  <a:srgbClr val="FFFFFF"/>
                </a:solidFill>
              </a:rPr>
              <a:t>1</a:t>
            </a:r>
            <a:r>
              <a:rPr lang="en-US" sz="2800" dirty="0">
                <a:solidFill>
                  <a:srgbClr val="FFFFFF"/>
                </a:solidFill>
              </a:rPr>
              <a:t> + 16X</a:t>
            </a:r>
            <a:r>
              <a:rPr lang="en-US" sz="2800" baseline="-25000" dirty="0">
                <a:solidFill>
                  <a:srgbClr val="FFFFFF"/>
                </a:solidFill>
              </a:rPr>
              <a:t>2</a:t>
            </a:r>
            <a:r>
              <a:rPr lang="en-US" sz="2800" dirty="0">
                <a:solidFill>
                  <a:srgbClr val="FFFFFF"/>
                </a:solidFill>
              </a:rPr>
              <a:t> + S</a:t>
            </a:r>
            <a:r>
              <a:rPr lang="en-US" sz="2800" baseline="-25000" dirty="0">
                <a:solidFill>
                  <a:srgbClr val="FFFFFF"/>
                </a:solidFill>
              </a:rPr>
              <a:t>3</a:t>
            </a:r>
            <a:r>
              <a:rPr lang="en-US" sz="2800" dirty="0">
                <a:solidFill>
                  <a:srgbClr val="FFFFFF"/>
                </a:solidFill>
              </a:rPr>
              <a:t> = 2880	}  tubing</a:t>
            </a:r>
          </a:p>
          <a:p>
            <a:pPr eaLnBrk="0" hangingPunct="0">
              <a:spcBef>
                <a:spcPct val="20000"/>
              </a:spcBef>
            </a:pPr>
            <a:r>
              <a:rPr lang="en-US" sz="2800" dirty="0">
                <a:solidFill>
                  <a:srgbClr val="FFFFFF"/>
                </a:solidFill>
              </a:rPr>
              <a:t>	X</a:t>
            </a:r>
            <a:r>
              <a:rPr lang="en-US" sz="2800" baseline="-25000" dirty="0">
                <a:solidFill>
                  <a:srgbClr val="FFFFFF"/>
                </a:solidFill>
              </a:rPr>
              <a:t>1</a:t>
            </a:r>
            <a:r>
              <a:rPr lang="en-US" sz="2800" dirty="0">
                <a:solidFill>
                  <a:srgbClr val="FFFFFF"/>
                </a:solidFill>
              </a:rPr>
              <a:t>, X</a:t>
            </a:r>
            <a:r>
              <a:rPr lang="en-US" sz="2800" baseline="-25000" dirty="0">
                <a:solidFill>
                  <a:srgbClr val="FFFFFF"/>
                </a:solidFill>
              </a:rPr>
              <a:t>2</a:t>
            </a:r>
            <a:r>
              <a:rPr lang="en-US" sz="2800" dirty="0">
                <a:solidFill>
                  <a:srgbClr val="FFFFFF"/>
                </a:solidFill>
              </a:rPr>
              <a:t>, S</a:t>
            </a:r>
            <a:r>
              <a:rPr lang="en-US" sz="2800" baseline="-25000" dirty="0">
                <a:solidFill>
                  <a:srgbClr val="FFFFFF"/>
                </a:solidFill>
              </a:rPr>
              <a:t>1</a:t>
            </a:r>
            <a:r>
              <a:rPr lang="en-US" sz="2800" dirty="0">
                <a:solidFill>
                  <a:srgbClr val="FFFFFF"/>
                </a:solidFill>
              </a:rPr>
              <a:t>, S</a:t>
            </a:r>
            <a:r>
              <a:rPr lang="en-US" sz="2800" baseline="-25000" dirty="0">
                <a:solidFill>
                  <a:srgbClr val="FFFFFF"/>
                </a:solidFill>
              </a:rPr>
              <a:t>2</a:t>
            </a:r>
            <a:r>
              <a:rPr lang="en-US" sz="2800" dirty="0">
                <a:solidFill>
                  <a:srgbClr val="FFFFFF"/>
                </a:solidFill>
              </a:rPr>
              <a:t>, S</a:t>
            </a:r>
            <a:r>
              <a:rPr lang="en-US" sz="2800" baseline="-25000" dirty="0">
                <a:solidFill>
                  <a:srgbClr val="FFFFFF"/>
                </a:solidFill>
              </a:rPr>
              <a:t>3</a:t>
            </a:r>
            <a:r>
              <a:rPr lang="en-US" sz="2800" dirty="0">
                <a:solidFill>
                  <a:srgbClr val="FFFFFF"/>
                </a:solidFill>
              </a:rPr>
              <a:t> &gt;= 0		} nonnegativity</a:t>
            </a:r>
            <a:endParaRPr lang="en-US" sz="2800" baseline="-25000" dirty="0">
              <a:solidFill>
                <a:srgbClr val="FFFFFF"/>
              </a:solidFill>
            </a:endParaRPr>
          </a:p>
          <a:p>
            <a:pPr eaLnBrk="0" hangingPunct="0"/>
            <a:endParaRPr lang="en-US" sz="2800" baseline="-25000" dirty="0">
              <a:solidFill>
                <a:srgbClr val="FFFFFF"/>
              </a:solidFill>
            </a:endParaRPr>
          </a:p>
        </p:txBody>
      </p:sp>
      <p:sp>
        <p:nvSpPr>
          <p:cNvPr id="30724" name="Rectangle 4"/>
          <p:cNvSpPr>
            <a:spLocks noChangeArrowheads="1"/>
          </p:cNvSpPr>
          <p:nvPr/>
        </p:nvSpPr>
        <p:spPr bwMode="auto">
          <a:xfrm>
            <a:off x="412750" y="4381500"/>
            <a:ext cx="8620125" cy="1800225"/>
          </a:xfrm>
          <a:prstGeom prst="rect">
            <a:avLst/>
          </a:prstGeom>
          <a:noFill/>
          <a:ln w="9525">
            <a:noFill/>
            <a:miter lim="800000"/>
            <a:headEnd/>
            <a:tailEnd/>
          </a:ln>
          <a:effectLst/>
        </p:spPr>
        <p:txBody>
          <a:bodyPr lIns="92075" tIns="46038" rIns="92075" bIns="46038">
            <a:spAutoFit/>
          </a:bodyPr>
          <a:lstStyle/>
          <a:p>
            <a:pPr marL="233363" indent="-233363" eaLnBrk="0" hangingPunct="0">
              <a:spcBef>
                <a:spcPct val="50000"/>
              </a:spcBef>
              <a:buClr>
                <a:schemeClr val="hlink"/>
              </a:buClr>
              <a:buFont typeface="Wingdings" pitchFamily="2" charset="2"/>
              <a:buChar char="§"/>
            </a:pPr>
            <a:r>
              <a:rPr lang="en-US" sz="2800" dirty="0">
                <a:latin typeface="Tahoma" pitchFamily="34" charset="0"/>
              </a:rPr>
              <a:t>If there are </a:t>
            </a:r>
            <a:r>
              <a:rPr lang="en-US" sz="2800" i="1" dirty="0">
                <a:latin typeface="Times New Roman" pitchFamily="18" charset="0"/>
              </a:rPr>
              <a:t>n</a:t>
            </a:r>
            <a:r>
              <a:rPr lang="en-US" sz="2800" dirty="0">
                <a:latin typeface="Tahoma" pitchFamily="34" charset="0"/>
              </a:rPr>
              <a:t> variables in a system of </a:t>
            </a:r>
            <a:r>
              <a:rPr lang="en-US" sz="2800" i="1" dirty="0">
                <a:latin typeface="Times New Roman" pitchFamily="18" charset="0"/>
              </a:rPr>
              <a:t>m</a:t>
            </a:r>
            <a:r>
              <a:rPr lang="en-US" sz="2800" dirty="0">
                <a:latin typeface="Tahoma" pitchFamily="34" charset="0"/>
              </a:rPr>
              <a:t> equations (where </a:t>
            </a:r>
            <a:r>
              <a:rPr lang="en-US" sz="2800" i="1" dirty="0">
                <a:latin typeface="Times New Roman" pitchFamily="18" charset="0"/>
              </a:rPr>
              <a:t>n</a:t>
            </a:r>
            <a:r>
              <a:rPr lang="en-US" sz="2800" i="1" u="sng" dirty="0">
                <a:latin typeface="Times New Roman" pitchFamily="18" charset="0"/>
              </a:rPr>
              <a:t>&gt;</a:t>
            </a:r>
            <a:r>
              <a:rPr lang="en-US" sz="2800" i="1" dirty="0">
                <a:latin typeface="Times New Roman" pitchFamily="18" charset="0"/>
              </a:rPr>
              <a:t>m</a:t>
            </a:r>
            <a:r>
              <a:rPr lang="en-US" sz="2800" dirty="0">
                <a:latin typeface="Tahoma" pitchFamily="34" charset="0"/>
              </a:rPr>
              <a:t>) we can select any </a:t>
            </a:r>
            <a:r>
              <a:rPr lang="en-US" sz="2800" i="1" dirty="0">
                <a:latin typeface="Times New Roman" pitchFamily="18" charset="0"/>
              </a:rPr>
              <a:t>m</a:t>
            </a:r>
            <a:r>
              <a:rPr lang="en-US" sz="2800" dirty="0">
                <a:latin typeface="Tahoma" pitchFamily="34" charset="0"/>
              </a:rPr>
              <a:t> variables and solve the equations (setting the remaining </a:t>
            </a:r>
            <a:r>
              <a:rPr lang="en-US" sz="2800" i="1" dirty="0">
                <a:latin typeface="Times New Roman" pitchFamily="18" charset="0"/>
              </a:rPr>
              <a:t>n-m</a:t>
            </a:r>
            <a:r>
              <a:rPr lang="en-US" sz="2800" dirty="0">
                <a:latin typeface="Tahoma" pitchFamily="34" charset="0"/>
              </a:rPr>
              <a:t> variables to zero.)</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74638"/>
            <a:ext cx="8229600" cy="557212"/>
          </a:xfrm>
          <a:noFill/>
          <a:ln/>
        </p:spPr>
        <p:txBody>
          <a:bodyPr lIns="92075" tIns="46038" rIns="92075" bIns="46038"/>
          <a:lstStyle/>
          <a:p>
            <a:r>
              <a:rPr lang="en-US" sz="4000" i="1">
                <a:solidFill>
                  <a:schemeClr val="hlink"/>
                </a:solidFill>
              </a:rPr>
              <a:t>Possible Basic Feasible Solutions</a:t>
            </a:r>
          </a:p>
        </p:txBody>
      </p:sp>
      <p:grpSp>
        <p:nvGrpSpPr>
          <p:cNvPr id="31750" name="Group 6"/>
          <p:cNvGrpSpPr>
            <a:grpSpLocks/>
          </p:cNvGrpSpPr>
          <p:nvPr/>
        </p:nvGrpSpPr>
        <p:grpSpPr bwMode="auto">
          <a:xfrm>
            <a:off x="609600" y="1219200"/>
            <a:ext cx="8135938" cy="4625975"/>
            <a:chOff x="397" y="752"/>
            <a:chExt cx="5125" cy="2914"/>
          </a:xfrm>
        </p:grpSpPr>
        <p:sp>
          <p:nvSpPr>
            <p:cNvPr id="31747" name="Rectangle 3"/>
            <p:cNvSpPr>
              <a:spLocks noChangeArrowheads="1"/>
            </p:cNvSpPr>
            <p:nvPr/>
          </p:nvSpPr>
          <p:spPr bwMode="auto">
            <a:xfrm>
              <a:off x="397" y="752"/>
              <a:ext cx="5125" cy="2914"/>
            </a:xfrm>
            <a:prstGeom prst="rect">
              <a:avLst/>
            </a:prstGeom>
            <a:noFill/>
            <a:ln w="9525">
              <a:noFill/>
              <a:miter lim="800000"/>
              <a:headEnd/>
              <a:tailEnd/>
            </a:ln>
            <a:effectLst/>
          </p:spPr>
          <p:txBody>
            <a:bodyPr lIns="92075" tIns="46038" rIns="92075" bIns="46038">
              <a:spAutoFit/>
            </a:bodyPr>
            <a:lstStyle/>
            <a:p>
              <a:pPr eaLnBrk="0" hangingPunct="0">
                <a:tabLst>
                  <a:tab pos="166688" algn="ctr"/>
                  <a:tab pos="919163" algn="ctr"/>
                  <a:tab pos="1938338" algn="ctr"/>
                  <a:tab pos="2573338" algn="l"/>
                  <a:tab pos="6918325" algn="ctr"/>
                </a:tabLst>
              </a:pPr>
              <a:r>
                <a:rPr lang="en-US" b="1" dirty="0">
                  <a:latin typeface="Times New Roman" pitchFamily="18" charset="0"/>
                </a:rPr>
                <a:t>		Basic 	</a:t>
              </a:r>
              <a:r>
                <a:rPr lang="en-US" b="1" dirty="0" err="1">
                  <a:latin typeface="Times New Roman" pitchFamily="18" charset="0"/>
                </a:rPr>
                <a:t>Nonbasic</a:t>
              </a:r>
              <a:r>
                <a:rPr lang="en-US" b="1" dirty="0">
                  <a:latin typeface="Times New Roman" pitchFamily="18" charset="0"/>
                </a:rPr>
                <a:t> 		Objective</a:t>
              </a:r>
            </a:p>
            <a:p>
              <a:pPr eaLnBrk="0" hangingPunct="0">
                <a:tabLst>
                  <a:tab pos="166688" algn="ctr"/>
                  <a:tab pos="919163" algn="ctr"/>
                  <a:tab pos="1938338" algn="ctr"/>
                  <a:tab pos="2573338" algn="l"/>
                  <a:tab pos="6918325" algn="ctr"/>
                </a:tabLst>
              </a:pPr>
              <a:r>
                <a:rPr lang="en-US" b="1" dirty="0">
                  <a:latin typeface="Times New Roman" pitchFamily="18" charset="0"/>
                </a:rPr>
                <a:t>		Variables	Variables	 Solution	Value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1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=0, X</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1</a:t>
              </a:r>
              <a:r>
                <a:rPr lang="en-US" dirty="0">
                  <a:latin typeface="Times New Roman" pitchFamily="18" charset="0"/>
                </a:rPr>
                <a:t>=200, S</a:t>
              </a:r>
              <a:r>
                <a:rPr lang="en-US" baseline="-25000" dirty="0">
                  <a:latin typeface="Times New Roman" pitchFamily="18" charset="0"/>
                </a:rPr>
                <a:t>2</a:t>
              </a:r>
              <a:r>
                <a:rPr lang="en-US" dirty="0">
                  <a:latin typeface="Times New Roman" pitchFamily="18" charset="0"/>
                </a:rPr>
                <a:t>=1566, S</a:t>
              </a:r>
              <a:r>
                <a:rPr lang="en-US" baseline="-25000" dirty="0">
                  <a:latin typeface="Times New Roman" pitchFamily="18" charset="0"/>
                </a:rPr>
                <a:t>3</a:t>
              </a:r>
              <a:r>
                <a:rPr lang="en-US" dirty="0">
                  <a:latin typeface="Times New Roman" pitchFamily="18" charset="0"/>
                </a:rPr>
                <a:t>=2880	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2	X</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=174, X</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1</a:t>
              </a:r>
              <a:r>
                <a:rPr lang="en-US" dirty="0">
                  <a:latin typeface="Times New Roman" pitchFamily="18" charset="0"/>
                </a:rPr>
                <a:t>=26, S</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3</a:t>
              </a:r>
              <a:r>
                <a:rPr lang="en-US" dirty="0">
                  <a:latin typeface="Times New Roman" pitchFamily="18" charset="0"/>
                </a:rPr>
                <a:t>=792	60,900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3	X</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=122, X</a:t>
              </a:r>
              <a:r>
                <a:rPr lang="en-US" baseline="-25000" dirty="0">
                  <a:latin typeface="Times New Roman" pitchFamily="18" charset="0"/>
                </a:rPr>
                <a:t>2</a:t>
              </a:r>
              <a:r>
                <a:rPr lang="en-US" dirty="0">
                  <a:latin typeface="Times New Roman" pitchFamily="18" charset="0"/>
                </a:rPr>
                <a:t>=78, S</a:t>
              </a:r>
              <a:r>
                <a:rPr lang="en-US" baseline="-25000" dirty="0">
                  <a:latin typeface="Times New Roman" pitchFamily="18" charset="0"/>
                </a:rPr>
                <a:t>1</a:t>
              </a:r>
              <a:r>
                <a:rPr lang="en-US" dirty="0">
                  <a:latin typeface="Times New Roman" pitchFamily="18" charset="0"/>
                </a:rPr>
                <a:t>=0, S</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3</a:t>
              </a:r>
              <a:r>
                <a:rPr lang="en-US" dirty="0">
                  <a:latin typeface="Times New Roman" pitchFamily="18" charset="0"/>
                </a:rPr>
                <a:t>=168	66,100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4	X</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=80, X</a:t>
              </a:r>
              <a:r>
                <a:rPr lang="en-US" baseline="-25000" dirty="0">
                  <a:latin typeface="Times New Roman" pitchFamily="18" charset="0"/>
                </a:rPr>
                <a:t>2</a:t>
              </a:r>
              <a:r>
                <a:rPr lang="en-US" dirty="0">
                  <a:latin typeface="Times New Roman" pitchFamily="18" charset="0"/>
                </a:rPr>
                <a:t>=120, S</a:t>
              </a:r>
              <a:r>
                <a:rPr lang="en-US" baseline="-25000" dirty="0">
                  <a:latin typeface="Times New Roman" pitchFamily="18" charset="0"/>
                </a:rPr>
                <a:t>1</a:t>
              </a:r>
              <a:r>
                <a:rPr lang="en-US" dirty="0">
                  <a:latin typeface="Times New Roman" pitchFamily="18" charset="0"/>
                </a:rPr>
                <a:t>=0, S</a:t>
              </a:r>
              <a:r>
                <a:rPr lang="en-US" baseline="-25000" dirty="0">
                  <a:latin typeface="Times New Roman" pitchFamily="18" charset="0"/>
                </a:rPr>
                <a:t>2</a:t>
              </a:r>
              <a:r>
                <a:rPr lang="en-US" dirty="0">
                  <a:latin typeface="Times New Roman" pitchFamily="18" charset="0"/>
                </a:rPr>
                <a:t>=126, S</a:t>
              </a:r>
              <a:r>
                <a:rPr lang="en-US" baseline="-25000" dirty="0">
                  <a:latin typeface="Times New Roman" pitchFamily="18" charset="0"/>
                </a:rPr>
                <a:t>3</a:t>
              </a:r>
              <a:r>
                <a:rPr lang="en-US" dirty="0">
                  <a:latin typeface="Times New Roman" pitchFamily="18" charset="0"/>
                </a:rPr>
                <a:t>=0	64,000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5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=0, X</a:t>
              </a:r>
              <a:r>
                <a:rPr lang="en-US" baseline="-25000" dirty="0">
                  <a:latin typeface="Times New Roman" pitchFamily="18" charset="0"/>
                </a:rPr>
                <a:t>2</a:t>
              </a:r>
              <a:r>
                <a:rPr lang="en-US" dirty="0">
                  <a:latin typeface="Times New Roman" pitchFamily="18" charset="0"/>
                </a:rPr>
                <a:t>=180, S</a:t>
              </a:r>
              <a:r>
                <a:rPr lang="en-US" baseline="-25000" dirty="0">
                  <a:latin typeface="Times New Roman" pitchFamily="18" charset="0"/>
                </a:rPr>
                <a:t>1</a:t>
              </a:r>
              <a:r>
                <a:rPr lang="en-US" dirty="0">
                  <a:latin typeface="Times New Roman" pitchFamily="18" charset="0"/>
                </a:rPr>
                <a:t>=20, S</a:t>
              </a:r>
              <a:r>
                <a:rPr lang="en-US" baseline="-25000" dirty="0">
                  <a:latin typeface="Times New Roman" pitchFamily="18" charset="0"/>
                </a:rPr>
                <a:t>2</a:t>
              </a:r>
              <a:r>
                <a:rPr lang="en-US" dirty="0">
                  <a:latin typeface="Times New Roman" pitchFamily="18" charset="0"/>
                </a:rPr>
                <a:t>=486, S</a:t>
              </a:r>
              <a:r>
                <a:rPr lang="en-US" baseline="-25000" dirty="0">
                  <a:latin typeface="Times New Roman" pitchFamily="18" charset="0"/>
                </a:rPr>
                <a:t>3</a:t>
              </a:r>
              <a:r>
                <a:rPr lang="en-US" dirty="0">
                  <a:latin typeface="Times New Roman" pitchFamily="18" charset="0"/>
                </a:rPr>
                <a:t>=0	54,000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6</a:t>
              </a:r>
              <a:r>
                <a:rPr lang="en-US" dirty="0">
                  <a:solidFill>
                    <a:srgbClr val="FFFF00"/>
                  </a:solidFill>
                  <a:latin typeface="Times New Roman" pitchFamily="18" charset="0"/>
                </a:rPr>
                <a:t>*</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=108, X</a:t>
              </a:r>
              <a:r>
                <a:rPr lang="en-US" baseline="-25000" dirty="0">
                  <a:latin typeface="Times New Roman" pitchFamily="18" charset="0"/>
                </a:rPr>
                <a:t>2</a:t>
              </a:r>
              <a:r>
                <a:rPr lang="en-US" dirty="0">
                  <a:latin typeface="Times New Roman" pitchFamily="18" charset="0"/>
                </a:rPr>
                <a:t>=99, S</a:t>
              </a:r>
              <a:r>
                <a:rPr lang="en-US" baseline="-25000" dirty="0">
                  <a:latin typeface="Times New Roman" pitchFamily="18" charset="0"/>
                </a:rPr>
                <a:t>1</a:t>
              </a:r>
              <a:r>
                <a:rPr lang="en-US" dirty="0">
                  <a:latin typeface="Times New Roman" pitchFamily="18" charset="0"/>
                </a:rPr>
                <a:t>=-7, S</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3</a:t>
              </a:r>
              <a:r>
                <a:rPr lang="en-US" dirty="0">
                  <a:latin typeface="Times New Roman" pitchFamily="18" charset="0"/>
                </a:rPr>
                <a:t>=0	67,500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7</a:t>
              </a:r>
              <a:r>
                <a:rPr lang="en-US" dirty="0">
                  <a:solidFill>
                    <a:srgbClr val="FFFF00"/>
                  </a:solidFill>
                  <a:latin typeface="Times New Roman" pitchFamily="18" charset="0"/>
                </a:rPr>
                <a:t>*</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=240, X</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1</a:t>
              </a:r>
              <a:r>
                <a:rPr lang="en-US" dirty="0">
                  <a:latin typeface="Times New Roman" pitchFamily="18" charset="0"/>
                </a:rPr>
                <a:t>=-40, S</a:t>
              </a:r>
              <a:r>
                <a:rPr lang="en-US" baseline="-25000" dirty="0">
                  <a:latin typeface="Times New Roman" pitchFamily="18" charset="0"/>
                </a:rPr>
                <a:t>2</a:t>
              </a:r>
              <a:r>
                <a:rPr lang="en-US" dirty="0">
                  <a:latin typeface="Times New Roman" pitchFamily="18" charset="0"/>
                </a:rPr>
                <a:t>=-594, S</a:t>
              </a:r>
              <a:r>
                <a:rPr lang="en-US" baseline="-25000" dirty="0">
                  <a:latin typeface="Times New Roman" pitchFamily="18" charset="0"/>
                </a:rPr>
                <a:t>3</a:t>
              </a:r>
              <a:r>
                <a:rPr lang="en-US" dirty="0">
                  <a:latin typeface="Times New Roman" pitchFamily="18" charset="0"/>
                </a:rPr>
                <a:t>=0	84,000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8</a:t>
              </a:r>
              <a:r>
                <a:rPr lang="en-US" dirty="0">
                  <a:solidFill>
                    <a:srgbClr val="FFFF00"/>
                  </a:solidFill>
                  <a:latin typeface="Times New Roman" pitchFamily="18" charset="0"/>
                </a:rPr>
                <a:t>*</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=200, X2=0, S</a:t>
              </a:r>
              <a:r>
                <a:rPr lang="en-US" baseline="-25000" dirty="0">
                  <a:latin typeface="Times New Roman" pitchFamily="18" charset="0"/>
                </a:rPr>
                <a:t>1</a:t>
              </a:r>
              <a:r>
                <a:rPr lang="en-US" dirty="0">
                  <a:latin typeface="Times New Roman" pitchFamily="18" charset="0"/>
                </a:rPr>
                <a:t>=0, S</a:t>
              </a:r>
              <a:r>
                <a:rPr lang="en-US" baseline="-25000" dirty="0">
                  <a:latin typeface="Times New Roman" pitchFamily="18" charset="0"/>
                </a:rPr>
                <a:t>2</a:t>
              </a:r>
              <a:r>
                <a:rPr lang="en-US" dirty="0">
                  <a:latin typeface="Times New Roman" pitchFamily="18" charset="0"/>
                </a:rPr>
                <a:t>=-234, S</a:t>
              </a:r>
              <a:r>
                <a:rPr lang="en-US" baseline="-25000" dirty="0">
                  <a:latin typeface="Times New Roman" pitchFamily="18" charset="0"/>
                </a:rPr>
                <a:t>3</a:t>
              </a:r>
              <a:r>
                <a:rPr lang="en-US" dirty="0">
                  <a:latin typeface="Times New Roman" pitchFamily="18" charset="0"/>
                </a:rPr>
                <a:t>=480	70,000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9</a:t>
              </a:r>
              <a:r>
                <a:rPr lang="en-US" dirty="0">
                  <a:solidFill>
                    <a:srgbClr val="FFFF00"/>
                  </a:solidFill>
                  <a:latin typeface="Times New Roman" pitchFamily="18" charset="0"/>
                </a:rPr>
                <a:t>*</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=0, X</a:t>
              </a:r>
              <a:r>
                <a:rPr lang="en-US" baseline="-25000" dirty="0">
                  <a:latin typeface="Times New Roman" pitchFamily="18" charset="0"/>
                </a:rPr>
                <a:t>2</a:t>
              </a:r>
              <a:r>
                <a:rPr lang="en-US" dirty="0">
                  <a:latin typeface="Times New Roman" pitchFamily="18" charset="0"/>
                </a:rPr>
                <a:t>=200, S</a:t>
              </a:r>
              <a:r>
                <a:rPr lang="en-US" baseline="-25000" dirty="0">
                  <a:latin typeface="Times New Roman" pitchFamily="18" charset="0"/>
                </a:rPr>
                <a:t>1</a:t>
              </a:r>
              <a:r>
                <a:rPr lang="en-US" dirty="0">
                  <a:latin typeface="Times New Roman" pitchFamily="18" charset="0"/>
                </a:rPr>
                <a:t>=0, S</a:t>
              </a:r>
              <a:r>
                <a:rPr lang="en-US" baseline="-25000" dirty="0">
                  <a:latin typeface="Times New Roman" pitchFamily="18" charset="0"/>
                </a:rPr>
                <a:t>2</a:t>
              </a:r>
              <a:r>
                <a:rPr lang="en-US" dirty="0">
                  <a:latin typeface="Times New Roman" pitchFamily="18" charset="0"/>
                </a:rPr>
                <a:t>=366, S</a:t>
              </a:r>
              <a:r>
                <a:rPr lang="en-US" baseline="-25000" dirty="0">
                  <a:latin typeface="Times New Roman" pitchFamily="18" charset="0"/>
                </a:rPr>
                <a:t>3</a:t>
              </a:r>
              <a:r>
                <a:rPr lang="en-US" dirty="0">
                  <a:latin typeface="Times New Roman" pitchFamily="18" charset="0"/>
                </a:rPr>
                <a:t>=-320	60,000	</a:t>
              </a:r>
            </a:p>
            <a:p>
              <a:pPr eaLnBrk="0" hangingPunct="0">
                <a:lnSpc>
                  <a:spcPct val="130000"/>
                </a:lnSpc>
                <a:tabLst>
                  <a:tab pos="166688" algn="ctr"/>
                  <a:tab pos="919163" algn="ctr"/>
                  <a:tab pos="1938338" algn="ctr"/>
                  <a:tab pos="2573338" algn="l"/>
                  <a:tab pos="6918325" algn="ctr"/>
                </a:tabLst>
              </a:pPr>
              <a:r>
                <a:rPr lang="en-US" dirty="0">
                  <a:latin typeface="Times New Roman" pitchFamily="18" charset="0"/>
                </a:rPr>
                <a:t>	10</a:t>
              </a:r>
              <a:r>
                <a:rPr lang="en-US" dirty="0">
                  <a:solidFill>
                    <a:srgbClr val="FFFF00"/>
                  </a:solidFill>
                  <a:latin typeface="Times New Roman" pitchFamily="18" charset="0"/>
                </a:rPr>
                <a:t>*</a:t>
              </a:r>
              <a:r>
                <a:rPr lang="en-US" dirty="0">
                  <a:latin typeface="Times New Roman" pitchFamily="18" charset="0"/>
                </a:rPr>
                <a:t>	X</a:t>
              </a:r>
              <a:r>
                <a:rPr lang="en-US" baseline="-25000" dirty="0">
                  <a:latin typeface="Times New Roman" pitchFamily="18" charset="0"/>
                </a:rPr>
                <a:t>2</a:t>
              </a:r>
              <a:r>
                <a:rPr lang="en-US" dirty="0">
                  <a:latin typeface="Times New Roman" pitchFamily="18" charset="0"/>
                </a:rPr>
                <a:t>, S</a:t>
              </a:r>
              <a:r>
                <a:rPr lang="en-US" baseline="-25000" dirty="0">
                  <a:latin typeface="Times New Roman" pitchFamily="18" charset="0"/>
                </a:rPr>
                <a:t>1</a:t>
              </a:r>
              <a:r>
                <a:rPr lang="en-US" dirty="0">
                  <a:latin typeface="Times New Roman" pitchFamily="18" charset="0"/>
                </a:rPr>
                <a:t>, S</a:t>
              </a:r>
              <a:r>
                <a:rPr lang="en-US" baseline="-25000" dirty="0">
                  <a:latin typeface="Times New Roman" pitchFamily="18" charset="0"/>
                </a:rPr>
                <a:t>3</a:t>
              </a:r>
              <a:r>
                <a:rPr lang="en-US" dirty="0">
                  <a:latin typeface="Times New Roman" pitchFamily="18" charset="0"/>
                </a:rPr>
                <a:t>	X</a:t>
              </a:r>
              <a:r>
                <a:rPr lang="en-US" baseline="-25000" dirty="0">
                  <a:latin typeface="Times New Roman" pitchFamily="18" charset="0"/>
                </a:rPr>
                <a:t>1</a:t>
              </a:r>
              <a:r>
                <a:rPr lang="en-US" dirty="0">
                  <a:latin typeface="Times New Roman" pitchFamily="18" charset="0"/>
                </a:rPr>
                <a:t>, S2	X</a:t>
              </a:r>
              <a:r>
                <a:rPr lang="en-US" baseline="-25000" dirty="0">
                  <a:latin typeface="Times New Roman" pitchFamily="18" charset="0"/>
                </a:rPr>
                <a:t>1</a:t>
              </a:r>
              <a:r>
                <a:rPr lang="en-US" dirty="0">
                  <a:latin typeface="Times New Roman" pitchFamily="18" charset="0"/>
                </a:rPr>
                <a:t>=0, X</a:t>
              </a:r>
              <a:r>
                <a:rPr lang="en-US" baseline="-25000" dirty="0">
                  <a:latin typeface="Times New Roman" pitchFamily="18" charset="0"/>
                </a:rPr>
                <a:t>2</a:t>
              </a:r>
              <a:r>
                <a:rPr lang="en-US" dirty="0">
                  <a:latin typeface="Times New Roman" pitchFamily="18" charset="0"/>
                </a:rPr>
                <a:t>=261, S</a:t>
              </a:r>
              <a:r>
                <a:rPr lang="en-US" baseline="-25000" dirty="0">
                  <a:latin typeface="Times New Roman" pitchFamily="18" charset="0"/>
                </a:rPr>
                <a:t>1</a:t>
              </a:r>
              <a:r>
                <a:rPr lang="en-US" dirty="0">
                  <a:latin typeface="Times New Roman" pitchFamily="18" charset="0"/>
                </a:rPr>
                <a:t>=-61, S</a:t>
              </a:r>
              <a:r>
                <a:rPr lang="en-US" baseline="-25000" dirty="0">
                  <a:latin typeface="Times New Roman" pitchFamily="18" charset="0"/>
                </a:rPr>
                <a:t>2</a:t>
              </a:r>
              <a:r>
                <a:rPr lang="en-US" dirty="0">
                  <a:latin typeface="Times New Roman" pitchFamily="18" charset="0"/>
                </a:rPr>
                <a:t>=0, S</a:t>
              </a:r>
              <a:r>
                <a:rPr lang="en-US" baseline="-25000" dirty="0">
                  <a:latin typeface="Times New Roman" pitchFamily="18" charset="0"/>
                </a:rPr>
                <a:t>3</a:t>
              </a:r>
              <a:r>
                <a:rPr lang="en-US" dirty="0">
                  <a:latin typeface="Times New Roman" pitchFamily="18" charset="0"/>
                </a:rPr>
                <a:t>=-1296	78,300	</a:t>
              </a:r>
            </a:p>
            <a:p>
              <a:pPr eaLnBrk="0" hangingPunct="0">
                <a:spcBef>
                  <a:spcPct val="50000"/>
                </a:spcBef>
                <a:tabLst>
                  <a:tab pos="166688" algn="ctr"/>
                  <a:tab pos="919163" algn="ctr"/>
                  <a:tab pos="1938338" algn="ctr"/>
                  <a:tab pos="2573338" algn="l"/>
                  <a:tab pos="6918325" algn="ctr"/>
                </a:tabLst>
              </a:pPr>
              <a:r>
                <a:rPr lang="en-US" dirty="0">
                  <a:solidFill>
                    <a:srgbClr val="FFFF00"/>
                  </a:solidFill>
                  <a:latin typeface="Times New Roman" pitchFamily="18" charset="0"/>
                </a:rPr>
                <a:t>*</a:t>
              </a:r>
              <a:r>
                <a:rPr lang="en-US" dirty="0">
                  <a:solidFill>
                    <a:srgbClr val="CC0000"/>
                  </a:solidFill>
                  <a:latin typeface="Times New Roman" pitchFamily="18" charset="0"/>
                </a:rPr>
                <a:t> </a:t>
              </a:r>
              <a:r>
                <a:rPr lang="en-US" dirty="0">
                  <a:latin typeface="Times New Roman" pitchFamily="18" charset="0"/>
                </a:rPr>
                <a:t>denotes infeasible solutions</a:t>
              </a:r>
            </a:p>
          </p:txBody>
        </p:sp>
        <p:sp>
          <p:nvSpPr>
            <p:cNvPr id="31748" name="Line 4"/>
            <p:cNvSpPr>
              <a:spLocks noChangeShapeType="1"/>
            </p:cNvSpPr>
            <p:nvPr/>
          </p:nvSpPr>
          <p:spPr bwMode="auto">
            <a:xfrm>
              <a:off x="407" y="1130"/>
              <a:ext cx="4862" cy="0"/>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31749" name="Line 5"/>
            <p:cNvSpPr>
              <a:spLocks noChangeShapeType="1"/>
            </p:cNvSpPr>
            <p:nvPr/>
          </p:nvSpPr>
          <p:spPr bwMode="auto">
            <a:xfrm>
              <a:off x="398" y="3437"/>
              <a:ext cx="4862" cy="0"/>
            </a:xfrm>
            <a:prstGeom prst="line">
              <a:avLst/>
            </a:prstGeom>
            <a:noFill/>
            <a:ln w="25400">
              <a:solidFill>
                <a:schemeClr val="tx1"/>
              </a:solidFill>
              <a:round/>
              <a:headEnd type="none" w="sm" len="sm"/>
              <a:tailEnd type="none" w="sm" len="sm"/>
            </a:ln>
            <a:effectLst/>
          </p:spPr>
          <p:txBody>
            <a:bodyPr wrap="none" anchor="ctr"/>
            <a:lstStyle/>
            <a:p>
              <a:endParaRPr lang="en-US"/>
            </a:p>
          </p:txBody>
        </p:sp>
      </p:gr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066800" y="381000"/>
            <a:ext cx="7669213" cy="609600"/>
          </a:xfrm>
          <a:prstGeom prst="rect">
            <a:avLst/>
          </a:prstGeom>
          <a:noFill/>
          <a:ln w="9525">
            <a:noFill/>
            <a:miter lim="800000"/>
            <a:headEnd/>
            <a:tailEnd/>
          </a:ln>
          <a:effectLst/>
        </p:spPr>
        <p:txBody>
          <a:bodyPr lIns="92075" tIns="46038" rIns="92075" bIns="46038" anchor="ctr"/>
          <a:lstStyle/>
          <a:p>
            <a:pPr algn="ctr" eaLnBrk="0" hangingPunct="0">
              <a:lnSpc>
                <a:spcPct val="80000"/>
              </a:lnSpc>
            </a:pPr>
            <a:r>
              <a:rPr lang="en-US" sz="4000" i="1">
                <a:solidFill>
                  <a:schemeClr val="hlink"/>
                </a:solidFill>
                <a:latin typeface="Tahoma" pitchFamily="34" charset="0"/>
              </a:rPr>
              <a:t>Basic Feasible Solutions &amp; Extreme Points</a:t>
            </a:r>
          </a:p>
        </p:txBody>
      </p:sp>
      <p:grpSp>
        <p:nvGrpSpPr>
          <p:cNvPr id="32811" name="Group 43"/>
          <p:cNvGrpSpPr>
            <a:grpSpLocks/>
          </p:cNvGrpSpPr>
          <p:nvPr/>
        </p:nvGrpSpPr>
        <p:grpSpPr bwMode="auto">
          <a:xfrm>
            <a:off x="762000" y="838200"/>
            <a:ext cx="7442200" cy="5638800"/>
            <a:chOff x="544" y="541"/>
            <a:chExt cx="4688" cy="3552"/>
          </a:xfrm>
        </p:grpSpPr>
        <p:sp>
          <p:nvSpPr>
            <p:cNvPr id="32771" name="Freeform 3" descr="70%"/>
            <p:cNvSpPr>
              <a:spLocks/>
            </p:cNvSpPr>
            <p:nvPr/>
          </p:nvSpPr>
          <p:spPr bwMode="auto">
            <a:xfrm>
              <a:off x="948" y="1831"/>
              <a:ext cx="2383" cy="1903"/>
            </a:xfrm>
            <a:custGeom>
              <a:avLst/>
              <a:gdLst/>
              <a:ahLst/>
              <a:cxnLst>
                <a:cxn ang="0">
                  <a:pos x="0" y="0"/>
                </a:cxn>
                <a:cxn ang="0">
                  <a:pos x="0" y="1902"/>
                </a:cxn>
                <a:cxn ang="0">
                  <a:pos x="2382" y="1896"/>
                </a:cxn>
                <a:cxn ang="0">
                  <a:pos x="1774" y="1186"/>
                </a:cxn>
                <a:cxn ang="0">
                  <a:pos x="1052" y="637"/>
                </a:cxn>
                <a:cxn ang="0">
                  <a:pos x="0" y="0"/>
                </a:cxn>
              </a:cxnLst>
              <a:rect l="0" t="0" r="r" b="b"/>
              <a:pathLst>
                <a:path w="2383" h="1903">
                  <a:moveTo>
                    <a:pt x="0" y="0"/>
                  </a:moveTo>
                  <a:lnTo>
                    <a:pt x="0" y="1902"/>
                  </a:lnTo>
                  <a:lnTo>
                    <a:pt x="2382" y="1896"/>
                  </a:lnTo>
                  <a:lnTo>
                    <a:pt x="1774" y="1186"/>
                  </a:lnTo>
                  <a:lnTo>
                    <a:pt x="1052" y="637"/>
                  </a:lnTo>
                  <a:lnTo>
                    <a:pt x="0" y="0"/>
                  </a:lnTo>
                </a:path>
              </a:pathLst>
            </a:custGeom>
            <a:pattFill prst="pct70">
              <a:fgClr>
                <a:srgbClr val="3399FF"/>
              </a:fgClr>
              <a:bgClr>
                <a:schemeClr val="bg1"/>
              </a:bgClr>
            </a:pattFill>
            <a:ln w="12700" cap="rnd" cmpd="sng">
              <a:solidFill>
                <a:schemeClr val="tx1"/>
              </a:solidFill>
              <a:prstDash val="solid"/>
              <a:round/>
              <a:headEnd/>
              <a:tailEnd/>
            </a:ln>
            <a:effectLst/>
          </p:spPr>
          <p:txBody>
            <a:bodyPr/>
            <a:lstStyle/>
            <a:p>
              <a:endParaRPr lang="en-US"/>
            </a:p>
          </p:txBody>
        </p:sp>
        <p:sp>
          <p:nvSpPr>
            <p:cNvPr id="32772" name="Line 4"/>
            <p:cNvSpPr>
              <a:spLocks noChangeShapeType="1"/>
            </p:cNvSpPr>
            <p:nvPr/>
          </p:nvSpPr>
          <p:spPr bwMode="auto">
            <a:xfrm>
              <a:off x="894" y="3736"/>
              <a:ext cx="3894" cy="0"/>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32773" name="Line 5"/>
            <p:cNvSpPr>
              <a:spLocks noChangeShapeType="1"/>
            </p:cNvSpPr>
            <p:nvPr/>
          </p:nvSpPr>
          <p:spPr bwMode="auto">
            <a:xfrm>
              <a:off x="1613" y="3736"/>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74" name="Line 6"/>
            <p:cNvSpPr>
              <a:spLocks noChangeShapeType="1"/>
            </p:cNvSpPr>
            <p:nvPr/>
          </p:nvSpPr>
          <p:spPr bwMode="auto">
            <a:xfrm>
              <a:off x="2272" y="3736"/>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75" name="Line 7"/>
            <p:cNvSpPr>
              <a:spLocks noChangeShapeType="1"/>
            </p:cNvSpPr>
            <p:nvPr/>
          </p:nvSpPr>
          <p:spPr bwMode="auto">
            <a:xfrm>
              <a:off x="2931" y="3736"/>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76" name="Line 8"/>
            <p:cNvSpPr>
              <a:spLocks noChangeShapeType="1"/>
            </p:cNvSpPr>
            <p:nvPr/>
          </p:nvSpPr>
          <p:spPr bwMode="auto">
            <a:xfrm>
              <a:off x="3590" y="3736"/>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77" name="Line 9"/>
            <p:cNvSpPr>
              <a:spLocks noChangeShapeType="1"/>
            </p:cNvSpPr>
            <p:nvPr/>
          </p:nvSpPr>
          <p:spPr bwMode="auto">
            <a:xfrm>
              <a:off x="4249" y="3736"/>
              <a:ext cx="0" cy="48"/>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78" name="Line 10"/>
            <p:cNvSpPr>
              <a:spLocks noChangeShapeType="1"/>
            </p:cNvSpPr>
            <p:nvPr/>
          </p:nvSpPr>
          <p:spPr bwMode="auto">
            <a:xfrm flipV="1">
              <a:off x="954" y="657"/>
              <a:ext cx="0" cy="3127"/>
            </a:xfrm>
            <a:prstGeom prst="line">
              <a:avLst/>
            </a:prstGeom>
            <a:noFill/>
            <a:ln w="25400">
              <a:solidFill>
                <a:srgbClr val="FFFFFF"/>
              </a:solidFill>
              <a:round/>
              <a:headEnd type="none" w="sm" len="sm"/>
              <a:tailEnd type="stealth" w="med" len="lg"/>
            </a:ln>
            <a:effectLst/>
          </p:spPr>
          <p:txBody>
            <a:bodyPr wrap="none" anchor="ctr"/>
            <a:lstStyle/>
            <a:p>
              <a:endParaRPr lang="en-US"/>
            </a:p>
          </p:txBody>
        </p:sp>
        <p:sp>
          <p:nvSpPr>
            <p:cNvPr id="32779" name="Line 11"/>
            <p:cNvSpPr>
              <a:spLocks noChangeShapeType="1"/>
            </p:cNvSpPr>
            <p:nvPr/>
          </p:nvSpPr>
          <p:spPr bwMode="auto">
            <a:xfrm flipH="1">
              <a:off x="894" y="3207"/>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80" name="Line 12"/>
            <p:cNvSpPr>
              <a:spLocks noChangeShapeType="1"/>
            </p:cNvSpPr>
            <p:nvPr/>
          </p:nvSpPr>
          <p:spPr bwMode="auto">
            <a:xfrm flipH="1">
              <a:off x="894" y="2678"/>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81" name="Line 13"/>
            <p:cNvSpPr>
              <a:spLocks noChangeShapeType="1"/>
            </p:cNvSpPr>
            <p:nvPr/>
          </p:nvSpPr>
          <p:spPr bwMode="auto">
            <a:xfrm flipH="1">
              <a:off x="894" y="2148"/>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82" name="Line 14"/>
            <p:cNvSpPr>
              <a:spLocks noChangeShapeType="1"/>
            </p:cNvSpPr>
            <p:nvPr/>
          </p:nvSpPr>
          <p:spPr bwMode="auto">
            <a:xfrm flipH="1">
              <a:off x="894" y="1619"/>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83" name="Line 15"/>
            <p:cNvSpPr>
              <a:spLocks noChangeShapeType="1"/>
            </p:cNvSpPr>
            <p:nvPr/>
          </p:nvSpPr>
          <p:spPr bwMode="auto">
            <a:xfrm flipH="1">
              <a:off x="894" y="1090"/>
              <a:ext cx="60" cy="0"/>
            </a:xfrm>
            <a:prstGeom prst="line">
              <a:avLst/>
            </a:prstGeom>
            <a:noFill/>
            <a:ln w="12700">
              <a:solidFill>
                <a:srgbClr val="FFFFFF"/>
              </a:solidFill>
              <a:round/>
              <a:headEnd type="none" w="sm" len="sm"/>
              <a:tailEnd type="none" w="sm" len="sm"/>
            </a:ln>
            <a:effectLst/>
          </p:spPr>
          <p:txBody>
            <a:bodyPr wrap="none" anchor="ctr"/>
            <a:lstStyle/>
            <a:p>
              <a:endParaRPr lang="en-US"/>
            </a:p>
          </p:txBody>
        </p:sp>
        <p:sp>
          <p:nvSpPr>
            <p:cNvPr id="32784" name="Rectangle 16"/>
            <p:cNvSpPr>
              <a:spLocks noChangeArrowheads="1"/>
            </p:cNvSpPr>
            <p:nvPr/>
          </p:nvSpPr>
          <p:spPr bwMode="auto">
            <a:xfrm>
              <a:off x="570" y="541"/>
              <a:ext cx="624" cy="288"/>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2</a:t>
              </a:r>
            </a:p>
          </p:txBody>
        </p:sp>
        <p:sp>
          <p:nvSpPr>
            <p:cNvPr id="32785" name="Rectangle 17"/>
            <p:cNvSpPr>
              <a:spLocks noChangeArrowheads="1"/>
            </p:cNvSpPr>
            <p:nvPr/>
          </p:nvSpPr>
          <p:spPr bwMode="auto">
            <a:xfrm>
              <a:off x="4608" y="3805"/>
              <a:ext cx="624" cy="288"/>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sz="2400"/>
                <a:t>X</a:t>
              </a:r>
              <a:r>
                <a:rPr lang="en-US" sz="2400" b="1" baseline="-25000"/>
                <a:t>1</a:t>
              </a:r>
            </a:p>
          </p:txBody>
        </p:sp>
        <p:sp>
          <p:nvSpPr>
            <p:cNvPr id="32786" name="Rectangle 18"/>
            <p:cNvSpPr>
              <a:spLocks noChangeArrowheads="1"/>
            </p:cNvSpPr>
            <p:nvPr/>
          </p:nvSpPr>
          <p:spPr bwMode="auto">
            <a:xfrm>
              <a:off x="554" y="971"/>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32787" name="Rectangle 19"/>
            <p:cNvSpPr>
              <a:spLocks noChangeArrowheads="1"/>
            </p:cNvSpPr>
            <p:nvPr/>
          </p:nvSpPr>
          <p:spPr bwMode="auto">
            <a:xfrm>
              <a:off x="555" y="1519"/>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32788" name="Rectangle 20"/>
            <p:cNvSpPr>
              <a:spLocks noChangeArrowheads="1"/>
            </p:cNvSpPr>
            <p:nvPr/>
          </p:nvSpPr>
          <p:spPr bwMode="auto">
            <a:xfrm>
              <a:off x="544" y="203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32789" name="Rectangle 21"/>
            <p:cNvSpPr>
              <a:spLocks noChangeArrowheads="1"/>
            </p:cNvSpPr>
            <p:nvPr/>
          </p:nvSpPr>
          <p:spPr bwMode="auto">
            <a:xfrm>
              <a:off x="555" y="2573"/>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32790" name="Rectangle 22"/>
            <p:cNvSpPr>
              <a:spLocks noChangeArrowheads="1"/>
            </p:cNvSpPr>
            <p:nvPr/>
          </p:nvSpPr>
          <p:spPr bwMode="auto">
            <a:xfrm>
              <a:off x="587" y="3099"/>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32791" name="Rectangle 23"/>
            <p:cNvSpPr>
              <a:spLocks noChangeArrowheads="1"/>
            </p:cNvSpPr>
            <p:nvPr/>
          </p:nvSpPr>
          <p:spPr bwMode="auto">
            <a:xfrm>
              <a:off x="618" y="362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32792" name="Rectangle 24"/>
            <p:cNvSpPr>
              <a:spLocks noChangeArrowheads="1"/>
            </p:cNvSpPr>
            <p:nvPr/>
          </p:nvSpPr>
          <p:spPr bwMode="auto">
            <a:xfrm>
              <a:off x="777" y="380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0</a:t>
              </a:r>
            </a:p>
          </p:txBody>
        </p:sp>
        <p:sp>
          <p:nvSpPr>
            <p:cNvPr id="32793" name="Rectangle 25"/>
            <p:cNvSpPr>
              <a:spLocks noChangeArrowheads="1"/>
            </p:cNvSpPr>
            <p:nvPr/>
          </p:nvSpPr>
          <p:spPr bwMode="auto">
            <a:xfrm>
              <a:off x="1451" y="3816"/>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 50</a:t>
              </a:r>
            </a:p>
          </p:txBody>
        </p:sp>
        <p:sp>
          <p:nvSpPr>
            <p:cNvPr id="32794" name="Rectangle 26"/>
            <p:cNvSpPr>
              <a:spLocks noChangeArrowheads="1"/>
            </p:cNvSpPr>
            <p:nvPr/>
          </p:nvSpPr>
          <p:spPr bwMode="auto">
            <a:xfrm>
              <a:off x="2082" y="379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100</a:t>
              </a:r>
            </a:p>
          </p:txBody>
        </p:sp>
        <p:sp>
          <p:nvSpPr>
            <p:cNvPr id="32795" name="Rectangle 27"/>
            <p:cNvSpPr>
              <a:spLocks noChangeArrowheads="1"/>
            </p:cNvSpPr>
            <p:nvPr/>
          </p:nvSpPr>
          <p:spPr bwMode="auto">
            <a:xfrm>
              <a:off x="2734" y="380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150</a:t>
              </a:r>
            </a:p>
          </p:txBody>
        </p:sp>
        <p:sp>
          <p:nvSpPr>
            <p:cNvPr id="32796" name="Rectangle 28"/>
            <p:cNvSpPr>
              <a:spLocks noChangeArrowheads="1"/>
            </p:cNvSpPr>
            <p:nvPr/>
          </p:nvSpPr>
          <p:spPr bwMode="auto">
            <a:xfrm>
              <a:off x="3398" y="381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200</a:t>
              </a:r>
            </a:p>
          </p:txBody>
        </p:sp>
        <p:sp>
          <p:nvSpPr>
            <p:cNvPr id="32797" name="Rectangle 29"/>
            <p:cNvSpPr>
              <a:spLocks noChangeArrowheads="1"/>
            </p:cNvSpPr>
            <p:nvPr/>
          </p:nvSpPr>
          <p:spPr bwMode="auto">
            <a:xfrm>
              <a:off x="4060" y="3815"/>
              <a:ext cx="358"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250</a:t>
              </a:r>
            </a:p>
          </p:txBody>
        </p:sp>
        <p:sp>
          <p:nvSpPr>
            <p:cNvPr id="32798" name="Rectangle 30"/>
            <p:cNvSpPr>
              <a:spLocks noChangeArrowheads="1"/>
            </p:cNvSpPr>
            <p:nvPr/>
          </p:nvSpPr>
          <p:spPr bwMode="auto">
            <a:xfrm>
              <a:off x="1238" y="1457"/>
              <a:ext cx="862"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5</a:t>
              </a:r>
            </a:p>
          </p:txBody>
        </p:sp>
        <p:sp>
          <p:nvSpPr>
            <p:cNvPr id="32799" name="Line 31"/>
            <p:cNvSpPr>
              <a:spLocks noChangeShapeType="1"/>
            </p:cNvSpPr>
            <p:nvPr/>
          </p:nvSpPr>
          <p:spPr bwMode="auto">
            <a:xfrm flipH="1">
              <a:off x="963" y="1571"/>
              <a:ext cx="296" cy="221"/>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32800" name="Rectangle 32"/>
            <p:cNvSpPr>
              <a:spLocks noChangeArrowheads="1"/>
            </p:cNvSpPr>
            <p:nvPr/>
          </p:nvSpPr>
          <p:spPr bwMode="auto">
            <a:xfrm>
              <a:off x="3691" y="3386"/>
              <a:ext cx="714"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2</a:t>
              </a:r>
            </a:p>
          </p:txBody>
        </p:sp>
        <p:sp>
          <p:nvSpPr>
            <p:cNvPr id="32801" name="Line 33"/>
            <p:cNvSpPr>
              <a:spLocks noChangeShapeType="1"/>
            </p:cNvSpPr>
            <p:nvPr/>
          </p:nvSpPr>
          <p:spPr bwMode="auto">
            <a:xfrm flipH="1">
              <a:off x="3365" y="3497"/>
              <a:ext cx="304" cy="193"/>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32802" name="Line 34"/>
            <p:cNvSpPr>
              <a:spLocks noChangeShapeType="1"/>
            </p:cNvSpPr>
            <p:nvPr/>
          </p:nvSpPr>
          <p:spPr bwMode="auto">
            <a:xfrm>
              <a:off x="954" y="1837"/>
              <a:ext cx="1059" cy="636"/>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32803" name="Line 35"/>
            <p:cNvSpPr>
              <a:spLocks noChangeShapeType="1"/>
            </p:cNvSpPr>
            <p:nvPr/>
          </p:nvSpPr>
          <p:spPr bwMode="auto">
            <a:xfrm>
              <a:off x="2004" y="2467"/>
              <a:ext cx="726" cy="552"/>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32804" name="Line 36"/>
            <p:cNvSpPr>
              <a:spLocks noChangeShapeType="1"/>
            </p:cNvSpPr>
            <p:nvPr/>
          </p:nvSpPr>
          <p:spPr bwMode="auto">
            <a:xfrm>
              <a:off x="2724" y="3019"/>
              <a:ext cx="612" cy="714"/>
            </a:xfrm>
            <a:prstGeom prst="line">
              <a:avLst/>
            </a:prstGeom>
            <a:noFill/>
            <a:ln w="25400">
              <a:solidFill>
                <a:schemeClr val="tx1"/>
              </a:solidFill>
              <a:round/>
              <a:headEnd type="none" w="sm" len="sm"/>
              <a:tailEnd type="none" w="sm" len="sm"/>
            </a:ln>
            <a:effectLst/>
          </p:spPr>
          <p:txBody>
            <a:bodyPr wrap="none" anchor="ctr"/>
            <a:lstStyle/>
            <a:p>
              <a:endParaRPr lang="en-US"/>
            </a:p>
          </p:txBody>
        </p:sp>
        <p:sp>
          <p:nvSpPr>
            <p:cNvPr id="32805" name="Rectangle 37"/>
            <p:cNvSpPr>
              <a:spLocks noChangeArrowheads="1"/>
            </p:cNvSpPr>
            <p:nvPr/>
          </p:nvSpPr>
          <p:spPr bwMode="auto">
            <a:xfrm>
              <a:off x="3082" y="2650"/>
              <a:ext cx="861"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3</a:t>
              </a:r>
            </a:p>
          </p:txBody>
        </p:sp>
        <p:sp>
          <p:nvSpPr>
            <p:cNvPr id="32806" name="Line 38"/>
            <p:cNvSpPr>
              <a:spLocks noChangeShapeType="1"/>
            </p:cNvSpPr>
            <p:nvPr/>
          </p:nvSpPr>
          <p:spPr bwMode="auto">
            <a:xfrm flipH="1">
              <a:off x="2114" y="2277"/>
              <a:ext cx="304" cy="193"/>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32807" name="Line 39"/>
            <p:cNvSpPr>
              <a:spLocks noChangeShapeType="1"/>
            </p:cNvSpPr>
            <p:nvPr/>
          </p:nvSpPr>
          <p:spPr bwMode="auto">
            <a:xfrm flipH="1">
              <a:off x="2779" y="2783"/>
              <a:ext cx="304" cy="193"/>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32808" name="Rectangle 40"/>
            <p:cNvSpPr>
              <a:spLocks noChangeArrowheads="1"/>
            </p:cNvSpPr>
            <p:nvPr/>
          </p:nvSpPr>
          <p:spPr bwMode="auto">
            <a:xfrm>
              <a:off x="2400" y="2146"/>
              <a:ext cx="714"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4</a:t>
              </a:r>
            </a:p>
          </p:txBody>
        </p:sp>
        <p:sp>
          <p:nvSpPr>
            <p:cNvPr id="32809" name="Line 41"/>
            <p:cNvSpPr>
              <a:spLocks noChangeShapeType="1"/>
            </p:cNvSpPr>
            <p:nvPr/>
          </p:nvSpPr>
          <p:spPr bwMode="auto">
            <a:xfrm flipH="1">
              <a:off x="981" y="3490"/>
              <a:ext cx="304" cy="193"/>
            </a:xfrm>
            <a:prstGeom prst="line">
              <a:avLst/>
            </a:prstGeom>
            <a:noFill/>
            <a:ln w="25400">
              <a:solidFill>
                <a:schemeClr val="tx1"/>
              </a:solidFill>
              <a:round/>
              <a:headEnd type="none" w="sm" len="sm"/>
              <a:tailEnd type="stealth" w="med" len="lg"/>
            </a:ln>
            <a:effectLst/>
          </p:spPr>
          <p:txBody>
            <a:bodyPr wrap="none" anchor="ctr"/>
            <a:lstStyle/>
            <a:p>
              <a:endParaRPr lang="en-US"/>
            </a:p>
          </p:txBody>
        </p:sp>
        <p:sp>
          <p:nvSpPr>
            <p:cNvPr id="32810" name="Rectangle 42"/>
            <p:cNvSpPr>
              <a:spLocks noChangeArrowheads="1"/>
            </p:cNvSpPr>
            <p:nvPr/>
          </p:nvSpPr>
          <p:spPr bwMode="auto">
            <a:xfrm>
              <a:off x="1243" y="3369"/>
              <a:ext cx="714" cy="231"/>
            </a:xfrm>
            <a:prstGeom prst="rect">
              <a:avLst/>
            </a:prstGeom>
            <a:noFill/>
            <a:ln w="9525">
              <a:noFill/>
              <a:miter lim="800000"/>
              <a:headEnd/>
              <a:tailEnd/>
            </a:ln>
            <a:effectLst/>
          </p:spPr>
          <p:txBody>
            <a:bodyPr lIns="92075" tIns="46038" rIns="92075" bIns="46038">
              <a:spAutoFit/>
            </a:bodyPr>
            <a:lstStyle/>
            <a:p>
              <a:pPr eaLnBrk="0" hangingPunct="0">
                <a:spcBef>
                  <a:spcPct val="50000"/>
                </a:spcBef>
              </a:pPr>
              <a:r>
                <a:rPr lang="en-US" b="1"/>
                <a:t>1</a:t>
              </a:r>
            </a:p>
          </p:txBody>
        </p:sp>
      </p:grpSp>
      <p:sp>
        <p:nvSpPr>
          <p:cNvPr id="32812" name="Rectangle 44"/>
          <p:cNvSpPr>
            <a:spLocks noChangeArrowheads="1"/>
          </p:cNvSpPr>
          <p:nvPr/>
        </p:nvSpPr>
        <p:spPr bwMode="auto">
          <a:xfrm>
            <a:off x="4346575" y="2011363"/>
            <a:ext cx="4594225" cy="1878012"/>
          </a:xfrm>
          <a:prstGeom prst="rect">
            <a:avLst/>
          </a:prstGeom>
          <a:noFill/>
          <a:ln w="9525">
            <a:noFill/>
            <a:miter lim="800000"/>
            <a:headEnd/>
            <a:tailEnd/>
          </a:ln>
          <a:effectLst/>
        </p:spPr>
        <p:txBody>
          <a:bodyPr lIns="92075" tIns="46038" rIns="92075" bIns="46038">
            <a:spAutoFit/>
          </a:bodyPr>
          <a:lstStyle/>
          <a:p>
            <a:pPr eaLnBrk="0" hangingPunct="0">
              <a:lnSpc>
                <a:spcPct val="130000"/>
              </a:lnSpc>
              <a:tabLst>
                <a:tab pos="233363" algn="ctr"/>
                <a:tab pos="450850" algn="l"/>
              </a:tabLst>
            </a:pPr>
            <a:r>
              <a:rPr lang="en-US">
                <a:latin typeface="Times New Roman" pitchFamily="18" charset="0"/>
              </a:rPr>
              <a:t>	1	X</a:t>
            </a:r>
            <a:r>
              <a:rPr lang="en-US" baseline="-25000">
                <a:latin typeface="Times New Roman" pitchFamily="18" charset="0"/>
              </a:rPr>
              <a:t>1</a:t>
            </a:r>
            <a:r>
              <a:rPr lang="en-US">
                <a:latin typeface="Times New Roman" pitchFamily="18" charset="0"/>
              </a:rPr>
              <a:t>=0, X</a:t>
            </a:r>
            <a:r>
              <a:rPr lang="en-US" baseline="-25000">
                <a:latin typeface="Times New Roman" pitchFamily="18" charset="0"/>
              </a:rPr>
              <a:t>2</a:t>
            </a:r>
            <a:r>
              <a:rPr lang="en-US">
                <a:latin typeface="Times New Roman" pitchFamily="18" charset="0"/>
              </a:rPr>
              <a:t>=0, S</a:t>
            </a:r>
            <a:r>
              <a:rPr lang="en-US" baseline="-25000">
                <a:latin typeface="Times New Roman" pitchFamily="18" charset="0"/>
              </a:rPr>
              <a:t>1</a:t>
            </a:r>
            <a:r>
              <a:rPr lang="en-US">
                <a:latin typeface="Times New Roman" pitchFamily="18" charset="0"/>
              </a:rPr>
              <a:t>=200, S</a:t>
            </a:r>
            <a:r>
              <a:rPr lang="en-US" baseline="-25000">
                <a:latin typeface="Times New Roman" pitchFamily="18" charset="0"/>
              </a:rPr>
              <a:t>2</a:t>
            </a:r>
            <a:r>
              <a:rPr lang="en-US">
                <a:latin typeface="Times New Roman" pitchFamily="18" charset="0"/>
              </a:rPr>
              <a:t>=1566, S</a:t>
            </a:r>
            <a:r>
              <a:rPr lang="en-US" baseline="-25000">
                <a:latin typeface="Times New Roman" pitchFamily="18" charset="0"/>
              </a:rPr>
              <a:t>3</a:t>
            </a:r>
            <a:r>
              <a:rPr lang="en-US">
                <a:latin typeface="Times New Roman" pitchFamily="18" charset="0"/>
              </a:rPr>
              <a:t>=2880</a:t>
            </a:r>
          </a:p>
          <a:p>
            <a:pPr eaLnBrk="0" hangingPunct="0">
              <a:lnSpc>
                <a:spcPct val="130000"/>
              </a:lnSpc>
              <a:tabLst>
                <a:tab pos="233363" algn="ctr"/>
                <a:tab pos="450850" algn="l"/>
              </a:tabLst>
            </a:pPr>
            <a:r>
              <a:rPr lang="en-US">
                <a:latin typeface="Times New Roman" pitchFamily="18" charset="0"/>
              </a:rPr>
              <a:t>	2	X</a:t>
            </a:r>
            <a:r>
              <a:rPr lang="en-US" baseline="-25000">
                <a:latin typeface="Times New Roman" pitchFamily="18" charset="0"/>
              </a:rPr>
              <a:t>1</a:t>
            </a:r>
            <a:r>
              <a:rPr lang="en-US">
                <a:latin typeface="Times New Roman" pitchFamily="18" charset="0"/>
              </a:rPr>
              <a:t>=174, X</a:t>
            </a:r>
            <a:r>
              <a:rPr lang="en-US" baseline="-25000">
                <a:latin typeface="Times New Roman" pitchFamily="18" charset="0"/>
              </a:rPr>
              <a:t>2</a:t>
            </a:r>
            <a:r>
              <a:rPr lang="en-US">
                <a:latin typeface="Times New Roman" pitchFamily="18" charset="0"/>
              </a:rPr>
              <a:t>=0, S</a:t>
            </a:r>
            <a:r>
              <a:rPr lang="en-US" baseline="-25000">
                <a:latin typeface="Times New Roman" pitchFamily="18" charset="0"/>
              </a:rPr>
              <a:t>1</a:t>
            </a:r>
            <a:r>
              <a:rPr lang="en-US">
                <a:latin typeface="Times New Roman" pitchFamily="18" charset="0"/>
              </a:rPr>
              <a:t>=26, S</a:t>
            </a:r>
            <a:r>
              <a:rPr lang="en-US" baseline="-25000">
                <a:latin typeface="Times New Roman" pitchFamily="18" charset="0"/>
              </a:rPr>
              <a:t>2</a:t>
            </a:r>
            <a:r>
              <a:rPr lang="en-US">
                <a:latin typeface="Times New Roman" pitchFamily="18" charset="0"/>
              </a:rPr>
              <a:t>=0, S</a:t>
            </a:r>
            <a:r>
              <a:rPr lang="en-US" baseline="-25000">
                <a:latin typeface="Times New Roman" pitchFamily="18" charset="0"/>
              </a:rPr>
              <a:t>3</a:t>
            </a:r>
            <a:r>
              <a:rPr lang="en-US">
                <a:latin typeface="Times New Roman" pitchFamily="18" charset="0"/>
              </a:rPr>
              <a:t>=792</a:t>
            </a:r>
          </a:p>
          <a:p>
            <a:pPr eaLnBrk="0" hangingPunct="0">
              <a:lnSpc>
                <a:spcPct val="130000"/>
              </a:lnSpc>
              <a:tabLst>
                <a:tab pos="233363" algn="ctr"/>
                <a:tab pos="450850" algn="l"/>
              </a:tabLst>
            </a:pPr>
            <a:r>
              <a:rPr lang="en-US">
                <a:latin typeface="Times New Roman" pitchFamily="18" charset="0"/>
              </a:rPr>
              <a:t>	3	X</a:t>
            </a:r>
            <a:r>
              <a:rPr lang="en-US" baseline="-25000">
                <a:latin typeface="Times New Roman" pitchFamily="18" charset="0"/>
              </a:rPr>
              <a:t>1</a:t>
            </a:r>
            <a:r>
              <a:rPr lang="en-US">
                <a:latin typeface="Times New Roman" pitchFamily="18" charset="0"/>
              </a:rPr>
              <a:t>=122, X</a:t>
            </a:r>
            <a:r>
              <a:rPr lang="en-US" baseline="-25000">
                <a:latin typeface="Times New Roman" pitchFamily="18" charset="0"/>
              </a:rPr>
              <a:t>2</a:t>
            </a:r>
            <a:r>
              <a:rPr lang="en-US">
                <a:latin typeface="Times New Roman" pitchFamily="18" charset="0"/>
              </a:rPr>
              <a:t>=78, S</a:t>
            </a:r>
            <a:r>
              <a:rPr lang="en-US" baseline="-25000">
                <a:latin typeface="Times New Roman" pitchFamily="18" charset="0"/>
              </a:rPr>
              <a:t>1</a:t>
            </a:r>
            <a:r>
              <a:rPr lang="en-US">
                <a:latin typeface="Times New Roman" pitchFamily="18" charset="0"/>
              </a:rPr>
              <a:t>=0, S</a:t>
            </a:r>
            <a:r>
              <a:rPr lang="en-US" baseline="-25000">
                <a:latin typeface="Times New Roman" pitchFamily="18" charset="0"/>
              </a:rPr>
              <a:t>2</a:t>
            </a:r>
            <a:r>
              <a:rPr lang="en-US">
                <a:latin typeface="Times New Roman" pitchFamily="18" charset="0"/>
              </a:rPr>
              <a:t>=0, S</a:t>
            </a:r>
            <a:r>
              <a:rPr lang="en-US" baseline="-25000">
                <a:latin typeface="Times New Roman" pitchFamily="18" charset="0"/>
              </a:rPr>
              <a:t>3</a:t>
            </a:r>
            <a:r>
              <a:rPr lang="en-US">
                <a:latin typeface="Times New Roman" pitchFamily="18" charset="0"/>
              </a:rPr>
              <a:t>=168</a:t>
            </a:r>
          </a:p>
          <a:p>
            <a:pPr eaLnBrk="0" hangingPunct="0">
              <a:lnSpc>
                <a:spcPct val="130000"/>
              </a:lnSpc>
              <a:tabLst>
                <a:tab pos="233363" algn="ctr"/>
                <a:tab pos="450850" algn="l"/>
              </a:tabLst>
            </a:pPr>
            <a:r>
              <a:rPr lang="en-US">
                <a:latin typeface="Times New Roman" pitchFamily="18" charset="0"/>
              </a:rPr>
              <a:t>	4	X</a:t>
            </a:r>
            <a:r>
              <a:rPr lang="en-US" baseline="-25000">
                <a:latin typeface="Times New Roman" pitchFamily="18" charset="0"/>
              </a:rPr>
              <a:t>1</a:t>
            </a:r>
            <a:r>
              <a:rPr lang="en-US">
                <a:latin typeface="Times New Roman" pitchFamily="18" charset="0"/>
              </a:rPr>
              <a:t>=80, X</a:t>
            </a:r>
            <a:r>
              <a:rPr lang="en-US" baseline="-25000">
                <a:latin typeface="Times New Roman" pitchFamily="18" charset="0"/>
              </a:rPr>
              <a:t>2</a:t>
            </a:r>
            <a:r>
              <a:rPr lang="en-US">
                <a:latin typeface="Times New Roman" pitchFamily="18" charset="0"/>
              </a:rPr>
              <a:t>=120, S</a:t>
            </a:r>
            <a:r>
              <a:rPr lang="en-US" baseline="-25000">
                <a:latin typeface="Times New Roman" pitchFamily="18" charset="0"/>
              </a:rPr>
              <a:t>1</a:t>
            </a:r>
            <a:r>
              <a:rPr lang="en-US">
                <a:latin typeface="Times New Roman" pitchFamily="18" charset="0"/>
              </a:rPr>
              <a:t>=0, S</a:t>
            </a:r>
            <a:r>
              <a:rPr lang="en-US" baseline="-25000">
                <a:latin typeface="Times New Roman" pitchFamily="18" charset="0"/>
              </a:rPr>
              <a:t>2</a:t>
            </a:r>
            <a:r>
              <a:rPr lang="en-US">
                <a:latin typeface="Times New Roman" pitchFamily="18" charset="0"/>
              </a:rPr>
              <a:t>=126, S</a:t>
            </a:r>
            <a:r>
              <a:rPr lang="en-US" baseline="-25000">
                <a:latin typeface="Times New Roman" pitchFamily="18" charset="0"/>
              </a:rPr>
              <a:t>3</a:t>
            </a:r>
            <a:r>
              <a:rPr lang="en-US">
                <a:latin typeface="Times New Roman" pitchFamily="18" charset="0"/>
              </a:rPr>
              <a:t>=0</a:t>
            </a:r>
          </a:p>
          <a:p>
            <a:pPr eaLnBrk="0" hangingPunct="0">
              <a:lnSpc>
                <a:spcPct val="130000"/>
              </a:lnSpc>
              <a:tabLst>
                <a:tab pos="233363" algn="ctr"/>
                <a:tab pos="450850" algn="l"/>
              </a:tabLst>
            </a:pPr>
            <a:r>
              <a:rPr lang="en-US">
                <a:latin typeface="Times New Roman" pitchFamily="18" charset="0"/>
              </a:rPr>
              <a:t>	5	X</a:t>
            </a:r>
            <a:r>
              <a:rPr lang="en-US" baseline="-25000">
                <a:latin typeface="Times New Roman" pitchFamily="18" charset="0"/>
              </a:rPr>
              <a:t>1</a:t>
            </a:r>
            <a:r>
              <a:rPr lang="en-US">
                <a:latin typeface="Times New Roman" pitchFamily="18" charset="0"/>
              </a:rPr>
              <a:t>=0, X</a:t>
            </a:r>
            <a:r>
              <a:rPr lang="en-US" baseline="-25000">
                <a:latin typeface="Times New Roman" pitchFamily="18" charset="0"/>
              </a:rPr>
              <a:t>2</a:t>
            </a:r>
            <a:r>
              <a:rPr lang="en-US">
                <a:latin typeface="Times New Roman" pitchFamily="18" charset="0"/>
              </a:rPr>
              <a:t>=180, S</a:t>
            </a:r>
            <a:r>
              <a:rPr lang="en-US" baseline="-25000">
                <a:latin typeface="Times New Roman" pitchFamily="18" charset="0"/>
              </a:rPr>
              <a:t>1</a:t>
            </a:r>
            <a:r>
              <a:rPr lang="en-US">
                <a:latin typeface="Times New Roman" pitchFamily="18" charset="0"/>
              </a:rPr>
              <a:t>=20, S</a:t>
            </a:r>
            <a:r>
              <a:rPr lang="en-US" baseline="-25000">
                <a:latin typeface="Times New Roman" pitchFamily="18" charset="0"/>
              </a:rPr>
              <a:t>2</a:t>
            </a:r>
            <a:r>
              <a:rPr lang="en-US">
                <a:latin typeface="Times New Roman" pitchFamily="18" charset="0"/>
              </a:rPr>
              <a:t>=486, S</a:t>
            </a:r>
            <a:r>
              <a:rPr lang="en-US" baseline="-25000">
                <a:latin typeface="Times New Roman" pitchFamily="18" charset="0"/>
              </a:rPr>
              <a:t>3</a:t>
            </a:r>
            <a:r>
              <a:rPr lang="en-US">
                <a:latin typeface="Times New Roman" pitchFamily="18" charset="0"/>
              </a:rPr>
              <a:t>=0</a:t>
            </a:r>
          </a:p>
        </p:txBody>
      </p:sp>
      <p:sp>
        <p:nvSpPr>
          <p:cNvPr id="32813" name="Rectangle 45"/>
          <p:cNvSpPr>
            <a:spLocks noChangeArrowheads="1"/>
          </p:cNvSpPr>
          <p:nvPr/>
        </p:nvSpPr>
        <p:spPr bwMode="auto">
          <a:xfrm>
            <a:off x="4386263" y="2049463"/>
            <a:ext cx="4430712" cy="1841500"/>
          </a:xfrm>
          <a:prstGeom prst="rect">
            <a:avLst/>
          </a:prstGeom>
          <a:noFill/>
          <a:ln w="47625" cmpd="thickThin">
            <a:solidFill>
              <a:schemeClr val="tx1"/>
            </a:solidFill>
            <a:miter lim="800000"/>
            <a:headEnd/>
            <a:tailEnd/>
          </a:ln>
          <a:effectLst/>
        </p:spPr>
        <p:txBody>
          <a:bodyPr wrap="none" anchor="ctr"/>
          <a:lstStyle/>
          <a:p>
            <a:endParaRPr lang="en-US"/>
          </a:p>
        </p:txBody>
      </p:sp>
      <p:sp>
        <p:nvSpPr>
          <p:cNvPr id="32814" name="Rectangle 46"/>
          <p:cNvSpPr>
            <a:spLocks noChangeArrowheads="1"/>
          </p:cNvSpPr>
          <p:nvPr/>
        </p:nvSpPr>
        <p:spPr bwMode="auto">
          <a:xfrm>
            <a:off x="4230688" y="1600200"/>
            <a:ext cx="4760912" cy="457200"/>
          </a:xfrm>
          <a:prstGeom prst="rect">
            <a:avLst/>
          </a:prstGeom>
          <a:noFill/>
          <a:ln w="9525">
            <a:noFill/>
            <a:miter lim="800000"/>
            <a:headEnd/>
            <a:tailEnd/>
          </a:ln>
          <a:effectLst/>
        </p:spPr>
        <p:txBody>
          <a:bodyPr lIns="92075" tIns="46038" rIns="92075" bIns="46038">
            <a:spAutoFit/>
          </a:bodyPr>
          <a:lstStyle/>
          <a:p>
            <a:pPr algn="ctr" eaLnBrk="0" hangingPunct="0">
              <a:spcBef>
                <a:spcPct val="50000"/>
              </a:spcBef>
            </a:pPr>
            <a:r>
              <a:rPr lang="en-US" sz="2400"/>
              <a:t>Basic Feasible Solutions</a:t>
            </a:r>
          </a:p>
        </p:txBody>
      </p:sp>
      <p:sp>
        <p:nvSpPr>
          <p:cNvPr id="2" name="Footer Placeholder 1"/>
          <p:cNvSpPr>
            <a:spLocks noGrp="1"/>
          </p:cNvSpPr>
          <p:nvPr>
            <p:ph type="ftr" sz="quarter" idx="11"/>
          </p:nvPr>
        </p:nvSpPr>
        <p:spPr>
          <a:xfrm>
            <a:off x="3124200" y="6420462"/>
            <a:ext cx="2895600" cy="201977"/>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28600" y="363538"/>
            <a:ext cx="8610600" cy="627062"/>
          </a:xfrm>
          <a:noFill/>
          <a:ln/>
        </p:spPr>
        <p:txBody>
          <a:bodyPr lIns="92075" tIns="46038" rIns="92075" bIns="46038"/>
          <a:lstStyle/>
          <a:p>
            <a:r>
              <a:rPr lang="en-US" sz="4000" i="1">
                <a:solidFill>
                  <a:schemeClr val="hlink"/>
                </a:solidFill>
              </a:rPr>
              <a:t>Simplex Method Summary</a:t>
            </a:r>
            <a:r>
              <a:rPr lang="en-US" sz="4000" i="1"/>
              <a:t> </a:t>
            </a:r>
          </a:p>
        </p:txBody>
      </p:sp>
      <p:sp>
        <p:nvSpPr>
          <p:cNvPr id="33795" name="Rectangle 3"/>
          <p:cNvSpPr>
            <a:spLocks noChangeArrowheads="1"/>
          </p:cNvSpPr>
          <p:nvPr/>
        </p:nvSpPr>
        <p:spPr bwMode="auto">
          <a:xfrm>
            <a:off x="304800" y="990600"/>
            <a:ext cx="8450262" cy="5294399"/>
          </a:xfrm>
          <a:prstGeom prst="rect">
            <a:avLst/>
          </a:prstGeom>
          <a:noFill/>
          <a:ln w="9525">
            <a:noFill/>
            <a:miter lim="800000"/>
            <a:headEnd/>
            <a:tailEnd/>
          </a:ln>
          <a:effectLst/>
        </p:spPr>
        <p:txBody>
          <a:bodyPr lIns="92075" tIns="46038" rIns="92075" bIns="46038">
            <a:spAutoFit/>
          </a:bodyPr>
          <a:lstStyle/>
          <a:p>
            <a:pPr marL="233363" indent="-233363" eaLnBrk="0" hangingPunct="0">
              <a:buClr>
                <a:schemeClr val="hlink"/>
              </a:buClr>
              <a:buFont typeface="Wingdings" pitchFamily="2" charset="2"/>
              <a:buChar char="§"/>
            </a:pPr>
            <a:r>
              <a:rPr lang="en-US" sz="2600" dirty="0">
                <a:latin typeface="Tahoma" pitchFamily="34" charset="0"/>
              </a:rPr>
              <a:t>Identify any basic feasible solution (or extreme point) for an LP problem, then moving to an adjacent extreme point if such a move improves the value of the objective function. </a:t>
            </a:r>
          </a:p>
          <a:p>
            <a:pPr marL="233363" indent="-233363" eaLnBrk="0" hangingPunct="0">
              <a:buClr>
                <a:schemeClr val="hlink"/>
              </a:buClr>
              <a:buFont typeface="Wingdings" pitchFamily="2" charset="2"/>
              <a:buChar char="§"/>
            </a:pPr>
            <a:endParaRPr lang="en-US" sz="2600" dirty="0">
              <a:latin typeface="Tahoma" pitchFamily="34" charset="0"/>
            </a:endParaRPr>
          </a:p>
          <a:p>
            <a:pPr marL="233363" indent="-233363" eaLnBrk="0" hangingPunct="0">
              <a:buClr>
                <a:schemeClr val="hlink"/>
              </a:buClr>
              <a:buFont typeface="Wingdings" pitchFamily="2" charset="2"/>
              <a:buChar char="§"/>
            </a:pPr>
            <a:r>
              <a:rPr lang="en-US" sz="2600" dirty="0">
                <a:latin typeface="Tahoma" pitchFamily="34" charset="0"/>
              </a:rPr>
              <a:t>Moving from one extreme point to an adjacent one occurs by switching one of the basic variables with one of the </a:t>
            </a:r>
            <a:r>
              <a:rPr lang="en-US" sz="2600" dirty="0" err="1">
                <a:latin typeface="Tahoma" pitchFamily="34" charset="0"/>
              </a:rPr>
              <a:t>nonbasic</a:t>
            </a:r>
            <a:r>
              <a:rPr lang="en-US" sz="2600" dirty="0">
                <a:latin typeface="Tahoma" pitchFamily="34" charset="0"/>
              </a:rPr>
              <a:t> variables to create a new basic feasible solution (for an adjacent extreme point). </a:t>
            </a:r>
          </a:p>
          <a:p>
            <a:pPr marL="233363" indent="-233363" eaLnBrk="0" hangingPunct="0">
              <a:buClr>
                <a:schemeClr val="hlink"/>
              </a:buClr>
              <a:buFont typeface="Wingdings" pitchFamily="2" charset="2"/>
              <a:buChar char="§"/>
            </a:pPr>
            <a:endParaRPr lang="en-US" sz="2600" dirty="0">
              <a:latin typeface="Tahoma" pitchFamily="34" charset="0"/>
            </a:endParaRPr>
          </a:p>
          <a:p>
            <a:pPr marL="233363" indent="-233363" eaLnBrk="0" hangingPunct="0">
              <a:buClr>
                <a:schemeClr val="hlink"/>
              </a:buClr>
              <a:buFont typeface="Wingdings" pitchFamily="2" charset="2"/>
              <a:buChar char="§"/>
            </a:pPr>
            <a:r>
              <a:rPr lang="en-US" sz="2600" dirty="0">
                <a:latin typeface="Tahoma" pitchFamily="34" charset="0"/>
              </a:rPr>
              <a:t>When no adjacent extreme point has a better objective function value, stop -- the current extreme point is optimal.</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3379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0" end="0"/>
                                            </p:txEl>
                                          </p:spTgt>
                                        </p:tgtEl>
                                        <p:attrNameLst>
                                          <p:attrName>ppt_c</p:attrName>
                                        </p:attrNameLst>
                                      </p:cBhvr>
                                      <p:to>
                                        <a:srgbClr val="C0C0C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3795">
                                            <p:txEl>
                                              <p:pRg st="2" end="2"/>
                                            </p:txEl>
                                          </p:spTgt>
                                        </p:tgtEl>
                                        <p:attrNameLst>
                                          <p:attrName>ppt_c</p:attrName>
                                        </p:attrNameLst>
                                      </p:cBhvr>
                                      <p:to>
                                        <a:srgbClr val="C0C0C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5800" y="2667000"/>
            <a:ext cx="7772400" cy="1219200"/>
          </a:xfrm>
          <a:noFill/>
          <a:ln/>
        </p:spPr>
        <p:txBody>
          <a:bodyPr lIns="92075" tIns="46038" rIns="92075" bIns="46038"/>
          <a:lstStyle/>
          <a:p>
            <a:r>
              <a:rPr lang="en-US">
                <a:solidFill>
                  <a:schemeClr val="hlink"/>
                </a:solidFill>
              </a:rPr>
              <a:t>End of Chapter 4</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6725" y="1752600"/>
            <a:ext cx="8001000" cy="1905000"/>
          </a:xfrm>
          <a:noFill/>
        </p:spPr>
        <p:txBody>
          <a:bodyPr lIns="92075" tIns="46038" rIns="92075" bIns="46038"/>
          <a:lstStyle/>
          <a:p>
            <a:pPr eaLnBrk="1" hangingPunct="1"/>
            <a:r>
              <a:rPr lang="en-US" sz="4000" dirty="0">
                <a:solidFill>
                  <a:schemeClr val="tx1"/>
                </a:solidFill>
              </a:rPr>
              <a:t>The Analytic Solver Platform software featured in this book is provided by Frontline Systems.</a:t>
            </a:r>
            <a:br>
              <a:rPr lang="en-US" sz="4000" dirty="0">
                <a:solidFill>
                  <a:schemeClr val="tx1"/>
                </a:solidFill>
              </a:rPr>
            </a:br>
            <a:br>
              <a:rPr lang="en-US" sz="4000" dirty="0">
                <a:solidFill>
                  <a:schemeClr val="tx1"/>
                </a:solidFill>
              </a:rPr>
            </a:br>
            <a:r>
              <a:rPr lang="en-US" sz="4000" dirty="0">
                <a:solidFill>
                  <a:schemeClr val="tx1"/>
                </a:solidFill>
              </a:rPr>
              <a:t>http://www.solver.com</a:t>
            </a:r>
            <a:br>
              <a:rPr lang="en-US" sz="4000" dirty="0">
                <a:solidFill>
                  <a:schemeClr val="tx1"/>
                </a:solidFill>
              </a:rPr>
            </a:br>
            <a:endParaRPr lang="en-US" sz="4000" dirty="0">
              <a:solidFill>
                <a:schemeClr val="tx1"/>
              </a:solidFill>
            </a:endParaRPr>
          </a:p>
        </p:txBody>
      </p:sp>
      <p:pic>
        <p:nvPicPr>
          <p:cNvPr id="2051" name="Picture 2" descr="C:\Users\BIT\Documents\My Dropbox\SMDA\frontline-system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9625" y="4495800"/>
            <a:ext cx="22352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380243262"/>
      </p:ext>
    </p:extLst>
  </p:cSld>
  <p:clrMapOvr>
    <a:masterClrMapping/>
  </p:clrMapOvr>
</p:sld>
</file>

<file path=ppt/theme/theme1.xml><?xml version="1.0" encoding="utf-8"?>
<a:theme xmlns:a="http://schemas.openxmlformats.org/drawingml/2006/main" name="SMDA5">
  <a:themeElements>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SMDA5">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SMDA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MDA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MDA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MDA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MDA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MDA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MDA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MDA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MDA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MDA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MDA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SMDA5</Template>
  <TotalTime>1713</TotalTime>
  <Words>3376</Words>
  <Application>Microsoft Office PowerPoint</Application>
  <PresentationFormat>On-screen Show (4:3)</PresentationFormat>
  <Paragraphs>289</Paragraphs>
  <Slides>36</Slides>
  <Notes>36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2" baseType="lpstr">
      <vt:lpstr>Arial</vt:lpstr>
      <vt:lpstr>Tahoma</vt:lpstr>
      <vt:lpstr>Times New Roman</vt:lpstr>
      <vt:lpstr>Wingdings</vt:lpstr>
      <vt:lpstr>SMDA5</vt:lpstr>
      <vt:lpstr>Equation</vt:lpstr>
      <vt:lpstr>Spreadsheet Modeling  &amp; Decision Analysis</vt:lpstr>
      <vt:lpstr>Sensitivity Analysis and  the Simplex Method</vt:lpstr>
      <vt:lpstr>Introduction</vt:lpstr>
      <vt:lpstr>General Form of a  Linear Programming (LP) Problem</vt:lpstr>
      <vt:lpstr>Approaches to Sensitivity Analysis</vt:lpstr>
      <vt:lpstr>Solver’s Sensitivity Report</vt:lpstr>
      <vt:lpstr>Software Note</vt:lpstr>
      <vt:lpstr>Once Again, We’ll Use The  Blue Ridge Hot Tubs Example...</vt:lpstr>
      <vt:lpstr>The Answer Report</vt:lpstr>
      <vt:lpstr>The Sensitivity Report</vt:lpstr>
      <vt:lpstr>PowerPoint Presentation</vt:lpstr>
      <vt:lpstr>PowerPoint Presentation</vt:lpstr>
      <vt:lpstr>Changes in  Objective Function Coefficients</vt:lpstr>
      <vt:lpstr>Alternate Optimal Solutions</vt:lpstr>
      <vt:lpstr>Changes in Constraint RHS Values</vt:lpstr>
      <vt:lpstr>Comments About Changes  in Constraint RHS Values</vt:lpstr>
      <vt:lpstr>PowerPoint Presentation</vt:lpstr>
      <vt:lpstr>PowerPoint Presentation</vt:lpstr>
      <vt:lpstr>Other Uses of Shadow Prices</vt:lpstr>
      <vt:lpstr>The Meaning of Reduced Costs</vt:lpstr>
      <vt:lpstr>Key Points - I</vt:lpstr>
      <vt:lpstr>Key Points-II</vt:lpstr>
      <vt:lpstr>Analyzing Changes in  Constraint Coefficients</vt:lpstr>
      <vt:lpstr>A Warning About Degeneracy</vt:lpstr>
      <vt:lpstr>PowerPoint Presentation</vt:lpstr>
      <vt:lpstr>Ad Hoc Sensitivity Analysis</vt:lpstr>
      <vt:lpstr>Spider Tables &amp; Plots</vt:lpstr>
      <vt:lpstr>Spider Tables &amp; Plots</vt:lpstr>
      <vt:lpstr>Solver Tables</vt:lpstr>
      <vt:lpstr>The Simplex Method </vt:lpstr>
      <vt:lpstr>For Our Example Problem...</vt:lpstr>
      <vt:lpstr>Possible Basic Feasible Solutions</vt:lpstr>
      <vt:lpstr>PowerPoint Presentation</vt:lpstr>
      <vt:lpstr>Simplex Method Summary </vt:lpstr>
      <vt:lpstr>End of Chapter 4</vt:lpstr>
      <vt:lpstr>The Analytic Solver Platform software featured in this book is provided by Frontline Systems.  http://www.solver.com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Spreadsheet Modeling &amp; Decision Analysis:</dc:title>
  <dc:creator>Cliff Ragsdale</dc:creator>
  <cp:lastModifiedBy>Arie Harel</cp:lastModifiedBy>
  <cp:revision>110</cp:revision>
  <dcterms:created xsi:type="dcterms:W3CDTF">1995-06-17T23:31:02Z</dcterms:created>
  <dcterms:modified xsi:type="dcterms:W3CDTF">2020-11-08T22:16:10Z</dcterms:modified>
</cp:coreProperties>
</file>