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33"/>
  </p:notesMasterIdLst>
  <p:handoutMasterIdLst>
    <p:handoutMasterId r:id="rId34"/>
  </p:handoutMasterIdLst>
  <p:sldIdLst>
    <p:sldId id="302" r:id="rId2"/>
    <p:sldId id="256" r:id="rId3"/>
    <p:sldId id="279" r:id="rId4"/>
    <p:sldId id="280" r:id="rId5"/>
    <p:sldId id="281" r:id="rId6"/>
    <p:sldId id="282" r:id="rId7"/>
    <p:sldId id="283" r:id="rId8"/>
    <p:sldId id="288" r:id="rId9"/>
    <p:sldId id="285" r:id="rId10"/>
    <p:sldId id="286" r:id="rId11"/>
    <p:sldId id="287" r:id="rId12"/>
    <p:sldId id="284" r:id="rId13"/>
    <p:sldId id="289" r:id="rId14"/>
    <p:sldId id="290" r:id="rId15"/>
    <p:sldId id="273" r:id="rId16"/>
    <p:sldId id="274" r:id="rId17"/>
    <p:sldId id="275" r:id="rId18"/>
    <p:sldId id="276" r:id="rId19"/>
    <p:sldId id="277" r:id="rId20"/>
    <p:sldId id="291" r:id="rId21"/>
    <p:sldId id="293" r:id="rId22"/>
    <p:sldId id="294" r:id="rId23"/>
    <p:sldId id="295" r:id="rId24"/>
    <p:sldId id="301" r:id="rId25"/>
    <p:sldId id="297" r:id="rId26"/>
    <p:sldId id="296" r:id="rId27"/>
    <p:sldId id="298" r:id="rId28"/>
    <p:sldId id="299" r:id="rId29"/>
    <p:sldId id="300" r:id="rId30"/>
    <p:sldId id="278" r:id="rId31"/>
    <p:sldId id="303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CC0000"/>
    <a:srgbClr val="FFFFFF"/>
    <a:srgbClr val="856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6" autoAdjust="0"/>
    <p:restoredTop sz="94690" autoAdjust="0"/>
  </p:normalViewPr>
  <p:slideViewPr>
    <p:cSldViewPr>
      <p:cViewPr varScale="1">
        <p:scale>
          <a:sx n="98" d="100"/>
          <a:sy n="98" d="100"/>
        </p:scale>
        <p:origin x="7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-1272" y="-9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7341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63BEC103-D7DB-4C08-99A1-0DE44C1896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625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2589D30-6639-4274-9B42-3F9D5FCCD1DC}" type="slidenum">
              <a:rPr lang="en-US"/>
              <a:pPr/>
              <a:t>1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03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15D169-6FB6-4328-A1D4-A3BE5038C1D1}" type="slidenum">
              <a:rPr lang="en-US"/>
              <a:pPr/>
              <a:t>2</a:t>
            </a:fld>
            <a:endParaRPr 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68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20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81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94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24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2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03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15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13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93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20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10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44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11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18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03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181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365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596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98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923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979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276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298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133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081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75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284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C103-D7DB-4C08-99A1-0DE44C1896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184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E2A59D82-6C7D-43DD-9107-1F6E801B1F3A}" type="slidenum">
              <a:rPr lang="en-US"/>
              <a:pPr/>
              <a:t>31</a:t>
            </a:fld>
            <a:endParaRPr 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37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2011 </a:t>
            </a:r>
            <a:r>
              <a:rPr lang="en-US" dirty="0" err="1"/>
              <a:t>Cengage</a:t>
            </a:r>
            <a:r>
              <a:rPr lang="en-US" dirty="0"/>
              <a:t>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5890C9-2A57-4E33-8DEE-FDFADEECEB3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6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17C42-E22E-4BBC-AE5F-2C6DED5E09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9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7EF997-12D1-4796-9A95-E77E310274E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8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D64902-ED15-41FD-9D17-EAFA1745B7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0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482A3-8F65-41BF-8C93-0B1101022E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7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0391C-562F-492C-9183-49772828DB7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6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3A54A-C2F6-4642-87B7-8E210B48B4A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9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31B21-2D0B-4135-8710-41A0396278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55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B4173C-0CF4-46FD-B472-2A4D533626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7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DC4CE9-B1EE-47F2-8491-BA19EFDFB9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9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2011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9A3B3-2B54-4570-9D14-9D9DEC22E7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6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  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5AD6F45-25DD-4D6A-ABA9-E111C1E0D1F5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Fig2-8.xls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i="1">
                <a:solidFill>
                  <a:schemeClr val="hlink"/>
                </a:solidFill>
              </a:rPr>
              <a:t>Spreadsheet Modeling </a:t>
            </a:r>
            <a:br>
              <a:rPr lang="en-US" b="1" i="1">
                <a:solidFill>
                  <a:schemeClr val="hlink"/>
                </a:solidFill>
              </a:rPr>
            </a:br>
            <a:r>
              <a:rPr lang="en-US" b="1" i="1">
                <a:solidFill>
                  <a:schemeClr val="hlink"/>
                </a:solidFill>
              </a:rPr>
              <a:t>&amp; Decision Analysis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A Practical Introduction to Business Analytics </a:t>
            </a:r>
          </a:p>
          <a:p>
            <a:pPr eaLnBrk="1" hangingPunct="1"/>
            <a:r>
              <a:rPr lang="en-US" sz="2400" dirty="0"/>
              <a:t>8</a:t>
            </a:r>
            <a:r>
              <a:rPr lang="en-US" sz="2400" baseline="30000" dirty="0"/>
              <a:t>th</a:t>
            </a:r>
            <a:r>
              <a:rPr lang="en-US" sz="2400" dirty="0"/>
              <a:t> edition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Cliff T. Ragsdale</a:t>
            </a:r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495800"/>
            <a:ext cx="161544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7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057400"/>
            <a:ext cx="7772400" cy="2362200"/>
          </a:xfrm>
          <a:noFill/>
          <a:ln/>
        </p:spPr>
        <p:txBody>
          <a:bodyPr lIns="92075" tIns="46038" rIns="92075" bIns="46038"/>
          <a:lstStyle/>
          <a:p>
            <a:r>
              <a:rPr lang="en-US" dirty="0">
                <a:solidFill>
                  <a:schemeClr val="tx1"/>
                </a:solidFill>
              </a:rPr>
              <a:t>Introduction to Optimization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and Linear Programming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762000" y="228600"/>
            <a:ext cx="7772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 b="1" i="1">
                <a:solidFill>
                  <a:schemeClr val="hlink"/>
                </a:solidFill>
                <a:latin typeface="Tahoma" pitchFamily="34" charset="0"/>
              </a:rPr>
              <a:t>Chapter 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Introduction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dirty="0"/>
              <a:t>We all face decision about how to use limited resources such as:</a:t>
            </a:r>
          </a:p>
          <a:p>
            <a:pPr marL="1362075" lvl="1"/>
            <a:r>
              <a:rPr lang="en-US" dirty="0"/>
              <a:t>Oil in the earth</a:t>
            </a:r>
          </a:p>
          <a:p>
            <a:pPr marL="1362075" lvl="1"/>
            <a:r>
              <a:rPr lang="en-US" dirty="0"/>
              <a:t>Land for dumps</a:t>
            </a:r>
          </a:p>
          <a:p>
            <a:pPr marL="1362075" lvl="1"/>
            <a:r>
              <a:rPr lang="en-US" dirty="0"/>
              <a:t>Time</a:t>
            </a:r>
          </a:p>
          <a:p>
            <a:pPr marL="1362075" lvl="1"/>
            <a:r>
              <a:rPr lang="en-US" dirty="0"/>
              <a:t>Money</a:t>
            </a:r>
          </a:p>
          <a:p>
            <a:pPr marL="1362075" lvl="1"/>
            <a:r>
              <a:rPr lang="en-US" dirty="0"/>
              <a:t>Workers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Mathematical Programming...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dirty="0"/>
              <a:t>MP is a field of management science that finds the optimal, or most efficient, way of using limited resources to achieve the objectives of an individual of a business.</a:t>
            </a:r>
          </a:p>
          <a:p>
            <a:r>
              <a:rPr lang="en-US" i="1" dirty="0"/>
              <a:t>a.k.a.</a:t>
            </a:r>
            <a:r>
              <a:rPr lang="en-US" dirty="0"/>
              <a:t> (also known as) Optimization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85800"/>
            <a:ext cx="7772400" cy="8382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Applications of Optimization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8163" y="1765300"/>
            <a:ext cx="5405437" cy="2614613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Determining Product Mix</a:t>
            </a:r>
          </a:p>
          <a:p>
            <a:r>
              <a:rPr lang="en-US" dirty="0"/>
              <a:t>Manufacturing</a:t>
            </a:r>
          </a:p>
          <a:p>
            <a:r>
              <a:rPr lang="en-US" dirty="0"/>
              <a:t>Routing and Logistics</a:t>
            </a:r>
          </a:p>
          <a:p>
            <a:r>
              <a:rPr lang="en-US" dirty="0"/>
              <a:t>Financial Planning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990600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Characteristics of </a:t>
            </a:r>
            <a:br>
              <a:rPr lang="en-US" sz="4000" i="1">
                <a:solidFill>
                  <a:schemeClr val="hlink"/>
                </a:solidFill>
              </a:rPr>
            </a:br>
            <a:r>
              <a:rPr lang="en-US" sz="4000" i="1">
                <a:solidFill>
                  <a:schemeClr val="hlink"/>
                </a:solidFill>
              </a:rPr>
              <a:t>Optimization Problems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2743200" cy="1882775"/>
          </a:xfrm>
          <a:noFill/>
          <a:ln/>
        </p:spPr>
        <p:txBody>
          <a:bodyPr lIns="92075" tIns="46038" rIns="92075" bIns="46038"/>
          <a:lstStyle/>
          <a:p>
            <a:r>
              <a:rPr lang="en-US" dirty="0"/>
              <a:t>Decisions</a:t>
            </a:r>
          </a:p>
          <a:p>
            <a:r>
              <a:rPr lang="en-US" dirty="0"/>
              <a:t>Constraints</a:t>
            </a:r>
          </a:p>
          <a:p>
            <a:r>
              <a:rPr lang="en-US" dirty="0"/>
              <a:t>Objectives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763000" cy="10668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3600" i="1">
                <a:solidFill>
                  <a:schemeClr val="hlink"/>
                </a:solidFill>
              </a:rPr>
              <a:t>General Form of an Optimization Problem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447800"/>
            <a:ext cx="7429500" cy="4914900"/>
          </a:xfrm>
          <a:noFill/>
          <a:ln/>
        </p:spPr>
        <p:txBody>
          <a:bodyPr lIns="92075" tIns="46038" rIns="92075" bIns="46038"/>
          <a:lstStyle/>
          <a:p>
            <a:pPr marL="0" indent="0">
              <a:buFont typeface="Wingdings" pitchFamily="2" charset="2"/>
              <a:buNone/>
            </a:pPr>
            <a:r>
              <a:rPr lang="en-US" dirty="0"/>
              <a:t>MAX (or MIN): 	</a:t>
            </a:r>
            <a:r>
              <a:rPr lang="en-US" i="1" dirty="0">
                <a:latin typeface="Times New Roman" pitchFamily="18" charset="0"/>
              </a:rPr>
              <a:t>f</a:t>
            </a:r>
            <a:r>
              <a:rPr lang="en-US" i="1" baseline="-25000" dirty="0">
                <a:latin typeface="Times New Roman" pitchFamily="18" charset="0"/>
              </a:rPr>
              <a:t>0</a:t>
            </a: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i="1" baseline="-25000" dirty="0" err="1">
                <a:latin typeface="Times New Roman" pitchFamily="18" charset="0"/>
              </a:rPr>
              <a:t>n</a:t>
            </a:r>
            <a:r>
              <a:rPr lang="en-US" dirty="0"/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Subject to:	</a:t>
            </a:r>
            <a:r>
              <a:rPr lang="en-US" i="1" dirty="0">
                <a:latin typeface="Times New Roman" pitchFamily="18" charset="0"/>
              </a:rPr>
              <a:t>f</a:t>
            </a:r>
            <a:r>
              <a:rPr lang="en-US" i="1" baseline="-25000" dirty="0">
                <a:latin typeface="Times New Roman" pitchFamily="18" charset="0"/>
              </a:rPr>
              <a:t>1</a:t>
            </a: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i="1" baseline="-25000" dirty="0" err="1">
                <a:latin typeface="Times New Roman" pitchFamily="18" charset="0"/>
              </a:rPr>
              <a:t>n</a:t>
            </a:r>
            <a:r>
              <a:rPr lang="en-US" dirty="0"/>
              <a:t>)&lt;=b</a:t>
            </a:r>
            <a:r>
              <a:rPr lang="en-US" baseline="-25000" dirty="0"/>
              <a:t>1</a:t>
            </a: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					:</a:t>
            </a:r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			</a:t>
            </a:r>
            <a:r>
              <a:rPr lang="en-US" i="1" dirty="0" err="1">
                <a:latin typeface="Times New Roman" pitchFamily="18" charset="0"/>
              </a:rPr>
              <a:t>f</a:t>
            </a:r>
            <a:r>
              <a:rPr lang="en-US" i="1" baseline="-25000" dirty="0" err="1">
                <a:latin typeface="Times New Roman" pitchFamily="18" charset="0"/>
              </a:rPr>
              <a:t>k</a:t>
            </a: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i="1" baseline="-25000" dirty="0" err="1">
                <a:latin typeface="Times New Roman" pitchFamily="18" charset="0"/>
              </a:rPr>
              <a:t>n</a:t>
            </a:r>
            <a:r>
              <a:rPr lang="en-US" dirty="0"/>
              <a:t>)&gt;=b</a:t>
            </a:r>
            <a:r>
              <a:rPr lang="en-US" i="1" baseline="-25000" dirty="0">
                <a:latin typeface="Times New Roman" pitchFamily="18" charset="0"/>
              </a:rPr>
              <a:t>k</a:t>
            </a: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					:</a:t>
            </a:r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			</a:t>
            </a:r>
            <a:r>
              <a:rPr lang="en-US" i="1" dirty="0" err="1">
                <a:latin typeface="Times New Roman" pitchFamily="18" charset="0"/>
              </a:rPr>
              <a:t>f</a:t>
            </a:r>
            <a:r>
              <a:rPr lang="en-US" i="1" baseline="-25000" dirty="0" err="1">
                <a:latin typeface="Times New Roman" pitchFamily="18" charset="0"/>
              </a:rPr>
              <a:t>m</a:t>
            </a:r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i="1" baseline="-25000" dirty="0" err="1">
                <a:latin typeface="Times New Roman" pitchFamily="18" charset="0"/>
              </a:rPr>
              <a:t>n</a:t>
            </a:r>
            <a:r>
              <a:rPr lang="en-US" dirty="0"/>
              <a:t>)=b</a:t>
            </a:r>
            <a:r>
              <a:rPr lang="en-US" i="1" baseline="-25000" dirty="0">
                <a:latin typeface="Times New Roman" pitchFamily="18" charset="0"/>
              </a:rPr>
              <a:t>m</a:t>
            </a:r>
          </a:p>
          <a:p>
            <a:pPr marL="0" indent="0">
              <a:buFont typeface="Wingdings" pitchFamily="2" charset="2"/>
              <a:buNone/>
            </a:pPr>
            <a:endParaRPr lang="en-US" sz="2400" dirty="0">
              <a:solidFill>
                <a:schemeClr val="tx2"/>
              </a:solidFill>
            </a:endParaRPr>
          </a:p>
          <a:p>
            <a:pPr marL="0" indent="0">
              <a:buFont typeface="Wingdings" pitchFamily="2" charset="2"/>
              <a:buNone/>
            </a:pPr>
            <a:r>
              <a:rPr lang="en-US" sz="2400" dirty="0"/>
              <a:t>Note: If all the functions in an optimization are linear, the problem is a Linear Programming (LP) problem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543800" cy="121920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Linear Programming (LP) Problems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9900" y="1714500"/>
            <a:ext cx="7848600" cy="4148138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20000"/>
              </a:lnSpc>
              <a:buFont typeface="Wingdings" pitchFamily="2" charset="2"/>
              <a:buNone/>
              <a:tabLst>
                <a:tab pos="2339975" algn="l"/>
              </a:tabLst>
            </a:pPr>
            <a:r>
              <a:rPr lang="en-US" sz="2800" dirty="0"/>
              <a:t>MAX </a:t>
            </a:r>
            <a:r>
              <a:rPr lang="en-US" sz="2400" dirty="0"/>
              <a:t>(or MIN):</a:t>
            </a:r>
            <a:r>
              <a:rPr lang="en-US" sz="2800" dirty="0"/>
              <a:t>	c</a:t>
            </a:r>
            <a:r>
              <a:rPr lang="en-US" sz="2800" baseline="-25000" dirty="0"/>
              <a:t>1</a:t>
            </a:r>
            <a:r>
              <a:rPr lang="en-US" sz="2800" dirty="0"/>
              <a:t>X</a:t>
            </a:r>
            <a:r>
              <a:rPr lang="en-US" sz="2800" baseline="-25000" dirty="0"/>
              <a:t>1</a:t>
            </a:r>
            <a:r>
              <a:rPr lang="en-US" sz="2800" dirty="0"/>
              <a:t> + c</a:t>
            </a:r>
            <a:r>
              <a:rPr lang="en-US" sz="2800" baseline="-25000" dirty="0"/>
              <a:t>2</a:t>
            </a:r>
            <a:r>
              <a:rPr lang="en-US" sz="2800" dirty="0"/>
              <a:t>X</a:t>
            </a:r>
            <a:r>
              <a:rPr lang="en-US" sz="2800" baseline="-25000" dirty="0"/>
              <a:t>2</a:t>
            </a:r>
            <a:r>
              <a:rPr lang="en-US" sz="2800" dirty="0"/>
              <a:t> + … + </a:t>
            </a:r>
            <a:r>
              <a:rPr lang="en-US" sz="2800" dirty="0" err="1"/>
              <a:t>c</a:t>
            </a:r>
            <a:r>
              <a:rPr lang="en-US" sz="2800" i="1" baseline="-25000" dirty="0" err="1">
                <a:latin typeface="Times New Roman" pitchFamily="18" charset="0"/>
              </a:rPr>
              <a:t>n</a:t>
            </a:r>
            <a:r>
              <a:rPr lang="en-US" sz="2800" dirty="0" err="1"/>
              <a:t>X</a:t>
            </a:r>
            <a:r>
              <a:rPr lang="en-US" sz="2800" i="1" baseline="-25000" dirty="0" err="1">
                <a:latin typeface="Times New Roman" pitchFamily="18" charset="0"/>
              </a:rPr>
              <a:t>n</a:t>
            </a:r>
            <a:endParaRPr lang="en-US" sz="2800" baseline="-25000" dirty="0"/>
          </a:p>
          <a:p>
            <a:pPr>
              <a:lnSpc>
                <a:spcPct val="120000"/>
              </a:lnSpc>
              <a:buFont typeface="Wingdings" pitchFamily="2" charset="2"/>
              <a:buNone/>
              <a:tabLst>
                <a:tab pos="2339975" algn="l"/>
              </a:tabLst>
            </a:pPr>
            <a:r>
              <a:rPr lang="en-US" sz="2800" dirty="0"/>
              <a:t>Subject to:	a</a:t>
            </a:r>
            <a:r>
              <a:rPr lang="en-US" sz="2800" baseline="-25000" dirty="0"/>
              <a:t>11</a:t>
            </a:r>
            <a:r>
              <a:rPr lang="en-US" sz="2800" dirty="0"/>
              <a:t>X</a:t>
            </a:r>
            <a:r>
              <a:rPr lang="en-US" sz="2800" baseline="-25000" dirty="0"/>
              <a:t>1</a:t>
            </a:r>
            <a:r>
              <a:rPr lang="en-US" sz="2800" dirty="0"/>
              <a:t> + a</a:t>
            </a:r>
            <a:r>
              <a:rPr lang="en-US" sz="2800" baseline="-25000" dirty="0"/>
              <a:t>12</a:t>
            </a:r>
            <a:r>
              <a:rPr lang="en-US" sz="2800" dirty="0"/>
              <a:t>X</a:t>
            </a:r>
            <a:r>
              <a:rPr lang="en-US" sz="2800" baseline="-25000" dirty="0"/>
              <a:t>2</a:t>
            </a:r>
            <a:r>
              <a:rPr lang="en-US" sz="2800" dirty="0"/>
              <a:t> + … + a</a:t>
            </a:r>
            <a:r>
              <a:rPr lang="en-US" sz="2800" baseline="-25000" dirty="0"/>
              <a:t>1</a:t>
            </a:r>
            <a:r>
              <a:rPr lang="en-US" sz="2800" i="1" baseline="-25000" dirty="0">
                <a:latin typeface="Times New Roman" pitchFamily="18" charset="0"/>
              </a:rPr>
              <a:t>n</a:t>
            </a:r>
            <a:r>
              <a:rPr lang="en-US" sz="2800" dirty="0"/>
              <a:t>X</a:t>
            </a:r>
            <a:r>
              <a:rPr lang="en-US" sz="2800" i="1" baseline="-25000" dirty="0">
                <a:latin typeface="Times New Roman" pitchFamily="18" charset="0"/>
              </a:rPr>
              <a:t>n</a:t>
            </a:r>
            <a:r>
              <a:rPr lang="en-US" sz="2800" dirty="0"/>
              <a:t> &lt;= b</a:t>
            </a:r>
            <a:r>
              <a:rPr lang="en-US" sz="2800" baseline="-25000" dirty="0"/>
              <a:t>1</a:t>
            </a:r>
            <a:endParaRPr lang="en-US" sz="2800" dirty="0"/>
          </a:p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2339975" algn="l"/>
              </a:tabLst>
            </a:pPr>
            <a:r>
              <a:rPr lang="en-US" sz="2800" dirty="0"/>
              <a:t>					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2339975" algn="l"/>
              </a:tabLst>
            </a:pPr>
            <a:r>
              <a:rPr lang="en-US" sz="2800" dirty="0"/>
              <a:t>		a</a:t>
            </a:r>
            <a:r>
              <a:rPr lang="en-US" sz="2800" i="1" baseline="-25000" dirty="0">
                <a:latin typeface="Times New Roman" pitchFamily="18" charset="0"/>
              </a:rPr>
              <a:t>k</a:t>
            </a:r>
            <a:r>
              <a:rPr lang="en-US" sz="2800" baseline="-25000" dirty="0"/>
              <a:t>1</a:t>
            </a:r>
            <a:r>
              <a:rPr lang="en-US" sz="2800" dirty="0"/>
              <a:t>X</a:t>
            </a:r>
            <a:r>
              <a:rPr lang="en-US" sz="2800" baseline="-25000" dirty="0"/>
              <a:t>1</a:t>
            </a:r>
            <a:r>
              <a:rPr lang="en-US" sz="2800" dirty="0"/>
              <a:t> + a</a:t>
            </a:r>
            <a:r>
              <a:rPr lang="en-US" sz="2800" i="1" baseline="-25000" dirty="0">
                <a:latin typeface="Times New Roman" pitchFamily="18" charset="0"/>
              </a:rPr>
              <a:t>k</a:t>
            </a:r>
            <a:r>
              <a:rPr lang="en-US" sz="2800" baseline="-25000" dirty="0"/>
              <a:t>2</a:t>
            </a:r>
            <a:r>
              <a:rPr lang="en-US" sz="2800" dirty="0"/>
              <a:t>X</a:t>
            </a:r>
            <a:r>
              <a:rPr lang="en-US" sz="2800" baseline="-25000" dirty="0"/>
              <a:t>2</a:t>
            </a:r>
            <a:r>
              <a:rPr lang="en-US" sz="2800" dirty="0"/>
              <a:t> + … + </a:t>
            </a:r>
            <a:r>
              <a:rPr lang="en-US" sz="2800" dirty="0" err="1"/>
              <a:t>a</a:t>
            </a:r>
            <a:r>
              <a:rPr lang="en-US" sz="2800" i="1" baseline="-25000" dirty="0" err="1">
                <a:latin typeface="Times New Roman" pitchFamily="18" charset="0"/>
              </a:rPr>
              <a:t>kn</a:t>
            </a:r>
            <a:r>
              <a:rPr lang="en-US" sz="2800" dirty="0" err="1"/>
              <a:t>X</a:t>
            </a:r>
            <a:r>
              <a:rPr lang="en-US" sz="2800" i="1" baseline="-25000" dirty="0" err="1">
                <a:latin typeface="Times New Roman" pitchFamily="18" charset="0"/>
              </a:rPr>
              <a:t>n</a:t>
            </a:r>
            <a:r>
              <a:rPr lang="en-US" sz="2800" dirty="0"/>
              <a:t> &gt;=b</a:t>
            </a:r>
            <a:r>
              <a:rPr lang="en-US" sz="2800" i="1" baseline="-25000" dirty="0">
                <a:latin typeface="Times New Roman" pitchFamily="18" charset="0"/>
              </a:rPr>
              <a:t>k</a:t>
            </a:r>
            <a:r>
              <a:rPr lang="en-US" sz="2800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2339975" algn="l"/>
              </a:tabLst>
            </a:pPr>
            <a:r>
              <a:rPr lang="en-US" sz="2800" dirty="0"/>
              <a:t>					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2339975" algn="l"/>
              </a:tabLst>
            </a:pPr>
            <a:r>
              <a:rPr lang="en-US" sz="2800" dirty="0"/>
              <a:t>		a</a:t>
            </a:r>
            <a:r>
              <a:rPr lang="en-US" sz="2800" i="1" baseline="-25000" dirty="0">
                <a:latin typeface="Times New Roman" pitchFamily="18" charset="0"/>
              </a:rPr>
              <a:t>m</a:t>
            </a:r>
            <a:r>
              <a:rPr lang="en-US" sz="2800" baseline="-25000" dirty="0"/>
              <a:t>1</a:t>
            </a:r>
            <a:r>
              <a:rPr lang="en-US" sz="2800" dirty="0"/>
              <a:t>X</a:t>
            </a:r>
            <a:r>
              <a:rPr lang="en-US" sz="2800" baseline="-25000" dirty="0"/>
              <a:t>1</a:t>
            </a:r>
            <a:r>
              <a:rPr lang="en-US" sz="2800" dirty="0"/>
              <a:t> + a</a:t>
            </a:r>
            <a:r>
              <a:rPr lang="en-US" sz="2800" i="1" baseline="-25000" dirty="0">
                <a:latin typeface="Times New Roman" pitchFamily="18" charset="0"/>
              </a:rPr>
              <a:t>m</a:t>
            </a:r>
            <a:r>
              <a:rPr lang="en-US" sz="2800" baseline="-25000" dirty="0"/>
              <a:t>2</a:t>
            </a:r>
            <a:r>
              <a:rPr lang="en-US" sz="2800" dirty="0"/>
              <a:t>X</a:t>
            </a:r>
            <a:r>
              <a:rPr lang="en-US" sz="2800" baseline="-25000" dirty="0"/>
              <a:t>2</a:t>
            </a:r>
            <a:r>
              <a:rPr lang="en-US" sz="2800" dirty="0"/>
              <a:t> + … + </a:t>
            </a:r>
            <a:r>
              <a:rPr lang="en-US" sz="2800" dirty="0" err="1"/>
              <a:t>a</a:t>
            </a:r>
            <a:r>
              <a:rPr lang="en-US" sz="2800" i="1" baseline="-25000" dirty="0" err="1">
                <a:latin typeface="Times New Roman" pitchFamily="18" charset="0"/>
              </a:rPr>
              <a:t>mn</a:t>
            </a:r>
            <a:r>
              <a:rPr lang="en-US" sz="2800" dirty="0" err="1"/>
              <a:t>X</a:t>
            </a:r>
            <a:r>
              <a:rPr lang="en-US" sz="2800" i="1" baseline="-25000" dirty="0" err="1">
                <a:latin typeface="Times New Roman" pitchFamily="18" charset="0"/>
              </a:rPr>
              <a:t>n</a:t>
            </a:r>
            <a:r>
              <a:rPr lang="en-US" sz="2800" dirty="0"/>
              <a:t> = b</a:t>
            </a:r>
            <a:r>
              <a:rPr lang="en-US" sz="2800" i="1" baseline="-25000" dirty="0">
                <a:latin typeface="Times New Roman" pitchFamily="18" charset="0"/>
              </a:rPr>
              <a:t>m</a:t>
            </a:r>
            <a:r>
              <a:rPr lang="en-US" sz="2800" dirty="0"/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85812"/>
          </a:xfrm>
          <a:noFill/>
          <a:ln/>
        </p:spPr>
        <p:txBody>
          <a:bodyPr lIns="92075" tIns="46038" rIns="92075" bIns="46038"/>
          <a:lstStyle/>
          <a:p>
            <a:r>
              <a:rPr lang="en-US" sz="4000" i="1">
                <a:solidFill>
                  <a:schemeClr val="hlink"/>
                </a:solidFill>
              </a:rPr>
              <a:t>An Example LP Problem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609600" y="1644650"/>
            <a:ext cx="7696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2800" dirty="0"/>
              <a:t>Blue Ridge Hot Tubs produces two types of hot tubs: Aqua-Spas &amp; Hydro-</a:t>
            </a:r>
            <a:r>
              <a:rPr lang="en-US" sz="2800" dirty="0" err="1"/>
              <a:t>Luxes</a:t>
            </a:r>
            <a:r>
              <a:rPr lang="en-US" sz="2800" dirty="0"/>
              <a:t>.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763588" y="5302250"/>
            <a:ext cx="71612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800" dirty="0"/>
              <a:t>There are 200 pumps, 1566 hours of labor, and 2880 feet of tubing available.</a:t>
            </a:r>
          </a:p>
        </p:txBody>
      </p:sp>
      <p:grpSp>
        <p:nvGrpSpPr>
          <p:cNvPr id="13319" name="Group 7"/>
          <p:cNvGrpSpPr>
            <a:grpSpLocks/>
          </p:cNvGrpSpPr>
          <p:nvPr/>
        </p:nvGrpSpPr>
        <p:grpSpPr bwMode="auto">
          <a:xfrm>
            <a:off x="720725" y="2673350"/>
            <a:ext cx="7661275" cy="2355850"/>
            <a:chOff x="454" y="1478"/>
            <a:chExt cx="4826" cy="1484"/>
          </a:xfrm>
        </p:grpSpPr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454" y="1478"/>
              <a:ext cx="4826" cy="1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11225" eaLnBrk="0" hangingPunct="0">
                <a:lnSpc>
                  <a:spcPct val="90000"/>
                </a:lnSpc>
                <a:spcBef>
                  <a:spcPct val="20000"/>
                </a:spcBef>
                <a:tabLst>
                  <a:tab pos="2806700" algn="ctr"/>
                  <a:tab pos="5948363" algn="ctr"/>
                </a:tabLst>
              </a:pPr>
              <a:r>
                <a:rPr lang="en-US" sz="2800" dirty="0"/>
                <a:t>	Aqua-Spa	Hydro-Lux</a:t>
              </a:r>
            </a:p>
            <a:p>
              <a:pPr defTabSz="911225" eaLnBrk="0" hangingPunct="0">
                <a:lnSpc>
                  <a:spcPct val="90000"/>
                </a:lnSpc>
                <a:spcBef>
                  <a:spcPct val="20000"/>
                </a:spcBef>
                <a:tabLst>
                  <a:tab pos="2806700" algn="ctr"/>
                  <a:tab pos="5948363" algn="ctr"/>
                </a:tabLst>
              </a:pPr>
              <a:r>
                <a:rPr lang="en-US" sz="2800" dirty="0"/>
                <a:t>Pumps	1	1</a:t>
              </a:r>
            </a:p>
            <a:p>
              <a:pPr defTabSz="911225" eaLnBrk="0" hangingPunct="0">
                <a:lnSpc>
                  <a:spcPct val="90000"/>
                </a:lnSpc>
                <a:spcBef>
                  <a:spcPct val="20000"/>
                </a:spcBef>
                <a:tabLst>
                  <a:tab pos="2806700" algn="ctr"/>
                  <a:tab pos="5948363" algn="ctr"/>
                </a:tabLst>
              </a:pPr>
              <a:r>
                <a:rPr lang="en-US" sz="2800" dirty="0"/>
                <a:t>Labor 	9 hours	6 hours	</a:t>
              </a:r>
            </a:p>
            <a:p>
              <a:pPr defTabSz="911225" eaLnBrk="0" hangingPunct="0">
                <a:lnSpc>
                  <a:spcPct val="90000"/>
                </a:lnSpc>
                <a:spcBef>
                  <a:spcPct val="20000"/>
                </a:spcBef>
                <a:tabLst>
                  <a:tab pos="2806700" algn="ctr"/>
                  <a:tab pos="5948363" algn="ctr"/>
                </a:tabLst>
              </a:pPr>
              <a:r>
                <a:rPr lang="en-US" sz="2800" dirty="0"/>
                <a:t>Tubing	12 feet	16 feet</a:t>
              </a:r>
            </a:p>
            <a:p>
              <a:pPr defTabSz="911225" eaLnBrk="0" hangingPunct="0">
                <a:lnSpc>
                  <a:spcPct val="90000"/>
                </a:lnSpc>
                <a:spcBef>
                  <a:spcPct val="20000"/>
                </a:spcBef>
                <a:tabLst>
                  <a:tab pos="2806700" algn="ctr"/>
                  <a:tab pos="5948363" algn="ctr"/>
                </a:tabLst>
              </a:pPr>
              <a:r>
                <a:rPr lang="en-US" sz="2800" dirty="0"/>
                <a:t>Unit Profit	$350	$300</a:t>
              </a:r>
            </a:p>
          </p:txBody>
        </p:sp>
        <p:sp>
          <p:nvSpPr>
            <p:cNvPr id="13318" name="Line 6"/>
            <p:cNvSpPr>
              <a:spLocks noChangeShapeType="1"/>
            </p:cNvSpPr>
            <p:nvPr/>
          </p:nvSpPr>
          <p:spPr bwMode="auto">
            <a:xfrm>
              <a:off x="481" y="1760"/>
              <a:ext cx="43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725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5 Steps In Formulating LP Models: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5900"/>
            <a:ext cx="7772400" cy="4457700"/>
          </a:xfrm>
          <a:noFill/>
          <a:ln/>
        </p:spPr>
        <p:txBody>
          <a:bodyPr lIns="92075" tIns="46038" rIns="92075" bIns="46038"/>
          <a:lstStyle/>
          <a:p>
            <a:pPr marL="450850" indent="-450850">
              <a:buFont typeface="Wingdings" pitchFamily="2" charset="2"/>
              <a:buNone/>
            </a:pPr>
            <a:r>
              <a:rPr lang="en-US" dirty="0"/>
              <a:t>1. Understand the problem.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 dirty="0"/>
              <a:t>2. Identify the decision variables.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 dirty="0"/>
              <a:t>		</a:t>
            </a:r>
            <a:r>
              <a:rPr lang="en-US" sz="2800" dirty="0">
                <a:solidFill>
                  <a:schemeClr val="tx2"/>
                </a:solidFill>
              </a:rPr>
              <a:t>X</a:t>
            </a:r>
            <a:r>
              <a:rPr lang="en-US" sz="2800" baseline="-25000" dirty="0">
                <a:solidFill>
                  <a:schemeClr val="tx2"/>
                </a:solidFill>
              </a:rPr>
              <a:t>1</a:t>
            </a:r>
            <a:r>
              <a:rPr lang="en-US" sz="2800" dirty="0">
                <a:solidFill>
                  <a:schemeClr val="tx2"/>
                </a:solidFill>
              </a:rPr>
              <a:t>=number of Aqua-Spas to produce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 sz="2800" dirty="0">
                <a:solidFill>
                  <a:schemeClr val="tx2"/>
                </a:solidFill>
              </a:rPr>
              <a:t>		X</a:t>
            </a:r>
            <a:r>
              <a:rPr lang="en-US" sz="2800" baseline="-25000" dirty="0">
                <a:solidFill>
                  <a:schemeClr val="tx2"/>
                </a:solidFill>
              </a:rPr>
              <a:t>2</a:t>
            </a:r>
            <a:r>
              <a:rPr lang="en-US" sz="2800" dirty="0">
                <a:solidFill>
                  <a:schemeClr val="tx2"/>
                </a:solidFill>
              </a:rPr>
              <a:t>=number of Hydro-</a:t>
            </a:r>
            <a:r>
              <a:rPr lang="en-US" sz="2800" dirty="0" err="1">
                <a:solidFill>
                  <a:schemeClr val="tx2"/>
                </a:solidFill>
              </a:rPr>
              <a:t>Luxes</a:t>
            </a:r>
            <a:r>
              <a:rPr lang="en-US" sz="2800" dirty="0">
                <a:solidFill>
                  <a:schemeClr val="tx2"/>
                </a:solidFill>
              </a:rPr>
              <a:t> to produce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 dirty="0"/>
              <a:t>3.	State the objective function as a linear combination of the decision variables.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 sz="2800" dirty="0">
                <a:solidFill>
                  <a:schemeClr val="tx2"/>
                </a:solidFill>
              </a:rPr>
              <a:t>			MAX: 350X</a:t>
            </a:r>
            <a:r>
              <a:rPr lang="en-US" sz="2800" baseline="-25000" dirty="0">
                <a:solidFill>
                  <a:schemeClr val="tx2"/>
                </a:solidFill>
              </a:rPr>
              <a:t>1</a:t>
            </a:r>
            <a:r>
              <a:rPr lang="en-US" sz="2800" dirty="0">
                <a:solidFill>
                  <a:schemeClr val="tx2"/>
                </a:solidFill>
              </a:rPr>
              <a:t> + 300X</a:t>
            </a:r>
            <a:r>
              <a:rPr lang="en-US" sz="2800" baseline="-250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5 Steps In Formulating LP Models</a:t>
            </a:r>
            <a:br>
              <a:rPr lang="en-US" i="1">
                <a:solidFill>
                  <a:schemeClr val="hlink"/>
                </a:solidFill>
              </a:rPr>
            </a:br>
            <a:r>
              <a:rPr lang="en-US" sz="2400" i="1">
                <a:solidFill>
                  <a:schemeClr val="hlink"/>
                </a:solidFill>
              </a:rPr>
              <a:t>(continued)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533900"/>
          </a:xfrm>
          <a:noFill/>
          <a:ln/>
        </p:spPr>
        <p:txBody>
          <a:bodyPr lIns="92075" tIns="46038" rIns="92075" bIns="46038"/>
          <a:lstStyle/>
          <a:p>
            <a:pPr>
              <a:buFont typeface="Wingdings" pitchFamily="2" charset="2"/>
              <a:buNone/>
            </a:pPr>
            <a:r>
              <a:rPr lang="en-US" sz="2800" dirty="0"/>
              <a:t>4. State the constraints as linear combinations of the decision variables.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	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1X</a:t>
            </a:r>
            <a:r>
              <a:rPr lang="en-US" sz="2800" baseline="-25000" dirty="0">
                <a:solidFill>
                  <a:schemeClr val="tx2">
                    <a:lumMod val="90000"/>
                  </a:schemeClr>
                </a:solidFill>
              </a:rPr>
              <a:t>1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+ 1X</a:t>
            </a:r>
            <a:r>
              <a:rPr lang="en-US" sz="2800" baseline="-25000" dirty="0">
                <a:solidFill>
                  <a:schemeClr val="tx2">
                    <a:lumMod val="90000"/>
                  </a:schemeClr>
                </a:solidFill>
              </a:rPr>
              <a:t>2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&lt;= 200	} pumps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			9X</a:t>
            </a:r>
            <a:r>
              <a:rPr lang="en-US" sz="2800" baseline="-25000" dirty="0">
                <a:solidFill>
                  <a:schemeClr val="tx2">
                    <a:lumMod val="90000"/>
                  </a:schemeClr>
                </a:solidFill>
              </a:rPr>
              <a:t>1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+ 6X</a:t>
            </a:r>
            <a:r>
              <a:rPr lang="en-US" sz="2800" baseline="-25000" dirty="0">
                <a:solidFill>
                  <a:schemeClr val="tx2">
                    <a:lumMod val="90000"/>
                  </a:schemeClr>
                </a:solidFill>
              </a:rPr>
              <a:t>2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&lt;= 1566	} labor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			12X</a:t>
            </a:r>
            <a:r>
              <a:rPr lang="en-US" sz="2800" baseline="-25000" dirty="0">
                <a:solidFill>
                  <a:schemeClr val="tx2">
                    <a:lumMod val="90000"/>
                  </a:schemeClr>
                </a:solidFill>
              </a:rPr>
              <a:t>1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+ 16X</a:t>
            </a:r>
            <a:r>
              <a:rPr lang="en-US" sz="2800" baseline="-25000" dirty="0">
                <a:solidFill>
                  <a:schemeClr val="tx2">
                    <a:lumMod val="90000"/>
                  </a:schemeClr>
                </a:solidFill>
              </a:rPr>
              <a:t>2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&lt;= 2880	} tubing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5. Identify any upper or lower bounds on the decision variables.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		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X</a:t>
            </a:r>
            <a:r>
              <a:rPr lang="en-US" sz="2800" baseline="-25000" dirty="0">
                <a:solidFill>
                  <a:schemeClr val="tx2">
                    <a:lumMod val="90000"/>
                  </a:schemeClr>
                </a:solidFill>
              </a:rPr>
              <a:t>1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&gt;= 0</a:t>
            </a:r>
          </a:p>
          <a:p>
            <a:pPr>
              <a:buFont typeface="Wingdings" pitchFamily="2" charset="2"/>
              <a:buNone/>
            </a:pP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				X</a:t>
            </a:r>
            <a:r>
              <a:rPr lang="en-US" sz="2800" baseline="-25000" dirty="0">
                <a:solidFill>
                  <a:schemeClr val="tx2">
                    <a:lumMod val="90000"/>
                  </a:schemeClr>
                </a:solidFill>
              </a:rPr>
              <a:t>2</a:t>
            </a:r>
            <a:r>
              <a:rPr lang="en-US" sz="2800" dirty="0">
                <a:solidFill>
                  <a:schemeClr val="tx2">
                    <a:lumMod val="90000"/>
                  </a:schemeClr>
                </a:solidFill>
              </a:rPr>
              <a:t> &gt;= 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LP Model for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Blue Ridge Hot Tubs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598738" y="2101850"/>
            <a:ext cx="5097462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sz="2800" dirty="0">
                <a:solidFill>
                  <a:srgbClr val="FFFFFF"/>
                </a:solidFill>
              </a:rPr>
              <a:t>MAX: 350X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+ 300X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S.T.:	1X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+ 1X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  <a:r>
              <a:rPr lang="en-US" sz="2800" dirty="0">
                <a:solidFill>
                  <a:srgbClr val="FFFFFF"/>
                </a:solidFill>
              </a:rPr>
              <a:t> &lt;= 200	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	9X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+ 6X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  <a:r>
              <a:rPr lang="en-US" sz="2800" dirty="0">
                <a:solidFill>
                  <a:srgbClr val="FFFFFF"/>
                </a:solidFill>
              </a:rPr>
              <a:t> &lt;= 1566	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	12X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+ 16X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  <a:r>
              <a:rPr lang="en-US" sz="2800" dirty="0">
                <a:solidFill>
                  <a:srgbClr val="FFFFFF"/>
                </a:solidFill>
              </a:rPr>
              <a:t> &lt;= 2880	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	X</a:t>
            </a:r>
            <a:r>
              <a:rPr lang="en-US" sz="2800" baseline="-25000" dirty="0">
                <a:solidFill>
                  <a:srgbClr val="FFFFFF"/>
                </a:solidFill>
              </a:rPr>
              <a:t>1</a:t>
            </a:r>
            <a:r>
              <a:rPr lang="en-US" sz="2800" dirty="0">
                <a:solidFill>
                  <a:srgbClr val="FFFFFF"/>
                </a:solidFill>
              </a:rPr>
              <a:t> &gt;= 0</a:t>
            </a:r>
          </a:p>
          <a:p>
            <a:pPr eaLnBrk="0" hangingPunct="0">
              <a:spcBef>
                <a:spcPct val="20000"/>
              </a:spcBef>
            </a:pPr>
            <a:r>
              <a:rPr lang="en-US" sz="2800" dirty="0">
                <a:solidFill>
                  <a:srgbClr val="FFFFFF"/>
                </a:solidFill>
              </a:rPr>
              <a:t> 	X</a:t>
            </a:r>
            <a:r>
              <a:rPr lang="en-US" sz="2800" baseline="-25000" dirty="0">
                <a:solidFill>
                  <a:srgbClr val="FFFFFF"/>
                </a:solidFill>
              </a:rPr>
              <a:t>2</a:t>
            </a:r>
            <a:r>
              <a:rPr lang="en-US" sz="2800" dirty="0">
                <a:solidFill>
                  <a:srgbClr val="FFFFFF"/>
                </a:solidFill>
              </a:rPr>
              <a:t> &gt;= 0</a:t>
            </a:r>
            <a:endParaRPr lang="en-US" sz="2800" baseline="-25000" dirty="0">
              <a:solidFill>
                <a:srgbClr val="FFFFFF"/>
              </a:solidFill>
            </a:endParaRPr>
          </a:p>
          <a:p>
            <a:pPr eaLnBrk="0" hangingPunct="0"/>
            <a:endParaRPr lang="en-US" sz="2800" baseline="-25000" dirty="0">
              <a:solidFill>
                <a:srgbClr val="FFFFFF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6425"/>
            <a:ext cx="8229600" cy="712788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70000"/>
              </a:lnSpc>
            </a:pPr>
            <a:r>
              <a:rPr lang="en-US" sz="3600" i="1">
                <a:solidFill>
                  <a:schemeClr val="hlink"/>
                </a:solidFill>
              </a:rPr>
              <a:t>Solving LP Problems: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An Intuitive Approach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12913"/>
            <a:ext cx="8229600" cy="4916487"/>
          </a:xfrm>
          <a:noFill/>
          <a:ln/>
        </p:spPr>
        <p:txBody>
          <a:bodyPr lIns="92075" tIns="46038" rIns="92075" bIns="46038"/>
          <a:lstStyle/>
          <a:p>
            <a:r>
              <a:rPr lang="en-US" sz="2400" dirty="0"/>
              <a:t>Idea: Each Aqua-Spa (X</a:t>
            </a:r>
            <a:r>
              <a:rPr lang="en-US" sz="2400" baseline="-25000" dirty="0"/>
              <a:t>1</a:t>
            </a:r>
            <a:r>
              <a:rPr lang="en-US" sz="2400" dirty="0"/>
              <a:t>) generates the highest unit profit ($350), so let’s make as many of them as possible!</a:t>
            </a:r>
          </a:p>
          <a:p>
            <a:r>
              <a:rPr lang="en-US" sz="2400" dirty="0"/>
              <a:t>How many would that be?</a:t>
            </a:r>
          </a:p>
          <a:p>
            <a:pPr lvl="1"/>
            <a:r>
              <a:rPr lang="en-US" sz="2400" dirty="0"/>
              <a:t>Let X</a:t>
            </a:r>
            <a:r>
              <a:rPr lang="en-US" sz="2400" baseline="-25000" dirty="0"/>
              <a:t>2</a:t>
            </a:r>
            <a:r>
              <a:rPr lang="en-US" sz="2400" dirty="0"/>
              <a:t> = 0</a:t>
            </a:r>
          </a:p>
          <a:p>
            <a:pPr lvl="2"/>
            <a:r>
              <a:rPr lang="en-US" dirty="0"/>
              <a:t>1st constraint:	1X</a:t>
            </a:r>
            <a:r>
              <a:rPr lang="en-US" baseline="-25000" dirty="0"/>
              <a:t>1</a:t>
            </a:r>
            <a:r>
              <a:rPr lang="en-US" dirty="0"/>
              <a:t> &lt;= 200  	  	</a:t>
            </a:r>
          </a:p>
          <a:p>
            <a:pPr lvl="2"/>
            <a:r>
              <a:rPr lang="en-US" dirty="0"/>
              <a:t>2nd constraint:	9X</a:t>
            </a:r>
            <a:r>
              <a:rPr lang="en-US" baseline="-25000" dirty="0"/>
              <a:t>1</a:t>
            </a:r>
            <a:r>
              <a:rPr lang="en-US" dirty="0"/>
              <a:t> &lt;=1566	  or  X</a:t>
            </a:r>
            <a:r>
              <a:rPr lang="en-US" baseline="-25000" dirty="0"/>
              <a:t>1</a:t>
            </a:r>
            <a:r>
              <a:rPr lang="en-US" dirty="0"/>
              <a:t> &lt;=174</a:t>
            </a:r>
          </a:p>
          <a:p>
            <a:pPr lvl="2"/>
            <a:r>
              <a:rPr lang="en-US" dirty="0"/>
              <a:t>3rd constraint:	12X</a:t>
            </a:r>
            <a:r>
              <a:rPr lang="en-US" baseline="-25000" dirty="0"/>
              <a:t>1</a:t>
            </a:r>
            <a:r>
              <a:rPr lang="en-US" dirty="0"/>
              <a:t> &lt;= 2880  or  X</a:t>
            </a:r>
            <a:r>
              <a:rPr lang="en-US" baseline="-25000" dirty="0"/>
              <a:t>1</a:t>
            </a:r>
            <a:r>
              <a:rPr lang="en-US" dirty="0"/>
              <a:t> &lt;= 240</a:t>
            </a:r>
          </a:p>
          <a:p>
            <a:r>
              <a:rPr lang="en-US" sz="2400" dirty="0"/>
              <a:t>If X</a:t>
            </a:r>
            <a:r>
              <a:rPr lang="en-US" sz="2400" baseline="-25000" dirty="0"/>
              <a:t>2</a:t>
            </a:r>
            <a:r>
              <a:rPr lang="en-US" sz="2400" dirty="0"/>
              <a:t>=0, the maximum value of X</a:t>
            </a:r>
            <a:r>
              <a:rPr lang="en-US" sz="2400" baseline="-25000" dirty="0"/>
              <a:t>1</a:t>
            </a:r>
            <a:r>
              <a:rPr lang="en-US" sz="2400" dirty="0"/>
              <a:t> is 174 and the total profit is $350*174 + $300*0 = $60,900</a:t>
            </a:r>
          </a:p>
          <a:p>
            <a:r>
              <a:rPr lang="en-US" sz="2400" dirty="0"/>
              <a:t>This solution is </a:t>
            </a:r>
            <a:r>
              <a:rPr lang="en-US" sz="2400" i="1" dirty="0"/>
              <a:t>feasible</a:t>
            </a:r>
            <a:r>
              <a:rPr lang="en-US" sz="2400" dirty="0"/>
              <a:t>, but is it </a:t>
            </a:r>
            <a:r>
              <a:rPr lang="en-US" sz="2400" i="1" dirty="0"/>
              <a:t>optimal?</a:t>
            </a:r>
            <a:endParaRPr lang="en-US" sz="2400" dirty="0"/>
          </a:p>
          <a:p>
            <a:r>
              <a:rPr lang="en-US" sz="2400" b="1" i="1" dirty="0">
                <a:solidFill>
                  <a:srgbClr val="FFFFFF"/>
                </a:solidFill>
              </a:rPr>
              <a:t>No!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3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Solving LP Problems: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A Graphical Approach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772400" cy="4191000"/>
          </a:xfrm>
          <a:noFill/>
          <a:ln/>
        </p:spPr>
        <p:txBody>
          <a:bodyPr lIns="92075" tIns="46038" rIns="92075" bIns="46038"/>
          <a:lstStyle/>
          <a:p>
            <a:pPr marL="466725" indent="-466725"/>
            <a:r>
              <a:rPr lang="en-US" dirty="0"/>
              <a:t>The constraints of an LP problem defines its feasible region.</a:t>
            </a:r>
          </a:p>
          <a:p>
            <a:pPr marL="466725" indent="-466725"/>
            <a:r>
              <a:rPr lang="en-US" dirty="0"/>
              <a:t>The best point in the feasible region is the optimal solution to the problem.</a:t>
            </a:r>
          </a:p>
          <a:p>
            <a:pPr marL="466725" indent="-466725"/>
            <a:r>
              <a:rPr lang="en-US" dirty="0"/>
              <a:t>For LP problems with 2 variables, it is easy to plot the feasible region and find the optimal solution.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94" name="Group 38"/>
          <p:cNvGrpSpPr>
            <a:grpSpLocks/>
          </p:cNvGrpSpPr>
          <p:nvPr/>
        </p:nvGrpSpPr>
        <p:grpSpPr bwMode="auto">
          <a:xfrm>
            <a:off x="863600" y="685800"/>
            <a:ext cx="7442200" cy="5638800"/>
            <a:chOff x="544" y="288"/>
            <a:chExt cx="4688" cy="3552"/>
          </a:xfrm>
        </p:grpSpPr>
        <p:sp>
          <p:nvSpPr>
            <p:cNvPr id="19458" name="Freeform 2" descr="70%"/>
            <p:cNvSpPr>
              <a:spLocks/>
            </p:cNvSpPr>
            <p:nvPr/>
          </p:nvSpPr>
          <p:spPr bwMode="auto">
            <a:xfrm>
              <a:off x="954" y="1366"/>
              <a:ext cx="2637" cy="2118"/>
            </a:xfrm>
            <a:custGeom>
              <a:avLst/>
              <a:gdLst>
                <a:gd name="T0" fmla="*/ 0 w 2637"/>
                <a:gd name="T1" fmla="*/ 0 h 2118"/>
                <a:gd name="T2" fmla="*/ 2636 w 2637"/>
                <a:gd name="T3" fmla="*/ 2117 h 2118"/>
                <a:gd name="T4" fmla="*/ 0 w 2637"/>
                <a:gd name="T5" fmla="*/ 2117 h 2118"/>
                <a:gd name="T6" fmla="*/ 0 w 2637"/>
                <a:gd name="T7" fmla="*/ 0 h 2118"/>
                <a:gd name="T8" fmla="*/ 0 w 2637"/>
                <a:gd name="T9" fmla="*/ 0 h 2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7" h="2118">
                  <a:moveTo>
                    <a:pt x="0" y="0"/>
                  </a:moveTo>
                  <a:lnTo>
                    <a:pt x="2636" y="2117"/>
                  </a:lnTo>
                  <a:lnTo>
                    <a:pt x="0" y="21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59" name="Line 3"/>
            <p:cNvSpPr>
              <a:spLocks noChangeShapeType="1"/>
            </p:cNvSpPr>
            <p:nvPr/>
          </p:nvSpPr>
          <p:spPr bwMode="auto">
            <a:xfrm>
              <a:off x="894" y="348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0" name="Line 4"/>
            <p:cNvSpPr>
              <a:spLocks noChangeShapeType="1"/>
            </p:cNvSpPr>
            <p:nvPr/>
          </p:nvSpPr>
          <p:spPr bwMode="auto">
            <a:xfrm>
              <a:off x="1613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1" name="Line 5"/>
            <p:cNvSpPr>
              <a:spLocks noChangeShapeType="1"/>
            </p:cNvSpPr>
            <p:nvPr/>
          </p:nvSpPr>
          <p:spPr bwMode="auto">
            <a:xfrm>
              <a:off x="2272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2" name="Line 6"/>
            <p:cNvSpPr>
              <a:spLocks noChangeShapeType="1"/>
            </p:cNvSpPr>
            <p:nvPr/>
          </p:nvSpPr>
          <p:spPr bwMode="auto">
            <a:xfrm>
              <a:off x="2931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3" name="Line 7"/>
            <p:cNvSpPr>
              <a:spLocks noChangeShapeType="1"/>
            </p:cNvSpPr>
            <p:nvPr/>
          </p:nvSpPr>
          <p:spPr bwMode="auto">
            <a:xfrm>
              <a:off x="3590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4" name="Line 8"/>
            <p:cNvSpPr>
              <a:spLocks noChangeShapeType="1"/>
            </p:cNvSpPr>
            <p:nvPr/>
          </p:nvSpPr>
          <p:spPr bwMode="auto">
            <a:xfrm>
              <a:off x="4249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5" name="Line 9"/>
            <p:cNvSpPr>
              <a:spLocks noChangeShapeType="1"/>
            </p:cNvSpPr>
            <p:nvPr/>
          </p:nvSpPr>
          <p:spPr bwMode="auto">
            <a:xfrm flipV="1">
              <a:off x="954" y="40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6" name="Line 10"/>
            <p:cNvSpPr>
              <a:spLocks noChangeShapeType="1"/>
            </p:cNvSpPr>
            <p:nvPr/>
          </p:nvSpPr>
          <p:spPr bwMode="auto">
            <a:xfrm flipH="1">
              <a:off x="894" y="295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7" name="Line 11"/>
            <p:cNvSpPr>
              <a:spLocks noChangeShapeType="1"/>
            </p:cNvSpPr>
            <p:nvPr/>
          </p:nvSpPr>
          <p:spPr bwMode="auto">
            <a:xfrm flipH="1">
              <a:off x="894" y="242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8" name="Line 12"/>
            <p:cNvSpPr>
              <a:spLocks noChangeShapeType="1"/>
            </p:cNvSpPr>
            <p:nvPr/>
          </p:nvSpPr>
          <p:spPr bwMode="auto">
            <a:xfrm flipH="1">
              <a:off x="894" y="189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9" name="Line 13"/>
            <p:cNvSpPr>
              <a:spLocks noChangeShapeType="1"/>
            </p:cNvSpPr>
            <p:nvPr/>
          </p:nvSpPr>
          <p:spPr bwMode="auto">
            <a:xfrm flipH="1">
              <a:off x="894" y="136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0" name="Line 14"/>
            <p:cNvSpPr>
              <a:spLocks noChangeShapeType="1"/>
            </p:cNvSpPr>
            <p:nvPr/>
          </p:nvSpPr>
          <p:spPr bwMode="auto">
            <a:xfrm flipH="1">
              <a:off x="894" y="83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1" name="Line 15"/>
            <p:cNvSpPr>
              <a:spLocks noChangeShapeType="1"/>
            </p:cNvSpPr>
            <p:nvPr/>
          </p:nvSpPr>
          <p:spPr bwMode="auto">
            <a:xfrm>
              <a:off x="954" y="1366"/>
              <a:ext cx="2636" cy="211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2" name="Rectangle 16"/>
            <p:cNvSpPr>
              <a:spLocks noChangeArrowheads="1"/>
            </p:cNvSpPr>
            <p:nvPr/>
          </p:nvSpPr>
          <p:spPr bwMode="auto">
            <a:xfrm>
              <a:off x="570" y="2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19473" name="Rectangle 17"/>
            <p:cNvSpPr>
              <a:spLocks noChangeArrowheads="1"/>
            </p:cNvSpPr>
            <p:nvPr/>
          </p:nvSpPr>
          <p:spPr bwMode="auto">
            <a:xfrm>
              <a:off x="4608" y="355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19474" name="Rectangle 18"/>
            <p:cNvSpPr>
              <a:spLocks noChangeArrowheads="1"/>
            </p:cNvSpPr>
            <p:nvPr/>
          </p:nvSpPr>
          <p:spPr bwMode="auto">
            <a:xfrm>
              <a:off x="554" y="71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19475" name="Rectangle 19"/>
            <p:cNvSpPr>
              <a:spLocks noChangeArrowheads="1"/>
            </p:cNvSpPr>
            <p:nvPr/>
          </p:nvSpPr>
          <p:spPr bwMode="auto">
            <a:xfrm>
              <a:off x="555" y="126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19476" name="Rectangle 20"/>
            <p:cNvSpPr>
              <a:spLocks noChangeArrowheads="1"/>
            </p:cNvSpPr>
            <p:nvPr/>
          </p:nvSpPr>
          <p:spPr bwMode="auto">
            <a:xfrm>
              <a:off x="544" y="1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19477" name="Rectangle 21"/>
            <p:cNvSpPr>
              <a:spLocks noChangeArrowheads="1"/>
            </p:cNvSpPr>
            <p:nvPr/>
          </p:nvSpPr>
          <p:spPr bwMode="auto">
            <a:xfrm>
              <a:off x="555" y="232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19478" name="Rectangle 22"/>
            <p:cNvSpPr>
              <a:spLocks noChangeArrowheads="1"/>
            </p:cNvSpPr>
            <p:nvPr/>
          </p:nvSpPr>
          <p:spPr bwMode="auto">
            <a:xfrm>
              <a:off x="587" y="284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19479" name="Rectangle 23"/>
            <p:cNvSpPr>
              <a:spLocks noChangeArrowheads="1"/>
            </p:cNvSpPr>
            <p:nvPr/>
          </p:nvSpPr>
          <p:spPr bwMode="auto">
            <a:xfrm>
              <a:off x="618" y="33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19480" name="Rectangle 24"/>
            <p:cNvSpPr>
              <a:spLocks noChangeArrowheads="1"/>
            </p:cNvSpPr>
            <p:nvPr/>
          </p:nvSpPr>
          <p:spPr bwMode="auto">
            <a:xfrm>
              <a:off x="777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19481" name="Rectangle 25"/>
            <p:cNvSpPr>
              <a:spLocks noChangeArrowheads="1"/>
            </p:cNvSpPr>
            <p:nvPr/>
          </p:nvSpPr>
          <p:spPr bwMode="auto">
            <a:xfrm>
              <a:off x="1451" y="356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19482" name="Rectangle 26"/>
            <p:cNvSpPr>
              <a:spLocks noChangeArrowheads="1"/>
            </p:cNvSpPr>
            <p:nvPr/>
          </p:nvSpPr>
          <p:spPr bwMode="auto">
            <a:xfrm>
              <a:off x="2082" y="354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19483" name="Rectangle 27"/>
            <p:cNvSpPr>
              <a:spLocks noChangeArrowheads="1"/>
            </p:cNvSpPr>
            <p:nvPr/>
          </p:nvSpPr>
          <p:spPr bwMode="auto">
            <a:xfrm>
              <a:off x="2734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19484" name="Rectangle 28"/>
            <p:cNvSpPr>
              <a:spLocks noChangeArrowheads="1"/>
            </p:cNvSpPr>
            <p:nvPr/>
          </p:nvSpPr>
          <p:spPr bwMode="auto">
            <a:xfrm>
              <a:off x="3398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19485" name="Rectangle 29"/>
            <p:cNvSpPr>
              <a:spLocks noChangeArrowheads="1"/>
            </p:cNvSpPr>
            <p:nvPr/>
          </p:nvSpPr>
          <p:spPr bwMode="auto">
            <a:xfrm>
              <a:off x="4060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19486" name="Rectangle 30"/>
            <p:cNvSpPr>
              <a:spLocks noChangeArrowheads="1"/>
            </p:cNvSpPr>
            <p:nvPr/>
          </p:nvSpPr>
          <p:spPr bwMode="auto">
            <a:xfrm>
              <a:off x="1239" y="1024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(0, 200)</a:t>
              </a:r>
            </a:p>
          </p:txBody>
        </p:sp>
        <p:sp>
          <p:nvSpPr>
            <p:cNvPr id="19487" name="Line 31"/>
            <p:cNvSpPr>
              <a:spLocks noChangeShapeType="1"/>
            </p:cNvSpPr>
            <p:nvPr/>
          </p:nvSpPr>
          <p:spPr bwMode="auto">
            <a:xfrm flipH="1">
              <a:off x="1006" y="1149"/>
              <a:ext cx="253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8" name="Rectangle 32"/>
            <p:cNvSpPr>
              <a:spLocks noChangeArrowheads="1"/>
            </p:cNvSpPr>
            <p:nvPr/>
          </p:nvSpPr>
          <p:spPr bwMode="auto">
            <a:xfrm>
              <a:off x="3829" y="3132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(200, 0)</a:t>
              </a:r>
            </a:p>
          </p:txBody>
        </p:sp>
        <p:sp>
          <p:nvSpPr>
            <p:cNvPr id="19489" name="Line 33"/>
            <p:cNvSpPr>
              <a:spLocks noChangeShapeType="1"/>
            </p:cNvSpPr>
            <p:nvPr/>
          </p:nvSpPr>
          <p:spPr bwMode="auto">
            <a:xfrm flipH="1">
              <a:off x="3596" y="3257"/>
              <a:ext cx="253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Rectangle 34"/>
            <p:cNvSpPr>
              <a:spLocks noChangeArrowheads="1"/>
            </p:cNvSpPr>
            <p:nvPr/>
          </p:nvSpPr>
          <p:spPr bwMode="auto">
            <a:xfrm>
              <a:off x="2448" y="1391"/>
              <a:ext cx="270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boundary line of pump constraint </a:t>
              </a:r>
            </a:p>
          </p:txBody>
        </p:sp>
        <p:sp>
          <p:nvSpPr>
            <p:cNvPr id="19491" name="Rectangle 35"/>
            <p:cNvSpPr>
              <a:spLocks noChangeArrowheads="1"/>
            </p:cNvSpPr>
            <p:nvPr/>
          </p:nvSpPr>
          <p:spPr bwMode="auto">
            <a:xfrm>
              <a:off x="2511" y="1676"/>
              <a:ext cx="23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X</a:t>
              </a:r>
              <a:r>
                <a:rPr lang="en-US" b="1" baseline="-25000"/>
                <a:t>1</a:t>
              </a:r>
              <a:r>
                <a:rPr lang="en-US" b="1"/>
                <a:t> + X</a:t>
              </a:r>
              <a:r>
                <a:rPr lang="en-US" b="1" baseline="-25000"/>
                <a:t>2</a:t>
              </a:r>
              <a:r>
                <a:rPr lang="en-US" b="1"/>
                <a:t> = 200</a:t>
              </a:r>
            </a:p>
          </p:txBody>
        </p:sp>
        <p:sp>
          <p:nvSpPr>
            <p:cNvPr id="19492" name="Line 36"/>
            <p:cNvSpPr>
              <a:spLocks noChangeShapeType="1"/>
            </p:cNvSpPr>
            <p:nvPr/>
          </p:nvSpPr>
          <p:spPr bwMode="auto">
            <a:xfrm flipH="1">
              <a:off x="2354" y="1749"/>
              <a:ext cx="821" cy="64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93" name="Rectangle 37"/>
          <p:cNvSpPr>
            <a:spLocks noChangeArrowheads="1"/>
          </p:cNvSpPr>
          <p:nvPr/>
        </p:nvSpPr>
        <p:spPr bwMode="auto">
          <a:xfrm>
            <a:off x="752475" y="3810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Plotting the First Constraint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9" name="Group 39"/>
          <p:cNvGrpSpPr>
            <a:grpSpLocks/>
          </p:cNvGrpSpPr>
          <p:nvPr/>
        </p:nvGrpSpPr>
        <p:grpSpPr bwMode="auto">
          <a:xfrm>
            <a:off x="863600" y="838200"/>
            <a:ext cx="7442200" cy="5638800"/>
            <a:chOff x="544" y="528"/>
            <a:chExt cx="4688" cy="3552"/>
          </a:xfrm>
        </p:grpSpPr>
        <p:sp>
          <p:nvSpPr>
            <p:cNvPr id="20482" name="Freeform 2" descr="70%"/>
            <p:cNvSpPr>
              <a:spLocks/>
            </p:cNvSpPr>
            <p:nvPr/>
          </p:nvSpPr>
          <p:spPr bwMode="auto">
            <a:xfrm>
              <a:off x="954" y="1620"/>
              <a:ext cx="2383" cy="2101"/>
            </a:xfrm>
            <a:custGeom>
              <a:avLst/>
              <a:gdLst>
                <a:gd name="T0" fmla="*/ 0 w 2383"/>
                <a:gd name="T1" fmla="*/ 0 h 2101"/>
                <a:gd name="T2" fmla="*/ 0 w 2383"/>
                <a:gd name="T3" fmla="*/ 2100 h 2101"/>
                <a:gd name="T4" fmla="*/ 2382 w 2383"/>
                <a:gd name="T5" fmla="*/ 2100 h 2101"/>
                <a:gd name="T6" fmla="*/ 1758 w 2383"/>
                <a:gd name="T7" fmla="*/ 1376 h 2101"/>
                <a:gd name="T8" fmla="*/ 0 w 2383"/>
                <a:gd name="T9" fmla="*/ 0 h 2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3" h="2101">
                  <a:moveTo>
                    <a:pt x="0" y="0"/>
                  </a:moveTo>
                  <a:lnTo>
                    <a:pt x="0" y="2100"/>
                  </a:lnTo>
                  <a:lnTo>
                    <a:pt x="2382" y="2100"/>
                  </a:lnTo>
                  <a:lnTo>
                    <a:pt x="1758" y="1376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3" name="Line 3"/>
            <p:cNvSpPr>
              <a:spLocks noChangeShapeType="1"/>
            </p:cNvSpPr>
            <p:nvPr/>
          </p:nvSpPr>
          <p:spPr bwMode="auto">
            <a:xfrm>
              <a:off x="894" y="372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4" name="Line 4"/>
            <p:cNvSpPr>
              <a:spLocks noChangeShapeType="1"/>
            </p:cNvSpPr>
            <p:nvPr/>
          </p:nvSpPr>
          <p:spPr bwMode="auto">
            <a:xfrm>
              <a:off x="1613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5" name="Line 5"/>
            <p:cNvSpPr>
              <a:spLocks noChangeShapeType="1"/>
            </p:cNvSpPr>
            <p:nvPr/>
          </p:nvSpPr>
          <p:spPr bwMode="auto">
            <a:xfrm>
              <a:off x="2272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6" name="Line 6"/>
            <p:cNvSpPr>
              <a:spLocks noChangeShapeType="1"/>
            </p:cNvSpPr>
            <p:nvPr/>
          </p:nvSpPr>
          <p:spPr bwMode="auto">
            <a:xfrm>
              <a:off x="2931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7" name="Line 7"/>
            <p:cNvSpPr>
              <a:spLocks noChangeShapeType="1"/>
            </p:cNvSpPr>
            <p:nvPr/>
          </p:nvSpPr>
          <p:spPr bwMode="auto">
            <a:xfrm>
              <a:off x="3590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8" name="Line 8"/>
            <p:cNvSpPr>
              <a:spLocks noChangeShapeType="1"/>
            </p:cNvSpPr>
            <p:nvPr/>
          </p:nvSpPr>
          <p:spPr bwMode="auto">
            <a:xfrm>
              <a:off x="4249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Line 9"/>
            <p:cNvSpPr>
              <a:spLocks noChangeShapeType="1"/>
            </p:cNvSpPr>
            <p:nvPr/>
          </p:nvSpPr>
          <p:spPr bwMode="auto">
            <a:xfrm flipV="1">
              <a:off x="954" y="64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0" name="Line 10"/>
            <p:cNvSpPr>
              <a:spLocks noChangeShapeType="1"/>
            </p:cNvSpPr>
            <p:nvPr/>
          </p:nvSpPr>
          <p:spPr bwMode="auto">
            <a:xfrm flipH="1">
              <a:off x="894" y="319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1" name="Line 11"/>
            <p:cNvSpPr>
              <a:spLocks noChangeShapeType="1"/>
            </p:cNvSpPr>
            <p:nvPr/>
          </p:nvSpPr>
          <p:spPr bwMode="auto">
            <a:xfrm flipH="1">
              <a:off x="894" y="266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2" name="Line 12"/>
            <p:cNvSpPr>
              <a:spLocks noChangeShapeType="1"/>
            </p:cNvSpPr>
            <p:nvPr/>
          </p:nvSpPr>
          <p:spPr bwMode="auto">
            <a:xfrm flipH="1">
              <a:off x="894" y="213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3" name="Line 13"/>
            <p:cNvSpPr>
              <a:spLocks noChangeShapeType="1"/>
            </p:cNvSpPr>
            <p:nvPr/>
          </p:nvSpPr>
          <p:spPr bwMode="auto">
            <a:xfrm flipH="1">
              <a:off x="894" y="160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4" name="Line 14"/>
            <p:cNvSpPr>
              <a:spLocks noChangeShapeType="1"/>
            </p:cNvSpPr>
            <p:nvPr/>
          </p:nvSpPr>
          <p:spPr bwMode="auto">
            <a:xfrm flipH="1">
              <a:off x="894" y="107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5" name="Rectangle 15"/>
            <p:cNvSpPr>
              <a:spLocks noChangeArrowheads="1"/>
            </p:cNvSpPr>
            <p:nvPr/>
          </p:nvSpPr>
          <p:spPr bwMode="auto">
            <a:xfrm>
              <a:off x="570" y="52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20496" name="Rectangle 16"/>
            <p:cNvSpPr>
              <a:spLocks noChangeArrowheads="1"/>
            </p:cNvSpPr>
            <p:nvPr/>
          </p:nvSpPr>
          <p:spPr bwMode="auto">
            <a:xfrm>
              <a:off x="4608" y="379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20497" name="Rectangle 17"/>
            <p:cNvSpPr>
              <a:spLocks noChangeArrowheads="1"/>
            </p:cNvSpPr>
            <p:nvPr/>
          </p:nvSpPr>
          <p:spPr bwMode="auto">
            <a:xfrm>
              <a:off x="554" y="95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0498" name="Rectangle 18"/>
            <p:cNvSpPr>
              <a:spLocks noChangeArrowheads="1"/>
            </p:cNvSpPr>
            <p:nvPr/>
          </p:nvSpPr>
          <p:spPr bwMode="auto">
            <a:xfrm>
              <a:off x="555" y="150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0499" name="Rectangle 19"/>
            <p:cNvSpPr>
              <a:spLocks noChangeArrowheads="1"/>
            </p:cNvSpPr>
            <p:nvPr/>
          </p:nvSpPr>
          <p:spPr bwMode="auto">
            <a:xfrm>
              <a:off x="544" y="202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0500" name="Rectangle 20"/>
            <p:cNvSpPr>
              <a:spLocks noChangeArrowheads="1"/>
            </p:cNvSpPr>
            <p:nvPr/>
          </p:nvSpPr>
          <p:spPr bwMode="auto">
            <a:xfrm>
              <a:off x="555" y="256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0501" name="Rectangle 21"/>
            <p:cNvSpPr>
              <a:spLocks noChangeArrowheads="1"/>
            </p:cNvSpPr>
            <p:nvPr/>
          </p:nvSpPr>
          <p:spPr bwMode="auto">
            <a:xfrm>
              <a:off x="587" y="308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0502" name="Rectangle 22"/>
            <p:cNvSpPr>
              <a:spLocks noChangeArrowheads="1"/>
            </p:cNvSpPr>
            <p:nvPr/>
          </p:nvSpPr>
          <p:spPr bwMode="auto">
            <a:xfrm>
              <a:off x="618" y="361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0503" name="Rectangle 23"/>
            <p:cNvSpPr>
              <a:spLocks noChangeArrowheads="1"/>
            </p:cNvSpPr>
            <p:nvPr/>
          </p:nvSpPr>
          <p:spPr bwMode="auto">
            <a:xfrm>
              <a:off x="777" y="379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0504" name="Rectangle 24"/>
            <p:cNvSpPr>
              <a:spLocks noChangeArrowheads="1"/>
            </p:cNvSpPr>
            <p:nvPr/>
          </p:nvSpPr>
          <p:spPr bwMode="auto">
            <a:xfrm>
              <a:off x="1451" y="380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0505" name="Rectangle 25"/>
            <p:cNvSpPr>
              <a:spLocks noChangeArrowheads="1"/>
            </p:cNvSpPr>
            <p:nvPr/>
          </p:nvSpPr>
          <p:spPr bwMode="auto">
            <a:xfrm>
              <a:off x="2082" y="3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0506" name="Rectangle 26"/>
            <p:cNvSpPr>
              <a:spLocks noChangeArrowheads="1"/>
            </p:cNvSpPr>
            <p:nvPr/>
          </p:nvSpPr>
          <p:spPr bwMode="auto">
            <a:xfrm>
              <a:off x="2734" y="379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0507" name="Rectangle 27"/>
            <p:cNvSpPr>
              <a:spLocks noChangeArrowheads="1"/>
            </p:cNvSpPr>
            <p:nvPr/>
          </p:nvSpPr>
          <p:spPr bwMode="auto">
            <a:xfrm>
              <a:off x="3398" y="380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0508" name="Rectangle 28"/>
            <p:cNvSpPr>
              <a:spLocks noChangeArrowheads="1"/>
            </p:cNvSpPr>
            <p:nvPr/>
          </p:nvSpPr>
          <p:spPr bwMode="auto">
            <a:xfrm>
              <a:off x="4060" y="380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0509" name="Rectangle 29"/>
            <p:cNvSpPr>
              <a:spLocks noChangeArrowheads="1"/>
            </p:cNvSpPr>
            <p:nvPr/>
          </p:nvSpPr>
          <p:spPr bwMode="auto">
            <a:xfrm>
              <a:off x="1186" y="685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(0, 261)</a:t>
              </a:r>
            </a:p>
          </p:txBody>
        </p:sp>
        <p:sp>
          <p:nvSpPr>
            <p:cNvPr id="20510" name="Line 30"/>
            <p:cNvSpPr>
              <a:spLocks noChangeShapeType="1"/>
            </p:cNvSpPr>
            <p:nvPr/>
          </p:nvSpPr>
          <p:spPr bwMode="auto">
            <a:xfrm flipH="1">
              <a:off x="953" y="810"/>
              <a:ext cx="253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1" name="Rectangle 31"/>
            <p:cNvSpPr>
              <a:spLocks noChangeArrowheads="1"/>
            </p:cNvSpPr>
            <p:nvPr/>
          </p:nvSpPr>
          <p:spPr bwMode="auto">
            <a:xfrm>
              <a:off x="3600" y="3384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(174, 0)</a:t>
              </a:r>
            </a:p>
          </p:txBody>
        </p:sp>
        <p:sp>
          <p:nvSpPr>
            <p:cNvPr id="20512" name="Line 32"/>
            <p:cNvSpPr>
              <a:spLocks noChangeShapeType="1"/>
            </p:cNvSpPr>
            <p:nvPr/>
          </p:nvSpPr>
          <p:spPr bwMode="auto">
            <a:xfrm flipH="1">
              <a:off x="3373" y="3496"/>
              <a:ext cx="253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3" name="Rectangle 33"/>
            <p:cNvSpPr>
              <a:spLocks noChangeArrowheads="1"/>
            </p:cNvSpPr>
            <p:nvPr/>
          </p:nvSpPr>
          <p:spPr bwMode="auto">
            <a:xfrm>
              <a:off x="2111" y="1199"/>
              <a:ext cx="270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boundary line of labor constraint </a:t>
              </a:r>
            </a:p>
          </p:txBody>
        </p:sp>
        <p:sp>
          <p:nvSpPr>
            <p:cNvPr id="20514" name="Rectangle 34"/>
            <p:cNvSpPr>
              <a:spLocks noChangeArrowheads="1"/>
            </p:cNvSpPr>
            <p:nvPr/>
          </p:nvSpPr>
          <p:spPr bwMode="auto">
            <a:xfrm>
              <a:off x="2332" y="1474"/>
              <a:ext cx="23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9X</a:t>
              </a:r>
              <a:r>
                <a:rPr lang="en-US" b="1" baseline="-25000"/>
                <a:t>1</a:t>
              </a:r>
              <a:r>
                <a:rPr lang="en-US" b="1"/>
                <a:t> + 6X</a:t>
              </a:r>
              <a:r>
                <a:rPr lang="en-US" b="1" baseline="-25000"/>
                <a:t>2</a:t>
              </a:r>
              <a:r>
                <a:rPr lang="en-US" b="1"/>
                <a:t> = 1566</a:t>
              </a:r>
            </a:p>
          </p:txBody>
        </p:sp>
        <p:sp>
          <p:nvSpPr>
            <p:cNvPr id="20515" name="Line 35"/>
            <p:cNvSpPr>
              <a:spLocks noChangeShapeType="1"/>
            </p:cNvSpPr>
            <p:nvPr/>
          </p:nvSpPr>
          <p:spPr bwMode="auto">
            <a:xfrm flipH="1">
              <a:off x="2070" y="1589"/>
              <a:ext cx="799" cy="6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6" name="Line 36"/>
            <p:cNvSpPr>
              <a:spLocks noChangeShapeType="1"/>
            </p:cNvSpPr>
            <p:nvPr/>
          </p:nvSpPr>
          <p:spPr bwMode="auto">
            <a:xfrm>
              <a:off x="954" y="989"/>
              <a:ext cx="2400" cy="274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7" name="Line 37"/>
            <p:cNvSpPr>
              <a:spLocks noChangeShapeType="1"/>
            </p:cNvSpPr>
            <p:nvPr/>
          </p:nvSpPr>
          <p:spPr bwMode="auto">
            <a:xfrm>
              <a:off x="954" y="1621"/>
              <a:ext cx="2631" cy="20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18" name="Rectangle 38"/>
          <p:cNvSpPr>
            <a:spLocks noChangeArrowheads="1"/>
          </p:cNvSpPr>
          <p:nvPr/>
        </p:nvSpPr>
        <p:spPr bwMode="auto">
          <a:xfrm>
            <a:off x="1368425" y="381000"/>
            <a:ext cx="71659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Plotting the Second Constraint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06738" y="6357938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45" name="Group 41"/>
          <p:cNvGrpSpPr>
            <a:grpSpLocks/>
          </p:cNvGrpSpPr>
          <p:nvPr/>
        </p:nvGrpSpPr>
        <p:grpSpPr bwMode="auto">
          <a:xfrm>
            <a:off x="863600" y="838200"/>
            <a:ext cx="7734300" cy="5638800"/>
            <a:chOff x="544" y="288"/>
            <a:chExt cx="4872" cy="3552"/>
          </a:xfrm>
        </p:grpSpPr>
        <p:sp>
          <p:nvSpPr>
            <p:cNvPr id="21506" name="Freeform 2" descr="70%"/>
            <p:cNvSpPr>
              <a:spLocks/>
            </p:cNvSpPr>
            <p:nvPr/>
          </p:nvSpPr>
          <p:spPr bwMode="auto">
            <a:xfrm>
              <a:off x="948" y="1578"/>
              <a:ext cx="2383" cy="1903"/>
            </a:xfrm>
            <a:custGeom>
              <a:avLst/>
              <a:gdLst>
                <a:gd name="T0" fmla="*/ 0 w 2383"/>
                <a:gd name="T1" fmla="*/ 0 h 1903"/>
                <a:gd name="T2" fmla="*/ 0 w 2383"/>
                <a:gd name="T3" fmla="*/ 1902 h 1903"/>
                <a:gd name="T4" fmla="*/ 2382 w 2383"/>
                <a:gd name="T5" fmla="*/ 1896 h 1903"/>
                <a:gd name="T6" fmla="*/ 1774 w 2383"/>
                <a:gd name="T7" fmla="*/ 1186 h 1903"/>
                <a:gd name="T8" fmla="*/ 1052 w 2383"/>
                <a:gd name="T9" fmla="*/ 637 h 1903"/>
                <a:gd name="T10" fmla="*/ 0 w 2383"/>
                <a:gd name="T11" fmla="*/ 0 h 1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3" h="1903">
                  <a:moveTo>
                    <a:pt x="0" y="0"/>
                  </a:moveTo>
                  <a:lnTo>
                    <a:pt x="0" y="1902"/>
                  </a:lnTo>
                  <a:lnTo>
                    <a:pt x="2382" y="1896"/>
                  </a:lnTo>
                  <a:lnTo>
                    <a:pt x="1774" y="1186"/>
                  </a:lnTo>
                  <a:lnTo>
                    <a:pt x="1052" y="637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7" name="Line 3"/>
            <p:cNvSpPr>
              <a:spLocks noChangeShapeType="1"/>
            </p:cNvSpPr>
            <p:nvPr/>
          </p:nvSpPr>
          <p:spPr bwMode="auto">
            <a:xfrm>
              <a:off x="894" y="348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8" name="Line 4"/>
            <p:cNvSpPr>
              <a:spLocks noChangeShapeType="1"/>
            </p:cNvSpPr>
            <p:nvPr/>
          </p:nvSpPr>
          <p:spPr bwMode="auto">
            <a:xfrm>
              <a:off x="1613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>
              <a:off x="2272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>
              <a:off x="2931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3590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4249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3" name="Line 9"/>
            <p:cNvSpPr>
              <a:spLocks noChangeShapeType="1"/>
            </p:cNvSpPr>
            <p:nvPr/>
          </p:nvSpPr>
          <p:spPr bwMode="auto">
            <a:xfrm flipV="1">
              <a:off x="954" y="40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 flipH="1">
              <a:off x="894" y="295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 flipH="1">
              <a:off x="894" y="242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 flipH="1">
              <a:off x="894" y="189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 flipH="1">
              <a:off x="894" y="136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 flipH="1">
              <a:off x="894" y="83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9" name="Rectangle 15"/>
            <p:cNvSpPr>
              <a:spLocks noChangeArrowheads="1"/>
            </p:cNvSpPr>
            <p:nvPr/>
          </p:nvSpPr>
          <p:spPr bwMode="auto">
            <a:xfrm>
              <a:off x="570" y="2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21520" name="Rectangle 16"/>
            <p:cNvSpPr>
              <a:spLocks noChangeArrowheads="1"/>
            </p:cNvSpPr>
            <p:nvPr/>
          </p:nvSpPr>
          <p:spPr bwMode="auto">
            <a:xfrm>
              <a:off x="4608" y="355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21521" name="Rectangle 17"/>
            <p:cNvSpPr>
              <a:spLocks noChangeArrowheads="1"/>
            </p:cNvSpPr>
            <p:nvPr/>
          </p:nvSpPr>
          <p:spPr bwMode="auto">
            <a:xfrm>
              <a:off x="554" y="71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1522" name="Rectangle 18"/>
            <p:cNvSpPr>
              <a:spLocks noChangeArrowheads="1"/>
            </p:cNvSpPr>
            <p:nvPr/>
          </p:nvSpPr>
          <p:spPr bwMode="auto">
            <a:xfrm>
              <a:off x="555" y="126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1523" name="Rectangle 19"/>
            <p:cNvSpPr>
              <a:spLocks noChangeArrowheads="1"/>
            </p:cNvSpPr>
            <p:nvPr/>
          </p:nvSpPr>
          <p:spPr bwMode="auto">
            <a:xfrm>
              <a:off x="544" y="1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1524" name="Rectangle 20"/>
            <p:cNvSpPr>
              <a:spLocks noChangeArrowheads="1"/>
            </p:cNvSpPr>
            <p:nvPr/>
          </p:nvSpPr>
          <p:spPr bwMode="auto">
            <a:xfrm>
              <a:off x="555" y="232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1525" name="Rectangle 21"/>
            <p:cNvSpPr>
              <a:spLocks noChangeArrowheads="1"/>
            </p:cNvSpPr>
            <p:nvPr/>
          </p:nvSpPr>
          <p:spPr bwMode="auto">
            <a:xfrm>
              <a:off x="587" y="284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1526" name="Rectangle 22"/>
            <p:cNvSpPr>
              <a:spLocks noChangeArrowheads="1"/>
            </p:cNvSpPr>
            <p:nvPr/>
          </p:nvSpPr>
          <p:spPr bwMode="auto">
            <a:xfrm>
              <a:off x="618" y="33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1527" name="Rectangle 23"/>
            <p:cNvSpPr>
              <a:spLocks noChangeArrowheads="1"/>
            </p:cNvSpPr>
            <p:nvPr/>
          </p:nvSpPr>
          <p:spPr bwMode="auto">
            <a:xfrm>
              <a:off x="777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1528" name="Rectangle 24"/>
            <p:cNvSpPr>
              <a:spLocks noChangeArrowheads="1"/>
            </p:cNvSpPr>
            <p:nvPr/>
          </p:nvSpPr>
          <p:spPr bwMode="auto">
            <a:xfrm>
              <a:off x="1451" y="356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1529" name="Rectangle 25"/>
            <p:cNvSpPr>
              <a:spLocks noChangeArrowheads="1"/>
            </p:cNvSpPr>
            <p:nvPr/>
          </p:nvSpPr>
          <p:spPr bwMode="auto">
            <a:xfrm>
              <a:off x="2082" y="354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1530" name="Rectangle 26"/>
            <p:cNvSpPr>
              <a:spLocks noChangeArrowheads="1"/>
            </p:cNvSpPr>
            <p:nvPr/>
          </p:nvSpPr>
          <p:spPr bwMode="auto">
            <a:xfrm>
              <a:off x="2734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1531" name="Rectangle 27"/>
            <p:cNvSpPr>
              <a:spLocks noChangeArrowheads="1"/>
            </p:cNvSpPr>
            <p:nvPr/>
          </p:nvSpPr>
          <p:spPr bwMode="auto">
            <a:xfrm>
              <a:off x="3398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1532" name="Rectangle 28"/>
            <p:cNvSpPr>
              <a:spLocks noChangeArrowheads="1"/>
            </p:cNvSpPr>
            <p:nvPr/>
          </p:nvSpPr>
          <p:spPr bwMode="auto">
            <a:xfrm>
              <a:off x="4060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1533" name="Rectangle 29"/>
            <p:cNvSpPr>
              <a:spLocks noChangeArrowheads="1"/>
            </p:cNvSpPr>
            <p:nvPr/>
          </p:nvSpPr>
          <p:spPr bwMode="auto">
            <a:xfrm>
              <a:off x="1597" y="961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(0, 180)</a:t>
              </a:r>
            </a:p>
          </p:txBody>
        </p:sp>
        <p:sp>
          <p:nvSpPr>
            <p:cNvPr id="21534" name="Line 30"/>
            <p:cNvSpPr>
              <a:spLocks noChangeShapeType="1"/>
            </p:cNvSpPr>
            <p:nvPr/>
          </p:nvSpPr>
          <p:spPr bwMode="auto">
            <a:xfrm flipH="1">
              <a:off x="984" y="1043"/>
              <a:ext cx="666" cy="5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5" name="Rectangle 31"/>
            <p:cNvSpPr>
              <a:spLocks noChangeArrowheads="1"/>
            </p:cNvSpPr>
            <p:nvPr/>
          </p:nvSpPr>
          <p:spPr bwMode="auto">
            <a:xfrm>
              <a:off x="4355" y="3164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(240, 0)</a:t>
              </a:r>
            </a:p>
          </p:txBody>
        </p:sp>
        <p:sp>
          <p:nvSpPr>
            <p:cNvPr id="21536" name="Line 32"/>
            <p:cNvSpPr>
              <a:spLocks noChangeShapeType="1"/>
            </p:cNvSpPr>
            <p:nvPr/>
          </p:nvSpPr>
          <p:spPr bwMode="auto">
            <a:xfrm flipH="1">
              <a:off x="4122" y="3258"/>
              <a:ext cx="253" cy="1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7" name="Rectangle 33"/>
            <p:cNvSpPr>
              <a:spLocks noChangeArrowheads="1"/>
            </p:cNvSpPr>
            <p:nvPr/>
          </p:nvSpPr>
          <p:spPr bwMode="auto">
            <a:xfrm>
              <a:off x="2711" y="1938"/>
              <a:ext cx="270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boundary line of tubing constraint </a:t>
              </a:r>
            </a:p>
          </p:txBody>
        </p:sp>
        <p:sp>
          <p:nvSpPr>
            <p:cNvPr id="21538" name="Rectangle 34"/>
            <p:cNvSpPr>
              <a:spLocks noChangeArrowheads="1"/>
            </p:cNvSpPr>
            <p:nvPr/>
          </p:nvSpPr>
          <p:spPr bwMode="auto">
            <a:xfrm>
              <a:off x="3005" y="2182"/>
              <a:ext cx="23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12X</a:t>
              </a:r>
              <a:r>
                <a:rPr lang="en-US" b="1" baseline="-25000"/>
                <a:t>1</a:t>
              </a:r>
              <a:r>
                <a:rPr lang="en-US" b="1"/>
                <a:t> + 16X</a:t>
              </a:r>
              <a:r>
                <a:rPr lang="en-US" b="1" baseline="-25000"/>
                <a:t>2</a:t>
              </a:r>
              <a:r>
                <a:rPr lang="en-US" b="1"/>
                <a:t> = 2880</a:t>
              </a:r>
            </a:p>
          </p:txBody>
        </p:sp>
        <p:sp>
          <p:nvSpPr>
            <p:cNvPr id="21539" name="Line 35"/>
            <p:cNvSpPr>
              <a:spLocks noChangeShapeType="1"/>
            </p:cNvSpPr>
            <p:nvPr/>
          </p:nvSpPr>
          <p:spPr bwMode="auto">
            <a:xfrm flipH="1">
              <a:off x="2996" y="2318"/>
              <a:ext cx="536" cy="4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0" name="Line 36"/>
            <p:cNvSpPr>
              <a:spLocks noChangeShapeType="1"/>
            </p:cNvSpPr>
            <p:nvPr/>
          </p:nvSpPr>
          <p:spPr bwMode="auto">
            <a:xfrm>
              <a:off x="954" y="749"/>
              <a:ext cx="2394" cy="2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1" name="Line 37"/>
            <p:cNvSpPr>
              <a:spLocks noChangeShapeType="1"/>
            </p:cNvSpPr>
            <p:nvPr/>
          </p:nvSpPr>
          <p:spPr bwMode="auto">
            <a:xfrm>
              <a:off x="954" y="1381"/>
              <a:ext cx="2631" cy="20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2" name="Line 38"/>
            <p:cNvSpPr>
              <a:spLocks noChangeShapeType="1"/>
            </p:cNvSpPr>
            <p:nvPr/>
          </p:nvSpPr>
          <p:spPr bwMode="auto">
            <a:xfrm>
              <a:off x="954" y="1570"/>
              <a:ext cx="3157" cy="19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3" name="Rectangle 39"/>
            <p:cNvSpPr>
              <a:spLocks noChangeArrowheads="1"/>
            </p:cNvSpPr>
            <p:nvPr/>
          </p:nvSpPr>
          <p:spPr bwMode="auto">
            <a:xfrm>
              <a:off x="1290" y="2718"/>
              <a:ext cx="9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Feasible Region</a:t>
              </a:r>
            </a:p>
          </p:txBody>
        </p:sp>
      </p:grpSp>
      <p:sp>
        <p:nvSpPr>
          <p:cNvPr id="21544" name="Rectangle 40"/>
          <p:cNvSpPr>
            <a:spLocks noChangeArrowheads="1"/>
          </p:cNvSpPr>
          <p:nvPr/>
        </p:nvSpPr>
        <p:spPr bwMode="auto">
          <a:xfrm>
            <a:off x="869950" y="3810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Plotting the Third Constraint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976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3" name="Rectangle 15"/>
          <p:cNvSpPr>
            <a:spLocks noChangeArrowheads="1"/>
          </p:cNvSpPr>
          <p:nvPr/>
        </p:nvSpPr>
        <p:spPr bwMode="auto">
          <a:xfrm>
            <a:off x="904875" y="4572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X</a:t>
            </a:r>
            <a:r>
              <a:rPr lang="en-US" sz="2400" b="1" baseline="-25000"/>
              <a:t>2</a:t>
            </a:r>
          </a:p>
        </p:txBody>
      </p:sp>
      <p:sp>
        <p:nvSpPr>
          <p:cNvPr id="22564" name="Rectangle 36"/>
          <p:cNvSpPr>
            <a:spLocks noChangeArrowheads="1"/>
          </p:cNvSpPr>
          <p:nvPr/>
        </p:nvSpPr>
        <p:spPr bwMode="auto">
          <a:xfrm>
            <a:off x="1120775" y="5334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Plotting A Level Curve of the Objective Function</a:t>
            </a:r>
          </a:p>
        </p:txBody>
      </p:sp>
      <p:grpSp>
        <p:nvGrpSpPr>
          <p:cNvPr id="22569" name="Group 41"/>
          <p:cNvGrpSpPr>
            <a:grpSpLocks/>
          </p:cNvGrpSpPr>
          <p:nvPr/>
        </p:nvGrpSpPr>
        <p:grpSpPr bwMode="auto">
          <a:xfrm>
            <a:off x="863600" y="1022350"/>
            <a:ext cx="7442200" cy="5454650"/>
            <a:chOff x="544" y="404"/>
            <a:chExt cx="4688" cy="3436"/>
          </a:xfrm>
        </p:grpSpPr>
        <p:sp>
          <p:nvSpPr>
            <p:cNvPr id="22530" name="Freeform 2" descr="70%"/>
            <p:cNvSpPr>
              <a:spLocks/>
            </p:cNvSpPr>
            <p:nvPr/>
          </p:nvSpPr>
          <p:spPr bwMode="auto">
            <a:xfrm>
              <a:off x="948" y="1578"/>
              <a:ext cx="2383" cy="1903"/>
            </a:xfrm>
            <a:custGeom>
              <a:avLst/>
              <a:gdLst>
                <a:gd name="T0" fmla="*/ 0 w 2383"/>
                <a:gd name="T1" fmla="*/ 0 h 1903"/>
                <a:gd name="T2" fmla="*/ 0 w 2383"/>
                <a:gd name="T3" fmla="*/ 1902 h 1903"/>
                <a:gd name="T4" fmla="*/ 2382 w 2383"/>
                <a:gd name="T5" fmla="*/ 1896 h 1903"/>
                <a:gd name="T6" fmla="*/ 1774 w 2383"/>
                <a:gd name="T7" fmla="*/ 1186 h 1903"/>
                <a:gd name="T8" fmla="*/ 1052 w 2383"/>
                <a:gd name="T9" fmla="*/ 637 h 1903"/>
                <a:gd name="T10" fmla="*/ 0 w 2383"/>
                <a:gd name="T11" fmla="*/ 0 h 1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3" h="1903">
                  <a:moveTo>
                    <a:pt x="0" y="0"/>
                  </a:moveTo>
                  <a:lnTo>
                    <a:pt x="0" y="1902"/>
                  </a:lnTo>
                  <a:lnTo>
                    <a:pt x="2382" y="1896"/>
                  </a:lnTo>
                  <a:lnTo>
                    <a:pt x="1774" y="1186"/>
                  </a:lnTo>
                  <a:lnTo>
                    <a:pt x="1052" y="637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1" name="Line 3"/>
            <p:cNvSpPr>
              <a:spLocks noChangeShapeType="1"/>
            </p:cNvSpPr>
            <p:nvPr/>
          </p:nvSpPr>
          <p:spPr bwMode="auto">
            <a:xfrm>
              <a:off x="894" y="348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2" name="Line 4"/>
            <p:cNvSpPr>
              <a:spLocks noChangeShapeType="1"/>
            </p:cNvSpPr>
            <p:nvPr/>
          </p:nvSpPr>
          <p:spPr bwMode="auto">
            <a:xfrm>
              <a:off x="1613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3" name="Line 5"/>
            <p:cNvSpPr>
              <a:spLocks noChangeShapeType="1"/>
            </p:cNvSpPr>
            <p:nvPr/>
          </p:nvSpPr>
          <p:spPr bwMode="auto">
            <a:xfrm>
              <a:off x="2272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4" name="Line 6"/>
            <p:cNvSpPr>
              <a:spLocks noChangeShapeType="1"/>
            </p:cNvSpPr>
            <p:nvPr/>
          </p:nvSpPr>
          <p:spPr bwMode="auto">
            <a:xfrm>
              <a:off x="2931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5" name="Line 7"/>
            <p:cNvSpPr>
              <a:spLocks noChangeShapeType="1"/>
            </p:cNvSpPr>
            <p:nvPr/>
          </p:nvSpPr>
          <p:spPr bwMode="auto">
            <a:xfrm>
              <a:off x="3590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6" name="Line 8"/>
            <p:cNvSpPr>
              <a:spLocks noChangeShapeType="1"/>
            </p:cNvSpPr>
            <p:nvPr/>
          </p:nvSpPr>
          <p:spPr bwMode="auto">
            <a:xfrm>
              <a:off x="4249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7" name="Line 9"/>
            <p:cNvSpPr>
              <a:spLocks noChangeShapeType="1"/>
            </p:cNvSpPr>
            <p:nvPr/>
          </p:nvSpPr>
          <p:spPr bwMode="auto">
            <a:xfrm flipV="1">
              <a:off x="954" y="40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8" name="Line 10"/>
            <p:cNvSpPr>
              <a:spLocks noChangeShapeType="1"/>
            </p:cNvSpPr>
            <p:nvPr/>
          </p:nvSpPr>
          <p:spPr bwMode="auto">
            <a:xfrm flipH="1">
              <a:off x="894" y="295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 flipH="1">
              <a:off x="894" y="242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 flipH="1">
              <a:off x="894" y="189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 flipH="1">
              <a:off x="894" y="136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Line 14"/>
            <p:cNvSpPr>
              <a:spLocks noChangeShapeType="1"/>
            </p:cNvSpPr>
            <p:nvPr/>
          </p:nvSpPr>
          <p:spPr bwMode="auto">
            <a:xfrm flipH="1">
              <a:off x="894" y="83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4" name="Rectangle 16"/>
            <p:cNvSpPr>
              <a:spLocks noChangeArrowheads="1"/>
            </p:cNvSpPr>
            <p:nvPr/>
          </p:nvSpPr>
          <p:spPr bwMode="auto">
            <a:xfrm>
              <a:off x="4608" y="355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22545" name="Rectangle 17"/>
            <p:cNvSpPr>
              <a:spLocks noChangeArrowheads="1"/>
            </p:cNvSpPr>
            <p:nvPr/>
          </p:nvSpPr>
          <p:spPr bwMode="auto">
            <a:xfrm>
              <a:off x="554" y="71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2546" name="Rectangle 18"/>
            <p:cNvSpPr>
              <a:spLocks noChangeArrowheads="1"/>
            </p:cNvSpPr>
            <p:nvPr/>
          </p:nvSpPr>
          <p:spPr bwMode="auto">
            <a:xfrm>
              <a:off x="555" y="126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2547" name="Rectangle 19"/>
            <p:cNvSpPr>
              <a:spLocks noChangeArrowheads="1"/>
            </p:cNvSpPr>
            <p:nvPr/>
          </p:nvSpPr>
          <p:spPr bwMode="auto">
            <a:xfrm>
              <a:off x="544" y="1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2548" name="Rectangle 20"/>
            <p:cNvSpPr>
              <a:spLocks noChangeArrowheads="1"/>
            </p:cNvSpPr>
            <p:nvPr/>
          </p:nvSpPr>
          <p:spPr bwMode="auto">
            <a:xfrm>
              <a:off x="555" y="232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2549" name="Rectangle 21"/>
            <p:cNvSpPr>
              <a:spLocks noChangeArrowheads="1"/>
            </p:cNvSpPr>
            <p:nvPr/>
          </p:nvSpPr>
          <p:spPr bwMode="auto">
            <a:xfrm>
              <a:off x="587" y="284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2550" name="Rectangle 22"/>
            <p:cNvSpPr>
              <a:spLocks noChangeArrowheads="1"/>
            </p:cNvSpPr>
            <p:nvPr/>
          </p:nvSpPr>
          <p:spPr bwMode="auto">
            <a:xfrm>
              <a:off x="618" y="33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2551" name="Rectangle 23"/>
            <p:cNvSpPr>
              <a:spLocks noChangeArrowheads="1"/>
            </p:cNvSpPr>
            <p:nvPr/>
          </p:nvSpPr>
          <p:spPr bwMode="auto">
            <a:xfrm>
              <a:off x="777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2552" name="Rectangle 24"/>
            <p:cNvSpPr>
              <a:spLocks noChangeArrowheads="1"/>
            </p:cNvSpPr>
            <p:nvPr/>
          </p:nvSpPr>
          <p:spPr bwMode="auto">
            <a:xfrm>
              <a:off x="1451" y="356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2553" name="Rectangle 25"/>
            <p:cNvSpPr>
              <a:spLocks noChangeArrowheads="1"/>
            </p:cNvSpPr>
            <p:nvPr/>
          </p:nvSpPr>
          <p:spPr bwMode="auto">
            <a:xfrm>
              <a:off x="2082" y="354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2554" name="Rectangle 26"/>
            <p:cNvSpPr>
              <a:spLocks noChangeArrowheads="1"/>
            </p:cNvSpPr>
            <p:nvPr/>
          </p:nvSpPr>
          <p:spPr bwMode="auto">
            <a:xfrm>
              <a:off x="2734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2555" name="Rectangle 27"/>
            <p:cNvSpPr>
              <a:spLocks noChangeArrowheads="1"/>
            </p:cNvSpPr>
            <p:nvPr/>
          </p:nvSpPr>
          <p:spPr bwMode="auto">
            <a:xfrm>
              <a:off x="3398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2556" name="Rectangle 28"/>
            <p:cNvSpPr>
              <a:spLocks noChangeArrowheads="1"/>
            </p:cNvSpPr>
            <p:nvPr/>
          </p:nvSpPr>
          <p:spPr bwMode="auto">
            <a:xfrm>
              <a:off x="4060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2557" name="Rectangle 29"/>
            <p:cNvSpPr>
              <a:spLocks noChangeArrowheads="1"/>
            </p:cNvSpPr>
            <p:nvPr/>
          </p:nvSpPr>
          <p:spPr bwMode="auto">
            <a:xfrm>
              <a:off x="1744" y="1635"/>
              <a:ext cx="86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(0, 116.67)</a:t>
              </a:r>
            </a:p>
          </p:txBody>
        </p:sp>
        <p:sp>
          <p:nvSpPr>
            <p:cNvPr id="22558" name="Line 30"/>
            <p:cNvSpPr>
              <a:spLocks noChangeShapeType="1"/>
            </p:cNvSpPr>
            <p:nvPr/>
          </p:nvSpPr>
          <p:spPr bwMode="auto">
            <a:xfrm flipH="1">
              <a:off x="973" y="1791"/>
              <a:ext cx="666" cy="5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9" name="Rectangle 31"/>
            <p:cNvSpPr>
              <a:spLocks noChangeArrowheads="1"/>
            </p:cNvSpPr>
            <p:nvPr/>
          </p:nvSpPr>
          <p:spPr bwMode="auto">
            <a:xfrm>
              <a:off x="3155" y="2806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(100, 0)</a:t>
              </a:r>
            </a:p>
          </p:txBody>
        </p:sp>
        <p:sp>
          <p:nvSpPr>
            <p:cNvPr id="22560" name="Line 32"/>
            <p:cNvSpPr>
              <a:spLocks noChangeShapeType="1"/>
            </p:cNvSpPr>
            <p:nvPr/>
          </p:nvSpPr>
          <p:spPr bwMode="auto">
            <a:xfrm flipH="1">
              <a:off x="2270" y="2897"/>
              <a:ext cx="884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1" name="Rectangle 33"/>
            <p:cNvSpPr>
              <a:spLocks noChangeArrowheads="1"/>
            </p:cNvSpPr>
            <p:nvPr/>
          </p:nvSpPr>
          <p:spPr bwMode="auto">
            <a:xfrm>
              <a:off x="3100" y="1696"/>
              <a:ext cx="15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objective function </a:t>
              </a:r>
            </a:p>
          </p:txBody>
        </p:sp>
        <p:sp>
          <p:nvSpPr>
            <p:cNvPr id="22562" name="Rectangle 34"/>
            <p:cNvSpPr>
              <a:spLocks noChangeArrowheads="1"/>
            </p:cNvSpPr>
            <p:nvPr/>
          </p:nvSpPr>
          <p:spPr bwMode="auto">
            <a:xfrm>
              <a:off x="2794" y="1930"/>
              <a:ext cx="23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350X</a:t>
              </a:r>
              <a:r>
                <a:rPr lang="en-US" b="1" baseline="-25000"/>
                <a:t>1</a:t>
              </a:r>
              <a:r>
                <a:rPr lang="en-US" b="1"/>
                <a:t> + 300X</a:t>
              </a:r>
              <a:r>
                <a:rPr lang="en-US" b="1" baseline="-25000"/>
                <a:t>2</a:t>
              </a:r>
              <a:r>
                <a:rPr lang="en-US" b="1"/>
                <a:t> = 35000</a:t>
              </a:r>
            </a:p>
          </p:txBody>
        </p:sp>
        <p:sp>
          <p:nvSpPr>
            <p:cNvPr id="22563" name="Line 35"/>
            <p:cNvSpPr>
              <a:spLocks noChangeShapeType="1"/>
            </p:cNvSpPr>
            <p:nvPr/>
          </p:nvSpPr>
          <p:spPr bwMode="auto">
            <a:xfrm flipH="1">
              <a:off x="1744" y="1992"/>
              <a:ext cx="1399" cy="9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5" name="Line 37"/>
            <p:cNvSpPr>
              <a:spLocks noChangeShapeType="1"/>
            </p:cNvSpPr>
            <p:nvPr/>
          </p:nvSpPr>
          <p:spPr bwMode="auto">
            <a:xfrm>
              <a:off x="954" y="1584"/>
              <a:ext cx="1059" cy="6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6" name="Line 38"/>
            <p:cNvSpPr>
              <a:spLocks noChangeShapeType="1"/>
            </p:cNvSpPr>
            <p:nvPr/>
          </p:nvSpPr>
          <p:spPr bwMode="auto">
            <a:xfrm>
              <a:off x="2004" y="2214"/>
              <a:ext cx="726" cy="5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7" name="Line 39"/>
            <p:cNvSpPr>
              <a:spLocks noChangeShapeType="1"/>
            </p:cNvSpPr>
            <p:nvPr/>
          </p:nvSpPr>
          <p:spPr bwMode="auto">
            <a:xfrm>
              <a:off x="2724" y="2766"/>
              <a:ext cx="612" cy="7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8" name="Line 40"/>
            <p:cNvSpPr>
              <a:spLocks noChangeShapeType="1"/>
            </p:cNvSpPr>
            <p:nvPr/>
          </p:nvSpPr>
          <p:spPr bwMode="auto">
            <a:xfrm flipH="1" flipV="1">
              <a:off x="966" y="2292"/>
              <a:ext cx="1308" cy="1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62700"/>
            <a:ext cx="2895600" cy="244392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8" name="Rectangle 36"/>
          <p:cNvSpPr>
            <a:spLocks noChangeArrowheads="1"/>
          </p:cNvSpPr>
          <p:nvPr/>
        </p:nvSpPr>
        <p:spPr bwMode="auto">
          <a:xfrm>
            <a:off x="1120775" y="6096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lnSpc>
                <a:spcPct val="70000"/>
              </a:lnSpc>
            </a:pPr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A Second Level Curve of the Objective Function</a:t>
            </a:r>
          </a:p>
        </p:txBody>
      </p:sp>
      <p:grpSp>
        <p:nvGrpSpPr>
          <p:cNvPr id="23598" name="Group 46"/>
          <p:cNvGrpSpPr>
            <a:grpSpLocks/>
          </p:cNvGrpSpPr>
          <p:nvPr/>
        </p:nvGrpSpPr>
        <p:grpSpPr bwMode="auto">
          <a:xfrm>
            <a:off x="863600" y="838200"/>
            <a:ext cx="7594600" cy="5638800"/>
            <a:chOff x="544" y="528"/>
            <a:chExt cx="4784" cy="3552"/>
          </a:xfrm>
        </p:grpSpPr>
        <p:grpSp>
          <p:nvGrpSpPr>
            <p:cNvPr id="23597" name="Group 45"/>
            <p:cNvGrpSpPr>
              <a:grpSpLocks/>
            </p:cNvGrpSpPr>
            <p:nvPr/>
          </p:nvGrpSpPr>
          <p:grpSpPr bwMode="auto">
            <a:xfrm>
              <a:off x="544" y="528"/>
              <a:ext cx="4688" cy="3552"/>
              <a:chOff x="544" y="288"/>
              <a:chExt cx="4688" cy="3552"/>
            </a:xfrm>
          </p:grpSpPr>
          <p:sp>
            <p:nvSpPr>
              <p:cNvPr id="23554" name="Freeform 2" descr="70%"/>
              <p:cNvSpPr>
                <a:spLocks/>
              </p:cNvSpPr>
              <p:nvPr/>
            </p:nvSpPr>
            <p:spPr bwMode="auto">
              <a:xfrm>
                <a:off x="948" y="1578"/>
                <a:ext cx="2383" cy="1903"/>
              </a:xfrm>
              <a:custGeom>
                <a:avLst/>
                <a:gdLst>
                  <a:gd name="T0" fmla="*/ 0 w 2383"/>
                  <a:gd name="T1" fmla="*/ 0 h 1903"/>
                  <a:gd name="T2" fmla="*/ 0 w 2383"/>
                  <a:gd name="T3" fmla="*/ 1902 h 1903"/>
                  <a:gd name="T4" fmla="*/ 2382 w 2383"/>
                  <a:gd name="T5" fmla="*/ 1896 h 1903"/>
                  <a:gd name="T6" fmla="*/ 1774 w 2383"/>
                  <a:gd name="T7" fmla="*/ 1186 h 1903"/>
                  <a:gd name="T8" fmla="*/ 1052 w 2383"/>
                  <a:gd name="T9" fmla="*/ 637 h 1903"/>
                  <a:gd name="T10" fmla="*/ 0 w 2383"/>
                  <a:gd name="T11" fmla="*/ 0 h 19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83" h="1903">
                    <a:moveTo>
                      <a:pt x="0" y="0"/>
                    </a:moveTo>
                    <a:lnTo>
                      <a:pt x="0" y="1902"/>
                    </a:lnTo>
                    <a:lnTo>
                      <a:pt x="2382" y="1896"/>
                    </a:lnTo>
                    <a:lnTo>
                      <a:pt x="1774" y="1186"/>
                    </a:lnTo>
                    <a:lnTo>
                      <a:pt x="1052" y="637"/>
                    </a:lnTo>
                    <a:lnTo>
                      <a:pt x="0" y="0"/>
                    </a:lnTo>
                  </a:path>
                </a:pathLst>
              </a:custGeom>
              <a:pattFill prst="pct70">
                <a:fgClr>
                  <a:srgbClr val="3399FF"/>
                </a:fgClr>
                <a:bgClr>
                  <a:schemeClr val="bg1"/>
                </a:bgClr>
              </a:pattFill>
              <a:ln w="12700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55" name="Line 3"/>
              <p:cNvSpPr>
                <a:spLocks noChangeShapeType="1"/>
              </p:cNvSpPr>
              <p:nvPr/>
            </p:nvSpPr>
            <p:spPr bwMode="auto">
              <a:xfrm>
                <a:off x="894" y="3483"/>
                <a:ext cx="3894" cy="0"/>
              </a:xfrm>
              <a:prstGeom prst="line">
                <a:avLst/>
              </a:prstGeom>
              <a:noFill/>
              <a:ln w="25400">
                <a:solidFill>
                  <a:srgbClr val="FFFFFF"/>
                </a:solidFill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56" name="Line 4"/>
              <p:cNvSpPr>
                <a:spLocks noChangeShapeType="1"/>
              </p:cNvSpPr>
              <p:nvPr/>
            </p:nvSpPr>
            <p:spPr bwMode="auto">
              <a:xfrm>
                <a:off x="1613" y="3483"/>
                <a:ext cx="0" cy="48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57" name="Line 5"/>
              <p:cNvSpPr>
                <a:spLocks noChangeShapeType="1"/>
              </p:cNvSpPr>
              <p:nvPr/>
            </p:nvSpPr>
            <p:spPr bwMode="auto">
              <a:xfrm>
                <a:off x="2272" y="3483"/>
                <a:ext cx="0" cy="48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58" name="Line 6"/>
              <p:cNvSpPr>
                <a:spLocks noChangeShapeType="1"/>
              </p:cNvSpPr>
              <p:nvPr/>
            </p:nvSpPr>
            <p:spPr bwMode="auto">
              <a:xfrm>
                <a:off x="2931" y="3483"/>
                <a:ext cx="0" cy="48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59" name="Line 7"/>
              <p:cNvSpPr>
                <a:spLocks noChangeShapeType="1"/>
              </p:cNvSpPr>
              <p:nvPr/>
            </p:nvSpPr>
            <p:spPr bwMode="auto">
              <a:xfrm>
                <a:off x="3590" y="3483"/>
                <a:ext cx="0" cy="48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0" name="Line 8"/>
              <p:cNvSpPr>
                <a:spLocks noChangeShapeType="1"/>
              </p:cNvSpPr>
              <p:nvPr/>
            </p:nvSpPr>
            <p:spPr bwMode="auto">
              <a:xfrm>
                <a:off x="4249" y="3483"/>
                <a:ext cx="0" cy="48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1" name="Line 9"/>
              <p:cNvSpPr>
                <a:spLocks noChangeShapeType="1"/>
              </p:cNvSpPr>
              <p:nvPr/>
            </p:nvSpPr>
            <p:spPr bwMode="auto">
              <a:xfrm flipV="1">
                <a:off x="954" y="404"/>
                <a:ext cx="0" cy="3127"/>
              </a:xfrm>
              <a:prstGeom prst="line">
                <a:avLst/>
              </a:prstGeom>
              <a:noFill/>
              <a:ln w="25400">
                <a:solidFill>
                  <a:srgbClr val="FFFFFF"/>
                </a:solidFill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2" name="Line 10"/>
              <p:cNvSpPr>
                <a:spLocks noChangeShapeType="1"/>
              </p:cNvSpPr>
              <p:nvPr/>
            </p:nvSpPr>
            <p:spPr bwMode="auto">
              <a:xfrm flipH="1">
                <a:off x="894" y="2954"/>
                <a:ext cx="60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3" name="Line 11"/>
              <p:cNvSpPr>
                <a:spLocks noChangeShapeType="1"/>
              </p:cNvSpPr>
              <p:nvPr/>
            </p:nvSpPr>
            <p:spPr bwMode="auto">
              <a:xfrm flipH="1">
                <a:off x="894" y="2425"/>
                <a:ext cx="60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4" name="Line 12"/>
              <p:cNvSpPr>
                <a:spLocks noChangeShapeType="1"/>
              </p:cNvSpPr>
              <p:nvPr/>
            </p:nvSpPr>
            <p:spPr bwMode="auto">
              <a:xfrm flipH="1">
                <a:off x="894" y="1895"/>
                <a:ext cx="60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5" name="Line 13"/>
              <p:cNvSpPr>
                <a:spLocks noChangeShapeType="1"/>
              </p:cNvSpPr>
              <p:nvPr/>
            </p:nvSpPr>
            <p:spPr bwMode="auto">
              <a:xfrm flipH="1">
                <a:off x="894" y="1366"/>
                <a:ext cx="60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6" name="Line 14"/>
              <p:cNvSpPr>
                <a:spLocks noChangeShapeType="1"/>
              </p:cNvSpPr>
              <p:nvPr/>
            </p:nvSpPr>
            <p:spPr bwMode="auto">
              <a:xfrm flipH="1">
                <a:off x="894" y="837"/>
                <a:ext cx="60" cy="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7" name="Rectangle 15"/>
              <p:cNvSpPr>
                <a:spLocks noChangeArrowheads="1"/>
              </p:cNvSpPr>
              <p:nvPr/>
            </p:nvSpPr>
            <p:spPr bwMode="auto">
              <a:xfrm>
                <a:off x="570" y="288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2400"/>
                  <a:t>X</a:t>
                </a:r>
                <a:r>
                  <a:rPr lang="en-US" sz="2400" b="1" baseline="-25000"/>
                  <a:t>2</a:t>
                </a:r>
              </a:p>
            </p:txBody>
          </p:sp>
          <p:sp>
            <p:nvSpPr>
              <p:cNvPr id="23568" name="Rectangle 16"/>
              <p:cNvSpPr>
                <a:spLocks noChangeArrowheads="1"/>
              </p:cNvSpPr>
              <p:nvPr/>
            </p:nvSpPr>
            <p:spPr bwMode="auto">
              <a:xfrm>
                <a:off x="4608" y="3552"/>
                <a:ext cx="62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2400"/>
                  <a:t>X</a:t>
                </a:r>
                <a:r>
                  <a:rPr lang="en-US" sz="2400" b="1" baseline="-25000"/>
                  <a:t>1</a:t>
                </a:r>
              </a:p>
            </p:txBody>
          </p:sp>
          <p:sp>
            <p:nvSpPr>
              <p:cNvPr id="23569" name="Rectangle 17"/>
              <p:cNvSpPr>
                <a:spLocks noChangeArrowheads="1"/>
              </p:cNvSpPr>
              <p:nvPr/>
            </p:nvSpPr>
            <p:spPr bwMode="auto">
              <a:xfrm>
                <a:off x="554" y="718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250</a:t>
                </a:r>
              </a:p>
            </p:txBody>
          </p:sp>
          <p:sp>
            <p:nvSpPr>
              <p:cNvPr id="23570" name="Rectangle 18"/>
              <p:cNvSpPr>
                <a:spLocks noChangeArrowheads="1"/>
              </p:cNvSpPr>
              <p:nvPr/>
            </p:nvSpPr>
            <p:spPr bwMode="auto">
              <a:xfrm>
                <a:off x="555" y="1266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200</a:t>
                </a:r>
              </a:p>
            </p:txBody>
          </p:sp>
          <p:sp>
            <p:nvSpPr>
              <p:cNvPr id="23571" name="Rectangle 19"/>
              <p:cNvSpPr>
                <a:spLocks noChangeArrowheads="1"/>
              </p:cNvSpPr>
              <p:nvPr/>
            </p:nvSpPr>
            <p:spPr bwMode="auto">
              <a:xfrm>
                <a:off x="544" y="1782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150</a:t>
                </a:r>
              </a:p>
            </p:txBody>
          </p:sp>
          <p:sp>
            <p:nvSpPr>
              <p:cNvPr id="23572" name="Rectangle 20"/>
              <p:cNvSpPr>
                <a:spLocks noChangeArrowheads="1"/>
              </p:cNvSpPr>
              <p:nvPr/>
            </p:nvSpPr>
            <p:spPr bwMode="auto">
              <a:xfrm>
                <a:off x="555" y="2320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100</a:t>
                </a:r>
              </a:p>
            </p:txBody>
          </p:sp>
          <p:sp>
            <p:nvSpPr>
              <p:cNvPr id="23573" name="Rectangle 21"/>
              <p:cNvSpPr>
                <a:spLocks noChangeArrowheads="1"/>
              </p:cNvSpPr>
              <p:nvPr/>
            </p:nvSpPr>
            <p:spPr bwMode="auto">
              <a:xfrm>
                <a:off x="587" y="2846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 50</a:t>
                </a:r>
              </a:p>
            </p:txBody>
          </p:sp>
          <p:sp>
            <p:nvSpPr>
              <p:cNvPr id="23574" name="Rectangle 22"/>
              <p:cNvSpPr>
                <a:spLocks noChangeArrowheads="1"/>
              </p:cNvSpPr>
              <p:nvPr/>
            </p:nvSpPr>
            <p:spPr bwMode="auto">
              <a:xfrm>
                <a:off x="618" y="3372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  0</a:t>
                </a:r>
              </a:p>
            </p:txBody>
          </p:sp>
          <p:sp>
            <p:nvSpPr>
              <p:cNvPr id="23575" name="Rectangle 23"/>
              <p:cNvSpPr>
                <a:spLocks noChangeArrowheads="1"/>
              </p:cNvSpPr>
              <p:nvPr/>
            </p:nvSpPr>
            <p:spPr bwMode="auto">
              <a:xfrm>
                <a:off x="777" y="3552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  0</a:t>
                </a:r>
              </a:p>
            </p:txBody>
          </p:sp>
          <p:sp>
            <p:nvSpPr>
              <p:cNvPr id="23576" name="Rectangle 24"/>
              <p:cNvSpPr>
                <a:spLocks noChangeArrowheads="1"/>
              </p:cNvSpPr>
              <p:nvPr/>
            </p:nvSpPr>
            <p:spPr bwMode="auto">
              <a:xfrm>
                <a:off x="1451" y="3563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 50</a:t>
                </a:r>
              </a:p>
            </p:txBody>
          </p:sp>
          <p:sp>
            <p:nvSpPr>
              <p:cNvPr id="23577" name="Rectangle 25"/>
              <p:cNvSpPr>
                <a:spLocks noChangeArrowheads="1"/>
              </p:cNvSpPr>
              <p:nvPr/>
            </p:nvSpPr>
            <p:spPr bwMode="auto">
              <a:xfrm>
                <a:off x="2082" y="3542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100</a:t>
                </a:r>
              </a:p>
            </p:txBody>
          </p:sp>
          <p:sp>
            <p:nvSpPr>
              <p:cNvPr id="23578" name="Rectangle 26"/>
              <p:cNvSpPr>
                <a:spLocks noChangeArrowheads="1"/>
              </p:cNvSpPr>
              <p:nvPr/>
            </p:nvSpPr>
            <p:spPr bwMode="auto">
              <a:xfrm>
                <a:off x="2734" y="3552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150</a:t>
                </a:r>
              </a:p>
            </p:txBody>
          </p:sp>
          <p:sp>
            <p:nvSpPr>
              <p:cNvPr id="23579" name="Rectangle 27"/>
              <p:cNvSpPr>
                <a:spLocks noChangeArrowheads="1"/>
              </p:cNvSpPr>
              <p:nvPr/>
            </p:nvSpPr>
            <p:spPr bwMode="auto">
              <a:xfrm>
                <a:off x="3398" y="3562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200</a:t>
                </a:r>
              </a:p>
            </p:txBody>
          </p:sp>
          <p:sp>
            <p:nvSpPr>
              <p:cNvPr id="23580" name="Rectangle 28"/>
              <p:cNvSpPr>
                <a:spLocks noChangeArrowheads="1"/>
              </p:cNvSpPr>
              <p:nvPr/>
            </p:nvSpPr>
            <p:spPr bwMode="auto">
              <a:xfrm>
                <a:off x="4060" y="3562"/>
                <a:ext cx="35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250</a:t>
                </a:r>
              </a:p>
            </p:txBody>
          </p:sp>
          <p:sp>
            <p:nvSpPr>
              <p:cNvPr id="23581" name="Rectangle 29"/>
              <p:cNvSpPr>
                <a:spLocks noChangeArrowheads="1"/>
              </p:cNvSpPr>
              <p:nvPr/>
            </p:nvSpPr>
            <p:spPr bwMode="auto">
              <a:xfrm>
                <a:off x="1642" y="1089"/>
                <a:ext cx="86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(0, 175)</a:t>
                </a:r>
              </a:p>
            </p:txBody>
          </p:sp>
          <p:sp>
            <p:nvSpPr>
              <p:cNvPr id="23582" name="Line 30"/>
              <p:cNvSpPr>
                <a:spLocks noChangeShapeType="1"/>
              </p:cNvSpPr>
              <p:nvPr/>
            </p:nvSpPr>
            <p:spPr bwMode="auto">
              <a:xfrm flipH="1">
                <a:off x="973" y="1191"/>
                <a:ext cx="666" cy="50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3" name="Rectangle 31"/>
              <p:cNvSpPr>
                <a:spLocks noChangeArrowheads="1"/>
              </p:cNvSpPr>
              <p:nvPr/>
            </p:nvSpPr>
            <p:spPr bwMode="auto">
              <a:xfrm>
                <a:off x="3845" y="2770"/>
                <a:ext cx="71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b="1"/>
                  <a:t>(150, 0)</a:t>
                </a:r>
              </a:p>
            </p:txBody>
          </p:sp>
          <p:sp>
            <p:nvSpPr>
              <p:cNvPr id="23584" name="Line 32"/>
              <p:cNvSpPr>
                <a:spLocks noChangeShapeType="1"/>
              </p:cNvSpPr>
              <p:nvPr/>
            </p:nvSpPr>
            <p:spPr bwMode="auto">
              <a:xfrm flipH="1">
                <a:off x="2954" y="2879"/>
                <a:ext cx="884" cy="56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5" name="Rectangle 33"/>
              <p:cNvSpPr>
                <a:spLocks noChangeArrowheads="1"/>
              </p:cNvSpPr>
              <p:nvPr/>
            </p:nvSpPr>
            <p:spPr bwMode="auto">
              <a:xfrm>
                <a:off x="2458" y="1150"/>
                <a:ext cx="15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b="1"/>
                  <a:t>objective function </a:t>
                </a:r>
              </a:p>
            </p:txBody>
          </p:sp>
          <p:sp>
            <p:nvSpPr>
              <p:cNvPr id="23586" name="Rectangle 34"/>
              <p:cNvSpPr>
                <a:spLocks noChangeArrowheads="1"/>
              </p:cNvSpPr>
              <p:nvPr/>
            </p:nvSpPr>
            <p:spPr bwMode="auto">
              <a:xfrm>
                <a:off x="2200" y="1348"/>
                <a:ext cx="237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b="1"/>
                  <a:t>350X</a:t>
                </a:r>
                <a:r>
                  <a:rPr lang="en-US" b="1" baseline="-25000"/>
                  <a:t>1</a:t>
                </a:r>
                <a:r>
                  <a:rPr lang="en-US" b="1"/>
                  <a:t> + 300X</a:t>
                </a:r>
                <a:r>
                  <a:rPr lang="en-US" b="1" baseline="-25000"/>
                  <a:t>2</a:t>
                </a:r>
                <a:r>
                  <a:rPr lang="en-US" b="1"/>
                  <a:t> = 35000</a:t>
                </a:r>
              </a:p>
            </p:txBody>
          </p:sp>
          <p:sp>
            <p:nvSpPr>
              <p:cNvPr id="23587" name="Line 35"/>
              <p:cNvSpPr>
                <a:spLocks noChangeShapeType="1"/>
              </p:cNvSpPr>
              <p:nvPr/>
            </p:nvSpPr>
            <p:spPr bwMode="auto">
              <a:xfrm flipH="1">
                <a:off x="1144" y="1452"/>
                <a:ext cx="1399" cy="9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37"/>
              <p:cNvSpPr>
                <a:spLocks noChangeShapeType="1"/>
              </p:cNvSpPr>
              <p:nvPr/>
            </p:nvSpPr>
            <p:spPr bwMode="auto">
              <a:xfrm>
                <a:off x="954" y="1584"/>
                <a:ext cx="1059" cy="6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0" name="Line 38"/>
              <p:cNvSpPr>
                <a:spLocks noChangeShapeType="1"/>
              </p:cNvSpPr>
              <p:nvPr/>
            </p:nvSpPr>
            <p:spPr bwMode="auto">
              <a:xfrm>
                <a:off x="2004" y="2214"/>
                <a:ext cx="726" cy="5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1" name="Line 39"/>
              <p:cNvSpPr>
                <a:spLocks noChangeShapeType="1"/>
              </p:cNvSpPr>
              <p:nvPr/>
            </p:nvSpPr>
            <p:spPr bwMode="auto">
              <a:xfrm>
                <a:off x="2724" y="2766"/>
                <a:ext cx="612" cy="71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2" name="Line 40"/>
              <p:cNvSpPr>
                <a:spLocks noChangeShapeType="1"/>
              </p:cNvSpPr>
              <p:nvPr/>
            </p:nvSpPr>
            <p:spPr bwMode="auto">
              <a:xfrm flipH="1" flipV="1">
                <a:off x="966" y="2292"/>
                <a:ext cx="1308" cy="11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3" name="Line 41"/>
              <p:cNvSpPr>
                <a:spLocks noChangeShapeType="1"/>
              </p:cNvSpPr>
              <p:nvPr/>
            </p:nvSpPr>
            <p:spPr bwMode="auto">
              <a:xfrm flipH="1" flipV="1">
                <a:off x="960" y="1698"/>
                <a:ext cx="1974" cy="17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4" name="Line 42"/>
              <p:cNvSpPr>
                <a:spLocks noChangeShapeType="1"/>
              </p:cNvSpPr>
              <p:nvPr/>
            </p:nvSpPr>
            <p:spPr bwMode="auto">
              <a:xfrm flipH="1">
                <a:off x="2272" y="1938"/>
                <a:ext cx="1399" cy="9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5" name="Rectangle 43"/>
              <p:cNvSpPr>
                <a:spLocks noChangeArrowheads="1"/>
              </p:cNvSpPr>
              <p:nvPr/>
            </p:nvSpPr>
            <p:spPr bwMode="auto">
              <a:xfrm>
                <a:off x="3617" y="1668"/>
                <a:ext cx="154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b="1"/>
                  <a:t>objective function </a:t>
                </a:r>
              </a:p>
            </p:txBody>
          </p:sp>
        </p:grpSp>
        <p:sp>
          <p:nvSpPr>
            <p:cNvPr id="23596" name="Rectangle 44"/>
            <p:cNvSpPr>
              <a:spLocks noChangeArrowheads="1"/>
            </p:cNvSpPr>
            <p:nvPr/>
          </p:nvSpPr>
          <p:spPr bwMode="auto">
            <a:xfrm>
              <a:off x="3648" y="2064"/>
              <a:ext cx="16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350X</a:t>
              </a:r>
              <a:r>
                <a:rPr lang="en-US" b="1" baseline="-25000"/>
                <a:t>1</a:t>
              </a:r>
              <a:r>
                <a:rPr lang="en-US" b="1"/>
                <a:t> + 300X</a:t>
              </a:r>
              <a:r>
                <a:rPr lang="en-US" b="1" baseline="-25000"/>
                <a:t>2</a:t>
              </a:r>
              <a:r>
                <a:rPr lang="en-US" b="1"/>
                <a:t> = 52500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93343"/>
            <a:ext cx="2895600" cy="357814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9" name="Rectangle 33"/>
          <p:cNvSpPr>
            <a:spLocks noChangeArrowheads="1"/>
          </p:cNvSpPr>
          <p:nvPr/>
        </p:nvSpPr>
        <p:spPr bwMode="auto">
          <a:xfrm>
            <a:off x="1171575" y="609600"/>
            <a:ext cx="777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Using A Level Curve to Locate </a:t>
            </a:r>
            <a:br>
              <a:rPr lang="en-US" sz="3600" i="1">
                <a:solidFill>
                  <a:schemeClr val="hlink"/>
                </a:solidFill>
                <a:latin typeface="Tahoma" pitchFamily="34" charset="0"/>
              </a:rPr>
            </a:br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the Optimal Solution</a:t>
            </a:r>
          </a:p>
        </p:txBody>
      </p:sp>
      <p:grpSp>
        <p:nvGrpSpPr>
          <p:cNvPr id="24620" name="Group 44"/>
          <p:cNvGrpSpPr>
            <a:grpSpLocks/>
          </p:cNvGrpSpPr>
          <p:nvPr/>
        </p:nvGrpSpPr>
        <p:grpSpPr bwMode="auto">
          <a:xfrm>
            <a:off x="863600" y="838200"/>
            <a:ext cx="7688263" cy="5638800"/>
            <a:chOff x="544" y="288"/>
            <a:chExt cx="4843" cy="3552"/>
          </a:xfrm>
        </p:grpSpPr>
        <p:sp>
          <p:nvSpPr>
            <p:cNvPr id="24578" name="Freeform 2" descr="70%"/>
            <p:cNvSpPr>
              <a:spLocks/>
            </p:cNvSpPr>
            <p:nvPr/>
          </p:nvSpPr>
          <p:spPr bwMode="auto">
            <a:xfrm>
              <a:off x="948" y="1578"/>
              <a:ext cx="2383" cy="1903"/>
            </a:xfrm>
            <a:custGeom>
              <a:avLst/>
              <a:gdLst>
                <a:gd name="T0" fmla="*/ 0 w 2383"/>
                <a:gd name="T1" fmla="*/ 0 h 1903"/>
                <a:gd name="T2" fmla="*/ 0 w 2383"/>
                <a:gd name="T3" fmla="*/ 1902 h 1903"/>
                <a:gd name="T4" fmla="*/ 2382 w 2383"/>
                <a:gd name="T5" fmla="*/ 1896 h 1903"/>
                <a:gd name="T6" fmla="*/ 1774 w 2383"/>
                <a:gd name="T7" fmla="*/ 1186 h 1903"/>
                <a:gd name="T8" fmla="*/ 1052 w 2383"/>
                <a:gd name="T9" fmla="*/ 637 h 1903"/>
                <a:gd name="T10" fmla="*/ 0 w 2383"/>
                <a:gd name="T11" fmla="*/ 0 h 1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3" h="1903">
                  <a:moveTo>
                    <a:pt x="0" y="0"/>
                  </a:moveTo>
                  <a:lnTo>
                    <a:pt x="0" y="1902"/>
                  </a:lnTo>
                  <a:lnTo>
                    <a:pt x="2382" y="1896"/>
                  </a:lnTo>
                  <a:lnTo>
                    <a:pt x="1774" y="1186"/>
                  </a:lnTo>
                  <a:lnTo>
                    <a:pt x="1052" y="637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79" name="Line 3"/>
            <p:cNvSpPr>
              <a:spLocks noChangeShapeType="1"/>
            </p:cNvSpPr>
            <p:nvPr/>
          </p:nvSpPr>
          <p:spPr bwMode="auto">
            <a:xfrm>
              <a:off x="894" y="348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>
              <a:off x="1613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2272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2931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3" name="Line 7"/>
            <p:cNvSpPr>
              <a:spLocks noChangeShapeType="1"/>
            </p:cNvSpPr>
            <p:nvPr/>
          </p:nvSpPr>
          <p:spPr bwMode="auto">
            <a:xfrm>
              <a:off x="3590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4249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 flipV="1">
              <a:off x="954" y="40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 flipH="1">
              <a:off x="894" y="295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 flipH="1">
              <a:off x="894" y="242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Line 12"/>
            <p:cNvSpPr>
              <a:spLocks noChangeShapeType="1"/>
            </p:cNvSpPr>
            <p:nvPr/>
          </p:nvSpPr>
          <p:spPr bwMode="auto">
            <a:xfrm flipH="1">
              <a:off x="894" y="189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9" name="Line 13"/>
            <p:cNvSpPr>
              <a:spLocks noChangeShapeType="1"/>
            </p:cNvSpPr>
            <p:nvPr/>
          </p:nvSpPr>
          <p:spPr bwMode="auto">
            <a:xfrm flipH="1">
              <a:off x="894" y="136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Line 14"/>
            <p:cNvSpPr>
              <a:spLocks noChangeShapeType="1"/>
            </p:cNvSpPr>
            <p:nvPr/>
          </p:nvSpPr>
          <p:spPr bwMode="auto">
            <a:xfrm flipH="1">
              <a:off x="894" y="83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1" name="Rectangle 15"/>
            <p:cNvSpPr>
              <a:spLocks noChangeArrowheads="1"/>
            </p:cNvSpPr>
            <p:nvPr/>
          </p:nvSpPr>
          <p:spPr bwMode="auto">
            <a:xfrm>
              <a:off x="570" y="2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24592" name="Rectangle 16"/>
            <p:cNvSpPr>
              <a:spLocks noChangeArrowheads="1"/>
            </p:cNvSpPr>
            <p:nvPr/>
          </p:nvSpPr>
          <p:spPr bwMode="auto">
            <a:xfrm>
              <a:off x="4608" y="355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24593" name="Rectangle 17"/>
            <p:cNvSpPr>
              <a:spLocks noChangeArrowheads="1"/>
            </p:cNvSpPr>
            <p:nvPr/>
          </p:nvSpPr>
          <p:spPr bwMode="auto">
            <a:xfrm>
              <a:off x="554" y="71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4594" name="Rectangle 18"/>
            <p:cNvSpPr>
              <a:spLocks noChangeArrowheads="1"/>
            </p:cNvSpPr>
            <p:nvPr/>
          </p:nvSpPr>
          <p:spPr bwMode="auto">
            <a:xfrm>
              <a:off x="555" y="126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4595" name="Rectangle 19"/>
            <p:cNvSpPr>
              <a:spLocks noChangeArrowheads="1"/>
            </p:cNvSpPr>
            <p:nvPr/>
          </p:nvSpPr>
          <p:spPr bwMode="auto">
            <a:xfrm>
              <a:off x="544" y="1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4596" name="Rectangle 20"/>
            <p:cNvSpPr>
              <a:spLocks noChangeArrowheads="1"/>
            </p:cNvSpPr>
            <p:nvPr/>
          </p:nvSpPr>
          <p:spPr bwMode="auto">
            <a:xfrm>
              <a:off x="555" y="232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4597" name="Rectangle 21"/>
            <p:cNvSpPr>
              <a:spLocks noChangeArrowheads="1"/>
            </p:cNvSpPr>
            <p:nvPr/>
          </p:nvSpPr>
          <p:spPr bwMode="auto">
            <a:xfrm>
              <a:off x="587" y="284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4598" name="Rectangle 22"/>
            <p:cNvSpPr>
              <a:spLocks noChangeArrowheads="1"/>
            </p:cNvSpPr>
            <p:nvPr/>
          </p:nvSpPr>
          <p:spPr bwMode="auto">
            <a:xfrm>
              <a:off x="618" y="33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4599" name="Rectangle 23"/>
            <p:cNvSpPr>
              <a:spLocks noChangeArrowheads="1"/>
            </p:cNvSpPr>
            <p:nvPr/>
          </p:nvSpPr>
          <p:spPr bwMode="auto">
            <a:xfrm>
              <a:off x="777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4600" name="Rectangle 24"/>
            <p:cNvSpPr>
              <a:spLocks noChangeArrowheads="1"/>
            </p:cNvSpPr>
            <p:nvPr/>
          </p:nvSpPr>
          <p:spPr bwMode="auto">
            <a:xfrm>
              <a:off x="1451" y="356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4601" name="Rectangle 25"/>
            <p:cNvSpPr>
              <a:spLocks noChangeArrowheads="1"/>
            </p:cNvSpPr>
            <p:nvPr/>
          </p:nvSpPr>
          <p:spPr bwMode="auto">
            <a:xfrm>
              <a:off x="2082" y="354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4602" name="Rectangle 26"/>
            <p:cNvSpPr>
              <a:spLocks noChangeArrowheads="1"/>
            </p:cNvSpPr>
            <p:nvPr/>
          </p:nvSpPr>
          <p:spPr bwMode="auto">
            <a:xfrm>
              <a:off x="2734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4603" name="Rectangle 27"/>
            <p:cNvSpPr>
              <a:spLocks noChangeArrowheads="1"/>
            </p:cNvSpPr>
            <p:nvPr/>
          </p:nvSpPr>
          <p:spPr bwMode="auto">
            <a:xfrm>
              <a:off x="3398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4604" name="Rectangle 28"/>
            <p:cNvSpPr>
              <a:spLocks noChangeArrowheads="1"/>
            </p:cNvSpPr>
            <p:nvPr/>
          </p:nvSpPr>
          <p:spPr bwMode="auto">
            <a:xfrm>
              <a:off x="4060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4605" name="Line 29"/>
            <p:cNvSpPr>
              <a:spLocks noChangeShapeType="1"/>
            </p:cNvSpPr>
            <p:nvPr/>
          </p:nvSpPr>
          <p:spPr bwMode="auto">
            <a:xfrm flipH="1">
              <a:off x="2807" y="2721"/>
              <a:ext cx="884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6" name="Rectangle 30"/>
            <p:cNvSpPr>
              <a:spLocks noChangeArrowheads="1"/>
            </p:cNvSpPr>
            <p:nvPr/>
          </p:nvSpPr>
          <p:spPr bwMode="auto">
            <a:xfrm>
              <a:off x="2458" y="1150"/>
              <a:ext cx="15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objective function </a:t>
              </a:r>
            </a:p>
          </p:txBody>
        </p:sp>
        <p:sp>
          <p:nvSpPr>
            <p:cNvPr id="24607" name="Rectangle 31"/>
            <p:cNvSpPr>
              <a:spLocks noChangeArrowheads="1"/>
            </p:cNvSpPr>
            <p:nvPr/>
          </p:nvSpPr>
          <p:spPr bwMode="auto">
            <a:xfrm>
              <a:off x="2200" y="1348"/>
              <a:ext cx="237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350X</a:t>
              </a:r>
              <a:r>
                <a:rPr lang="en-US" b="1" baseline="-25000"/>
                <a:t>1</a:t>
              </a:r>
              <a:r>
                <a:rPr lang="en-US" b="1"/>
                <a:t> + 300X</a:t>
              </a:r>
              <a:r>
                <a:rPr lang="en-US" b="1" baseline="-25000"/>
                <a:t>2</a:t>
              </a:r>
              <a:r>
                <a:rPr lang="en-US" b="1"/>
                <a:t> = 35000</a:t>
              </a:r>
            </a:p>
          </p:txBody>
        </p:sp>
        <p:sp>
          <p:nvSpPr>
            <p:cNvPr id="24608" name="Line 32"/>
            <p:cNvSpPr>
              <a:spLocks noChangeShapeType="1"/>
            </p:cNvSpPr>
            <p:nvPr/>
          </p:nvSpPr>
          <p:spPr bwMode="auto">
            <a:xfrm flipH="1">
              <a:off x="1144" y="1452"/>
              <a:ext cx="1399" cy="9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0" name="Line 34"/>
            <p:cNvSpPr>
              <a:spLocks noChangeShapeType="1"/>
            </p:cNvSpPr>
            <p:nvPr/>
          </p:nvSpPr>
          <p:spPr bwMode="auto">
            <a:xfrm>
              <a:off x="954" y="1584"/>
              <a:ext cx="1059" cy="6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1" name="Line 35"/>
            <p:cNvSpPr>
              <a:spLocks noChangeShapeType="1"/>
            </p:cNvSpPr>
            <p:nvPr/>
          </p:nvSpPr>
          <p:spPr bwMode="auto">
            <a:xfrm>
              <a:off x="2004" y="2214"/>
              <a:ext cx="726" cy="5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2" name="Line 36"/>
            <p:cNvSpPr>
              <a:spLocks noChangeShapeType="1"/>
            </p:cNvSpPr>
            <p:nvPr/>
          </p:nvSpPr>
          <p:spPr bwMode="auto">
            <a:xfrm>
              <a:off x="2724" y="2766"/>
              <a:ext cx="612" cy="7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3" name="Line 37"/>
            <p:cNvSpPr>
              <a:spLocks noChangeShapeType="1"/>
            </p:cNvSpPr>
            <p:nvPr/>
          </p:nvSpPr>
          <p:spPr bwMode="auto">
            <a:xfrm flipH="1" flipV="1">
              <a:off x="966" y="2292"/>
              <a:ext cx="1308" cy="1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Line 38"/>
            <p:cNvSpPr>
              <a:spLocks noChangeShapeType="1"/>
            </p:cNvSpPr>
            <p:nvPr/>
          </p:nvSpPr>
          <p:spPr bwMode="auto">
            <a:xfrm flipH="1" flipV="1">
              <a:off x="960" y="1698"/>
              <a:ext cx="1974" cy="17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5" name="Rectangle 39"/>
            <p:cNvSpPr>
              <a:spLocks noChangeArrowheads="1"/>
            </p:cNvSpPr>
            <p:nvPr/>
          </p:nvSpPr>
          <p:spPr bwMode="auto">
            <a:xfrm>
              <a:off x="3686" y="2532"/>
              <a:ext cx="146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objective function </a:t>
              </a:r>
            </a:p>
          </p:txBody>
        </p:sp>
        <p:sp>
          <p:nvSpPr>
            <p:cNvPr id="24616" name="Rectangle 40"/>
            <p:cNvSpPr>
              <a:spLocks noChangeArrowheads="1"/>
            </p:cNvSpPr>
            <p:nvPr/>
          </p:nvSpPr>
          <p:spPr bwMode="auto">
            <a:xfrm>
              <a:off x="3645" y="2759"/>
              <a:ext cx="174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350X</a:t>
              </a:r>
              <a:r>
                <a:rPr lang="en-US" b="1" baseline="-25000"/>
                <a:t>1</a:t>
              </a:r>
              <a:r>
                <a:rPr lang="en-US" b="1"/>
                <a:t> + 300X</a:t>
              </a:r>
              <a:r>
                <a:rPr lang="en-US" b="1" baseline="-25000"/>
                <a:t>2</a:t>
              </a:r>
              <a:r>
                <a:rPr lang="en-US" b="1"/>
                <a:t> = 52500</a:t>
              </a:r>
            </a:p>
          </p:txBody>
        </p:sp>
        <p:sp>
          <p:nvSpPr>
            <p:cNvPr id="24617" name="Line 41"/>
            <p:cNvSpPr>
              <a:spLocks noChangeShapeType="1"/>
            </p:cNvSpPr>
            <p:nvPr/>
          </p:nvSpPr>
          <p:spPr bwMode="auto">
            <a:xfrm flipH="1" flipV="1">
              <a:off x="954" y="1097"/>
              <a:ext cx="2536" cy="23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8" name="Line 42"/>
            <p:cNvSpPr>
              <a:spLocks noChangeShapeType="1"/>
            </p:cNvSpPr>
            <p:nvPr/>
          </p:nvSpPr>
          <p:spPr bwMode="auto">
            <a:xfrm flipH="1">
              <a:off x="2776" y="2154"/>
              <a:ext cx="884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9" name="Rectangle 43"/>
            <p:cNvSpPr>
              <a:spLocks noChangeArrowheads="1"/>
            </p:cNvSpPr>
            <p:nvPr/>
          </p:nvSpPr>
          <p:spPr bwMode="auto">
            <a:xfrm>
              <a:off x="3614" y="2027"/>
              <a:ext cx="128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optimal solution 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06043"/>
            <a:ext cx="2895600" cy="357814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534400" cy="549275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Calculating the Optimal Solution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1052513"/>
            <a:ext cx="7772400" cy="5324475"/>
          </a:xfrm>
          <a:noFill/>
          <a:ln/>
        </p:spPr>
        <p:txBody>
          <a:bodyPr lIns="92075" tIns="46038" rIns="92075" bIns="46038"/>
          <a:lstStyle/>
          <a:p>
            <a:r>
              <a:rPr lang="en-US" sz="2400" dirty="0"/>
              <a:t>The optimal solution occurs where the “pumps” and “labor” constraints intersect.</a:t>
            </a:r>
          </a:p>
          <a:p>
            <a:r>
              <a:rPr lang="en-US" sz="2400" dirty="0"/>
              <a:t>This occurs where:</a:t>
            </a:r>
          </a:p>
          <a:p>
            <a:pPr lvl="1">
              <a:buFontTx/>
              <a:buNone/>
            </a:pPr>
            <a:r>
              <a:rPr lang="en-US" sz="2400" dirty="0"/>
              <a:t>				X</a:t>
            </a:r>
            <a:r>
              <a:rPr lang="en-US" sz="2400" baseline="-25000" dirty="0"/>
              <a:t>1</a:t>
            </a:r>
            <a:r>
              <a:rPr lang="en-US" sz="2400" dirty="0"/>
              <a:t> + X</a:t>
            </a:r>
            <a:r>
              <a:rPr lang="en-US" sz="2400" baseline="-25000" dirty="0"/>
              <a:t>2</a:t>
            </a:r>
            <a:r>
              <a:rPr lang="en-US" sz="2400" dirty="0"/>
              <a:t> = 200 		(1)</a:t>
            </a:r>
          </a:p>
          <a:p>
            <a:pPr lvl="1">
              <a:buFontTx/>
              <a:buNone/>
            </a:pPr>
            <a:r>
              <a:rPr lang="en-US" sz="2400" dirty="0"/>
              <a:t>			and 	9X</a:t>
            </a:r>
            <a:r>
              <a:rPr lang="en-US" sz="2400" baseline="-25000" dirty="0"/>
              <a:t>1</a:t>
            </a:r>
            <a:r>
              <a:rPr lang="en-US" sz="2400" dirty="0"/>
              <a:t> + 6X</a:t>
            </a:r>
            <a:r>
              <a:rPr lang="en-US" sz="2400" baseline="-25000" dirty="0"/>
              <a:t>2</a:t>
            </a:r>
            <a:r>
              <a:rPr lang="en-US" sz="2400" dirty="0"/>
              <a:t> = 1566		(2)</a:t>
            </a:r>
          </a:p>
          <a:p>
            <a:r>
              <a:rPr lang="en-US" sz="2400" dirty="0"/>
              <a:t>From (1) we have, X</a:t>
            </a:r>
            <a:r>
              <a:rPr lang="en-US" sz="2400" baseline="-25000" dirty="0"/>
              <a:t>2</a:t>
            </a:r>
            <a:r>
              <a:rPr lang="en-US" sz="2400" dirty="0"/>
              <a:t> = 200 -X</a:t>
            </a:r>
            <a:r>
              <a:rPr lang="en-US" sz="2400" baseline="-25000" dirty="0"/>
              <a:t>1		</a:t>
            </a:r>
            <a:r>
              <a:rPr lang="en-US" sz="2400" dirty="0"/>
              <a:t>(3)</a:t>
            </a:r>
          </a:p>
          <a:p>
            <a:r>
              <a:rPr lang="en-US" sz="2400" dirty="0"/>
              <a:t>Substituting (3) for X</a:t>
            </a:r>
            <a:r>
              <a:rPr lang="en-US" sz="2400" baseline="-25000" dirty="0"/>
              <a:t>2</a:t>
            </a:r>
            <a:r>
              <a:rPr lang="en-US" sz="2400" dirty="0"/>
              <a:t> in (2) we have,</a:t>
            </a:r>
          </a:p>
          <a:p>
            <a:pPr lvl="1" algn="ctr">
              <a:buFontTx/>
              <a:buNone/>
            </a:pPr>
            <a:r>
              <a:rPr lang="en-US" sz="2400" dirty="0"/>
              <a:t>9X</a:t>
            </a:r>
            <a:r>
              <a:rPr lang="en-US" sz="2400" baseline="-25000" dirty="0"/>
              <a:t>1</a:t>
            </a:r>
            <a:r>
              <a:rPr lang="en-US" sz="2400" dirty="0"/>
              <a:t> + 6 (200 -X</a:t>
            </a:r>
            <a:r>
              <a:rPr lang="en-US" sz="2400" baseline="-25000" dirty="0"/>
              <a:t>1</a:t>
            </a:r>
            <a:r>
              <a:rPr lang="en-US" sz="2400" dirty="0"/>
              <a:t>) = 1566</a:t>
            </a:r>
          </a:p>
          <a:p>
            <a:pPr lvl="1" algn="ctr">
              <a:buFontTx/>
              <a:buNone/>
            </a:pPr>
            <a:r>
              <a:rPr lang="en-US" sz="2400" dirty="0"/>
              <a:t>which reduces to X</a:t>
            </a:r>
            <a:r>
              <a:rPr lang="en-US" sz="2400" baseline="-25000" dirty="0"/>
              <a:t>1</a:t>
            </a:r>
            <a:r>
              <a:rPr lang="en-US" sz="2400" dirty="0"/>
              <a:t> = 122</a:t>
            </a:r>
          </a:p>
          <a:p>
            <a:r>
              <a:rPr lang="en-US" sz="2400" dirty="0"/>
              <a:t>So the optimal solution is,</a:t>
            </a:r>
          </a:p>
          <a:p>
            <a:pPr lvl="1" algn="ctr">
              <a:buFontTx/>
              <a:buNone/>
            </a:pPr>
            <a:r>
              <a:rPr lang="en-US" sz="2400" dirty="0"/>
              <a:t> X</a:t>
            </a:r>
            <a:r>
              <a:rPr lang="en-US" sz="2400" baseline="-25000" dirty="0"/>
              <a:t>1</a:t>
            </a:r>
            <a:r>
              <a:rPr lang="en-US" sz="2400" dirty="0"/>
              <a:t>=122, X</a:t>
            </a:r>
            <a:r>
              <a:rPr lang="en-US" sz="2400" baseline="-25000" dirty="0"/>
              <a:t>2</a:t>
            </a:r>
            <a:r>
              <a:rPr lang="en-US" sz="2400" dirty="0"/>
              <a:t>=200-X</a:t>
            </a:r>
            <a:r>
              <a:rPr lang="en-US" sz="2400" baseline="-25000" dirty="0"/>
              <a:t>1</a:t>
            </a:r>
            <a:r>
              <a:rPr lang="en-US" sz="2400" dirty="0"/>
              <a:t>=78</a:t>
            </a:r>
          </a:p>
          <a:p>
            <a:pPr lvl="1" algn="ctr">
              <a:buFontTx/>
              <a:buNone/>
            </a:pPr>
            <a:r>
              <a:rPr lang="en-US" sz="2400" dirty="0"/>
              <a:t>Total Profit = $350*122 + $300*78 = $66,100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76988"/>
            <a:ext cx="2895600" cy="523875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7" name="Rectangle 33"/>
          <p:cNvSpPr>
            <a:spLocks noChangeArrowheads="1"/>
          </p:cNvSpPr>
          <p:nvPr/>
        </p:nvSpPr>
        <p:spPr bwMode="auto">
          <a:xfrm>
            <a:off x="1143000" y="457200"/>
            <a:ext cx="73723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Enumerating The Corner Points</a:t>
            </a:r>
          </a:p>
        </p:txBody>
      </p:sp>
      <p:grpSp>
        <p:nvGrpSpPr>
          <p:cNvPr id="26673" name="Group 49"/>
          <p:cNvGrpSpPr>
            <a:grpSpLocks/>
          </p:cNvGrpSpPr>
          <p:nvPr/>
        </p:nvGrpSpPr>
        <p:grpSpPr bwMode="auto">
          <a:xfrm>
            <a:off x="533400" y="838200"/>
            <a:ext cx="7567613" cy="5638800"/>
            <a:chOff x="544" y="288"/>
            <a:chExt cx="4767" cy="3552"/>
          </a:xfrm>
        </p:grpSpPr>
        <p:sp>
          <p:nvSpPr>
            <p:cNvPr id="26626" name="Freeform 2" descr="70%"/>
            <p:cNvSpPr>
              <a:spLocks/>
            </p:cNvSpPr>
            <p:nvPr/>
          </p:nvSpPr>
          <p:spPr bwMode="auto">
            <a:xfrm>
              <a:off x="948" y="1578"/>
              <a:ext cx="2383" cy="1903"/>
            </a:xfrm>
            <a:custGeom>
              <a:avLst/>
              <a:gdLst>
                <a:gd name="T0" fmla="*/ 0 w 2383"/>
                <a:gd name="T1" fmla="*/ 0 h 1903"/>
                <a:gd name="T2" fmla="*/ 0 w 2383"/>
                <a:gd name="T3" fmla="*/ 1902 h 1903"/>
                <a:gd name="T4" fmla="*/ 2382 w 2383"/>
                <a:gd name="T5" fmla="*/ 1896 h 1903"/>
                <a:gd name="T6" fmla="*/ 1774 w 2383"/>
                <a:gd name="T7" fmla="*/ 1186 h 1903"/>
                <a:gd name="T8" fmla="*/ 1052 w 2383"/>
                <a:gd name="T9" fmla="*/ 637 h 1903"/>
                <a:gd name="T10" fmla="*/ 0 w 2383"/>
                <a:gd name="T11" fmla="*/ 0 h 1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3" h="1903">
                  <a:moveTo>
                    <a:pt x="0" y="0"/>
                  </a:moveTo>
                  <a:lnTo>
                    <a:pt x="0" y="1902"/>
                  </a:lnTo>
                  <a:lnTo>
                    <a:pt x="2382" y="1896"/>
                  </a:lnTo>
                  <a:lnTo>
                    <a:pt x="1774" y="1186"/>
                  </a:lnTo>
                  <a:lnTo>
                    <a:pt x="1052" y="637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27" name="Line 3"/>
            <p:cNvSpPr>
              <a:spLocks noChangeShapeType="1"/>
            </p:cNvSpPr>
            <p:nvPr/>
          </p:nvSpPr>
          <p:spPr bwMode="auto">
            <a:xfrm>
              <a:off x="894" y="348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8" name="Line 4"/>
            <p:cNvSpPr>
              <a:spLocks noChangeShapeType="1"/>
            </p:cNvSpPr>
            <p:nvPr/>
          </p:nvSpPr>
          <p:spPr bwMode="auto">
            <a:xfrm>
              <a:off x="1613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29" name="Line 5"/>
            <p:cNvSpPr>
              <a:spLocks noChangeShapeType="1"/>
            </p:cNvSpPr>
            <p:nvPr/>
          </p:nvSpPr>
          <p:spPr bwMode="auto">
            <a:xfrm>
              <a:off x="2272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0" name="Line 6"/>
            <p:cNvSpPr>
              <a:spLocks noChangeShapeType="1"/>
            </p:cNvSpPr>
            <p:nvPr/>
          </p:nvSpPr>
          <p:spPr bwMode="auto">
            <a:xfrm>
              <a:off x="2931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1" name="Line 7"/>
            <p:cNvSpPr>
              <a:spLocks noChangeShapeType="1"/>
            </p:cNvSpPr>
            <p:nvPr/>
          </p:nvSpPr>
          <p:spPr bwMode="auto">
            <a:xfrm>
              <a:off x="3590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>
              <a:off x="4249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 flipV="1">
              <a:off x="954" y="40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4" name="Line 10"/>
            <p:cNvSpPr>
              <a:spLocks noChangeShapeType="1"/>
            </p:cNvSpPr>
            <p:nvPr/>
          </p:nvSpPr>
          <p:spPr bwMode="auto">
            <a:xfrm flipH="1">
              <a:off x="894" y="295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5" name="Line 11"/>
            <p:cNvSpPr>
              <a:spLocks noChangeShapeType="1"/>
            </p:cNvSpPr>
            <p:nvPr/>
          </p:nvSpPr>
          <p:spPr bwMode="auto">
            <a:xfrm flipH="1">
              <a:off x="894" y="242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6" name="Line 12"/>
            <p:cNvSpPr>
              <a:spLocks noChangeShapeType="1"/>
            </p:cNvSpPr>
            <p:nvPr/>
          </p:nvSpPr>
          <p:spPr bwMode="auto">
            <a:xfrm flipH="1">
              <a:off x="894" y="189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7" name="Line 13"/>
            <p:cNvSpPr>
              <a:spLocks noChangeShapeType="1"/>
            </p:cNvSpPr>
            <p:nvPr/>
          </p:nvSpPr>
          <p:spPr bwMode="auto">
            <a:xfrm flipH="1">
              <a:off x="894" y="136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8" name="Line 14"/>
            <p:cNvSpPr>
              <a:spLocks noChangeShapeType="1"/>
            </p:cNvSpPr>
            <p:nvPr/>
          </p:nvSpPr>
          <p:spPr bwMode="auto">
            <a:xfrm flipH="1">
              <a:off x="894" y="83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Rectangle 15"/>
            <p:cNvSpPr>
              <a:spLocks noChangeArrowheads="1"/>
            </p:cNvSpPr>
            <p:nvPr/>
          </p:nvSpPr>
          <p:spPr bwMode="auto">
            <a:xfrm>
              <a:off x="570" y="2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26640" name="Rectangle 16"/>
            <p:cNvSpPr>
              <a:spLocks noChangeArrowheads="1"/>
            </p:cNvSpPr>
            <p:nvPr/>
          </p:nvSpPr>
          <p:spPr bwMode="auto">
            <a:xfrm>
              <a:off x="4608" y="355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26641" name="Rectangle 17"/>
            <p:cNvSpPr>
              <a:spLocks noChangeArrowheads="1"/>
            </p:cNvSpPr>
            <p:nvPr/>
          </p:nvSpPr>
          <p:spPr bwMode="auto">
            <a:xfrm>
              <a:off x="554" y="71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6642" name="Rectangle 18"/>
            <p:cNvSpPr>
              <a:spLocks noChangeArrowheads="1"/>
            </p:cNvSpPr>
            <p:nvPr/>
          </p:nvSpPr>
          <p:spPr bwMode="auto">
            <a:xfrm>
              <a:off x="555" y="126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6643" name="Rectangle 19"/>
            <p:cNvSpPr>
              <a:spLocks noChangeArrowheads="1"/>
            </p:cNvSpPr>
            <p:nvPr/>
          </p:nvSpPr>
          <p:spPr bwMode="auto">
            <a:xfrm>
              <a:off x="544" y="1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6644" name="Rectangle 20"/>
            <p:cNvSpPr>
              <a:spLocks noChangeArrowheads="1"/>
            </p:cNvSpPr>
            <p:nvPr/>
          </p:nvSpPr>
          <p:spPr bwMode="auto">
            <a:xfrm>
              <a:off x="555" y="232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6645" name="Rectangle 21"/>
            <p:cNvSpPr>
              <a:spLocks noChangeArrowheads="1"/>
            </p:cNvSpPr>
            <p:nvPr/>
          </p:nvSpPr>
          <p:spPr bwMode="auto">
            <a:xfrm>
              <a:off x="587" y="284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6646" name="Rectangle 22"/>
            <p:cNvSpPr>
              <a:spLocks noChangeArrowheads="1"/>
            </p:cNvSpPr>
            <p:nvPr/>
          </p:nvSpPr>
          <p:spPr bwMode="auto">
            <a:xfrm>
              <a:off x="618" y="33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6647" name="Rectangle 23"/>
            <p:cNvSpPr>
              <a:spLocks noChangeArrowheads="1"/>
            </p:cNvSpPr>
            <p:nvPr/>
          </p:nvSpPr>
          <p:spPr bwMode="auto">
            <a:xfrm>
              <a:off x="777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6648" name="Rectangle 24"/>
            <p:cNvSpPr>
              <a:spLocks noChangeArrowheads="1"/>
            </p:cNvSpPr>
            <p:nvPr/>
          </p:nvSpPr>
          <p:spPr bwMode="auto">
            <a:xfrm>
              <a:off x="1451" y="356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6649" name="Rectangle 25"/>
            <p:cNvSpPr>
              <a:spLocks noChangeArrowheads="1"/>
            </p:cNvSpPr>
            <p:nvPr/>
          </p:nvSpPr>
          <p:spPr bwMode="auto">
            <a:xfrm>
              <a:off x="2082" y="354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6650" name="Rectangle 26"/>
            <p:cNvSpPr>
              <a:spLocks noChangeArrowheads="1"/>
            </p:cNvSpPr>
            <p:nvPr/>
          </p:nvSpPr>
          <p:spPr bwMode="auto">
            <a:xfrm>
              <a:off x="2734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6651" name="Rectangle 27"/>
            <p:cNvSpPr>
              <a:spLocks noChangeArrowheads="1"/>
            </p:cNvSpPr>
            <p:nvPr/>
          </p:nvSpPr>
          <p:spPr bwMode="auto">
            <a:xfrm>
              <a:off x="3398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6652" name="Rectangle 28"/>
            <p:cNvSpPr>
              <a:spLocks noChangeArrowheads="1"/>
            </p:cNvSpPr>
            <p:nvPr/>
          </p:nvSpPr>
          <p:spPr bwMode="auto">
            <a:xfrm>
              <a:off x="4060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6653" name="Rectangle 29"/>
            <p:cNvSpPr>
              <a:spLocks noChangeArrowheads="1"/>
            </p:cNvSpPr>
            <p:nvPr/>
          </p:nvSpPr>
          <p:spPr bwMode="auto">
            <a:xfrm>
              <a:off x="1238" y="1204"/>
              <a:ext cx="86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(0, 180)</a:t>
              </a:r>
            </a:p>
          </p:txBody>
        </p:sp>
        <p:sp>
          <p:nvSpPr>
            <p:cNvPr id="26654" name="Line 30"/>
            <p:cNvSpPr>
              <a:spLocks noChangeShapeType="1"/>
            </p:cNvSpPr>
            <p:nvPr/>
          </p:nvSpPr>
          <p:spPr bwMode="auto">
            <a:xfrm flipH="1">
              <a:off x="963" y="1318"/>
              <a:ext cx="296" cy="2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5" name="Rectangle 31"/>
            <p:cNvSpPr>
              <a:spLocks noChangeArrowheads="1"/>
            </p:cNvSpPr>
            <p:nvPr/>
          </p:nvSpPr>
          <p:spPr bwMode="auto">
            <a:xfrm>
              <a:off x="3691" y="3133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(174, 0)</a:t>
              </a:r>
            </a:p>
          </p:txBody>
        </p:sp>
        <p:sp>
          <p:nvSpPr>
            <p:cNvPr id="26656" name="Line 32"/>
            <p:cNvSpPr>
              <a:spLocks noChangeShapeType="1"/>
            </p:cNvSpPr>
            <p:nvPr/>
          </p:nvSpPr>
          <p:spPr bwMode="auto">
            <a:xfrm flipH="1">
              <a:off x="3365" y="3244"/>
              <a:ext cx="304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8" name="Line 34"/>
            <p:cNvSpPr>
              <a:spLocks noChangeShapeType="1"/>
            </p:cNvSpPr>
            <p:nvPr/>
          </p:nvSpPr>
          <p:spPr bwMode="auto">
            <a:xfrm>
              <a:off x="954" y="1584"/>
              <a:ext cx="1059" cy="6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9" name="Line 35"/>
            <p:cNvSpPr>
              <a:spLocks noChangeShapeType="1"/>
            </p:cNvSpPr>
            <p:nvPr/>
          </p:nvSpPr>
          <p:spPr bwMode="auto">
            <a:xfrm>
              <a:off x="2004" y="2214"/>
              <a:ext cx="726" cy="5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0" name="Line 36"/>
            <p:cNvSpPr>
              <a:spLocks noChangeShapeType="1"/>
            </p:cNvSpPr>
            <p:nvPr/>
          </p:nvSpPr>
          <p:spPr bwMode="auto">
            <a:xfrm>
              <a:off x="2724" y="2766"/>
              <a:ext cx="612" cy="7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1" name="Rectangle 37"/>
            <p:cNvSpPr>
              <a:spLocks noChangeArrowheads="1"/>
            </p:cNvSpPr>
            <p:nvPr/>
          </p:nvSpPr>
          <p:spPr bwMode="auto">
            <a:xfrm>
              <a:off x="3082" y="2397"/>
              <a:ext cx="8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(122, 78)</a:t>
              </a:r>
            </a:p>
          </p:txBody>
        </p:sp>
        <p:sp>
          <p:nvSpPr>
            <p:cNvPr id="26662" name="Line 38"/>
            <p:cNvSpPr>
              <a:spLocks noChangeShapeType="1"/>
            </p:cNvSpPr>
            <p:nvPr/>
          </p:nvSpPr>
          <p:spPr bwMode="auto">
            <a:xfrm flipH="1">
              <a:off x="2104" y="2024"/>
              <a:ext cx="304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3" name="Line 39"/>
            <p:cNvSpPr>
              <a:spLocks noChangeShapeType="1"/>
            </p:cNvSpPr>
            <p:nvPr/>
          </p:nvSpPr>
          <p:spPr bwMode="auto">
            <a:xfrm flipH="1">
              <a:off x="2779" y="2530"/>
              <a:ext cx="304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4" name="Rectangle 40"/>
            <p:cNvSpPr>
              <a:spLocks noChangeArrowheads="1"/>
            </p:cNvSpPr>
            <p:nvPr/>
          </p:nvSpPr>
          <p:spPr bwMode="auto">
            <a:xfrm>
              <a:off x="2400" y="1893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(80, 120)</a:t>
              </a:r>
            </a:p>
          </p:txBody>
        </p:sp>
        <p:sp>
          <p:nvSpPr>
            <p:cNvPr id="26665" name="Line 41"/>
            <p:cNvSpPr>
              <a:spLocks noChangeShapeType="1"/>
            </p:cNvSpPr>
            <p:nvPr/>
          </p:nvSpPr>
          <p:spPr bwMode="auto">
            <a:xfrm flipH="1">
              <a:off x="981" y="3237"/>
              <a:ext cx="304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6" name="Rectangle 42"/>
            <p:cNvSpPr>
              <a:spLocks noChangeArrowheads="1"/>
            </p:cNvSpPr>
            <p:nvPr/>
          </p:nvSpPr>
          <p:spPr bwMode="auto">
            <a:xfrm>
              <a:off x="1243" y="3116"/>
              <a:ext cx="7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(0, 0)</a:t>
              </a:r>
            </a:p>
          </p:txBody>
        </p:sp>
        <p:sp>
          <p:nvSpPr>
            <p:cNvPr id="26667" name="Rectangle 43"/>
            <p:cNvSpPr>
              <a:spLocks noChangeArrowheads="1"/>
            </p:cNvSpPr>
            <p:nvPr/>
          </p:nvSpPr>
          <p:spPr bwMode="auto">
            <a:xfrm>
              <a:off x="1244" y="990"/>
              <a:ext cx="162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obj. value = $54,000</a:t>
              </a:r>
            </a:p>
          </p:txBody>
        </p:sp>
        <p:sp>
          <p:nvSpPr>
            <p:cNvPr id="26668" name="Rectangle 44"/>
            <p:cNvSpPr>
              <a:spLocks noChangeArrowheads="1"/>
            </p:cNvSpPr>
            <p:nvPr/>
          </p:nvSpPr>
          <p:spPr bwMode="auto">
            <a:xfrm>
              <a:off x="2445" y="1665"/>
              <a:ext cx="16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obj. value = $64,000</a:t>
              </a:r>
            </a:p>
          </p:txBody>
        </p:sp>
        <p:sp>
          <p:nvSpPr>
            <p:cNvPr id="26669" name="Rectangle 45"/>
            <p:cNvSpPr>
              <a:spLocks noChangeArrowheads="1"/>
            </p:cNvSpPr>
            <p:nvPr/>
          </p:nvSpPr>
          <p:spPr bwMode="auto">
            <a:xfrm>
              <a:off x="3099" y="2193"/>
              <a:ext cx="148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obj. value = $66,100</a:t>
              </a:r>
            </a:p>
          </p:txBody>
        </p:sp>
        <p:sp>
          <p:nvSpPr>
            <p:cNvPr id="26670" name="Rectangle 46"/>
            <p:cNvSpPr>
              <a:spLocks noChangeArrowheads="1"/>
            </p:cNvSpPr>
            <p:nvPr/>
          </p:nvSpPr>
          <p:spPr bwMode="auto">
            <a:xfrm>
              <a:off x="3710" y="2941"/>
              <a:ext cx="16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obj. value = $60,900</a:t>
              </a:r>
            </a:p>
          </p:txBody>
        </p:sp>
        <p:sp>
          <p:nvSpPr>
            <p:cNvPr id="26671" name="Rectangle 47"/>
            <p:cNvSpPr>
              <a:spLocks noChangeArrowheads="1"/>
            </p:cNvSpPr>
            <p:nvPr/>
          </p:nvSpPr>
          <p:spPr bwMode="auto">
            <a:xfrm>
              <a:off x="1270" y="2942"/>
              <a:ext cx="11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obj. value = $0</a:t>
              </a:r>
            </a:p>
          </p:txBody>
        </p:sp>
      </p:grpSp>
      <p:sp>
        <p:nvSpPr>
          <p:cNvPr id="26672" name="Rectangle 48"/>
          <p:cNvSpPr>
            <a:spLocks noChangeArrowheads="1"/>
          </p:cNvSpPr>
          <p:nvPr/>
        </p:nvSpPr>
        <p:spPr bwMode="auto">
          <a:xfrm>
            <a:off x="4038600" y="1524000"/>
            <a:ext cx="42672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solidFill>
                  <a:srgbClr val="CC0000"/>
                </a:solidFill>
              </a:rPr>
              <a:t>Note: This technique will not work if the solution is unbounded.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06043"/>
            <a:ext cx="2895600" cy="357814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7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382000" cy="99060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Summary of Graphical Solution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to LP Problems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95500"/>
            <a:ext cx="8113713" cy="4152900"/>
          </a:xfrm>
          <a:noFill/>
          <a:ln/>
        </p:spPr>
        <p:txBody>
          <a:bodyPr lIns="92075" tIns="46038" rIns="92075" bIns="46038"/>
          <a:lstStyle/>
          <a:p>
            <a:pPr marL="450850" indent="-450850">
              <a:buFont typeface="Wingdings" pitchFamily="2" charset="2"/>
              <a:buNone/>
            </a:pPr>
            <a:r>
              <a:rPr lang="en-US"/>
              <a:t>1. Plot the boundary line of each constraint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/>
              <a:t>2. Identify the feasible region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/>
              <a:t>3.	Locate the optimal solution by either: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/>
              <a:t>	a.	Plotting level curves</a:t>
            </a:r>
          </a:p>
          <a:p>
            <a:pPr marL="450850" indent="-450850">
              <a:buFont typeface="Wingdings" pitchFamily="2" charset="2"/>
              <a:buNone/>
            </a:pPr>
            <a:r>
              <a:rPr lang="en-US"/>
              <a:t>	b. Enumerating the extreme points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382000" cy="99060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Understanding How Things Change</a:t>
            </a: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868363"/>
          </a:xfrm>
          <a:noFill/>
          <a:ln/>
        </p:spPr>
        <p:txBody>
          <a:bodyPr lIns="92075" tIns="46038" rIns="92075" bIns="46038"/>
          <a:lstStyle/>
          <a:p>
            <a:pPr algn="ctr">
              <a:buFont typeface="Wingdings" pitchFamily="2" charset="2"/>
              <a:buNone/>
            </a:pPr>
            <a:r>
              <a:rPr lang="en-US" dirty="0"/>
              <a:t>See file </a:t>
            </a:r>
            <a:r>
              <a:rPr lang="en-US" dirty="0">
                <a:hlinkClick r:id="rId3" action="ppaction://hlinkfile"/>
              </a:rPr>
              <a:t>Fig2-8.xlsm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606425"/>
            <a:ext cx="7772400" cy="762000"/>
          </a:xfrm>
          <a:noFill/>
          <a:ln/>
        </p:spPr>
        <p:txBody>
          <a:bodyPr lIns="92075" tIns="46038" rIns="92075" bIns="46038"/>
          <a:lstStyle/>
          <a:p>
            <a:r>
              <a:rPr lang="en-US" sz="3600" i="1">
                <a:solidFill>
                  <a:schemeClr val="hlink"/>
                </a:solidFill>
              </a:rPr>
              <a:t>Special Conditions in LP Models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r>
              <a:rPr lang="en-US"/>
              <a:t>A number of anomalies can occur in LP problems:</a:t>
            </a:r>
          </a:p>
          <a:p>
            <a:pPr lvl="1"/>
            <a:r>
              <a:rPr lang="en-US"/>
              <a:t>Alternate Optimal Solutions </a:t>
            </a:r>
          </a:p>
          <a:p>
            <a:pPr lvl="1"/>
            <a:r>
              <a:rPr lang="en-US"/>
              <a:t>Redundant Constraints</a:t>
            </a:r>
          </a:p>
          <a:p>
            <a:pPr lvl="1"/>
            <a:r>
              <a:rPr lang="en-US"/>
              <a:t>Unbounded Solutions</a:t>
            </a:r>
          </a:p>
          <a:p>
            <a:pPr lvl="1"/>
            <a:r>
              <a:rPr lang="en-US"/>
              <a:t>Infeasibility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6" name="Rectangle 30"/>
          <p:cNvSpPr>
            <a:spLocks noChangeArrowheads="1"/>
          </p:cNvSpPr>
          <p:nvPr/>
        </p:nvSpPr>
        <p:spPr bwMode="auto">
          <a:xfrm>
            <a:off x="304800" y="228600"/>
            <a:ext cx="8610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Example of Alternate Optimal Solutions</a:t>
            </a:r>
          </a:p>
        </p:txBody>
      </p:sp>
      <p:grpSp>
        <p:nvGrpSpPr>
          <p:cNvPr id="29741" name="Group 45"/>
          <p:cNvGrpSpPr>
            <a:grpSpLocks/>
          </p:cNvGrpSpPr>
          <p:nvPr/>
        </p:nvGrpSpPr>
        <p:grpSpPr bwMode="auto">
          <a:xfrm>
            <a:off x="355600" y="838200"/>
            <a:ext cx="8178800" cy="5638800"/>
            <a:chOff x="224" y="528"/>
            <a:chExt cx="5152" cy="3552"/>
          </a:xfrm>
        </p:grpSpPr>
        <p:sp>
          <p:nvSpPr>
            <p:cNvPr id="29698" name="Freeform 2" descr="70%"/>
            <p:cNvSpPr>
              <a:spLocks/>
            </p:cNvSpPr>
            <p:nvPr/>
          </p:nvSpPr>
          <p:spPr bwMode="auto">
            <a:xfrm>
              <a:off x="628" y="1818"/>
              <a:ext cx="2383" cy="1903"/>
            </a:xfrm>
            <a:custGeom>
              <a:avLst/>
              <a:gdLst>
                <a:gd name="T0" fmla="*/ 0 w 2383"/>
                <a:gd name="T1" fmla="*/ 0 h 1903"/>
                <a:gd name="T2" fmla="*/ 0 w 2383"/>
                <a:gd name="T3" fmla="*/ 1902 h 1903"/>
                <a:gd name="T4" fmla="*/ 2382 w 2383"/>
                <a:gd name="T5" fmla="*/ 1896 h 1903"/>
                <a:gd name="T6" fmla="*/ 1774 w 2383"/>
                <a:gd name="T7" fmla="*/ 1186 h 1903"/>
                <a:gd name="T8" fmla="*/ 1052 w 2383"/>
                <a:gd name="T9" fmla="*/ 637 h 1903"/>
                <a:gd name="T10" fmla="*/ 0 w 2383"/>
                <a:gd name="T11" fmla="*/ 0 h 1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83" h="1903">
                  <a:moveTo>
                    <a:pt x="0" y="0"/>
                  </a:moveTo>
                  <a:lnTo>
                    <a:pt x="0" y="1902"/>
                  </a:lnTo>
                  <a:lnTo>
                    <a:pt x="2382" y="1896"/>
                  </a:lnTo>
                  <a:lnTo>
                    <a:pt x="1774" y="1186"/>
                  </a:lnTo>
                  <a:lnTo>
                    <a:pt x="1052" y="637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699" name="Line 3"/>
            <p:cNvSpPr>
              <a:spLocks noChangeShapeType="1"/>
            </p:cNvSpPr>
            <p:nvPr/>
          </p:nvSpPr>
          <p:spPr bwMode="auto">
            <a:xfrm>
              <a:off x="574" y="372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0" name="Line 4"/>
            <p:cNvSpPr>
              <a:spLocks noChangeShapeType="1"/>
            </p:cNvSpPr>
            <p:nvPr/>
          </p:nvSpPr>
          <p:spPr bwMode="auto">
            <a:xfrm>
              <a:off x="1293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1" name="Line 5"/>
            <p:cNvSpPr>
              <a:spLocks noChangeShapeType="1"/>
            </p:cNvSpPr>
            <p:nvPr/>
          </p:nvSpPr>
          <p:spPr bwMode="auto">
            <a:xfrm>
              <a:off x="1952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2611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3" name="Line 7"/>
            <p:cNvSpPr>
              <a:spLocks noChangeShapeType="1"/>
            </p:cNvSpPr>
            <p:nvPr/>
          </p:nvSpPr>
          <p:spPr bwMode="auto">
            <a:xfrm>
              <a:off x="3270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3929" y="372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 flipV="1">
              <a:off x="634" y="64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 flipH="1">
              <a:off x="574" y="319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 flipH="1">
              <a:off x="574" y="266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Line 12"/>
            <p:cNvSpPr>
              <a:spLocks noChangeShapeType="1"/>
            </p:cNvSpPr>
            <p:nvPr/>
          </p:nvSpPr>
          <p:spPr bwMode="auto">
            <a:xfrm flipH="1">
              <a:off x="574" y="213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Line 13"/>
            <p:cNvSpPr>
              <a:spLocks noChangeShapeType="1"/>
            </p:cNvSpPr>
            <p:nvPr/>
          </p:nvSpPr>
          <p:spPr bwMode="auto">
            <a:xfrm flipH="1">
              <a:off x="574" y="160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0" name="Line 14"/>
            <p:cNvSpPr>
              <a:spLocks noChangeShapeType="1"/>
            </p:cNvSpPr>
            <p:nvPr/>
          </p:nvSpPr>
          <p:spPr bwMode="auto">
            <a:xfrm flipH="1">
              <a:off x="574" y="107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Rectangle 15"/>
            <p:cNvSpPr>
              <a:spLocks noChangeArrowheads="1"/>
            </p:cNvSpPr>
            <p:nvPr/>
          </p:nvSpPr>
          <p:spPr bwMode="auto">
            <a:xfrm>
              <a:off x="250" y="52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29712" name="Rectangle 16"/>
            <p:cNvSpPr>
              <a:spLocks noChangeArrowheads="1"/>
            </p:cNvSpPr>
            <p:nvPr/>
          </p:nvSpPr>
          <p:spPr bwMode="auto">
            <a:xfrm>
              <a:off x="4288" y="379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29713" name="Rectangle 17"/>
            <p:cNvSpPr>
              <a:spLocks noChangeArrowheads="1"/>
            </p:cNvSpPr>
            <p:nvPr/>
          </p:nvSpPr>
          <p:spPr bwMode="auto">
            <a:xfrm>
              <a:off x="234" y="95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9714" name="Rectangle 18"/>
            <p:cNvSpPr>
              <a:spLocks noChangeArrowheads="1"/>
            </p:cNvSpPr>
            <p:nvPr/>
          </p:nvSpPr>
          <p:spPr bwMode="auto">
            <a:xfrm>
              <a:off x="235" y="150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9715" name="Rectangle 19"/>
            <p:cNvSpPr>
              <a:spLocks noChangeArrowheads="1"/>
            </p:cNvSpPr>
            <p:nvPr/>
          </p:nvSpPr>
          <p:spPr bwMode="auto">
            <a:xfrm>
              <a:off x="224" y="202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9716" name="Rectangle 20"/>
            <p:cNvSpPr>
              <a:spLocks noChangeArrowheads="1"/>
            </p:cNvSpPr>
            <p:nvPr/>
          </p:nvSpPr>
          <p:spPr bwMode="auto">
            <a:xfrm>
              <a:off x="235" y="256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9717" name="Rectangle 21"/>
            <p:cNvSpPr>
              <a:spLocks noChangeArrowheads="1"/>
            </p:cNvSpPr>
            <p:nvPr/>
          </p:nvSpPr>
          <p:spPr bwMode="auto">
            <a:xfrm>
              <a:off x="267" y="308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9718" name="Rectangle 22"/>
            <p:cNvSpPr>
              <a:spLocks noChangeArrowheads="1"/>
            </p:cNvSpPr>
            <p:nvPr/>
          </p:nvSpPr>
          <p:spPr bwMode="auto">
            <a:xfrm>
              <a:off x="298" y="361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9719" name="Rectangle 23"/>
            <p:cNvSpPr>
              <a:spLocks noChangeArrowheads="1"/>
            </p:cNvSpPr>
            <p:nvPr/>
          </p:nvSpPr>
          <p:spPr bwMode="auto">
            <a:xfrm>
              <a:off x="457" y="379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29720" name="Rectangle 24"/>
            <p:cNvSpPr>
              <a:spLocks noChangeArrowheads="1"/>
            </p:cNvSpPr>
            <p:nvPr/>
          </p:nvSpPr>
          <p:spPr bwMode="auto">
            <a:xfrm>
              <a:off x="1131" y="380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29721" name="Rectangle 25"/>
            <p:cNvSpPr>
              <a:spLocks noChangeArrowheads="1"/>
            </p:cNvSpPr>
            <p:nvPr/>
          </p:nvSpPr>
          <p:spPr bwMode="auto">
            <a:xfrm>
              <a:off x="1762" y="3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29722" name="Rectangle 26"/>
            <p:cNvSpPr>
              <a:spLocks noChangeArrowheads="1"/>
            </p:cNvSpPr>
            <p:nvPr/>
          </p:nvSpPr>
          <p:spPr bwMode="auto">
            <a:xfrm>
              <a:off x="2414" y="379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29723" name="Rectangle 27"/>
            <p:cNvSpPr>
              <a:spLocks noChangeArrowheads="1"/>
            </p:cNvSpPr>
            <p:nvPr/>
          </p:nvSpPr>
          <p:spPr bwMode="auto">
            <a:xfrm>
              <a:off x="3078" y="380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29724" name="Rectangle 28"/>
            <p:cNvSpPr>
              <a:spLocks noChangeArrowheads="1"/>
            </p:cNvSpPr>
            <p:nvPr/>
          </p:nvSpPr>
          <p:spPr bwMode="auto">
            <a:xfrm>
              <a:off x="3740" y="380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29725" name="Rectangle 29"/>
            <p:cNvSpPr>
              <a:spLocks noChangeArrowheads="1"/>
            </p:cNvSpPr>
            <p:nvPr/>
          </p:nvSpPr>
          <p:spPr bwMode="auto">
            <a:xfrm>
              <a:off x="2255" y="1431"/>
              <a:ext cx="225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 b="1"/>
                <a:t>450X</a:t>
              </a:r>
              <a:r>
                <a:rPr lang="en-US" sz="2200" b="1" baseline="-25000"/>
                <a:t>1</a:t>
              </a:r>
              <a:r>
                <a:rPr lang="en-US" sz="2200" b="1"/>
                <a:t> + 300X</a:t>
              </a:r>
              <a:r>
                <a:rPr lang="en-US" sz="2200" b="1" baseline="-25000"/>
                <a:t>2</a:t>
              </a:r>
              <a:r>
                <a:rPr lang="en-US" sz="2200" b="1"/>
                <a:t> = 78300</a:t>
              </a:r>
            </a:p>
          </p:txBody>
        </p:sp>
        <p:sp>
          <p:nvSpPr>
            <p:cNvPr id="29727" name="Line 31"/>
            <p:cNvSpPr>
              <a:spLocks noChangeShapeType="1"/>
            </p:cNvSpPr>
            <p:nvPr/>
          </p:nvSpPr>
          <p:spPr bwMode="auto">
            <a:xfrm>
              <a:off x="634" y="1824"/>
              <a:ext cx="1059" cy="6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8" name="Line 32"/>
            <p:cNvSpPr>
              <a:spLocks noChangeShapeType="1"/>
            </p:cNvSpPr>
            <p:nvPr/>
          </p:nvSpPr>
          <p:spPr bwMode="auto">
            <a:xfrm>
              <a:off x="1684" y="2454"/>
              <a:ext cx="726" cy="5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9" name="Line 33"/>
            <p:cNvSpPr>
              <a:spLocks noChangeShapeType="1"/>
            </p:cNvSpPr>
            <p:nvPr/>
          </p:nvSpPr>
          <p:spPr bwMode="auto">
            <a:xfrm>
              <a:off x="2404" y="3006"/>
              <a:ext cx="612" cy="7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0" name="Line 34"/>
            <p:cNvSpPr>
              <a:spLocks noChangeShapeType="1"/>
            </p:cNvSpPr>
            <p:nvPr/>
          </p:nvSpPr>
          <p:spPr bwMode="auto">
            <a:xfrm flipH="1" flipV="1">
              <a:off x="640" y="918"/>
              <a:ext cx="2370" cy="27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1" name="Rectangle 35"/>
            <p:cNvSpPr>
              <a:spLocks noChangeArrowheads="1"/>
            </p:cNvSpPr>
            <p:nvPr/>
          </p:nvSpPr>
          <p:spPr bwMode="auto">
            <a:xfrm>
              <a:off x="2129" y="1189"/>
              <a:ext cx="25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400"/>
                <a:t>objective</a:t>
              </a:r>
              <a:r>
                <a:rPr lang="en-US" sz="2000"/>
                <a:t> </a:t>
              </a:r>
              <a:r>
                <a:rPr lang="en-US" sz="2400"/>
                <a:t>function level curve</a:t>
              </a:r>
            </a:p>
          </p:txBody>
        </p:sp>
        <p:sp>
          <p:nvSpPr>
            <p:cNvPr id="29732" name="Line 36"/>
            <p:cNvSpPr>
              <a:spLocks noChangeShapeType="1"/>
            </p:cNvSpPr>
            <p:nvPr/>
          </p:nvSpPr>
          <p:spPr bwMode="auto">
            <a:xfrm flipH="1">
              <a:off x="1360" y="1474"/>
              <a:ext cx="779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3" name="Line 37"/>
            <p:cNvSpPr>
              <a:spLocks noChangeShapeType="1"/>
            </p:cNvSpPr>
            <p:nvPr/>
          </p:nvSpPr>
          <p:spPr bwMode="auto">
            <a:xfrm flipV="1">
              <a:off x="2465" y="2886"/>
              <a:ext cx="347" cy="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Line 38"/>
            <p:cNvSpPr>
              <a:spLocks noChangeShapeType="1"/>
            </p:cNvSpPr>
            <p:nvPr/>
          </p:nvSpPr>
          <p:spPr bwMode="auto">
            <a:xfrm flipV="1">
              <a:off x="3044" y="3438"/>
              <a:ext cx="188" cy="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5" name="Line 39"/>
            <p:cNvSpPr>
              <a:spLocks noChangeShapeType="1"/>
            </p:cNvSpPr>
            <p:nvPr/>
          </p:nvSpPr>
          <p:spPr bwMode="auto">
            <a:xfrm>
              <a:off x="2813" y="2874"/>
              <a:ext cx="431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6" name="Line 40"/>
            <p:cNvSpPr>
              <a:spLocks noChangeShapeType="1"/>
            </p:cNvSpPr>
            <p:nvPr/>
          </p:nvSpPr>
          <p:spPr bwMode="auto">
            <a:xfrm flipV="1">
              <a:off x="2656" y="3048"/>
              <a:ext cx="264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7" name="Line 41"/>
            <p:cNvSpPr>
              <a:spLocks noChangeShapeType="1"/>
            </p:cNvSpPr>
            <p:nvPr/>
          </p:nvSpPr>
          <p:spPr bwMode="auto">
            <a:xfrm flipV="1">
              <a:off x="2842" y="3258"/>
              <a:ext cx="240" cy="1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42"/>
            <p:cNvSpPr>
              <a:spLocks noChangeShapeType="1"/>
            </p:cNvSpPr>
            <p:nvPr/>
          </p:nvSpPr>
          <p:spPr bwMode="auto">
            <a:xfrm flipV="1">
              <a:off x="3002" y="3042"/>
              <a:ext cx="200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9" name="Rectangle 43"/>
            <p:cNvSpPr>
              <a:spLocks noChangeArrowheads="1"/>
            </p:cNvSpPr>
            <p:nvPr/>
          </p:nvSpPr>
          <p:spPr bwMode="auto">
            <a:xfrm>
              <a:off x="3167" y="2926"/>
              <a:ext cx="2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b="1"/>
                <a:t>alternate optimal solutions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06043"/>
            <a:ext cx="2895600" cy="357814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4" name="Rectangle 34"/>
          <p:cNvSpPr>
            <a:spLocks noChangeArrowheads="1"/>
          </p:cNvSpPr>
          <p:nvPr/>
        </p:nvSpPr>
        <p:spPr bwMode="auto">
          <a:xfrm>
            <a:off x="1214438" y="319088"/>
            <a:ext cx="73961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Example of a Redundant Constraint</a:t>
            </a:r>
          </a:p>
        </p:txBody>
      </p:sp>
      <p:grpSp>
        <p:nvGrpSpPr>
          <p:cNvPr id="30760" name="Group 40"/>
          <p:cNvGrpSpPr>
            <a:grpSpLocks/>
          </p:cNvGrpSpPr>
          <p:nvPr/>
        </p:nvGrpSpPr>
        <p:grpSpPr bwMode="auto">
          <a:xfrm>
            <a:off x="609600" y="838200"/>
            <a:ext cx="8188325" cy="5638800"/>
            <a:chOff x="544" y="288"/>
            <a:chExt cx="5158" cy="3552"/>
          </a:xfrm>
        </p:grpSpPr>
        <p:sp>
          <p:nvSpPr>
            <p:cNvPr id="30722" name="Freeform 2" descr="70%"/>
            <p:cNvSpPr>
              <a:spLocks/>
            </p:cNvSpPr>
            <p:nvPr/>
          </p:nvSpPr>
          <p:spPr bwMode="auto">
            <a:xfrm>
              <a:off x="954" y="1584"/>
              <a:ext cx="2389" cy="1903"/>
            </a:xfrm>
            <a:custGeom>
              <a:avLst/>
              <a:gdLst>
                <a:gd name="T0" fmla="*/ 0 w 2389"/>
                <a:gd name="T1" fmla="*/ 0 h 1903"/>
                <a:gd name="T2" fmla="*/ 1506 w 2389"/>
                <a:gd name="T3" fmla="*/ 894 h 1903"/>
                <a:gd name="T4" fmla="*/ 2388 w 2389"/>
                <a:gd name="T5" fmla="*/ 1902 h 1903"/>
                <a:gd name="T6" fmla="*/ 0 w 2389"/>
                <a:gd name="T7" fmla="*/ 1902 h 1903"/>
                <a:gd name="T8" fmla="*/ 0 w 2389"/>
                <a:gd name="T9" fmla="*/ 0 h 1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9" h="1903">
                  <a:moveTo>
                    <a:pt x="0" y="0"/>
                  </a:moveTo>
                  <a:lnTo>
                    <a:pt x="1506" y="894"/>
                  </a:lnTo>
                  <a:lnTo>
                    <a:pt x="2388" y="1902"/>
                  </a:lnTo>
                  <a:lnTo>
                    <a:pt x="0" y="1902"/>
                  </a:lnTo>
                  <a:lnTo>
                    <a:pt x="0" y="0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 w="254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3" name="Line 3"/>
            <p:cNvSpPr>
              <a:spLocks noChangeShapeType="1"/>
            </p:cNvSpPr>
            <p:nvPr/>
          </p:nvSpPr>
          <p:spPr bwMode="auto">
            <a:xfrm>
              <a:off x="894" y="348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4" name="Line 4"/>
            <p:cNvSpPr>
              <a:spLocks noChangeShapeType="1"/>
            </p:cNvSpPr>
            <p:nvPr/>
          </p:nvSpPr>
          <p:spPr bwMode="auto">
            <a:xfrm>
              <a:off x="1613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5" name="Line 5"/>
            <p:cNvSpPr>
              <a:spLocks noChangeShapeType="1"/>
            </p:cNvSpPr>
            <p:nvPr/>
          </p:nvSpPr>
          <p:spPr bwMode="auto">
            <a:xfrm>
              <a:off x="2272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6" name="Line 6"/>
            <p:cNvSpPr>
              <a:spLocks noChangeShapeType="1"/>
            </p:cNvSpPr>
            <p:nvPr/>
          </p:nvSpPr>
          <p:spPr bwMode="auto">
            <a:xfrm>
              <a:off x="2931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7" name="Line 7"/>
            <p:cNvSpPr>
              <a:spLocks noChangeShapeType="1"/>
            </p:cNvSpPr>
            <p:nvPr/>
          </p:nvSpPr>
          <p:spPr bwMode="auto">
            <a:xfrm>
              <a:off x="3590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8" name="Line 8"/>
            <p:cNvSpPr>
              <a:spLocks noChangeShapeType="1"/>
            </p:cNvSpPr>
            <p:nvPr/>
          </p:nvSpPr>
          <p:spPr bwMode="auto">
            <a:xfrm>
              <a:off x="4249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9" name="Line 9"/>
            <p:cNvSpPr>
              <a:spLocks noChangeShapeType="1"/>
            </p:cNvSpPr>
            <p:nvPr/>
          </p:nvSpPr>
          <p:spPr bwMode="auto">
            <a:xfrm flipV="1">
              <a:off x="954" y="40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0" name="Line 10"/>
            <p:cNvSpPr>
              <a:spLocks noChangeShapeType="1"/>
            </p:cNvSpPr>
            <p:nvPr/>
          </p:nvSpPr>
          <p:spPr bwMode="auto">
            <a:xfrm flipH="1">
              <a:off x="894" y="295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Line 11"/>
            <p:cNvSpPr>
              <a:spLocks noChangeShapeType="1"/>
            </p:cNvSpPr>
            <p:nvPr/>
          </p:nvSpPr>
          <p:spPr bwMode="auto">
            <a:xfrm flipH="1">
              <a:off x="894" y="242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Line 12"/>
            <p:cNvSpPr>
              <a:spLocks noChangeShapeType="1"/>
            </p:cNvSpPr>
            <p:nvPr/>
          </p:nvSpPr>
          <p:spPr bwMode="auto">
            <a:xfrm flipH="1">
              <a:off x="894" y="189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Line 13"/>
            <p:cNvSpPr>
              <a:spLocks noChangeShapeType="1"/>
            </p:cNvSpPr>
            <p:nvPr/>
          </p:nvSpPr>
          <p:spPr bwMode="auto">
            <a:xfrm flipH="1">
              <a:off x="894" y="136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4" name="Line 14"/>
            <p:cNvSpPr>
              <a:spLocks noChangeShapeType="1"/>
            </p:cNvSpPr>
            <p:nvPr/>
          </p:nvSpPr>
          <p:spPr bwMode="auto">
            <a:xfrm flipH="1">
              <a:off x="894" y="83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Rectangle 15"/>
            <p:cNvSpPr>
              <a:spLocks noChangeArrowheads="1"/>
            </p:cNvSpPr>
            <p:nvPr/>
          </p:nvSpPr>
          <p:spPr bwMode="auto">
            <a:xfrm>
              <a:off x="570" y="2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30736" name="Rectangle 16"/>
            <p:cNvSpPr>
              <a:spLocks noChangeArrowheads="1"/>
            </p:cNvSpPr>
            <p:nvPr/>
          </p:nvSpPr>
          <p:spPr bwMode="auto">
            <a:xfrm>
              <a:off x="4608" y="355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30737" name="Rectangle 17"/>
            <p:cNvSpPr>
              <a:spLocks noChangeArrowheads="1"/>
            </p:cNvSpPr>
            <p:nvPr/>
          </p:nvSpPr>
          <p:spPr bwMode="auto">
            <a:xfrm>
              <a:off x="554" y="71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30738" name="Rectangle 18"/>
            <p:cNvSpPr>
              <a:spLocks noChangeArrowheads="1"/>
            </p:cNvSpPr>
            <p:nvPr/>
          </p:nvSpPr>
          <p:spPr bwMode="auto">
            <a:xfrm>
              <a:off x="555" y="126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30739" name="Rectangle 19"/>
            <p:cNvSpPr>
              <a:spLocks noChangeArrowheads="1"/>
            </p:cNvSpPr>
            <p:nvPr/>
          </p:nvSpPr>
          <p:spPr bwMode="auto">
            <a:xfrm>
              <a:off x="544" y="1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30740" name="Rectangle 20"/>
            <p:cNvSpPr>
              <a:spLocks noChangeArrowheads="1"/>
            </p:cNvSpPr>
            <p:nvPr/>
          </p:nvSpPr>
          <p:spPr bwMode="auto">
            <a:xfrm>
              <a:off x="555" y="232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30741" name="Rectangle 21"/>
            <p:cNvSpPr>
              <a:spLocks noChangeArrowheads="1"/>
            </p:cNvSpPr>
            <p:nvPr/>
          </p:nvSpPr>
          <p:spPr bwMode="auto">
            <a:xfrm>
              <a:off x="587" y="284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30742" name="Rectangle 22"/>
            <p:cNvSpPr>
              <a:spLocks noChangeArrowheads="1"/>
            </p:cNvSpPr>
            <p:nvPr/>
          </p:nvSpPr>
          <p:spPr bwMode="auto">
            <a:xfrm>
              <a:off x="618" y="33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30743" name="Rectangle 23"/>
            <p:cNvSpPr>
              <a:spLocks noChangeArrowheads="1"/>
            </p:cNvSpPr>
            <p:nvPr/>
          </p:nvSpPr>
          <p:spPr bwMode="auto">
            <a:xfrm>
              <a:off x="777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30744" name="Rectangle 24"/>
            <p:cNvSpPr>
              <a:spLocks noChangeArrowheads="1"/>
            </p:cNvSpPr>
            <p:nvPr/>
          </p:nvSpPr>
          <p:spPr bwMode="auto">
            <a:xfrm>
              <a:off x="1451" y="356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30745" name="Rectangle 25"/>
            <p:cNvSpPr>
              <a:spLocks noChangeArrowheads="1"/>
            </p:cNvSpPr>
            <p:nvPr/>
          </p:nvSpPr>
          <p:spPr bwMode="auto">
            <a:xfrm>
              <a:off x="2082" y="354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30746" name="Rectangle 26"/>
            <p:cNvSpPr>
              <a:spLocks noChangeArrowheads="1"/>
            </p:cNvSpPr>
            <p:nvPr/>
          </p:nvSpPr>
          <p:spPr bwMode="auto">
            <a:xfrm>
              <a:off x="2734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30747" name="Rectangle 27"/>
            <p:cNvSpPr>
              <a:spLocks noChangeArrowheads="1"/>
            </p:cNvSpPr>
            <p:nvPr/>
          </p:nvSpPr>
          <p:spPr bwMode="auto">
            <a:xfrm>
              <a:off x="3398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30748" name="Rectangle 28"/>
            <p:cNvSpPr>
              <a:spLocks noChangeArrowheads="1"/>
            </p:cNvSpPr>
            <p:nvPr/>
          </p:nvSpPr>
          <p:spPr bwMode="auto">
            <a:xfrm>
              <a:off x="4060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30749" name="Rectangle 29"/>
            <p:cNvSpPr>
              <a:spLocks noChangeArrowheads="1"/>
            </p:cNvSpPr>
            <p:nvPr/>
          </p:nvSpPr>
          <p:spPr bwMode="auto">
            <a:xfrm>
              <a:off x="1596" y="906"/>
              <a:ext cx="270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boundary line of tubing constraint </a:t>
              </a:r>
            </a:p>
          </p:txBody>
        </p:sp>
        <p:sp>
          <p:nvSpPr>
            <p:cNvPr id="30750" name="Line 30"/>
            <p:cNvSpPr>
              <a:spLocks noChangeShapeType="1"/>
            </p:cNvSpPr>
            <p:nvPr/>
          </p:nvSpPr>
          <p:spPr bwMode="auto">
            <a:xfrm>
              <a:off x="954" y="749"/>
              <a:ext cx="2394" cy="27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31"/>
            <p:cNvSpPr>
              <a:spLocks noChangeShapeType="1"/>
            </p:cNvSpPr>
            <p:nvPr/>
          </p:nvSpPr>
          <p:spPr bwMode="auto">
            <a:xfrm>
              <a:off x="948" y="1134"/>
              <a:ext cx="2988" cy="2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32"/>
            <p:cNvSpPr>
              <a:spLocks noChangeShapeType="1"/>
            </p:cNvSpPr>
            <p:nvPr/>
          </p:nvSpPr>
          <p:spPr bwMode="auto">
            <a:xfrm>
              <a:off x="954" y="1570"/>
              <a:ext cx="3157" cy="19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3" name="Rectangle 33"/>
            <p:cNvSpPr>
              <a:spLocks noChangeArrowheads="1"/>
            </p:cNvSpPr>
            <p:nvPr/>
          </p:nvSpPr>
          <p:spPr bwMode="auto">
            <a:xfrm>
              <a:off x="1290" y="2718"/>
              <a:ext cx="9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Feasible Region</a:t>
              </a:r>
            </a:p>
          </p:txBody>
        </p:sp>
        <p:sp>
          <p:nvSpPr>
            <p:cNvPr id="30755" name="Line 35"/>
            <p:cNvSpPr>
              <a:spLocks noChangeShapeType="1"/>
            </p:cNvSpPr>
            <p:nvPr/>
          </p:nvSpPr>
          <p:spPr bwMode="auto">
            <a:xfrm flipH="1">
              <a:off x="1186" y="1002"/>
              <a:ext cx="557" cy="6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36"/>
            <p:cNvSpPr>
              <a:spLocks noChangeShapeType="1"/>
            </p:cNvSpPr>
            <p:nvPr/>
          </p:nvSpPr>
          <p:spPr bwMode="auto">
            <a:xfrm flipH="1">
              <a:off x="2514" y="1614"/>
              <a:ext cx="557" cy="6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7" name="Rectangle 37"/>
            <p:cNvSpPr>
              <a:spLocks noChangeArrowheads="1"/>
            </p:cNvSpPr>
            <p:nvPr/>
          </p:nvSpPr>
          <p:spPr bwMode="auto">
            <a:xfrm>
              <a:off x="2933" y="1497"/>
              <a:ext cx="270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boundary line of pump constraint </a:t>
              </a:r>
            </a:p>
          </p:txBody>
        </p:sp>
        <p:sp>
          <p:nvSpPr>
            <p:cNvPr id="30758" name="Line 38"/>
            <p:cNvSpPr>
              <a:spLocks noChangeShapeType="1"/>
            </p:cNvSpPr>
            <p:nvPr/>
          </p:nvSpPr>
          <p:spPr bwMode="auto">
            <a:xfrm flipH="1">
              <a:off x="3157" y="2552"/>
              <a:ext cx="557" cy="6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9" name="Rectangle 39"/>
            <p:cNvSpPr>
              <a:spLocks noChangeArrowheads="1"/>
            </p:cNvSpPr>
            <p:nvPr/>
          </p:nvSpPr>
          <p:spPr bwMode="auto">
            <a:xfrm>
              <a:off x="2997" y="2245"/>
              <a:ext cx="270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/>
                <a:t>boundary line of labor constraint 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95062"/>
            <a:ext cx="2895600" cy="201977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3" name="Rectangle 29"/>
          <p:cNvSpPr>
            <a:spLocks noChangeArrowheads="1"/>
          </p:cNvSpPr>
          <p:nvPr/>
        </p:nvSpPr>
        <p:spPr bwMode="auto">
          <a:xfrm>
            <a:off x="1371600" y="381000"/>
            <a:ext cx="7315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Example of an Unbounded Solution</a:t>
            </a:r>
          </a:p>
        </p:txBody>
      </p:sp>
      <p:grpSp>
        <p:nvGrpSpPr>
          <p:cNvPr id="31788" name="Group 44"/>
          <p:cNvGrpSpPr>
            <a:grpSpLocks/>
          </p:cNvGrpSpPr>
          <p:nvPr/>
        </p:nvGrpSpPr>
        <p:grpSpPr bwMode="auto">
          <a:xfrm>
            <a:off x="533400" y="914400"/>
            <a:ext cx="7575550" cy="5638800"/>
            <a:chOff x="460" y="288"/>
            <a:chExt cx="4772" cy="3552"/>
          </a:xfrm>
        </p:grpSpPr>
        <p:sp>
          <p:nvSpPr>
            <p:cNvPr id="31746" name="Freeform 2" descr="70%"/>
            <p:cNvSpPr>
              <a:spLocks/>
            </p:cNvSpPr>
            <p:nvPr/>
          </p:nvSpPr>
          <p:spPr bwMode="auto">
            <a:xfrm>
              <a:off x="1374" y="1392"/>
              <a:ext cx="3145" cy="2095"/>
            </a:xfrm>
            <a:custGeom>
              <a:avLst/>
              <a:gdLst>
                <a:gd name="T0" fmla="*/ 894 w 3145"/>
                <a:gd name="T1" fmla="*/ 2094 h 2095"/>
                <a:gd name="T2" fmla="*/ 0 w 3145"/>
                <a:gd name="T3" fmla="*/ 1368 h 2095"/>
                <a:gd name="T4" fmla="*/ 3144 w 3145"/>
                <a:gd name="T5" fmla="*/ 0 h 2095"/>
                <a:gd name="T6" fmla="*/ 3144 w 3145"/>
                <a:gd name="T7" fmla="*/ 2094 h 2095"/>
                <a:gd name="T8" fmla="*/ 894 w 3145"/>
                <a:gd name="T9" fmla="*/ 2094 h 2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5" h="2095">
                  <a:moveTo>
                    <a:pt x="894" y="2094"/>
                  </a:moveTo>
                  <a:lnTo>
                    <a:pt x="0" y="1368"/>
                  </a:lnTo>
                  <a:lnTo>
                    <a:pt x="3144" y="0"/>
                  </a:lnTo>
                  <a:lnTo>
                    <a:pt x="3144" y="2094"/>
                  </a:lnTo>
                  <a:lnTo>
                    <a:pt x="894" y="2094"/>
                  </a:lnTo>
                </a:path>
              </a:pathLst>
            </a:custGeom>
            <a:pattFill prst="pct70">
              <a:fgClr>
                <a:srgbClr val="3399FF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47" name="Line 3"/>
            <p:cNvSpPr>
              <a:spLocks noChangeShapeType="1"/>
            </p:cNvSpPr>
            <p:nvPr/>
          </p:nvSpPr>
          <p:spPr bwMode="auto">
            <a:xfrm>
              <a:off x="894" y="348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8" name="Line 4"/>
            <p:cNvSpPr>
              <a:spLocks noChangeShapeType="1"/>
            </p:cNvSpPr>
            <p:nvPr/>
          </p:nvSpPr>
          <p:spPr bwMode="auto">
            <a:xfrm>
              <a:off x="1613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9" name="Line 5"/>
            <p:cNvSpPr>
              <a:spLocks noChangeShapeType="1"/>
            </p:cNvSpPr>
            <p:nvPr/>
          </p:nvSpPr>
          <p:spPr bwMode="auto">
            <a:xfrm>
              <a:off x="2272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0" name="Line 6"/>
            <p:cNvSpPr>
              <a:spLocks noChangeShapeType="1"/>
            </p:cNvSpPr>
            <p:nvPr/>
          </p:nvSpPr>
          <p:spPr bwMode="auto">
            <a:xfrm>
              <a:off x="2931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1" name="Line 7"/>
            <p:cNvSpPr>
              <a:spLocks noChangeShapeType="1"/>
            </p:cNvSpPr>
            <p:nvPr/>
          </p:nvSpPr>
          <p:spPr bwMode="auto">
            <a:xfrm>
              <a:off x="3590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2" name="Line 8"/>
            <p:cNvSpPr>
              <a:spLocks noChangeShapeType="1"/>
            </p:cNvSpPr>
            <p:nvPr/>
          </p:nvSpPr>
          <p:spPr bwMode="auto">
            <a:xfrm>
              <a:off x="4249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3" name="Line 9"/>
            <p:cNvSpPr>
              <a:spLocks noChangeShapeType="1"/>
            </p:cNvSpPr>
            <p:nvPr/>
          </p:nvSpPr>
          <p:spPr bwMode="auto">
            <a:xfrm flipV="1">
              <a:off x="954" y="40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4" name="Line 10"/>
            <p:cNvSpPr>
              <a:spLocks noChangeShapeType="1"/>
            </p:cNvSpPr>
            <p:nvPr/>
          </p:nvSpPr>
          <p:spPr bwMode="auto">
            <a:xfrm flipH="1">
              <a:off x="894" y="295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5" name="Line 11"/>
            <p:cNvSpPr>
              <a:spLocks noChangeShapeType="1"/>
            </p:cNvSpPr>
            <p:nvPr/>
          </p:nvSpPr>
          <p:spPr bwMode="auto">
            <a:xfrm flipH="1">
              <a:off x="894" y="242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6" name="Line 12"/>
            <p:cNvSpPr>
              <a:spLocks noChangeShapeType="1"/>
            </p:cNvSpPr>
            <p:nvPr/>
          </p:nvSpPr>
          <p:spPr bwMode="auto">
            <a:xfrm flipH="1">
              <a:off x="894" y="189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7" name="Line 13"/>
            <p:cNvSpPr>
              <a:spLocks noChangeShapeType="1"/>
            </p:cNvSpPr>
            <p:nvPr/>
          </p:nvSpPr>
          <p:spPr bwMode="auto">
            <a:xfrm flipH="1">
              <a:off x="894" y="136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8" name="Line 14"/>
            <p:cNvSpPr>
              <a:spLocks noChangeShapeType="1"/>
            </p:cNvSpPr>
            <p:nvPr/>
          </p:nvSpPr>
          <p:spPr bwMode="auto">
            <a:xfrm flipH="1">
              <a:off x="894" y="83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9" name="Rectangle 15"/>
            <p:cNvSpPr>
              <a:spLocks noChangeArrowheads="1"/>
            </p:cNvSpPr>
            <p:nvPr/>
          </p:nvSpPr>
          <p:spPr bwMode="auto">
            <a:xfrm>
              <a:off x="570" y="2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31760" name="Rectangle 16"/>
            <p:cNvSpPr>
              <a:spLocks noChangeArrowheads="1"/>
            </p:cNvSpPr>
            <p:nvPr/>
          </p:nvSpPr>
          <p:spPr bwMode="auto">
            <a:xfrm>
              <a:off x="4608" y="355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31761" name="Rectangle 17"/>
            <p:cNvSpPr>
              <a:spLocks noChangeArrowheads="1"/>
            </p:cNvSpPr>
            <p:nvPr/>
          </p:nvSpPr>
          <p:spPr bwMode="auto">
            <a:xfrm>
              <a:off x="460" y="718"/>
              <a:ext cx="4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1000</a:t>
              </a:r>
            </a:p>
          </p:txBody>
        </p:sp>
        <p:sp>
          <p:nvSpPr>
            <p:cNvPr id="31762" name="Rectangle 18"/>
            <p:cNvSpPr>
              <a:spLocks noChangeArrowheads="1"/>
            </p:cNvSpPr>
            <p:nvPr/>
          </p:nvSpPr>
          <p:spPr bwMode="auto">
            <a:xfrm>
              <a:off x="555" y="126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800</a:t>
              </a:r>
            </a:p>
          </p:txBody>
        </p:sp>
        <p:sp>
          <p:nvSpPr>
            <p:cNvPr id="31763" name="Rectangle 19"/>
            <p:cNvSpPr>
              <a:spLocks noChangeArrowheads="1"/>
            </p:cNvSpPr>
            <p:nvPr/>
          </p:nvSpPr>
          <p:spPr bwMode="auto">
            <a:xfrm>
              <a:off x="544" y="1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600</a:t>
              </a:r>
            </a:p>
          </p:txBody>
        </p:sp>
        <p:sp>
          <p:nvSpPr>
            <p:cNvPr id="31764" name="Rectangle 20"/>
            <p:cNvSpPr>
              <a:spLocks noChangeArrowheads="1"/>
            </p:cNvSpPr>
            <p:nvPr/>
          </p:nvSpPr>
          <p:spPr bwMode="auto">
            <a:xfrm>
              <a:off x="555" y="232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400</a:t>
              </a:r>
            </a:p>
          </p:txBody>
        </p:sp>
        <p:sp>
          <p:nvSpPr>
            <p:cNvPr id="31765" name="Rectangle 21"/>
            <p:cNvSpPr>
              <a:spLocks noChangeArrowheads="1"/>
            </p:cNvSpPr>
            <p:nvPr/>
          </p:nvSpPr>
          <p:spPr bwMode="auto">
            <a:xfrm>
              <a:off x="491" y="2846"/>
              <a:ext cx="45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200</a:t>
              </a:r>
            </a:p>
          </p:txBody>
        </p:sp>
        <p:sp>
          <p:nvSpPr>
            <p:cNvPr id="31766" name="Rectangle 22"/>
            <p:cNvSpPr>
              <a:spLocks noChangeArrowheads="1"/>
            </p:cNvSpPr>
            <p:nvPr/>
          </p:nvSpPr>
          <p:spPr bwMode="auto">
            <a:xfrm>
              <a:off x="618" y="33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31767" name="Rectangle 23"/>
            <p:cNvSpPr>
              <a:spLocks noChangeArrowheads="1"/>
            </p:cNvSpPr>
            <p:nvPr/>
          </p:nvSpPr>
          <p:spPr bwMode="auto">
            <a:xfrm>
              <a:off x="777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31768" name="Rectangle 24"/>
            <p:cNvSpPr>
              <a:spLocks noChangeArrowheads="1"/>
            </p:cNvSpPr>
            <p:nvPr/>
          </p:nvSpPr>
          <p:spPr bwMode="auto">
            <a:xfrm>
              <a:off x="1420" y="3563"/>
              <a:ext cx="4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200</a:t>
              </a:r>
            </a:p>
          </p:txBody>
        </p:sp>
        <p:sp>
          <p:nvSpPr>
            <p:cNvPr id="31769" name="Rectangle 25"/>
            <p:cNvSpPr>
              <a:spLocks noChangeArrowheads="1"/>
            </p:cNvSpPr>
            <p:nvPr/>
          </p:nvSpPr>
          <p:spPr bwMode="auto">
            <a:xfrm>
              <a:off x="2082" y="354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400</a:t>
              </a:r>
            </a:p>
          </p:txBody>
        </p:sp>
        <p:sp>
          <p:nvSpPr>
            <p:cNvPr id="31770" name="Rectangle 26"/>
            <p:cNvSpPr>
              <a:spLocks noChangeArrowheads="1"/>
            </p:cNvSpPr>
            <p:nvPr/>
          </p:nvSpPr>
          <p:spPr bwMode="auto">
            <a:xfrm>
              <a:off x="2734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600</a:t>
              </a:r>
            </a:p>
          </p:txBody>
        </p:sp>
        <p:sp>
          <p:nvSpPr>
            <p:cNvPr id="31771" name="Rectangle 27"/>
            <p:cNvSpPr>
              <a:spLocks noChangeArrowheads="1"/>
            </p:cNvSpPr>
            <p:nvPr/>
          </p:nvSpPr>
          <p:spPr bwMode="auto">
            <a:xfrm>
              <a:off x="3398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800</a:t>
              </a:r>
            </a:p>
          </p:txBody>
        </p:sp>
        <p:sp>
          <p:nvSpPr>
            <p:cNvPr id="31772" name="Rectangle 28"/>
            <p:cNvSpPr>
              <a:spLocks noChangeArrowheads="1"/>
            </p:cNvSpPr>
            <p:nvPr/>
          </p:nvSpPr>
          <p:spPr bwMode="auto">
            <a:xfrm>
              <a:off x="4007" y="3562"/>
              <a:ext cx="44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1000</a:t>
              </a:r>
            </a:p>
          </p:txBody>
        </p:sp>
        <p:sp>
          <p:nvSpPr>
            <p:cNvPr id="31774" name="Line 30"/>
            <p:cNvSpPr>
              <a:spLocks noChangeShapeType="1"/>
            </p:cNvSpPr>
            <p:nvPr/>
          </p:nvSpPr>
          <p:spPr bwMode="auto">
            <a:xfrm>
              <a:off x="954" y="2424"/>
              <a:ext cx="1320" cy="10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5" name="Line 31"/>
            <p:cNvSpPr>
              <a:spLocks noChangeShapeType="1"/>
            </p:cNvSpPr>
            <p:nvPr/>
          </p:nvSpPr>
          <p:spPr bwMode="auto">
            <a:xfrm flipV="1">
              <a:off x="948" y="1386"/>
              <a:ext cx="3570" cy="15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6" name="Line 32"/>
            <p:cNvSpPr>
              <a:spLocks noChangeShapeType="1"/>
            </p:cNvSpPr>
            <p:nvPr/>
          </p:nvSpPr>
          <p:spPr bwMode="auto">
            <a:xfrm>
              <a:off x="948" y="1902"/>
              <a:ext cx="1986" cy="15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7" name="Line 33"/>
            <p:cNvSpPr>
              <a:spLocks noChangeShapeType="1"/>
            </p:cNvSpPr>
            <p:nvPr/>
          </p:nvSpPr>
          <p:spPr bwMode="auto">
            <a:xfrm>
              <a:off x="948" y="1374"/>
              <a:ext cx="2646" cy="21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8" name="Rectangle 34"/>
            <p:cNvSpPr>
              <a:spLocks noChangeArrowheads="1"/>
            </p:cNvSpPr>
            <p:nvPr/>
          </p:nvSpPr>
          <p:spPr bwMode="auto">
            <a:xfrm>
              <a:off x="943" y="3201"/>
              <a:ext cx="111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X</a:t>
              </a:r>
              <a:r>
                <a:rPr lang="en-US" sz="1400" b="1" baseline="-25000"/>
                <a:t>1</a:t>
              </a:r>
              <a:r>
                <a:rPr lang="en-US" sz="1400" b="1"/>
                <a:t> + X</a:t>
              </a:r>
              <a:r>
                <a:rPr lang="en-US" sz="1400" b="1" baseline="-25000"/>
                <a:t>2</a:t>
              </a:r>
              <a:r>
                <a:rPr lang="en-US" sz="1400" b="1"/>
                <a:t> = 400</a:t>
              </a:r>
            </a:p>
          </p:txBody>
        </p:sp>
        <p:sp>
          <p:nvSpPr>
            <p:cNvPr id="31779" name="Line 35"/>
            <p:cNvSpPr>
              <a:spLocks noChangeShapeType="1"/>
            </p:cNvSpPr>
            <p:nvPr/>
          </p:nvSpPr>
          <p:spPr bwMode="auto">
            <a:xfrm flipV="1">
              <a:off x="1280" y="2971"/>
              <a:ext cx="242" cy="2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0" name="Rectangle 36"/>
            <p:cNvSpPr>
              <a:spLocks noChangeArrowheads="1"/>
            </p:cNvSpPr>
            <p:nvPr/>
          </p:nvSpPr>
          <p:spPr bwMode="auto">
            <a:xfrm>
              <a:off x="1470" y="959"/>
              <a:ext cx="111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X</a:t>
              </a:r>
              <a:r>
                <a:rPr lang="en-US" sz="1400" b="1" baseline="-25000"/>
                <a:t>1</a:t>
              </a:r>
              <a:r>
                <a:rPr lang="en-US" sz="1400" b="1"/>
                <a:t> + X</a:t>
              </a:r>
              <a:r>
                <a:rPr lang="en-US" sz="1400" b="1" baseline="-25000"/>
                <a:t>2</a:t>
              </a:r>
              <a:r>
                <a:rPr lang="en-US" sz="1400" b="1"/>
                <a:t> = 600</a:t>
              </a:r>
            </a:p>
          </p:txBody>
        </p:sp>
        <p:sp>
          <p:nvSpPr>
            <p:cNvPr id="31781" name="Rectangle 37"/>
            <p:cNvSpPr>
              <a:spLocks noChangeArrowheads="1"/>
            </p:cNvSpPr>
            <p:nvPr/>
          </p:nvSpPr>
          <p:spPr bwMode="auto">
            <a:xfrm>
              <a:off x="1365" y="791"/>
              <a:ext cx="111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objective function</a:t>
              </a:r>
            </a:p>
          </p:txBody>
        </p:sp>
        <p:sp>
          <p:nvSpPr>
            <p:cNvPr id="31782" name="Line 38"/>
            <p:cNvSpPr>
              <a:spLocks noChangeShapeType="1"/>
            </p:cNvSpPr>
            <p:nvPr/>
          </p:nvSpPr>
          <p:spPr bwMode="auto">
            <a:xfrm flipH="1">
              <a:off x="1049" y="981"/>
              <a:ext cx="421" cy="8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3" name="Rectangle 39"/>
            <p:cNvSpPr>
              <a:spLocks noChangeArrowheads="1"/>
            </p:cNvSpPr>
            <p:nvPr/>
          </p:nvSpPr>
          <p:spPr bwMode="auto">
            <a:xfrm>
              <a:off x="2145" y="1549"/>
              <a:ext cx="111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X</a:t>
              </a:r>
              <a:r>
                <a:rPr lang="en-US" sz="1400" b="1" baseline="-25000"/>
                <a:t>1</a:t>
              </a:r>
              <a:r>
                <a:rPr lang="en-US" sz="1400" b="1"/>
                <a:t> + X</a:t>
              </a:r>
              <a:r>
                <a:rPr lang="en-US" sz="1400" b="1" baseline="-25000"/>
                <a:t>2</a:t>
              </a:r>
              <a:r>
                <a:rPr lang="en-US" sz="1400" b="1"/>
                <a:t> = 800</a:t>
              </a:r>
            </a:p>
          </p:txBody>
        </p:sp>
        <p:sp>
          <p:nvSpPr>
            <p:cNvPr id="31784" name="Rectangle 40"/>
            <p:cNvSpPr>
              <a:spLocks noChangeArrowheads="1"/>
            </p:cNvSpPr>
            <p:nvPr/>
          </p:nvSpPr>
          <p:spPr bwMode="auto">
            <a:xfrm>
              <a:off x="1997" y="1393"/>
              <a:ext cx="111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objective function</a:t>
              </a:r>
            </a:p>
          </p:txBody>
        </p:sp>
        <p:sp>
          <p:nvSpPr>
            <p:cNvPr id="31785" name="Line 41"/>
            <p:cNvSpPr>
              <a:spLocks noChangeShapeType="1"/>
            </p:cNvSpPr>
            <p:nvPr/>
          </p:nvSpPr>
          <p:spPr bwMode="auto">
            <a:xfrm flipH="1">
              <a:off x="1639" y="1560"/>
              <a:ext cx="462" cy="3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6" name="Rectangle 42"/>
            <p:cNvSpPr>
              <a:spLocks noChangeArrowheads="1"/>
            </p:cNvSpPr>
            <p:nvPr/>
          </p:nvSpPr>
          <p:spPr bwMode="auto">
            <a:xfrm>
              <a:off x="3662" y="960"/>
              <a:ext cx="111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/>
                <a:t>-X</a:t>
              </a:r>
              <a:r>
                <a:rPr lang="en-US" sz="1400" b="1" baseline="-25000"/>
                <a:t>1</a:t>
              </a:r>
              <a:r>
                <a:rPr lang="en-US" sz="1400" b="1"/>
                <a:t> + 2X</a:t>
              </a:r>
              <a:r>
                <a:rPr lang="en-US" sz="1400" b="1" baseline="-25000"/>
                <a:t>2</a:t>
              </a:r>
              <a:r>
                <a:rPr lang="en-US" sz="1400" b="1"/>
                <a:t> = 400</a:t>
              </a:r>
            </a:p>
          </p:txBody>
        </p:sp>
        <p:sp>
          <p:nvSpPr>
            <p:cNvPr id="31787" name="Line 43"/>
            <p:cNvSpPr>
              <a:spLocks noChangeShapeType="1"/>
            </p:cNvSpPr>
            <p:nvPr/>
          </p:nvSpPr>
          <p:spPr bwMode="auto">
            <a:xfrm flipH="1">
              <a:off x="3344" y="1160"/>
              <a:ext cx="388" cy="6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09608"/>
            <a:ext cx="2895600" cy="325285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8" name="Rectangle 30"/>
          <p:cNvSpPr>
            <a:spLocks noChangeArrowheads="1"/>
          </p:cNvSpPr>
          <p:nvPr/>
        </p:nvSpPr>
        <p:spPr bwMode="auto">
          <a:xfrm>
            <a:off x="1120775" y="512763"/>
            <a:ext cx="68802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  <a:latin typeface="Tahoma" pitchFamily="34" charset="0"/>
              </a:rPr>
              <a:t>Example of Infeasibility</a:t>
            </a:r>
          </a:p>
        </p:txBody>
      </p:sp>
      <p:grpSp>
        <p:nvGrpSpPr>
          <p:cNvPr id="32807" name="Group 39"/>
          <p:cNvGrpSpPr>
            <a:grpSpLocks/>
          </p:cNvGrpSpPr>
          <p:nvPr/>
        </p:nvGrpSpPr>
        <p:grpSpPr bwMode="auto">
          <a:xfrm>
            <a:off x="863600" y="838200"/>
            <a:ext cx="7061200" cy="5638800"/>
            <a:chOff x="544" y="288"/>
            <a:chExt cx="4448" cy="3552"/>
          </a:xfrm>
        </p:grpSpPr>
        <p:sp>
          <p:nvSpPr>
            <p:cNvPr id="32770" name="Line 2"/>
            <p:cNvSpPr>
              <a:spLocks noChangeShapeType="1"/>
            </p:cNvSpPr>
            <p:nvPr/>
          </p:nvSpPr>
          <p:spPr bwMode="auto">
            <a:xfrm>
              <a:off x="894" y="3483"/>
              <a:ext cx="3894" cy="0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1" name="Line 3"/>
            <p:cNvSpPr>
              <a:spLocks noChangeShapeType="1"/>
            </p:cNvSpPr>
            <p:nvPr/>
          </p:nvSpPr>
          <p:spPr bwMode="auto">
            <a:xfrm>
              <a:off x="1613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2" name="Line 4"/>
            <p:cNvSpPr>
              <a:spLocks noChangeShapeType="1"/>
            </p:cNvSpPr>
            <p:nvPr/>
          </p:nvSpPr>
          <p:spPr bwMode="auto">
            <a:xfrm>
              <a:off x="2272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3" name="Line 5"/>
            <p:cNvSpPr>
              <a:spLocks noChangeShapeType="1"/>
            </p:cNvSpPr>
            <p:nvPr/>
          </p:nvSpPr>
          <p:spPr bwMode="auto">
            <a:xfrm>
              <a:off x="2931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4" name="Line 6"/>
            <p:cNvSpPr>
              <a:spLocks noChangeShapeType="1"/>
            </p:cNvSpPr>
            <p:nvPr/>
          </p:nvSpPr>
          <p:spPr bwMode="auto">
            <a:xfrm>
              <a:off x="3590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5" name="Line 7"/>
            <p:cNvSpPr>
              <a:spLocks noChangeShapeType="1"/>
            </p:cNvSpPr>
            <p:nvPr/>
          </p:nvSpPr>
          <p:spPr bwMode="auto">
            <a:xfrm>
              <a:off x="4249" y="3483"/>
              <a:ext cx="0" cy="48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6" name="Line 8"/>
            <p:cNvSpPr>
              <a:spLocks noChangeShapeType="1"/>
            </p:cNvSpPr>
            <p:nvPr/>
          </p:nvSpPr>
          <p:spPr bwMode="auto">
            <a:xfrm flipV="1">
              <a:off x="954" y="404"/>
              <a:ext cx="0" cy="3127"/>
            </a:xfrm>
            <a:prstGeom prst="line">
              <a:avLst/>
            </a:prstGeom>
            <a:noFill/>
            <a:ln w="25400">
              <a:solidFill>
                <a:srgbClr val="FFFFFF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7" name="Line 9"/>
            <p:cNvSpPr>
              <a:spLocks noChangeShapeType="1"/>
            </p:cNvSpPr>
            <p:nvPr/>
          </p:nvSpPr>
          <p:spPr bwMode="auto">
            <a:xfrm flipH="1">
              <a:off x="894" y="2954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 flipH="1">
              <a:off x="894" y="242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9" name="Line 11"/>
            <p:cNvSpPr>
              <a:spLocks noChangeShapeType="1"/>
            </p:cNvSpPr>
            <p:nvPr/>
          </p:nvSpPr>
          <p:spPr bwMode="auto">
            <a:xfrm flipH="1">
              <a:off x="894" y="1895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0" name="Line 12"/>
            <p:cNvSpPr>
              <a:spLocks noChangeShapeType="1"/>
            </p:cNvSpPr>
            <p:nvPr/>
          </p:nvSpPr>
          <p:spPr bwMode="auto">
            <a:xfrm flipH="1">
              <a:off x="894" y="1366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1" name="Line 13"/>
            <p:cNvSpPr>
              <a:spLocks noChangeShapeType="1"/>
            </p:cNvSpPr>
            <p:nvPr/>
          </p:nvSpPr>
          <p:spPr bwMode="auto">
            <a:xfrm flipH="1">
              <a:off x="894" y="837"/>
              <a:ext cx="60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2" name="Rectangle 14"/>
            <p:cNvSpPr>
              <a:spLocks noChangeArrowheads="1"/>
            </p:cNvSpPr>
            <p:nvPr/>
          </p:nvSpPr>
          <p:spPr bwMode="auto">
            <a:xfrm>
              <a:off x="570" y="2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2</a:t>
              </a:r>
            </a:p>
          </p:txBody>
        </p:sp>
        <p:sp>
          <p:nvSpPr>
            <p:cNvPr id="32783" name="Rectangle 15"/>
            <p:cNvSpPr>
              <a:spLocks noChangeArrowheads="1"/>
            </p:cNvSpPr>
            <p:nvPr/>
          </p:nvSpPr>
          <p:spPr bwMode="auto">
            <a:xfrm>
              <a:off x="4608" y="35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/>
                <a:t>X</a:t>
              </a:r>
              <a:r>
                <a:rPr lang="en-US" sz="2400" b="1" baseline="-25000"/>
                <a:t>1</a:t>
              </a:r>
            </a:p>
          </p:txBody>
        </p:sp>
        <p:sp>
          <p:nvSpPr>
            <p:cNvPr id="32784" name="Rectangle 16"/>
            <p:cNvSpPr>
              <a:spLocks noChangeArrowheads="1"/>
            </p:cNvSpPr>
            <p:nvPr/>
          </p:nvSpPr>
          <p:spPr bwMode="auto">
            <a:xfrm>
              <a:off x="554" y="718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32785" name="Rectangle 17"/>
            <p:cNvSpPr>
              <a:spLocks noChangeArrowheads="1"/>
            </p:cNvSpPr>
            <p:nvPr/>
          </p:nvSpPr>
          <p:spPr bwMode="auto">
            <a:xfrm>
              <a:off x="555" y="126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32786" name="Rectangle 18"/>
            <p:cNvSpPr>
              <a:spLocks noChangeArrowheads="1"/>
            </p:cNvSpPr>
            <p:nvPr/>
          </p:nvSpPr>
          <p:spPr bwMode="auto">
            <a:xfrm>
              <a:off x="544" y="178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32787" name="Rectangle 19"/>
            <p:cNvSpPr>
              <a:spLocks noChangeArrowheads="1"/>
            </p:cNvSpPr>
            <p:nvPr/>
          </p:nvSpPr>
          <p:spPr bwMode="auto">
            <a:xfrm>
              <a:off x="555" y="2320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32788" name="Rectangle 20"/>
            <p:cNvSpPr>
              <a:spLocks noChangeArrowheads="1"/>
            </p:cNvSpPr>
            <p:nvPr/>
          </p:nvSpPr>
          <p:spPr bwMode="auto">
            <a:xfrm>
              <a:off x="587" y="2846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32789" name="Rectangle 21"/>
            <p:cNvSpPr>
              <a:spLocks noChangeArrowheads="1"/>
            </p:cNvSpPr>
            <p:nvPr/>
          </p:nvSpPr>
          <p:spPr bwMode="auto">
            <a:xfrm>
              <a:off x="618" y="337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32790" name="Rectangle 22"/>
            <p:cNvSpPr>
              <a:spLocks noChangeArrowheads="1"/>
            </p:cNvSpPr>
            <p:nvPr/>
          </p:nvSpPr>
          <p:spPr bwMode="auto">
            <a:xfrm>
              <a:off x="777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 0</a:t>
              </a:r>
            </a:p>
          </p:txBody>
        </p:sp>
        <p:sp>
          <p:nvSpPr>
            <p:cNvPr id="32791" name="Rectangle 23"/>
            <p:cNvSpPr>
              <a:spLocks noChangeArrowheads="1"/>
            </p:cNvSpPr>
            <p:nvPr/>
          </p:nvSpPr>
          <p:spPr bwMode="auto">
            <a:xfrm>
              <a:off x="1451" y="3563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 50</a:t>
              </a:r>
            </a:p>
          </p:txBody>
        </p:sp>
        <p:sp>
          <p:nvSpPr>
            <p:cNvPr id="32792" name="Rectangle 24"/>
            <p:cNvSpPr>
              <a:spLocks noChangeArrowheads="1"/>
            </p:cNvSpPr>
            <p:nvPr/>
          </p:nvSpPr>
          <p:spPr bwMode="auto">
            <a:xfrm>
              <a:off x="2082" y="354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100</a:t>
              </a:r>
            </a:p>
          </p:txBody>
        </p:sp>
        <p:sp>
          <p:nvSpPr>
            <p:cNvPr id="32793" name="Rectangle 25"/>
            <p:cNvSpPr>
              <a:spLocks noChangeArrowheads="1"/>
            </p:cNvSpPr>
            <p:nvPr/>
          </p:nvSpPr>
          <p:spPr bwMode="auto">
            <a:xfrm>
              <a:off x="2734" y="355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150</a:t>
              </a:r>
            </a:p>
          </p:txBody>
        </p:sp>
        <p:sp>
          <p:nvSpPr>
            <p:cNvPr id="32794" name="Rectangle 26"/>
            <p:cNvSpPr>
              <a:spLocks noChangeArrowheads="1"/>
            </p:cNvSpPr>
            <p:nvPr/>
          </p:nvSpPr>
          <p:spPr bwMode="auto">
            <a:xfrm>
              <a:off x="3398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200</a:t>
              </a:r>
            </a:p>
          </p:txBody>
        </p:sp>
        <p:sp>
          <p:nvSpPr>
            <p:cNvPr id="32795" name="Rectangle 27"/>
            <p:cNvSpPr>
              <a:spLocks noChangeArrowheads="1"/>
            </p:cNvSpPr>
            <p:nvPr/>
          </p:nvSpPr>
          <p:spPr bwMode="auto">
            <a:xfrm>
              <a:off x="4060" y="3562"/>
              <a:ext cx="35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/>
                <a:t>250</a:t>
              </a:r>
            </a:p>
          </p:txBody>
        </p:sp>
        <p:sp>
          <p:nvSpPr>
            <p:cNvPr id="32796" name="Rectangle 28"/>
            <p:cNvSpPr>
              <a:spLocks noChangeArrowheads="1"/>
            </p:cNvSpPr>
            <p:nvPr/>
          </p:nvSpPr>
          <p:spPr bwMode="auto">
            <a:xfrm>
              <a:off x="1879" y="1312"/>
              <a:ext cx="109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 b="1"/>
                <a:t>X</a:t>
              </a:r>
              <a:r>
                <a:rPr lang="en-US" sz="1400" b="1" baseline="-25000"/>
                <a:t>1</a:t>
              </a:r>
              <a:r>
                <a:rPr lang="en-US" sz="1400" b="1"/>
                <a:t> + X</a:t>
              </a:r>
              <a:r>
                <a:rPr lang="en-US" sz="1400" b="1" baseline="-25000"/>
                <a:t>2</a:t>
              </a:r>
              <a:r>
                <a:rPr lang="en-US" sz="1400" b="1"/>
                <a:t> = 200</a:t>
              </a:r>
            </a:p>
          </p:txBody>
        </p:sp>
        <p:sp>
          <p:nvSpPr>
            <p:cNvPr id="32797" name="Line 29"/>
            <p:cNvSpPr>
              <a:spLocks noChangeShapeType="1"/>
            </p:cNvSpPr>
            <p:nvPr/>
          </p:nvSpPr>
          <p:spPr bwMode="auto">
            <a:xfrm flipH="1">
              <a:off x="1534" y="1416"/>
              <a:ext cx="482" cy="3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9" name="Line 31"/>
            <p:cNvSpPr>
              <a:spLocks noChangeShapeType="1"/>
            </p:cNvSpPr>
            <p:nvPr/>
          </p:nvSpPr>
          <p:spPr bwMode="auto">
            <a:xfrm flipH="1" flipV="1">
              <a:off x="960" y="1896"/>
              <a:ext cx="1974" cy="15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0" name="Line 32"/>
            <p:cNvSpPr>
              <a:spLocks noChangeShapeType="1"/>
            </p:cNvSpPr>
            <p:nvPr/>
          </p:nvSpPr>
          <p:spPr bwMode="auto">
            <a:xfrm flipH="1" flipV="1">
              <a:off x="954" y="1368"/>
              <a:ext cx="2634" cy="2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1" name="Line 33"/>
            <p:cNvSpPr>
              <a:spLocks noChangeShapeType="1"/>
            </p:cNvSpPr>
            <p:nvPr/>
          </p:nvSpPr>
          <p:spPr bwMode="auto">
            <a:xfrm flipH="1" flipV="1">
              <a:off x="954" y="1902"/>
              <a:ext cx="1980" cy="15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2" name="Rectangle 34"/>
            <p:cNvSpPr>
              <a:spLocks noChangeArrowheads="1"/>
            </p:cNvSpPr>
            <p:nvPr/>
          </p:nvSpPr>
          <p:spPr bwMode="auto">
            <a:xfrm>
              <a:off x="823" y="3215"/>
              <a:ext cx="109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400" b="1"/>
                <a:t>X</a:t>
              </a:r>
              <a:r>
                <a:rPr lang="en-US" sz="1400" b="1" baseline="-25000"/>
                <a:t>1</a:t>
              </a:r>
              <a:r>
                <a:rPr lang="en-US" sz="1400" b="1"/>
                <a:t> + X</a:t>
              </a:r>
              <a:r>
                <a:rPr lang="en-US" sz="1400" b="1" baseline="-25000"/>
                <a:t>2</a:t>
              </a:r>
              <a:r>
                <a:rPr lang="en-US" sz="1400" b="1"/>
                <a:t> = 150</a:t>
              </a:r>
            </a:p>
          </p:txBody>
        </p:sp>
        <p:sp>
          <p:nvSpPr>
            <p:cNvPr id="32803" name="Line 35"/>
            <p:cNvSpPr>
              <a:spLocks noChangeShapeType="1"/>
            </p:cNvSpPr>
            <p:nvPr/>
          </p:nvSpPr>
          <p:spPr bwMode="auto">
            <a:xfrm flipV="1">
              <a:off x="1764" y="3150"/>
              <a:ext cx="579" cy="1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4" name="Rectangle 36"/>
            <p:cNvSpPr>
              <a:spLocks noChangeArrowheads="1"/>
            </p:cNvSpPr>
            <p:nvPr/>
          </p:nvSpPr>
          <p:spPr bwMode="auto">
            <a:xfrm>
              <a:off x="2154" y="1644"/>
              <a:ext cx="136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 b="1"/>
                <a:t>feasible region for second constraint</a:t>
              </a:r>
            </a:p>
          </p:txBody>
        </p:sp>
        <p:sp>
          <p:nvSpPr>
            <p:cNvPr id="32805" name="Rectangle 37"/>
            <p:cNvSpPr>
              <a:spLocks noChangeArrowheads="1"/>
            </p:cNvSpPr>
            <p:nvPr/>
          </p:nvSpPr>
          <p:spPr bwMode="auto">
            <a:xfrm>
              <a:off x="955" y="2771"/>
              <a:ext cx="1219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 b="1"/>
                <a:t>feasible region for first constraint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18743"/>
            <a:ext cx="2895600" cy="357814"/>
          </a:xfr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0"/>
            <a:ext cx="7772400" cy="1219200"/>
          </a:xfrm>
          <a:noFill/>
          <a:ln/>
        </p:spPr>
        <p:txBody>
          <a:bodyPr lIns="92075" tIns="46038" rIns="92075" bIns="46038"/>
          <a:lstStyle/>
          <a:p>
            <a:r>
              <a:rPr lang="en-US" i="1">
                <a:solidFill>
                  <a:schemeClr val="hlink"/>
                </a:solidFill>
              </a:rPr>
              <a:t>End of Chapter 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1752600"/>
            <a:ext cx="8001000" cy="1905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4000" dirty="0">
                <a:solidFill>
                  <a:schemeClr val="tx1"/>
                </a:solidFill>
              </a:rPr>
              <a:t>The Analytic Solver Platform software featured in this book is provided by Frontline Systems.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http://www.solver.com</a:t>
            </a:r>
            <a:br>
              <a:rPr lang="en-US" sz="4000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2051" name="Picture 2" descr="C:\Users\BIT\Documents\My Dropbox\SMDA\frontline-syste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5" y="4495800"/>
            <a:ext cx="2235200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  </a:t>
            </a:r>
          </a:p>
        </p:txBody>
      </p:sp>
    </p:spTree>
    <p:extLst>
      <p:ext uri="{BB962C8B-B14F-4D97-AF65-F5344CB8AC3E}">
        <p14:creationId xmlns:p14="http://schemas.microsoft.com/office/powerpoint/2010/main" val="525809343"/>
      </p:ext>
    </p:extLst>
  </p:cSld>
  <p:clrMapOvr>
    <a:masterClrMapping/>
  </p:clrMapOvr>
</p:sld>
</file>

<file path=ppt/theme/theme1.xml><?xml version="1.0" encoding="utf-8"?>
<a:theme xmlns:a="http://schemas.openxmlformats.org/drawingml/2006/main" name="SMDA5">
  <a:themeElements>
    <a:clrScheme name="SMDA5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SMDA5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MDA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SMDA5</Template>
  <TotalTime>657</TotalTime>
  <Words>2477</Words>
  <Application>Microsoft Office PowerPoint</Application>
  <PresentationFormat>On-screen Show (4:3)</PresentationFormat>
  <Paragraphs>397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Tahoma</vt:lpstr>
      <vt:lpstr>Times New Roman</vt:lpstr>
      <vt:lpstr>Wingdings</vt:lpstr>
      <vt:lpstr>SMDA5</vt:lpstr>
      <vt:lpstr>Spreadsheet Modeling  &amp; Decision Analysis</vt:lpstr>
      <vt:lpstr>Introduction to Optimization  and Linear Programming</vt:lpstr>
      <vt:lpstr>Introduction</vt:lpstr>
      <vt:lpstr>Mathematical Programming...</vt:lpstr>
      <vt:lpstr>Applications of Optimization</vt:lpstr>
      <vt:lpstr>Characteristics of  Optimization Problems</vt:lpstr>
      <vt:lpstr>General Form of an Optimization Problem</vt:lpstr>
      <vt:lpstr>Linear Programming (LP) Problems</vt:lpstr>
      <vt:lpstr>An Example LP Problem</vt:lpstr>
      <vt:lpstr>5 Steps In Formulating LP Models:</vt:lpstr>
      <vt:lpstr>5 Steps In Formulating LP Models (continued)</vt:lpstr>
      <vt:lpstr>LP Model for  Blue Ridge Hot Tubs</vt:lpstr>
      <vt:lpstr>Solving LP Problems:  An Intuitive Approach</vt:lpstr>
      <vt:lpstr>Solving LP Problems: A Graphical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Calculating the Optimal Solution</vt:lpstr>
      <vt:lpstr>PowerPoint Presentation</vt:lpstr>
      <vt:lpstr>Summary of Graphical Solution  to LP Problems</vt:lpstr>
      <vt:lpstr>Understanding How Things Change</vt:lpstr>
      <vt:lpstr>Special Conditions in LP Models</vt:lpstr>
      <vt:lpstr>PowerPoint Presentation</vt:lpstr>
      <vt:lpstr>PowerPoint Presentation</vt:lpstr>
      <vt:lpstr>PowerPoint Presentation</vt:lpstr>
      <vt:lpstr>PowerPoint Presentation</vt:lpstr>
      <vt:lpstr>End of Chapter 2</vt:lpstr>
      <vt:lpstr>The Analytic Solver Platform software featured in this book is provided by Frontline Systems.  http://www.solver.com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Modeling &amp; Decision Analysis:</dc:title>
  <dc:creator>Cliff Ragsdale</dc:creator>
  <cp:lastModifiedBy>Arie Harel</cp:lastModifiedBy>
  <cp:revision>59</cp:revision>
  <dcterms:created xsi:type="dcterms:W3CDTF">1995-06-17T23:31:02Z</dcterms:created>
  <dcterms:modified xsi:type="dcterms:W3CDTF">2020-11-09T00:47:51Z</dcterms:modified>
</cp:coreProperties>
</file>