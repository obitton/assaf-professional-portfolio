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35"/>
  </p:notesMasterIdLst>
  <p:handoutMasterIdLst>
    <p:handoutMasterId r:id="rId36"/>
  </p:handoutMasterIdLst>
  <p:sldIdLst>
    <p:sldId id="339" r:id="rId2"/>
    <p:sldId id="256" r:id="rId3"/>
    <p:sldId id="26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276" r:id="rId18"/>
    <p:sldId id="277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  <p:sldId id="288" r:id="rId28"/>
    <p:sldId id="289" r:id="rId29"/>
    <p:sldId id="293" r:id="rId30"/>
    <p:sldId id="294" r:id="rId31"/>
    <p:sldId id="296" r:id="rId32"/>
    <p:sldId id="297" r:id="rId33"/>
    <p:sldId id="278" r:id="rId34"/>
  </p:sldIdLst>
  <p:sldSz cx="9144000" cy="6858000" type="screen4x3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CC0000"/>
    <a:srgbClr val="FFFFFF"/>
    <a:srgbClr val="856EF8"/>
    <a:srgbClr val="00CC00"/>
    <a:srgbClr val="FF0033"/>
    <a:srgbClr val="CB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06" autoAdjust="0"/>
    <p:restoredTop sz="94660"/>
  </p:normalViewPr>
  <p:slideViewPr>
    <p:cSldViewPr>
      <p:cViewPr varScale="1">
        <p:scale>
          <a:sx n="102" d="100"/>
          <a:sy n="102" d="100"/>
        </p:scale>
        <p:origin x="1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317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185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92837A78-055F-47EA-8E77-328D590E81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1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3475" y="696913"/>
            <a:ext cx="4591050" cy="344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/>
            </a:lvl1pPr>
          </a:lstStyle>
          <a:p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/>
            </a:lvl1pPr>
          </a:lstStyle>
          <a:p>
            <a:fld id="{4735293A-32C8-4232-8D66-D2DA5B37E7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627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C2589D30-6639-4274-9B42-3F9D5FCCD1DC}" type="slidenum">
              <a:rPr lang="en-US"/>
              <a:pPr/>
              <a:t>1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696913"/>
            <a:ext cx="4584700" cy="344011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82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1A1A60-8915-498A-91B5-23386F9431A8}" type="slidenum">
              <a:rPr lang="en-US"/>
              <a:pPr/>
              <a:t>2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84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C2A728-DA50-4753-9463-26D1D30FB609}" type="slidenum">
              <a:rPr lang="en-US"/>
              <a:pPr/>
              <a:t>3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2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826678-DEA0-4693-A4DA-89BB6B6F0236}" type="slidenum">
              <a:rPr lang="en-US"/>
              <a:pPr/>
              <a:t>4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80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7C3C35-FF90-4B6A-9CAC-BD7424F5BA9E}" type="slidenum">
              <a:rPr lang="en-US"/>
              <a:pPr/>
              <a:t>5</a:t>
            </a:fld>
            <a:endParaRPr lang="en-US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04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0793D6-FE97-4F97-B535-3A9537460DE4}" type="slidenum">
              <a:rPr lang="en-US"/>
              <a:pPr/>
              <a:t>6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9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E9D7EA-72D2-4AF0-ACC2-CCD6C25F4EF9}" type="slidenum">
              <a:rPr lang="en-US"/>
              <a:pPr/>
              <a:t>7</a:t>
            </a:fld>
            <a:endParaRPr lang="en-US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90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BD155F-000F-4FFE-BBC8-AAC24CC1A42D}" type="slidenum">
              <a:rPr lang="en-US"/>
              <a:pPr/>
              <a:t>8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16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179DDA-7AF3-4F46-960F-15F5CE569C76}" type="slidenum">
              <a:rPr lang="en-US"/>
              <a:pPr/>
              <a:t>9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04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51DBBB-E0BA-464B-A1F9-4DBFE51DA690}" type="slidenum">
              <a:rPr lang="en-US"/>
              <a:pPr/>
              <a:t>10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26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B86ED6-90B6-4A31-AB16-BA0DD62CD2DC}" type="slidenum">
              <a:rPr lang="en-US"/>
              <a:pPr/>
              <a:t>11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66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564614-27D6-430F-AE11-EDA5E29B0D8F}" type="slidenum">
              <a:rPr lang="en-US"/>
              <a:pPr/>
              <a:t>12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1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D969BF-9162-4AB6-9FEA-DDBFC1A7E005}" type="slidenum">
              <a:rPr lang="en-US"/>
              <a:pPr/>
              <a:t>13</a:t>
            </a:fld>
            <a:endParaRPr 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03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A2FDBA-F370-44EF-8348-A52925A74628}" type="slidenum">
              <a:rPr lang="en-US"/>
              <a:pPr/>
              <a:t>14</a:t>
            </a:fld>
            <a:endParaRPr 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98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FE52F5-82DC-4FC2-B8BE-3D0BC91F180F}" type="slidenum">
              <a:rPr lang="en-US"/>
              <a:pPr/>
              <a:t>15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96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766807-6FE6-40EF-9828-E623909D032D}" type="slidenum">
              <a:rPr lang="en-US"/>
              <a:pPr/>
              <a:t>16</a:t>
            </a:fld>
            <a:endParaRPr 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30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6CE718-799E-48E9-8301-37D2E0747F0C}" type="slidenum">
              <a:rPr lang="en-US"/>
              <a:pPr/>
              <a:t>17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16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8E1961-12FE-487C-A338-3E055F065426}" type="slidenum">
              <a:rPr lang="en-US"/>
              <a:pPr/>
              <a:t>18</a:t>
            </a:fld>
            <a:endParaRPr 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08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C4A008-3697-4CD8-A441-4574056ECFFB}" type="slidenum">
              <a:rPr lang="en-US"/>
              <a:pPr/>
              <a:t>19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140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A192D9-312E-43B8-A1BF-C7EEE31A5BCE}" type="slidenum">
              <a:rPr lang="en-US"/>
              <a:pPr/>
              <a:t>20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45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9305DE-A88D-4087-9107-A06B88124B5A}" type="slidenum">
              <a:rPr lang="en-US"/>
              <a:pPr/>
              <a:t>21</a:t>
            </a:fld>
            <a:endParaRPr lang="en-US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639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D24D41-4C26-4156-BBFC-391193439EC7}" type="slidenum">
              <a:rPr lang="en-US"/>
              <a:pPr/>
              <a:t>22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423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952ACF-1E50-4643-814C-BCFAFC8A868D}" type="slidenum">
              <a:rPr lang="en-US"/>
              <a:pPr/>
              <a:t>23</a:t>
            </a:fld>
            <a:endParaRPr lang="en-US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06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8DDD31-5E5B-471D-A0F3-9F6F6499B585}" type="slidenum">
              <a:rPr lang="en-US"/>
              <a:pPr/>
              <a:t>24</a:t>
            </a:fld>
            <a:endParaRPr 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39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C0B41-1B63-49B3-9766-C559E4833408}" type="slidenum">
              <a:rPr lang="en-US"/>
              <a:pPr/>
              <a:t>25</a:t>
            </a:fld>
            <a:endParaRPr 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775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6D6C96-CFEA-4678-88A7-238F6C7444E8}" type="slidenum">
              <a:rPr lang="en-US"/>
              <a:pPr/>
              <a:t>26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017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F6FD2D-36C5-44D8-AACD-E5F9E25BC8AE}" type="slidenum">
              <a:rPr lang="en-US"/>
              <a:pPr/>
              <a:t>27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507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40CD99-0311-4531-9763-04C0BCCA1593}" type="slidenum">
              <a:rPr lang="en-US"/>
              <a:pPr/>
              <a:t>28</a:t>
            </a:fld>
            <a:endParaRPr lang="en-US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737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09440D-E340-4FDA-A2FE-5923E476EA94}" type="slidenum">
              <a:rPr lang="en-US"/>
              <a:pPr/>
              <a:t>29</a:t>
            </a:fld>
            <a:endParaRPr lang="en-US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21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1DD75-689E-45EF-93BB-26AE58114BE5}" type="slidenum">
              <a:rPr lang="en-US"/>
              <a:pPr/>
              <a:t>30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527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4B4AB6-6D30-40AD-8EEB-F92C5D4E0F4C}" type="slidenum">
              <a:rPr lang="en-US"/>
              <a:pPr/>
              <a:t>31</a:t>
            </a:fld>
            <a:endParaRPr lang="en-US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485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B8816E-7198-4D7F-91B2-D0ADC31C8422}" type="slidenum">
              <a:rPr lang="en-US"/>
              <a:pPr/>
              <a:t>32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715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974FB7-D71D-4941-B221-BEC5840CDE47}" type="slidenum">
              <a:rPr lang="en-US"/>
              <a:pPr/>
              <a:t>33</a:t>
            </a:fld>
            <a:endParaRPr lang="en-US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1673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96913"/>
            <a:ext cx="4587875" cy="3440112"/>
          </a:xfrm>
          <a:ln cap="flat"/>
        </p:spPr>
      </p:sp>
    </p:spTree>
    <p:extLst>
      <p:ext uri="{BB962C8B-B14F-4D97-AF65-F5344CB8AC3E}">
        <p14:creationId xmlns:p14="http://schemas.microsoft.com/office/powerpoint/2010/main" val="295586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4BBF10-59E8-4CAC-8C49-1D87393B840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789033-5CDE-453F-B395-4D2998D6BE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AA76F-976F-4178-9F8E-D237EC650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5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1D4B01-2714-45D0-A923-4F588C53580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93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5A2B7F-C5AC-4A13-B4DB-D0B0BF6910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9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0D5CF-947C-4687-B1A8-34F5B17F72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2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785FD-9491-4D12-B088-73ABAF176B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775C12-4770-477E-A551-32B483F4483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8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E2CD1-6E82-4CAE-AA83-B46D57C8BE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51C9C-F596-4859-B8B8-89E9DD29B32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4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B58893-E17B-4383-AF1C-C0B1605F87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2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69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dirty="0"/>
              <a:t>© 2017 Cengage Learning. All Rights Reserved. May not be scanned, copied or duplicated, or posted to a publicly accessible website, in whole or in part.</a:t>
            </a:r>
          </a:p>
        </p:txBody>
      </p:sp>
      <p:sp>
        <p:nvSpPr>
          <p:cNvPr id="12698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5116A9-1108-4EDA-873B-BE2E7B756F21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g14-1.xls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g14-1.xls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g14-1.xls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9" Type="http://schemas.openxmlformats.org/officeDocument/2006/relationships/hyperlink" Target="Fig14-1.xlsm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Relationship Id="rId9" Type="http://schemas.openxmlformats.org/officeDocument/2006/relationships/hyperlink" Target="Fig14-1.xlsm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Fig14-14.xls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Fig14-20.xlsm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Fig14-29.xls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Fig14-30.xls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b="1" i="1" dirty="0">
                <a:solidFill>
                  <a:schemeClr val="hlink"/>
                </a:solidFill>
              </a:rPr>
              <a:t>Spreadsheet Modeling </a:t>
            </a:r>
            <a:br>
              <a:rPr lang="en-US" b="1" i="1" dirty="0">
                <a:solidFill>
                  <a:schemeClr val="hlink"/>
                </a:solidFill>
              </a:rPr>
            </a:br>
            <a:r>
              <a:rPr lang="en-US" b="1" i="1" dirty="0">
                <a:solidFill>
                  <a:schemeClr val="hlink"/>
                </a:solidFill>
              </a:rPr>
              <a:t>&amp; Decision Analysis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/>
              <a:t>A Practical Introduction to Business Analytics </a:t>
            </a:r>
          </a:p>
          <a:p>
            <a:pPr eaLnBrk="1" hangingPunct="1"/>
            <a:r>
              <a:rPr lang="en-US" sz="2400" dirty="0"/>
              <a:t>8</a:t>
            </a:r>
            <a:r>
              <a:rPr lang="en-US" sz="2400" baseline="30000" dirty="0"/>
              <a:t>th</a:t>
            </a:r>
            <a:r>
              <a:rPr lang="en-US" sz="2400" dirty="0"/>
              <a:t> edition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Cliff T. Ragsdale</a:t>
            </a:r>
          </a:p>
          <a:p>
            <a:pPr eaLnBrk="1" hangingPunct="1"/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680" y="4422038"/>
            <a:ext cx="161544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9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09800"/>
            <a:ext cx="7772400" cy="16954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>
                <a:solidFill>
                  <a:schemeClr val="tx1"/>
                </a:solidFill>
              </a:rPr>
              <a:t>Decision Analysis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762000" y="228600"/>
            <a:ext cx="7772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/>
            <a:r>
              <a:rPr lang="en-US" sz="4400" b="1" i="1" dirty="0">
                <a:solidFill>
                  <a:schemeClr val="hlink"/>
                </a:solidFill>
                <a:latin typeface="Tahoma" pitchFamily="34" charset="0"/>
              </a:rPr>
              <a:t>Chapter 14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863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Introduction to Decision Analysis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6350"/>
            <a:ext cx="7848600" cy="34480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800" dirty="0"/>
              <a:t>Models help managers gain insight and understanding, but they can’t make decisions.</a:t>
            </a:r>
          </a:p>
          <a:p>
            <a:pPr eaLnBrk="0" hangingPunct="0"/>
            <a:r>
              <a:rPr lang="en-US" sz="2800" dirty="0"/>
              <a:t>Decision making often remains a difficult task due to:</a:t>
            </a:r>
          </a:p>
          <a:p>
            <a:pPr lvl="1" eaLnBrk="0" hangingPunct="0"/>
            <a:r>
              <a:rPr lang="en-US" dirty="0"/>
              <a:t>Uncertainty regarding the future</a:t>
            </a:r>
          </a:p>
          <a:p>
            <a:pPr lvl="1" eaLnBrk="0" hangingPunct="0"/>
            <a:r>
              <a:rPr lang="en-US" dirty="0"/>
              <a:t>Conflicting values or objectives</a:t>
            </a:r>
          </a:p>
          <a:p>
            <a:pPr eaLnBrk="0" hangingPunct="0"/>
            <a:r>
              <a:rPr lang="en-US" sz="2800" dirty="0"/>
              <a:t>Consider the following example...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bldLvl="2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749300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Deciding Between Job Offers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814387"/>
            <a:ext cx="8201025" cy="5430837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800" dirty="0"/>
              <a:t>Company A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In a new industry that could boom or bust.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Low starting salary, but  could increase rapidly.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Located near friends, family and favorite sports team.</a:t>
            </a:r>
          </a:p>
          <a:p>
            <a:pPr eaLnBrk="0" hangingPunct="0">
              <a:lnSpc>
                <a:spcPct val="90000"/>
              </a:lnSpc>
            </a:pPr>
            <a:r>
              <a:rPr lang="en-US" sz="2800" dirty="0"/>
              <a:t>Company B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Established firm with financial strength and commitment to employees.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Higher starting salary but  slower advancement opportunity.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Distant location, offering few cultural or sporting activities.</a:t>
            </a:r>
          </a:p>
          <a:p>
            <a:pPr eaLnBrk="0" hangingPunct="0">
              <a:lnSpc>
                <a:spcPct val="90000"/>
              </a:lnSpc>
            </a:pPr>
            <a:r>
              <a:rPr lang="en-US" sz="2800" dirty="0"/>
              <a:t>Which job would you take?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001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Good Decisions vs. Good Outcomes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75" y="1306513"/>
            <a:ext cx="7772400" cy="4152900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120000"/>
              </a:lnSpc>
            </a:pPr>
            <a:r>
              <a:rPr lang="en-US" sz="3000" dirty="0"/>
              <a:t>A structured approach to decision making can help us make good decisions, but can’t guarantee good outcomes.</a:t>
            </a:r>
          </a:p>
          <a:p>
            <a:pPr eaLnBrk="0" hangingPunct="0">
              <a:lnSpc>
                <a:spcPct val="120000"/>
              </a:lnSpc>
            </a:pPr>
            <a:r>
              <a:rPr lang="en-US" sz="3000" dirty="0"/>
              <a:t>Good decisions sometimes result in bad outcomes.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68338" y="363538"/>
            <a:ext cx="7772400" cy="54768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Characteristics of Decision Problems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8613" y="847725"/>
            <a:ext cx="8461375" cy="59817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300" dirty="0"/>
              <a:t>Alternatives - different courses of action intended to solve a problem.</a:t>
            </a:r>
          </a:p>
          <a:p>
            <a:pPr lvl="1" eaLnBrk="0" hangingPunct="0"/>
            <a:r>
              <a:rPr lang="en-US" sz="2000" dirty="0"/>
              <a:t>Work for company A </a:t>
            </a:r>
          </a:p>
          <a:p>
            <a:pPr lvl="1" eaLnBrk="0" hangingPunct="0"/>
            <a:r>
              <a:rPr lang="en-US" sz="2000" dirty="0"/>
              <a:t>Work for company B</a:t>
            </a:r>
          </a:p>
          <a:p>
            <a:pPr lvl="1" eaLnBrk="0" hangingPunct="0"/>
            <a:r>
              <a:rPr lang="en-US" sz="2000" dirty="0"/>
              <a:t>Reject both offers and keep looking</a:t>
            </a:r>
          </a:p>
          <a:p>
            <a:pPr eaLnBrk="0" hangingPunct="0"/>
            <a:r>
              <a:rPr lang="en-US" sz="2300" dirty="0"/>
              <a:t>Criteria - factors that are important to the decision maker and influenced by the alternatives.</a:t>
            </a:r>
          </a:p>
          <a:p>
            <a:pPr lvl="1" eaLnBrk="0" hangingPunct="0"/>
            <a:r>
              <a:rPr lang="en-US" sz="2000" dirty="0"/>
              <a:t>Salary </a:t>
            </a:r>
          </a:p>
          <a:p>
            <a:pPr lvl="1" eaLnBrk="0" hangingPunct="0"/>
            <a:r>
              <a:rPr lang="en-US" sz="2000" dirty="0"/>
              <a:t>Career potential</a:t>
            </a:r>
          </a:p>
          <a:p>
            <a:pPr lvl="1" eaLnBrk="0" hangingPunct="0"/>
            <a:r>
              <a:rPr lang="en-US" sz="2000" dirty="0"/>
              <a:t>Location</a:t>
            </a:r>
          </a:p>
          <a:p>
            <a:pPr eaLnBrk="0" hangingPunct="0"/>
            <a:r>
              <a:rPr lang="en-US" sz="2300" dirty="0"/>
              <a:t>States of Nature - future events not under the decision makers control.</a:t>
            </a:r>
          </a:p>
          <a:p>
            <a:pPr lvl="1" eaLnBrk="0" hangingPunct="0"/>
            <a:r>
              <a:rPr lang="en-US" sz="2000" dirty="0"/>
              <a:t>Company A grows</a:t>
            </a:r>
          </a:p>
          <a:p>
            <a:pPr lvl="1" eaLnBrk="0" hangingPunct="0"/>
            <a:r>
              <a:rPr lang="en-US" sz="2000" dirty="0"/>
              <a:t>Company A goes bust</a:t>
            </a:r>
          </a:p>
          <a:p>
            <a:pPr lvl="1" eaLnBrk="0" hangingPunct="0"/>
            <a:r>
              <a:rPr lang="en-US" sz="2000" dirty="0" err="1"/>
              <a:t>etc</a:t>
            </a:r>
            <a:endParaRPr lang="en-US" sz="2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2833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3619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An Example: Magnolia Inns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1" y="800100"/>
            <a:ext cx="8686800" cy="5284788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300" dirty="0"/>
              <a:t>Hartsfield International Airport in Atlanta, Georgia, is one of the busiest airports in the world.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It has expanded many times to handle increasing air traffic.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Commercial development around the airport prevents it from building more runways to handle future air traffic.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Plans are being made to build another airport outside the city limits.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Two possible locations for the new airport have been identified, but a final decision will not be made for a year.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The Magnolia Inns hotel chain intends to build a new facility near the new airport once its site is determined.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Land values around both possible sites for the new airport are increasing as investors speculate that property values will increase greatly in the vicinity of the new airport.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0513"/>
            <a:ext cx="8229600" cy="62547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The Decision Alternatives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799"/>
            <a:ext cx="7924800" cy="5029201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buFont typeface="Wingdings" pitchFamily="2" charset="2"/>
              <a:buNone/>
            </a:pPr>
            <a:r>
              <a:rPr lang="en-US" sz="2400" dirty="0"/>
              <a:t>1) Buy the parcel of land at location A.</a:t>
            </a:r>
          </a:p>
          <a:p>
            <a:pPr eaLnBrk="0" hangingPunct="0">
              <a:buFont typeface="Wingdings" pitchFamily="2" charset="2"/>
              <a:buNone/>
            </a:pPr>
            <a:r>
              <a:rPr lang="en-US" sz="2400" dirty="0"/>
              <a:t>2) Buy the parcel of land at location B.</a:t>
            </a:r>
          </a:p>
          <a:p>
            <a:pPr eaLnBrk="0" hangingPunct="0">
              <a:buFont typeface="Wingdings" pitchFamily="2" charset="2"/>
              <a:buNone/>
            </a:pPr>
            <a:r>
              <a:rPr lang="en-US" sz="2400" dirty="0"/>
              <a:t>3) Buy both parcels.</a:t>
            </a:r>
          </a:p>
          <a:p>
            <a:pPr eaLnBrk="0" hangingPunct="0">
              <a:buFont typeface="Wingdings" pitchFamily="2" charset="2"/>
              <a:buNone/>
            </a:pPr>
            <a:r>
              <a:rPr lang="en-US" sz="2400" dirty="0"/>
              <a:t>4) Buy nothing.</a:t>
            </a:r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  <a:p>
            <a:pPr eaLnBrk="0" hangingPunct="0">
              <a:buFont typeface="Wingdings" pitchFamily="2" charset="2"/>
              <a:buNone/>
            </a:pPr>
            <a:endParaRPr lang="en-US" sz="1000" dirty="0"/>
          </a:p>
          <a:p>
            <a:pPr algn="r" eaLnBrk="0" hangingPunct="0">
              <a:buNone/>
            </a:pPr>
            <a:r>
              <a:rPr lang="en-US" sz="1600" dirty="0"/>
              <a:t>(Note: All values are in millions of dollars.)</a:t>
            </a:r>
          </a:p>
          <a:p>
            <a:pPr eaLnBrk="0" hangingPunct="0"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E3FB16-A0CD-46E7-B561-617478531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65815"/>
              </p:ext>
            </p:extLst>
          </p:nvPr>
        </p:nvGraphicFramePr>
        <p:xfrm>
          <a:off x="723089" y="3048000"/>
          <a:ext cx="7772400" cy="2486184"/>
        </p:xfrm>
        <a:graphic>
          <a:graphicData uri="http://schemas.openxmlformats.org/drawingml/2006/table">
            <a:tbl>
              <a:tblPr/>
              <a:tblGrid>
                <a:gridCol w="4876800">
                  <a:extLst>
                    <a:ext uri="{9D8B030D-6E8A-4147-A177-3AD203B41FA5}">
                      <a16:colId xmlns:a16="http://schemas.microsoft.com/office/drawing/2014/main" val="1504817407"/>
                    </a:ext>
                  </a:extLst>
                </a:gridCol>
                <a:gridCol w="1319908">
                  <a:extLst>
                    <a:ext uri="{9D8B030D-6E8A-4147-A177-3AD203B41FA5}">
                      <a16:colId xmlns:a16="http://schemas.microsoft.com/office/drawing/2014/main" val="1503597559"/>
                    </a:ext>
                  </a:extLst>
                </a:gridCol>
                <a:gridCol w="1575692">
                  <a:extLst>
                    <a:ext uri="{9D8B030D-6E8A-4147-A177-3AD203B41FA5}">
                      <a16:colId xmlns:a16="http://schemas.microsoft.com/office/drawing/2014/main" val="3906930308"/>
                    </a:ext>
                  </a:extLst>
                </a:gridCol>
              </a:tblGrid>
              <a:tr h="5447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/>
                        <a:t>The Magnolia Inns hotel 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Parcel of Land Near Location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421637"/>
                  </a:ext>
                </a:extLst>
              </a:tr>
              <a:tr h="34614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588486"/>
                  </a:ext>
                </a:extLst>
              </a:tr>
              <a:tr h="346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Current purchase price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079011"/>
                  </a:ext>
                </a:extLst>
              </a:tr>
              <a:tr h="61703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Present value of future cash flows if hotel and airport are built at this location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$31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31136"/>
                  </a:ext>
                </a:extLst>
              </a:tr>
              <a:tr h="6320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Present value of future sales price of parcel if the airport is not built at this location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13226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66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The Possible States of Nature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2075" tIns="46038" rIns="92075" bIns="46038"/>
          <a:lstStyle/>
          <a:p>
            <a:pPr eaLnBrk="0" hangingPunct="0">
              <a:buFont typeface="Wingdings" pitchFamily="2" charset="2"/>
              <a:buNone/>
            </a:pPr>
            <a:r>
              <a:rPr lang="en-US" dirty="0"/>
              <a:t>1) The new airport is built at location A.</a:t>
            </a:r>
          </a:p>
          <a:p>
            <a:pPr eaLnBrk="0" hangingPunct="0">
              <a:buFont typeface="Wingdings" pitchFamily="2" charset="2"/>
              <a:buNone/>
            </a:pPr>
            <a:r>
              <a:rPr lang="en-US" dirty="0"/>
              <a:t>2) The new airport is built at location B.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400" i="1" dirty="0">
                <a:solidFill>
                  <a:schemeClr val="hlink"/>
                </a:solidFill>
              </a:rPr>
              <a:t>Constructing a Payoff Matrix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3242B7-6251-4CB5-8225-28D7554CB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37041"/>
              </p:ext>
            </p:extLst>
          </p:nvPr>
        </p:nvGraphicFramePr>
        <p:xfrm>
          <a:off x="457200" y="858860"/>
          <a:ext cx="7772400" cy="2486184"/>
        </p:xfrm>
        <a:graphic>
          <a:graphicData uri="http://schemas.openxmlformats.org/drawingml/2006/table">
            <a:tbl>
              <a:tblPr/>
              <a:tblGrid>
                <a:gridCol w="4876800">
                  <a:extLst>
                    <a:ext uri="{9D8B030D-6E8A-4147-A177-3AD203B41FA5}">
                      <a16:colId xmlns:a16="http://schemas.microsoft.com/office/drawing/2014/main" val="1121798158"/>
                    </a:ext>
                  </a:extLst>
                </a:gridCol>
                <a:gridCol w="1319908">
                  <a:extLst>
                    <a:ext uri="{9D8B030D-6E8A-4147-A177-3AD203B41FA5}">
                      <a16:colId xmlns:a16="http://schemas.microsoft.com/office/drawing/2014/main" val="2277477118"/>
                    </a:ext>
                  </a:extLst>
                </a:gridCol>
                <a:gridCol w="1575692">
                  <a:extLst>
                    <a:ext uri="{9D8B030D-6E8A-4147-A177-3AD203B41FA5}">
                      <a16:colId xmlns:a16="http://schemas.microsoft.com/office/drawing/2014/main" val="2794340200"/>
                    </a:ext>
                  </a:extLst>
                </a:gridCol>
              </a:tblGrid>
              <a:tr h="54479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dirty="0"/>
                        <a:t>The Magnolia Inns hotel 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effectLst/>
                          <a:latin typeface="Arial" panose="020B0604020202020204" pitchFamily="34" charset="0"/>
                        </a:rPr>
                        <a:t>Parcel of Land Near Location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86765"/>
                  </a:ext>
                </a:extLst>
              </a:tr>
              <a:tr h="34614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786121"/>
                  </a:ext>
                </a:extLst>
              </a:tr>
              <a:tr h="3461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Current purchase price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556629"/>
                  </a:ext>
                </a:extLst>
              </a:tr>
              <a:tr h="61703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Present value of future cash flows if hotel and airport are built at this location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$31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$23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612288"/>
                  </a:ext>
                </a:extLst>
              </a:tr>
              <a:tr h="63208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Present value of future sales price of parcel if the airport is not built at this location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effectLst/>
                          <a:latin typeface="Arial" panose="020B0604020202020204" pitchFamily="34" charset="0"/>
                        </a:rPr>
                        <a:t>$4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5293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DC4707-ED30-4C4F-B0F6-55057B3DB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421520"/>
              </p:ext>
            </p:extLst>
          </p:nvPr>
        </p:nvGraphicFramePr>
        <p:xfrm>
          <a:off x="762000" y="4007546"/>
          <a:ext cx="7467600" cy="2012822"/>
        </p:xfrm>
        <a:graphic>
          <a:graphicData uri="http://schemas.openxmlformats.org/drawingml/2006/table">
            <a:tbl>
              <a:tblPr/>
              <a:tblGrid>
                <a:gridCol w="3373454">
                  <a:extLst>
                    <a:ext uri="{9D8B030D-6E8A-4147-A177-3AD203B41FA5}">
                      <a16:colId xmlns:a16="http://schemas.microsoft.com/office/drawing/2014/main" val="792008443"/>
                    </a:ext>
                  </a:extLst>
                </a:gridCol>
                <a:gridCol w="2093075">
                  <a:extLst>
                    <a:ext uri="{9D8B030D-6E8A-4147-A177-3AD203B41FA5}">
                      <a16:colId xmlns:a16="http://schemas.microsoft.com/office/drawing/2014/main" val="2905907958"/>
                    </a:ext>
                  </a:extLst>
                </a:gridCol>
                <a:gridCol w="2001071">
                  <a:extLst>
                    <a:ext uri="{9D8B030D-6E8A-4147-A177-3AD203B41FA5}">
                      <a16:colId xmlns:a16="http://schemas.microsoft.com/office/drawing/2014/main" val="196484956"/>
                    </a:ext>
                  </a:extLst>
                </a:gridCol>
              </a:tblGrid>
              <a:tr h="329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effectLst/>
                          <a:latin typeface="Arial" panose="020B0604020202020204" pitchFamily="34" charset="0"/>
                        </a:rPr>
                        <a:t>Land Purchased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effectLst/>
                          <a:latin typeface="Arial" panose="020B0604020202020204" pitchFamily="34" charset="0"/>
                        </a:rPr>
                        <a:t>Airport is Built at Location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355533"/>
                  </a:ext>
                </a:extLst>
              </a:tr>
              <a:tr h="3483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effectLst/>
                          <a:latin typeface="Arial" panose="020B0604020202020204" pitchFamily="34" charset="0"/>
                        </a:rPr>
                        <a:t>at Location(s)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523568"/>
                  </a:ext>
                </a:extLst>
              </a:tr>
              <a:tr h="329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$13 = 31 –  18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($12) = 6  – 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440724"/>
                  </a:ext>
                </a:extLst>
              </a:tr>
              <a:tr h="329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($8) = 4 –  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$11 = 23 –  12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8965742"/>
                  </a:ext>
                </a:extLst>
              </a:tr>
              <a:tr h="32901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effectLst/>
                          <a:latin typeface="Arial" panose="020B0604020202020204" pitchFamily="34" charset="0"/>
                        </a:rPr>
                        <a:t>A&amp;B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$5 = 13 –  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($1) = 11 – 12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4434315"/>
                  </a:ext>
                </a:extLst>
              </a:tr>
              <a:tr h="3483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effectLst/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$0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$0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2323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FD972D-C8D3-4CD5-B489-FFD627E30D10}"/>
              </a:ext>
            </a:extLst>
          </p:cNvPr>
          <p:cNvSpPr txBox="1"/>
          <p:nvPr/>
        </p:nvSpPr>
        <p:spPr>
          <a:xfrm>
            <a:off x="2438400" y="349148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hlink"/>
                </a:solidFill>
              </a:rPr>
              <a:t>Payoff Matrix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2863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Decision Rules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35063"/>
            <a:ext cx="7772400" cy="480853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600" dirty="0"/>
              <a:t>If the future state of nature (airport location) were known, it would be easy to make a decision.</a:t>
            </a:r>
          </a:p>
          <a:p>
            <a:pPr eaLnBrk="0" hangingPunct="0"/>
            <a:r>
              <a:rPr lang="en-US" sz="2600" dirty="0"/>
              <a:t>Failing this, a variety of non-probabilistic decision rules can be applied to this problem:</a:t>
            </a:r>
          </a:p>
          <a:p>
            <a:pPr lvl="1" eaLnBrk="0" hangingPunct="0"/>
            <a:r>
              <a:rPr lang="en-US" sz="2400" dirty="0"/>
              <a:t>Maximax</a:t>
            </a:r>
          </a:p>
          <a:p>
            <a:pPr lvl="1" eaLnBrk="0" hangingPunct="0"/>
            <a:r>
              <a:rPr lang="en-US" sz="2400" dirty="0"/>
              <a:t>Maximin</a:t>
            </a:r>
          </a:p>
          <a:p>
            <a:pPr lvl="1" eaLnBrk="0" hangingPunct="0"/>
            <a:r>
              <a:rPr lang="en-US" sz="2400" dirty="0"/>
              <a:t>Minimax regret</a:t>
            </a:r>
          </a:p>
          <a:p>
            <a:pPr eaLnBrk="0" hangingPunct="0"/>
            <a:r>
              <a:rPr lang="en-US" sz="2600" dirty="0"/>
              <a:t>No decision rule is always best and each has its own weaknesses.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1313"/>
            <a:ext cx="7772400" cy="56991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The Maximax Decision Rule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90600"/>
            <a:ext cx="8240712" cy="195262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600" dirty="0"/>
              <a:t>Identify the maximum payoff for each alternative.</a:t>
            </a:r>
          </a:p>
          <a:p>
            <a:pPr eaLnBrk="0" hangingPunct="0"/>
            <a:r>
              <a:rPr lang="en-US" sz="2600" dirty="0"/>
              <a:t>Choose the alternative with the largest maximum payoff.</a:t>
            </a:r>
          </a:p>
          <a:p>
            <a:pPr eaLnBrk="0" hangingPunct="0"/>
            <a:r>
              <a:rPr lang="en-US" sz="2600" dirty="0"/>
              <a:t>See file </a:t>
            </a:r>
            <a:r>
              <a:rPr lang="en-US" sz="2600" dirty="0">
                <a:hlinkClick r:id="rId3" action="ppaction://hlinkfile"/>
              </a:rPr>
              <a:t>Fig14-1.xlsm</a:t>
            </a:r>
            <a:endParaRPr lang="en-US" sz="2600" dirty="0"/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81000" y="2971800"/>
            <a:ext cx="8240713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Weakness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tx2"/>
              </a:buClr>
              <a:buFont typeface="Times New Roman" pitchFamily="18" charset="0"/>
              <a:buChar char="–"/>
            </a:pPr>
            <a:r>
              <a:rPr lang="en-US" sz="2600" dirty="0"/>
              <a:t>Consider the following payoff matrix</a:t>
            </a:r>
          </a:p>
        </p:txBody>
      </p:sp>
      <p:grpSp>
        <p:nvGrpSpPr>
          <p:cNvPr id="27657" name="Group 9"/>
          <p:cNvGrpSpPr>
            <a:grpSpLocks/>
          </p:cNvGrpSpPr>
          <p:nvPr/>
        </p:nvGrpSpPr>
        <p:grpSpPr bwMode="auto">
          <a:xfrm>
            <a:off x="407988" y="4122738"/>
            <a:ext cx="8435975" cy="1516062"/>
            <a:chOff x="257" y="2720"/>
            <a:chExt cx="5314" cy="955"/>
          </a:xfrm>
        </p:grpSpPr>
        <p:sp>
          <p:nvSpPr>
            <p:cNvPr id="27653" name="Rectangle 5"/>
            <p:cNvSpPr>
              <a:spLocks noChangeArrowheads="1"/>
            </p:cNvSpPr>
            <p:nvPr/>
          </p:nvSpPr>
          <p:spPr bwMode="auto">
            <a:xfrm>
              <a:off x="257" y="2720"/>
              <a:ext cx="5314" cy="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           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MAX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30 		-10000 	30	&lt;--maximum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29		29	29	</a:t>
              </a:r>
            </a:p>
          </p:txBody>
        </p:sp>
        <p:sp>
          <p:nvSpPr>
            <p:cNvPr id="27654" name="Line 6"/>
            <p:cNvSpPr>
              <a:spLocks noChangeShapeType="1"/>
            </p:cNvSpPr>
            <p:nvPr/>
          </p:nvSpPr>
          <p:spPr bwMode="auto">
            <a:xfrm>
              <a:off x="440" y="3158"/>
              <a:ext cx="50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Line 7"/>
            <p:cNvSpPr>
              <a:spLocks noChangeShapeType="1"/>
            </p:cNvSpPr>
            <p:nvPr/>
          </p:nvSpPr>
          <p:spPr bwMode="auto">
            <a:xfrm>
              <a:off x="1941" y="2923"/>
              <a:ext cx="1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 autoUpdateAnimBg="0"/>
      <p:bldP spid="2765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0225"/>
            <a:ext cx="7772400" cy="569913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4000" i="1" dirty="0">
                <a:solidFill>
                  <a:schemeClr val="hlink"/>
                </a:solidFill>
              </a:rPr>
              <a:t>The Maximin Decision Rule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1295400"/>
            <a:ext cx="8240712" cy="195262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600" dirty="0"/>
              <a:t>Identify the minimum payoff for each alternative.</a:t>
            </a:r>
          </a:p>
          <a:p>
            <a:pPr eaLnBrk="0" hangingPunct="0"/>
            <a:r>
              <a:rPr lang="en-US" sz="2600" dirty="0"/>
              <a:t>Choose the alternative with the largest minimum payoff.</a:t>
            </a:r>
          </a:p>
          <a:p>
            <a:pPr eaLnBrk="0" hangingPunct="0"/>
            <a:r>
              <a:rPr lang="en-US" sz="2600" dirty="0"/>
              <a:t>See file </a:t>
            </a:r>
            <a:r>
              <a:rPr lang="en-US" sz="2600" dirty="0">
                <a:hlinkClick r:id="rId3" action="ppaction://hlinkfile"/>
              </a:rPr>
              <a:t>Fig14-1.xlsm</a:t>
            </a:r>
            <a:endParaRPr lang="en-US" sz="2600" dirty="0"/>
          </a:p>
        </p:txBody>
      </p:sp>
      <p:grpSp>
        <p:nvGrpSpPr>
          <p:cNvPr id="29704" name="Group 8"/>
          <p:cNvGrpSpPr>
            <a:grpSpLocks/>
          </p:cNvGrpSpPr>
          <p:nvPr/>
        </p:nvGrpSpPr>
        <p:grpSpPr bwMode="auto">
          <a:xfrm>
            <a:off x="463550" y="3192463"/>
            <a:ext cx="8462963" cy="2874962"/>
            <a:chOff x="292" y="2011"/>
            <a:chExt cx="5331" cy="1811"/>
          </a:xfrm>
        </p:grpSpPr>
        <p:sp>
          <p:nvSpPr>
            <p:cNvPr id="29700" name="Rectangle 4"/>
            <p:cNvSpPr>
              <a:spLocks noChangeArrowheads="1"/>
            </p:cNvSpPr>
            <p:nvPr/>
          </p:nvSpPr>
          <p:spPr bwMode="auto">
            <a:xfrm>
              <a:off x="292" y="2011"/>
              <a:ext cx="5191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600" dirty="0">
                  <a:latin typeface="Tahoma" pitchFamily="34" charset="0"/>
                </a:rPr>
                <a:t>Weakness </a:t>
              </a:r>
            </a:p>
            <a:p>
              <a:pPr marL="742950" lvl="1" indent="-285750" eaLnBrk="0" hangingPunct="0">
                <a:spcBef>
                  <a:spcPct val="20000"/>
                </a:spcBef>
                <a:buClr>
                  <a:schemeClr val="tx1"/>
                </a:buClr>
                <a:buFontTx/>
                <a:buChar char="–"/>
              </a:pPr>
              <a:r>
                <a:rPr lang="en-US" sz="2600" dirty="0"/>
                <a:t>Consider the following payoff matrix</a:t>
              </a:r>
            </a:p>
          </p:txBody>
        </p:sp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309" y="2717"/>
              <a:ext cx="5314" cy="1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 	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MIN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1000 		28 	28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  <a:tab pos="6464300" algn="l"/>
                </a:tabLst>
              </a:pPr>
              <a:r>
                <a:rPr lang="en-US" sz="2400" dirty="0"/>
                <a:t>	B	29		29	29  	&lt;--maximum</a:t>
              </a:r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492" y="3156"/>
              <a:ext cx="50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3" name="Line 7"/>
            <p:cNvSpPr>
              <a:spLocks noChangeShapeType="1"/>
            </p:cNvSpPr>
            <p:nvPr/>
          </p:nvSpPr>
          <p:spPr bwMode="auto">
            <a:xfrm>
              <a:off x="1874" y="2921"/>
              <a:ext cx="1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5722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The Minimax Regret Decision Rule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23975"/>
            <a:ext cx="8139112" cy="3552825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600" dirty="0"/>
              <a:t>Compute the possible regret for each alternative under each state of nature.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Identify the maximum possible regret for each alternative.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Choose the alternative with the smallest maximum regret.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See file </a:t>
            </a:r>
            <a:r>
              <a:rPr lang="en-US" sz="2600" dirty="0">
                <a:hlinkClick r:id="rId3" action="ppaction://hlinkfile"/>
              </a:rPr>
              <a:t>Fig14-1.xlsm</a:t>
            </a:r>
            <a:endParaRPr lang="en-US" sz="2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93700"/>
            <a:ext cx="8610600" cy="3683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Anomalies with the Minimax Regret Rule</a:t>
            </a:r>
          </a:p>
        </p:txBody>
      </p:sp>
      <p:grpSp>
        <p:nvGrpSpPr>
          <p:cNvPr id="33799" name="Group 7"/>
          <p:cNvGrpSpPr>
            <a:grpSpLocks/>
          </p:cNvGrpSpPr>
          <p:nvPr/>
        </p:nvGrpSpPr>
        <p:grpSpPr bwMode="auto">
          <a:xfrm>
            <a:off x="363538" y="914400"/>
            <a:ext cx="8462962" cy="2058988"/>
            <a:chOff x="229" y="533"/>
            <a:chExt cx="5331" cy="1297"/>
          </a:xfrm>
        </p:grpSpPr>
        <p:sp>
          <p:nvSpPr>
            <p:cNvPr id="33795" name="Rectangle 3"/>
            <p:cNvSpPr>
              <a:spLocks noChangeArrowheads="1"/>
            </p:cNvSpPr>
            <p:nvPr/>
          </p:nvSpPr>
          <p:spPr bwMode="auto">
            <a:xfrm>
              <a:off x="229" y="533"/>
              <a:ext cx="5191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400" dirty="0">
                  <a:latin typeface="Tahoma" pitchFamily="34" charset="0"/>
                </a:rPr>
                <a:t>Consider the following payoff matrix</a:t>
              </a:r>
            </a:p>
          </p:txBody>
        </p:sp>
        <p:sp>
          <p:nvSpPr>
            <p:cNvPr id="33796" name="Rectangle 4"/>
            <p:cNvSpPr>
              <a:spLocks noChangeArrowheads="1"/>
            </p:cNvSpPr>
            <p:nvPr/>
          </p:nvSpPr>
          <p:spPr bwMode="auto">
            <a:xfrm>
              <a:off x="246" y="875"/>
              <a:ext cx="5314" cy="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           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9 		2 	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4		6		 </a:t>
              </a:r>
            </a:p>
          </p:txBody>
        </p:sp>
        <p:sp>
          <p:nvSpPr>
            <p:cNvPr id="33797" name="Line 5"/>
            <p:cNvSpPr>
              <a:spLocks noChangeShapeType="1"/>
            </p:cNvSpPr>
            <p:nvPr/>
          </p:nvSpPr>
          <p:spPr bwMode="auto">
            <a:xfrm>
              <a:off x="1811" y="1079"/>
              <a:ext cx="1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798" name="Line 6"/>
            <p:cNvSpPr>
              <a:spLocks noChangeShapeType="1"/>
            </p:cNvSpPr>
            <p:nvPr/>
          </p:nvSpPr>
          <p:spPr bwMode="auto">
            <a:xfrm>
              <a:off x="428" y="1303"/>
              <a:ext cx="30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804" name="Group 12"/>
          <p:cNvGrpSpPr>
            <a:grpSpLocks/>
          </p:cNvGrpSpPr>
          <p:nvPr/>
        </p:nvGrpSpPr>
        <p:grpSpPr bwMode="auto">
          <a:xfrm>
            <a:off x="358775" y="2971800"/>
            <a:ext cx="8480425" cy="2311401"/>
            <a:chOff x="207" y="2053"/>
            <a:chExt cx="5342" cy="1456"/>
          </a:xfrm>
        </p:grpSpPr>
        <p:sp>
          <p:nvSpPr>
            <p:cNvPr id="33800" name="Rectangle 8"/>
            <p:cNvSpPr>
              <a:spLocks noChangeArrowheads="1"/>
            </p:cNvSpPr>
            <p:nvPr/>
          </p:nvSpPr>
          <p:spPr bwMode="auto">
            <a:xfrm>
              <a:off x="235" y="2394"/>
              <a:ext cx="5314" cy="1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           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MAX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0 		4 		4 </a:t>
              </a:r>
              <a:r>
                <a:rPr lang="en-US" sz="2400" dirty="0">
                  <a:sym typeface="Wingdings" pitchFamily="2" charset="2"/>
                </a:rPr>
                <a:t></a:t>
              </a:r>
              <a:r>
                <a:rPr lang="en-US" sz="2400" dirty="0"/>
                <a:t>minimum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5		0		5	</a:t>
              </a:r>
            </a:p>
          </p:txBody>
        </p:sp>
        <p:sp>
          <p:nvSpPr>
            <p:cNvPr id="33801" name="Rectangle 9"/>
            <p:cNvSpPr>
              <a:spLocks noChangeArrowheads="1"/>
            </p:cNvSpPr>
            <p:nvPr/>
          </p:nvSpPr>
          <p:spPr bwMode="auto">
            <a:xfrm>
              <a:off x="207" y="2053"/>
              <a:ext cx="5191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400" dirty="0">
                  <a:latin typeface="Tahoma" pitchFamily="34" charset="0"/>
                </a:rPr>
                <a:t>The regret matrix is:</a:t>
              </a:r>
            </a:p>
          </p:txBody>
        </p:sp>
        <p:sp>
          <p:nvSpPr>
            <p:cNvPr id="33802" name="Line 10"/>
            <p:cNvSpPr>
              <a:spLocks noChangeShapeType="1"/>
            </p:cNvSpPr>
            <p:nvPr/>
          </p:nvSpPr>
          <p:spPr bwMode="auto">
            <a:xfrm>
              <a:off x="1831" y="2577"/>
              <a:ext cx="14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3" name="Line 11"/>
            <p:cNvSpPr>
              <a:spLocks noChangeShapeType="1"/>
            </p:cNvSpPr>
            <p:nvPr/>
          </p:nvSpPr>
          <p:spPr bwMode="auto">
            <a:xfrm>
              <a:off x="449" y="2834"/>
              <a:ext cx="49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390525" y="5205069"/>
            <a:ext cx="824071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Note that we prefer A to B.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Now let’s add an alternative...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3365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Adding an Alternative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363538" y="696913"/>
            <a:ext cx="82407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Consider the following payoff matrix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328613" y="3135313"/>
            <a:ext cx="8240712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The regret matrix is:</a:t>
            </a:r>
          </a:p>
        </p:txBody>
      </p:sp>
      <p:grpSp>
        <p:nvGrpSpPr>
          <p:cNvPr id="35853" name="Group 13"/>
          <p:cNvGrpSpPr>
            <a:grpSpLocks/>
          </p:cNvGrpSpPr>
          <p:nvPr/>
        </p:nvGrpSpPr>
        <p:grpSpPr bwMode="auto">
          <a:xfrm>
            <a:off x="390525" y="1219200"/>
            <a:ext cx="8435975" cy="1917700"/>
            <a:chOff x="246" y="875"/>
            <a:chExt cx="5314" cy="1208"/>
          </a:xfrm>
        </p:grpSpPr>
        <p:sp>
          <p:nvSpPr>
            <p:cNvPr id="35844" name="Rectangle 4"/>
            <p:cNvSpPr>
              <a:spLocks noChangeArrowheads="1"/>
            </p:cNvSpPr>
            <p:nvPr/>
          </p:nvSpPr>
          <p:spPr bwMode="auto">
            <a:xfrm>
              <a:off x="246" y="875"/>
              <a:ext cx="5314" cy="1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	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9 		2 	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4		6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C	3		9		 </a:t>
              </a:r>
            </a:p>
          </p:txBody>
        </p:sp>
        <p:sp>
          <p:nvSpPr>
            <p:cNvPr id="35845" name="Line 5"/>
            <p:cNvSpPr>
              <a:spLocks noChangeShapeType="1"/>
            </p:cNvSpPr>
            <p:nvPr/>
          </p:nvSpPr>
          <p:spPr bwMode="auto">
            <a:xfrm>
              <a:off x="1872" y="1079"/>
              <a:ext cx="1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8" name="Line 8"/>
            <p:cNvSpPr>
              <a:spLocks noChangeShapeType="1"/>
            </p:cNvSpPr>
            <p:nvPr/>
          </p:nvSpPr>
          <p:spPr bwMode="auto">
            <a:xfrm>
              <a:off x="428" y="1303"/>
              <a:ext cx="30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5854" name="Group 14"/>
          <p:cNvGrpSpPr>
            <a:grpSpLocks/>
          </p:cNvGrpSpPr>
          <p:nvPr/>
        </p:nvGrpSpPr>
        <p:grpSpPr bwMode="auto">
          <a:xfrm>
            <a:off x="373063" y="3657600"/>
            <a:ext cx="8435975" cy="1939925"/>
            <a:chOff x="235" y="2488"/>
            <a:chExt cx="5314" cy="1222"/>
          </a:xfrm>
        </p:grpSpPr>
        <p:sp>
          <p:nvSpPr>
            <p:cNvPr id="35846" name="Rectangle 6"/>
            <p:cNvSpPr>
              <a:spLocks noChangeArrowheads="1"/>
            </p:cNvSpPr>
            <p:nvPr/>
          </p:nvSpPr>
          <p:spPr bwMode="auto">
            <a:xfrm>
              <a:off x="235" y="2488"/>
              <a:ext cx="5314" cy="1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	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MAX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0 		7 		7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5		3		5  </a:t>
              </a:r>
              <a:r>
                <a:rPr lang="en-US" sz="2400" dirty="0">
                  <a:sym typeface="Wingdings" pitchFamily="2" charset="2"/>
                </a:rPr>
                <a:t></a:t>
              </a:r>
              <a:r>
                <a:rPr lang="en-US" sz="2400" dirty="0"/>
                <a:t>minimum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C	6		0		6</a:t>
              </a:r>
            </a:p>
          </p:txBody>
        </p:sp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>
              <a:off x="1910" y="2688"/>
              <a:ext cx="14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0" name="Line 10"/>
            <p:cNvSpPr>
              <a:spLocks noChangeShapeType="1"/>
            </p:cNvSpPr>
            <p:nvPr/>
          </p:nvSpPr>
          <p:spPr bwMode="auto">
            <a:xfrm>
              <a:off x="449" y="2928"/>
              <a:ext cx="49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412750" y="5622925"/>
            <a:ext cx="8240713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>
                <a:latin typeface="Tahoma" pitchFamily="34" charset="0"/>
              </a:rPr>
              <a:t>Now we prefer B to A???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174625"/>
            <a:ext cx="7772400" cy="5334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Probabilistic Methods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901700"/>
            <a:ext cx="8301037" cy="5372100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300" dirty="0"/>
              <a:t>At times, states of nature can be assigned probabilities representing their likelihood of occurrence.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For decision problems that occur more than once, we can often estimate these probabilities from historical data.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Other decision problems (such as the Magnolia Inns problem) represent one-time decisions where historical data for estimating probabilities don’t exist.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In these cases, subjective probabilities are often assigned  based on interviews with one or more domain experts.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Interviewing techniques exist for soliciting probability estimates that are reasonably accurate and free of the unconscious biases that may impact an expert’s opinions.  </a:t>
            </a:r>
          </a:p>
          <a:p>
            <a:pPr eaLnBrk="0" hangingPunct="0">
              <a:lnSpc>
                <a:spcPct val="90000"/>
              </a:lnSpc>
            </a:pPr>
            <a:r>
              <a:rPr lang="en-US" sz="2300" dirty="0"/>
              <a:t>We will focus on techniques that can be used once appropriate probability estimates have been obtained.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1625"/>
            <a:ext cx="7772400" cy="5143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Expected Monetary Value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404813" y="1049338"/>
            <a:ext cx="8205787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Selects alternative with the largest expected monetary value (EMV)</a:t>
            </a:r>
          </a:p>
        </p:txBody>
      </p:sp>
      <p:graphicFrame>
        <p:nvGraphicFramePr>
          <p:cNvPr id="39940" name="Object 4"/>
          <p:cNvGraphicFramePr>
            <a:graphicFrameLocks/>
          </p:cNvGraphicFramePr>
          <p:nvPr/>
        </p:nvGraphicFramePr>
        <p:xfrm>
          <a:off x="2933700" y="1905000"/>
          <a:ext cx="21717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71520" imgH="785520" progId="Equation.3">
                  <p:embed/>
                </p:oleObj>
              </mc:Choice>
              <mc:Fallback>
                <p:oleObj name="Equation" r:id="rId3" imgW="2171520" imgH="78552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1905000"/>
                        <a:ext cx="21717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/>
          </p:cNvGraphicFramePr>
          <p:nvPr/>
        </p:nvGraphicFramePr>
        <p:xfrm>
          <a:off x="893763" y="2640013"/>
          <a:ext cx="72929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92880" imgH="479160" progId="Equation.2">
                  <p:embed/>
                </p:oleObj>
              </mc:Choice>
              <mc:Fallback>
                <p:oleObj name="Equation" r:id="rId5" imgW="7292880" imgH="47916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640013"/>
                        <a:ext cx="72929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/>
          </p:cNvGraphicFramePr>
          <p:nvPr/>
        </p:nvGraphicFramePr>
        <p:xfrm>
          <a:off x="1611313" y="3116263"/>
          <a:ext cx="58943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94280" imgH="479160" progId="Equation.2">
                  <p:embed/>
                </p:oleObj>
              </mc:Choice>
              <mc:Fallback>
                <p:oleObj name="Equation" r:id="rId7" imgW="5894280" imgH="479160" progId="Equation.2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3116263"/>
                        <a:ext cx="58943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320675" y="3717925"/>
            <a:ext cx="8570913" cy="1878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 err="1">
                <a:latin typeface="Tahoma" pitchFamily="34" charset="0"/>
              </a:rPr>
              <a:t>EMV</a:t>
            </a:r>
            <a:r>
              <a:rPr lang="en-US" sz="2600" i="1" baseline="-25000" dirty="0" err="1">
                <a:latin typeface="Times New Roman" pitchFamily="18" charset="0"/>
              </a:rPr>
              <a:t>i</a:t>
            </a:r>
            <a:r>
              <a:rPr lang="en-US" sz="2600" dirty="0"/>
              <a:t> is the average payoff we’d receive if we faced the same decision problem numerous times and always selected alternative </a:t>
            </a:r>
            <a:r>
              <a:rPr lang="en-US" sz="2600" i="1" dirty="0">
                <a:latin typeface="Times New Roman" pitchFamily="18" charset="0"/>
              </a:rPr>
              <a:t>i.</a:t>
            </a:r>
          </a:p>
          <a:p>
            <a:pPr marL="339725" indent="-339725"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See file </a:t>
            </a:r>
            <a:r>
              <a:rPr lang="en-US" sz="2600" dirty="0">
                <a:latin typeface="Tahoma" pitchFamily="34" charset="0"/>
                <a:hlinkClick r:id="rId9" action="ppaction://hlinkfile"/>
              </a:rPr>
              <a:t>Fig14-1.xlsm</a:t>
            </a:r>
            <a:endParaRPr lang="en-US" sz="2600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388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EMV Caution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119188"/>
            <a:ext cx="8258175" cy="100171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600" dirty="0"/>
              <a:t>The EMV rule should be used with caution in one-time decision problems. </a:t>
            </a:r>
          </a:p>
        </p:txBody>
      </p:sp>
      <p:grpSp>
        <p:nvGrpSpPr>
          <p:cNvPr id="41993" name="Group 9"/>
          <p:cNvGrpSpPr>
            <a:grpSpLocks/>
          </p:cNvGrpSpPr>
          <p:nvPr/>
        </p:nvGrpSpPr>
        <p:grpSpPr bwMode="auto">
          <a:xfrm>
            <a:off x="376238" y="2070100"/>
            <a:ext cx="8691562" cy="3281363"/>
            <a:chOff x="152" y="1304"/>
            <a:chExt cx="5475" cy="2067"/>
          </a:xfrm>
        </p:grpSpPr>
        <p:sp>
          <p:nvSpPr>
            <p:cNvPr id="41988" name="Rectangle 4"/>
            <p:cNvSpPr>
              <a:spLocks noChangeArrowheads="1"/>
            </p:cNvSpPr>
            <p:nvPr/>
          </p:nvSpPr>
          <p:spPr bwMode="auto">
            <a:xfrm>
              <a:off x="152" y="1304"/>
              <a:ext cx="5191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600" dirty="0">
                  <a:latin typeface="Tahoma" pitchFamily="34" charset="0"/>
                </a:rPr>
                <a:t>Weakness </a:t>
              </a:r>
            </a:p>
            <a:p>
              <a:pPr marL="742950" lvl="1" indent="-285750" eaLnBrk="0" hangingPunct="0">
                <a:spcBef>
                  <a:spcPct val="20000"/>
                </a:spcBef>
                <a:buClr>
                  <a:srgbClr val="FFFFFF"/>
                </a:buClr>
                <a:buFont typeface="Times New Roman" pitchFamily="18" charset="0"/>
                <a:buChar char="–"/>
              </a:pPr>
              <a:r>
                <a:rPr lang="en-US" sz="2600" dirty="0"/>
                <a:t>Consider the following payoff matrix</a:t>
              </a:r>
            </a:p>
          </p:txBody>
        </p:sp>
        <p:sp>
          <p:nvSpPr>
            <p:cNvPr id="41989" name="Rectangle 5"/>
            <p:cNvSpPr>
              <a:spLocks noChangeArrowheads="1"/>
            </p:cNvSpPr>
            <p:nvPr/>
          </p:nvSpPr>
          <p:spPr bwMode="auto">
            <a:xfrm>
              <a:off x="169" y="2010"/>
              <a:ext cx="5458" cy="1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                               State of Nature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Decision 	1 		2 	EMV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A	15,000 		-5,000      	5,000  </a:t>
              </a:r>
              <a:r>
                <a:rPr lang="en-US" sz="2400" dirty="0">
                  <a:sym typeface="Wingdings" pitchFamily="2" charset="2"/>
                </a:rPr>
                <a:t></a:t>
              </a:r>
              <a:r>
                <a:rPr lang="en-US" sz="2400" dirty="0"/>
                <a:t>maximum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B	5,000		4,000	4,500	</a:t>
              </a:r>
            </a:p>
            <a:p>
              <a:pPr defTabSz="909638" eaLnBrk="0" hangingPunct="0">
                <a:lnSpc>
                  <a:spcPct val="60000"/>
                </a:lnSpc>
                <a:spcBef>
                  <a:spcPct val="50000"/>
                </a:spcBef>
                <a:tabLst>
                  <a:tab pos="919163" algn="ctr"/>
                  <a:tab pos="2738438" algn="ctr"/>
                  <a:tab pos="3316288" algn="ctr"/>
                  <a:tab pos="4575175" algn="ctr"/>
                  <a:tab pos="5935663" algn="ctr"/>
                </a:tabLst>
              </a:pPr>
              <a:r>
                <a:rPr lang="en-US" sz="2400" dirty="0"/>
                <a:t>	Probability	0.5		0.5</a:t>
              </a:r>
            </a:p>
          </p:txBody>
        </p:sp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352" y="2449"/>
              <a:ext cx="50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7"/>
            <p:cNvSpPr>
              <a:spLocks noChangeShapeType="1"/>
            </p:cNvSpPr>
            <p:nvPr/>
          </p:nvSpPr>
          <p:spPr bwMode="auto">
            <a:xfrm>
              <a:off x="1734" y="2214"/>
              <a:ext cx="1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Line 8"/>
            <p:cNvSpPr>
              <a:spLocks noChangeShapeType="1"/>
            </p:cNvSpPr>
            <p:nvPr/>
          </p:nvSpPr>
          <p:spPr bwMode="auto">
            <a:xfrm>
              <a:off x="330" y="2963"/>
              <a:ext cx="50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1663" y="277813"/>
            <a:ext cx="8035925" cy="63341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Expected Regret or Opportunity Loss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328613" y="1049338"/>
            <a:ext cx="8281987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Selects alternative with the smallest expected regret or opportunity loss (EOL)</a:t>
            </a:r>
          </a:p>
        </p:txBody>
      </p:sp>
      <p:graphicFrame>
        <p:nvGraphicFramePr>
          <p:cNvPr id="44036" name="Object 4"/>
          <p:cNvGraphicFramePr>
            <a:graphicFrameLocks/>
          </p:cNvGraphicFramePr>
          <p:nvPr/>
        </p:nvGraphicFramePr>
        <p:xfrm>
          <a:off x="3209925" y="1930400"/>
          <a:ext cx="2189163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89160" imgH="776160" progId="Equation.2">
                  <p:embed/>
                </p:oleObj>
              </mc:Choice>
              <mc:Fallback>
                <p:oleObj name="Equation" r:id="rId3" imgW="2189160" imgH="77616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925" y="1930400"/>
                        <a:ext cx="2189163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>
            <a:graphicFrameLocks/>
          </p:cNvGraphicFramePr>
          <p:nvPr/>
        </p:nvGraphicFramePr>
        <p:xfrm>
          <a:off x="877888" y="2640013"/>
          <a:ext cx="73040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04040" imgH="460080" progId="Equation.2">
                  <p:embed/>
                </p:oleObj>
              </mc:Choice>
              <mc:Fallback>
                <p:oleObj name="Equation" r:id="rId5" imgW="7304040" imgH="46008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2640013"/>
                        <a:ext cx="73040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/>
          </p:cNvGraphicFramePr>
          <p:nvPr/>
        </p:nvGraphicFramePr>
        <p:xfrm>
          <a:off x="1611313" y="3116263"/>
          <a:ext cx="58943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94280" imgH="479160" progId="Equation.2">
                  <p:embed/>
                </p:oleObj>
              </mc:Choice>
              <mc:Fallback>
                <p:oleObj name="Equation" r:id="rId7" imgW="5894280" imgH="479160" progId="Equation.2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3116263"/>
                        <a:ext cx="58943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396875" y="3717925"/>
            <a:ext cx="8213725" cy="148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The decision with the largest EMV will also have the smallest EOL</a:t>
            </a:r>
            <a:r>
              <a:rPr lang="en-US" sz="2600" dirty="0"/>
              <a:t>.</a:t>
            </a:r>
          </a:p>
          <a:p>
            <a:pPr marL="339725" indent="-339725" eaLnBrk="0" hangingPunct="0">
              <a:spcBef>
                <a:spcPct val="5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600" dirty="0">
                <a:latin typeface="Tahoma" pitchFamily="34" charset="0"/>
              </a:rPr>
              <a:t>See file </a:t>
            </a:r>
            <a:r>
              <a:rPr lang="en-US" sz="2600" dirty="0">
                <a:latin typeface="Tahoma" pitchFamily="34" charset="0"/>
                <a:hlinkClick r:id="rId9" action="ppaction://hlinkfile"/>
              </a:rPr>
              <a:t>Fig14-1.xlsm</a:t>
            </a:r>
            <a:endParaRPr lang="en-US" sz="2600" dirty="0">
              <a:latin typeface="Tahoma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80988"/>
            <a:ext cx="8610600" cy="63341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The Expected Value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of Perfect Information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38" y="1179513"/>
            <a:ext cx="8545512" cy="5437187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600" dirty="0"/>
              <a:t>Suppose we could hire a consultant who could predict the future with 100% accuracy.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With such perfect information, Magnolia Inns’ average payoff would be:</a:t>
            </a:r>
          </a:p>
          <a:p>
            <a:pPr lvl="1" eaLnBrk="0" hangingPunct="0">
              <a:lnSpc>
                <a:spcPct val="90000"/>
              </a:lnSpc>
              <a:buFontTx/>
              <a:buNone/>
            </a:pPr>
            <a:r>
              <a:rPr lang="en-US" sz="2400" dirty="0"/>
              <a:t>EV with PI = 0.4*$13 + 0.6*$11 = $11.8 (in millions)</a:t>
            </a:r>
            <a:endParaRPr lang="en-US" dirty="0"/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Without perfect information, the EMV was $3.4 million.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The expected value of perfect information is therefore,</a:t>
            </a:r>
          </a:p>
          <a:p>
            <a:pPr lvl="1" algn="ctr" eaLnBrk="0" hangingPunct="0">
              <a:lnSpc>
                <a:spcPct val="90000"/>
              </a:lnSpc>
              <a:buFontTx/>
              <a:buNone/>
            </a:pPr>
            <a:r>
              <a:rPr lang="en-US" sz="2600" dirty="0"/>
              <a:t>EV of PI = $11.8 - $3.4 = $8.4 (in millions)</a:t>
            </a:r>
            <a:endParaRPr lang="en-US" dirty="0"/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In general,</a:t>
            </a:r>
          </a:p>
          <a:p>
            <a:pPr lvl="1" algn="ctr" eaLnBrk="0" hangingPunct="0">
              <a:lnSpc>
                <a:spcPct val="90000"/>
              </a:lnSpc>
              <a:buFontTx/>
              <a:buNone/>
            </a:pPr>
            <a:r>
              <a:rPr lang="en-US" sz="2600" dirty="0"/>
              <a:t>EV of PI = EV with PI - maximum EMV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It will always be the case that,</a:t>
            </a:r>
          </a:p>
          <a:p>
            <a:pPr lvl="1" algn="ctr" eaLnBrk="0" hangingPunct="0">
              <a:lnSpc>
                <a:spcPct val="90000"/>
              </a:lnSpc>
              <a:buFontTx/>
              <a:buNone/>
            </a:pPr>
            <a:r>
              <a:rPr lang="en-US" sz="2600" dirty="0"/>
              <a:t>EV of PI = minimum EOL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7254875" cy="5651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A Decision Tree for Magnolia Inns</a:t>
            </a:r>
          </a:p>
        </p:txBody>
      </p:sp>
      <p:grpSp>
        <p:nvGrpSpPr>
          <p:cNvPr id="48208" name="Group 80"/>
          <p:cNvGrpSpPr>
            <a:grpSpLocks/>
          </p:cNvGrpSpPr>
          <p:nvPr/>
        </p:nvGrpSpPr>
        <p:grpSpPr bwMode="auto">
          <a:xfrm>
            <a:off x="512763" y="895350"/>
            <a:ext cx="8293100" cy="5335588"/>
            <a:chOff x="323" y="564"/>
            <a:chExt cx="5224" cy="3361"/>
          </a:xfrm>
        </p:grpSpPr>
        <p:sp>
          <p:nvSpPr>
            <p:cNvPr id="48131" name="Rectangle 3"/>
            <p:cNvSpPr>
              <a:spLocks noChangeArrowheads="1"/>
            </p:cNvSpPr>
            <p:nvPr/>
          </p:nvSpPr>
          <p:spPr bwMode="auto">
            <a:xfrm>
              <a:off x="323" y="2149"/>
              <a:ext cx="425" cy="4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2" name="Rectangle 4"/>
            <p:cNvSpPr>
              <a:spLocks noChangeArrowheads="1"/>
            </p:cNvSpPr>
            <p:nvPr/>
          </p:nvSpPr>
          <p:spPr bwMode="auto">
            <a:xfrm>
              <a:off x="444" y="2233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8133" name="Oval 5"/>
            <p:cNvSpPr>
              <a:spLocks noChangeArrowheads="1"/>
            </p:cNvSpPr>
            <p:nvPr/>
          </p:nvSpPr>
          <p:spPr bwMode="auto">
            <a:xfrm>
              <a:off x="2883" y="1034"/>
              <a:ext cx="360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4" name="Oval 6"/>
            <p:cNvSpPr>
              <a:spLocks noChangeArrowheads="1"/>
            </p:cNvSpPr>
            <p:nvPr/>
          </p:nvSpPr>
          <p:spPr bwMode="auto">
            <a:xfrm>
              <a:off x="2899" y="1739"/>
              <a:ext cx="361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5" name="Oval 7"/>
            <p:cNvSpPr>
              <a:spLocks noChangeArrowheads="1"/>
            </p:cNvSpPr>
            <p:nvPr/>
          </p:nvSpPr>
          <p:spPr bwMode="auto">
            <a:xfrm>
              <a:off x="2889" y="2549"/>
              <a:ext cx="361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6" name="Oval 8"/>
            <p:cNvSpPr>
              <a:spLocks noChangeArrowheads="1"/>
            </p:cNvSpPr>
            <p:nvPr/>
          </p:nvSpPr>
          <p:spPr bwMode="auto">
            <a:xfrm>
              <a:off x="2919" y="3261"/>
              <a:ext cx="360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7" name="Rectangle 9"/>
            <p:cNvSpPr>
              <a:spLocks noChangeArrowheads="1"/>
            </p:cNvSpPr>
            <p:nvPr/>
          </p:nvSpPr>
          <p:spPr bwMode="auto">
            <a:xfrm>
              <a:off x="2978" y="1098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8138" name="Rectangle 10"/>
            <p:cNvSpPr>
              <a:spLocks noChangeArrowheads="1"/>
            </p:cNvSpPr>
            <p:nvPr/>
          </p:nvSpPr>
          <p:spPr bwMode="auto">
            <a:xfrm>
              <a:off x="2985" y="1823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139" name="Rectangle 11"/>
            <p:cNvSpPr>
              <a:spLocks noChangeArrowheads="1"/>
            </p:cNvSpPr>
            <p:nvPr/>
          </p:nvSpPr>
          <p:spPr bwMode="auto">
            <a:xfrm>
              <a:off x="2985" y="2612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8140" name="Rectangle 12"/>
            <p:cNvSpPr>
              <a:spLocks noChangeArrowheads="1"/>
            </p:cNvSpPr>
            <p:nvPr/>
          </p:nvSpPr>
          <p:spPr bwMode="auto">
            <a:xfrm>
              <a:off x="3004" y="3345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8141" name="Line 13"/>
            <p:cNvSpPr>
              <a:spLocks noChangeShapeType="1"/>
            </p:cNvSpPr>
            <p:nvPr/>
          </p:nvSpPr>
          <p:spPr bwMode="auto">
            <a:xfrm flipV="1">
              <a:off x="754" y="1228"/>
              <a:ext cx="264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2" name="Line 14"/>
            <p:cNvSpPr>
              <a:spLocks noChangeShapeType="1"/>
            </p:cNvSpPr>
            <p:nvPr/>
          </p:nvSpPr>
          <p:spPr bwMode="auto">
            <a:xfrm flipH="1">
              <a:off x="1022" y="1228"/>
              <a:ext cx="18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3" name="Line 15"/>
            <p:cNvSpPr>
              <a:spLocks noChangeShapeType="1"/>
            </p:cNvSpPr>
            <p:nvPr/>
          </p:nvSpPr>
          <p:spPr bwMode="auto">
            <a:xfrm flipH="1">
              <a:off x="1047" y="1940"/>
              <a:ext cx="18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4" name="Line 16"/>
            <p:cNvSpPr>
              <a:spLocks noChangeShapeType="1"/>
            </p:cNvSpPr>
            <p:nvPr/>
          </p:nvSpPr>
          <p:spPr bwMode="auto">
            <a:xfrm flipH="1">
              <a:off x="1039" y="2749"/>
              <a:ext cx="18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5" name="Line 17"/>
            <p:cNvSpPr>
              <a:spLocks noChangeShapeType="1"/>
            </p:cNvSpPr>
            <p:nvPr/>
          </p:nvSpPr>
          <p:spPr bwMode="auto">
            <a:xfrm flipH="1">
              <a:off x="1066" y="3461"/>
              <a:ext cx="18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6" name="Line 18"/>
            <p:cNvSpPr>
              <a:spLocks noChangeShapeType="1"/>
            </p:cNvSpPr>
            <p:nvPr/>
          </p:nvSpPr>
          <p:spPr bwMode="auto">
            <a:xfrm flipV="1">
              <a:off x="759" y="1941"/>
              <a:ext cx="284" cy="3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7" name="Line 19"/>
            <p:cNvSpPr>
              <a:spLocks noChangeShapeType="1"/>
            </p:cNvSpPr>
            <p:nvPr/>
          </p:nvSpPr>
          <p:spPr bwMode="auto">
            <a:xfrm>
              <a:off x="757" y="2344"/>
              <a:ext cx="284" cy="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8" name="Line 20"/>
            <p:cNvSpPr>
              <a:spLocks noChangeShapeType="1"/>
            </p:cNvSpPr>
            <p:nvPr/>
          </p:nvSpPr>
          <p:spPr bwMode="auto">
            <a:xfrm>
              <a:off x="755" y="2341"/>
              <a:ext cx="308" cy="1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 flipV="1">
              <a:off x="3250" y="988"/>
              <a:ext cx="113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>
              <a:off x="3362" y="988"/>
              <a:ext cx="14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1" name="Oval 23"/>
            <p:cNvSpPr>
              <a:spLocks noChangeArrowheads="1"/>
            </p:cNvSpPr>
            <p:nvPr/>
          </p:nvSpPr>
          <p:spPr bwMode="auto">
            <a:xfrm>
              <a:off x="4766" y="956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>
              <a:off x="3250" y="122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>
              <a:off x="3362" y="1466"/>
              <a:ext cx="14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4" name="Oval 26"/>
            <p:cNvSpPr>
              <a:spLocks noChangeArrowheads="1"/>
            </p:cNvSpPr>
            <p:nvPr/>
          </p:nvSpPr>
          <p:spPr bwMode="auto">
            <a:xfrm>
              <a:off x="4776" y="1428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5" name="Line 27"/>
            <p:cNvSpPr>
              <a:spLocks noChangeShapeType="1"/>
            </p:cNvSpPr>
            <p:nvPr/>
          </p:nvSpPr>
          <p:spPr bwMode="auto">
            <a:xfrm flipV="1">
              <a:off x="3264" y="169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6" name="Line 28"/>
            <p:cNvSpPr>
              <a:spLocks noChangeShapeType="1"/>
            </p:cNvSpPr>
            <p:nvPr/>
          </p:nvSpPr>
          <p:spPr bwMode="auto">
            <a:xfrm>
              <a:off x="3375" y="1698"/>
              <a:ext cx="14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7" name="Oval 29"/>
            <p:cNvSpPr>
              <a:spLocks noChangeArrowheads="1"/>
            </p:cNvSpPr>
            <p:nvPr/>
          </p:nvSpPr>
          <p:spPr bwMode="auto">
            <a:xfrm>
              <a:off x="4780" y="1667"/>
              <a:ext cx="59" cy="6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8" name="Line 30"/>
            <p:cNvSpPr>
              <a:spLocks noChangeShapeType="1"/>
            </p:cNvSpPr>
            <p:nvPr/>
          </p:nvSpPr>
          <p:spPr bwMode="auto">
            <a:xfrm>
              <a:off x="3264" y="193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9" name="Line 31"/>
            <p:cNvSpPr>
              <a:spLocks noChangeShapeType="1"/>
            </p:cNvSpPr>
            <p:nvPr/>
          </p:nvSpPr>
          <p:spPr bwMode="auto">
            <a:xfrm>
              <a:off x="3375" y="2176"/>
              <a:ext cx="14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0" name="Oval 32"/>
            <p:cNvSpPr>
              <a:spLocks noChangeArrowheads="1"/>
            </p:cNvSpPr>
            <p:nvPr/>
          </p:nvSpPr>
          <p:spPr bwMode="auto">
            <a:xfrm>
              <a:off x="4790" y="2147"/>
              <a:ext cx="59" cy="6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1" name="Line 33"/>
            <p:cNvSpPr>
              <a:spLocks noChangeShapeType="1"/>
            </p:cNvSpPr>
            <p:nvPr/>
          </p:nvSpPr>
          <p:spPr bwMode="auto">
            <a:xfrm flipV="1">
              <a:off x="3253" y="2507"/>
              <a:ext cx="113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2" name="Line 34"/>
            <p:cNvSpPr>
              <a:spLocks noChangeShapeType="1"/>
            </p:cNvSpPr>
            <p:nvPr/>
          </p:nvSpPr>
          <p:spPr bwMode="auto">
            <a:xfrm>
              <a:off x="3364" y="2507"/>
              <a:ext cx="1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3" name="Oval 35"/>
            <p:cNvSpPr>
              <a:spLocks noChangeArrowheads="1"/>
            </p:cNvSpPr>
            <p:nvPr/>
          </p:nvSpPr>
          <p:spPr bwMode="auto">
            <a:xfrm>
              <a:off x="4799" y="2475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4" name="Line 36"/>
            <p:cNvSpPr>
              <a:spLocks noChangeShapeType="1"/>
            </p:cNvSpPr>
            <p:nvPr/>
          </p:nvSpPr>
          <p:spPr bwMode="auto">
            <a:xfrm>
              <a:off x="3253" y="2748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5" name="Line 37"/>
            <p:cNvSpPr>
              <a:spLocks noChangeShapeType="1"/>
            </p:cNvSpPr>
            <p:nvPr/>
          </p:nvSpPr>
          <p:spPr bwMode="auto">
            <a:xfrm>
              <a:off x="3364" y="2985"/>
              <a:ext cx="1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6" name="Oval 38"/>
            <p:cNvSpPr>
              <a:spLocks noChangeArrowheads="1"/>
            </p:cNvSpPr>
            <p:nvPr/>
          </p:nvSpPr>
          <p:spPr bwMode="auto">
            <a:xfrm>
              <a:off x="4798" y="2946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7" name="Line 39"/>
            <p:cNvSpPr>
              <a:spLocks noChangeShapeType="1"/>
            </p:cNvSpPr>
            <p:nvPr/>
          </p:nvSpPr>
          <p:spPr bwMode="auto">
            <a:xfrm flipV="1">
              <a:off x="3282" y="3223"/>
              <a:ext cx="114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8" name="Line 40"/>
            <p:cNvSpPr>
              <a:spLocks noChangeShapeType="1"/>
            </p:cNvSpPr>
            <p:nvPr/>
          </p:nvSpPr>
          <p:spPr bwMode="auto">
            <a:xfrm>
              <a:off x="3395" y="3223"/>
              <a:ext cx="14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69" name="Oval 41"/>
            <p:cNvSpPr>
              <a:spLocks noChangeArrowheads="1"/>
            </p:cNvSpPr>
            <p:nvPr/>
          </p:nvSpPr>
          <p:spPr bwMode="auto">
            <a:xfrm>
              <a:off x="4809" y="3191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0" name="Line 42"/>
            <p:cNvSpPr>
              <a:spLocks noChangeShapeType="1"/>
            </p:cNvSpPr>
            <p:nvPr/>
          </p:nvSpPr>
          <p:spPr bwMode="auto">
            <a:xfrm>
              <a:off x="3283" y="3464"/>
              <a:ext cx="114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1" name="Line 43"/>
            <p:cNvSpPr>
              <a:spLocks noChangeShapeType="1"/>
            </p:cNvSpPr>
            <p:nvPr/>
          </p:nvSpPr>
          <p:spPr bwMode="auto">
            <a:xfrm>
              <a:off x="3395" y="3701"/>
              <a:ext cx="14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2" name="Oval 44"/>
            <p:cNvSpPr>
              <a:spLocks noChangeArrowheads="1"/>
            </p:cNvSpPr>
            <p:nvPr/>
          </p:nvSpPr>
          <p:spPr bwMode="auto">
            <a:xfrm>
              <a:off x="4809" y="3682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73" name="Rectangle 45"/>
            <p:cNvSpPr>
              <a:spLocks noChangeArrowheads="1"/>
            </p:cNvSpPr>
            <p:nvPr/>
          </p:nvSpPr>
          <p:spPr bwMode="auto">
            <a:xfrm>
              <a:off x="1022" y="1023"/>
              <a:ext cx="60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A</a:t>
              </a:r>
            </a:p>
          </p:txBody>
        </p:sp>
        <p:sp>
          <p:nvSpPr>
            <p:cNvPr id="48174" name="Rectangle 46"/>
            <p:cNvSpPr>
              <a:spLocks noChangeArrowheads="1"/>
            </p:cNvSpPr>
            <p:nvPr/>
          </p:nvSpPr>
          <p:spPr bwMode="auto">
            <a:xfrm>
              <a:off x="1033" y="1246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-18</a:t>
              </a:r>
            </a:p>
          </p:txBody>
        </p:sp>
        <p:sp>
          <p:nvSpPr>
            <p:cNvPr id="48175" name="Rectangle 47"/>
            <p:cNvSpPr>
              <a:spLocks noChangeArrowheads="1"/>
            </p:cNvSpPr>
            <p:nvPr/>
          </p:nvSpPr>
          <p:spPr bwMode="auto">
            <a:xfrm>
              <a:off x="1002" y="1725"/>
              <a:ext cx="60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B</a:t>
              </a:r>
            </a:p>
          </p:txBody>
        </p:sp>
        <p:sp>
          <p:nvSpPr>
            <p:cNvPr id="48176" name="Rectangle 48"/>
            <p:cNvSpPr>
              <a:spLocks noChangeArrowheads="1"/>
            </p:cNvSpPr>
            <p:nvPr/>
          </p:nvSpPr>
          <p:spPr bwMode="auto">
            <a:xfrm>
              <a:off x="1012" y="1948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-12</a:t>
              </a:r>
            </a:p>
          </p:txBody>
        </p:sp>
        <p:sp>
          <p:nvSpPr>
            <p:cNvPr id="48177" name="Rectangle 49"/>
            <p:cNvSpPr>
              <a:spLocks noChangeArrowheads="1"/>
            </p:cNvSpPr>
            <p:nvPr/>
          </p:nvSpPr>
          <p:spPr bwMode="auto">
            <a:xfrm>
              <a:off x="1031" y="2525"/>
              <a:ext cx="83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A&amp;B</a:t>
              </a:r>
            </a:p>
          </p:txBody>
        </p:sp>
        <p:sp>
          <p:nvSpPr>
            <p:cNvPr id="48178" name="Rectangle 50"/>
            <p:cNvSpPr>
              <a:spLocks noChangeArrowheads="1"/>
            </p:cNvSpPr>
            <p:nvPr/>
          </p:nvSpPr>
          <p:spPr bwMode="auto">
            <a:xfrm>
              <a:off x="1041" y="2748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-30</a:t>
              </a:r>
            </a:p>
          </p:txBody>
        </p:sp>
        <p:sp>
          <p:nvSpPr>
            <p:cNvPr id="48179" name="Rectangle 51"/>
            <p:cNvSpPr>
              <a:spLocks noChangeArrowheads="1"/>
            </p:cNvSpPr>
            <p:nvPr/>
          </p:nvSpPr>
          <p:spPr bwMode="auto">
            <a:xfrm>
              <a:off x="1041" y="3237"/>
              <a:ext cx="119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nothing</a:t>
              </a:r>
            </a:p>
          </p:txBody>
        </p:sp>
        <p:sp>
          <p:nvSpPr>
            <p:cNvPr id="48180" name="Rectangle 52"/>
            <p:cNvSpPr>
              <a:spLocks noChangeArrowheads="1"/>
            </p:cNvSpPr>
            <p:nvPr/>
          </p:nvSpPr>
          <p:spPr bwMode="auto">
            <a:xfrm>
              <a:off x="1061" y="3479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8181" name="Rectangle 53"/>
            <p:cNvSpPr>
              <a:spLocks noChangeArrowheads="1"/>
            </p:cNvSpPr>
            <p:nvPr/>
          </p:nvSpPr>
          <p:spPr bwMode="auto">
            <a:xfrm>
              <a:off x="973" y="564"/>
              <a:ext cx="204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Land Purchase Decision</a:t>
              </a:r>
            </a:p>
          </p:txBody>
        </p:sp>
        <p:sp>
          <p:nvSpPr>
            <p:cNvPr id="48182" name="Rectangle 54"/>
            <p:cNvSpPr>
              <a:spLocks noChangeArrowheads="1"/>
            </p:cNvSpPr>
            <p:nvPr/>
          </p:nvSpPr>
          <p:spPr bwMode="auto">
            <a:xfrm>
              <a:off x="3275" y="573"/>
              <a:ext cx="144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Airport Location</a:t>
              </a:r>
            </a:p>
          </p:txBody>
        </p:sp>
        <p:sp>
          <p:nvSpPr>
            <p:cNvPr id="48183" name="Rectangle 55"/>
            <p:cNvSpPr>
              <a:spLocks noChangeArrowheads="1"/>
            </p:cNvSpPr>
            <p:nvPr/>
          </p:nvSpPr>
          <p:spPr bwMode="auto">
            <a:xfrm>
              <a:off x="3126" y="896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8184" name="Rectangle 56"/>
            <p:cNvSpPr>
              <a:spLocks noChangeArrowheads="1"/>
            </p:cNvSpPr>
            <p:nvPr/>
          </p:nvSpPr>
          <p:spPr bwMode="auto">
            <a:xfrm>
              <a:off x="3165" y="1335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8185" name="Rectangle 57"/>
            <p:cNvSpPr>
              <a:spLocks noChangeArrowheads="1"/>
            </p:cNvSpPr>
            <p:nvPr/>
          </p:nvSpPr>
          <p:spPr bwMode="auto">
            <a:xfrm>
              <a:off x="3156" y="1600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8186" name="Rectangle 58"/>
            <p:cNvSpPr>
              <a:spLocks noChangeArrowheads="1"/>
            </p:cNvSpPr>
            <p:nvPr/>
          </p:nvSpPr>
          <p:spPr bwMode="auto">
            <a:xfrm>
              <a:off x="3174" y="2038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8187" name="Rectangle 59"/>
            <p:cNvSpPr>
              <a:spLocks noChangeArrowheads="1"/>
            </p:cNvSpPr>
            <p:nvPr/>
          </p:nvSpPr>
          <p:spPr bwMode="auto">
            <a:xfrm>
              <a:off x="3174" y="285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8188" name="Rectangle 60"/>
            <p:cNvSpPr>
              <a:spLocks noChangeArrowheads="1"/>
            </p:cNvSpPr>
            <p:nvPr/>
          </p:nvSpPr>
          <p:spPr bwMode="auto">
            <a:xfrm>
              <a:off x="3194" y="3569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8189" name="Rectangle 61"/>
            <p:cNvSpPr>
              <a:spLocks noChangeArrowheads="1"/>
            </p:cNvSpPr>
            <p:nvPr/>
          </p:nvSpPr>
          <p:spPr bwMode="auto">
            <a:xfrm>
              <a:off x="3155" y="2408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8190" name="Rectangle 62"/>
            <p:cNvSpPr>
              <a:spLocks noChangeArrowheads="1"/>
            </p:cNvSpPr>
            <p:nvPr/>
          </p:nvSpPr>
          <p:spPr bwMode="auto">
            <a:xfrm>
              <a:off x="3186" y="3130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8191" name="Rectangle 63"/>
            <p:cNvSpPr>
              <a:spLocks noChangeArrowheads="1"/>
            </p:cNvSpPr>
            <p:nvPr/>
          </p:nvSpPr>
          <p:spPr bwMode="auto">
            <a:xfrm>
              <a:off x="4914" y="593"/>
              <a:ext cx="63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Payoff</a:t>
              </a:r>
            </a:p>
          </p:txBody>
        </p:sp>
        <p:sp>
          <p:nvSpPr>
            <p:cNvPr id="48192" name="Rectangle 64"/>
            <p:cNvSpPr>
              <a:spLocks noChangeArrowheads="1"/>
            </p:cNvSpPr>
            <p:nvPr/>
          </p:nvSpPr>
          <p:spPr bwMode="auto">
            <a:xfrm>
              <a:off x="5058" y="88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48193" name="Rectangle 65"/>
            <p:cNvSpPr>
              <a:spLocks noChangeArrowheads="1"/>
            </p:cNvSpPr>
            <p:nvPr/>
          </p:nvSpPr>
          <p:spPr bwMode="auto">
            <a:xfrm>
              <a:off x="4993" y="1314"/>
              <a:ext cx="48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-12</a:t>
              </a:r>
            </a:p>
          </p:txBody>
        </p:sp>
        <p:sp>
          <p:nvSpPr>
            <p:cNvPr id="48194" name="Rectangle 66"/>
            <p:cNvSpPr>
              <a:spLocks noChangeArrowheads="1"/>
            </p:cNvSpPr>
            <p:nvPr/>
          </p:nvSpPr>
          <p:spPr bwMode="auto">
            <a:xfrm>
              <a:off x="5056" y="161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-8</a:t>
              </a:r>
            </a:p>
          </p:txBody>
        </p:sp>
        <p:sp>
          <p:nvSpPr>
            <p:cNvPr id="48195" name="Rectangle 67"/>
            <p:cNvSpPr>
              <a:spLocks noChangeArrowheads="1"/>
            </p:cNvSpPr>
            <p:nvPr/>
          </p:nvSpPr>
          <p:spPr bwMode="auto">
            <a:xfrm>
              <a:off x="5084" y="205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48196" name="Rectangle 68"/>
            <p:cNvSpPr>
              <a:spLocks noChangeArrowheads="1"/>
            </p:cNvSpPr>
            <p:nvPr/>
          </p:nvSpPr>
          <p:spPr bwMode="auto">
            <a:xfrm>
              <a:off x="5096" y="2407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8197" name="Rectangle 69"/>
            <p:cNvSpPr>
              <a:spLocks noChangeArrowheads="1"/>
            </p:cNvSpPr>
            <p:nvPr/>
          </p:nvSpPr>
          <p:spPr bwMode="auto">
            <a:xfrm>
              <a:off x="5065" y="2835"/>
              <a:ext cx="3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48198" name="Rectangle 70"/>
            <p:cNvSpPr>
              <a:spLocks noChangeArrowheads="1"/>
            </p:cNvSpPr>
            <p:nvPr/>
          </p:nvSpPr>
          <p:spPr bwMode="auto">
            <a:xfrm>
              <a:off x="5085" y="3138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8199" name="Rectangle 71"/>
            <p:cNvSpPr>
              <a:spLocks noChangeArrowheads="1"/>
            </p:cNvSpPr>
            <p:nvPr/>
          </p:nvSpPr>
          <p:spPr bwMode="auto">
            <a:xfrm>
              <a:off x="5085" y="359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8200" name="Rectangle 72"/>
            <p:cNvSpPr>
              <a:spLocks noChangeArrowheads="1"/>
            </p:cNvSpPr>
            <p:nvPr/>
          </p:nvSpPr>
          <p:spPr bwMode="auto">
            <a:xfrm>
              <a:off x="3334" y="975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48201" name="Rectangle 73"/>
            <p:cNvSpPr>
              <a:spLocks noChangeArrowheads="1"/>
            </p:cNvSpPr>
            <p:nvPr/>
          </p:nvSpPr>
          <p:spPr bwMode="auto">
            <a:xfrm>
              <a:off x="3305" y="1436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8202" name="Rectangle 74"/>
            <p:cNvSpPr>
              <a:spLocks noChangeArrowheads="1"/>
            </p:cNvSpPr>
            <p:nvPr/>
          </p:nvSpPr>
          <p:spPr bwMode="auto">
            <a:xfrm>
              <a:off x="3304" y="1687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8203" name="Rectangle 75"/>
            <p:cNvSpPr>
              <a:spLocks noChangeArrowheads="1"/>
            </p:cNvSpPr>
            <p:nvPr/>
          </p:nvSpPr>
          <p:spPr bwMode="auto">
            <a:xfrm>
              <a:off x="3313" y="2150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48204" name="Rectangle 76"/>
            <p:cNvSpPr>
              <a:spLocks noChangeArrowheads="1"/>
            </p:cNvSpPr>
            <p:nvPr/>
          </p:nvSpPr>
          <p:spPr bwMode="auto">
            <a:xfrm>
              <a:off x="3313" y="2486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48205" name="Rectangle 77"/>
            <p:cNvSpPr>
              <a:spLocks noChangeArrowheads="1"/>
            </p:cNvSpPr>
            <p:nvPr/>
          </p:nvSpPr>
          <p:spPr bwMode="auto">
            <a:xfrm>
              <a:off x="3302" y="2975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29</a:t>
              </a:r>
            </a:p>
          </p:txBody>
        </p:sp>
        <p:sp>
          <p:nvSpPr>
            <p:cNvPr id="48206" name="Rectangle 78"/>
            <p:cNvSpPr>
              <a:spLocks noChangeArrowheads="1"/>
            </p:cNvSpPr>
            <p:nvPr/>
          </p:nvSpPr>
          <p:spPr bwMode="auto">
            <a:xfrm>
              <a:off x="3332" y="3206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8207" name="Rectangle 79"/>
            <p:cNvSpPr>
              <a:spLocks noChangeArrowheads="1"/>
            </p:cNvSpPr>
            <p:nvPr/>
          </p:nvSpPr>
          <p:spPr bwMode="auto">
            <a:xfrm>
              <a:off x="3307" y="3694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0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62050" y="228600"/>
            <a:ext cx="7254875" cy="5651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Rolling Back A Decision Tree </a:t>
            </a:r>
          </a:p>
        </p:txBody>
      </p:sp>
      <p:grpSp>
        <p:nvGrpSpPr>
          <p:cNvPr id="50278" name="Group 102"/>
          <p:cNvGrpSpPr>
            <a:grpSpLocks/>
          </p:cNvGrpSpPr>
          <p:nvPr/>
        </p:nvGrpSpPr>
        <p:grpSpPr bwMode="auto">
          <a:xfrm>
            <a:off x="269875" y="895350"/>
            <a:ext cx="8535988" cy="5343526"/>
            <a:chOff x="170" y="564"/>
            <a:chExt cx="5377" cy="3366"/>
          </a:xfrm>
        </p:grpSpPr>
        <p:sp>
          <p:nvSpPr>
            <p:cNvPr id="50179" name="Rectangle 3"/>
            <p:cNvSpPr>
              <a:spLocks noChangeArrowheads="1"/>
            </p:cNvSpPr>
            <p:nvPr/>
          </p:nvSpPr>
          <p:spPr bwMode="auto">
            <a:xfrm>
              <a:off x="323" y="2149"/>
              <a:ext cx="425" cy="40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0" name="Rectangle 4"/>
            <p:cNvSpPr>
              <a:spLocks noChangeArrowheads="1"/>
            </p:cNvSpPr>
            <p:nvPr/>
          </p:nvSpPr>
          <p:spPr bwMode="auto">
            <a:xfrm>
              <a:off x="444" y="2233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181" name="Oval 5"/>
            <p:cNvSpPr>
              <a:spLocks noChangeArrowheads="1"/>
            </p:cNvSpPr>
            <p:nvPr/>
          </p:nvSpPr>
          <p:spPr bwMode="auto">
            <a:xfrm>
              <a:off x="2883" y="1034"/>
              <a:ext cx="360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Oval 6"/>
            <p:cNvSpPr>
              <a:spLocks noChangeArrowheads="1"/>
            </p:cNvSpPr>
            <p:nvPr/>
          </p:nvSpPr>
          <p:spPr bwMode="auto">
            <a:xfrm>
              <a:off x="2899" y="1739"/>
              <a:ext cx="361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auto">
            <a:xfrm>
              <a:off x="2889" y="2549"/>
              <a:ext cx="361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4" name="Oval 8"/>
            <p:cNvSpPr>
              <a:spLocks noChangeArrowheads="1"/>
            </p:cNvSpPr>
            <p:nvPr/>
          </p:nvSpPr>
          <p:spPr bwMode="auto">
            <a:xfrm>
              <a:off x="2919" y="3261"/>
              <a:ext cx="360" cy="3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5" name="Rectangle 9"/>
            <p:cNvSpPr>
              <a:spLocks noChangeArrowheads="1"/>
            </p:cNvSpPr>
            <p:nvPr/>
          </p:nvSpPr>
          <p:spPr bwMode="auto">
            <a:xfrm>
              <a:off x="2978" y="1098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0186" name="Rectangle 10"/>
            <p:cNvSpPr>
              <a:spLocks noChangeArrowheads="1"/>
            </p:cNvSpPr>
            <p:nvPr/>
          </p:nvSpPr>
          <p:spPr bwMode="auto">
            <a:xfrm>
              <a:off x="2985" y="1823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0187" name="Rectangle 11"/>
            <p:cNvSpPr>
              <a:spLocks noChangeArrowheads="1"/>
            </p:cNvSpPr>
            <p:nvPr/>
          </p:nvSpPr>
          <p:spPr bwMode="auto">
            <a:xfrm>
              <a:off x="2985" y="2612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0188" name="Rectangle 12"/>
            <p:cNvSpPr>
              <a:spLocks noChangeArrowheads="1"/>
            </p:cNvSpPr>
            <p:nvPr/>
          </p:nvSpPr>
          <p:spPr bwMode="auto">
            <a:xfrm>
              <a:off x="3004" y="3345"/>
              <a:ext cx="2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4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0189" name="Line 13"/>
            <p:cNvSpPr>
              <a:spLocks noChangeShapeType="1"/>
            </p:cNvSpPr>
            <p:nvPr/>
          </p:nvSpPr>
          <p:spPr bwMode="auto">
            <a:xfrm flipV="1">
              <a:off x="754" y="1228"/>
              <a:ext cx="264" cy="1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0" name="Line 14"/>
            <p:cNvSpPr>
              <a:spLocks noChangeShapeType="1"/>
            </p:cNvSpPr>
            <p:nvPr/>
          </p:nvSpPr>
          <p:spPr bwMode="auto">
            <a:xfrm flipH="1">
              <a:off x="1022" y="1228"/>
              <a:ext cx="18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1" name="Line 15"/>
            <p:cNvSpPr>
              <a:spLocks noChangeShapeType="1"/>
            </p:cNvSpPr>
            <p:nvPr/>
          </p:nvSpPr>
          <p:spPr bwMode="auto">
            <a:xfrm flipH="1">
              <a:off x="1047" y="1940"/>
              <a:ext cx="18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2" name="Line 16"/>
            <p:cNvSpPr>
              <a:spLocks noChangeShapeType="1"/>
            </p:cNvSpPr>
            <p:nvPr/>
          </p:nvSpPr>
          <p:spPr bwMode="auto">
            <a:xfrm flipH="1">
              <a:off x="1039" y="2749"/>
              <a:ext cx="184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3" name="Line 17"/>
            <p:cNvSpPr>
              <a:spLocks noChangeShapeType="1"/>
            </p:cNvSpPr>
            <p:nvPr/>
          </p:nvSpPr>
          <p:spPr bwMode="auto">
            <a:xfrm flipH="1">
              <a:off x="1066" y="3461"/>
              <a:ext cx="184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4" name="Line 18"/>
            <p:cNvSpPr>
              <a:spLocks noChangeShapeType="1"/>
            </p:cNvSpPr>
            <p:nvPr/>
          </p:nvSpPr>
          <p:spPr bwMode="auto">
            <a:xfrm flipV="1">
              <a:off x="759" y="1941"/>
              <a:ext cx="284" cy="3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5" name="Line 19"/>
            <p:cNvSpPr>
              <a:spLocks noChangeShapeType="1"/>
            </p:cNvSpPr>
            <p:nvPr/>
          </p:nvSpPr>
          <p:spPr bwMode="auto">
            <a:xfrm>
              <a:off x="757" y="2344"/>
              <a:ext cx="284" cy="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6" name="Line 20"/>
            <p:cNvSpPr>
              <a:spLocks noChangeShapeType="1"/>
            </p:cNvSpPr>
            <p:nvPr/>
          </p:nvSpPr>
          <p:spPr bwMode="auto">
            <a:xfrm>
              <a:off x="755" y="2341"/>
              <a:ext cx="308" cy="111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7" name="Line 21"/>
            <p:cNvSpPr>
              <a:spLocks noChangeShapeType="1"/>
            </p:cNvSpPr>
            <p:nvPr/>
          </p:nvSpPr>
          <p:spPr bwMode="auto">
            <a:xfrm flipV="1">
              <a:off x="3250" y="988"/>
              <a:ext cx="113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8" name="Line 22"/>
            <p:cNvSpPr>
              <a:spLocks noChangeShapeType="1"/>
            </p:cNvSpPr>
            <p:nvPr/>
          </p:nvSpPr>
          <p:spPr bwMode="auto">
            <a:xfrm>
              <a:off x="3362" y="988"/>
              <a:ext cx="14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9" name="Oval 23"/>
            <p:cNvSpPr>
              <a:spLocks noChangeArrowheads="1"/>
            </p:cNvSpPr>
            <p:nvPr/>
          </p:nvSpPr>
          <p:spPr bwMode="auto">
            <a:xfrm>
              <a:off x="4766" y="956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0" name="Line 24"/>
            <p:cNvSpPr>
              <a:spLocks noChangeShapeType="1"/>
            </p:cNvSpPr>
            <p:nvPr/>
          </p:nvSpPr>
          <p:spPr bwMode="auto">
            <a:xfrm>
              <a:off x="3250" y="122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1" name="Line 25"/>
            <p:cNvSpPr>
              <a:spLocks noChangeShapeType="1"/>
            </p:cNvSpPr>
            <p:nvPr/>
          </p:nvSpPr>
          <p:spPr bwMode="auto">
            <a:xfrm>
              <a:off x="3362" y="1466"/>
              <a:ext cx="14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2" name="Oval 26"/>
            <p:cNvSpPr>
              <a:spLocks noChangeArrowheads="1"/>
            </p:cNvSpPr>
            <p:nvPr/>
          </p:nvSpPr>
          <p:spPr bwMode="auto">
            <a:xfrm>
              <a:off x="4776" y="1428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3" name="Line 27"/>
            <p:cNvSpPr>
              <a:spLocks noChangeShapeType="1"/>
            </p:cNvSpPr>
            <p:nvPr/>
          </p:nvSpPr>
          <p:spPr bwMode="auto">
            <a:xfrm flipV="1">
              <a:off x="3264" y="169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4" name="Line 28"/>
            <p:cNvSpPr>
              <a:spLocks noChangeShapeType="1"/>
            </p:cNvSpPr>
            <p:nvPr/>
          </p:nvSpPr>
          <p:spPr bwMode="auto">
            <a:xfrm>
              <a:off x="3375" y="1698"/>
              <a:ext cx="14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5" name="Oval 29"/>
            <p:cNvSpPr>
              <a:spLocks noChangeArrowheads="1"/>
            </p:cNvSpPr>
            <p:nvPr/>
          </p:nvSpPr>
          <p:spPr bwMode="auto">
            <a:xfrm>
              <a:off x="4780" y="1667"/>
              <a:ext cx="59" cy="6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6" name="Line 30"/>
            <p:cNvSpPr>
              <a:spLocks noChangeShapeType="1"/>
            </p:cNvSpPr>
            <p:nvPr/>
          </p:nvSpPr>
          <p:spPr bwMode="auto">
            <a:xfrm>
              <a:off x="3264" y="1939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7" name="Line 31"/>
            <p:cNvSpPr>
              <a:spLocks noChangeShapeType="1"/>
            </p:cNvSpPr>
            <p:nvPr/>
          </p:nvSpPr>
          <p:spPr bwMode="auto">
            <a:xfrm>
              <a:off x="3375" y="2176"/>
              <a:ext cx="14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8" name="Oval 32"/>
            <p:cNvSpPr>
              <a:spLocks noChangeArrowheads="1"/>
            </p:cNvSpPr>
            <p:nvPr/>
          </p:nvSpPr>
          <p:spPr bwMode="auto">
            <a:xfrm>
              <a:off x="4790" y="2147"/>
              <a:ext cx="59" cy="61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09" name="Line 33"/>
            <p:cNvSpPr>
              <a:spLocks noChangeShapeType="1"/>
            </p:cNvSpPr>
            <p:nvPr/>
          </p:nvSpPr>
          <p:spPr bwMode="auto">
            <a:xfrm flipV="1">
              <a:off x="3253" y="2507"/>
              <a:ext cx="113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0" name="Line 34"/>
            <p:cNvSpPr>
              <a:spLocks noChangeShapeType="1"/>
            </p:cNvSpPr>
            <p:nvPr/>
          </p:nvSpPr>
          <p:spPr bwMode="auto">
            <a:xfrm>
              <a:off x="3364" y="2507"/>
              <a:ext cx="1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1" name="Oval 35"/>
            <p:cNvSpPr>
              <a:spLocks noChangeArrowheads="1"/>
            </p:cNvSpPr>
            <p:nvPr/>
          </p:nvSpPr>
          <p:spPr bwMode="auto">
            <a:xfrm>
              <a:off x="4799" y="2475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2" name="Line 36"/>
            <p:cNvSpPr>
              <a:spLocks noChangeShapeType="1"/>
            </p:cNvSpPr>
            <p:nvPr/>
          </p:nvSpPr>
          <p:spPr bwMode="auto">
            <a:xfrm>
              <a:off x="3253" y="2748"/>
              <a:ext cx="113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3" name="Line 37"/>
            <p:cNvSpPr>
              <a:spLocks noChangeShapeType="1"/>
            </p:cNvSpPr>
            <p:nvPr/>
          </p:nvSpPr>
          <p:spPr bwMode="auto">
            <a:xfrm>
              <a:off x="3364" y="2985"/>
              <a:ext cx="1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4" name="Oval 38"/>
            <p:cNvSpPr>
              <a:spLocks noChangeArrowheads="1"/>
            </p:cNvSpPr>
            <p:nvPr/>
          </p:nvSpPr>
          <p:spPr bwMode="auto">
            <a:xfrm>
              <a:off x="4798" y="2946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5" name="Line 39"/>
            <p:cNvSpPr>
              <a:spLocks noChangeShapeType="1"/>
            </p:cNvSpPr>
            <p:nvPr/>
          </p:nvSpPr>
          <p:spPr bwMode="auto">
            <a:xfrm flipV="1">
              <a:off x="3282" y="3223"/>
              <a:ext cx="114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6" name="Line 40"/>
            <p:cNvSpPr>
              <a:spLocks noChangeShapeType="1"/>
            </p:cNvSpPr>
            <p:nvPr/>
          </p:nvSpPr>
          <p:spPr bwMode="auto">
            <a:xfrm>
              <a:off x="3395" y="3223"/>
              <a:ext cx="14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7" name="Oval 41"/>
            <p:cNvSpPr>
              <a:spLocks noChangeArrowheads="1"/>
            </p:cNvSpPr>
            <p:nvPr/>
          </p:nvSpPr>
          <p:spPr bwMode="auto">
            <a:xfrm>
              <a:off x="4809" y="3191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8" name="Line 42"/>
            <p:cNvSpPr>
              <a:spLocks noChangeShapeType="1"/>
            </p:cNvSpPr>
            <p:nvPr/>
          </p:nvSpPr>
          <p:spPr bwMode="auto">
            <a:xfrm>
              <a:off x="3283" y="3464"/>
              <a:ext cx="114" cy="2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9" name="Line 43"/>
            <p:cNvSpPr>
              <a:spLocks noChangeShapeType="1"/>
            </p:cNvSpPr>
            <p:nvPr/>
          </p:nvSpPr>
          <p:spPr bwMode="auto">
            <a:xfrm>
              <a:off x="3395" y="3701"/>
              <a:ext cx="14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20" name="Oval 44"/>
            <p:cNvSpPr>
              <a:spLocks noChangeArrowheads="1"/>
            </p:cNvSpPr>
            <p:nvPr/>
          </p:nvSpPr>
          <p:spPr bwMode="auto">
            <a:xfrm>
              <a:off x="4809" y="3682"/>
              <a:ext cx="59" cy="6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21" name="Rectangle 45"/>
            <p:cNvSpPr>
              <a:spLocks noChangeArrowheads="1"/>
            </p:cNvSpPr>
            <p:nvPr/>
          </p:nvSpPr>
          <p:spPr bwMode="auto">
            <a:xfrm>
              <a:off x="1022" y="1023"/>
              <a:ext cx="60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A</a:t>
              </a:r>
            </a:p>
          </p:txBody>
        </p:sp>
        <p:sp>
          <p:nvSpPr>
            <p:cNvPr id="50222" name="Rectangle 46"/>
            <p:cNvSpPr>
              <a:spLocks noChangeArrowheads="1"/>
            </p:cNvSpPr>
            <p:nvPr/>
          </p:nvSpPr>
          <p:spPr bwMode="auto">
            <a:xfrm>
              <a:off x="1033" y="1246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-18</a:t>
              </a:r>
            </a:p>
          </p:txBody>
        </p:sp>
        <p:sp>
          <p:nvSpPr>
            <p:cNvPr id="50223" name="Rectangle 47"/>
            <p:cNvSpPr>
              <a:spLocks noChangeArrowheads="1"/>
            </p:cNvSpPr>
            <p:nvPr/>
          </p:nvSpPr>
          <p:spPr bwMode="auto">
            <a:xfrm>
              <a:off x="1002" y="1725"/>
              <a:ext cx="60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B</a:t>
              </a:r>
            </a:p>
          </p:txBody>
        </p:sp>
        <p:sp>
          <p:nvSpPr>
            <p:cNvPr id="50224" name="Rectangle 48"/>
            <p:cNvSpPr>
              <a:spLocks noChangeArrowheads="1"/>
            </p:cNvSpPr>
            <p:nvPr/>
          </p:nvSpPr>
          <p:spPr bwMode="auto">
            <a:xfrm>
              <a:off x="1012" y="1948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-12</a:t>
              </a:r>
            </a:p>
          </p:txBody>
        </p:sp>
        <p:sp>
          <p:nvSpPr>
            <p:cNvPr id="50225" name="Rectangle 49"/>
            <p:cNvSpPr>
              <a:spLocks noChangeArrowheads="1"/>
            </p:cNvSpPr>
            <p:nvPr/>
          </p:nvSpPr>
          <p:spPr bwMode="auto">
            <a:xfrm>
              <a:off x="1031" y="2525"/>
              <a:ext cx="83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A&amp;B</a:t>
              </a:r>
            </a:p>
          </p:txBody>
        </p:sp>
        <p:sp>
          <p:nvSpPr>
            <p:cNvPr id="50226" name="Rectangle 50"/>
            <p:cNvSpPr>
              <a:spLocks noChangeArrowheads="1"/>
            </p:cNvSpPr>
            <p:nvPr/>
          </p:nvSpPr>
          <p:spPr bwMode="auto">
            <a:xfrm>
              <a:off x="1041" y="2748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-30</a:t>
              </a:r>
            </a:p>
          </p:txBody>
        </p:sp>
        <p:sp>
          <p:nvSpPr>
            <p:cNvPr id="50227" name="Rectangle 51"/>
            <p:cNvSpPr>
              <a:spLocks noChangeArrowheads="1"/>
            </p:cNvSpPr>
            <p:nvPr/>
          </p:nvSpPr>
          <p:spPr bwMode="auto">
            <a:xfrm>
              <a:off x="1041" y="3237"/>
              <a:ext cx="119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Buy nothing</a:t>
              </a:r>
            </a:p>
          </p:txBody>
        </p:sp>
        <p:sp>
          <p:nvSpPr>
            <p:cNvPr id="50228" name="Rectangle 52"/>
            <p:cNvSpPr>
              <a:spLocks noChangeArrowheads="1"/>
            </p:cNvSpPr>
            <p:nvPr/>
          </p:nvSpPr>
          <p:spPr bwMode="auto">
            <a:xfrm>
              <a:off x="1061" y="3479"/>
              <a:ext cx="47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229" name="Rectangle 53"/>
            <p:cNvSpPr>
              <a:spLocks noChangeArrowheads="1"/>
            </p:cNvSpPr>
            <p:nvPr/>
          </p:nvSpPr>
          <p:spPr bwMode="auto">
            <a:xfrm>
              <a:off x="973" y="564"/>
              <a:ext cx="204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Land Purchase Decision</a:t>
              </a:r>
            </a:p>
          </p:txBody>
        </p:sp>
        <p:sp>
          <p:nvSpPr>
            <p:cNvPr id="50230" name="Rectangle 54"/>
            <p:cNvSpPr>
              <a:spLocks noChangeArrowheads="1"/>
            </p:cNvSpPr>
            <p:nvPr/>
          </p:nvSpPr>
          <p:spPr bwMode="auto">
            <a:xfrm>
              <a:off x="3275" y="573"/>
              <a:ext cx="144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Airport Location</a:t>
              </a:r>
            </a:p>
          </p:txBody>
        </p:sp>
        <p:sp>
          <p:nvSpPr>
            <p:cNvPr id="50231" name="Rectangle 55"/>
            <p:cNvSpPr>
              <a:spLocks noChangeArrowheads="1"/>
            </p:cNvSpPr>
            <p:nvPr/>
          </p:nvSpPr>
          <p:spPr bwMode="auto">
            <a:xfrm>
              <a:off x="3126" y="896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50232" name="Rectangle 56"/>
            <p:cNvSpPr>
              <a:spLocks noChangeArrowheads="1"/>
            </p:cNvSpPr>
            <p:nvPr/>
          </p:nvSpPr>
          <p:spPr bwMode="auto">
            <a:xfrm>
              <a:off x="3165" y="1335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50233" name="Rectangle 57"/>
            <p:cNvSpPr>
              <a:spLocks noChangeArrowheads="1"/>
            </p:cNvSpPr>
            <p:nvPr/>
          </p:nvSpPr>
          <p:spPr bwMode="auto">
            <a:xfrm>
              <a:off x="3156" y="1600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50234" name="Rectangle 58"/>
            <p:cNvSpPr>
              <a:spLocks noChangeArrowheads="1"/>
            </p:cNvSpPr>
            <p:nvPr/>
          </p:nvSpPr>
          <p:spPr bwMode="auto">
            <a:xfrm>
              <a:off x="3174" y="2038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50235" name="Rectangle 59"/>
            <p:cNvSpPr>
              <a:spLocks noChangeArrowheads="1"/>
            </p:cNvSpPr>
            <p:nvPr/>
          </p:nvSpPr>
          <p:spPr bwMode="auto">
            <a:xfrm>
              <a:off x="3174" y="2856"/>
              <a:ext cx="20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50236" name="Rectangle 60"/>
            <p:cNvSpPr>
              <a:spLocks noChangeArrowheads="1"/>
            </p:cNvSpPr>
            <p:nvPr/>
          </p:nvSpPr>
          <p:spPr bwMode="auto">
            <a:xfrm>
              <a:off x="3194" y="3569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50237" name="Rectangle 61"/>
            <p:cNvSpPr>
              <a:spLocks noChangeArrowheads="1"/>
            </p:cNvSpPr>
            <p:nvPr/>
          </p:nvSpPr>
          <p:spPr bwMode="auto">
            <a:xfrm>
              <a:off x="3155" y="2408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50238" name="Rectangle 62"/>
            <p:cNvSpPr>
              <a:spLocks noChangeArrowheads="1"/>
            </p:cNvSpPr>
            <p:nvPr/>
          </p:nvSpPr>
          <p:spPr bwMode="auto">
            <a:xfrm>
              <a:off x="3186" y="3130"/>
              <a:ext cx="2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50239" name="Rectangle 63"/>
            <p:cNvSpPr>
              <a:spLocks noChangeArrowheads="1"/>
            </p:cNvSpPr>
            <p:nvPr/>
          </p:nvSpPr>
          <p:spPr bwMode="auto">
            <a:xfrm>
              <a:off x="4914" y="593"/>
              <a:ext cx="633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200" b="1">
                  <a:latin typeface="Times New Roman" pitchFamily="18" charset="0"/>
                </a:rPr>
                <a:t>Payoff</a:t>
              </a:r>
            </a:p>
          </p:txBody>
        </p:sp>
        <p:sp>
          <p:nvSpPr>
            <p:cNvPr id="50240" name="Rectangle 64"/>
            <p:cNvSpPr>
              <a:spLocks noChangeArrowheads="1"/>
            </p:cNvSpPr>
            <p:nvPr/>
          </p:nvSpPr>
          <p:spPr bwMode="auto">
            <a:xfrm>
              <a:off x="5058" y="88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13</a:t>
              </a:r>
            </a:p>
          </p:txBody>
        </p:sp>
        <p:sp>
          <p:nvSpPr>
            <p:cNvPr id="50241" name="Rectangle 65"/>
            <p:cNvSpPr>
              <a:spLocks noChangeArrowheads="1"/>
            </p:cNvSpPr>
            <p:nvPr/>
          </p:nvSpPr>
          <p:spPr bwMode="auto">
            <a:xfrm>
              <a:off x="4993" y="1314"/>
              <a:ext cx="48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-12</a:t>
              </a:r>
            </a:p>
          </p:txBody>
        </p:sp>
        <p:sp>
          <p:nvSpPr>
            <p:cNvPr id="50242" name="Rectangle 66"/>
            <p:cNvSpPr>
              <a:spLocks noChangeArrowheads="1"/>
            </p:cNvSpPr>
            <p:nvPr/>
          </p:nvSpPr>
          <p:spPr bwMode="auto">
            <a:xfrm>
              <a:off x="5056" y="161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-8</a:t>
              </a:r>
            </a:p>
          </p:txBody>
        </p:sp>
        <p:sp>
          <p:nvSpPr>
            <p:cNvPr id="50243" name="Rectangle 67"/>
            <p:cNvSpPr>
              <a:spLocks noChangeArrowheads="1"/>
            </p:cNvSpPr>
            <p:nvPr/>
          </p:nvSpPr>
          <p:spPr bwMode="auto">
            <a:xfrm>
              <a:off x="5084" y="205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11</a:t>
              </a:r>
            </a:p>
          </p:txBody>
        </p:sp>
        <p:sp>
          <p:nvSpPr>
            <p:cNvPr id="50244" name="Rectangle 68"/>
            <p:cNvSpPr>
              <a:spLocks noChangeArrowheads="1"/>
            </p:cNvSpPr>
            <p:nvPr/>
          </p:nvSpPr>
          <p:spPr bwMode="auto">
            <a:xfrm>
              <a:off x="5096" y="2407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50245" name="Rectangle 69"/>
            <p:cNvSpPr>
              <a:spLocks noChangeArrowheads="1"/>
            </p:cNvSpPr>
            <p:nvPr/>
          </p:nvSpPr>
          <p:spPr bwMode="auto">
            <a:xfrm>
              <a:off x="5065" y="2835"/>
              <a:ext cx="34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50246" name="Rectangle 70"/>
            <p:cNvSpPr>
              <a:spLocks noChangeArrowheads="1"/>
            </p:cNvSpPr>
            <p:nvPr/>
          </p:nvSpPr>
          <p:spPr bwMode="auto">
            <a:xfrm>
              <a:off x="5085" y="3138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247" name="Rectangle 71"/>
            <p:cNvSpPr>
              <a:spLocks noChangeArrowheads="1"/>
            </p:cNvSpPr>
            <p:nvPr/>
          </p:nvSpPr>
          <p:spPr bwMode="auto">
            <a:xfrm>
              <a:off x="5085" y="3596"/>
              <a:ext cx="33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2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248" name="Rectangle 72"/>
            <p:cNvSpPr>
              <a:spLocks noChangeArrowheads="1"/>
            </p:cNvSpPr>
            <p:nvPr/>
          </p:nvSpPr>
          <p:spPr bwMode="auto">
            <a:xfrm>
              <a:off x="3334" y="975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31</a:t>
              </a:r>
            </a:p>
          </p:txBody>
        </p:sp>
        <p:sp>
          <p:nvSpPr>
            <p:cNvPr id="50249" name="Rectangle 73"/>
            <p:cNvSpPr>
              <a:spLocks noChangeArrowheads="1"/>
            </p:cNvSpPr>
            <p:nvPr/>
          </p:nvSpPr>
          <p:spPr bwMode="auto">
            <a:xfrm>
              <a:off x="3305" y="1424"/>
              <a:ext cx="298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0250" name="Rectangle 74"/>
            <p:cNvSpPr>
              <a:spLocks noChangeArrowheads="1"/>
            </p:cNvSpPr>
            <p:nvPr/>
          </p:nvSpPr>
          <p:spPr bwMode="auto">
            <a:xfrm>
              <a:off x="3304" y="1687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50251" name="Rectangle 75"/>
            <p:cNvSpPr>
              <a:spLocks noChangeArrowheads="1"/>
            </p:cNvSpPr>
            <p:nvPr/>
          </p:nvSpPr>
          <p:spPr bwMode="auto">
            <a:xfrm>
              <a:off x="3349" y="2163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23</a:t>
              </a:r>
            </a:p>
          </p:txBody>
        </p:sp>
        <p:sp>
          <p:nvSpPr>
            <p:cNvPr id="50252" name="Rectangle 76"/>
            <p:cNvSpPr>
              <a:spLocks noChangeArrowheads="1"/>
            </p:cNvSpPr>
            <p:nvPr/>
          </p:nvSpPr>
          <p:spPr bwMode="auto">
            <a:xfrm>
              <a:off x="3313" y="2486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50253" name="Rectangle 77"/>
            <p:cNvSpPr>
              <a:spLocks noChangeArrowheads="1"/>
            </p:cNvSpPr>
            <p:nvPr/>
          </p:nvSpPr>
          <p:spPr bwMode="auto">
            <a:xfrm>
              <a:off x="3318" y="2947"/>
              <a:ext cx="2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29</a:t>
              </a:r>
            </a:p>
          </p:txBody>
        </p:sp>
        <p:sp>
          <p:nvSpPr>
            <p:cNvPr id="50254" name="Rectangle 78"/>
            <p:cNvSpPr>
              <a:spLocks noChangeArrowheads="1"/>
            </p:cNvSpPr>
            <p:nvPr/>
          </p:nvSpPr>
          <p:spPr bwMode="auto">
            <a:xfrm>
              <a:off x="3332" y="3206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255" name="Rectangle 79"/>
            <p:cNvSpPr>
              <a:spLocks noChangeArrowheads="1"/>
            </p:cNvSpPr>
            <p:nvPr/>
          </p:nvSpPr>
          <p:spPr bwMode="auto">
            <a:xfrm>
              <a:off x="3339" y="3699"/>
              <a:ext cx="29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dirty="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0256" name="Rectangle 80"/>
            <p:cNvSpPr>
              <a:spLocks noChangeArrowheads="1"/>
            </p:cNvSpPr>
            <p:nvPr/>
          </p:nvSpPr>
          <p:spPr bwMode="auto">
            <a:xfrm>
              <a:off x="3324" y="810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CC00"/>
                  </a:solidFill>
                  <a:latin typeface="Times New Roman" pitchFamily="18" charset="0"/>
                </a:rPr>
                <a:t>0.4</a:t>
              </a:r>
            </a:p>
          </p:txBody>
        </p:sp>
        <p:sp>
          <p:nvSpPr>
            <p:cNvPr id="50257" name="Rectangle 81"/>
            <p:cNvSpPr>
              <a:spLocks noChangeArrowheads="1"/>
            </p:cNvSpPr>
            <p:nvPr/>
          </p:nvSpPr>
          <p:spPr bwMode="auto">
            <a:xfrm>
              <a:off x="3320" y="1272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CC00"/>
                  </a:solidFill>
                  <a:latin typeface="Times New Roman" pitchFamily="18" charset="0"/>
                </a:rPr>
                <a:t>0.6</a:t>
              </a:r>
            </a:p>
          </p:txBody>
        </p:sp>
        <p:sp>
          <p:nvSpPr>
            <p:cNvPr id="50258" name="Rectangle 82"/>
            <p:cNvSpPr>
              <a:spLocks noChangeArrowheads="1"/>
            </p:cNvSpPr>
            <p:nvPr/>
          </p:nvSpPr>
          <p:spPr bwMode="auto">
            <a:xfrm>
              <a:off x="3324" y="1542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CC00"/>
                  </a:solidFill>
                  <a:latin typeface="Times New Roman" pitchFamily="18" charset="0"/>
                </a:rPr>
                <a:t>0.4</a:t>
              </a:r>
            </a:p>
          </p:txBody>
        </p:sp>
        <p:sp>
          <p:nvSpPr>
            <p:cNvPr id="50259" name="Rectangle 83"/>
            <p:cNvSpPr>
              <a:spLocks noChangeArrowheads="1"/>
            </p:cNvSpPr>
            <p:nvPr/>
          </p:nvSpPr>
          <p:spPr bwMode="auto">
            <a:xfrm>
              <a:off x="3340" y="2013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CC00"/>
                  </a:solidFill>
                  <a:latin typeface="Times New Roman" pitchFamily="18" charset="0"/>
                </a:rPr>
                <a:t>0.6</a:t>
              </a:r>
            </a:p>
          </p:txBody>
        </p:sp>
        <p:sp>
          <p:nvSpPr>
            <p:cNvPr id="50260" name="Rectangle 84"/>
            <p:cNvSpPr>
              <a:spLocks noChangeArrowheads="1"/>
            </p:cNvSpPr>
            <p:nvPr/>
          </p:nvSpPr>
          <p:spPr bwMode="auto">
            <a:xfrm>
              <a:off x="3324" y="2328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CC00"/>
                  </a:solidFill>
                  <a:latin typeface="Times New Roman" pitchFamily="18" charset="0"/>
                </a:rPr>
                <a:t>0.4</a:t>
              </a:r>
            </a:p>
          </p:txBody>
        </p:sp>
        <p:sp>
          <p:nvSpPr>
            <p:cNvPr id="50261" name="Rectangle 85"/>
            <p:cNvSpPr>
              <a:spLocks noChangeArrowheads="1"/>
            </p:cNvSpPr>
            <p:nvPr/>
          </p:nvSpPr>
          <p:spPr bwMode="auto">
            <a:xfrm>
              <a:off x="3330" y="2773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CC00"/>
                  </a:solidFill>
                  <a:latin typeface="Times New Roman" pitchFamily="18" charset="0"/>
                </a:rPr>
                <a:t>0.6</a:t>
              </a:r>
            </a:p>
          </p:txBody>
        </p:sp>
        <p:sp>
          <p:nvSpPr>
            <p:cNvPr id="50262" name="Rectangle 86"/>
            <p:cNvSpPr>
              <a:spLocks noChangeArrowheads="1"/>
            </p:cNvSpPr>
            <p:nvPr/>
          </p:nvSpPr>
          <p:spPr bwMode="auto">
            <a:xfrm>
              <a:off x="3336" y="3066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>
                  <a:solidFill>
                    <a:srgbClr val="00CC00"/>
                  </a:solidFill>
                  <a:latin typeface="Times New Roman" pitchFamily="18" charset="0"/>
                </a:rPr>
                <a:t>0.4</a:t>
              </a:r>
            </a:p>
          </p:txBody>
        </p:sp>
        <p:sp>
          <p:nvSpPr>
            <p:cNvPr id="50263" name="Rectangle 87"/>
            <p:cNvSpPr>
              <a:spLocks noChangeArrowheads="1"/>
            </p:cNvSpPr>
            <p:nvPr/>
          </p:nvSpPr>
          <p:spPr bwMode="auto">
            <a:xfrm>
              <a:off x="3386" y="3500"/>
              <a:ext cx="36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1600" dirty="0">
                  <a:solidFill>
                    <a:srgbClr val="00CC00"/>
                  </a:solidFill>
                  <a:latin typeface="Times New Roman" pitchFamily="18" charset="0"/>
                </a:rPr>
                <a:t>0.6</a:t>
              </a:r>
            </a:p>
          </p:txBody>
        </p:sp>
        <p:sp>
          <p:nvSpPr>
            <p:cNvPr id="50264" name="Rectangle 88"/>
            <p:cNvSpPr>
              <a:spLocks noChangeArrowheads="1"/>
            </p:cNvSpPr>
            <p:nvPr/>
          </p:nvSpPr>
          <p:spPr bwMode="auto">
            <a:xfrm>
              <a:off x="2226" y="1229"/>
              <a:ext cx="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rgbClr val="3399FF"/>
                  </a:solidFill>
                  <a:latin typeface="Times New Roman" pitchFamily="18" charset="0"/>
                </a:rPr>
                <a:t>EMV=-2</a:t>
              </a:r>
            </a:p>
          </p:txBody>
        </p:sp>
        <p:sp>
          <p:nvSpPr>
            <p:cNvPr id="50265" name="Rectangle 89"/>
            <p:cNvSpPr>
              <a:spLocks noChangeArrowheads="1"/>
            </p:cNvSpPr>
            <p:nvPr/>
          </p:nvSpPr>
          <p:spPr bwMode="auto">
            <a:xfrm>
              <a:off x="2227" y="1957"/>
              <a:ext cx="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dirty="0">
                  <a:solidFill>
                    <a:srgbClr val="3399FF"/>
                  </a:solidFill>
                  <a:latin typeface="Times New Roman" pitchFamily="18" charset="0"/>
                </a:rPr>
                <a:t>EMV=3.4</a:t>
              </a:r>
            </a:p>
          </p:txBody>
        </p:sp>
        <p:sp>
          <p:nvSpPr>
            <p:cNvPr id="50266" name="Rectangle 90"/>
            <p:cNvSpPr>
              <a:spLocks noChangeArrowheads="1"/>
            </p:cNvSpPr>
            <p:nvPr/>
          </p:nvSpPr>
          <p:spPr bwMode="auto">
            <a:xfrm>
              <a:off x="2205" y="2750"/>
              <a:ext cx="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rgbClr val="3399FF"/>
                  </a:solidFill>
                  <a:latin typeface="Times New Roman" pitchFamily="18" charset="0"/>
                </a:rPr>
                <a:t>EMV=1.4</a:t>
              </a:r>
            </a:p>
          </p:txBody>
        </p:sp>
        <p:sp>
          <p:nvSpPr>
            <p:cNvPr id="50267" name="Rectangle 91"/>
            <p:cNvSpPr>
              <a:spLocks noChangeArrowheads="1"/>
            </p:cNvSpPr>
            <p:nvPr/>
          </p:nvSpPr>
          <p:spPr bwMode="auto">
            <a:xfrm>
              <a:off x="2248" y="3478"/>
              <a:ext cx="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rgbClr val="3399FF"/>
                  </a:solidFill>
                  <a:latin typeface="Times New Roman" pitchFamily="18" charset="0"/>
                </a:rPr>
                <a:t>EMV= 0</a:t>
              </a:r>
            </a:p>
          </p:txBody>
        </p:sp>
        <p:sp>
          <p:nvSpPr>
            <p:cNvPr id="50268" name="Rectangle 92"/>
            <p:cNvSpPr>
              <a:spLocks noChangeArrowheads="1"/>
            </p:cNvSpPr>
            <p:nvPr/>
          </p:nvSpPr>
          <p:spPr bwMode="auto">
            <a:xfrm>
              <a:off x="170" y="2588"/>
              <a:ext cx="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dirty="0">
                  <a:solidFill>
                    <a:srgbClr val="3399FF"/>
                  </a:solidFill>
                  <a:latin typeface="Times New Roman" pitchFamily="18" charset="0"/>
                </a:rPr>
                <a:t>EMV=3.4</a:t>
              </a:r>
            </a:p>
          </p:txBody>
        </p:sp>
        <p:grpSp>
          <p:nvGrpSpPr>
            <p:cNvPr id="50271" name="Group 95"/>
            <p:cNvGrpSpPr>
              <a:grpSpLocks/>
            </p:cNvGrpSpPr>
            <p:nvPr/>
          </p:nvGrpSpPr>
          <p:grpSpPr bwMode="auto">
            <a:xfrm>
              <a:off x="2075" y="1046"/>
              <a:ext cx="32" cy="332"/>
              <a:chOff x="2075" y="1046"/>
              <a:chExt cx="32" cy="332"/>
            </a:xfrm>
          </p:grpSpPr>
          <p:sp>
            <p:nvSpPr>
              <p:cNvPr id="50269" name="Line 93"/>
              <p:cNvSpPr>
                <a:spLocks noChangeShapeType="1"/>
              </p:cNvSpPr>
              <p:nvPr/>
            </p:nvSpPr>
            <p:spPr bwMode="auto">
              <a:xfrm>
                <a:off x="2075" y="1047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70" name="Line 94"/>
              <p:cNvSpPr>
                <a:spLocks noChangeShapeType="1"/>
              </p:cNvSpPr>
              <p:nvPr/>
            </p:nvSpPr>
            <p:spPr bwMode="auto">
              <a:xfrm>
                <a:off x="2107" y="1046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274" name="Group 98"/>
            <p:cNvGrpSpPr>
              <a:grpSpLocks/>
            </p:cNvGrpSpPr>
            <p:nvPr/>
          </p:nvGrpSpPr>
          <p:grpSpPr bwMode="auto">
            <a:xfrm>
              <a:off x="2086" y="2577"/>
              <a:ext cx="32" cy="332"/>
              <a:chOff x="2086" y="2577"/>
              <a:chExt cx="32" cy="332"/>
            </a:xfrm>
          </p:grpSpPr>
          <p:sp>
            <p:nvSpPr>
              <p:cNvPr id="50272" name="Line 96"/>
              <p:cNvSpPr>
                <a:spLocks noChangeShapeType="1"/>
              </p:cNvSpPr>
              <p:nvPr/>
            </p:nvSpPr>
            <p:spPr bwMode="auto">
              <a:xfrm>
                <a:off x="2086" y="2578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73" name="Line 97"/>
              <p:cNvSpPr>
                <a:spLocks noChangeShapeType="1"/>
              </p:cNvSpPr>
              <p:nvPr/>
            </p:nvSpPr>
            <p:spPr bwMode="auto">
              <a:xfrm>
                <a:off x="2118" y="2577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0277" name="Group 101"/>
            <p:cNvGrpSpPr>
              <a:grpSpLocks/>
            </p:cNvGrpSpPr>
            <p:nvPr/>
          </p:nvGrpSpPr>
          <p:grpSpPr bwMode="auto">
            <a:xfrm>
              <a:off x="2086" y="3263"/>
              <a:ext cx="32" cy="332"/>
              <a:chOff x="2086" y="3263"/>
              <a:chExt cx="32" cy="332"/>
            </a:xfrm>
          </p:grpSpPr>
          <p:sp>
            <p:nvSpPr>
              <p:cNvPr id="50275" name="Line 99"/>
              <p:cNvSpPr>
                <a:spLocks noChangeShapeType="1"/>
              </p:cNvSpPr>
              <p:nvPr/>
            </p:nvSpPr>
            <p:spPr bwMode="auto">
              <a:xfrm>
                <a:off x="2086" y="3264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76" name="Line 100"/>
              <p:cNvSpPr>
                <a:spLocks noChangeShapeType="1"/>
              </p:cNvSpPr>
              <p:nvPr/>
            </p:nvSpPr>
            <p:spPr bwMode="auto">
              <a:xfrm>
                <a:off x="2118" y="3263"/>
                <a:ext cx="0" cy="331"/>
              </a:xfrm>
              <a:prstGeom prst="line">
                <a:avLst/>
              </a:prstGeom>
              <a:noFill/>
              <a:ln w="25400">
                <a:solidFill>
                  <a:srgbClr val="FF0033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69875"/>
            <a:ext cx="7254875" cy="5651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Alternate Decision Tree </a:t>
            </a:r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512763" y="3411538"/>
            <a:ext cx="674687" cy="638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704850" y="3544888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0</a:t>
            </a:r>
          </a:p>
        </p:txBody>
      </p:sp>
      <p:sp>
        <p:nvSpPr>
          <p:cNvPr id="52229" name="Oval 5"/>
          <p:cNvSpPr>
            <a:spLocks noChangeArrowheads="1"/>
          </p:cNvSpPr>
          <p:nvPr/>
        </p:nvSpPr>
        <p:spPr bwMode="auto">
          <a:xfrm>
            <a:off x="4576763" y="1641475"/>
            <a:ext cx="571500" cy="622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0" name="Oval 6"/>
          <p:cNvSpPr>
            <a:spLocks noChangeArrowheads="1"/>
          </p:cNvSpPr>
          <p:nvPr/>
        </p:nvSpPr>
        <p:spPr bwMode="auto">
          <a:xfrm>
            <a:off x="4602163" y="2760663"/>
            <a:ext cx="573087" cy="622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1" name="Oval 7"/>
          <p:cNvSpPr>
            <a:spLocks noChangeArrowheads="1"/>
          </p:cNvSpPr>
          <p:nvPr/>
        </p:nvSpPr>
        <p:spPr bwMode="auto">
          <a:xfrm>
            <a:off x="4586288" y="4046538"/>
            <a:ext cx="573087" cy="622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4727575" y="1743075"/>
            <a:ext cx="363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1</a:t>
            </a:r>
          </a:p>
        </p:txBody>
      </p:sp>
      <p:sp>
        <p:nvSpPr>
          <p:cNvPr id="52233" name="Rectangle 9"/>
          <p:cNvSpPr>
            <a:spLocks noChangeArrowheads="1"/>
          </p:cNvSpPr>
          <p:nvPr/>
        </p:nvSpPr>
        <p:spPr bwMode="auto">
          <a:xfrm>
            <a:off x="4738688" y="2894013"/>
            <a:ext cx="363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2</a:t>
            </a:r>
          </a:p>
        </p:txBody>
      </p:sp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4738688" y="4146550"/>
            <a:ext cx="363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3</a:t>
            </a:r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 flipV="1">
            <a:off x="1196975" y="1949450"/>
            <a:ext cx="419100" cy="1758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 flipH="1">
            <a:off x="1622425" y="1949450"/>
            <a:ext cx="29432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H="1">
            <a:off x="1662113" y="3079750"/>
            <a:ext cx="29321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 flipH="1">
            <a:off x="1649413" y="4364038"/>
            <a:ext cx="29305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 flipH="1">
            <a:off x="1692275" y="5494338"/>
            <a:ext cx="29321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0" name="Line 16"/>
          <p:cNvSpPr>
            <a:spLocks noChangeShapeType="1"/>
          </p:cNvSpPr>
          <p:nvPr/>
        </p:nvSpPr>
        <p:spPr bwMode="auto">
          <a:xfrm flipV="1">
            <a:off x="1204913" y="3081338"/>
            <a:ext cx="450850" cy="631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1" name="Line 17"/>
          <p:cNvSpPr>
            <a:spLocks noChangeShapeType="1"/>
          </p:cNvSpPr>
          <p:nvPr/>
        </p:nvSpPr>
        <p:spPr bwMode="auto">
          <a:xfrm>
            <a:off x="1201738" y="3721100"/>
            <a:ext cx="450850" cy="644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2" name="Line 18"/>
          <p:cNvSpPr>
            <a:spLocks noChangeShapeType="1"/>
          </p:cNvSpPr>
          <p:nvPr/>
        </p:nvSpPr>
        <p:spPr bwMode="auto">
          <a:xfrm>
            <a:off x="1198563" y="3716338"/>
            <a:ext cx="488950" cy="1776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3" name="Line 19"/>
          <p:cNvSpPr>
            <a:spLocks noChangeShapeType="1"/>
          </p:cNvSpPr>
          <p:nvPr/>
        </p:nvSpPr>
        <p:spPr bwMode="auto">
          <a:xfrm flipV="1">
            <a:off x="5159375" y="1568450"/>
            <a:ext cx="179388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4" name="Line 20"/>
          <p:cNvSpPr>
            <a:spLocks noChangeShapeType="1"/>
          </p:cNvSpPr>
          <p:nvPr/>
        </p:nvSpPr>
        <p:spPr bwMode="auto">
          <a:xfrm>
            <a:off x="5337175" y="1568450"/>
            <a:ext cx="2266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5" name="Oval 21"/>
          <p:cNvSpPr>
            <a:spLocks noChangeArrowheads="1"/>
          </p:cNvSpPr>
          <p:nvPr/>
        </p:nvSpPr>
        <p:spPr bwMode="auto">
          <a:xfrm>
            <a:off x="7566025" y="1517650"/>
            <a:ext cx="93663" cy="952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6" name="Line 22"/>
          <p:cNvSpPr>
            <a:spLocks noChangeShapeType="1"/>
          </p:cNvSpPr>
          <p:nvPr/>
        </p:nvSpPr>
        <p:spPr bwMode="auto">
          <a:xfrm>
            <a:off x="5159375" y="1951038"/>
            <a:ext cx="179388" cy="376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7" name="Line 23"/>
          <p:cNvSpPr>
            <a:spLocks noChangeShapeType="1"/>
          </p:cNvSpPr>
          <p:nvPr/>
        </p:nvSpPr>
        <p:spPr bwMode="auto">
          <a:xfrm>
            <a:off x="5337175" y="2327275"/>
            <a:ext cx="22669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7581900" y="2266950"/>
            <a:ext cx="93663" cy="952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49" name="Line 25"/>
          <p:cNvSpPr>
            <a:spLocks noChangeShapeType="1"/>
          </p:cNvSpPr>
          <p:nvPr/>
        </p:nvSpPr>
        <p:spPr bwMode="auto">
          <a:xfrm flipV="1">
            <a:off x="5181600" y="2697163"/>
            <a:ext cx="179388" cy="376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0" name="Line 26"/>
          <p:cNvSpPr>
            <a:spLocks noChangeShapeType="1"/>
          </p:cNvSpPr>
          <p:nvPr/>
        </p:nvSpPr>
        <p:spPr bwMode="auto">
          <a:xfrm>
            <a:off x="5357813" y="2695575"/>
            <a:ext cx="2276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7588250" y="2646363"/>
            <a:ext cx="93663" cy="968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2" name="Line 28"/>
          <p:cNvSpPr>
            <a:spLocks noChangeShapeType="1"/>
          </p:cNvSpPr>
          <p:nvPr/>
        </p:nvSpPr>
        <p:spPr bwMode="auto">
          <a:xfrm>
            <a:off x="5181600" y="3078163"/>
            <a:ext cx="179388" cy="376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3" name="Line 29"/>
          <p:cNvSpPr>
            <a:spLocks noChangeShapeType="1"/>
          </p:cNvSpPr>
          <p:nvPr/>
        </p:nvSpPr>
        <p:spPr bwMode="auto">
          <a:xfrm>
            <a:off x="5357813" y="3454400"/>
            <a:ext cx="229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4" name="Oval 30"/>
          <p:cNvSpPr>
            <a:spLocks noChangeArrowheads="1"/>
          </p:cNvSpPr>
          <p:nvPr/>
        </p:nvSpPr>
        <p:spPr bwMode="auto">
          <a:xfrm>
            <a:off x="7604125" y="3408363"/>
            <a:ext cx="93663" cy="96837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5" name="Line 31"/>
          <p:cNvSpPr>
            <a:spLocks noChangeShapeType="1"/>
          </p:cNvSpPr>
          <p:nvPr/>
        </p:nvSpPr>
        <p:spPr bwMode="auto">
          <a:xfrm flipV="1">
            <a:off x="5164138" y="3979863"/>
            <a:ext cx="179387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Line 32"/>
          <p:cNvSpPr>
            <a:spLocks noChangeShapeType="1"/>
          </p:cNvSpPr>
          <p:nvPr/>
        </p:nvSpPr>
        <p:spPr bwMode="auto">
          <a:xfrm>
            <a:off x="5340350" y="3979863"/>
            <a:ext cx="2309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Oval 33"/>
          <p:cNvSpPr>
            <a:spLocks noChangeArrowheads="1"/>
          </p:cNvSpPr>
          <p:nvPr/>
        </p:nvSpPr>
        <p:spPr bwMode="auto">
          <a:xfrm>
            <a:off x="7618413" y="3929063"/>
            <a:ext cx="93662" cy="952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8" name="Line 34"/>
          <p:cNvSpPr>
            <a:spLocks noChangeShapeType="1"/>
          </p:cNvSpPr>
          <p:nvPr/>
        </p:nvSpPr>
        <p:spPr bwMode="auto">
          <a:xfrm>
            <a:off x="5164138" y="4362450"/>
            <a:ext cx="179387" cy="3762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9" name="Line 35"/>
          <p:cNvSpPr>
            <a:spLocks noChangeShapeType="1"/>
          </p:cNvSpPr>
          <p:nvPr/>
        </p:nvSpPr>
        <p:spPr bwMode="auto">
          <a:xfrm>
            <a:off x="5340350" y="4738688"/>
            <a:ext cx="2309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60" name="Oval 36"/>
          <p:cNvSpPr>
            <a:spLocks noChangeArrowheads="1"/>
          </p:cNvSpPr>
          <p:nvPr/>
        </p:nvSpPr>
        <p:spPr bwMode="auto">
          <a:xfrm>
            <a:off x="7616825" y="4676775"/>
            <a:ext cx="93663" cy="952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61" name="Rectangle 37"/>
          <p:cNvSpPr>
            <a:spLocks noChangeArrowheads="1"/>
          </p:cNvSpPr>
          <p:nvPr/>
        </p:nvSpPr>
        <p:spPr bwMode="auto">
          <a:xfrm>
            <a:off x="1622425" y="1624013"/>
            <a:ext cx="965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Buy A</a:t>
            </a:r>
          </a:p>
        </p:txBody>
      </p:sp>
      <p:sp>
        <p:nvSpPr>
          <p:cNvPr id="52262" name="Rectangle 38"/>
          <p:cNvSpPr>
            <a:spLocks noChangeArrowheads="1"/>
          </p:cNvSpPr>
          <p:nvPr/>
        </p:nvSpPr>
        <p:spPr bwMode="auto">
          <a:xfrm>
            <a:off x="1639888" y="1978025"/>
            <a:ext cx="75723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-18</a:t>
            </a:r>
          </a:p>
        </p:txBody>
      </p:sp>
      <p:sp>
        <p:nvSpPr>
          <p:cNvPr id="52263" name="Rectangle 39"/>
          <p:cNvSpPr>
            <a:spLocks noChangeArrowheads="1"/>
          </p:cNvSpPr>
          <p:nvPr/>
        </p:nvSpPr>
        <p:spPr bwMode="auto">
          <a:xfrm>
            <a:off x="1590675" y="2738438"/>
            <a:ext cx="96361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Buy B</a:t>
            </a:r>
          </a:p>
        </p:txBody>
      </p:sp>
      <p:sp>
        <p:nvSpPr>
          <p:cNvPr id="52264" name="Rectangle 40"/>
          <p:cNvSpPr>
            <a:spLocks noChangeArrowheads="1"/>
          </p:cNvSpPr>
          <p:nvPr/>
        </p:nvSpPr>
        <p:spPr bwMode="auto">
          <a:xfrm>
            <a:off x="1606550" y="3092450"/>
            <a:ext cx="7572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-12</a:t>
            </a:r>
          </a:p>
        </p:txBody>
      </p:sp>
      <p:sp>
        <p:nvSpPr>
          <p:cNvPr id="52265" name="Rectangle 41"/>
          <p:cNvSpPr>
            <a:spLocks noChangeArrowheads="1"/>
          </p:cNvSpPr>
          <p:nvPr/>
        </p:nvSpPr>
        <p:spPr bwMode="auto">
          <a:xfrm>
            <a:off x="1636713" y="4008438"/>
            <a:ext cx="13303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Buy A&amp;B</a:t>
            </a:r>
          </a:p>
        </p:txBody>
      </p:sp>
      <p:sp>
        <p:nvSpPr>
          <p:cNvPr id="52266" name="Rectangle 42"/>
          <p:cNvSpPr>
            <a:spLocks noChangeArrowheads="1"/>
          </p:cNvSpPr>
          <p:nvPr/>
        </p:nvSpPr>
        <p:spPr bwMode="auto">
          <a:xfrm>
            <a:off x="1652588" y="4362450"/>
            <a:ext cx="75723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-30</a:t>
            </a:r>
          </a:p>
        </p:txBody>
      </p:sp>
      <p:sp>
        <p:nvSpPr>
          <p:cNvPr id="52267" name="Rectangle 43"/>
          <p:cNvSpPr>
            <a:spLocks noChangeArrowheads="1"/>
          </p:cNvSpPr>
          <p:nvPr/>
        </p:nvSpPr>
        <p:spPr bwMode="auto">
          <a:xfrm>
            <a:off x="1652588" y="5138738"/>
            <a:ext cx="19002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Buy nothing</a:t>
            </a:r>
          </a:p>
        </p:txBody>
      </p:sp>
      <p:sp>
        <p:nvSpPr>
          <p:cNvPr id="52268" name="Rectangle 44"/>
          <p:cNvSpPr>
            <a:spLocks noChangeArrowheads="1"/>
          </p:cNvSpPr>
          <p:nvPr/>
        </p:nvSpPr>
        <p:spPr bwMode="auto">
          <a:xfrm>
            <a:off x="1684338" y="5522913"/>
            <a:ext cx="7572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0</a:t>
            </a:r>
          </a:p>
        </p:txBody>
      </p:sp>
      <p:sp>
        <p:nvSpPr>
          <p:cNvPr id="52269" name="Rectangle 45"/>
          <p:cNvSpPr>
            <a:spLocks noChangeArrowheads="1"/>
          </p:cNvSpPr>
          <p:nvPr/>
        </p:nvSpPr>
        <p:spPr bwMode="auto">
          <a:xfrm>
            <a:off x="1544638" y="895350"/>
            <a:ext cx="324802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 b="1">
                <a:latin typeface="Times New Roman" pitchFamily="18" charset="0"/>
              </a:rPr>
              <a:t>Land Purchase Decision</a:t>
            </a:r>
          </a:p>
        </p:txBody>
      </p:sp>
      <p:sp>
        <p:nvSpPr>
          <p:cNvPr id="52270" name="Rectangle 46"/>
          <p:cNvSpPr>
            <a:spLocks noChangeArrowheads="1"/>
          </p:cNvSpPr>
          <p:nvPr/>
        </p:nvSpPr>
        <p:spPr bwMode="auto">
          <a:xfrm>
            <a:off x="5199063" y="909638"/>
            <a:ext cx="2297112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 b="1">
                <a:latin typeface="Times New Roman" pitchFamily="18" charset="0"/>
              </a:rPr>
              <a:t>Airport Location</a:t>
            </a:r>
          </a:p>
        </p:txBody>
      </p:sp>
      <p:sp>
        <p:nvSpPr>
          <p:cNvPr id="52271" name="Rectangle 47"/>
          <p:cNvSpPr>
            <a:spLocks noChangeArrowheads="1"/>
          </p:cNvSpPr>
          <p:nvPr/>
        </p:nvSpPr>
        <p:spPr bwMode="auto">
          <a:xfrm>
            <a:off x="4962525" y="1422400"/>
            <a:ext cx="33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A</a:t>
            </a:r>
          </a:p>
        </p:txBody>
      </p:sp>
      <p:sp>
        <p:nvSpPr>
          <p:cNvPr id="52272" name="Rectangle 48"/>
          <p:cNvSpPr>
            <a:spLocks noChangeArrowheads="1"/>
          </p:cNvSpPr>
          <p:nvPr/>
        </p:nvSpPr>
        <p:spPr bwMode="auto">
          <a:xfrm>
            <a:off x="5024438" y="2119313"/>
            <a:ext cx="3317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B</a:t>
            </a:r>
          </a:p>
        </p:txBody>
      </p:sp>
      <p:sp>
        <p:nvSpPr>
          <p:cNvPr id="52273" name="Rectangle 49"/>
          <p:cNvSpPr>
            <a:spLocks noChangeArrowheads="1"/>
          </p:cNvSpPr>
          <p:nvPr/>
        </p:nvSpPr>
        <p:spPr bwMode="auto">
          <a:xfrm>
            <a:off x="5010150" y="2540000"/>
            <a:ext cx="33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A</a:t>
            </a:r>
          </a:p>
        </p:txBody>
      </p:sp>
      <p:sp>
        <p:nvSpPr>
          <p:cNvPr id="52274" name="Rectangle 50"/>
          <p:cNvSpPr>
            <a:spLocks noChangeArrowheads="1"/>
          </p:cNvSpPr>
          <p:nvPr/>
        </p:nvSpPr>
        <p:spPr bwMode="auto">
          <a:xfrm>
            <a:off x="5038725" y="3235325"/>
            <a:ext cx="33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B</a:t>
            </a:r>
          </a:p>
        </p:txBody>
      </p:sp>
      <p:sp>
        <p:nvSpPr>
          <p:cNvPr id="52275" name="Rectangle 51"/>
          <p:cNvSpPr>
            <a:spLocks noChangeArrowheads="1"/>
          </p:cNvSpPr>
          <p:nvPr/>
        </p:nvSpPr>
        <p:spPr bwMode="auto">
          <a:xfrm>
            <a:off x="5038725" y="4533900"/>
            <a:ext cx="3317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B</a:t>
            </a:r>
          </a:p>
        </p:txBody>
      </p:sp>
      <p:sp>
        <p:nvSpPr>
          <p:cNvPr id="52276" name="Rectangle 52"/>
          <p:cNvSpPr>
            <a:spLocks noChangeArrowheads="1"/>
          </p:cNvSpPr>
          <p:nvPr/>
        </p:nvSpPr>
        <p:spPr bwMode="auto">
          <a:xfrm>
            <a:off x="5008563" y="3822700"/>
            <a:ext cx="33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A</a:t>
            </a:r>
          </a:p>
        </p:txBody>
      </p:sp>
      <p:sp>
        <p:nvSpPr>
          <p:cNvPr id="52277" name="Rectangle 53"/>
          <p:cNvSpPr>
            <a:spLocks noChangeArrowheads="1"/>
          </p:cNvSpPr>
          <p:nvPr/>
        </p:nvSpPr>
        <p:spPr bwMode="auto">
          <a:xfrm>
            <a:off x="7800975" y="941388"/>
            <a:ext cx="100488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200" b="1">
                <a:latin typeface="Times New Roman" pitchFamily="18" charset="0"/>
              </a:rPr>
              <a:t>Payoff</a:t>
            </a:r>
          </a:p>
        </p:txBody>
      </p:sp>
      <p:sp>
        <p:nvSpPr>
          <p:cNvPr id="52278" name="Rectangle 54"/>
          <p:cNvSpPr>
            <a:spLocks noChangeArrowheads="1"/>
          </p:cNvSpPr>
          <p:nvPr/>
        </p:nvSpPr>
        <p:spPr bwMode="auto">
          <a:xfrm>
            <a:off x="8029575" y="1406525"/>
            <a:ext cx="538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13</a:t>
            </a:r>
          </a:p>
        </p:txBody>
      </p:sp>
      <p:sp>
        <p:nvSpPr>
          <p:cNvPr id="52279" name="Rectangle 55"/>
          <p:cNvSpPr>
            <a:spLocks noChangeArrowheads="1"/>
          </p:cNvSpPr>
          <p:nvPr/>
        </p:nvSpPr>
        <p:spPr bwMode="auto">
          <a:xfrm>
            <a:off x="7926388" y="2085975"/>
            <a:ext cx="7762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-12</a:t>
            </a:r>
          </a:p>
        </p:txBody>
      </p:sp>
      <p:sp>
        <p:nvSpPr>
          <p:cNvPr id="52280" name="Rectangle 56"/>
          <p:cNvSpPr>
            <a:spLocks noChangeArrowheads="1"/>
          </p:cNvSpPr>
          <p:nvPr/>
        </p:nvSpPr>
        <p:spPr bwMode="auto">
          <a:xfrm>
            <a:off x="8026400" y="2565400"/>
            <a:ext cx="538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-8</a:t>
            </a:r>
          </a:p>
        </p:txBody>
      </p:sp>
      <p:sp>
        <p:nvSpPr>
          <p:cNvPr id="52281" name="Rectangle 57"/>
          <p:cNvSpPr>
            <a:spLocks noChangeArrowheads="1"/>
          </p:cNvSpPr>
          <p:nvPr/>
        </p:nvSpPr>
        <p:spPr bwMode="auto">
          <a:xfrm>
            <a:off x="8070850" y="3263900"/>
            <a:ext cx="538163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11</a:t>
            </a:r>
          </a:p>
        </p:txBody>
      </p:sp>
      <p:sp>
        <p:nvSpPr>
          <p:cNvPr id="52282" name="Rectangle 58"/>
          <p:cNvSpPr>
            <a:spLocks noChangeArrowheads="1"/>
          </p:cNvSpPr>
          <p:nvPr/>
        </p:nvSpPr>
        <p:spPr bwMode="auto">
          <a:xfrm>
            <a:off x="8089900" y="3821113"/>
            <a:ext cx="5381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5</a:t>
            </a:r>
          </a:p>
        </p:txBody>
      </p:sp>
      <p:sp>
        <p:nvSpPr>
          <p:cNvPr id="52283" name="Rectangle 59"/>
          <p:cNvSpPr>
            <a:spLocks noChangeArrowheads="1"/>
          </p:cNvSpPr>
          <p:nvPr/>
        </p:nvSpPr>
        <p:spPr bwMode="auto">
          <a:xfrm>
            <a:off x="8040688" y="4500563"/>
            <a:ext cx="5397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-1</a:t>
            </a:r>
          </a:p>
        </p:txBody>
      </p:sp>
      <p:sp>
        <p:nvSpPr>
          <p:cNvPr id="52284" name="Rectangle 60"/>
          <p:cNvSpPr>
            <a:spLocks noChangeArrowheads="1"/>
          </p:cNvSpPr>
          <p:nvPr/>
        </p:nvSpPr>
        <p:spPr bwMode="auto">
          <a:xfrm>
            <a:off x="5292725" y="1547813"/>
            <a:ext cx="474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31</a:t>
            </a:r>
          </a:p>
        </p:txBody>
      </p:sp>
      <p:sp>
        <p:nvSpPr>
          <p:cNvPr id="52285" name="Rectangle 61"/>
          <p:cNvSpPr>
            <a:spLocks noChangeArrowheads="1"/>
          </p:cNvSpPr>
          <p:nvPr/>
        </p:nvSpPr>
        <p:spPr bwMode="auto">
          <a:xfrm>
            <a:off x="5259388" y="2252662"/>
            <a:ext cx="473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6</a:t>
            </a:r>
          </a:p>
        </p:txBody>
      </p:sp>
      <p:sp>
        <p:nvSpPr>
          <p:cNvPr id="52286" name="Rectangle 62"/>
          <p:cNvSpPr>
            <a:spLocks noChangeArrowheads="1"/>
          </p:cNvSpPr>
          <p:nvPr/>
        </p:nvSpPr>
        <p:spPr bwMode="auto">
          <a:xfrm>
            <a:off x="5245100" y="2678113"/>
            <a:ext cx="473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4</a:t>
            </a:r>
          </a:p>
        </p:txBody>
      </p:sp>
      <p:sp>
        <p:nvSpPr>
          <p:cNvPr id="52287" name="Rectangle 63"/>
          <p:cNvSpPr>
            <a:spLocks noChangeArrowheads="1"/>
          </p:cNvSpPr>
          <p:nvPr/>
        </p:nvSpPr>
        <p:spPr bwMode="auto">
          <a:xfrm>
            <a:off x="5259388" y="3408363"/>
            <a:ext cx="474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23</a:t>
            </a:r>
          </a:p>
        </p:txBody>
      </p:sp>
      <p:sp>
        <p:nvSpPr>
          <p:cNvPr id="52288" name="Rectangle 64"/>
          <p:cNvSpPr>
            <a:spLocks noChangeArrowheads="1"/>
          </p:cNvSpPr>
          <p:nvPr/>
        </p:nvSpPr>
        <p:spPr bwMode="auto">
          <a:xfrm>
            <a:off x="5259388" y="3946525"/>
            <a:ext cx="474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35</a:t>
            </a:r>
          </a:p>
        </p:txBody>
      </p:sp>
      <p:sp>
        <p:nvSpPr>
          <p:cNvPr id="52289" name="Rectangle 65"/>
          <p:cNvSpPr>
            <a:spLocks noChangeArrowheads="1"/>
          </p:cNvSpPr>
          <p:nvPr/>
        </p:nvSpPr>
        <p:spPr bwMode="auto">
          <a:xfrm>
            <a:off x="5241925" y="4695826"/>
            <a:ext cx="474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29</a:t>
            </a:r>
          </a:p>
        </p:txBody>
      </p:sp>
      <p:sp>
        <p:nvSpPr>
          <p:cNvPr id="52290" name="Rectangle 66"/>
          <p:cNvSpPr>
            <a:spLocks noChangeArrowheads="1"/>
          </p:cNvSpPr>
          <p:nvPr/>
        </p:nvSpPr>
        <p:spPr bwMode="auto">
          <a:xfrm>
            <a:off x="5276850" y="1285875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solidFill>
                  <a:srgbClr val="00CC00"/>
                </a:solidFill>
                <a:latin typeface="Times New Roman" pitchFamily="18" charset="0"/>
              </a:rPr>
              <a:t>0.4</a:t>
            </a:r>
          </a:p>
        </p:txBody>
      </p:sp>
      <p:sp>
        <p:nvSpPr>
          <p:cNvPr id="52291" name="Rectangle 67"/>
          <p:cNvSpPr>
            <a:spLocks noChangeArrowheads="1"/>
          </p:cNvSpPr>
          <p:nvPr/>
        </p:nvSpPr>
        <p:spPr bwMode="auto">
          <a:xfrm>
            <a:off x="5241925" y="1970881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>
                <a:solidFill>
                  <a:srgbClr val="00CC00"/>
                </a:solidFill>
                <a:latin typeface="Times New Roman" pitchFamily="18" charset="0"/>
              </a:rPr>
              <a:t>0.6</a:t>
            </a:r>
          </a:p>
        </p:txBody>
      </p:sp>
      <p:sp>
        <p:nvSpPr>
          <p:cNvPr id="52292" name="Rectangle 68"/>
          <p:cNvSpPr>
            <a:spLocks noChangeArrowheads="1"/>
          </p:cNvSpPr>
          <p:nvPr/>
        </p:nvSpPr>
        <p:spPr bwMode="auto">
          <a:xfrm>
            <a:off x="5276850" y="2447925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>
                <a:solidFill>
                  <a:srgbClr val="00CC00"/>
                </a:solidFill>
                <a:latin typeface="Times New Roman" pitchFamily="18" charset="0"/>
              </a:rPr>
              <a:t>0.4</a:t>
            </a:r>
          </a:p>
        </p:txBody>
      </p:sp>
      <p:sp>
        <p:nvSpPr>
          <p:cNvPr id="52293" name="Rectangle 69"/>
          <p:cNvSpPr>
            <a:spLocks noChangeArrowheads="1"/>
          </p:cNvSpPr>
          <p:nvPr/>
        </p:nvSpPr>
        <p:spPr bwMode="auto">
          <a:xfrm>
            <a:off x="5276850" y="3117850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>
                <a:solidFill>
                  <a:srgbClr val="00CC00"/>
                </a:solidFill>
                <a:latin typeface="Times New Roman" pitchFamily="18" charset="0"/>
              </a:rPr>
              <a:t>0.6</a:t>
            </a:r>
          </a:p>
        </p:txBody>
      </p:sp>
      <p:sp>
        <p:nvSpPr>
          <p:cNvPr id="52294" name="Rectangle 70"/>
          <p:cNvSpPr>
            <a:spLocks noChangeArrowheads="1"/>
          </p:cNvSpPr>
          <p:nvPr/>
        </p:nvSpPr>
        <p:spPr bwMode="auto">
          <a:xfrm>
            <a:off x="5276850" y="3695700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>
                <a:solidFill>
                  <a:srgbClr val="00CC00"/>
                </a:solidFill>
                <a:latin typeface="Times New Roman" pitchFamily="18" charset="0"/>
              </a:rPr>
              <a:t>0.4</a:t>
            </a:r>
          </a:p>
        </p:txBody>
      </p:sp>
      <p:sp>
        <p:nvSpPr>
          <p:cNvPr id="52295" name="Rectangle 71"/>
          <p:cNvSpPr>
            <a:spLocks noChangeArrowheads="1"/>
          </p:cNvSpPr>
          <p:nvPr/>
        </p:nvSpPr>
        <p:spPr bwMode="auto">
          <a:xfrm>
            <a:off x="5237957" y="4408488"/>
            <a:ext cx="5715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>
                <a:solidFill>
                  <a:srgbClr val="00CC00"/>
                </a:solidFill>
                <a:latin typeface="Times New Roman" pitchFamily="18" charset="0"/>
              </a:rPr>
              <a:t>0.6</a:t>
            </a:r>
          </a:p>
        </p:txBody>
      </p:sp>
      <p:sp>
        <p:nvSpPr>
          <p:cNvPr id="52296" name="Rectangle 72"/>
          <p:cNvSpPr>
            <a:spLocks noChangeArrowheads="1"/>
          </p:cNvSpPr>
          <p:nvPr/>
        </p:nvSpPr>
        <p:spPr bwMode="auto">
          <a:xfrm>
            <a:off x="3533775" y="1951038"/>
            <a:ext cx="1155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3399FF"/>
                </a:solidFill>
                <a:latin typeface="Times New Roman" pitchFamily="18" charset="0"/>
              </a:rPr>
              <a:t>EMV=-2</a:t>
            </a:r>
          </a:p>
        </p:txBody>
      </p:sp>
      <p:sp>
        <p:nvSpPr>
          <p:cNvPr id="52297" name="Rectangle 73"/>
          <p:cNvSpPr>
            <a:spLocks noChangeArrowheads="1"/>
          </p:cNvSpPr>
          <p:nvPr/>
        </p:nvSpPr>
        <p:spPr bwMode="auto">
          <a:xfrm>
            <a:off x="3535363" y="3106738"/>
            <a:ext cx="1155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3399FF"/>
                </a:solidFill>
                <a:latin typeface="Times New Roman" pitchFamily="18" charset="0"/>
              </a:rPr>
              <a:t>EMV=3.4</a:t>
            </a:r>
          </a:p>
        </p:txBody>
      </p:sp>
      <p:sp>
        <p:nvSpPr>
          <p:cNvPr id="52298" name="Rectangle 74"/>
          <p:cNvSpPr>
            <a:spLocks noChangeArrowheads="1"/>
          </p:cNvSpPr>
          <p:nvPr/>
        </p:nvSpPr>
        <p:spPr bwMode="auto">
          <a:xfrm>
            <a:off x="3500438" y="4365625"/>
            <a:ext cx="1155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3399FF"/>
                </a:solidFill>
                <a:latin typeface="Times New Roman" pitchFamily="18" charset="0"/>
              </a:rPr>
              <a:t>EMV=1.4</a:t>
            </a:r>
          </a:p>
        </p:txBody>
      </p:sp>
      <p:sp>
        <p:nvSpPr>
          <p:cNvPr id="52299" name="Rectangle 75"/>
          <p:cNvSpPr>
            <a:spLocks noChangeArrowheads="1"/>
          </p:cNvSpPr>
          <p:nvPr/>
        </p:nvSpPr>
        <p:spPr bwMode="auto">
          <a:xfrm>
            <a:off x="269875" y="4108450"/>
            <a:ext cx="11557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3399FF"/>
                </a:solidFill>
                <a:latin typeface="Times New Roman" pitchFamily="18" charset="0"/>
              </a:rPr>
              <a:t>EMV=3.4</a:t>
            </a:r>
          </a:p>
        </p:txBody>
      </p:sp>
      <p:grpSp>
        <p:nvGrpSpPr>
          <p:cNvPr id="52302" name="Group 78"/>
          <p:cNvGrpSpPr>
            <a:grpSpLocks/>
          </p:cNvGrpSpPr>
          <p:nvPr/>
        </p:nvGrpSpPr>
        <p:grpSpPr bwMode="auto">
          <a:xfrm>
            <a:off x="3294063" y="1660525"/>
            <a:ext cx="50800" cy="527050"/>
            <a:chOff x="2075" y="1046"/>
            <a:chExt cx="32" cy="332"/>
          </a:xfrm>
        </p:grpSpPr>
        <p:sp>
          <p:nvSpPr>
            <p:cNvPr id="52300" name="Line 76"/>
            <p:cNvSpPr>
              <a:spLocks noChangeShapeType="1"/>
            </p:cNvSpPr>
            <p:nvPr/>
          </p:nvSpPr>
          <p:spPr bwMode="auto">
            <a:xfrm>
              <a:off x="2075" y="1047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1" name="Line 77"/>
            <p:cNvSpPr>
              <a:spLocks noChangeShapeType="1"/>
            </p:cNvSpPr>
            <p:nvPr/>
          </p:nvSpPr>
          <p:spPr bwMode="auto">
            <a:xfrm>
              <a:off x="2107" y="1046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305" name="Group 81"/>
          <p:cNvGrpSpPr>
            <a:grpSpLocks/>
          </p:cNvGrpSpPr>
          <p:nvPr/>
        </p:nvGrpSpPr>
        <p:grpSpPr bwMode="auto">
          <a:xfrm>
            <a:off x="3311525" y="4090988"/>
            <a:ext cx="50800" cy="527050"/>
            <a:chOff x="2086" y="2577"/>
            <a:chExt cx="32" cy="332"/>
          </a:xfrm>
        </p:grpSpPr>
        <p:sp>
          <p:nvSpPr>
            <p:cNvPr id="52303" name="Line 79"/>
            <p:cNvSpPr>
              <a:spLocks noChangeShapeType="1"/>
            </p:cNvSpPr>
            <p:nvPr/>
          </p:nvSpPr>
          <p:spPr bwMode="auto">
            <a:xfrm>
              <a:off x="2086" y="2578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4" name="Line 80"/>
            <p:cNvSpPr>
              <a:spLocks noChangeShapeType="1"/>
            </p:cNvSpPr>
            <p:nvPr/>
          </p:nvSpPr>
          <p:spPr bwMode="auto">
            <a:xfrm>
              <a:off x="2118" y="2577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308" name="Group 84"/>
          <p:cNvGrpSpPr>
            <a:grpSpLocks/>
          </p:cNvGrpSpPr>
          <p:nvPr/>
        </p:nvGrpSpPr>
        <p:grpSpPr bwMode="auto">
          <a:xfrm>
            <a:off x="3311525" y="5180013"/>
            <a:ext cx="50800" cy="527050"/>
            <a:chOff x="2086" y="3263"/>
            <a:chExt cx="32" cy="332"/>
          </a:xfrm>
        </p:grpSpPr>
        <p:sp>
          <p:nvSpPr>
            <p:cNvPr id="52306" name="Line 82"/>
            <p:cNvSpPr>
              <a:spLocks noChangeShapeType="1"/>
            </p:cNvSpPr>
            <p:nvPr/>
          </p:nvSpPr>
          <p:spPr bwMode="auto">
            <a:xfrm>
              <a:off x="2086" y="3264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7" name="Line 83"/>
            <p:cNvSpPr>
              <a:spLocks noChangeShapeType="1"/>
            </p:cNvSpPr>
            <p:nvPr/>
          </p:nvSpPr>
          <p:spPr bwMode="auto">
            <a:xfrm>
              <a:off x="2118" y="3263"/>
              <a:ext cx="0" cy="331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2309" name="Oval 85"/>
          <p:cNvSpPr>
            <a:spLocks noChangeArrowheads="1"/>
          </p:cNvSpPr>
          <p:nvPr/>
        </p:nvSpPr>
        <p:spPr bwMode="auto">
          <a:xfrm>
            <a:off x="4611688" y="5448300"/>
            <a:ext cx="93662" cy="9525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310" name="Line 86"/>
          <p:cNvSpPr>
            <a:spLocks noChangeShapeType="1"/>
          </p:cNvSpPr>
          <p:nvPr/>
        </p:nvSpPr>
        <p:spPr bwMode="auto">
          <a:xfrm>
            <a:off x="4673600" y="5500688"/>
            <a:ext cx="297021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311" name="Rectangle 87"/>
          <p:cNvSpPr>
            <a:spLocks noChangeArrowheads="1"/>
          </p:cNvSpPr>
          <p:nvPr/>
        </p:nvSpPr>
        <p:spPr bwMode="auto">
          <a:xfrm>
            <a:off x="8074025" y="5283200"/>
            <a:ext cx="53975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200">
                <a:latin typeface="Times New Roman" pitchFamily="18" charset="0"/>
              </a:rPr>
              <a:t>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801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Using ASP’s Decision Tree Tool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276350"/>
            <a:ext cx="8137525" cy="1085850"/>
          </a:xfrm>
          <a:noFill/>
          <a:ln/>
        </p:spPr>
        <p:txBody>
          <a:bodyPr lIns="92075" tIns="46038" rIns="92075" bIns="46038"/>
          <a:lstStyle/>
          <a:p>
            <a:pPr marL="0" indent="0" algn="ctr" eaLnBrk="0" hangingPunct="0">
              <a:lnSpc>
                <a:spcPct val="120000"/>
              </a:lnSpc>
              <a:buNone/>
            </a:pPr>
            <a:r>
              <a:rPr lang="en-US" sz="2800" dirty="0"/>
              <a:t>See file </a:t>
            </a:r>
            <a:r>
              <a:rPr lang="en-US" sz="2800" dirty="0">
                <a:hlinkClick r:id="rId3" action="ppaction://hlinkfile"/>
              </a:rPr>
              <a:t>Fig14-19.xlsm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77825"/>
            <a:ext cx="7772400" cy="5270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Multi-stage Decision Problems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000125"/>
            <a:ext cx="7772400" cy="4152900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</a:pPr>
            <a:r>
              <a:rPr lang="en-US" sz="2600" dirty="0"/>
              <a:t>Many problems involve a series of decisions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Example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Should you go out to dinner tonight?</a:t>
            </a:r>
          </a:p>
          <a:p>
            <a:pPr lvl="1" eaLnBrk="0" hangingPunct="0">
              <a:lnSpc>
                <a:spcPct val="90000"/>
              </a:lnSpc>
            </a:pPr>
            <a:r>
              <a:rPr lang="en-US" sz="2600" dirty="0"/>
              <a:t>If so,</a:t>
            </a:r>
          </a:p>
          <a:p>
            <a:pPr lvl="2" eaLnBrk="0" hangingPunct="0">
              <a:lnSpc>
                <a:spcPct val="90000"/>
              </a:lnSpc>
              <a:buClr>
                <a:srgbClr val="FFFFFF"/>
              </a:buClr>
            </a:pPr>
            <a:r>
              <a:rPr lang="en-US" sz="2600" dirty="0"/>
              <a:t>How much will you spend?</a:t>
            </a:r>
          </a:p>
          <a:p>
            <a:pPr lvl="2" eaLnBrk="0" hangingPunct="0">
              <a:lnSpc>
                <a:spcPct val="90000"/>
              </a:lnSpc>
              <a:buClr>
                <a:srgbClr val="FFFFFF"/>
              </a:buClr>
            </a:pPr>
            <a:r>
              <a:rPr lang="en-US" sz="2600" dirty="0"/>
              <a:t>Where will you go?</a:t>
            </a:r>
          </a:p>
          <a:p>
            <a:pPr lvl="2" eaLnBrk="0" hangingPunct="0">
              <a:lnSpc>
                <a:spcPct val="90000"/>
              </a:lnSpc>
              <a:buClr>
                <a:srgbClr val="FFFFFF"/>
              </a:buClr>
            </a:pPr>
            <a:r>
              <a:rPr lang="en-US" sz="2600" dirty="0"/>
              <a:t>How will you get there?</a:t>
            </a:r>
          </a:p>
          <a:p>
            <a:pPr eaLnBrk="0" hangingPunct="0">
              <a:lnSpc>
                <a:spcPct val="90000"/>
              </a:lnSpc>
            </a:pPr>
            <a:r>
              <a:rPr lang="en-US" sz="2600" dirty="0"/>
              <a:t>Multistage decisions can be analyzed using decision trees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826500" cy="479425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80000"/>
              </a:lnSpc>
            </a:pPr>
            <a:r>
              <a:rPr lang="en-US" sz="3600" i="1">
                <a:solidFill>
                  <a:schemeClr val="hlink"/>
                </a:solidFill>
              </a:rPr>
              <a:t>Multi-Stage Decision Example: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COM-TECH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013" y="1066800"/>
            <a:ext cx="8256587" cy="2922588"/>
          </a:xfrm>
          <a:noFill/>
          <a:ln/>
        </p:spPr>
        <p:txBody>
          <a:bodyPr lIns="92075" tIns="46038" rIns="92075" bIns="46038"/>
          <a:lstStyle/>
          <a:p>
            <a:pPr defTabSz="922338" eaLnBrk="0" hangingPunct="0">
              <a:lnSpc>
                <a:spcPct val="90000"/>
              </a:lnSpc>
              <a:tabLst>
                <a:tab pos="2806700" algn="ctr"/>
                <a:tab pos="5033963" algn="ctr"/>
              </a:tabLst>
            </a:pPr>
            <a:r>
              <a:rPr lang="en-US" sz="2200" dirty="0"/>
              <a:t>Steve Hinton, owner of COM-TECH, is considering whether to apply for a $85,000 OSHA research grant for using wireless communications technology to enhance safety in the coal industry. </a:t>
            </a:r>
          </a:p>
          <a:p>
            <a:pPr defTabSz="922338" eaLnBrk="0" hangingPunct="0">
              <a:lnSpc>
                <a:spcPct val="90000"/>
              </a:lnSpc>
              <a:tabLst>
                <a:tab pos="2806700" algn="ctr"/>
                <a:tab pos="5033963" algn="ctr"/>
              </a:tabLst>
            </a:pPr>
            <a:r>
              <a:rPr lang="en-US" sz="2200" dirty="0"/>
              <a:t>Steve would spend approximately $5,000 preparing the grant proposal and estimates a 50-50 chance of receiving the grant. </a:t>
            </a:r>
          </a:p>
          <a:p>
            <a:pPr defTabSz="922338" eaLnBrk="0" hangingPunct="0">
              <a:lnSpc>
                <a:spcPct val="90000"/>
              </a:lnSpc>
              <a:tabLst>
                <a:tab pos="2806700" algn="ctr"/>
                <a:tab pos="5033963" algn="ctr"/>
              </a:tabLst>
            </a:pPr>
            <a:r>
              <a:rPr lang="en-US" sz="2200" dirty="0"/>
              <a:t>If awarded the grant, Steve would need to decide whether to use microwave, cellular, or infrared communications technology. </a:t>
            </a: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350838" y="4038600"/>
            <a:ext cx="8412162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200" dirty="0">
                <a:latin typeface="Tahoma" pitchFamily="34" charset="0"/>
              </a:rPr>
              <a:t>Steve would need to acquire some new equipment depending on which technology is used…</a:t>
            </a:r>
          </a:p>
        </p:txBody>
      </p:sp>
      <p:grpSp>
        <p:nvGrpSpPr>
          <p:cNvPr id="60427" name="Group 11"/>
          <p:cNvGrpSpPr>
            <a:grpSpLocks/>
          </p:cNvGrpSpPr>
          <p:nvPr/>
        </p:nvGrpSpPr>
        <p:grpSpPr bwMode="auto">
          <a:xfrm>
            <a:off x="1406525" y="4724400"/>
            <a:ext cx="7127875" cy="1752600"/>
            <a:chOff x="886" y="2976"/>
            <a:chExt cx="4490" cy="1104"/>
          </a:xfrm>
        </p:grpSpPr>
        <p:grpSp>
          <p:nvGrpSpPr>
            <p:cNvPr id="60422" name="Group 6"/>
            <p:cNvGrpSpPr>
              <a:grpSpLocks/>
            </p:cNvGrpSpPr>
            <p:nvPr/>
          </p:nvGrpSpPr>
          <p:grpSpPr bwMode="auto">
            <a:xfrm>
              <a:off x="886" y="2976"/>
              <a:ext cx="3762" cy="990"/>
              <a:chOff x="748" y="2792"/>
              <a:chExt cx="3932" cy="990"/>
            </a:xfrm>
          </p:grpSpPr>
          <p:sp>
            <p:nvSpPr>
              <p:cNvPr id="60420" name="Line 4"/>
              <p:cNvSpPr>
                <a:spLocks noChangeShapeType="1"/>
              </p:cNvSpPr>
              <p:nvPr/>
            </p:nvSpPr>
            <p:spPr bwMode="auto">
              <a:xfrm>
                <a:off x="1477" y="3049"/>
                <a:ext cx="25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21" name="Rectangle 5"/>
              <p:cNvSpPr>
                <a:spLocks noChangeArrowheads="1"/>
              </p:cNvSpPr>
              <p:nvPr/>
            </p:nvSpPr>
            <p:spPr bwMode="auto">
              <a:xfrm>
                <a:off x="748" y="2792"/>
                <a:ext cx="3932" cy="9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tabLst>
                    <a:tab pos="1887538" algn="ctr"/>
                    <a:tab pos="4116388" algn="ctr"/>
                  </a:tabLst>
                </a:pPr>
                <a:r>
                  <a:rPr lang="en-US" sz="2200" dirty="0"/>
                  <a:t>	Technology	Equipment Cost	</a:t>
                </a:r>
              </a:p>
              <a:p>
                <a:pPr eaLnBrk="0" hangingPunct="0">
                  <a:spcBef>
                    <a:spcPct val="20000"/>
                  </a:spcBef>
                  <a:tabLst>
                    <a:tab pos="1887538" algn="ctr"/>
                    <a:tab pos="4116388" algn="ctr"/>
                  </a:tabLst>
                </a:pPr>
                <a:r>
                  <a:rPr lang="en-US" sz="2200" dirty="0"/>
                  <a:t>	Microwave	$4,000	</a:t>
                </a:r>
              </a:p>
              <a:p>
                <a:pPr eaLnBrk="0" hangingPunct="0">
                  <a:spcBef>
                    <a:spcPct val="20000"/>
                  </a:spcBef>
                  <a:tabLst>
                    <a:tab pos="1887538" algn="ctr"/>
                    <a:tab pos="4116388" algn="ctr"/>
                  </a:tabLst>
                </a:pPr>
                <a:r>
                  <a:rPr lang="en-US" sz="2200" dirty="0"/>
                  <a:t>	Cellular	$5,000</a:t>
                </a:r>
              </a:p>
              <a:p>
                <a:pPr eaLnBrk="0" hangingPunct="0">
                  <a:lnSpc>
                    <a:spcPct val="60000"/>
                  </a:lnSpc>
                  <a:spcBef>
                    <a:spcPct val="20000"/>
                  </a:spcBef>
                  <a:tabLst>
                    <a:tab pos="1887538" algn="ctr"/>
                    <a:tab pos="4116388" algn="ctr"/>
                  </a:tabLst>
                </a:pPr>
                <a:r>
                  <a:rPr lang="en-US" sz="2200" dirty="0"/>
                  <a:t>	Infrared	$4,000	</a:t>
                </a:r>
                <a:r>
                  <a:rPr lang="en-US" sz="2800" b="1" dirty="0">
                    <a:latin typeface="Times New Roman" pitchFamily="18" charset="0"/>
                  </a:rPr>
                  <a:t>	</a:t>
                </a:r>
              </a:p>
            </p:txBody>
          </p:sp>
        </p:grp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4444" y="3849"/>
              <a:ext cx="9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i="1">
                  <a:solidFill>
                    <a:schemeClr val="tx2"/>
                  </a:solidFill>
                </a:rPr>
                <a:t>continued...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849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 autoUpdateAnimBg="0"/>
      <p:bldP spid="6042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461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COM-TECH</a:t>
            </a:r>
            <a:r>
              <a:rPr lang="en-US" sz="4000" i="1">
                <a:solidFill>
                  <a:schemeClr val="hlink"/>
                </a:solidFill>
              </a:rPr>
              <a:t> </a:t>
            </a:r>
            <a:r>
              <a:rPr lang="en-US" sz="2400" i="1">
                <a:solidFill>
                  <a:schemeClr val="hlink"/>
                </a:solidFill>
              </a:rPr>
              <a:t>(continued)</a:t>
            </a: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404813" y="4759325"/>
            <a:ext cx="8588375" cy="1582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marL="339725" indent="-339725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200" dirty="0">
                <a:latin typeface="Tahoma" pitchFamily="34" charset="0"/>
              </a:rPr>
              <a:t>Steve needs to synthesize all the factors in this problem to decide whether or not to submit a grant proposal to OSHA.</a:t>
            </a:r>
          </a:p>
          <a:p>
            <a:pPr marL="339725" indent="-339725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200" dirty="0">
                <a:latin typeface="Tahoma" pitchFamily="34" charset="0"/>
              </a:rPr>
              <a:t>See file </a:t>
            </a:r>
            <a:r>
              <a:rPr lang="en-US" sz="2200" dirty="0">
                <a:latin typeface="Tahoma" pitchFamily="34" charset="0"/>
                <a:hlinkClick r:id="rId3" action="ppaction://hlinkfile"/>
              </a:rPr>
              <a:t>Fig14-20.xlsm</a:t>
            </a:r>
            <a:endParaRPr lang="en-US" sz="2200" dirty="0">
              <a:latin typeface="Tahoma" pitchFamily="34" charset="0"/>
            </a:endParaRPr>
          </a:p>
          <a:p>
            <a:pPr marL="339725" indent="-339725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endParaRPr lang="en-US" sz="2200" dirty="0">
              <a:latin typeface="Tahoma" pitchFamily="34" charset="0"/>
            </a:endParaRPr>
          </a:p>
        </p:txBody>
      </p:sp>
      <p:grpSp>
        <p:nvGrpSpPr>
          <p:cNvPr id="62472" name="Group 8"/>
          <p:cNvGrpSpPr>
            <a:grpSpLocks/>
          </p:cNvGrpSpPr>
          <p:nvPr/>
        </p:nvGrpSpPr>
        <p:grpSpPr bwMode="auto">
          <a:xfrm>
            <a:off x="473075" y="1206500"/>
            <a:ext cx="8588375" cy="3365500"/>
            <a:chOff x="298" y="490"/>
            <a:chExt cx="5410" cy="2120"/>
          </a:xfrm>
        </p:grpSpPr>
        <p:sp>
          <p:nvSpPr>
            <p:cNvPr id="62468" name="Rectangle 4"/>
            <p:cNvSpPr>
              <a:spLocks noChangeArrowheads="1"/>
            </p:cNvSpPr>
            <p:nvPr/>
          </p:nvSpPr>
          <p:spPr bwMode="auto">
            <a:xfrm>
              <a:off x="995" y="1582"/>
              <a:ext cx="3941" cy="10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defTabSz="909638" eaLnBrk="0" hangingPunct="0">
                <a:spcBef>
                  <a:spcPct val="20000"/>
                </a:spcBef>
                <a:tabLst>
                  <a:tab pos="2279650" algn="ctr"/>
                  <a:tab pos="3316288" algn="ctr"/>
                  <a:tab pos="4575175" algn="ctr"/>
                  <a:tab pos="5595938" algn="ctr"/>
                </a:tabLst>
              </a:pPr>
              <a:r>
                <a:rPr lang="en-US" sz="2200" b="1" dirty="0">
                  <a:latin typeface="Tahoma" pitchFamily="34" charset="0"/>
                </a:rPr>
                <a:t>	</a:t>
              </a:r>
              <a:r>
                <a:rPr lang="en-US" sz="2200" dirty="0">
                  <a:latin typeface="Tahoma" pitchFamily="34" charset="0"/>
                </a:rPr>
                <a:t>Cost 	Prob.	Cost 	Prob.</a:t>
              </a:r>
            </a:p>
            <a:p>
              <a:pPr defTabSz="909638" eaLnBrk="0" hangingPunct="0">
                <a:spcBef>
                  <a:spcPct val="20000"/>
                </a:spcBef>
                <a:tabLst>
                  <a:tab pos="2279650" algn="ctr"/>
                  <a:tab pos="3316288" algn="ctr"/>
                  <a:tab pos="4575175" algn="ctr"/>
                  <a:tab pos="5595938" algn="ctr"/>
                </a:tabLst>
              </a:pPr>
              <a:r>
                <a:rPr lang="en-US" sz="2200" dirty="0">
                  <a:latin typeface="Tahoma" pitchFamily="34" charset="0"/>
                </a:rPr>
                <a:t>Microwave	$30,000 	0.4	$60,000 	0.6</a:t>
              </a:r>
            </a:p>
            <a:p>
              <a:pPr defTabSz="909638" eaLnBrk="0" hangingPunct="0">
                <a:spcBef>
                  <a:spcPct val="20000"/>
                </a:spcBef>
                <a:tabLst>
                  <a:tab pos="2279650" algn="ctr"/>
                  <a:tab pos="3316288" algn="ctr"/>
                  <a:tab pos="4575175" algn="ctr"/>
                  <a:tab pos="5595938" algn="ctr"/>
                </a:tabLst>
              </a:pPr>
              <a:r>
                <a:rPr lang="en-US" sz="2200" dirty="0">
                  <a:latin typeface="Tahoma" pitchFamily="34" charset="0"/>
                </a:rPr>
                <a:t>Cellular	$40,000 	0.8	$70,000 	0.2</a:t>
              </a:r>
            </a:p>
            <a:p>
              <a:pPr defTabSz="909638" eaLnBrk="0" hangingPunct="0">
                <a:spcBef>
                  <a:spcPct val="20000"/>
                </a:spcBef>
                <a:tabLst>
                  <a:tab pos="2279650" algn="ctr"/>
                  <a:tab pos="3316288" algn="ctr"/>
                  <a:tab pos="4575175" algn="ctr"/>
                  <a:tab pos="5595938" algn="ctr"/>
                </a:tabLst>
              </a:pPr>
              <a:r>
                <a:rPr lang="en-US" sz="2200" dirty="0">
                  <a:latin typeface="Tahoma" pitchFamily="34" charset="0"/>
                </a:rPr>
                <a:t>Infrared	$40,000 	0.9	$80,000 	0.1</a:t>
              </a:r>
            </a:p>
          </p:txBody>
        </p:sp>
        <p:sp>
          <p:nvSpPr>
            <p:cNvPr id="62469" name="Rectangle 5"/>
            <p:cNvSpPr>
              <a:spLocks noChangeArrowheads="1"/>
            </p:cNvSpPr>
            <p:nvPr/>
          </p:nvSpPr>
          <p:spPr bwMode="auto">
            <a:xfrm>
              <a:off x="1080" y="1356"/>
              <a:ext cx="390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tabLst>
                  <a:tab pos="2636838" algn="ctr"/>
                  <a:tab pos="4864100" algn="ctr"/>
                </a:tabLst>
              </a:pPr>
              <a:r>
                <a:rPr lang="en-US" sz="2200" b="1"/>
                <a:t>	</a:t>
              </a:r>
              <a:r>
                <a:rPr lang="en-US" sz="2200">
                  <a:latin typeface="Tahoma" pitchFamily="34" charset="0"/>
                </a:rPr>
                <a:t>Best Case 	Worst Case</a:t>
              </a:r>
            </a:p>
          </p:txBody>
        </p:sp>
        <p:sp>
          <p:nvSpPr>
            <p:cNvPr id="62470" name="Line 6"/>
            <p:cNvSpPr>
              <a:spLocks noChangeShapeType="1"/>
            </p:cNvSpPr>
            <p:nvPr/>
          </p:nvSpPr>
          <p:spPr bwMode="auto">
            <a:xfrm>
              <a:off x="1006" y="1838"/>
              <a:ext cx="3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471" name="Rectangle 7"/>
            <p:cNvSpPr>
              <a:spLocks noChangeArrowheads="1"/>
            </p:cNvSpPr>
            <p:nvPr/>
          </p:nvSpPr>
          <p:spPr bwMode="auto">
            <a:xfrm>
              <a:off x="298" y="490"/>
              <a:ext cx="5410" cy="9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marL="339725" indent="-339725" eaLnBrk="0" hangingPunct="0">
                <a:spcBef>
                  <a:spcPct val="50000"/>
                </a:spcBef>
                <a:buClr>
                  <a:schemeClr val="hlink"/>
                </a:buClr>
                <a:buFont typeface="Wingdings" pitchFamily="2" charset="2"/>
                <a:buChar char="§"/>
              </a:pPr>
              <a:r>
                <a:rPr lang="en-US" sz="2200" dirty="0">
                  <a:latin typeface="Tahoma" pitchFamily="34" charset="0"/>
                </a:rPr>
                <a:t>Steve knows he will also spend money in R&amp;D, but he doesn’t know exactly what the R&amp;D costs will be. Steve estimates the following best case and worst case R&amp;D costs and probabilities, based on his expertise in each area.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47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534400" cy="500063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110000"/>
              </a:lnSpc>
            </a:pPr>
            <a:r>
              <a:rPr lang="en-US" sz="3600" i="1">
                <a:solidFill>
                  <a:schemeClr val="hlink"/>
                </a:solidFill>
              </a:rPr>
              <a:t>Using Sample Information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in Decision Making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9113" y="1470025"/>
            <a:ext cx="8356600" cy="3635375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120000"/>
              </a:lnSpc>
            </a:pPr>
            <a:r>
              <a:rPr lang="en-US" sz="2800" dirty="0"/>
              <a:t>We can often obtain information about the possible outcomes of decisions before the decisions are made.</a:t>
            </a:r>
          </a:p>
          <a:p>
            <a:pPr eaLnBrk="0" hangingPunct="0">
              <a:lnSpc>
                <a:spcPct val="120000"/>
              </a:lnSpc>
            </a:pPr>
            <a:r>
              <a:rPr lang="en-US" sz="2800" dirty="0"/>
              <a:t>This </a:t>
            </a:r>
            <a:r>
              <a:rPr lang="en-US" sz="2800" i="1" dirty="0"/>
              <a:t>sample</a:t>
            </a:r>
            <a:r>
              <a:rPr lang="en-US" sz="2800" dirty="0"/>
              <a:t> information allows us to refine probability estimates associated with various outcomes.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61950"/>
            <a:ext cx="7772400" cy="47307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Example: Colonial Motors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990599"/>
            <a:ext cx="8358188" cy="2327635"/>
          </a:xfrm>
          <a:noFill/>
          <a:ln/>
        </p:spPr>
        <p:txBody>
          <a:bodyPr lIns="92075" tIns="46038" rIns="92075" bIns="46038"/>
          <a:lstStyle/>
          <a:p>
            <a:pPr eaLnBrk="0" hangingPunct="0">
              <a:lnSpc>
                <a:spcPct val="90000"/>
              </a:lnSpc>
              <a:tabLst>
                <a:tab pos="4167188" algn="ctr"/>
                <a:tab pos="5033963" algn="ctr"/>
                <a:tab pos="5935663" algn="ctr"/>
              </a:tabLst>
            </a:pPr>
            <a:r>
              <a:rPr lang="en-US" sz="2400" dirty="0"/>
              <a:t>Colonial Motors (CM) needs to determine whether to build a large or small plant for a new car it is developing. </a:t>
            </a:r>
          </a:p>
          <a:p>
            <a:pPr eaLnBrk="0" hangingPunct="0">
              <a:lnSpc>
                <a:spcPct val="90000"/>
              </a:lnSpc>
              <a:tabLst>
                <a:tab pos="4167188" algn="ctr"/>
                <a:tab pos="5033963" algn="ctr"/>
                <a:tab pos="5935663" algn="ctr"/>
              </a:tabLst>
            </a:pPr>
            <a:r>
              <a:rPr lang="en-US" sz="2400" dirty="0"/>
              <a:t>The cost of constructing a large plant is $25 million and the cost of constructing a small plant is $15 million. </a:t>
            </a:r>
          </a:p>
          <a:p>
            <a:pPr eaLnBrk="0" hangingPunct="0">
              <a:lnSpc>
                <a:spcPct val="90000"/>
              </a:lnSpc>
              <a:tabLst>
                <a:tab pos="4167188" algn="ctr"/>
                <a:tab pos="5033963" algn="ctr"/>
                <a:tab pos="5935663" algn="ctr"/>
              </a:tabLst>
            </a:pPr>
            <a:r>
              <a:rPr lang="en-US" sz="2400" dirty="0"/>
              <a:t>CM believes a 70% chance exists that demand for the new car will be high and a 30% chance that it will be low. </a:t>
            </a:r>
          </a:p>
        </p:txBody>
      </p:sp>
      <p:grpSp>
        <p:nvGrpSpPr>
          <p:cNvPr id="70662" name="Group 6"/>
          <p:cNvGrpSpPr>
            <a:grpSpLocks/>
          </p:cNvGrpSpPr>
          <p:nvPr/>
        </p:nvGrpSpPr>
        <p:grpSpPr bwMode="auto">
          <a:xfrm>
            <a:off x="404813" y="3200401"/>
            <a:ext cx="8358187" cy="3022600"/>
            <a:chOff x="228" y="2040"/>
            <a:chExt cx="5265" cy="1904"/>
          </a:xfrm>
        </p:grpSpPr>
        <p:sp>
          <p:nvSpPr>
            <p:cNvPr id="70660" name="Rectangle 4"/>
            <p:cNvSpPr>
              <a:spLocks noChangeArrowheads="1"/>
            </p:cNvSpPr>
            <p:nvPr/>
          </p:nvSpPr>
          <p:spPr bwMode="auto">
            <a:xfrm>
              <a:off x="228" y="2040"/>
              <a:ext cx="5265" cy="19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Char char="§"/>
                <a:tabLst>
                  <a:tab pos="1377950" algn="l"/>
                  <a:tab pos="4167188" algn="ctr"/>
                  <a:tab pos="5033963" algn="ctr"/>
                  <a:tab pos="5935663" algn="ctr"/>
                </a:tabLst>
              </a:pPr>
              <a:r>
                <a:rPr lang="en-US" sz="2400" dirty="0">
                  <a:latin typeface="Tahoma" pitchFamily="34" charset="0"/>
                </a:rPr>
                <a:t>The payoffs (in millions of dollars) are summarized below.</a:t>
              </a:r>
            </a:p>
            <a:p>
              <a:pPr marL="458788" lvl="1" indent="-1588" eaLnBrk="0" hangingPunct="0">
                <a:spcBef>
                  <a:spcPct val="20000"/>
                </a:spcBef>
                <a:tabLst>
                  <a:tab pos="1377950" algn="l"/>
                  <a:tab pos="4167188" algn="ctr"/>
                  <a:tab pos="5033963" algn="ctr"/>
                  <a:tab pos="5935663" algn="ctr"/>
                </a:tabLst>
              </a:pPr>
              <a:r>
                <a:rPr lang="en-US" sz="2800" dirty="0"/>
                <a:t>				</a:t>
              </a:r>
              <a:r>
                <a:rPr lang="en-US" sz="2400" dirty="0"/>
                <a:t>Demand</a:t>
              </a:r>
              <a:r>
                <a:rPr lang="en-US" sz="2800" dirty="0"/>
                <a:t>	</a:t>
              </a:r>
            </a:p>
            <a:p>
              <a:pPr marL="458788" lvl="1" indent="-1588" eaLnBrk="0" hangingPunct="0">
                <a:lnSpc>
                  <a:spcPct val="80000"/>
                </a:lnSpc>
                <a:spcBef>
                  <a:spcPct val="20000"/>
                </a:spcBef>
                <a:tabLst>
                  <a:tab pos="1377950" algn="l"/>
                  <a:tab pos="4167188" algn="ctr"/>
                  <a:tab pos="5033963" algn="ctr"/>
                  <a:tab pos="5935663" algn="ctr"/>
                </a:tabLst>
              </a:pPr>
              <a:r>
                <a:rPr lang="en-US" sz="2400" dirty="0"/>
                <a:t>		Factory Size	High		Low	</a:t>
              </a:r>
            </a:p>
            <a:p>
              <a:pPr marL="458788" lvl="1" indent="-1588" eaLnBrk="0" hangingPunct="0">
                <a:spcBef>
                  <a:spcPct val="20000"/>
                </a:spcBef>
                <a:tabLst>
                  <a:tab pos="1377950" algn="l"/>
                  <a:tab pos="4167188" algn="ctr"/>
                  <a:tab pos="5033963" algn="ctr"/>
                  <a:tab pos="5935663" algn="ctr"/>
                </a:tabLst>
              </a:pPr>
              <a:r>
                <a:rPr lang="en-US" sz="2400" dirty="0"/>
                <a:t>		Large	$175	 	$95	</a:t>
              </a:r>
            </a:p>
            <a:p>
              <a:pPr marL="458788" lvl="1" indent="-1588" eaLnBrk="0" hangingPunct="0">
                <a:spcBef>
                  <a:spcPct val="20000"/>
                </a:spcBef>
                <a:tabLst>
                  <a:tab pos="1377950" algn="l"/>
                  <a:tab pos="4167188" algn="ctr"/>
                  <a:tab pos="5033963" algn="ctr"/>
                  <a:tab pos="5935663" algn="ctr"/>
                </a:tabLst>
              </a:pPr>
              <a:r>
                <a:rPr lang="en-US" sz="2400" dirty="0"/>
                <a:t>		Small	$125		$105	</a:t>
              </a:r>
            </a:p>
          </p:txBody>
        </p:sp>
        <p:sp>
          <p:nvSpPr>
            <p:cNvPr id="70661" name="Line 5"/>
            <p:cNvSpPr>
              <a:spLocks noChangeShapeType="1"/>
            </p:cNvSpPr>
            <p:nvPr/>
          </p:nvSpPr>
          <p:spPr bwMode="auto">
            <a:xfrm>
              <a:off x="1082" y="2868"/>
              <a:ext cx="3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588963" y="5632450"/>
            <a:ext cx="8326437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tabLst>
                <a:tab pos="4167188" algn="ctr"/>
                <a:tab pos="5033963" algn="ctr"/>
                <a:tab pos="5935663" algn="ctr"/>
              </a:tabLst>
            </a:pPr>
            <a:r>
              <a:rPr lang="en-US" sz="2400" dirty="0">
                <a:latin typeface="Tahoma" pitchFamily="34" charset="0"/>
              </a:rPr>
              <a:t>See decision tree in file </a:t>
            </a:r>
            <a:r>
              <a:rPr lang="en-US" sz="2400" dirty="0">
                <a:latin typeface="Tahoma" pitchFamily="34" charset="0"/>
                <a:hlinkClick r:id="rId3" action="ppaction://hlinkfile"/>
              </a:rPr>
              <a:t>Fig14-29.xlsm</a:t>
            </a:r>
            <a:r>
              <a:rPr lang="en-US" sz="2400" dirty="0">
                <a:latin typeface="Tahoma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66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uiExpand="1" build="p" autoUpdateAnimBg="0"/>
      <p:bldP spid="70663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0488"/>
            <a:ext cx="7772400" cy="617537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 dirty="0">
                <a:solidFill>
                  <a:schemeClr val="hlink"/>
                </a:solidFill>
              </a:rPr>
              <a:t>Including Sample Information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1950" y="630238"/>
            <a:ext cx="8478838" cy="5897562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200" dirty="0"/>
              <a:t>Before making a decision, suppose CM conducts a consumer attitude survey (with zero cost).</a:t>
            </a:r>
          </a:p>
          <a:p>
            <a:pPr eaLnBrk="0" hangingPunct="0"/>
            <a:r>
              <a:rPr lang="en-US" sz="2200" dirty="0"/>
              <a:t>The survey can indicate favorable or unfavorable attitudes toward the new car.  Assume:</a:t>
            </a:r>
          </a:p>
          <a:p>
            <a:pPr lvl="1" eaLnBrk="0" hangingPunct="0">
              <a:buFontTx/>
              <a:buNone/>
            </a:pPr>
            <a:r>
              <a:rPr lang="en-US" sz="2200" dirty="0"/>
              <a:t>	</a:t>
            </a:r>
            <a:r>
              <a:rPr lang="en-US" sz="2000" dirty="0"/>
              <a:t>P(favorable response) = 0.67</a:t>
            </a:r>
          </a:p>
          <a:p>
            <a:pPr lvl="1" eaLnBrk="0" hangingPunct="0">
              <a:buFontTx/>
              <a:buNone/>
            </a:pPr>
            <a:r>
              <a:rPr lang="en-US" sz="2000" dirty="0"/>
              <a:t>	P(unfavorable response) = 0.33</a:t>
            </a:r>
          </a:p>
          <a:p>
            <a:pPr eaLnBrk="0" hangingPunct="0"/>
            <a:r>
              <a:rPr lang="en-US" sz="2200" dirty="0"/>
              <a:t>If the survey response is favorable, this should increase CM’s belief that demand will be high.  Assume:</a:t>
            </a:r>
          </a:p>
          <a:p>
            <a:pPr lvl="1" eaLnBrk="0" hangingPunct="0">
              <a:buFontTx/>
              <a:buNone/>
            </a:pPr>
            <a:r>
              <a:rPr lang="en-US" sz="2200" dirty="0"/>
              <a:t>	</a:t>
            </a:r>
            <a:r>
              <a:rPr lang="en-US" sz="2000" dirty="0"/>
              <a:t>P(high demand | favorable response)=0.9</a:t>
            </a:r>
          </a:p>
          <a:p>
            <a:pPr lvl="1" eaLnBrk="0" hangingPunct="0">
              <a:buFontTx/>
              <a:buNone/>
            </a:pPr>
            <a:r>
              <a:rPr lang="en-US" sz="2000" dirty="0"/>
              <a:t>	P(low demand | favorable response)=0.1 </a:t>
            </a:r>
          </a:p>
          <a:p>
            <a:pPr eaLnBrk="0" hangingPunct="0"/>
            <a:r>
              <a:rPr lang="en-US" sz="2200" dirty="0"/>
              <a:t>If the survey response is unfavorable, this should increase CM’s belief that demand will be low.  Assume:</a:t>
            </a:r>
          </a:p>
          <a:p>
            <a:pPr lvl="1" eaLnBrk="0" hangingPunct="0">
              <a:buFontTx/>
              <a:buNone/>
            </a:pPr>
            <a:r>
              <a:rPr lang="en-US" sz="2200" dirty="0"/>
              <a:t>	</a:t>
            </a:r>
            <a:r>
              <a:rPr lang="en-US" sz="2000" dirty="0"/>
              <a:t>P(low demand | unfavorable response)=0.7</a:t>
            </a:r>
          </a:p>
          <a:p>
            <a:pPr lvl="1" eaLnBrk="0" hangingPunct="0">
              <a:buFontTx/>
              <a:buNone/>
            </a:pPr>
            <a:r>
              <a:rPr lang="en-US" sz="2000" dirty="0"/>
              <a:t>	P(high demand | unfavorable response)=0.3 </a:t>
            </a:r>
          </a:p>
          <a:p>
            <a:pPr eaLnBrk="0" hangingPunct="0"/>
            <a:r>
              <a:rPr lang="en-US" sz="2200" dirty="0"/>
              <a:t>See decision tree in file </a:t>
            </a:r>
            <a:r>
              <a:rPr lang="en-US" sz="2200" dirty="0">
                <a:hlinkClick r:id="rId3" action="ppaction://hlinkfile"/>
              </a:rPr>
              <a:t>Fig14-30.xlsm</a:t>
            </a:r>
            <a:endParaRPr 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72225"/>
            <a:ext cx="2895600" cy="476250"/>
          </a:xfrm>
        </p:spPr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BCBCB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uiExpand="1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74650"/>
            <a:ext cx="8570912" cy="46355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3600" i="1">
                <a:solidFill>
                  <a:schemeClr val="hlink"/>
                </a:solidFill>
              </a:rPr>
              <a:t>The Expected Value </a:t>
            </a:r>
            <a:br>
              <a:rPr lang="en-US" sz="3600" i="1">
                <a:solidFill>
                  <a:schemeClr val="hlink"/>
                </a:solidFill>
              </a:rPr>
            </a:br>
            <a:r>
              <a:rPr lang="en-US" sz="3600" i="1">
                <a:solidFill>
                  <a:schemeClr val="hlink"/>
                </a:solidFill>
              </a:rPr>
              <a:t>of Sample Information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150" y="1238250"/>
            <a:ext cx="8375650" cy="898525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sz="2400" dirty="0"/>
              <a:t>How much should CM be willing to pay to conduct the consumer attitude survey?</a:t>
            </a:r>
          </a:p>
        </p:txBody>
      </p:sp>
      <p:grpSp>
        <p:nvGrpSpPr>
          <p:cNvPr id="74761" name="Group 9"/>
          <p:cNvGrpSpPr>
            <a:grpSpLocks/>
          </p:cNvGrpSpPr>
          <p:nvPr/>
        </p:nvGrpSpPr>
        <p:grpSpPr bwMode="auto">
          <a:xfrm>
            <a:off x="557213" y="2546350"/>
            <a:ext cx="8329612" cy="735013"/>
            <a:chOff x="351" y="1604"/>
            <a:chExt cx="5247" cy="463"/>
          </a:xfrm>
        </p:grpSpPr>
        <p:sp>
          <p:nvSpPr>
            <p:cNvPr id="74756" name="Rectangle 4"/>
            <p:cNvSpPr>
              <a:spLocks noChangeArrowheads="1"/>
            </p:cNvSpPr>
            <p:nvPr/>
          </p:nvSpPr>
          <p:spPr bwMode="auto">
            <a:xfrm>
              <a:off x="351" y="1604"/>
              <a:ext cx="157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/>
                <a:t>Expected Value of Sample Information</a:t>
              </a:r>
            </a:p>
          </p:txBody>
        </p:sp>
        <p:sp>
          <p:nvSpPr>
            <p:cNvPr id="74757" name="Rectangle 5"/>
            <p:cNvSpPr>
              <a:spLocks noChangeArrowheads="1"/>
            </p:cNvSpPr>
            <p:nvPr/>
          </p:nvSpPr>
          <p:spPr bwMode="auto">
            <a:xfrm>
              <a:off x="2055" y="1625"/>
              <a:ext cx="158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dirty="0"/>
                <a:t>Expected Value with Sample Information</a:t>
              </a:r>
            </a:p>
          </p:txBody>
        </p:sp>
        <p:sp>
          <p:nvSpPr>
            <p:cNvPr id="74758" name="Rectangle 6"/>
            <p:cNvSpPr>
              <a:spLocks noChangeArrowheads="1"/>
            </p:cNvSpPr>
            <p:nvPr/>
          </p:nvSpPr>
          <p:spPr bwMode="auto">
            <a:xfrm>
              <a:off x="3723" y="1625"/>
              <a:ext cx="187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/>
                <a:t>Expected Value without Sample Information</a:t>
              </a:r>
            </a:p>
          </p:txBody>
        </p:sp>
        <p:sp>
          <p:nvSpPr>
            <p:cNvPr id="74759" name="Rectangle 7"/>
            <p:cNvSpPr>
              <a:spLocks noChangeArrowheads="1"/>
            </p:cNvSpPr>
            <p:nvPr/>
          </p:nvSpPr>
          <p:spPr bwMode="auto">
            <a:xfrm>
              <a:off x="1840" y="1711"/>
              <a:ext cx="27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600"/>
                <a:t>=</a:t>
              </a:r>
            </a:p>
          </p:txBody>
        </p:sp>
        <p:sp>
          <p:nvSpPr>
            <p:cNvPr id="74760" name="Rectangle 8"/>
            <p:cNvSpPr>
              <a:spLocks noChangeArrowheads="1"/>
            </p:cNvSpPr>
            <p:nvPr/>
          </p:nvSpPr>
          <p:spPr bwMode="auto">
            <a:xfrm>
              <a:off x="3564" y="1699"/>
              <a:ext cx="279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600"/>
                <a:t>-</a:t>
              </a:r>
            </a:p>
          </p:txBody>
        </p:sp>
      </p:grpSp>
      <p:sp>
        <p:nvSpPr>
          <p:cNvPr id="74762" name="Rectangle 10"/>
          <p:cNvSpPr>
            <a:spLocks noChangeArrowheads="1"/>
          </p:cNvSpPr>
          <p:nvPr/>
        </p:nvSpPr>
        <p:spPr bwMode="auto">
          <a:xfrm>
            <a:off x="498475" y="4060825"/>
            <a:ext cx="8375650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</a:pPr>
            <a:r>
              <a:rPr lang="en-US" sz="2400" dirty="0">
                <a:latin typeface="Tahoma" pitchFamily="34" charset="0"/>
              </a:rPr>
              <a:t>In the CM example,</a:t>
            </a:r>
          </a:p>
          <a:p>
            <a:pPr marL="742950" lvl="1" indent="-285750" algn="ctr" eaLnBrk="0" hangingPunct="0">
              <a:spcBef>
                <a:spcPct val="20000"/>
              </a:spcBef>
              <a:buClr>
                <a:schemeClr val="hlink"/>
              </a:buClr>
            </a:pPr>
            <a:r>
              <a:rPr lang="en-US" sz="2200" dirty="0">
                <a:latin typeface="Tahoma" pitchFamily="34" charset="0"/>
              </a:rPr>
              <a:t>E.V. of Sample Info. = $126.82 - $126 = $0.82 million</a:t>
            </a:r>
            <a:endParaRPr lang="en-US" sz="2800" dirty="0">
              <a:latin typeface="Tahoma" pitchFamily="34" charset="0"/>
            </a:endParaRPr>
          </a:p>
          <a:p>
            <a:pPr marL="342900" indent="-342900" algn="ctr" eaLnBrk="0" hangingPunct="0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2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00"/>
            <a:ext cx="7772400" cy="1219200"/>
          </a:xfrm>
          <a:noFill/>
          <a:ln/>
        </p:spPr>
        <p:txBody>
          <a:bodyPr lIns="92075" tIns="46038" rIns="92075" bIns="46038"/>
          <a:lstStyle/>
          <a:p>
            <a:pPr eaLnBrk="0" hangingPunct="0"/>
            <a:r>
              <a:rPr lang="en-US" dirty="0">
                <a:solidFill>
                  <a:schemeClr val="hlink"/>
                </a:solidFill>
              </a:rPr>
              <a:t>End of Chapter 14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800" dirty="0"/>
              <a:t>© 2017 Cengage Learning. All Rights Reserved. May not be scanned, copied or duplicated, or posted to a publicly accessible website, in whole or in part.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DA5">
  <a:themeElements>
    <a:clrScheme name="SMDA5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SMDA5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MDA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DA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DA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SMDA5</Template>
  <TotalTime>5630</TotalTime>
  <Words>3450</Words>
  <Application>Microsoft Office PowerPoint</Application>
  <PresentationFormat>On-screen Show (4:3)</PresentationFormat>
  <Paragraphs>473</Paragraphs>
  <Slides>33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Monotype Sorts</vt:lpstr>
      <vt:lpstr>Tahoma</vt:lpstr>
      <vt:lpstr>Times New Roman</vt:lpstr>
      <vt:lpstr>Wingdings</vt:lpstr>
      <vt:lpstr>SMDA5</vt:lpstr>
      <vt:lpstr>Equation</vt:lpstr>
      <vt:lpstr>Spreadsheet Modeling  &amp; Decision Analysis</vt:lpstr>
      <vt:lpstr>Decision Analysis</vt:lpstr>
      <vt:lpstr>Introduction to Decision Analysis</vt:lpstr>
      <vt:lpstr>Deciding Between Job Offers</vt:lpstr>
      <vt:lpstr>Good Decisions vs. Good Outcomes</vt:lpstr>
      <vt:lpstr>Characteristics of Decision Problems</vt:lpstr>
      <vt:lpstr>An Example: Magnolia Inns</vt:lpstr>
      <vt:lpstr>The Decision Alternatives</vt:lpstr>
      <vt:lpstr>The Possible States of Nature</vt:lpstr>
      <vt:lpstr>Constructing a Payoff Matrix</vt:lpstr>
      <vt:lpstr>Decision Rules</vt:lpstr>
      <vt:lpstr>The Maximax Decision Rule</vt:lpstr>
      <vt:lpstr>The Maximin Decision Rule</vt:lpstr>
      <vt:lpstr>The Minimax Regret Decision Rule</vt:lpstr>
      <vt:lpstr>Anomalies with the Minimax Regret Rule</vt:lpstr>
      <vt:lpstr>Adding an Alternative</vt:lpstr>
      <vt:lpstr>Probabilistic Methods</vt:lpstr>
      <vt:lpstr>Expected Monetary Value</vt:lpstr>
      <vt:lpstr>EMV Caution</vt:lpstr>
      <vt:lpstr>Expected Regret or Opportunity Loss</vt:lpstr>
      <vt:lpstr>The Expected Value  of Perfect Information</vt:lpstr>
      <vt:lpstr>A Decision Tree for Magnolia Inns</vt:lpstr>
      <vt:lpstr>Rolling Back A Decision Tree </vt:lpstr>
      <vt:lpstr>Alternate Decision Tree </vt:lpstr>
      <vt:lpstr>Using ASP’s Decision Tree Tool</vt:lpstr>
      <vt:lpstr>Multi-stage Decision Problems</vt:lpstr>
      <vt:lpstr>Multi-Stage Decision Example:  COM-TECH</vt:lpstr>
      <vt:lpstr>COM-TECH (continued)</vt:lpstr>
      <vt:lpstr>Using Sample Information  in Decision Making</vt:lpstr>
      <vt:lpstr>Example: Colonial Motors</vt:lpstr>
      <vt:lpstr>Including Sample Information</vt:lpstr>
      <vt:lpstr>The Expected Value  of Sample Information</vt:lpstr>
      <vt:lpstr>End of Chapter 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Modeling &amp; Decision Analysis:</dc:title>
  <dc:creator>Cliff Ragsdale</dc:creator>
  <cp:lastModifiedBy>Arie Harel</cp:lastModifiedBy>
  <cp:revision>346</cp:revision>
  <cp:lastPrinted>1997-06-09T17:13:08Z</cp:lastPrinted>
  <dcterms:created xsi:type="dcterms:W3CDTF">1995-06-17T23:31:02Z</dcterms:created>
  <dcterms:modified xsi:type="dcterms:W3CDTF">2021-05-01T19:38:56Z</dcterms:modified>
</cp:coreProperties>
</file>