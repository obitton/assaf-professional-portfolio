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29"/>
  </p:notesMasterIdLst>
  <p:handoutMasterIdLst>
    <p:handoutMasterId r:id="rId30"/>
  </p:handoutMasterIdLst>
  <p:sldIdLst>
    <p:sldId id="328" r:id="rId2"/>
    <p:sldId id="256" r:id="rId3"/>
    <p:sldId id="262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10" r:id="rId14"/>
    <p:sldId id="309" r:id="rId15"/>
    <p:sldId id="311" r:id="rId16"/>
    <p:sldId id="312" r:id="rId17"/>
    <p:sldId id="314" r:id="rId18"/>
    <p:sldId id="313" r:id="rId19"/>
    <p:sldId id="315" r:id="rId20"/>
    <p:sldId id="316" r:id="rId21"/>
    <p:sldId id="317" r:id="rId22"/>
    <p:sldId id="318" r:id="rId23"/>
    <p:sldId id="330" r:id="rId24"/>
    <p:sldId id="320" r:id="rId25"/>
    <p:sldId id="321" r:id="rId26"/>
    <p:sldId id="326" r:id="rId27"/>
    <p:sldId id="278" r:id="rId28"/>
  </p:sldIdLst>
  <p:sldSz cx="9144000" cy="6858000" type="screen4x3"/>
  <p:notesSz cx="6858000" cy="92075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CC0000"/>
    <a:srgbClr val="FFFFFF"/>
    <a:srgbClr val="856EF8"/>
    <a:srgbClr val="00CC00"/>
    <a:srgbClr val="FF0033"/>
    <a:srgbClr val="CBC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54" autoAdjust="0"/>
    <p:restoredTop sz="94660"/>
  </p:normalViewPr>
  <p:slideViewPr>
    <p:cSldViewPr>
      <p:cViewPr varScale="1">
        <p:scale>
          <a:sx n="102" d="100"/>
          <a:sy n="102" d="100"/>
        </p:scale>
        <p:origin x="126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2" d="100"/>
          <a:sy n="42" d="100"/>
        </p:scale>
        <p:origin x="-1151" y="-84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3175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3175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1855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71855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00" i="1"/>
            </a:lvl1pPr>
          </a:lstStyle>
          <a:p>
            <a:fld id="{E5281908-9B3F-46FB-90EF-7DE95719DED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512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3475" y="696913"/>
            <a:ext cx="4591050" cy="3440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73563"/>
            <a:ext cx="5029200" cy="414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47125"/>
            <a:ext cx="2971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47125"/>
            <a:ext cx="2971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00" i="1"/>
            </a:lvl1pPr>
          </a:lstStyle>
          <a:p>
            <a:fld id="{5CD4C68B-4C17-4F79-B94C-C882C9F0B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199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C2589D30-6639-4274-9B42-3F9D5FCCD1DC}" type="slidenum">
              <a:rPr lang="en-US"/>
              <a:pPr/>
              <a:t>1</a:t>
            </a:fld>
            <a:endParaRPr 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6650" y="696913"/>
            <a:ext cx="4584700" cy="3440112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86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408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3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551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917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914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44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592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316C7F-69B7-40C7-93AF-C631020AB9C4}" type="slidenum">
              <a:rPr lang="en-US"/>
              <a:pPr/>
              <a:t>9</a:t>
            </a:fld>
            <a:endParaRPr lang="en-US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936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652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4252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9821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4555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9770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9839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319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505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2669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754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7563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931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088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754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2208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0674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35063" y="696913"/>
            <a:ext cx="4587875" cy="3440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4C68B-4C17-4F79-B94C-C882C9F0B7A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5034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8B2B74-819D-4717-8989-1FEE088C5B93}" type="slidenum">
              <a:rPr lang="en-US"/>
              <a:pPr/>
              <a:t>27</a:t>
            </a:fld>
            <a:endParaRPr lang="en-US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891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</p:spTree>
    <p:extLst>
      <p:ext uri="{BB962C8B-B14F-4D97-AF65-F5344CB8AC3E}">
        <p14:creationId xmlns:p14="http://schemas.microsoft.com/office/powerpoint/2010/main" val="2319537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83A98D-5A7F-4E2C-83E0-5970365CC5D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078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1A51B-13A0-4EE4-94E3-4082A1BC7BD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962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97CE4E-6636-42E3-B260-9AEE1D065D6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59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4406D7-9EC1-4F35-89FD-BFFD7E4F44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515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5DD93C-81AC-44BF-B978-E7752B707A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15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CAAB9C-74C6-4C09-94A7-401A590F33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96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5A9BF8-8C30-4008-B5C1-D706ECD8D5D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57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407A87-02DA-4C91-BE05-1B54176173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99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2118D0-D2F6-411D-85CD-28D0ACAD366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416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A44929-9255-445A-8AE6-BE123218D34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51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5271A9-A59B-4E0F-94FA-B0E17516EAE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04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5120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2CEEF3D-407C-4DD1-9E0C-843021313F65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sldNum="0" hd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Ø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Fig13-3.xlsm" TargetMode="Externa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Fig13-4.xlsm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7.emf"/><Relationship Id="rId4" Type="http://schemas.openxmlformats.org/officeDocument/2006/relationships/image" Target="../media/image4.emf"/><Relationship Id="rId9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Q.xlsx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Q.xlsx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Q.xlsx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Q.xlsx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19200"/>
            <a:ext cx="7772400" cy="1143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b="1" i="1">
                <a:solidFill>
                  <a:schemeClr val="hlink"/>
                </a:solidFill>
              </a:rPr>
              <a:t>Spreadsheet Modeling </a:t>
            </a:r>
            <a:br>
              <a:rPr lang="en-US" b="1" i="1">
                <a:solidFill>
                  <a:schemeClr val="hlink"/>
                </a:solidFill>
              </a:rPr>
            </a:br>
            <a:r>
              <a:rPr lang="en-US" b="1" i="1">
                <a:solidFill>
                  <a:schemeClr val="hlink"/>
                </a:solidFill>
              </a:rPr>
              <a:t>&amp; Decision Analysis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895600"/>
            <a:ext cx="6400800" cy="17526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dirty="0"/>
              <a:t>A Practical Introduction to Business Analytics </a:t>
            </a:r>
          </a:p>
          <a:p>
            <a:pPr eaLnBrk="1" hangingPunct="1"/>
            <a:r>
              <a:rPr lang="en-US" sz="2400" dirty="0"/>
              <a:t>8</a:t>
            </a:r>
            <a:r>
              <a:rPr lang="en-US" sz="2400" baseline="30000" dirty="0"/>
              <a:t>th</a:t>
            </a:r>
            <a:r>
              <a:rPr lang="en-US" sz="2400" dirty="0"/>
              <a:t> edition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Cliff T. Ragsdale</a:t>
            </a:r>
          </a:p>
          <a:p>
            <a:pPr eaLnBrk="1" hangingPunct="1"/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4437063"/>
            <a:ext cx="161544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708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09800"/>
            <a:ext cx="7772400" cy="1695450"/>
          </a:xfrm>
          <a:noFill/>
          <a:ln/>
        </p:spPr>
        <p:txBody>
          <a:bodyPr lIns="92075" tIns="46038" rIns="92075" bIns="46038"/>
          <a:lstStyle/>
          <a:p>
            <a:r>
              <a:rPr lang="en-US">
                <a:solidFill>
                  <a:schemeClr val="tx1"/>
                </a:solidFill>
              </a:rPr>
              <a:t>Queuing Theory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762000" y="228600"/>
            <a:ext cx="77724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4400" b="1" i="1">
                <a:solidFill>
                  <a:schemeClr val="hlink"/>
                </a:solidFill>
                <a:latin typeface="Tahoma" pitchFamily="34" charset="0"/>
              </a:rPr>
              <a:t>Chapter 13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76238"/>
            <a:ext cx="7772400" cy="458787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Introduction to Queuing Theory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0688" y="1009650"/>
            <a:ext cx="8342312" cy="508635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90000"/>
              </a:lnSpc>
            </a:pPr>
            <a:r>
              <a:rPr lang="en-US" sz="2600" dirty="0"/>
              <a:t>It is estimated that Americans spend a total of 37 </a:t>
            </a:r>
            <a:r>
              <a:rPr lang="en-US" sz="2600" i="1" dirty="0"/>
              <a:t>billion</a:t>
            </a:r>
            <a:r>
              <a:rPr lang="en-US" sz="2600" dirty="0"/>
              <a:t> hours a year waiting in lines.</a:t>
            </a:r>
          </a:p>
          <a:p>
            <a:pPr>
              <a:lnSpc>
                <a:spcPct val="90000"/>
              </a:lnSpc>
            </a:pPr>
            <a:r>
              <a:rPr lang="en-US" sz="2600" dirty="0"/>
              <a:t>Places we wait in line...</a:t>
            </a:r>
          </a:p>
          <a:p>
            <a:pPr lvl="1">
              <a:lnSpc>
                <a:spcPct val="70000"/>
              </a:lnSpc>
              <a:buFontTx/>
              <a:buNone/>
            </a:pPr>
            <a:r>
              <a:rPr lang="en-US" sz="2600" dirty="0"/>
              <a:t>- stores		- hotels		- post offices</a:t>
            </a:r>
          </a:p>
          <a:p>
            <a:pPr lvl="1">
              <a:lnSpc>
                <a:spcPct val="70000"/>
              </a:lnSpc>
              <a:buFontTx/>
              <a:buNone/>
            </a:pPr>
            <a:r>
              <a:rPr lang="en-US" sz="2600" dirty="0"/>
              <a:t>- banks		- traffic lights	- restaurants</a:t>
            </a:r>
          </a:p>
          <a:p>
            <a:pPr lvl="1">
              <a:lnSpc>
                <a:spcPct val="70000"/>
              </a:lnSpc>
              <a:buFontTx/>
              <a:buNone/>
            </a:pPr>
            <a:r>
              <a:rPr lang="en-US" sz="2600" dirty="0"/>
              <a:t>- airports		- theme parks	- on the phone</a:t>
            </a:r>
          </a:p>
          <a:p>
            <a:pPr>
              <a:lnSpc>
                <a:spcPct val="90000"/>
              </a:lnSpc>
            </a:pPr>
            <a:r>
              <a:rPr lang="en-US" sz="2600" dirty="0"/>
              <a:t>Waiting lines do not always contain people...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600" dirty="0"/>
              <a:t>- returned videos	</a:t>
            </a:r>
          </a:p>
          <a:p>
            <a:pPr lvl="1">
              <a:lnSpc>
                <a:spcPct val="60000"/>
              </a:lnSpc>
              <a:buFontTx/>
              <a:buNone/>
            </a:pPr>
            <a:r>
              <a:rPr lang="en-US" sz="2600" dirty="0"/>
              <a:t>- subassemblies in a manufacturing plant</a:t>
            </a:r>
          </a:p>
          <a:p>
            <a:pPr lvl="1">
              <a:lnSpc>
                <a:spcPct val="60000"/>
              </a:lnSpc>
              <a:buFontTx/>
              <a:buNone/>
            </a:pPr>
            <a:r>
              <a:rPr lang="en-US" sz="2600" dirty="0"/>
              <a:t>- electronic message on the Internet</a:t>
            </a:r>
          </a:p>
          <a:p>
            <a:pPr>
              <a:lnSpc>
                <a:spcPct val="90000"/>
              </a:lnSpc>
            </a:pPr>
            <a:r>
              <a:rPr lang="en-US" sz="2600" dirty="0"/>
              <a:t>Queuing theory deals with the analysis and management of waiting lines.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77825"/>
            <a:ext cx="7772400" cy="514350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The Purpose of Queuing Models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168400"/>
            <a:ext cx="8342313" cy="4927600"/>
          </a:xfrm>
          <a:noFill/>
          <a:ln/>
        </p:spPr>
        <p:txBody>
          <a:bodyPr lIns="92075" tIns="46038" rIns="92075" bIns="46038"/>
          <a:lstStyle/>
          <a:p>
            <a:r>
              <a:rPr lang="en-US" dirty="0"/>
              <a:t>Queuing models are used to: </a:t>
            </a:r>
          </a:p>
          <a:p>
            <a:pPr lvl="1"/>
            <a:r>
              <a:rPr lang="en-US" dirty="0"/>
              <a:t>describe the behavior of queuing systems</a:t>
            </a:r>
          </a:p>
          <a:p>
            <a:pPr lvl="1"/>
            <a:r>
              <a:rPr lang="en-US" dirty="0"/>
              <a:t>determine the level of service to provide</a:t>
            </a:r>
          </a:p>
          <a:p>
            <a:pPr lvl="1"/>
            <a:r>
              <a:rPr lang="en-US" dirty="0"/>
              <a:t>evaluate alternate configurations for providing service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bldLvl="2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8012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Queuing Costs</a:t>
            </a:r>
          </a:p>
        </p:txBody>
      </p:sp>
      <p:sp>
        <p:nvSpPr>
          <p:cNvPr id="9219" name="Freeform 3"/>
          <p:cNvSpPr>
            <a:spLocks/>
          </p:cNvSpPr>
          <p:nvPr/>
        </p:nvSpPr>
        <p:spPr bwMode="auto">
          <a:xfrm>
            <a:off x="1946275" y="1793875"/>
            <a:ext cx="5153025" cy="2174875"/>
          </a:xfrm>
          <a:custGeom>
            <a:avLst/>
            <a:gdLst>
              <a:gd name="T0" fmla="*/ 0 w 3246"/>
              <a:gd name="T1" fmla="*/ 0 h 1370"/>
              <a:gd name="T2" fmla="*/ 72 w 3246"/>
              <a:gd name="T3" fmla="*/ 519 h 1370"/>
              <a:gd name="T4" fmla="*/ 144 w 3246"/>
              <a:gd name="T5" fmla="*/ 816 h 1370"/>
              <a:gd name="T6" fmla="*/ 216 w 3246"/>
              <a:gd name="T7" fmla="*/ 1003 h 1370"/>
              <a:gd name="T8" fmla="*/ 289 w 3246"/>
              <a:gd name="T9" fmla="*/ 1128 h 1370"/>
              <a:gd name="T10" fmla="*/ 360 w 3246"/>
              <a:gd name="T11" fmla="*/ 1213 h 1370"/>
              <a:gd name="T12" fmla="*/ 433 w 3246"/>
              <a:gd name="T13" fmla="*/ 1272 h 1370"/>
              <a:gd name="T14" fmla="*/ 505 w 3246"/>
              <a:gd name="T15" fmla="*/ 1312 h 1370"/>
              <a:gd name="T16" fmla="*/ 577 w 3246"/>
              <a:gd name="T17" fmla="*/ 1339 h 1370"/>
              <a:gd name="T18" fmla="*/ 649 w 3246"/>
              <a:gd name="T19" fmla="*/ 1356 h 1370"/>
              <a:gd name="T20" fmla="*/ 721 w 3246"/>
              <a:gd name="T21" fmla="*/ 1365 h 1370"/>
              <a:gd name="T22" fmla="*/ 793 w 3246"/>
              <a:gd name="T23" fmla="*/ 1369 h 1370"/>
              <a:gd name="T24" fmla="*/ 865 w 3246"/>
              <a:gd name="T25" fmla="*/ 1367 h 1370"/>
              <a:gd name="T26" fmla="*/ 938 w 3246"/>
              <a:gd name="T27" fmla="*/ 1362 h 1370"/>
              <a:gd name="T28" fmla="*/ 1009 w 3246"/>
              <a:gd name="T29" fmla="*/ 1353 h 1370"/>
              <a:gd name="T30" fmla="*/ 1082 w 3246"/>
              <a:gd name="T31" fmla="*/ 1341 h 1370"/>
              <a:gd name="T32" fmla="*/ 1154 w 3246"/>
              <a:gd name="T33" fmla="*/ 1328 h 1370"/>
              <a:gd name="T34" fmla="*/ 1226 w 3246"/>
              <a:gd name="T35" fmla="*/ 1312 h 1370"/>
              <a:gd name="T36" fmla="*/ 1298 w 3246"/>
              <a:gd name="T37" fmla="*/ 1295 h 1370"/>
              <a:gd name="T38" fmla="*/ 1370 w 3246"/>
              <a:gd name="T39" fmla="*/ 1276 h 1370"/>
              <a:gd name="T40" fmla="*/ 1442 w 3246"/>
              <a:gd name="T41" fmla="*/ 1256 h 1370"/>
              <a:gd name="T42" fmla="*/ 1515 w 3246"/>
              <a:gd name="T43" fmla="*/ 1235 h 1370"/>
              <a:gd name="T44" fmla="*/ 1587 w 3246"/>
              <a:gd name="T45" fmla="*/ 1213 h 1370"/>
              <a:gd name="T46" fmla="*/ 1659 w 3246"/>
              <a:gd name="T47" fmla="*/ 1190 h 1370"/>
              <a:gd name="T48" fmla="*/ 1731 w 3246"/>
              <a:gd name="T49" fmla="*/ 1166 h 1370"/>
              <a:gd name="T50" fmla="*/ 1803 w 3246"/>
              <a:gd name="T51" fmla="*/ 1142 h 1370"/>
              <a:gd name="T52" fmla="*/ 1875 w 3246"/>
              <a:gd name="T53" fmla="*/ 1117 h 1370"/>
              <a:gd name="T54" fmla="*/ 1947 w 3246"/>
              <a:gd name="T55" fmla="*/ 1092 h 1370"/>
              <a:gd name="T56" fmla="*/ 2019 w 3246"/>
              <a:gd name="T57" fmla="*/ 1066 h 1370"/>
              <a:gd name="T58" fmla="*/ 2091 w 3246"/>
              <a:gd name="T59" fmla="*/ 1039 h 1370"/>
              <a:gd name="T60" fmla="*/ 2164 w 3246"/>
              <a:gd name="T61" fmla="*/ 1012 h 1370"/>
              <a:gd name="T62" fmla="*/ 2236 w 3246"/>
              <a:gd name="T63" fmla="*/ 985 h 1370"/>
              <a:gd name="T64" fmla="*/ 2308 w 3246"/>
              <a:gd name="T65" fmla="*/ 958 h 1370"/>
              <a:gd name="T66" fmla="*/ 2380 w 3246"/>
              <a:gd name="T67" fmla="*/ 930 h 1370"/>
              <a:gd name="T68" fmla="*/ 2452 w 3246"/>
              <a:gd name="T69" fmla="*/ 902 h 1370"/>
              <a:gd name="T70" fmla="*/ 2524 w 3246"/>
              <a:gd name="T71" fmla="*/ 873 h 1370"/>
              <a:gd name="T72" fmla="*/ 2596 w 3246"/>
              <a:gd name="T73" fmla="*/ 845 h 1370"/>
              <a:gd name="T74" fmla="*/ 2668 w 3246"/>
              <a:gd name="T75" fmla="*/ 816 h 1370"/>
              <a:gd name="T76" fmla="*/ 2740 w 3246"/>
              <a:gd name="T77" fmla="*/ 787 h 1370"/>
              <a:gd name="T78" fmla="*/ 2813 w 3246"/>
              <a:gd name="T79" fmla="*/ 758 h 1370"/>
              <a:gd name="T80" fmla="*/ 2885 w 3246"/>
              <a:gd name="T81" fmla="*/ 728 h 1370"/>
              <a:gd name="T82" fmla="*/ 2957 w 3246"/>
              <a:gd name="T83" fmla="*/ 699 h 1370"/>
              <a:gd name="T84" fmla="*/ 3029 w 3246"/>
              <a:gd name="T85" fmla="*/ 669 h 1370"/>
              <a:gd name="T86" fmla="*/ 3101 w 3246"/>
              <a:gd name="T87" fmla="*/ 639 h 1370"/>
              <a:gd name="T88" fmla="*/ 3173 w 3246"/>
              <a:gd name="T89" fmla="*/ 609 h 1370"/>
              <a:gd name="T90" fmla="*/ 3245 w 3246"/>
              <a:gd name="T91" fmla="*/ 579 h 1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246" h="1370">
                <a:moveTo>
                  <a:pt x="0" y="0"/>
                </a:moveTo>
                <a:lnTo>
                  <a:pt x="72" y="519"/>
                </a:lnTo>
                <a:lnTo>
                  <a:pt x="144" y="816"/>
                </a:lnTo>
                <a:lnTo>
                  <a:pt x="216" y="1003"/>
                </a:lnTo>
                <a:lnTo>
                  <a:pt x="289" y="1128"/>
                </a:lnTo>
                <a:lnTo>
                  <a:pt x="360" y="1213"/>
                </a:lnTo>
                <a:lnTo>
                  <a:pt x="433" y="1272"/>
                </a:lnTo>
                <a:lnTo>
                  <a:pt x="505" y="1312"/>
                </a:lnTo>
                <a:lnTo>
                  <a:pt x="577" y="1339"/>
                </a:lnTo>
                <a:lnTo>
                  <a:pt x="649" y="1356"/>
                </a:lnTo>
                <a:lnTo>
                  <a:pt x="721" y="1365"/>
                </a:lnTo>
                <a:lnTo>
                  <a:pt x="793" y="1369"/>
                </a:lnTo>
                <a:lnTo>
                  <a:pt x="865" y="1367"/>
                </a:lnTo>
                <a:lnTo>
                  <a:pt x="938" y="1362"/>
                </a:lnTo>
                <a:lnTo>
                  <a:pt x="1009" y="1353"/>
                </a:lnTo>
                <a:lnTo>
                  <a:pt x="1082" y="1341"/>
                </a:lnTo>
                <a:lnTo>
                  <a:pt x="1154" y="1328"/>
                </a:lnTo>
                <a:lnTo>
                  <a:pt x="1226" y="1312"/>
                </a:lnTo>
                <a:lnTo>
                  <a:pt x="1298" y="1295"/>
                </a:lnTo>
                <a:lnTo>
                  <a:pt x="1370" y="1276"/>
                </a:lnTo>
                <a:lnTo>
                  <a:pt x="1442" y="1256"/>
                </a:lnTo>
                <a:lnTo>
                  <a:pt x="1515" y="1235"/>
                </a:lnTo>
                <a:lnTo>
                  <a:pt x="1587" y="1213"/>
                </a:lnTo>
                <a:lnTo>
                  <a:pt x="1659" y="1190"/>
                </a:lnTo>
                <a:lnTo>
                  <a:pt x="1731" y="1166"/>
                </a:lnTo>
                <a:lnTo>
                  <a:pt x="1803" y="1142"/>
                </a:lnTo>
                <a:lnTo>
                  <a:pt x="1875" y="1117"/>
                </a:lnTo>
                <a:lnTo>
                  <a:pt x="1947" y="1092"/>
                </a:lnTo>
                <a:lnTo>
                  <a:pt x="2019" y="1066"/>
                </a:lnTo>
                <a:lnTo>
                  <a:pt x="2091" y="1039"/>
                </a:lnTo>
                <a:lnTo>
                  <a:pt x="2164" y="1012"/>
                </a:lnTo>
                <a:lnTo>
                  <a:pt x="2236" y="985"/>
                </a:lnTo>
                <a:lnTo>
                  <a:pt x="2308" y="958"/>
                </a:lnTo>
                <a:lnTo>
                  <a:pt x="2380" y="930"/>
                </a:lnTo>
                <a:lnTo>
                  <a:pt x="2452" y="902"/>
                </a:lnTo>
                <a:lnTo>
                  <a:pt x="2524" y="873"/>
                </a:lnTo>
                <a:lnTo>
                  <a:pt x="2596" y="845"/>
                </a:lnTo>
                <a:lnTo>
                  <a:pt x="2668" y="816"/>
                </a:lnTo>
                <a:lnTo>
                  <a:pt x="2740" y="787"/>
                </a:lnTo>
                <a:lnTo>
                  <a:pt x="2813" y="758"/>
                </a:lnTo>
                <a:lnTo>
                  <a:pt x="2885" y="728"/>
                </a:lnTo>
                <a:lnTo>
                  <a:pt x="2957" y="699"/>
                </a:lnTo>
                <a:lnTo>
                  <a:pt x="3029" y="669"/>
                </a:lnTo>
                <a:lnTo>
                  <a:pt x="3101" y="639"/>
                </a:lnTo>
                <a:lnTo>
                  <a:pt x="3173" y="609"/>
                </a:lnTo>
                <a:lnTo>
                  <a:pt x="3245" y="579"/>
                </a:lnTo>
              </a:path>
            </a:pathLst>
          </a:custGeom>
          <a:noFill/>
          <a:ln w="25400" cap="rnd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Freeform 4"/>
          <p:cNvSpPr>
            <a:spLocks/>
          </p:cNvSpPr>
          <p:nvPr/>
        </p:nvSpPr>
        <p:spPr bwMode="auto">
          <a:xfrm>
            <a:off x="1946275" y="1951038"/>
            <a:ext cx="5153025" cy="3282950"/>
          </a:xfrm>
          <a:custGeom>
            <a:avLst/>
            <a:gdLst>
              <a:gd name="T0" fmla="*/ 0 w 3246"/>
              <a:gd name="T1" fmla="*/ 0 h 2068"/>
              <a:gd name="T2" fmla="*/ 72 w 3246"/>
              <a:gd name="T3" fmla="*/ 552 h 2068"/>
              <a:gd name="T4" fmla="*/ 144 w 3246"/>
              <a:gd name="T5" fmla="*/ 882 h 2068"/>
              <a:gd name="T6" fmla="*/ 216 w 3246"/>
              <a:gd name="T7" fmla="*/ 1103 h 2068"/>
              <a:gd name="T8" fmla="*/ 289 w 3246"/>
              <a:gd name="T9" fmla="*/ 1260 h 2068"/>
              <a:gd name="T10" fmla="*/ 360 w 3246"/>
              <a:gd name="T11" fmla="*/ 1378 h 2068"/>
              <a:gd name="T12" fmla="*/ 433 w 3246"/>
              <a:gd name="T13" fmla="*/ 1470 h 2068"/>
              <a:gd name="T14" fmla="*/ 505 w 3246"/>
              <a:gd name="T15" fmla="*/ 1543 h 2068"/>
              <a:gd name="T16" fmla="*/ 577 w 3246"/>
              <a:gd name="T17" fmla="*/ 1604 h 2068"/>
              <a:gd name="T18" fmla="*/ 649 w 3246"/>
              <a:gd name="T19" fmla="*/ 1654 h 2068"/>
              <a:gd name="T20" fmla="*/ 721 w 3246"/>
              <a:gd name="T21" fmla="*/ 1696 h 2068"/>
              <a:gd name="T22" fmla="*/ 793 w 3246"/>
              <a:gd name="T23" fmla="*/ 1733 h 2068"/>
              <a:gd name="T24" fmla="*/ 865 w 3246"/>
              <a:gd name="T25" fmla="*/ 1764 h 2068"/>
              <a:gd name="T26" fmla="*/ 938 w 3246"/>
              <a:gd name="T27" fmla="*/ 1791 h 2068"/>
              <a:gd name="T28" fmla="*/ 1009 w 3246"/>
              <a:gd name="T29" fmla="*/ 1816 h 2068"/>
              <a:gd name="T30" fmla="*/ 1082 w 3246"/>
              <a:gd name="T31" fmla="*/ 1838 h 2068"/>
              <a:gd name="T32" fmla="*/ 1154 w 3246"/>
              <a:gd name="T33" fmla="*/ 1857 h 2068"/>
              <a:gd name="T34" fmla="*/ 1226 w 3246"/>
              <a:gd name="T35" fmla="*/ 1874 h 2068"/>
              <a:gd name="T36" fmla="*/ 1298 w 3246"/>
              <a:gd name="T37" fmla="*/ 1890 h 2068"/>
              <a:gd name="T38" fmla="*/ 1370 w 3246"/>
              <a:gd name="T39" fmla="*/ 1904 h 2068"/>
              <a:gd name="T40" fmla="*/ 1442 w 3246"/>
              <a:gd name="T41" fmla="*/ 1918 h 2068"/>
              <a:gd name="T42" fmla="*/ 1515 w 3246"/>
              <a:gd name="T43" fmla="*/ 1929 h 2068"/>
              <a:gd name="T44" fmla="*/ 1587 w 3246"/>
              <a:gd name="T45" fmla="*/ 1941 h 2068"/>
              <a:gd name="T46" fmla="*/ 1659 w 3246"/>
              <a:gd name="T47" fmla="*/ 1951 h 2068"/>
              <a:gd name="T48" fmla="*/ 1731 w 3246"/>
              <a:gd name="T49" fmla="*/ 1960 h 2068"/>
              <a:gd name="T50" fmla="*/ 1803 w 3246"/>
              <a:gd name="T51" fmla="*/ 1969 h 2068"/>
              <a:gd name="T52" fmla="*/ 1875 w 3246"/>
              <a:gd name="T53" fmla="*/ 1977 h 2068"/>
              <a:gd name="T54" fmla="*/ 1947 w 3246"/>
              <a:gd name="T55" fmla="*/ 1985 h 2068"/>
              <a:gd name="T56" fmla="*/ 2019 w 3246"/>
              <a:gd name="T57" fmla="*/ 1992 h 2068"/>
              <a:gd name="T58" fmla="*/ 2091 w 3246"/>
              <a:gd name="T59" fmla="*/ 1998 h 2068"/>
              <a:gd name="T60" fmla="*/ 2164 w 3246"/>
              <a:gd name="T61" fmla="*/ 2004 h 2068"/>
              <a:gd name="T62" fmla="*/ 2236 w 3246"/>
              <a:gd name="T63" fmla="*/ 2011 h 2068"/>
              <a:gd name="T64" fmla="*/ 2308 w 3246"/>
              <a:gd name="T65" fmla="*/ 2016 h 2068"/>
              <a:gd name="T66" fmla="*/ 2380 w 3246"/>
              <a:gd name="T67" fmla="*/ 2021 h 2068"/>
              <a:gd name="T68" fmla="*/ 2452 w 3246"/>
              <a:gd name="T69" fmla="*/ 2026 h 2068"/>
              <a:gd name="T70" fmla="*/ 2524 w 3246"/>
              <a:gd name="T71" fmla="*/ 2031 h 2068"/>
              <a:gd name="T72" fmla="*/ 2596 w 3246"/>
              <a:gd name="T73" fmla="*/ 2035 h 2068"/>
              <a:gd name="T74" fmla="*/ 2668 w 3246"/>
              <a:gd name="T75" fmla="*/ 2040 h 2068"/>
              <a:gd name="T76" fmla="*/ 2740 w 3246"/>
              <a:gd name="T77" fmla="*/ 2044 h 2068"/>
              <a:gd name="T78" fmla="*/ 2813 w 3246"/>
              <a:gd name="T79" fmla="*/ 2047 h 2068"/>
              <a:gd name="T80" fmla="*/ 2885 w 3246"/>
              <a:gd name="T81" fmla="*/ 2051 h 2068"/>
              <a:gd name="T82" fmla="*/ 2957 w 3246"/>
              <a:gd name="T83" fmla="*/ 2055 h 2068"/>
              <a:gd name="T84" fmla="*/ 3029 w 3246"/>
              <a:gd name="T85" fmla="*/ 2058 h 2068"/>
              <a:gd name="T86" fmla="*/ 3101 w 3246"/>
              <a:gd name="T87" fmla="*/ 2061 h 2068"/>
              <a:gd name="T88" fmla="*/ 3173 w 3246"/>
              <a:gd name="T89" fmla="*/ 2064 h 2068"/>
              <a:gd name="T90" fmla="*/ 3245 w 3246"/>
              <a:gd name="T91" fmla="*/ 2067 h 20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246" h="2068">
                <a:moveTo>
                  <a:pt x="0" y="0"/>
                </a:moveTo>
                <a:lnTo>
                  <a:pt x="72" y="552"/>
                </a:lnTo>
                <a:lnTo>
                  <a:pt x="144" y="882"/>
                </a:lnTo>
                <a:lnTo>
                  <a:pt x="216" y="1103"/>
                </a:lnTo>
                <a:lnTo>
                  <a:pt x="289" y="1260"/>
                </a:lnTo>
                <a:lnTo>
                  <a:pt x="360" y="1378"/>
                </a:lnTo>
                <a:lnTo>
                  <a:pt x="433" y="1470"/>
                </a:lnTo>
                <a:lnTo>
                  <a:pt x="505" y="1543"/>
                </a:lnTo>
                <a:lnTo>
                  <a:pt x="577" y="1604"/>
                </a:lnTo>
                <a:lnTo>
                  <a:pt x="649" y="1654"/>
                </a:lnTo>
                <a:lnTo>
                  <a:pt x="721" y="1696"/>
                </a:lnTo>
                <a:lnTo>
                  <a:pt x="793" y="1733"/>
                </a:lnTo>
                <a:lnTo>
                  <a:pt x="865" y="1764"/>
                </a:lnTo>
                <a:lnTo>
                  <a:pt x="938" y="1791"/>
                </a:lnTo>
                <a:lnTo>
                  <a:pt x="1009" y="1816"/>
                </a:lnTo>
                <a:lnTo>
                  <a:pt x="1082" y="1838"/>
                </a:lnTo>
                <a:lnTo>
                  <a:pt x="1154" y="1857"/>
                </a:lnTo>
                <a:lnTo>
                  <a:pt x="1226" y="1874"/>
                </a:lnTo>
                <a:lnTo>
                  <a:pt x="1298" y="1890"/>
                </a:lnTo>
                <a:lnTo>
                  <a:pt x="1370" y="1904"/>
                </a:lnTo>
                <a:lnTo>
                  <a:pt x="1442" y="1918"/>
                </a:lnTo>
                <a:lnTo>
                  <a:pt x="1515" y="1929"/>
                </a:lnTo>
                <a:lnTo>
                  <a:pt x="1587" y="1941"/>
                </a:lnTo>
                <a:lnTo>
                  <a:pt x="1659" y="1951"/>
                </a:lnTo>
                <a:lnTo>
                  <a:pt x="1731" y="1960"/>
                </a:lnTo>
                <a:lnTo>
                  <a:pt x="1803" y="1969"/>
                </a:lnTo>
                <a:lnTo>
                  <a:pt x="1875" y="1977"/>
                </a:lnTo>
                <a:lnTo>
                  <a:pt x="1947" y="1985"/>
                </a:lnTo>
                <a:lnTo>
                  <a:pt x="2019" y="1992"/>
                </a:lnTo>
                <a:lnTo>
                  <a:pt x="2091" y="1998"/>
                </a:lnTo>
                <a:lnTo>
                  <a:pt x="2164" y="2004"/>
                </a:lnTo>
                <a:lnTo>
                  <a:pt x="2236" y="2011"/>
                </a:lnTo>
                <a:lnTo>
                  <a:pt x="2308" y="2016"/>
                </a:lnTo>
                <a:lnTo>
                  <a:pt x="2380" y="2021"/>
                </a:lnTo>
                <a:lnTo>
                  <a:pt x="2452" y="2026"/>
                </a:lnTo>
                <a:lnTo>
                  <a:pt x="2524" y="2031"/>
                </a:lnTo>
                <a:lnTo>
                  <a:pt x="2596" y="2035"/>
                </a:lnTo>
                <a:lnTo>
                  <a:pt x="2668" y="2040"/>
                </a:lnTo>
                <a:lnTo>
                  <a:pt x="2740" y="2044"/>
                </a:lnTo>
                <a:lnTo>
                  <a:pt x="2813" y="2047"/>
                </a:lnTo>
                <a:lnTo>
                  <a:pt x="2885" y="2051"/>
                </a:lnTo>
                <a:lnTo>
                  <a:pt x="2957" y="2055"/>
                </a:lnTo>
                <a:lnTo>
                  <a:pt x="3029" y="2058"/>
                </a:lnTo>
                <a:lnTo>
                  <a:pt x="3101" y="2061"/>
                </a:lnTo>
                <a:lnTo>
                  <a:pt x="3173" y="2064"/>
                </a:lnTo>
                <a:lnTo>
                  <a:pt x="3245" y="2067"/>
                </a:lnTo>
              </a:path>
            </a:pathLst>
          </a:custGeom>
          <a:noFill/>
          <a:ln w="25400" cap="rnd" cmpd="sng">
            <a:solidFill>
              <a:srgbClr val="3399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1" name="Freeform 5"/>
          <p:cNvSpPr>
            <a:spLocks/>
          </p:cNvSpPr>
          <p:nvPr/>
        </p:nvSpPr>
        <p:spPr bwMode="auto">
          <a:xfrm>
            <a:off x="1946275" y="2932113"/>
            <a:ext cx="5153025" cy="2363787"/>
          </a:xfrm>
          <a:custGeom>
            <a:avLst/>
            <a:gdLst>
              <a:gd name="T0" fmla="*/ 0 w 3246"/>
              <a:gd name="T1" fmla="*/ 1488 h 1489"/>
              <a:gd name="T2" fmla="*/ 72 w 3246"/>
              <a:gd name="T3" fmla="*/ 1455 h 1489"/>
              <a:gd name="T4" fmla="*/ 144 w 3246"/>
              <a:gd name="T5" fmla="*/ 1422 h 1489"/>
              <a:gd name="T6" fmla="*/ 216 w 3246"/>
              <a:gd name="T7" fmla="*/ 1389 h 1489"/>
              <a:gd name="T8" fmla="*/ 289 w 3246"/>
              <a:gd name="T9" fmla="*/ 1355 h 1489"/>
              <a:gd name="T10" fmla="*/ 360 w 3246"/>
              <a:gd name="T11" fmla="*/ 1323 h 1489"/>
              <a:gd name="T12" fmla="*/ 433 w 3246"/>
              <a:gd name="T13" fmla="*/ 1289 h 1489"/>
              <a:gd name="T14" fmla="*/ 505 w 3246"/>
              <a:gd name="T15" fmla="*/ 1256 h 1489"/>
              <a:gd name="T16" fmla="*/ 577 w 3246"/>
              <a:gd name="T17" fmla="*/ 1223 h 1489"/>
              <a:gd name="T18" fmla="*/ 649 w 3246"/>
              <a:gd name="T19" fmla="*/ 1190 h 1489"/>
              <a:gd name="T20" fmla="*/ 721 w 3246"/>
              <a:gd name="T21" fmla="*/ 1157 h 1489"/>
              <a:gd name="T22" fmla="*/ 793 w 3246"/>
              <a:gd name="T23" fmla="*/ 1124 h 1489"/>
              <a:gd name="T24" fmla="*/ 865 w 3246"/>
              <a:gd name="T25" fmla="*/ 1091 h 1489"/>
              <a:gd name="T26" fmla="*/ 938 w 3246"/>
              <a:gd name="T27" fmla="*/ 1058 h 1489"/>
              <a:gd name="T28" fmla="*/ 1009 w 3246"/>
              <a:gd name="T29" fmla="*/ 1025 h 1489"/>
              <a:gd name="T30" fmla="*/ 1082 w 3246"/>
              <a:gd name="T31" fmla="*/ 992 h 1489"/>
              <a:gd name="T32" fmla="*/ 1154 w 3246"/>
              <a:gd name="T33" fmla="*/ 959 h 1489"/>
              <a:gd name="T34" fmla="*/ 1226 w 3246"/>
              <a:gd name="T35" fmla="*/ 925 h 1489"/>
              <a:gd name="T36" fmla="*/ 1298 w 3246"/>
              <a:gd name="T37" fmla="*/ 893 h 1489"/>
              <a:gd name="T38" fmla="*/ 1370 w 3246"/>
              <a:gd name="T39" fmla="*/ 859 h 1489"/>
              <a:gd name="T40" fmla="*/ 1442 w 3246"/>
              <a:gd name="T41" fmla="*/ 826 h 1489"/>
              <a:gd name="T42" fmla="*/ 1515 w 3246"/>
              <a:gd name="T43" fmla="*/ 793 h 1489"/>
              <a:gd name="T44" fmla="*/ 1587 w 3246"/>
              <a:gd name="T45" fmla="*/ 760 h 1489"/>
              <a:gd name="T46" fmla="*/ 1659 w 3246"/>
              <a:gd name="T47" fmla="*/ 727 h 1489"/>
              <a:gd name="T48" fmla="*/ 1731 w 3246"/>
              <a:gd name="T49" fmla="*/ 694 h 1489"/>
              <a:gd name="T50" fmla="*/ 1803 w 3246"/>
              <a:gd name="T51" fmla="*/ 661 h 1489"/>
              <a:gd name="T52" fmla="*/ 1875 w 3246"/>
              <a:gd name="T53" fmla="*/ 628 h 1489"/>
              <a:gd name="T54" fmla="*/ 1947 w 3246"/>
              <a:gd name="T55" fmla="*/ 595 h 1489"/>
              <a:gd name="T56" fmla="*/ 2019 w 3246"/>
              <a:gd name="T57" fmla="*/ 562 h 1489"/>
              <a:gd name="T58" fmla="*/ 2091 w 3246"/>
              <a:gd name="T59" fmla="*/ 529 h 1489"/>
              <a:gd name="T60" fmla="*/ 2164 w 3246"/>
              <a:gd name="T61" fmla="*/ 496 h 1489"/>
              <a:gd name="T62" fmla="*/ 2236 w 3246"/>
              <a:gd name="T63" fmla="*/ 463 h 1489"/>
              <a:gd name="T64" fmla="*/ 2308 w 3246"/>
              <a:gd name="T65" fmla="*/ 430 h 1489"/>
              <a:gd name="T66" fmla="*/ 2380 w 3246"/>
              <a:gd name="T67" fmla="*/ 397 h 1489"/>
              <a:gd name="T68" fmla="*/ 2452 w 3246"/>
              <a:gd name="T69" fmla="*/ 363 h 1489"/>
              <a:gd name="T70" fmla="*/ 2524 w 3246"/>
              <a:gd name="T71" fmla="*/ 330 h 1489"/>
              <a:gd name="T72" fmla="*/ 2596 w 3246"/>
              <a:gd name="T73" fmla="*/ 297 h 1489"/>
              <a:gd name="T74" fmla="*/ 2668 w 3246"/>
              <a:gd name="T75" fmla="*/ 264 h 1489"/>
              <a:gd name="T76" fmla="*/ 2740 w 3246"/>
              <a:gd name="T77" fmla="*/ 231 h 1489"/>
              <a:gd name="T78" fmla="*/ 2813 w 3246"/>
              <a:gd name="T79" fmla="*/ 198 h 1489"/>
              <a:gd name="T80" fmla="*/ 2885 w 3246"/>
              <a:gd name="T81" fmla="*/ 165 h 1489"/>
              <a:gd name="T82" fmla="*/ 2957 w 3246"/>
              <a:gd name="T83" fmla="*/ 132 h 1489"/>
              <a:gd name="T84" fmla="*/ 3029 w 3246"/>
              <a:gd name="T85" fmla="*/ 99 h 1489"/>
              <a:gd name="T86" fmla="*/ 3101 w 3246"/>
              <a:gd name="T87" fmla="*/ 66 h 1489"/>
              <a:gd name="T88" fmla="*/ 3173 w 3246"/>
              <a:gd name="T89" fmla="*/ 33 h 1489"/>
              <a:gd name="T90" fmla="*/ 3245 w 3246"/>
              <a:gd name="T91" fmla="*/ 0 h 1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246" h="1489">
                <a:moveTo>
                  <a:pt x="0" y="1488"/>
                </a:moveTo>
                <a:lnTo>
                  <a:pt x="72" y="1455"/>
                </a:lnTo>
                <a:lnTo>
                  <a:pt x="144" y="1422"/>
                </a:lnTo>
                <a:lnTo>
                  <a:pt x="216" y="1389"/>
                </a:lnTo>
                <a:lnTo>
                  <a:pt x="289" y="1355"/>
                </a:lnTo>
                <a:lnTo>
                  <a:pt x="360" y="1323"/>
                </a:lnTo>
                <a:lnTo>
                  <a:pt x="433" y="1289"/>
                </a:lnTo>
                <a:lnTo>
                  <a:pt x="505" y="1256"/>
                </a:lnTo>
                <a:lnTo>
                  <a:pt x="577" y="1223"/>
                </a:lnTo>
                <a:lnTo>
                  <a:pt x="649" y="1190"/>
                </a:lnTo>
                <a:lnTo>
                  <a:pt x="721" y="1157"/>
                </a:lnTo>
                <a:lnTo>
                  <a:pt x="793" y="1124"/>
                </a:lnTo>
                <a:lnTo>
                  <a:pt x="865" y="1091"/>
                </a:lnTo>
                <a:lnTo>
                  <a:pt x="938" y="1058"/>
                </a:lnTo>
                <a:lnTo>
                  <a:pt x="1009" y="1025"/>
                </a:lnTo>
                <a:lnTo>
                  <a:pt x="1082" y="992"/>
                </a:lnTo>
                <a:lnTo>
                  <a:pt x="1154" y="959"/>
                </a:lnTo>
                <a:lnTo>
                  <a:pt x="1226" y="925"/>
                </a:lnTo>
                <a:lnTo>
                  <a:pt x="1298" y="893"/>
                </a:lnTo>
                <a:lnTo>
                  <a:pt x="1370" y="859"/>
                </a:lnTo>
                <a:lnTo>
                  <a:pt x="1442" y="826"/>
                </a:lnTo>
                <a:lnTo>
                  <a:pt x="1515" y="793"/>
                </a:lnTo>
                <a:lnTo>
                  <a:pt x="1587" y="760"/>
                </a:lnTo>
                <a:lnTo>
                  <a:pt x="1659" y="727"/>
                </a:lnTo>
                <a:lnTo>
                  <a:pt x="1731" y="694"/>
                </a:lnTo>
                <a:lnTo>
                  <a:pt x="1803" y="661"/>
                </a:lnTo>
                <a:lnTo>
                  <a:pt x="1875" y="628"/>
                </a:lnTo>
                <a:lnTo>
                  <a:pt x="1947" y="595"/>
                </a:lnTo>
                <a:lnTo>
                  <a:pt x="2019" y="562"/>
                </a:lnTo>
                <a:lnTo>
                  <a:pt x="2091" y="529"/>
                </a:lnTo>
                <a:lnTo>
                  <a:pt x="2164" y="496"/>
                </a:lnTo>
                <a:lnTo>
                  <a:pt x="2236" y="463"/>
                </a:lnTo>
                <a:lnTo>
                  <a:pt x="2308" y="430"/>
                </a:lnTo>
                <a:lnTo>
                  <a:pt x="2380" y="397"/>
                </a:lnTo>
                <a:lnTo>
                  <a:pt x="2452" y="363"/>
                </a:lnTo>
                <a:lnTo>
                  <a:pt x="2524" y="330"/>
                </a:lnTo>
                <a:lnTo>
                  <a:pt x="2596" y="297"/>
                </a:lnTo>
                <a:lnTo>
                  <a:pt x="2668" y="264"/>
                </a:lnTo>
                <a:lnTo>
                  <a:pt x="2740" y="231"/>
                </a:lnTo>
                <a:lnTo>
                  <a:pt x="2813" y="198"/>
                </a:lnTo>
                <a:lnTo>
                  <a:pt x="2885" y="165"/>
                </a:lnTo>
                <a:lnTo>
                  <a:pt x="2957" y="132"/>
                </a:lnTo>
                <a:lnTo>
                  <a:pt x="3029" y="99"/>
                </a:lnTo>
                <a:lnTo>
                  <a:pt x="3101" y="66"/>
                </a:lnTo>
                <a:lnTo>
                  <a:pt x="3173" y="33"/>
                </a:lnTo>
                <a:lnTo>
                  <a:pt x="3245" y="0"/>
                </a:lnTo>
              </a:path>
            </a:pathLst>
          </a:custGeom>
          <a:solidFill>
            <a:srgbClr val="00CC00"/>
          </a:solidFill>
          <a:ln w="25400" cap="rnd" cmpd="sng">
            <a:solidFill>
              <a:srgbClr val="00CC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2" name="Line 6"/>
          <p:cNvSpPr>
            <a:spLocks noChangeShapeType="1"/>
          </p:cNvSpPr>
          <p:nvPr/>
        </p:nvSpPr>
        <p:spPr bwMode="auto">
          <a:xfrm>
            <a:off x="1603375" y="5451475"/>
            <a:ext cx="62674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3" name="Line 7"/>
          <p:cNvSpPr>
            <a:spLocks noChangeShapeType="1"/>
          </p:cNvSpPr>
          <p:nvPr/>
        </p:nvSpPr>
        <p:spPr bwMode="auto">
          <a:xfrm>
            <a:off x="1603375" y="1252538"/>
            <a:ext cx="0" cy="41989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4" name="Rectangle 8"/>
          <p:cNvSpPr>
            <a:spLocks noChangeArrowheads="1"/>
          </p:cNvSpPr>
          <p:nvPr/>
        </p:nvSpPr>
        <p:spPr bwMode="auto">
          <a:xfrm>
            <a:off x="1231900" y="1212850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/>
              <a:t>$</a:t>
            </a:r>
          </a:p>
        </p:txBody>
      </p:sp>
      <p:sp>
        <p:nvSpPr>
          <p:cNvPr id="9225" name="Rectangle 9"/>
          <p:cNvSpPr>
            <a:spLocks noChangeArrowheads="1"/>
          </p:cNvSpPr>
          <p:nvPr/>
        </p:nvSpPr>
        <p:spPr bwMode="auto">
          <a:xfrm>
            <a:off x="6337300" y="5473700"/>
            <a:ext cx="16462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/>
              <a:t>Service Level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4535488" y="2517775"/>
            <a:ext cx="1177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600" b="1"/>
              <a:t>Total Cost</a:t>
            </a:r>
          </a:p>
        </p:txBody>
      </p:sp>
      <p:sp>
        <p:nvSpPr>
          <p:cNvPr id="9227" name="Line 11"/>
          <p:cNvSpPr>
            <a:spLocks noChangeShapeType="1"/>
          </p:cNvSpPr>
          <p:nvPr/>
        </p:nvSpPr>
        <p:spPr bwMode="auto">
          <a:xfrm>
            <a:off x="5730875" y="2708275"/>
            <a:ext cx="455613" cy="255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Rectangle 12"/>
          <p:cNvSpPr>
            <a:spLocks noChangeArrowheads="1"/>
          </p:cNvSpPr>
          <p:nvPr/>
        </p:nvSpPr>
        <p:spPr bwMode="auto">
          <a:xfrm>
            <a:off x="5141913" y="4102100"/>
            <a:ext cx="2622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600" b="1"/>
              <a:t>Cost of providing service</a:t>
            </a:r>
          </a:p>
        </p:txBody>
      </p:sp>
      <p:sp>
        <p:nvSpPr>
          <p:cNvPr id="9229" name="Rectangle 13"/>
          <p:cNvSpPr>
            <a:spLocks noChangeArrowheads="1"/>
          </p:cNvSpPr>
          <p:nvPr/>
        </p:nvSpPr>
        <p:spPr bwMode="auto">
          <a:xfrm>
            <a:off x="4478338" y="4476750"/>
            <a:ext cx="3333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1600" b="1"/>
              <a:t>Cost of customer dissatisfaction</a:t>
            </a:r>
          </a:p>
        </p:txBody>
      </p:sp>
      <p:sp>
        <p:nvSpPr>
          <p:cNvPr id="9230" name="Line 14"/>
          <p:cNvSpPr>
            <a:spLocks noChangeShapeType="1"/>
          </p:cNvSpPr>
          <p:nvPr/>
        </p:nvSpPr>
        <p:spPr bwMode="auto">
          <a:xfrm flipH="1" flipV="1">
            <a:off x="4889500" y="4010025"/>
            <a:ext cx="315913" cy="2111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1" name="Line 15"/>
          <p:cNvSpPr>
            <a:spLocks noChangeShapeType="1"/>
          </p:cNvSpPr>
          <p:nvPr/>
        </p:nvSpPr>
        <p:spPr bwMode="auto">
          <a:xfrm flipH="1">
            <a:off x="4173538" y="4659313"/>
            <a:ext cx="354012" cy="266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381000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Common Queuing System Configurations</a:t>
            </a:r>
          </a:p>
        </p:txBody>
      </p:sp>
      <p:grpSp>
        <p:nvGrpSpPr>
          <p:cNvPr id="10324" name="Group 84"/>
          <p:cNvGrpSpPr>
            <a:grpSpLocks/>
          </p:cNvGrpSpPr>
          <p:nvPr/>
        </p:nvGrpSpPr>
        <p:grpSpPr bwMode="auto">
          <a:xfrm>
            <a:off x="406400" y="4121150"/>
            <a:ext cx="8128000" cy="2127250"/>
            <a:chOff x="256" y="2722"/>
            <a:chExt cx="5120" cy="1340"/>
          </a:xfrm>
        </p:grpSpPr>
        <p:sp>
          <p:nvSpPr>
            <p:cNvPr id="10257" name="Rectangle 17"/>
            <p:cNvSpPr>
              <a:spLocks noChangeArrowheads="1"/>
            </p:cNvSpPr>
            <p:nvPr/>
          </p:nvSpPr>
          <p:spPr bwMode="auto">
            <a:xfrm>
              <a:off x="1476" y="3022"/>
              <a:ext cx="1361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500" b="1" dirty="0"/>
                <a:t>Waiting Line</a:t>
              </a:r>
            </a:p>
          </p:txBody>
        </p:sp>
        <p:sp>
          <p:nvSpPr>
            <p:cNvPr id="10258" name="Rectangle 18"/>
            <p:cNvSpPr>
              <a:spLocks noChangeArrowheads="1"/>
            </p:cNvSpPr>
            <p:nvPr/>
          </p:nvSpPr>
          <p:spPr bwMode="auto">
            <a:xfrm>
              <a:off x="1151" y="2722"/>
              <a:ext cx="3230" cy="13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9" name="Oval 19"/>
            <p:cNvSpPr>
              <a:spLocks noChangeArrowheads="1"/>
            </p:cNvSpPr>
            <p:nvPr/>
          </p:nvSpPr>
          <p:spPr bwMode="auto">
            <a:xfrm>
              <a:off x="1527" y="2853"/>
              <a:ext cx="180" cy="16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0" name="Oval 20"/>
            <p:cNvSpPr>
              <a:spLocks noChangeArrowheads="1"/>
            </p:cNvSpPr>
            <p:nvPr/>
          </p:nvSpPr>
          <p:spPr bwMode="auto">
            <a:xfrm>
              <a:off x="1997" y="2853"/>
              <a:ext cx="180" cy="16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1" name="Oval 21"/>
            <p:cNvSpPr>
              <a:spLocks noChangeArrowheads="1"/>
            </p:cNvSpPr>
            <p:nvPr/>
          </p:nvSpPr>
          <p:spPr bwMode="auto">
            <a:xfrm>
              <a:off x="2653" y="2853"/>
              <a:ext cx="180" cy="16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2" name="Rectangle 22"/>
            <p:cNvSpPr>
              <a:spLocks noChangeArrowheads="1"/>
            </p:cNvSpPr>
            <p:nvPr/>
          </p:nvSpPr>
          <p:spPr bwMode="auto">
            <a:xfrm>
              <a:off x="3216" y="2765"/>
              <a:ext cx="977" cy="3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3" name="Rectangle 23"/>
            <p:cNvSpPr>
              <a:spLocks noChangeArrowheads="1"/>
            </p:cNvSpPr>
            <p:nvPr/>
          </p:nvSpPr>
          <p:spPr bwMode="auto">
            <a:xfrm>
              <a:off x="3353" y="2978"/>
              <a:ext cx="750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500" b="1"/>
                <a:t>Server 1</a:t>
              </a:r>
            </a:p>
          </p:txBody>
        </p:sp>
        <p:sp>
          <p:nvSpPr>
            <p:cNvPr id="10264" name="Oval 24"/>
            <p:cNvSpPr>
              <a:spLocks noChangeArrowheads="1"/>
            </p:cNvSpPr>
            <p:nvPr/>
          </p:nvSpPr>
          <p:spPr bwMode="auto">
            <a:xfrm>
              <a:off x="3637" y="2828"/>
              <a:ext cx="180" cy="16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5" name="Rectangle 25"/>
            <p:cNvSpPr>
              <a:spLocks noChangeArrowheads="1"/>
            </p:cNvSpPr>
            <p:nvPr/>
          </p:nvSpPr>
          <p:spPr bwMode="auto">
            <a:xfrm>
              <a:off x="3216" y="3201"/>
              <a:ext cx="977" cy="38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6" name="Rectangle 26"/>
            <p:cNvSpPr>
              <a:spLocks noChangeArrowheads="1"/>
            </p:cNvSpPr>
            <p:nvPr/>
          </p:nvSpPr>
          <p:spPr bwMode="auto">
            <a:xfrm>
              <a:off x="3353" y="3414"/>
              <a:ext cx="750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500" b="1"/>
                <a:t>Server 2</a:t>
              </a:r>
            </a:p>
          </p:txBody>
        </p:sp>
        <p:sp>
          <p:nvSpPr>
            <p:cNvPr id="10267" name="Oval 27"/>
            <p:cNvSpPr>
              <a:spLocks noChangeArrowheads="1"/>
            </p:cNvSpPr>
            <p:nvPr/>
          </p:nvSpPr>
          <p:spPr bwMode="auto">
            <a:xfrm>
              <a:off x="3637" y="3264"/>
              <a:ext cx="180" cy="16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8" name="Rectangle 28"/>
            <p:cNvSpPr>
              <a:spLocks noChangeArrowheads="1"/>
            </p:cNvSpPr>
            <p:nvPr/>
          </p:nvSpPr>
          <p:spPr bwMode="auto">
            <a:xfrm>
              <a:off x="3216" y="3635"/>
              <a:ext cx="977" cy="3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9" name="Rectangle 29"/>
            <p:cNvSpPr>
              <a:spLocks noChangeArrowheads="1"/>
            </p:cNvSpPr>
            <p:nvPr/>
          </p:nvSpPr>
          <p:spPr bwMode="auto">
            <a:xfrm>
              <a:off x="3353" y="3850"/>
              <a:ext cx="750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500" b="1"/>
                <a:t>Server 3</a:t>
              </a:r>
            </a:p>
          </p:txBody>
        </p:sp>
        <p:sp>
          <p:nvSpPr>
            <p:cNvPr id="10270" name="Oval 30"/>
            <p:cNvSpPr>
              <a:spLocks noChangeArrowheads="1"/>
            </p:cNvSpPr>
            <p:nvPr/>
          </p:nvSpPr>
          <p:spPr bwMode="auto">
            <a:xfrm>
              <a:off x="3637" y="3699"/>
              <a:ext cx="180" cy="16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7" name="Rectangle 47"/>
            <p:cNvSpPr>
              <a:spLocks noChangeArrowheads="1"/>
            </p:cNvSpPr>
            <p:nvPr/>
          </p:nvSpPr>
          <p:spPr bwMode="auto">
            <a:xfrm>
              <a:off x="1470" y="3414"/>
              <a:ext cx="1361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500" b="1"/>
                <a:t>Waiting Line</a:t>
              </a:r>
            </a:p>
          </p:txBody>
        </p:sp>
        <p:sp>
          <p:nvSpPr>
            <p:cNvPr id="10288" name="Oval 48"/>
            <p:cNvSpPr>
              <a:spLocks noChangeArrowheads="1"/>
            </p:cNvSpPr>
            <p:nvPr/>
          </p:nvSpPr>
          <p:spPr bwMode="auto">
            <a:xfrm>
              <a:off x="1527" y="3244"/>
              <a:ext cx="180" cy="16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9" name="Oval 49"/>
            <p:cNvSpPr>
              <a:spLocks noChangeArrowheads="1"/>
            </p:cNvSpPr>
            <p:nvPr/>
          </p:nvSpPr>
          <p:spPr bwMode="auto">
            <a:xfrm>
              <a:off x="1997" y="3244"/>
              <a:ext cx="180" cy="16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0" name="Oval 50"/>
            <p:cNvSpPr>
              <a:spLocks noChangeArrowheads="1"/>
            </p:cNvSpPr>
            <p:nvPr/>
          </p:nvSpPr>
          <p:spPr bwMode="auto">
            <a:xfrm>
              <a:off x="2653" y="3244"/>
              <a:ext cx="180" cy="16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1" name="Rectangle 51"/>
            <p:cNvSpPr>
              <a:spLocks noChangeArrowheads="1"/>
            </p:cNvSpPr>
            <p:nvPr/>
          </p:nvSpPr>
          <p:spPr bwMode="auto">
            <a:xfrm>
              <a:off x="1481" y="3850"/>
              <a:ext cx="1360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500" b="1"/>
                <a:t>Waiting Line</a:t>
              </a:r>
            </a:p>
          </p:txBody>
        </p:sp>
        <p:sp>
          <p:nvSpPr>
            <p:cNvPr id="10292" name="Oval 52"/>
            <p:cNvSpPr>
              <a:spLocks noChangeArrowheads="1"/>
            </p:cNvSpPr>
            <p:nvPr/>
          </p:nvSpPr>
          <p:spPr bwMode="auto">
            <a:xfrm>
              <a:off x="1527" y="3678"/>
              <a:ext cx="180" cy="16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3" name="Oval 53"/>
            <p:cNvSpPr>
              <a:spLocks noChangeArrowheads="1"/>
            </p:cNvSpPr>
            <p:nvPr/>
          </p:nvSpPr>
          <p:spPr bwMode="auto">
            <a:xfrm>
              <a:off x="1997" y="3678"/>
              <a:ext cx="180" cy="16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4" name="Oval 54"/>
            <p:cNvSpPr>
              <a:spLocks noChangeArrowheads="1"/>
            </p:cNvSpPr>
            <p:nvPr/>
          </p:nvSpPr>
          <p:spPr bwMode="auto">
            <a:xfrm>
              <a:off x="2653" y="3678"/>
              <a:ext cx="180" cy="16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9" name="Rectangle 59"/>
            <p:cNvSpPr>
              <a:spLocks noChangeArrowheads="1"/>
            </p:cNvSpPr>
            <p:nvPr/>
          </p:nvSpPr>
          <p:spPr bwMode="auto">
            <a:xfrm>
              <a:off x="4525" y="2761"/>
              <a:ext cx="8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</a:pPr>
              <a:r>
                <a:rPr lang="en-US" b="1"/>
                <a:t>CustomerLeaves</a:t>
              </a:r>
            </a:p>
          </p:txBody>
        </p:sp>
        <p:sp>
          <p:nvSpPr>
            <p:cNvPr id="10300" name="Line 60"/>
            <p:cNvSpPr>
              <a:spLocks noChangeShapeType="1"/>
            </p:cNvSpPr>
            <p:nvPr/>
          </p:nvSpPr>
          <p:spPr bwMode="auto">
            <a:xfrm>
              <a:off x="4244" y="2934"/>
              <a:ext cx="3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1" name="Rectangle 61"/>
            <p:cNvSpPr>
              <a:spLocks noChangeArrowheads="1"/>
            </p:cNvSpPr>
            <p:nvPr/>
          </p:nvSpPr>
          <p:spPr bwMode="auto">
            <a:xfrm>
              <a:off x="4531" y="3190"/>
              <a:ext cx="8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</a:pPr>
              <a:r>
                <a:rPr lang="en-US" b="1"/>
                <a:t>CustomerLeaves</a:t>
              </a:r>
            </a:p>
          </p:txBody>
        </p:sp>
        <p:sp>
          <p:nvSpPr>
            <p:cNvPr id="10302" name="Line 62"/>
            <p:cNvSpPr>
              <a:spLocks noChangeShapeType="1"/>
            </p:cNvSpPr>
            <p:nvPr/>
          </p:nvSpPr>
          <p:spPr bwMode="auto">
            <a:xfrm>
              <a:off x="4250" y="3349"/>
              <a:ext cx="3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3" name="Rectangle 63"/>
            <p:cNvSpPr>
              <a:spLocks noChangeArrowheads="1"/>
            </p:cNvSpPr>
            <p:nvPr/>
          </p:nvSpPr>
          <p:spPr bwMode="auto">
            <a:xfrm>
              <a:off x="4531" y="3621"/>
              <a:ext cx="8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</a:pPr>
              <a:r>
                <a:rPr lang="en-US" b="1"/>
                <a:t>CustomerLeaves</a:t>
              </a:r>
            </a:p>
          </p:txBody>
        </p:sp>
        <p:sp>
          <p:nvSpPr>
            <p:cNvPr id="10304" name="Line 64"/>
            <p:cNvSpPr>
              <a:spLocks noChangeShapeType="1"/>
            </p:cNvSpPr>
            <p:nvPr/>
          </p:nvSpPr>
          <p:spPr bwMode="auto">
            <a:xfrm>
              <a:off x="4244" y="3789"/>
              <a:ext cx="3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5" name="Rectangle 65"/>
            <p:cNvSpPr>
              <a:spLocks noChangeArrowheads="1"/>
            </p:cNvSpPr>
            <p:nvPr/>
          </p:nvSpPr>
          <p:spPr bwMode="auto">
            <a:xfrm>
              <a:off x="2333" y="2784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400">
                  <a:latin typeface="Times New Roman" pitchFamily="18" charset="0"/>
                </a:rPr>
                <a:t>...</a:t>
              </a:r>
            </a:p>
          </p:txBody>
        </p:sp>
        <p:sp>
          <p:nvSpPr>
            <p:cNvPr id="10306" name="Rectangle 66"/>
            <p:cNvSpPr>
              <a:spLocks noChangeArrowheads="1"/>
            </p:cNvSpPr>
            <p:nvPr/>
          </p:nvSpPr>
          <p:spPr bwMode="auto">
            <a:xfrm>
              <a:off x="2333" y="3188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400">
                  <a:latin typeface="Times New Roman" pitchFamily="18" charset="0"/>
                </a:rPr>
                <a:t>...</a:t>
              </a:r>
            </a:p>
          </p:txBody>
        </p:sp>
        <p:sp>
          <p:nvSpPr>
            <p:cNvPr id="10307" name="Rectangle 67"/>
            <p:cNvSpPr>
              <a:spLocks noChangeArrowheads="1"/>
            </p:cNvSpPr>
            <p:nvPr/>
          </p:nvSpPr>
          <p:spPr bwMode="auto">
            <a:xfrm>
              <a:off x="2333" y="3621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400">
                  <a:latin typeface="Times New Roman" pitchFamily="18" charset="0"/>
                </a:rPr>
                <a:t>...</a:t>
              </a:r>
            </a:p>
          </p:txBody>
        </p:sp>
        <p:sp>
          <p:nvSpPr>
            <p:cNvPr id="10310" name="Rectangle 70"/>
            <p:cNvSpPr>
              <a:spLocks noChangeArrowheads="1"/>
            </p:cNvSpPr>
            <p:nvPr/>
          </p:nvSpPr>
          <p:spPr bwMode="auto">
            <a:xfrm>
              <a:off x="256" y="3153"/>
              <a:ext cx="798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</a:pPr>
              <a:r>
                <a:rPr lang="en-US" b="1"/>
                <a:t>CustomerArrives</a:t>
              </a:r>
            </a:p>
          </p:txBody>
        </p:sp>
        <p:sp>
          <p:nvSpPr>
            <p:cNvPr id="10311" name="Line 71"/>
            <p:cNvSpPr>
              <a:spLocks noChangeShapeType="1"/>
            </p:cNvSpPr>
            <p:nvPr/>
          </p:nvSpPr>
          <p:spPr bwMode="auto">
            <a:xfrm>
              <a:off x="959" y="3327"/>
              <a:ext cx="51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12" name="Line 72"/>
            <p:cNvSpPr>
              <a:spLocks noChangeShapeType="1"/>
            </p:cNvSpPr>
            <p:nvPr/>
          </p:nvSpPr>
          <p:spPr bwMode="auto">
            <a:xfrm>
              <a:off x="1244" y="2934"/>
              <a:ext cx="0" cy="8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14" name="Line 74"/>
            <p:cNvSpPr>
              <a:spLocks noChangeShapeType="1"/>
            </p:cNvSpPr>
            <p:nvPr/>
          </p:nvSpPr>
          <p:spPr bwMode="auto">
            <a:xfrm>
              <a:off x="2872" y="2934"/>
              <a:ext cx="2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15" name="Line 75"/>
            <p:cNvSpPr>
              <a:spLocks noChangeShapeType="1"/>
            </p:cNvSpPr>
            <p:nvPr/>
          </p:nvSpPr>
          <p:spPr bwMode="auto">
            <a:xfrm>
              <a:off x="2872" y="3327"/>
              <a:ext cx="2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16" name="Line 76"/>
            <p:cNvSpPr>
              <a:spLocks noChangeShapeType="1"/>
            </p:cNvSpPr>
            <p:nvPr/>
          </p:nvSpPr>
          <p:spPr bwMode="auto">
            <a:xfrm>
              <a:off x="2872" y="3762"/>
              <a:ext cx="2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17" name="Line 77"/>
            <p:cNvSpPr>
              <a:spLocks noChangeShapeType="1"/>
            </p:cNvSpPr>
            <p:nvPr/>
          </p:nvSpPr>
          <p:spPr bwMode="auto">
            <a:xfrm>
              <a:off x="1238" y="2942"/>
              <a:ext cx="2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18" name="Line 78"/>
            <p:cNvSpPr>
              <a:spLocks noChangeShapeType="1"/>
            </p:cNvSpPr>
            <p:nvPr/>
          </p:nvSpPr>
          <p:spPr bwMode="auto">
            <a:xfrm>
              <a:off x="1238" y="3767"/>
              <a:ext cx="2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323" name="Group 83"/>
          <p:cNvGrpSpPr>
            <a:grpSpLocks/>
          </p:cNvGrpSpPr>
          <p:nvPr/>
        </p:nvGrpSpPr>
        <p:grpSpPr bwMode="auto">
          <a:xfrm>
            <a:off x="406400" y="1787525"/>
            <a:ext cx="8118475" cy="2127250"/>
            <a:chOff x="256" y="1157"/>
            <a:chExt cx="5114" cy="1340"/>
          </a:xfrm>
        </p:grpSpPr>
        <p:sp>
          <p:nvSpPr>
            <p:cNvPr id="10256" name="Rectangle 16"/>
            <p:cNvSpPr>
              <a:spLocks noChangeArrowheads="1"/>
            </p:cNvSpPr>
            <p:nvPr/>
          </p:nvSpPr>
          <p:spPr bwMode="auto">
            <a:xfrm>
              <a:off x="4525" y="1196"/>
              <a:ext cx="8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</a:pPr>
              <a:r>
                <a:rPr lang="en-US" b="1"/>
                <a:t>CustomerLeaves</a:t>
              </a:r>
            </a:p>
          </p:txBody>
        </p:sp>
        <p:sp>
          <p:nvSpPr>
            <p:cNvPr id="10271" name="Rectangle 31"/>
            <p:cNvSpPr>
              <a:spLocks noChangeArrowheads="1"/>
            </p:cNvSpPr>
            <p:nvPr/>
          </p:nvSpPr>
          <p:spPr bwMode="auto">
            <a:xfrm>
              <a:off x="2333" y="1664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400">
                  <a:latin typeface="Times New Roman" pitchFamily="18" charset="0"/>
                </a:rPr>
                <a:t>...</a:t>
              </a:r>
            </a:p>
          </p:txBody>
        </p:sp>
        <p:sp>
          <p:nvSpPr>
            <p:cNvPr id="10272" name="Rectangle 32"/>
            <p:cNvSpPr>
              <a:spLocks noChangeArrowheads="1"/>
            </p:cNvSpPr>
            <p:nvPr/>
          </p:nvSpPr>
          <p:spPr bwMode="auto">
            <a:xfrm>
              <a:off x="1476" y="1893"/>
              <a:ext cx="1361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500" b="1"/>
                <a:t>Waiting Line</a:t>
              </a:r>
            </a:p>
          </p:txBody>
        </p:sp>
        <p:sp>
          <p:nvSpPr>
            <p:cNvPr id="10273" name="Rectangle 33"/>
            <p:cNvSpPr>
              <a:spLocks noChangeArrowheads="1"/>
            </p:cNvSpPr>
            <p:nvPr/>
          </p:nvSpPr>
          <p:spPr bwMode="auto">
            <a:xfrm>
              <a:off x="1151" y="1157"/>
              <a:ext cx="3230" cy="13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4" name="Line 34"/>
            <p:cNvSpPr>
              <a:spLocks noChangeShapeType="1"/>
            </p:cNvSpPr>
            <p:nvPr/>
          </p:nvSpPr>
          <p:spPr bwMode="auto">
            <a:xfrm>
              <a:off x="4244" y="1370"/>
              <a:ext cx="3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5" name="Oval 35"/>
            <p:cNvSpPr>
              <a:spLocks noChangeArrowheads="1"/>
            </p:cNvSpPr>
            <p:nvPr/>
          </p:nvSpPr>
          <p:spPr bwMode="auto">
            <a:xfrm>
              <a:off x="1480" y="1721"/>
              <a:ext cx="179" cy="16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6" name="Oval 36"/>
            <p:cNvSpPr>
              <a:spLocks noChangeArrowheads="1"/>
            </p:cNvSpPr>
            <p:nvPr/>
          </p:nvSpPr>
          <p:spPr bwMode="auto">
            <a:xfrm>
              <a:off x="1997" y="1721"/>
              <a:ext cx="180" cy="16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7" name="Oval 37"/>
            <p:cNvSpPr>
              <a:spLocks noChangeArrowheads="1"/>
            </p:cNvSpPr>
            <p:nvPr/>
          </p:nvSpPr>
          <p:spPr bwMode="auto">
            <a:xfrm>
              <a:off x="2653" y="1721"/>
              <a:ext cx="180" cy="16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8" name="Rectangle 38"/>
            <p:cNvSpPr>
              <a:spLocks noChangeArrowheads="1"/>
            </p:cNvSpPr>
            <p:nvPr/>
          </p:nvSpPr>
          <p:spPr bwMode="auto">
            <a:xfrm>
              <a:off x="3216" y="1200"/>
              <a:ext cx="977" cy="38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9" name="Rectangle 39"/>
            <p:cNvSpPr>
              <a:spLocks noChangeArrowheads="1"/>
            </p:cNvSpPr>
            <p:nvPr/>
          </p:nvSpPr>
          <p:spPr bwMode="auto">
            <a:xfrm>
              <a:off x="3353" y="1413"/>
              <a:ext cx="750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500" b="1"/>
                <a:t>Server 1</a:t>
              </a:r>
            </a:p>
          </p:txBody>
        </p:sp>
        <p:sp>
          <p:nvSpPr>
            <p:cNvPr id="10280" name="Oval 40"/>
            <p:cNvSpPr>
              <a:spLocks noChangeArrowheads="1"/>
            </p:cNvSpPr>
            <p:nvPr/>
          </p:nvSpPr>
          <p:spPr bwMode="auto">
            <a:xfrm>
              <a:off x="3637" y="1263"/>
              <a:ext cx="180" cy="16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1" name="Rectangle 41"/>
            <p:cNvSpPr>
              <a:spLocks noChangeArrowheads="1"/>
            </p:cNvSpPr>
            <p:nvPr/>
          </p:nvSpPr>
          <p:spPr bwMode="auto">
            <a:xfrm>
              <a:off x="3216" y="1634"/>
              <a:ext cx="977" cy="3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2" name="Rectangle 42"/>
            <p:cNvSpPr>
              <a:spLocks noChangeArrowheads="1"/>
            </p:cNvSpPr>
            <p:nvPr/>
          </p:nvSpPr>
          <p:spPr bwMode="auto">
            <a:xfrm>
              <a:off x="3353" y="1848"/>
              <a:ext cx="750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500" b="1"/>
                <a:t>Server 2</a:t>
              </a:r>
            </a:p>
          </p:txBody>
        </p:sp>
        <p:sp>
          <p:nvSpPr>
            <p:cNvPr id="10283" name="Oval 43"/>
            <p:cNvSpPr>
              <a:spLocks noChangeArrowheads="1"/>
            </p:cNvSpPr>
            <p:nvPr/>
          </p:nvSpPr>
          <p:spPr bwMode="auto">
            <a:xfrm>
              <a:off x="3637" y="1698"/>
              <a:ext cx="180" cy="16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4" name="Rectangle 44"/>
            <p:cNvSpPr>
              <a:spLocks noChangeArrowheads="1"/>
            </p:cNvSpPr>
            <p:nvPr/>
          </p:nvSpPr>
          <p:spPr bwMode="auto">
            <a:xfrm>
              <a:off x="3216" y="2070"/>
              <a:ext cx="977" cy="38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5" name="Rectangle 45"/>
            <p:cNvSpPr>
              <a:spLocks noChangeArrowheads="1"/>
            </p:cNvSpPr>
            <p:nvPr/>
          </p:nvSpPr>
          <p:spPr bwMode="auto">
            <a:xfrm>
              <a:off x="3353" y="2283"/>
              <a:ext cx="750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500" b="1"/>
                <a:t>Server 3</a:t>
              </a:r>
            </a:p>
          </p:txBody>
        </p:sp>
        <p:sp>
          <p:nvSpPr>
            <p:cNvPr id="10286" name="Oval 46"/>
            <p:cNvSpPr>
              <a:spLocks noChangeArrowheads="1"/>
            </p:cNvSpPr>
            <p:nvPr/>
          </p:nvSpPr>
          <p:spPr bwMode="auto">
            <a:xfrm>
              <a:off x="3637" y="2134"/>
              <a:ext cx="180" cy="16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5" name="Rectangle 55"/>
            <p:cNvSpPr>
              <a:spLocks noChangeArrowheads="1"/>
            </p:cNvSpPr>
            <p:nvPr/>
          </p:nvSpPr>
          <p:spPr bwMode="auto">
            <a:xfrm>
              <a:off x="4525" y="1674"/>
              <a:ext cx="8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</a:pPr>
              <a:r>
                <a:rPr lang="en-US" b="1"/>
                <a:t>CustomerLeaves</a:t>
              </a:r>
            </a:p>
          </p:txBody>
        </p:sp>
        <p:sp>
          <p:nvSpPr>
            <p:cNvPr id="10296" name="Line 56"/>
            <p:cNvSpPr>
              <a:spLocks noChangeShapeType="1"/>
            </p:cNvSpPr>
            <p:nvPr/>
          </p:nvSpPr>
          <p:spPr bwMode="auto">
            <a:xfrm>
              <a:off x="4244" y="1816"/>
              <a:ext cx="3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7" name="Rectangle 57"/>
            <p:cNvSpPr>
              <a:spLocks noChangeArrowheads="1"/>
            </p:cNvSpPr>
            <p:nvPr/>
          </p:nvSpPr>
          <p:spPr bwMode="auto">
            <a:xfrm>
              <a:off x="4525" y="2109"/>
              <a:ext cx="8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</a:pPr>
              <a:r>
                <a:rPr lang="en-US" b="1"/>
                <a:t>CustomerLeaves</a:t>
              </a:r>
            </a:p>
          </p:txBody>
        </p:sp>
        <p:sp>
          <p:nvSpPr>
            <p:cNvPr id="10298" name="Line 58"/>
            <p:cNvSpPr>
              <a:spLocks noChangeShapeType="1"/>
            </p:cNvSpPr>
            <p:nvPr/>
          </p:nvSpPr>
          <p:spPr bwMode="auto">
            <a:xfrm>
              <a:off x="4244" y="2283"/>
              <a:ext cx="3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8" name="Rectangle 68"/>
            <p:cNvSpPr>
              <a:spLocks noChangeArrowheads="1"/>
            </p:cNvSpPr>
            <p:nvPr/>
          </p:nvSpPr>
          <p:spPr bwMode="auto">
            <a:xfrm>
              <a:off x="256" y="1630"/>
              <a:ext cx="798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</a:pPr>
              <a:r>
                <a:rPr lang="en-US" b="1"/>
                <a:t>CustomerArrives</a:t>
              </a:r>
            </a:p>
          </p:txBody>
        </p:sp>
        <p:sp>
          <p:nvSpPr>
            <p:cNvPr id="10309" name="Line 69"/>
            <p:cNvSpPr>
              <a:spLocks noChangeShapeType="1"/>
            </p:cNvSpPr>
            <p:nvPr/>
          </p:nvSpPr>
          <p:spPr bwMode="auto">
            <a:xfrm>
              <a:off x="959" y="1805"/>
              <a:ext cx="4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13" name="Line 73"/>
            <p:cNvSpPr>
              <a:spLocks noChangeShapeType="1"/>
            </p:cNvSpPr>
            <p:nvPr/>
          </p:nvSpPr>
          <p:spPr bwMode="auto">
            <a:xfrm>
              <a:off x="2877" y="1800"/>
              <a:ext cx="2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19" name="Line 79"/>
            <p:cNvSpPr>
              <a:spLocks noChangeShapeType="1"/>
            </p:cNvSpPr>
            <p:nvPr/>
          </p:nvSpPr>
          <p:spPr bwMode="auto">
            <a:xfrm>
              <a:off x="2919" y="1383"/>
              <a:ext cx="0" cy="8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20" name="Line 80"/>
            <p:cNvSpPr>
              <a:spLocks noChangeShapeType="1"/>
            </p:cNvSpPr>
            <p:nvPr/>
          </p:nvSpPr>
          <p:spPr bwMode="auto">
            <a:xfrm>
              <a:off x="2914" y="1388"/>
              <a:ext cx="2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21" name="Line 81"/>
            <p:cNvSpPr>
              <a:spLocks noChangeShapeType="1"/>
            </p:cNvSpPr>
            <p:nvPr/>
          </p:nvSpPr>
          <p:spPr bwMode="auto">
            <a:xfrm>
              <a:off x="2913" y="2215"/>
              <a:ext cx="2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325" name="Group 85"/>
          <p:cNvGrpSpPr>
            <a:grpSpLocks/>
          </p:cNvGrpSpPr>
          <p:nvPr/>
        </p:nvGrpSpPr>
        <p:grpSpPr bwMode="auto">
          <a:xfrm>
            <a:off x="406400" y="866775"/>
            <a:ext cx="8118475" cy="796925"/>
            <a:chOff x="256" y="461"/>
            <a:chExt cx="5114" cy="502"/>
          </a:xfrm>
        </p:grpSpPr>
        <p:sp>
          <p:nvSpPr>
            <p:cNvPr id="10243" name="Rectangle 3"/>
            <p:cNvSpPr>
              <a:spLocks noChangeArrowheads="1"/>
            </p:cNvSpPr>
            <p:nvPr/>
          </p:nvSpPr>
          <p:spPr bwMode="auto">
            <a:xfrm>
              <a:off x="256" y="500"/>
              <a:ext cx="798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</a:pPr>
              <a:r>
                <a:rPr lang="en-US" b="1"/>
                <a:t>CustomerArrives</a:t>
              </a:r>
            </a:p>
          </p:txBody>
        </p:sp>
        <p:sp>
          <p:nvSpPr>
            <p:cNvPr id="10244" name="Rectangle 4"/>
            <p:cNvSpPr>
              <a:spLocks noChangeArrowheads="1"/>
            </p:cNvSpPr>
            <p:nvPr/>
          </p:nvSpPr>
          <p:spPr bwMode="auto">
            <a:xfrm>
              <a:off x="2333" y="536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400">
                  <a:latin typeface="Times New Roman" pitchFamily="18" charset="0"/>
                </a:rPr>
                <a:t>...</a:t>
              </a:r>
            </a:p>
          </p:txBody>
        </p:sp>
        <p:sp>
          <p:nvSpPr>
            <p:cNvPr id="10245" name="Rectangle 5"/>
            <p:cNvSpPr>
              <a:spLocks noChangeArrowheads="1"/>
            </p:cNvSpPr>
            <p:nvPr/>
          </p:nvSpPr>
          <p:spPr bwMode="auto">
            <a:xfrm>
              <a:off x="1476" y="761"/>
              <a:ext cx="1361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500" b="1"/>
                <a:t>Waiting Line</a:t>
              </a:r>
            </a:p>
          </p:txBody>
        </p:sp>
        <p:sp>
          <p:nvSpPr>
            <p:cNvPr id="10246" name="Rectangle 6"/>
            <p:cNvSpPr>
              <a:spLocks noChangeArrowheads="1"/>
            </p:cNvSpPr>
            <p:nvPr/>
          </p:nvSpPr>
          <p:spPr bwMode="auto">
            <a:xfrm>
              <a:off x="1151" y="461"/>
              <a:ext cx="3230" cy="47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7" name="Rectangle 7"/>
            <p:cNvSpPr>
              <a:spLocks noChangeArrowheads="1"/>
            </p:cNvSpPr>
            <p:nvPr/>
          </p:nvSpPr>
          <p:spPr bwMode="auto">
            <a:xfrm>
              <a:off x="3216" y="504"/>
              <a:ext cx="977" cy="3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8" name="Rectangle 8"/>
            <p:cNvSpPr>
              <a:spLocks noChangeArrowheads="1"/>
            </p:cNvSpPr>
            <p:nvPr/>
          </p:nvSpPr>
          <p:spPr bwMode="auto">
            <a:xfrm>
              <a:off x="3353" y="718"/>
              <a:ext cx="750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500" b="1"/>
                <a:t>Server</a:t>
              </a:r>
            </a:p>
          </p:txBody>
        </p:sp>
        <p:sp>
          <p:nvSpPr>
            <p:cNvPr id="10249" name="Rectangle 9"/>
            <p:cNvSpPr>
              <a:spLocks noChangeArrowheads="1"/>
            </p:cNvSpPr>
            <p:nvPr/>
          </p:nvSpPr>
          <p:spPr bwMode="auto">
            <a:xfrm>
              <a:off x="4525" y="500"/>
              <a:ext cx="84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</a:pPr>
              <a:r>
                <a:rPr lang="en-US" b="1"/>
                <a:t>CustomerLeaves</a:t>
              </a:r>
            </a:p>
          </p:txBody>
        </p:sp>
        <p:sp>
          <p:nvSpPr>
            <p:cNvPr id="10250" name="Line 10"/>
            <p:cNvSpPr>
              <a:spLocks noChangeShapeType="1"/>
            </p:cNvSpPr>
            <p:nvPr/>
          </p:nvSpPr>
          <p:spPr bwMode="auto">
            <a:xfrm>
              <a:off x="959" y="673"/>
              <a:ext cx="4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1" name="Line 11"/>
            <p:cNvSpPr>
              <a:spLocks noChangeShapeType="1"/>
            </p:cNvSpPr>
            <p:nvPr/>
          </p:nvSpPr>
          <p:spPr bwMode="auto">
            <a:xfrm>
              <a:off x="4244" y="673"/>
              <a:ext cx="3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2" name="Oval 12"/>
            <p:cNvSpPr>
              <a:spLocks noChangeArrowheads="1"/>
            </p:cNvSpPr>
            <p:nvPr/>
          </p:nvSpPr>
          <p:spPr bwMode="auto">
            <a:xfrm>
              <a:off x="1480" y="592"/>
              <a:ext cx="179" cy="16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3" name="Oval 13"/>
            <p:cNvSpPr>
              <a:spLocks noChangeArrowheads="1"/>
            </p:cNvSpPr>
            <p:nvPr/>
          </p:nvSpPr>
          <p:spPr bwMode="auto">
            <a:xfrm>
              <a:off x="1997" y="592"/>
              <a:ext cx="180" cy="16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4" name="Oval 14"/>
            <p:cNvSpPr>
              <a:spLocks noChangeArrowheads="1"/>
            </p:cNvSpPr>
            <p:nvPr/>
          </p:nvSpPr>
          <p:spPr bwMode="auto">
            <a:xfrm>
              <a:off x="2653" y="592"/>
              <a:ext cx="180" cy="16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5" name="Oval 15"/>
            <p:cNvSpPr>
              <a:spLocks noChangeArrowheads="1"/>
            </p:cNvSpPr>
            <p:nvPr/>
          </p:nvSpPr>
          <p:spPr bwMode="auto">
            <a:xfrm>
              <a:off x="3637" y="567"/>
              <a:ext cx="180" cy="16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22" name="Line 82"/>
            <p:cNvSpPr>
              <a:spLocks noChangeShapeType="1"/>
            </p:cNvSpPr>
            <p:nvPr/>
          </p:nvSpPr>
          <p:spPr bwMode="auto">
            <a:xfrm>
              <a:off x="2892" y="681"/>
              <a:ext cx="2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384925"/>
            <a:ext cx="2895600" cy="476250"/>
          </a:xfrm>
        </p:spPr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33388"/>
            <a:ext cx="8104188" cy="785812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90000"/>
              </a:lnSpc>
            </a:pPr>
            <a:r>
              <a:rPr lang="en-US" sz="3600" i="1">
                <a:solidFill>
                  <a:schemeClr val="hlink"/>
                </a:solidFill>
              </a:rPr>
              <a:t>Characteristics of Queuing Systems:</a:t>
            </a:r>
            <a:br>
              <a:rPr lang="en-US" sz="3600" i="1">
                <a:solidFill>
                  <a:schemeClr val="hlink"/>
                </a:solidFill>
              </a:rPr>
            </a:br>
            <a:r>
              <a:rPr lang="en-US" sz="3600" i="1">
                <a:solidFill>
                  <a:schemeClr val="hlink"/>
                </a:solidFill>
              </a:rPr>
              <a:t>The Arrival Process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5000" y="1292225"/>
            <a:ext cx="7772400" cy="841375"/>
          </a:xfrm>
          <a:noFill/>
          <a:ln/>
        </p:spPr>
        <p:txBody>
          <a:bodyPr lIns="92075" tIns="46038" rIns="92075" bIns="46038"/>
          <a:lstStyle/>
          <a:p>
            <a:r>
              <a:rPr lang="en-US" sz="2600" dirty="0"/>
              <a:t>Arrival rate - the manner in which customers arrive at the system for service. </a:t>
            </a:r>
          </a:p>
        </p:txBody>
      </p:sp>
      <p:grpSp>
        <p:nvGrpSpPr>
          <p:cNvPr id="11270" name="Group 6"/>
          <p:cNvGrpSpPr>
            <a:grpSpLocks/>
          </p:cNvGrpSpPr>
          <p:nvPr/>
        </p:nvGrpSpPr>
        <p:grpSpPr bwMode="auto">
          <a:xfrm>
            <a:off x="581025" y="2341563"/>
            <a:ext cx="7772400" cy="2001837"/>
            <a:chOff x="366" y="1327"/>
            <a:chExt cx="4896" cy="1261"/>
          </a:xfrm>
        </p:grpSpPr>
        <p:sp>
          <p:nvSpPr>
            <p:cNvPr id="11268" name="Rectangle 4"/>
            <p:cNvSpPr>
              <a:spLocks noChangeArrowheads="1"/>
            </p:cNvSpPr>
            <p:nvPr/>
          </p:nvSpPr>
          <p:spPr bwMode="auto">
            <a:xfrm>
              <a:off x="366" y="1327"/>
              <a:ext cx="4896" cy="7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Char char="§"/>
              </a:pPr>
              <a:r>
                <a:rPr lang="en-US" sz="2600" dirty="0">
                  <a:latin typeface="Tahoma" pitchFamily="34" charset="0"/>
                </a:rPr>
                <a:t>Arrivals are often described by a Poisson random variable: </a:t>
              </a:r>
            </a:p>
          </p:txBody>
        </p:sp>
        <p:graphicFrame>
          <p:nvGraphicFramePr>
            <p:cNvPr id="11269" name="Object 5"/>
            <p:cNvGraphicFramePr>
              <a:graphicFrameLocks/>
            </p:cNvGraphicFramePr>
            <p:nvPr/>
          </p:nvGraphicFramePr>
          <p:xfrm>
            <a:off x="1268" y="1960"/>
            <a:ext cx="3160" cy="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070000" imgH="419040" progId="Equation.2">
                    <p:embed/>
                  </p:oleObj>
                </mc:Choice>
                <mc:Fallback>
                  <p:oleObj name="Equation" r:id="rId3" imgW="2070000" imgH="419040" progId="Equation.2">
                    <p:embed/>
                    <p:pic>
                      <p:nvPicPr>
                        <p:cNvPr id="0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8" y="1960"/>
                          <a:ext cx="3160" cy="6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685800" y="4724400"/>
            <a:ext cx="7772400" cy="170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</a:pPr>
            <a:r>
              <a:rPr lang="en-US" sz="2600" dirty="0">
                <a:latin typeface="Tahoma" pitchFamily="34" charset="0"/>
              </a:rPr>
              <a:t>	where </a:t>
            </a:r>
            <a:r>
              <a:rPr lang="en-US" sz="2600" b="1" dirty="0">
                <a:latin typeface="Symbol" pitchFamily="18" charset="2"/>
              </a:rPr>
              <a:t>l</a:t>
            </a:r>
            <a:r>
              <a:rPr lang="en-US" sz="2600" dirty="0">
                <a:latin typeface="Tahoma" pitchFamily="34" charset="0"/>
              </a:rPr>
              <a:t> is the arrival rate (e.g., calls arrive at a rate of </a:t>
            </a:r>
            <a:r>
              <a:rPr lang="en-US" sz="2600" b="1" dirty="0">
                <a:latin typeface="Symbol" pitchFamily="18" charset="2"/>
              </a:rPr>
              <a:t>l</a:t>
            </a:r>
            <a:r>
              <a:rPr lang="en-US" sz="2600" dirty="0">
                <a:latin typeface="Tahoma" pitchFamily="34" charset="0"/>
              </a:rPr>
              <a:t>=5 per hour)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600" dirty="0">
                <a:latin typeface="Tahoma" pitchFamily="34" charset="0"/>
              </a:rPr>
              <a:t>See file </a:t>
            </a:r>
            <a:r>
              <a:rPr lang="en-US" sz="2600" dirty="0">
                <a:latin typeface="Tahoma" pitchFamily="34" charset="0"/>
                <a:hlinkClick r:id="rId5" action="ppaction://hlinkfile"/>
              </a:rPr>
              <a:t>Fig13-3.xlsm</a:t>
            </a:r>
            <a:r>
              <a:rPr lang="en-US" sz="2600" dirty="0">
                <a:latin typeface="Tahoma" pitchFamily="34" charset="0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1" grpId="0" uiExpand="1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04788"/>
            <a:ext cx="8104188" cy="785812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en-US" sz="3600" i="1">
                <a:solidFill>
                  <a:schemeClr val="hlink"/>
                </a:solidFill>
              </a:rPr>
              <a:t>Characteristics of Queuing Systems:</a:t>
            </a:r>
            <a:br>
              <a:rPr lang="en-US" sz="3600" i="1">
                <a:solidFill>
                  <a:schemeClr val="hlink"/>
                </a:solidFill>
              </a:rPr>
            </a:br>
            <a:r>
              <a:rPr lang="en-US" sz="3600" i="1">
                <a:solidFill>
                  <a:schemeClr val="hlink"/>
                </a:solidFill>
              </a:rPr>
              <a:t>The Service Process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19189"/>
            <a:ext cx="7772400" cy="1288319"/>
          </a:xfrm>
          <a:noFill/>
          <a:ln/>
        </p:spPr>
        <p:txBody>
          <a:bodyPr lIns="92075" tIns="46038" rIns="92075" bIns="46038"/>
          <a:lstStyle/>
          <a:p>
            <a:r>
              <a:rPr lang="en-US" sz="2600" dirty="0"/>
              <a:t>Service time - the amount of time a customer spends receiving service (not including time in the queue).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292" name="Rectangle 4"/>
              <p:cNvSpPr>
                <a:spLocks noChangeArrowheads="1"/>
              </p:cNvSpPr>
              <p:nvPr/>
            </p:nvSpPr>
            <p:spPr bwMode="auto">
              <a:xfrm>
                <a:off x="512762" y="2361668"/>
                <a:ext cx="8104187" cy="21341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pPr marL="342900" indent="-342900" eaLnBrk="0" hangingPunct="0">
                  <a:spcBef>
                    <a:spcPct val="20000"/>
                  </a:spcBef>
                  <a:buClr>
                    <a:schemeClr val="hlink"/>
                  </a:buClr>
                  <a:buFont typeface="Wingdings" pitchFamily="2" charset="2"/>
                  <a:buChar char="§"/>
                </a:pPr>
                <a:r>
                  <a:rPr lang="en-US" sz="2600" dirty="0">
                    <a:latin typeface="Tahoma" pitchFamily="34" charset="0"/>
                  </a:rPr>
                  <a:t>Service times are often described by an Exponential random variable: </a:t>
                </a:r>
              </a:p>
              <a:p>
                <a:pPr marL="342900" indent="-3429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hlink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  <m:sSup>
                          <m:sSup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nary>
                  </m:oMath>
                </a14:m>
                <a:endPara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 eaLnBrk="0" hangingPunct="0">
                  <a:spcBef>
                    <a:spcPct val="20000"/>
                  </a:spcBef>
                  <a:buClr>
                    <a:schemeClr val="hlink"/>
                  </a:buClr>
                  <a:buFont typeface="Wingdings" pitchFamily="2" charset="2"/>
                  <a:buChar char="§"/>
                </a:pPr>
                <a:endParaRPr lang="en-US" sz="2600" dirty="0">
                  <a:latin typeface="Tahoma" pitchFamily="34" charset="0"/>
                </a:endParaRPr>
              </a:p>
              <a:p>
                <a:pPr marL="342900" indent="-342900" eaLnBrk="0" hangingPunct="0">
                  <a:spcBef>
                    <a:spcPct val="20000"/>
                  </a:spcBef>
                  <a:buClr>
                    <a:schemeClr val="hlink"/>
                  </a:buClr>
                  <a:buFont typeface="Wingdings" pitchFamily="2" charset="2"/>
                  <a:buChar char="§"/>
                </a:pPr>
                <a:endParaRPr lang="en-US" sz="2600" dirty="0">
                  <a:latin typeface="Tahoma" pitchFamily="34" charset="0"/>
                </a:endParaRPr>
              </a:p>
            </p:txBody>
          </p:sp>
        </mc:Choice>
        <mc:Fallback>
          <p:sp>
            <p:nvSpPr>
              <p:cNvPr id="12292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2762" y="2361668"/>
                <a:ext cx="8104187" cy="2134132"/>
              </a:xfrm>
              <a:prstGeom prst="rect">
                <a:avLst/>
              </a:prstGeom>
              <a:blipFill>
                <a:blip r:embed="rId3"/>
                <a:stretch>
                  <a:fillRect l="-1128" t="-2564" r="-218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510619" y="4267200"/>
            <a:ext cx="7772400" cy="1870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</a:pPr>
            <a:r>
              <a:rPr lang="en-US" sz="2600" dirty="0">
                <a:latin typeface="Tahoma" pitchFamily="34" charset="0"/>
              </a:rPr>
              <a:t>	where </a:t>
            </a:r>
            <a:r>
              <a:rPr lang="en-US" sz="2600" b="1" dirty="0">
                <a:latin typeface="Symbol" pitchFamily="18" charset="2"/>
              </a:rPr>
              <a:t>m</a:t>
            </a:r>
            <a:r>
              <a:rPr lang="en-US" sz="2600" dirty="0">
                <a:latin typeface="Symbol" pitchFamily="18" charset="2"/>
              </a:rPr>
              <a:t> </a:t>
            </a:r>
            <a:r>
              <a:rPr lang="en-US" sz="2600" dirty="0"/>
              <a:t>is the service rate (e.g., calls can be serviced at a rate of</a:t>
            </a:r>
            <a:r>
              <a:rPr lang="en-US" sz="2600" dirty="0">
                <a:latin typeface="Times New Roman" pitchFamily="18" charset="0"/>
              </a:rPr>
              <a:t> </a:t>
            </a:r>
            <a:r>
              <a:rPr lang="en-US" sz="2600" b="1" dirty="0">
                <a:latin typeface="Symbol" pitchFamily="18" charset="2"/>
              </a:rPr>
              <a:t>m</a:t>
            </a:r>
            <a:r>
              <a:rPr lang="en-US" sz="2600" dirty="0">
                <a:latin typeface="Times New Roman" pitchFamily="18" charset="0"/>
              </a:rPr>
              <a:t>=7 </a:t>
            </a:r>
            <a:r>
              <a:rPr lang="en-US" sz="2600" dirty="0"/>
              <a:t>per hour</a:t>
            </a:r>
            <a:r>
              <a:rPr lang="en-US" sz="2600" dirty="0">
                <a:latin typeface="Times New Roman" pitchFamily="18" charset="0"/>
              </a:rPr>
              <a:t>)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600" dirty="0">
                <a:latin typeface="Tahoma" pitchFamily="34" charset="0"/>
              </a:rPr>
              <a:t>The average service time is</a:t>
            </a:r>
            <a:r>
              <a:rPr lang="en-US" sz="2600" dirty="0"/>
              <a:t> 1/</a:t>
            </a:r>
            <a:r>
              <a:rPr lang="en-US" sz="2600" b="1" dirty="0">
                <a:latin typeface="Symbol" pitchFamily="18" charset="2"/>
              </a:rPr>
              <a:t>m</a:t>
            </a:r>
            <a:r>
              <a:rPr lang="en-US" sz="2600" dirty="0">
                <a:latin typeface="Times New Roman" pitchFamily="18" charset="0"/>
              </a:rPr>
              <a:t>.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600" dirty="0">
                <a:latin typeface="Tahoma" pitchFamily="34" charset="0"/>
              </a:rPr>
              <a:t>See file </a:t>
            </a:r>
            <a:r>
              <a:rPr lang="en-US" sz="2600" dirty="0">
                <a:latin typeface="Tahoma" pitchFamily="34" charset="0"/>
                <a:hlinkClick r:id="rId4" action="ppaction://hlinkfile"/>
              </a:rPr>
              <a:t>Fig13-4.xlsm</a:t>
            </a:r>
            <a:r>
              <a:rPr lang="en-US" sz="2600" dirty="0">
                <a:latin typeface="Tahoma" pitchFamily="34" charset="0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5" grpId="0" uiExpand="1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77825"/>
            <a:ext cx="7772400" cy="388938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Comments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6075" y="966788"/>
            <a:ext cx="8188325" cy="5302250"/>
          </a:xfrm>
          <a:noFill/>
          <a:ln/>
        </p:spPr>
        <p:txBody>
          <a:bodyPr lIns="92075" tIns="46038" rIns="92075" bIns="46038"/>
          <a:lstStyle/>
          <a:p>
            <a:r>
              <a:rPr lang="en-US" sz="2600" dirty="0"/>
              <a:t>If arrivals follow a Poisson distribution with mean </a:t>
            </a:r>
            <a:r>
              <a:rPr lang="en-US" sz="2600" b="1" dirty="0">
                <a:latin typeface="Symbol" pitchFamily="18" charset="2"/>
              </a:rPr>
              <a:t>l</a:t>
            </a:r>
            <a:r>
              <a:rPr lang="en-US" sz="2600" dirty="0"/>
              <a:t>, interarrival times follow an Exponential distribution with mean 1/</a:t>
            </a:r>
            <a:r>
              <a:rPr lang="en-US" sz="2600" b="1" dirty="0">
                <a:latin typeface="Symbol" pitchFamily="18" charset="2"/>
              </a:rPr>
              <a:t>l</a:t>
            </a:r>
            <a:r>
              <a:rPr lang="en-US" sz="2600" dirty="0"/>
              <a:t>. </a:t>
            </a:r>
          </a:p>
          <a:p>
            <a:pPr lvl="1"/>
            <a:r>
              <a:rPr lang="en-US" sz="2600" dirty="0"/>
              <a:t>Example</a:t>
            </a:r>
          </a:p>
          <a:p>
            <a:pPr lvl="2"/>
            <a:r>
              <a:rPr lang="en-US" sz="2600" dirty="0"/>
              <a:t>Assume calls arrive according to a Poisson distribution with mean </a:t>
            </a:r>
            <a:r>
              <a:rPr lang="en-US" sz="2600" b="1" dirty="0">
                <a:latin typeface="Symbol" pitchFamily="18" charset="2"/>
              </a:rPr>
              <a:t>l</a:t>
            </a:r>
            <a:r>
              <a:rPr lang="en-US" sz="2600" dirty="0">
                <a:latin typeface="Times New Roman" pitchFamily="18" charset="0"/>
              </a:rPr>
              <a:t>=5 </a:t>
            </a:r>
            <a:r>
              <a:rPr lang="en-US" sz="2600" dirty="0"/>
              <a:t>per hour.</a:t>
            </a:r>
          </a:p>
          <a:p>
            <a:pPr lvl="2"/>
            <a:r>
              <a:rPr lang="en-US" sz="2600" dirty="0"/>
              <a:t>Interarrivals follow an exponential distribution with mean 1/5 = 0.2 per hour.</a:t>
            </a:r>
          </a:p>
          <a:p>
            <a:pPr lvl="2"/>
            <a:r>
              <a:rPr lang="en-US" sz="2600" dirty="0"/>
              <a:t>On average, calls arrive every 0.2 hours or every 12 minutes. </a:t>
            </a:r>
          </a:p>
          <a:p>
            <a:r>
              <a:rPr lang="en-US" sz="2600" dirty="0"/>
              <a:t>The exponential distribution exhibits the Markovian (memoryless) property.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uiExpand="1" build="p" bldLvl="3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444500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 dirty="0">
                <a:solidFill>
                  <a:schemeClr val="hlink"/>
                </a:solidFill>
              </a:rPr>
              <a:t>Kendall Notation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7688" y="673100"/>
            <a:ext cx="7772400" cy="5572124"/>
          </a:xfrm>
          <a:noFill/>
          <a:ln/>
        </p:spPr>
        <p:txBody>
          <a:bodyPr lIns="92075" tIns="46038" rIns="92075" bIns="46038"/>
          <a:lstStyle/>
          <a:p>
            <a:r>
              <a:rPr lang="en-US" sz="2600" dirty="0"/>
              <a:t>Queuing systems are described by 3 parameters:</a:t>
            </a:r>
          </a:p>
          <a:p>
            <a:pPr algn="ctr">
              <a:lnSpc>
                <a:spcPct val="60000"/>
              </a:lnSpc>
              <a:buFont typeface="Wingdings" pitchFamily="2" charset="2"/>
              <a:buNone/>
            </a:pPr>
            <a:r>
              <a:rPr lang="en-US" sz="2600" dirty="0"/>
              <a:t>1/2/3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Parameter 1</a:t>
            </a:r>
          </a:p>
          <a:p>
            <a:pPr lvl="1">
              <a:buFontTx/>
              <a:buNone/>
            </a:pPr>
            <a:r>
              <a:rPr lang="en-US" sz="2400" dirty="0"/>
              <a:t>		</a:t>
            </a:r>
            <a:r>
              <a:rPr lang="en-US" sz="2300" dirty="0"/>
              <a:t>M = </a:t>
            </a:r>
            <a:r>
              <a:rPr lang="en-US" sz="2300" dirty="0" err="1"/>
              <a:t>Markovian</a:t>
            </a:r>
            <a:r>
              <a:rPr lang="en-US" sz="2300" dirty="0"/>
              <a:t> </a:t>
            </a:r>
            <a:r>
              <a:rPr lang="en-US" sz="2300" dirty="0" err="1"/>
              <a:t>interarrival</a:t>
            </a:r>
            <a:r>
              <a:rPr lang="en-US" sz="2300" dirty="0"/>
              <a:t> times</a:t>
            </a:r>
          </a:p>
          <a:p>
            <a:pPr lvl="1">
              <a:buFontTx/>
              <a:buNone/>
            </a:pPr>
            <a:r>
              <a:rPr lang="en-US" sz="2300" dirty="0"/>
              <a:t>		D = Deterministic </a:t>
            </a:r>
            <a:r>
              <a:rPr lang="en-US" sz="2300" dirty="0" err="1"/>
              <a:t>interarrival</a:t>
            </a:r>
            <a:r>
              <a:rPr lang="en-US" sz="2300" dirty="0"/>
              <a:t> times</a:t>
            </a:r>
          </a:p>
          <a:p>
            <a:pPr lvl="1"/>
            <a:r>
              <a:rPr lang="en-US" sz="2600" dirty="0"/>
              <a:t>Parameter 2</a:t>
            </a:r>
          </a:p>
          <a:p>
            <a:pPr lvl="1">
              <a:buFontTx/>
              <a:buNone/>
            </a:pPr>
            <a:r>
              <a:rPr lang="en-US" sz="2300" dirty="0"/>
              <a:t>		M = </a:t>
            </a:r>
            <a:r>
              <a:rPr lang="en-US" sz="2300" dirty="0" err="1"/>
              <a:t>Markovian</a:t>
            </a:r>
            <a:r>
              <a:rPr lang="en-US" sz="2300" dirty="0"/>
              <a:t> service times</a:t>
            </a:r>
          </a:p>
          <a:p>
            <a:pPr lvl="1">
              <a:buFontTx/>
              <a:buNone/>
            </a:pPr>
            <a:r>
              <a:rPr lang="en-US" sz="2300" dirty="0"/>
              <a:t>		G = General service times</a:t>
            </a:r>
          </a:p>
          <a:p>
            <a:pPr lvl="1">
              <a:buFontTx/>
              <a:buNone/>
            </a:pPr>
            <a:r>
              <a:rPr lang="en-US" sz="2300" dirty="0"/>
              <a:t>		D = Deterministic service times</a:t>
            </a:r>
          </a:p>
          <a:p>
            <a:pPr lvl="1"/>
            <a:r>
              <a:rPr lang="en-US" sz="2600" dirty="0"/>
              <a:t>Parameter 3</a:t>
            </a:r>
          </a:p>
          <a:p>
            <a:pPr lvl="1">
              <a:buFontTx/>
              <a:buNone/>
            </a:pPr>
            <a:r>
              <a:rPr lang="en-US" sz="2300" dirty="0"/>
              <a:t>		A number Indicating the number of servers.</a:t>
            </a:r>
          </a:p>
          <a:p>
            <a:r>
              <a:rPr lang="en-US" sz="2600" dirty="0"/>
              <a:t>Examples,</a:t>
            </a:r>
          </a:p>
          <a:p>
            <a:pPr algn="ctr">
              <a:buFont typeface="Wingdings" pitchFamily="2" charset="2"/>
              <a:buNone/>
            </a:pPr>
            <a:r>
              <a:rPr lang="en-US" sz="2600" dirty="0"/>
              <a:t>M/M/3	D/G/4		M/G/2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73050"/>
            <a:ext cx="7772400" cy="485775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Operating Characteristics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76313"/>
            <a:ext cx="8534400" cy="4967287"/>
          </a:xfrm>
          <a:noFill/>
          <a:ln/>
        </p:spPr>
        <p:txBody>
          <a:bodyPr lIns="92075" tIns="46038" rIns="92075" bIns="46038"/>
          <a:lstStyle/>
          <a:p>
            <a:pPr marL="223838" indent="-223838">
              <a:buFont typeface="Wingdings" pitchFamily="2" charset="2"/>
              <a:buNone/>
              <a:tabLst>
                <a:tab pos="690563" algn="l"/>
                <a:tab pos="914400" algn="l"/>
              </a:tabLst>
            </a:pPr>
            <a:r>
              <a:rPr lang="en-US" sz="2600" dirty="0"/>
              <a:t>Typical operating characteristics of interest include:</a:t>
            </a:r>
          </a:p>
          <a:p>
            <a:pPr marL="223838" indent="-223838">
              <a:buFont typeface="Wingdings" pitchFamily="2" charset="2"/>
              <a:buNone/>
              <a:tabLst>
                <a:tab pos="690563" algn="l"/>
                <a:tab pos="914400" algn="l"/>
              </a:tabLst>
            </a:pPr>
            <a:r>
              <a:rPr lang="en-US" sz="2600" dirty="0"/>
              <a:t>	</a:t>
            </a:r>
            <a:r>
              <a:rPr lang="en-US" sz="2400" dirty="0"/>
              <a:t>U  - Utilization factor, % of time that all servers are busy.</a:t>
            </a:r>
          </a:p>
          <a:p>
            <a:pPr marL="223838" indent="-223838">
              <a:buFont typeface="Wingdings" pitchFamily="2" charset="2"/>
              <a:buNone/>
              <a:tabLst>
                <a:tab pos="690563" algn="l"/>
                <a:tab pos="914400" algn="l"/>
              </a:tabLst>
            </a:pPr>
            <a:r>
              <a:rPr lang="en-US" sz="2400" dirty="0"/>
              <a:t>	P</a:t>
            </a:r>
            <a:r>
              <a:rPr lang="en-US" sz="2400" baseline="-25000" dirty="0"/>
              <a:t>0  </a:t>
            </a:r>
            <a:r>
              <a:rPr lang="en-US" sz="2400" dirty="0"/>
              <a:t>- Prob. that there are no one is in the system.</a:t>
            </a:r>
          </a:p>
          <a:p>
            <a:pPr marL="223838" indent="-223838">
              <a:buFont typeface="Wingdings" pitchFamily="2" charset="2"/>
              <a:buNone/>
              <a:tabLst>
                <a:tab pos="690563" algn="l"/>
                <a:tab pos="914400" algn="l"/>
              </a:tabLst>
            </a:pPr>
            <a:r>
              <a:rPr lang="en-US" sz="2400" dirty="0"/>
              <a:t>	</a:t>
            </a:r>
            <a:r>
              <a:rPr lang="en-US" sz="2400" dirty="0" err="1"/>
              <a:t>L</a:t>
            </a:r>
            <a:r>
              <a:rPr lang="en-US" sz="2400" i="1" baseline="-25000" dirty="0" err="1">
                <a:latin typeface="Times New Roman" pitchFamily="18" charset="0"/>
              </a:rPr>
              <a:t>q</a:t>
            </a:r>
            <a:r>
              <a:rPr lang="en-US" sz="2400" i="1" baseline="-25000" dirty="0"/>
              <a:t> 	</a:t>
            </a:r>
            <a:r>
              <a:rPr lang="en-US" sz="2400" dirty="0"/>
              <a:t>- Avg number of units in line waiting for service.</a:t>
            </a:r>
          </a:p>
          <a:p>
            <a:pPr marL="223838" indent="-223838">
              <a:buFont typeface="Wingdings" pitchFamily="2" charset="2"/>
              <a:buNone/>
              <a:tabLst>
                <a:tab pos="690563" algn="l"/>
                <a:tab pos="914400" algn="l"/>
              </a:tabLst>
            </a:pPr>
            <a:r>
              <a:rPr lang="en-US" sz="2400" dirty="0"/>
              <a:t>	L 	- Avg number of units in the system (in line &amp; being 			served).</a:t>
            </a:r>
          </a:p>
          <a:p>
            <a:pPr marL="223838" indent="-223838">
              <a:buFont typeface="Wingdings" pitchFamily="2" charset="2"/>
              <a:buNone/>
              <a:tabLst>
                <a:tab pos="690563" algn="l"/>
                <a:tab pos="914400" algn="l"/>
              </a:tabLst>
            </a:pPr>
            <a:r>
              <a:rPr lang="en-US" sz="2400" dirty="0"/>
              <a:t>	</a:t>
            </a:r>
            <a:r>
              <a:rPr lang="en-US" sz="2400" dirty="0" err="1"/>
              <a:t>W</a:t>
            </a:r>
            <a:r>
              <a:rPr lang="en-US" sz="2400" i="1" baseline="-25000" dirty="0" err="1">
                <a:latin typeface="Times New Roman" pitchFamily="18" charset="0"/>
              </a:rPr>
              <a:t>q</a:t>
            </a:r>
            <a:r>
              <a:rPr lang="en-US" sz="2400" i="1" baseline="-25000" dirty="0"/>
              <a:t> </a:t>
            </a:r>
            <a:r>
              <a:rPr lang="en-US" sz="2400" dirty="0"/>
              <a:t>- Avg time a unit spends in line waiting for service.</a:t>
            </a:r>
          </a:p>
          <a:p>
            <a:pPr marL="223838" indent="-223838">
              <a:buFont typeface="Wingdings" pitchFamily="2" charset="2"/>
              <a:buNone/>
              <a:tabLst>
                <a:tab pos="690563" algn="l"/>
                <a:tab pos="914400" algn="l"/>
              </a:tabLst>
            </a:pPr>
            <a:r>
              <a:rPr lang="en-US" sz="2400" dirty="0"/>
              <a:t>	W 	- Avg time a unit spends in the system (in line &amp; being 			served).</a:t>
            </a:r>
          </a:p>
          <a:p>
            <a:pPr marL="223838" indent="-223838">
              <a:buFont typeface="Wingdings" pitchFamily="2" charset="2"/>
              <a:buNone/>
              <a:tabLst>
                <a:tab pos="690563" algn="l"/>
                <a:tab pos="914400" algn="l"/>
              </a:tabLst>
            </a:pPr>
            <a:r>
              <a:rPr lang="en-US" sz="2400" dirty="0"/>
              <a:t>	P</a:t>
            </a:r>
            <a:r>
              <a:rPr lang="en-US" sz="2400" i="1" baseline="-25000" dirty="0">
                <a:latin typeface="Times New Roman" pitchFamily="18" charset="0"/>
              </a:rPr>
              <a:t>w</a:t>
            </a:r>
            <a:r>
              <a:rPr lang="en-US" sz="2400" baseline="-25000" dirty="0"/>
              <a:t> 	</a:t>
            </a:r>
            <a:r>
              <a:rPr lang="en-US" sz="2400" dirty="0"/>
              <a:t>- Prob. that an arriving unit has to wait for service.</a:t>
            </a:r>
          </a:p>
          <a:p>
            <a:pPr marL="223838" indent="-223838">
              <a:buFont typeface="Wingdings" pitchFamily="2" charset="2"/>
              <a:buNone/>
              <a:tabLst>
                <a:tab pos="690563" algn="l"/>
                <a:tab pos="914400" algn="l"/>
              </a:tabLst>
            </a:pPr>
            <a:r>
              <a:rPr lang="en-US" sz="2400" dirty="0"/>
              <a:t>	</a:t>
            </a:r>
            <a:r>
              <a:rPr lang="en-US" sz="2400" dirty="0" err="1"/>
              <a:t>P</a:t>
            </a:r>
            <a:r>
              <a:rPr lang="en-US" sz="2400" i="1" baseline="-25000" dirty="0" err="1">
                <a:latin typeface="Times New Roman" pitchFamily="18" charset="0"/>
              </a:rPr>
              <a:t>n</a:t>
            </a:r>
            <a:r>
              <a:rPr lang="en-US" sz="2400" baseline="-25000" dirty="0"/>
              <a:t> 	</a:t>
            </a:r>
            <a:r>
              <a:rPr lang="en-US" sz="2400" dirty="0"/>
              <a:t>- Prob. of </a:t>
            </a:r>
            <a:r>
              <a:rPr lang="en-US" sz="2400" i="1" dirty="0">
                <a:latin typeface="Times New Roman" pitchFamily="18" charset="0"/>
              </a:rPr>
              <a:t>n</a:t>
            </a:r>
            <a:r>
              <a:rPr lang="en-US" sz="2400" dirty="0"/>
              <a:t> units in the system.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60437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Key Operating Characteristics </a:t>
            </a:r>
            <a:br>
              <a:rPr lang="en-US" sz="3600" i="1">
                <a:solidFill>
                  <a:schemeClr val="hlink"/>
                </a:solidFill>
              </a:rPr>
            </a:br>
            <a:r>
              <a:rPr lang="en-US" sz="3600" i="1">
                <a:solidFill>
                  <a:schemeClr val="hlink"/>
                </a:solidFill>
              </a:rPr>
              <a:t>of the M/M/1 Model</a:t>
            </a:r>
          </a:p>
        </p:txBody>
      </p:sp>
      <p:graphicFrame>
        <p:nvGraphicFramePr>
          <p:cNvPr id="17411" name="Object 3"/>
          <p:cNvGraphicFramePr>
            <a:graphicFrameLocks/>
          </p:cNvGraphicFramePr>
          <p:nvPr/>
        </p:nvGraphicFramePr>
        <p:xfrm>
          <a:off x="3581400" y="1676400"/>
          <a:ext cx="1754188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85800" imgH="419040" progId="Equation.2">
                  <p:embed/>
                </p:oleObj>
              </mc:Choice>
              <mc:Fallback>
                <p:oleObj name="Equation" r:id="rId3" imgW="685800" imgH="419040" progId="Equation.2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676400"/>
                        <a:ext cx="1754188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4"/>
          <p:cNvGraphicFramePr>
            <a:graphicFrameLocks/>
          </p:cNvGraphicFramePr>
          <p:nvPr/>
        </p:nvGraphicFramePr>
        <p:xfrm>
          <a:off x="3810000" y="3048000"/>
          <a:ext cx="135413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33160" imgH="177480" progId="Equation.2">
                  <p:embed/>
                </p:oleObj>
              </mc:Choice>
              <mc:Fallback>
                <p:oleObj name="Equation" r:id="rId5" imgW="533160" imgH="177480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048000"/>
                        <a:ext cx="1354138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5"/>
          <p:cNvGraphicFramePr>
            <a:graphicFrameLocks/>
          </p:cNvGraphicFramePr>
          <p:nvPr/>
        </p:nvGraphicFramePr>
        <p:xfrm>
          <a:off x="3581400" y="3657600"/>
          <a:ext cx="2036763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99920" imgH="419040" progId="Equation.2">
                  <p:embed/>
                </p:oleObj>
              </mc:Choice>
              <mc:Fallback>
                <p:oleObj name="Equation" r:id="rId7" imgW="799920" imgH="419040" progId="Equation.2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657600"/>
                        <a:ext cx="2036763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6"/>
          <p:cNvGraphicFramePr>
            <a:graphicFrameLocks/>
          </p:cNvGraphicFramePr>
          <p:nvPr/>
        </p:nvGraphicFramePr>
        <p:xfrm>
          <a:off x="3810000" y="5029200"/>
          <a:ext cx="16033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34680" imgH="228600" progId="Equation.2">
                  <p:embed/>
                </p:oleObj>
              </mc:Choice>
              <mc:Fallback>
                <p:oleObj name="Equation" r:id="rId9" imgW="634680" imgH="228600" progId="Equation.2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029200"/>
                        <a:ext cx="160337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3725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The Q.xls Queuing Template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1"/>
            <a:ext cx="8001000" cy="4267200"/>
          </a:xfrm>
          <a:noFill/>
          <a:ln/>
        </p:spPr>
        <p:txBody>
          <a:bodyPr lIns="92075" tIns="46038" rIns="92075" bIns="46038"/>
          <a:lstStyle/>
          <a:p>
            <a:r>
              <a:rPr lang="en-US" sz="2800" dirty="0"/>
              <a:t>Formulas for the operating characteristics of a number of queuing models have been derived analytically.</a:t>
            </a:r>
          </a:p>
          <a:p>
            <a:r>
              <a:rPr lang="en-US" sz="2800" dirty="0"/>
              <a:t>An Excel template called Q.xls implements the formulas for several common types of models.</a:t>
            </a:r>
          </a:p>
          <a:p>
            <a:r>
              <a:rPr lang="en-US" sz="2800" dirty="0">
                <a:hlinkClick r:id="rId3" action="ppaction://hlinkfile"/>
              </a:rPr>
              <a:t>Q.xlsx</a:t>
            </a:r>
            <a:r>
              <a:rPr lang="en-US" sz="2800" dirty="0"/>
              <a:t> was created by Professor David Ashley of the Univ. of Missouri at Kansas City.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0387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The M/M/s Model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1813" y="1181100"/>
            <a:ext cx="7772400" cy="4686300"/>
          </a:xfrm>
          <a:noFill/>
          <a:ln/>
        </p:spPr>
        <p:txBody>
          <a:bodyPr lIns="92075" tIns="46038" rIns="92075" bIns="46038"/>
          <a:lstStyle/>
          <a:p>
            <a:r>
              <a:rPr lang="en-US" sz="2800" dirty="0"/>
              <a:t>Assumptions:</a:t>
            </a:r>
          </a:p>
          <a:p>
            <a:pPr lvl="1">
              <a:buSzPct val="75000"/>
            </a:pPr>
            <a:r>
              <a:rPr lang="en-US" sz="2600" dirty="0"/>
              <a:t>There are </a:t>
            </a:r>
            <a:r>
              <a:rPr lang="en-US" sz="2600" i="1" dirty="0"/>
              <a:t>s</a:t>
            </a:r>
            <a:r>
              <a:rPr lang="en-US" sz="2600" dirty="0"/>
              <a:t> servers.</a:t>
            </a:r>
          </a:p>
          <a:p>
            <a:pPr lvl="1">
              <a:buSzPct val="75000"/>
            </a:pPr>
            <a:r>
              <a:rPr lang="en-US" sz="2600" dirty="0"/>
              <a:t>Arrivals follow a Poisson distribution and occur at an average rate of  </a:t>
            </a:r>
            <a:r>
              <a:rPr lang="en-US" sz="2600" b="1" dirty="0">
                <a:latin typeface="Symbol" pitchFamily="18" charset="2"/>
              </a:rPr>
              <a:t>l</a:t>
            </a:r>
            <a:r>
              <a:rPr lang="en-US" sz="2600" dirty="0"/>
              <a:t> per time period.</a:t>
            </a:r>
          </a:p>
          <a:p>
            <a:pPr lvl="1">
              <a:buSzPct val="75000"/>
            </a:pPr>
            <a:r>
              <a:rPr lang="en-US" sz="2600" dirty="0"/>
              <a:t>Each server provides service at an average rate of  </a:t>
            </a:r>
            <a:r>
              <a:rPr lang="en-US" sz="2600" b="1" dirty="0">
                <a:latin typeface="Symbol" pitchFamily="18" charset="2"/>
              </a:rPr>
              <a:t>m</a:t>
            </a:r>
            <a:r>
              <a:rPr lang="en-US" sz="2600" dirty="0"/>
              <a:t> per time period, and actual service times follow an exponential distribution.</a:t>
            </a:r>
          </a:p>
          <a:p>
            <a:pPr lvl="1">
              <a:buSzPct val="75000"/>
            </a:pPr>
            <a:r>
              <a:rPr lang="en-US" sz="2600" dirty="0"/>
              <a:t>Arrivals wait in a single FIFO queue and are serviced by the first available server.</a:t>
            </a:r>
          </a:p>
          <a:p>
            <a:pPr lvl="1">
              <a:buSzPct val="75000"/>
            </a:pPr>
            <a:r>
              <a:rPr lang="en-US" sz="2600" b="1" dirty="0"/>
              <a:t> </a:t>
            </a:r>
            <a:r>
              <a:rPr lang="en-US" sz="2600" b="1" dirty="0">
                <a:latin typeface="Symbol" pitchFamily="18" charset="2"/>
              </a:rPr>
              <a:t>l</a:t>
            </a:r>
            <a:r>
              <a:rPr lang="en-US" sz="2600" dirty="0"/>
              <a:t>&lt; </a:t>
            </a:r>
            <a:r>
              <a:rPr lang="en-US" sz="2600" b="1" i="1" dirty="0"/>
              <a:t>s</a:t>
            </a:r>
            <a:r>
              <a:rPr lang="en-US" sz="2600" b="1" i="1" dirty="0">
                <a:latin typeface="Symbol" pitchFamily="18" charset="2"/>
              </a:rPr>
              <a:t>m</a:t>
            </a:r>
            <a:r>
              <a:rPr lang="en-US" sz="2600" dirty="0"/>
              <a:t>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uiExpand="1" build="p" bldLvl="2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88925"/>
            <a:ext cx="8229600" cy="473075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en-US" sz="3600" i="1">
                <a:solidFill>
                  <a:schemeClr val="hlink"/>
                </a:solidFill>
              </a:rPr>
              <a:t>An M/M/s Example: Bitway Computers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6225" y="762000"/>
            <a:ext cx="8410575" cy="5591175"/>
          </a:xfrm>
          <a:noFill/>
          <a:ln/>
        </p:spPr>
        <p:txBody>
          <a:bodyPr lIns="92075" tIns="46038" rIns="92075" bIns="46038"/>
          <a:lstStyle/>
          <a:p>
            <a:r>
              <a:rPr lang="en-US" sz="2200" dirty="0"/>
              <a:t>The customer support hotline for </a:t>
            </a:r>
            <a:r>
              <a:rPr lang="en-US" sz="2200" dirty="0" err="1"/>
              <a:t>Bitway</a:t>
            </a:r>
            <a:r>
              <a:rPr lang="en-US" sz="2200" dirty="0"/>
              <a:t> Computers is currently staffed by a single technician. </a:t>
            </a:r>
          </a:p>
          <a:p>
            <a:r>
              <a:rPr lang="en-US" sz="2200" dirty="0"/>
              <a:t>Calls arrive randomly at a rate of 5 per hour and follow a Poisson distribution. </a:t>
            </a:r>
          </a:p>
          <a:p>
            <a:r>
              <a:rPr lang="en-US" sz="2200" dirty="0"/>
              <a:t>The technician services calls at an average rate of 7 per hour, but the actual time required to handle a call follows an  exponential distribution. </a:t>
            </a:r>
          </a:p>
          <a:p>
            <a:r>
              <a:rPr lang="en-US" sz="2200" dirty="0" err="1"/>
              <a:t>Bitway’s</a:t>
            </a:r>
            <a:r>
              <a:rPr lang="en-US" sz="2200" dirty="0"/>
              <a:t> president, Rod Taylor, has received numerous complaints from customers about the length of time they must wait “on hold” for service when calling the hotline. </a:t>
            </a:r>
          </a:p>
          <a:p>
            <a:r>
              <a:rPr lang="en-US" sz="2200" dirty="0"/>
              <a:t>Rod wants to determine the average length of time customers currently wait before the technician answers their calls. </a:t>
            </a:r>
          </a:p>
          <a:p>
            <a:r>
              <a:rPr lang="en-US" sz="2200" dirty="0"/>
              <a:t>If the average waiting time is more than 5 minutes, he wants to determine how many technicians would be required to reduce the average waiting time to 2 minutes (0.0333.. hours) or less.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283325"/>
            <a:ext cx="2895600" cy="476250"/>
          </a:xfrm>
        </p:spPr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739775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Q.xlsx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915400" cy="5334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70000"/>
              </a:lnSpc>
            </a:pPr>
            <a:r>
              <a:rPr lang="en-US" sz="3600" i="1">
                <a:solidFill>
                  <a:schemeClr val="hlink"/>
                </a:solidFill>
              </a:rPr>
              <a:t>Summary of Results: Bitway Computers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1663" y="889000"/>
            <a:ext cx="7772400" cy="4521200"/>
          </a:xfrm>
          <a:noFill/>
          <a:ln/>
        </p:spPr>
        <p:txBody>
          <a:bodyPr lIns="92075" tIns="46038" rIns="92075" bIns="46038"/>
          <a:lstStyle/>
          <a:p>
            <a:pPr>
              <a:buFont typeface="Wingdings" pitchFamily="2" charset="2"/>
              <a:buNone/>
              <a:tabLst>
                <a:tab pos="5715000" algn="ctr"/>
                <a:tab pos="6854825" algn="ctr"/>
              </a:tabLst>
            </a:pPr>
            <a:r>
              <a:rPr lang="en-US" sz="2000" dirty="0"/>
              <a:t>Arrival rate	5	5</a:t>
            </a:r>
          </a:p>
          <a:p>
            <a:pPr>
              <a:buFont typeface="Wingdings" pitchFamily="2" charset="2"/>
              <a:buNone/>
              <a:tabLst>
                <a:tab pos="5715000" algn="ctr"/>
                <a:tab pos="6854825" algn="ctr"/>
              </a:tabLst>
            </a:pPr>
            <a:r>
              <a:rPr lang="en-US" sz="2000" dirty="0"/>
              <a:t>Service rate 	7	7	</a:t>
            </a:r>
          </a:p>
          <a:p>
            <a:pPr>
              <a:buFont typeface="Wingdings" pitchFamily="2" charset="2"/>
              <a:buNone/>
              <a:tabLst>
                <a:tab pos="5715000" algn="ctr"/>
                <a:tab pos="6854825" algn="ctr"/>
              </a:tabLst>
            </a:pPr>
            <a:r>
              <a:rPr lang="en-US" sz="2000" dirty="0"/>
              <a:t>Number of servers 	1	2</a:t>
            </a:r>
          </a:p>
          <a:p>
            <a:pPr>
              <a:buFont typeface="Wingdings" pitchFamily="2" charset="2"/>
              <a:buNone/>
              <a:tabLst>
                <a:tab pos="5715000" algn="ctr"/>
                <a:tab pos="6854825" algn="ctr"/>
              </a:tabLst>
            </a:pPr>
            <a:r>
              <a:rPr lang="en-US" sz="2000" b="1" dirty="0"/>
              <a:t>	</a:t>
            </a:r>
          </a:p>
          <a:p>
            <a:pPr>
              <a:buFont typeface="Wingdings" pitchFamily="2" charset="2"/>
              <a:buNone/>
              <a:tabLst>
                <a:tab pos="5715000" algn="ctr"/>
                <a:tab pos="6854825" algn="ctr"/>
              </a:tabLst>
            </a:pPr>
            <a:r>
              <a:rPr lang="en-US" sz="2000" dirty="0"/>
              <a:t>Utilization	71.43%	35.71%	</a:t>
            </a:r>
          </a:p>
          <a:p>
            <a:pPr>
              <a:buFont typeface="Wingdings" pitchFamily="2" charset="2"/>
              <a:buNone/>
              <a:tabLst>
                <a:tab pos="5715000" algn="ctr"/>
                <a:tab pos="6854825" algn="ctr"/>
              </a:tabLst>
            </a:pPr>
            <a:r>
              <a:rPr lang="en-US" sz="2000" dirty="0"/>
              <a:t>P(0), probability that the system is empty	0.2857 	0.4737 	</a:t>
            </a:r>
          </a:p>
          <a:p>
            <a:pPr>
              <a:buFont typeface="Wingdings" pitchFamily="2" charset="2"/>
              <a:buNone/>
              <a:tabLst>
                <a:tab pos="5715000" algn="ctr"/>
                <a:tab pos="6854825" algn="ctr"/>
              </a:tabLst>
            </a:pPr>
            <a:r>
              <a:rPr lang="en-US" sz="2000" dirty="0" err="1"/>
              <a:t>Lq</a:t>
            </a:r>
            <a:r>
              <a:rPr lang="en-US" sz="2000" dirty="0"/>
              <a:t>, expected queue length	1.7857 	0.1044 	</a:t>
            </a:r>
          </a:p>
          <a:p>
            <a:pPr>
              <a:buFont typeface="Wingdings" pitchFamily="2" charset="2"/>
              <a:buNone/>
              <a:tabLst>
                <a:tab pos="5715000" algn="ctr"/>
                <a:tab pos="6854825" algn="ctr"/>
              </a:tabLst>
            </a:pPr>
            <a:r>
              <a:rPr lang="en-US" sz="2000" dirty="0"/>
              <a:t>L, expected number in system	2.5000 	0.8187 	</a:t>
            </a:r>
          </a:p>
          <a:p>
            <a:pPr>
              <a:buFont typeface="Wingdings" pitchFamily="2" charset="2"/>
              <a:buNone/>
              <a:tabLst>
                <a:tab pos="5715000" algn="ctr"/>
                <a:tab pos="6854825" algn="ctr"/>
              </a:tabLst>
            </a:pPr>
            <a:r>
              <a:rPr lang="en-US" sz="2000" dirty="0" err="1"/>
              <a:t>Wq</a:t>
            </a:r>
            <a:r>
              <a:rPr lang="en-US" sz="2000" dirty="0"/>
              <a:t>, expected time in queue	0.3571 	0.0209 	</a:t>
            </a:r>
          </a:p>
          <a:p>
            <a:pPr>
              <a:buFont typeface="Wingdings" pitchFamily="2" charset="2"/>
              <a:buNone/>
              <a:tabLst>
                <a:tab pos="5715000" algn="ctr"/>
                <a:tab pos="6854825" algn="ctr"/>
              </a:tabLst>
            </a:pPr>
            <a:r>
              <a:rPr lang="en-US" sz="2000" dirty="0"/>
              <a:t>W, expected total time in system	0.5000 	0.1637 	</a:t>
            </a:r>
          </a:p>
          <a:p>
            <a:pPr>
              <a:buFont typeface="Wingdings" pitchFamily="2" charset="2"/>
              <a:buNone/>
              <a:tabLst>
                <a:tab pos="5715000" algn="ctr"/>
                <a:tab pos="6854825" algn="ctr"/>
              </a:tabLst>
            </a:pPr>
            <a:r>
              <a:rPr lang="en-US" sz="2000" dirty="0"/>
              <a:t>Probability that a customer waits	0.7143 	0.1880</a:t>
            </a:r>
            <a:r>
              <a:rPr lang="en-US" sz="2000" b="1" dirty="0"/>
              <a:t> 	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529638" cy="3810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en-US" sz="3600" i="1">
                <a:solidFill>
                  <a:schemeClr val="hlink"/>
                </a:solidFill>
              </a:rPr>
              <a:t>The M/M/s Model With </a:t>
            </a:r>
            <a:br>
              <a:rPr lang="en-US" sz="3600" i="1">
                <a:solidFill>
                  <a:schemeClr val="hlink"/>
                </a:solidFill>
              </a:rPr>
            </a:br>
            <a:r>
              <a:rPr lang="en-US" sz="3600" i="1">
                <a:solidFill>
                  <a:schemeClr val="hlink"/>
                </a:solidFill>
              </a:rPr>
              <a:t>Finite Queue Length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3" y="1235075"/>
            <a:ext cx="8459787" cy="5165725"/>
          </a:xfrm>
          <a:noFill/>
          <a:ln/>
        </p:spPr>
        <p:txBody>
          <a:bodyPr lIns="92075" tIns="46038" rIns="92075" bIns="46038"/>
          <a:lstStyle/>
          <a:p>
            <a:r>
              <a:rPr lang="en-US" sz="2400" dirty="0"/>
              <a:t>In some problems, the amount of waiting area is limited.</a:t>
            </a:r>
          </a:p>
          <a:p>
            <a:r>
              <a:rPr lang="en-US" sz="2400" dirty="0"/>
              <a:t>Example,</a:t>
            </a:r>
          </a:p>
          <a:p>
            <a:pPr lvl="1"/>
            <a:r>
              <a:rPr lang="en-US" sz="2000" dirty="0"/>
              <a:t>Suppose </a:t>
            </a:r>
            <a:r>
              <a:rPr lang="en-US" sz="2000" dirty="0" err="1"/>
              <a:t>Bitway’s</a:t>
            </a:r>
            <a:r>
              <a:rPr lang="en-US" sz="2000" dirty="0"/>
              <a:t> telephone system can keep a maximum of 5 calls on hold at any point in time. </a:t>
            </a:r>
          </a:p>
          <a:p>
            <a:pPr lvl="1"/>
            <a:r>
              <a:rPr lang="en-US" sz="2000" dirty="0"/>
              <a:t>If a new call is made to the hotline when five calls are already in the queue, the new call receives a busy signal. </a:t>
            </a:r>
          </a:p>
          <a:p>
            <a:pPr lvl="1"/>
            <a:r>
              <a:rPr lang="en-US" sz="2000" dirty="0"/>
              <a:t>One way to reduce the number of calls encountering busy signals is to increase the number of calls that can be put on hold. </a:t>
            </a:r>
          </a:p>
          <a:p>
            <a:pPr lvl="1"/>
            <a:r>
              <a:rPr lang="en-US" sz="2000" dirty="0"/>
              <a:t>If a call is answered only to be put on hold for a long time, the caller might find this more annoying than receiving a busy signal.</a:t>
            </a:r>
          </a:p>
          <a:p>
            <a:pPr lvl="1"/>
            <a:r>
              <a:rPr lang="en-US" sz="2000" dirty="0"/>
              <a:t>Rod wants to investigate what effect adding a second technician to answer hotline calls has on:</a:t>
            </a:r>
          </a:p>
          <a:p>
            <a:pPr lvl="2">
              <a:buClr>
                <a:srgbClr val="FFFFFF"/>
              </a:buClr>
            </a:pPr>
            <a:r>
              <a:rPr lang="en-US" sz="2000" dirty="0"/>
              <a:t>the number of calls receiving busy signals   </a:t>
            </a:r>
          </a:p>
          <a:p>
            <a:pPr lvl="2">
              <a:buClr>
                <a:srgbClr val="FFFFFF"/>
              </a:buClr>
            </a:pPr>
            <a:r>
              <a:rPr lang="en-US" sz="2000" dirty="0"/>
              <a:t>the average time callers must wait before receiving service.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uiExpand="1" build="p" bldLvl="2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739775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Q.xlsx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47663"/>
            <a:ext cx="8588375" cy="795337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70000"/>
              </a:lnSpc>
            </a:pPr>
            <a:r>
              <a:rPr lang="en-US" sz="3600" i="1">
                <a:solidFill>
                  <a:schemeClr val="hlink"/>
                </a:solidFill>
              </a:rPr>
              <a:t>Summary of Results:</a:t>
            </a:r>
            <a:br>
              <a:rPr lang="en-US" sz="3600" i="1">
                <a:solidFill>
                  <a:schemeClr val="hlink"/>
                </a:solidFill>
              </a:rPr>
            </a:br>
            <a:r>
              <a:rPr lang="en-US" sz="3600" i="1">
                <a:solidFill>
                  <a:schemeClr val="hlink"/>
                </a:solidFill>
              </a:rPr>
              <a:t>Bitway Computers With Finite Queue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8338" y="1270000"/>
            <a:ext cx="7772400" cy="4826000"/>
          </a:xfrm>
          <a:ln/>
        </p:spPr>
        <p:txBody>
          <a:bodyPr lIns="92075" tIns="46038" rIns="92075" bIns="46038"/>
          <a:lstStyle/>
          <a:p>
            <a:pPr>
              <a:buFont typeface="Wingdings" pitchFamily="2" charset="2"/>
              <a:buNone/>
              <a:tabLst>
                <a:tab pos="5307013" algn="ctr"/>
                <a:tab pos="6735763" algn="ctr"/>
              </a:tabLst>
            </a:pPr>
            <a:r>
              <a:rPr lang="en-US" sz="2000" dirty="0"/>
              <a:t>Arrival rate 	5	5	</a:t>
            </a:r>
          </a:p>
          <a:p>
            <a:pPr>
              <a:buFont typeface="Wingdings" pitchFamily="2" charset="2"/>
              <a:buNone/>
              <a:tabLst>
                <a:tab pos="5307013" algn="ctr"/>
                <a:tab pos="6735763" algn="ctr"/>
              </a:tabLst>
            </a:pPr>
            <a:r>
              <a:rPr lang="en-US" sz="2000" dirty="0"/>
              <a:t>Service rate 	7	7	</a:t>
            </a:r>
          </a:p>
          <a:p>
            <a:pPr>
              <a:buFont typeface="Wingdings" pitchFamily="2" charset="2"/>
              <a:buNone/>
              <a:tabLst>
                <a:tab pos="5307013" algn="ctr"/>
                <a:tab pos="6735763" algn="ctr"/>
              </a:tabLst>
            </a:pPr>
            <a:r>
              <a:rPr lang="en-US" sz="2000" dirty="0"/>
              <a:t>Number of servers	1	2	</a:t>
            </a:r>
          </a:p>
          <a:p>
            <a:pPr>
              <a:buFont typeface="Wingdings" pitchFamily="2" charset="2"/>
              <a:buNone/>
              <a:tabLst>
                <a:tab pos="5307013" algn="ctr"/>
                <a:tab pos="6735763" algn="ctr"/>
              </a:tabLst>
            </a:pPr>
            <a:r>
              <a:rPr lang="en-US" sz="2000" dirty="0"/>
              <a:t>Maximum queue length	5	5	</a:t>
            </a:r>
          </a:p>
          <a:p>
            <a:pPr>
              <a:buFont typeface="Wingdings" pitchFamily="2" charset="2"/>
              <a:buNone/>
              <a:tabLst>
                <a:tab pos="5307013" algn="ctr"/>
                <a:tab pos="6735763" algn="ctr"/>
              </a:tabLst>
            </a:pPr>
            <a:endParaRPr lang="en-US" sz="2000" dirty="0"/>
          </a:p>
          <a:p>
            <a:pPr>
              <a:buFont typeface="Wingdings" pitchFamily="2" charset="2"/>
              <a:buNone/>
              <a:tabLst>
                <a:tab pos="5307013" algn="ctr"/>
                <a:tab pos="6735763" algn="ctr"/>
              </a:tabLst>
            </a:pPr>
            <a:r>
              <a:rPr lang="en-US" sz="2000" dirty="0"/>
              <a:t>Utilization	68.43%	35.69%	</a:t>
            </a:r>
          </a:p>
          <a:p>
            <a:pPr>
              <a:buFont typeface="Wingdings" pitchFamily="2" charset="2"/>
              <a:buNone/>
              <a:tabLst>
                <a:tab pos="5307013" algn="ctr"/>
                <a:tab pos="6735763" algn="ctr"/>
              </a:tabLst>
            </a:pPr>
            <a:r>
              <a:rPr lang="en-US" sz="2000" dirty="0"/>
              <a:t>P(0), probability that the system is empty	0.3157	0.4739	</a:t>
            </a:r>
          </a:p>
          <a:p>
            <a:pPr>
              <a:buFont typeface="Wingdings" pitchFamily="2" charset="2"/>
              <a:buNone/>
              <a:tabLst>
                <a:tab pos="5307013" algn="ctr"/>
                <a:tab pos="6735763" algn="ctr"/>
              </a:tabLst>
            </a:pPr>
            <a:r>
              <a:rPr lang="en-US" sz="2000" dirty="0" err="1"/>
              <a:t>Lq</a:t>
            </a:r>
            <a:r>
              <a:rPr lang="en-US" sz="2000" dirty="0"/>
              <a:t>, expected queue length	1.0820	0.1019	</a:t>
            </a:r>
          </a:p>
          <a:p>
            <a:pPr>
              <a:buFont typeface="Wingdings" pitchFamily="2" charset="2"/>
              <a:buNone/>
              <a:tabLst>
                <a:tab pos="5307013" algn="ctr"/>
                <a:tab pos="6735763" algn="ctr"/>
              </a:tabLst>
            </a:pPr>
            <a:r>
              <a:rPr lang="en-US" sz="2000" dirty="0"/>
              <a:t>L, expected number in system	1.7664	0.8157	</a:t>
            </a:r>
          </a:p>
          <a:p>
            <a:pPr>
              <a:buFont typeface="Wingdings" pitchFamily="2" charset="2"/>
              <a:buNone/>
              <a:tabLst>
                <a:tab pos="5307013" algn="ctr"/>
                <a:tab pos="6735763" algn="ctr"/>
              </a:tabLst>
            </a:pPr>
            <a:r>
              <a:rPr lang="en-US" sz="2000" dirty="0" err="1"/>
              <a:t>Wq</a:t>
            </a:r>
            <a:r>
              <a:rPr lang="en-US" sz="2000" dirty="0"/>
              <a:t>, expected time in queue	0.2259	0.0204	</a:t>
            </a:r>
          </a:p>
          <a:p>
            <a:pPr>
              <a:buFont typeface="Wingdings" pitchFamily="2" charset="2"/>
              <a:buNone/>
              <a:tabLst>
                <a:tab pos="5307013" algn="ctr"/>
                <a:tab pos="6735763" algn="ctr"/>
              </a:tabLst>
            </a:pPr>
            <a:r>
              <a:rPr lang="en-US" sz="2000" dirty="0"/>
              <a:t>W, expected total time in system	0.3687	0.1633	</a:t>
            </a:r>
          </a:p>
          <a:p>
            <a:pPr>
              <a:buFont typeface="Wingdings" pitchFamily="2" charset="2"/>
              <a:buNone/>
              <a:tabLst>
                <a:tab pos="5307013" algn="ctr"/>
                <a:tab pos="6735763" algn="ctr"/>
              </a:tabLst>
            </a:pPr>
            <a:r>
              <a:rPr lang="en-US" sz="2000" dirty="0"/>
              <a:t>Probability that a customer waits	0.6843	0.1877	</a:t>
            </a:r>
          </a:p>
          <a:p>
            <a:pPr>
              <a:buFont typeface="Wingdings" pitchFamily="2" charset="2"/>
              <a:buNone/>
              <a:tabLst>
                <a:tab pos="5307013" algn="ctr"/>
                <a:tab pos="6735763" algn="ctr"/>
              </a:tabLst>
            </a:pPr>
            <a:r>
              <a:rPr lang="en-US" sz="2000" dirty="0"/>
              <a:t>Probability that a customer balks	0.0419	0.0007	</a:t>
            </a:r>
          </a:p>
          <a:p>
            <a:pPr>
              <a:buFont typeface="Wingdings" pitchFamily="2" charset="2"/>
              <a:buNone/>
              <a:tabLst>
                <a:tab pos="5307013" algn="ctr"/>
                <a:tab pos="6735763" algn="ctr"/>
              </a:tabLst>
            </a:pPr>
            <a:endParaRPr lang="en-US" sz="20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533400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 dirty="0">
                <a:solidFill>
                  <a:schemeClr val="hlink"/>
                </a:solidFill>
              </a:rPr>
              <a:t>The M/M/s Model With Finite Population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38200"/>
            <a:ext cx="8153400" cy="5257800"/>
          </a:xfrm>
          <a:noFill/>
          <a:ln/>
        </p:spPr>
        <p:txBody>
          <a:bodyPr lIns="92075" tIns="46038" rIns="92075" bIns="46038"/>
          <a:lstStyle/>
          <a:p>
            <a:r>
              <a:rPr lang="en-US" sz="2600" dirty="0"/>
              <a:t>Assumptions:</a:t>
            </a:r>
          </a:p>
          <a:p>
            <a:pPr lvl="1"/>
            <a:r>
              <a:rPr lang="en-US" sz="2600" dirty="0"/>
              <a:t>There are </a:t>
            </a:r>
            <a:r>
              <a:rPr lang="en-US" sz="2600" i="1" dirty="0"/>
              <a:t>s</a:t>
            </a:r>
            <a:r>
              <a:rPr lang="en-US" sz="2600" dirty="0"/>
              <a:t> servers.</a:t>
            </a:r>
          </a:p>
          <a:p>
            <a:pPr lvl="1"/>
            <a:r>
              <a:rPr lang="en-US" sz="2600" dirty="0"/>
              <a:t>There are N potential customers in the arrival population.</a:t>
            </a:r>
          </a:p>
          <a:p>
            <a:pPr lvl="1"/>
            <a:r>
              <a:rPr lang="en-US" sz="2600" dirty="0"/>
              <a:t>The arrival pattern of </a:t>
            </a:r>
            <a:r>
              <a:rPr lang="en-US" sz="2600" i="1" dirty="0"/>
              <a:t>each customer</a:t>
            </a:r>
            <a:r>
              <a:rPr lang="en-US" sz="2600" dirty="0"/>
              <a:t> follows a Poisson distribution with a mean arrival rate of </a:t>
            </a:r>
            <a:r>
              <a:rPr lang="en-US" sz="2600" b="1" dirty="0">
                <a:latin typeface="Symbol" pitchFamily="18" charset="2"/>
              </a:rPr>
              <a:t>l</a:t>
            </a:r>
            <a:r>
              <a:rPr lang="en-US" sz="2600" dirty="0"/>
              <a:t> per time period.</a:t>
            </a:r>
          </a:p>
          <a:p>
            <a:pPr lvl="1"/>
            <a:r>
              <a:rPr lang="en-US" sz="2600" dirty="0"/>
              <a:t>Each server provides service at an average rate of </a:t>
            </a:r>
            <a:r>
              <a:rPr lang="en-US" sz="2600" dirty="0">
                <a:latin typeface="Symbol" pitchFamily="18" charset="2"/>
              </a:rPr>
              <a:t>m</a:t>
            </a:r>
            <a:r>
              <a:rPr lang="en-US" sz="2600" dirty="0"/>
              <a:t> per time period, and actual service times follow an exponential distribution.</a:t>
            </a:r>
          </a:p>
          <a:p>
            <a:pPr lvl="1"/>
            <a:r>
              <a:rPr lang="en-US" sz="2600" dirty="0"/>
              <a:t>Arrivals wait in a single FIFO queue and are serviced by the first available server.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uiExpand="1" build="p" bldLvl="2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2705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en-US" sz="3600" i="1">
                <a:solidFill>
                  <a:schemeClr val="hlink"/>
                </a:solidFill>
              </a:rPr>
              <a:t>M/M/s With Finite Population Example: </a:t>
            </a:r>
            <a:br>
              <a:rPr lang="en-US" sz="3600" i="1">
                <a:solidFill>
                  <a:schemeClr val="hlink"/>
                </a:solidFill>
              </a:rPr>
            </a:br>
            <a:r>
              <a:rPr lang="en-US" sz="3600" i="1">
                <a:solidFill>
                  <a:schemeClr val="hlink"/>
                </a:solidFill>
              </a:rPr>
              <a:t>The Miller Manufacturing Company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92200"/>
            <a:ext cx="8534400" cy="4775200"/>
          </a:xfrm>
          <a:noFill/>
          <a:ln/>
        </p:spPr>
        <p:txBody>
          <a:bodyPr lIns="92075" tIns="46038" rIns="92075" bIns="46038"/>
          <a:lstStyle/>
          <a:p>
            <a:pPr marL="223838" indent="-223838"/>
            <a:r>
              <a:rPr lang="en-US" sz="2300" dirty="0"/>
              <a:t>Miller Manufacturing owns 10 identical machines that produce  colored nylon thread for the textile industry. </a:t>
            </a:r>
          </a:p>
          <a:p>
            <a:pPr marL="223838" indent="-223838"/>
            <a:r>
              <a:rPr lang="en-US" sz="2300" dirty="0"/>
              <a:t>Machine breakdowns follow a Poisson distribution with an average of 0.01 breakdowns per operating hour per machine. </a:t>
            </a:r>
          </a:p>
          <a:p>
            <a:pPr marL="223838" indent="-223838"/>
            <a:r>
              <a:rPr lang="en-US" sz="2300" dirty="0"/>
              <a:t>The company loses $100 each hour a machine is down.  </a:t>
            </a:r>
          </a:p>
          <a:p>
            <a:pPr marL="223838" indent="-223838"/>
            <a:r>
              <a:rPr lang="en-US" sz="2300" dirty="0"/>
              <a:t>The company employs one technician to fix these machines.</a:t>
            </a:r>
          </a:p>
          <a:p>
            <a:pPr marL="223838" indent="-223838"/>
            <a:r>
              <a:rPr lang="en-US" sz="2300" dirty="0"/>
              <a:t>Service times to repair the machines are exponentially distributed with an </a:t>
            </a:r>
            <a:r>
              <a:rPr lang="en-US" sz="2300" dirty="0" err="1"/>
              <a:t>avg</a:t>
            </a:r>
            <a:r>
              <a:rPr lang="en-US" sz="2300" dirty="0"/>
              <a:t> of 8 hours per repair. (So service is performed at a rate of 1/8 =0.125 machines per hour.) </a:t>
            </a:r>
          </a:p>
          <a:p>
            <a:pPr marL="223838" indent="-223838"/>
            <a:r>
              <a:rPr lang="en-US" sz="2300" dirty="0"/>
              <a:t>Management wants to analyze the impact of adding another service technician on the average  time to fix a machine. </a:t>
            </a:r>
          </a:p>
          <a:p>
            <a:pPr marL="223838" indent="-223838"/>
            <a:r>
              <a:rPr lang="en-US" sz="2300" dirty="0"/>
              <a:t>Service technicians are paid $20 per hour.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Implementing the Model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739775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Q.xlsx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048866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93700"/>
            <a:ext cx="8588375" cy="4445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70000"/>
              </a:lnSpc>
            </a:pPr>
            <a:r>
              <a:rPr lang="en-US" sz="3600" i="1">
                <a:solidFill>
                  <a:schemeClr val="hlink"/>
                </a:solidFill>
              </a:rPr>
              <a:t>Summary of Results: </a:t>
            </a:r>
            <a:br>
              <a:rPr lang="en-US" sz="3600" i="1">
                <a:solidFill>
                  <a:schemeClr val="hlink"/>
                </a:solidFill>
              </a:rPr>
            </a:br>
            <a:r>
              <a:rPr lang="en-US" sz="3600" i="1">
                <a:solidFill>
                  <a:schemeClr val="hlink"/>
                </a:solidFill>
              </a:rPr>
              <a:t>Miller Manufacturing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8475" y="933450"/>
            <a:ext cx="8205788" cy="5492750"/>
          </a:xfrm>
          <a:ln/>
        </p:spPr>
        <p:txBody>
          <a:bodyPr lIns="92075" tIns="46038" rIns="92075" bIns="46038"/>
          <a:lstStyle/>
          <a:p>
            <a:pPr marL="0" indent="0">
              <a:buFont typeface="Wingdings" pitchFamily="2" charset="2"/>
              <a:buNone/>
              <a:tabLst>
                <a:tab pos="5137150" algn="ctr"/>
                <a:tab pos="6343650" algn="ctr"/>
                <a:tab pos="7483475" algn="ctr"/>
              </a:tabLst>
            </a:pPr>
            <a:r>
              <a:rPr lang="en-US" sz="1800" dirty="0"/>
              <a:t>Arrival rate 	0.01	0.01	0.01</a:t>
            </a:r>
          </a:p>
          <a:p>
            <a:pPr marL="0" indent="0">
              <a:buFont typeface="Wingdings" pitchFamily="2" charset="2"/>
              <a:buNone/>
              <a:tabLst>
                <a:tab pos="5137150" algn="ctr"/>
                <a:tab pos="6343650" algn="ctr"/>
                <a:tab pos="7483475" algn="ctr"/>
              </a:tabLst>
            </a:pPr>
            <a:r>
              <a:rPr lang="en-US" sz="1800" dirty="0"/>
              <a:t>Service rate	0.125	0.125	0.125</a:t>
            </a:r>
          </a:p>
          <a:p>
            <a:pPr marL="0" indent="0">
              <a:buFont typeface="Wingdings" pitchFamily="2" charset="2"/>
              <a:buNone/>
              <a:tabLst>
                <a:tab pos="5137150" algn="ctr"/>
                <a:tab pos="6343650" algn="ctr"/>
                <a:tab pos="7483475" algn="ctr"/>
              </a:tabLst>
            </a:pPr>
            <a:r>
              <a:rPr lang="en-US" sz="1800" dirty="0"/>
              <a:t>Number of servers 	1	2	3</a:t>
            </a:r>
          </a:p>
          <a:p>
            <a:pPr marL="0" indent="0">
              <a:buFont typeface="Wingdings" pitchFamily="2" charset="2"/>
              <a:buNone/>
              <a:tabLst>
                <a:tab pos="5137150" algn="ctr"/>
                <a:tab pos="6343650" algn="ctr"/>
                <a:tab pos="7483475" algn="ctr"/>
              </a:tabLst>
            </a:pPr>
            <a:r>
              <a:rPr lang="en-US" sz="1800" dirty="0"/>
              <a:t>Population size	10	10	10</a:t>
            </a:r>
          </a:p>
          <a:p>
            <a:pPr marL="0" indent="0">
              <a:buFont typeface="Wingdings" pitchFamily="2" charset="2"/>
              <a:buNone/>
              <a:tabLst>
                <a:tab pos="5137150" algn="ctr"/>
                <a:tab pos="6343650" algn="ctr"/>
                <a:tab pos="7483475" algn="ctr"/>
              </a:tabLst>
            </a:pPr>
            <a:endParaRPr lang="en-US" sz="1800" dirty="0"/>
          </a:p>
          <a:p>
            <a:pPr marL="0" indent="0">
              <a:buFont typeface="Wingdings" pitchFamily="2" charset="2"/>
              <a:buNone/>
              <a:tabLst>
                <a:tab pos="5137150" algn="ctr"/>
                <a:tab pos="6343650" algn="ctr"/>
                <a:tab pos="7483475" algn="ctr"/>
              </a:tabLst>
            </a:pPr>
            <a:r>
              <a:rPr lang="en-US" sz="1800" dirty="0"/>
              <a:t>Utilization	67.80%	36.76%	24.67%</a:t>
            </a:r>
          </a:p>
          <a:p>
            <a:pPr marL="0" indent="0">
              <a:buFont typeface="Wingdings" pitchFamily="2" charset="2"/>
              <a:buNone/>
              <a:tabLst>
                <a:tab pos="5137150" algn="ctr"/>
                <a:tab pos="6343650" algn="ctr"/>
                <a:tab pos="7483475" algn="ctr"/>
              </a:tabLst>
            </a:pPr>
            <a:r>
              <a:rPr lang="en-US" sz="1800" dirty="0"/>
              <a:t>P(0), probability that the system is empty	0.3220	0.4517 	0.4623</a:t>
            </a:r>
          </a:p>
          <a:p>
            <a:pPr marL="0" indent="0">
              <a:buFont typeface="Wingdings" pitchFamily="2" charset="2"/>
              <a:buNone/>
              <a:tabLst>
                <a:tab pos="5137150" algn="ctr"/>
                <a:tab pos="6343650" algn="ctr"/>
                <a:tab pos="7483475" algn="ctr"/>
              </a:tabLst>
            </a:pPr>
            <a:r>
              <a:rPr lang="en-US" sz="1800" dirty="0" err="1"/>
              <a:t>Lq</a:t>
            </a:r>
            <a:r>
              <a:rPr lang="en-US" sz="1800" dirty="0"/>
              <a:t>, expected queue length	0.8463	0.0761 	0.0074</a:t>
            </a:r>
          </a:p>
          <a:p>
            <a:pPr marL="0" indent="0">
              <a:buFont typeface="Wingdings" pitchFamily="2" charset="2"/>
              <a:buNone/>
              <a:tabLst>
                <a:tab pos="5137150" algn="ctr"/>
                <a:tab pos="6343650" algn="ctr"/>
                <a:tab pos="7483475" algn="ctr"/>
              </a:tabLst>
            </a:pPr>
            <a:r>
              <a:rPr lang="en-US" sz="1800" dirty="0"/>
              <a:t>L, expected number in system	1.5244	0.8112 	0.7476</a:t>
            </a:r>
          </a:p>
          <a:p>
            <a:pPr marL="0" indent="0">
              <a:buFont typeface="Wingdings" pitchFamily="2" charset="2"/>
              <a:buNone/>
              <a:tabLst>
                <a:tab pos="5137150" algn="ctr"/>
                <a:tab pos="6343650" algn="ctr"/>
                <a:tab pos="7483475" algn="ctr"/>
              </a:tabLst>
            </a:pPr>
            <a:r>
              <a:rPr lang="en-US" sz="1800" dirty="0" err="1"/>
              <a:t>Wq</a:t>
            </a:r>
            <a:r>
              <a:rPr lang="en-US" sz="1800" dirty="0"/>
              <a:t>, expected time in queue	9.9856	0.8282 	0.0799</a:t>
            </a:r>
          </a:p>
          <a:p>
            <a:pPr marL="0" indent="0">
              <a:buFont typeface="Wingdings" pitchFamily="2" charset="2"/>
              <a:buNone/>
              <a:tabLst>
                <a:tab pos="5137150" algn="ctr"/>
                <a:tab pos="6343650" algn="ctr"/>
                <a:tab pos="7483475" algn="ctr"/>
              </a:tabLst>
            </a:pPr>
            <a:r>
              <a:rPr lang="en-US" sz="1800" dirty="0"/>
              <a:t>W, expected total time in system	17.986	8.8282 	8.0799</a:t>
            </a:r>
          </a:p>
          <a:p>
            <a:pPr marL="0" indent="0">
              <a:buFont typeface="Wingdings" pitchFamily="2" charset="2"/>
              <a:buNone/>
              <a:tabLst>
                <a:tab pos="5137150" algn="ctr"/>
                <a:tab pos="6343650" algn="ctr"/>
                <a:tab pos="7483475" algn="ctr"/>
              </a:tabLst>
            </a:pPr>
            <a:r>
              <a:rPr lang="en-US" sz="1800" dirty="0"/>
              <a:t>Probability that a customer waits	0.6780	0.1869 	0.0347</a:t>
            </a:r>
          </a:p>
          <a:p>
            <a:pPr marL="0" indent="0">
              <a:buFont typeface="Wingdings" pitchFamily="2" charset="2"/>
              <a:buNone/>
              <a:tabLst>
                <a:tab pos="5137150" algn="ctr"/>
                <a:tab pos="6343650" algn="ctr"/>
                <a:tab pos="7483475" algn="ctr"/>
              </a:tabLst>
            </a:pPr>
            <a:endParaRPr lang="en-US" sz="1800" dirty="0"/>
          </a:p>
          <a:p>
            <a:pPr marL="0" indent="0">
              <a:buFont typeface="Wingdings" pitchFamily="2" charset="2"/>
              <a:buNone/>
              <a:tabLst>
                <a:tab pos="5137150" algn="ctr"/>
                <a:tab pos="6343650" algn="ctr"/>
                <a:tab pos="7483475" algn="ctr"/>
              </a:tabLst>
            </a:pPr>
            <a:r>
              <a:rPr lang="en-US" sz="1800" dirty="0"/>
              <a:t>Hourly cost of service technicians	$20.00 	$40.00 	$60.00 </a:t>
            </a:r>
          </a:p>
          <a:p>
            <a:pPr marL="0" indent="0">
              <a:buFont typeface="Wingdings" pitchFamily="2" charset="2"/>
              <a:buNone/>
              <a:tabLst>
                <a:tab pos="5137150" algn="ctr"/>
                <a:tab pos="6343650" algn="ctr"/>
                <a:tab pos="7483475" algn="ctr"/>
              </a:tabLst>
            </a:pPr>
            <a:r>
              <a:rPr lang="en-US" sz="1800" dirty="0"/>
              <a:t>Hourly cost of inoperable machines	$152.44 	$81.12 	$74.76 </a:t>
            </a:r>
          </a:p>
          <a:p>
            <a:pPr marL="0" indent="0">
              <a:buFont typeface="Wingdings" pitchFamily="2" charset="2"/>
              <a:buNone/>
              <a:tabLst>
                <a:tab pos="5137150" algn="ctr"/>
                <a:tab pos="6343650" algn="ctr"/>
                <a:tab pos="7483475" algn="ctr"/>
              </a:tabLst>
            </a:pPr>
            <a:r>
              <a:rPr lang="en-US" sz="1800" dirty="0"/>
              <a:t>Total hourly costs	$172.44 	</a:t>
            </a:r>
            <a:r>
              <a:rPr lang="en-US" sz="1800" dirty="0">
                <a:solidFill>
                  <a:srgbClr val="00CC00"/>
                </a:solidFill>
              </a:rPr>
              <a:t>$121.12</a:t>
            </a:r>
            <a:r>
              <a:rPr lang="en-US" sz="1800" dirty="0"/>
              <a:t> 	$134.76 	</a:t>
            </a:r>
          </a:p>
          <a:p>
            <a:pPr marL="0" indent="0">
              <a:buFont typeface="Wingdings" pitchFamily="2" charset="2"/>
              <a:buNone/>
              <a:tabLst>
                <a:tab pos="5137150" algn="ctr"/>
                <a:tab pos="6343650" algn="ctr"/>
                <a:tab pos="7483475" algn="ctr"/>
              </a:tabLst>
            </a:pPr>
            <a:endParaRPr lang="en-US" sz="1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14350"/>
            <a:ext cx="7772400" cy="473075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80000"/>
              </a:lnSpc>
            </a:pPr>
            <a:r>
              <a:rPr lang="en-US" sz="3600" i="1">
                <a:solidFill>
                  <a:schemeClr val="hlink"/>
                </a:solidFill>
              </a:rPr>
              <a:t>The M/G/1 Model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2463" y="1136650"/>
            <a:ext cx="7772400" cy="4959350"/>
          </a:xfrm>
          <a:ln/>
        </p:spPr>
        <p:txBody>
          <a:bodyPr lIns="92075" tIns="46038" rIns="92075" bIns="46038"/>
          <a:lstStyle/>
          <a:p>
            <a:r>
              <a:rPr lang="en-US" sz="2600" dirty="0"/>
              <a:t>Not all service times can be modeled accurately using the Exponential distribution.</a:t>
            </a:r>
          </a:p>
          <a:p>
            <a:pPr lvl="1"/>
            <a:r>
              <a:rPr lang="en-US" sz="2400" dirty="0"/>
              <a:t>Examples:</a:t>
            </a:r>
          </a:p>
          <a:p>
            <a:pPr lvl="2"/>
            <a:r>
              <a:rPr lang="en-US" dirty="0"/>
              <a:t>Changing oil in a car</a:t>
            </a:r>
          </a:p>
          <a:p>
            <a:pPr lvl="2"/>
            <a:r>
              <a:rPr lang="en-US" dirty="0"/>
              <a:t>Getting an eye exam</a:t>
            </a:r>
          </a:p>
          <a:p>
            <a:pPr lvl="2"/>
            <a:r>
              <a:rPr lang="en-US" dirty="0"/>
              <a:t>Getting a hair cut</a:t>
            </a:r>
          </a:p>
          <a:p>
            <a:r>
              <a:rPr lang="en-US" sz="2600" dirty="0"/>
              <a:t>M/G/1 Model Assumptions:</a:t>
            </a:r>
          </a:p>
          <a:p>
            <a:pPr lvl="1"/>
            <a:r>
              <a:rPr lang="en-US" sz="2400" dirty="0"/>
              <a:t>Arrivals follow a Poisson distribution with mean </a:t>
            </a:r>
            <a:r>
              <a:rPr lang="en-US" sz="2400" b="1" dirty="0">
                <a:latin typeface="Symbol" pitchFamily="18" charset="2"/>
              </a:rPr>
              <a:t>l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Service times follow </a:t>
            </a:r>
            <a:r>
              <a:rPr lang="en-US" sz="2400" i="1" u="sng" dirty="0"/>
              <a:t>any</a:t>
            </a:r>
            <a:r>
              <a:rPr lang="en-US" sz="2400" dirty="0"/>
              <a:t> distribution with mean </a:t>
            </a:r>
            <a:r>
              <a:rPr lang="en-US" sz="2400" b="1" dirty="0">
                <a:latin typeface="Symbol" pitchFamily="18" charset="2"/>
              </a:rPr>
              <a:t>m</a:t>
            </a:r>
            <a:r>
              <a:rPr lang="en-US" sz="2400" dirty="0"/>
              <a:t> and standard deviation </a:t>
            </a:r>
            <a:r>
              <a:rPr lang="en-US" sz="2400" b="1" dirty="0">
                <a:latin typeface="Symbol" pitchFamily="18" charset="2"/>
              </a:rPr>
              <a:t>s</a:t>
            </a:r>
            <a:r>
              <a:rPr lang="en-US" sz="2400" dirty="0">
                <a:latin typeface="Symbol" pitchFamily="18" charset="2"/>
              </a:rPr>
              <a:t>.</a:t>
            </a:r>
            <a:endParaRPr lang="en-US" sz="2400" dirty="0"/>
          </a:p>
          <a:p>
            <a:pPr lvl="1"/>
            <a:r>
              <a:rPr lang="en-US" sz="2400" dirty="0"/>
              <a:t>There is a single server.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 bldLvl="2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84200" y="387350"/>
            <a:ext cx="7772400" cy="523875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The M/D/1 Model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9413" y="800099"/>
            <a:ext cx="8188325" cy="5495925"/>
          </a:xfrm>
          <a:noFill/>
          <a:ln/>
        </p:spPr>
        <p:txBody>
          <a:bodyPr lIns="92075" tIns="46038" rIns="92075" bIns="46038"/>
          <a:lstStyle/>
          <a:p>
            <a:r>
              <a:rPr lang="en-US" sz="2600" dirty="0"/>
              <a:t>Service times may not be random in some queuing systems.</a:t>
            </a:r>
          </a:p>
          <a:p>
            <a:pPr lvl="1"/>
            <a:r>
              <a:rPr lang="en-US" sz="2600" dirty="0"/>
              <a:t>Examples</a:t>
            </a:r>
          </a:p>
          <a:p>
            <a:pPr lvl="2"/>
            <a:r>
              <a:rPr lang="en-US" dirty="0"/>
              <a:t>In manufacturing, the time to process an item might be exactly 10 seconds per piece. </a:t>
            </a:r>
          </a:p>
          <a:p>
            <a:pPr lvl="2"/>
            <a:r>
              <a:rPr lang="en-US" dirty="0"/>
              <a:t>An automatic car wash might spend exactly the same amount of time on each car it services. </a:t>
            </a:r>
          </a:p>
          <a:p>
            <a:r>
              <a:rPr lang="en-US" sz="2600" dirty="0"/>
              <a:t>The M/D/1 model can be used in these types of situations where the service times are deterministic (not random).</a:t>
            </a:r>
          </a:p>
          <a:p>
            <a:r>
              <a:rPr lang="en-US" sz="2600" dirty="0"/>
              <a:t>The results for an M/D/1 model can be obtained using the M/G/1 model by setting the standard deviation of the service time to 0 ( </a:t>
            </a:r>
            <a:r>
              <a:rPr lang="en-US" sz="2600" dirty="0">
                <a:latin typeface="Symbol" pitchFamily="18" charset="2"/>
              </a:rPr>
              <a:t>s</a:t>
            </a:r>
            <a:r>
              <a:rPr lang="en-US" sz="2600" dirty="0"/>
              <a:t>= 0).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296025"/>
            <a:ext cx="2895600" cy="476250"/>
          </a:xfrm>
        </p:spPr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 bldLvl="3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09800"/>
            <a:ext cx="7772400" cy="1219200"/>
          </a:xfrm>
          <a:noFill/>
          <a:ln/>
        </p:spPr>
        <p:txBody>
          <a:bodyPr lIns="92075" tIns="46038" rIns="92075" bIns="46038"/>
          <a:lstStyle/>
          <a:p>
            <a:r>
              <a:rPr lang="en-US">
                <a:solidFill>
                  <a:schemeClr val="hlink"/>
                </a:solidFill>
              </a:rPr>
              <a:t>End of Chapter 13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DA5">
  <a:themeElements>
    <a:clrScheme name="SMDA5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SMDA5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SMDA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SMDA5</Template>
  <TotalTime>3993</TotalTime>
  <Words>2835</Words>
  <Application>Microsoft Office PowerPoint</Application>
  <PresentationFormat>On-screen Show (4:3)</PresentationFormat>
  <Paragraphs>265</Paragraphs>
  <Slides>27</Slides>
  <Notes>27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Calibri</vt:lpstr>
      <vt:lpstr>Cambria Math</vt:lpstr>
      <vt:lpstr>Symbol</vt:lpstr>
      <vt:lpstr>Tahoma</vt:lpstr>
      <vt:lpstr>Times New Roman</vt:lpstr>
      <vt:lpstr>Wingdings</vt:lpstr>
      <vt:lpstr>SMDA5</vt:lpstr>
      <vt:lpstr>Equation</vt:lpstr>
      <vt:lpstr>Spreadsheet Modeling  &amp; Decision Analysis</vt:lpstr>
      <vt:lpstr>Queuing Theory</vt:lpstr>
      <vt:lpstr>Introduction to Queuing Theory</vt:lpstr>
      <vt:lpstr>The Purpose of Queuing Models</vt:lpstr>
      <vt:lpstr>Queuing Costs</vt:lpstr>
      <vt:lpstr>Common Queuing System Configurations</vt:lpstr>
      <vt:lpstr>Characteristics of Queuing Systems: The Arrival Process</vt:lpstr>
      <vt:lpstr>Characteristics of Queuing Systems: The Service Process</vt:lpstr>
      <vt:lpstr>Comments</vt:lpstr>
      <vt:lpstr>Kendall Notation</vt:lpstr>
      <vt:lpstr>Operating Characteristics</vt:lpstr>
      <vt:lpstr>Key Operating Characteristics  of the M/M/1 Model</vt:lpstr>
      <vt:lpstr>The Q.xls Queuing Template</vt:lpstr>
      <vt:lpstr>The M/M/s Model</vt:lpstr>
      <vt:lpstr>An M/M/s Example: Bitway Computers</vt:lpstr>
      <vt:lpstr>Implementing the Model</vt:lpstr>
      <vt:lpstr>Summary of Results: Bitway Computers</vt:lpstr>
      <vt:lpstr>The M/M/s Model With  Finite Queue Length</vt:lpstr>
      <vt:lpstr>Implementing the Model</vt:lpstr>
      <vt:lpstr>Summary of Results: Bitway Computers With Finite Queue</vt:lpstr>
      <vt:lpstr>The M/M/s Model With Finite Population</vt:lpstr>
      <vt:lpstr>M/M/s With Finite Population Example:  The Miller Manufacturing Company</vt:lpstr>
      <vt:lpstr>Implementing the Model</vt:lpstr>
      <vt:lpstr>Summary of Results:  Miller Manufacturing</vt:lpstr>
      <vt:lpstr>The M/G/1 Model</vt:lpstr>
      <vt:lpstr>The M/D/1 Model</vt:lpstr>
      <vt:lpstr>End of Chapter 13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Spreadsheet Modeling &amp; Decision Analysis:</dc:title>
  <dc:creator>Cliff Ragsdale</dc:creator>
  <cp:lastModifiedBy>Arie Harel</cp:lastModifiedBy>
  <cp:revision>244</cp:revision>
  <cp:lastPrinted>1997-06-09T17:13:08Z</cp:lastPrinted>
  <dcterms:created xsi:type="dcterms:W3CDTF">1995-06-17T23:31:02Z</dcterms:created>
  <dcterms:modified xsi:type="dcterms:W3CDTF">2021-05-01T19:14:56Z</dcterms:modified>
</cp:coreProperties>
</file>