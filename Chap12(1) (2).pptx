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46"/>
  </p:notesMasterIdLst>
  <p:handoutMasterIdLst>
    <p:handoutMasterId r:id="rId47"/>
  </p:handoutMasterIdLst>
  <p:sldIdLst>
    <p:sldId id="356" r:id="rId2"/>
    <p:sldId id="256" r:id="rId3"/>
    <p:sldId id="340" r:id="rId4"/>
    <p:sldId id="262" r:id="rId5"/>
    <p:sldId id="263" r:id="rId6"/>
    <p:sldId id="362" r:id="rId7"/>
    <p:sldId id="363" r:id="rId8"/>
    <p:sldId id="266" r:id="rId9"/>
    <p:sldId id="265" r:id="rId10"/>
    <p:sldId id="334" r:id="rId11"/>
    <p:sldId id="267" r:id="rId12"/>
    <p:sldId id="268" r:id="rId13"/>
    <p:sldId id="269" r:id="rId14"/>
    <p:sldId id="270" r:id="rId15"/>
    <p:sldId id="271" r:id="rId16"/>
    <p:sldId id="272" r:id="rId17"/>
    <p:sldId id="301" r:id="rId18"/>
    <p:sldId id="273" r:id="rId19"/>
    <p:sldId id="274" r:id="rId20"/>
    <p:sldId id="275" r:id="rId21"/>
    <p:sldId id="342" r:id="rId22"/>
    <p:sldId id="279" r:id="rId23"/>
    <p:sldId id="343" r:id="rId24"/>
    <p:sldId id="355" r:id="rId25"/>
    <p:sldId id="345" r:id="rId26"/>
    <p:sldId id="346" r:id="rId27"/>
    <p:sldId id="283" r:id="rId28"/>
    <p:sldId id="284" r:id="rId29"/>
    <p:sldId id="285" r:id="rId30"/>
    <p:sldId id="358" r:id="rId31"/>
    <p:sldId id="288" r:id="rId32"/>
    <p:sldId id="289" r:id="rId33"/>
    <p:sldId id="290" r:id="rId34"/>
    <p:sldId id="291" r:id="rId35"/>
    <p:sldId id="335" r:id="rId36"/>
    <p:sldId id="341" r:id="rId37"/>
    <p:sldId id="336" r:id="rId38"/>
    <p:sldId id="292" r:id="rId39"/>
    <p:sldId id="293" r:id="rId40"/>
    <p:sldId id="359" r:id="rId41"/>
    <p:sldId id="337" r:id="rId42"/>
    <p:sldId id="338" r:id="rId43"/>
    <p:sldId id="278" r:id="rId44"/>
    <p:sldId id="357" r:id="rId45"/>
  </p:sldIdLst>
  <p:sldSz cx="9144000" cy="6858000" type="screen4x3"/>
  <p:notesSz cx="6858000" cy="92075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FF"/>
    <a:srgbClr val="CC0000"/>
    <a:srgbClr val="FFFFFF"/>
    <a:srgbClr val="856EF8"/>
    <a:srgbClr val="00CC00"/>
    <a:srgbClr val="FF0033"/>
    <a:srgbClr val="CBCB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798" autoAdjust="0"/>
    <p:restoredTop sz="94637" autoAdjust="0"/>
  </p:normalViewPr>
  <p:slideViewPr>
    <p:cSldViewPr>
      <p:cViewPr varScale="1">
        <p:scale>
          <a:sx n="85" d="100"/>
          <a:sy n="85" d="100"/>
        </p:scale>
        <p:origin x="96" y="3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2" d="100"/>
          <a:sy n="42" d="100"/>
        </p:scale>
        <p:origin x="-1265" y="-90"/>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3175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eaLnBrk="0" hangingPunct="0">
              <a:defRPr sz="1000" i="1"/>
            </a:lvl1pPr>
          </a:lstStyle>
          <a:p>
            <a:pPr>
              <a:defRPr/>
            </a:pPr>
            <a:endParaRPr lang="en-US"/>
          </a:p>
        </p:txBody>
      </p:sp>
      <p:sp>
        <p:nvSpPr>
          <p:cNvPr id="4099" name="Rectangle 3"/>
          <p:cNvSpPr>
            <a:spLocks noGrp="1" noChangeArrowheads="1"/>
          </p:cNvSpPr>
          <p:nvPr>
            <p:ph type="dt" sz="quarter" idx="1"/>
          </p:nvPr>
        </p:nvSpPr>
        <p:spPr bwMode="auto">
          <a:xfrm>
            <a:off x="3886200" y="3175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eaLnBrk="0" hangingPunct="0">
              <a:defRPr sz="1000" i="1"/>
            </a:lvl1pPr>
          </a:lstStyle>
          <a:p>
            <a:pPr>
              <a:defRPr/>
            </a:pPr>
            <a:endParaRPr lang="en-US"/>
          </a:p>
        </p:txBody>
      </p:sp>
      <p:sp>
        <p:nvSpPr>
          <p:cNvPr id="4100" name="Rectangle 4"/>
          <p:cNvSpPr>
            <a:spLocks noGrp="1" noChangeArrowheads="1"/>
          </p:cNvSpPr>
          <p:nvPr>
            <p:ph type="ftr" sz="quarter" idx="2"/>
          </p:nvPr>
        </p:nvSpPr>
        <p:spPr bwMode="auto">
          <a:xfrm>
            <a:off x="0" y="871855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eaLnBrk="0" hangingPunct="0">
              <a:defRPr sz="1000" i="1"/>
            </a:lvl1pPr>
          </a:lstStyle>
          <a:p>
            <a:pPr>
              <a:defRPr/>
            </a:pPr>
            <a:endParaRPr lang="en-US"/>
          </a:p>
        </p:txBody>
      </p:sp>
      <p:sp>
        <p:nvSpPr>
          <p:cNvPr id="4101" name="Rectangle 5"/>
          <p:cNvSpPr>
            <a:spLocks noGrp="1" noChangeArrowheads="1"/>
          </p:cNvSpPr>
          <p:nvPr>
            <p:ph type="sldNum" sz="quarter" idx="3"/>
          </p:nvPr>
        </p:nvSpPr>
        <p:spPr bwMode="auto">
          <a:xfrm>
            <a:off x="3886200" y="871855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eaLnBrk="0" hangingPunct="0">
              <a:defRPr sz="1000" i="1"/>
            </a:lvl1pPr>
          </a:lstStyle>
          <a:p>
            <a:pPr>
              <a:defRPr/>
            </a:pPr>
            <a:fld id="{9055E56B-2C33-406E-8380-BB16334CE2B1}" type="slidenum">
              <a:rPr lang="en-US"/>
              <a:pPr>
                <a:defRPr/>
              </a:pPr>
              <a:t>‹#›</a:t>
            </a:fld>
            <a:endParaRPr lang="en-US"/>
          </a:p>
        </p:txBody>
      </p:sp>
    </p:spTree>
    <p:extLst>
      <p:ext uri="{BB962C8B-B14F-4D97-AF65-F5344CB8AC3E}">
        <p14:creationId xmlns:p14="http://schemas.microsoft.com/office/powerpoint/2010/main" val="9288120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eaLnBrk="0" hangingPunct="0">
              <a:defRPr sz="1000" i="1"/>
            </a:lvl1pPr>
          </a:lstStyle>
          <a:p>
            <a:pPr>
              <a:defRPr/>
            </a:pPr>
            <a:endParaRPr lang="en-US"/>
          </a:p>
        </p:txBody>
      </p:sp>
      <p:sp>
        <p:nvSpPr>
          <p:cNvPr id="2051" name="Rectangle 3"/>
          <p:cNvSpPr>
            <a:spLocks noGrp="1" noChangeArrowheads="1"/>
          </p:cNvSpPr>
          <p:nvPr>
            <p:ph type="dt" idx="1"/>
          </p:nvPr>
        </p:nvSpPr>
        <p:spPr bwMode="auto">
          <a:xfrm>
            <a:off x="388620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eaLnBrk="0" hangingPunct="0">
              <a:defRPr sz="1000" i="1"/>
            </a:lvl1pPr>
          </a:lstStyle>
          <a:p>
            <a:pPr>
              <a:defRPr/>
            </a:pPr>
            <a:endParaRPr lang="en-US"/>
          </a:p>
        </p:txBody>
      </p:sp>
      <p:sp>
        <p:nvSpPr>
          <p:cNvPr id="50180" name="Rectangle 4"/>
          <p:cNvSpPr>
            <a:spLocks noGrp="1" noRot="1" noChangeAspect="1" noChangeArrowheads="1" noTextEdit="1"/>
          </p:cNvSpPr>
          <p:nvPr>
            <p:ph type="sldImg" idx="2"/>
          </p:nvPr>
        </p:nvSpPr>
        <p:spPr bwMode="auto">
          <a:xfrm>
            <a:off x="1133475" y="696913"/>
            <a:ext cx="4591050" cy="34401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73563"/>
            <a:ext cx="5029200" cy="414337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p:cNvSpPr>
            <a:spLocks noGrp="1" noChangeArrowheads="1"/>
          </p:cNvSpPr>
          <p:nvPr>
            <p:ph type="ftr" sz="quarter" idx="4"/>
          </p:nvPr>
        </p:nvSpPr>
        <p:spPr bwMode="auto">
          <a:xfrm>
            <a:off x="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eaLnBrk="0" hangingPunct="0">
              <a:defRPr sz="1000" i="1"/>
            </a:lvl1pPr>
          </a:lstStyle>
          <a:p>
            <a:pPr>
              <a:defRPr/>
            </a:pPr>
            <a:endParaRPr lang="en-US"/>
          </a:p>
        </p:txBody>
      </p:sp>
      <p:sp>
        <p:nvSpPr>
          <p:cNvPr id="2055" name="Rectangle 7"/>
          <p:cNvSpPr>
            <a:spLocks noGrp="1" noChangeArrowheads="1"/>
          </p:cNvSpPr>
          <p:nvPr>
            <p:ph type="sldNum" sz="quarter" idx="5"/>
          </p:nvPr>
        </p:nvSpPr>
        <p:spPr bwMode="auto">
          <a:xfrm>
            <a:off x="388620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eaLnBrk="0" hangingPunct="0">
              <a:defRPr sz="1000" i="1"/>
            </a:lvl1pPr>
          </a:lstStyle>
          <a:p>
            <a:pPr>
              <a:defRPr/>
            </a:pPr>
            <a:fld id="{97B13BC3-ABE7-44FC-88F5-128CABBCF6C2}" type="slidenum">
              <a:rPr lang="en-US"/>
              <a:pPr>
                <a:defRPr/>
              </a:pPr>
              <a:t>‹#›</a:t>
            </a:fld>
            <a:endParaRPr lang="en-US"/>
          </a:p>
        </p:txBody>
      </p:sp>
    </p:spTree>
    <p:extLst>
      <p:ext uri="{BB962C8B-B14F-4D97-AF65-F5344CB8AC3E}">
        <p14:creationId xmlns:p14="http://schemas.microsoft.com/office/powerpoint/2010/main" val="14160560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C2589D30-6639-4274-9B42-3F9D5FCCD1DC}" type="slidenum">
              <a:rPr lang="en-US"/>
              <a:pPr/>
              <a:t>1</a:t>
            </a:fld>
            <a:endParaRPr lang="en-US"/>
          </a:p>
        </p:txBody>
      </p:sp>
      <p:sp>
        <p:nvSpPr>
          <p:cNvPr id="27651" name="Rectangle 2"/>
          <p:cNvSpPr>
            <a:spLocks noGrp="1" noRot="1" noChangeAspect="1" noChangeArrowheads="1" noTextEdit="1"/>
          </p:cNvSpPr>
          <p:nvPr>
            <p:ph type="sldImg"/>
          </p:nvPr>
        </p:nvSpPr>
        <p:spPr>
          <a:xfrm>
            <a:off x="1136650" y="696913"/>
            <a:ext cx="4584700" cy="3440112"/>
          </a:xfrm>
          <a:ln/>
        </p:spPr>
      </p:sp>
      <p:sp>
        <p:nvSpPr>
          <p:cNvPr id="27652"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3554637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a:t>
            </a:fld>
            <a:endParaRPr lang="en-US"/>
          </a:p>
        </p:txBody>
      </p:sp>
    </p:spTree>
    <p:extLst>
      <p:ext uri="{BB962C8B-B14F-4D97-AF65-F5344CB8AC3E}">
        <p14:creationId xmlns:p14="http://schemas.microsoft.com/office/powerpoint/2010/main" val="2615831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a:t>
            </a:fld>
            <a:endParaRPr lang="en-US"/>
          </a:p>
        </p:txBody>
      </p:sp>
    </p:spTree>
    <p:extLst>
      <p:ext uri="{BB962C8B-B14F-4D97-AF65-F5344CB8AC3E}">
        <p14:creationId xmlns:p14="http://schemas.microsoft.com/office/powerpoint/2010/main" val="4148603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4</a:t>
            </a:fld>
            <a:endParaRPr lang="en-US"/>
          </a:p>
        </p:txBody>
      </p:sp>
    </p:spTree>
    <p:extLst>
      <p:ext uri="{BB962C8B-B14F-4D97-AF65-F5344CB8AC3E}">
        <p14:creationId xmlns:p14="http://schemas.microsoft.com/office/powerpoint/2010/main" val="1841677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5</a:t>
            </a:fld>
            <a:endParaRPr lang="en-US"/>
          </a:p>
        </p:txBody>
      </p:sp>
    </p:spTree>
    <p:extLst>
      <p:ext uri="{BB962C8B-B14F-4D97-AF65-F5344CB8AC3E}">
        <p14:creationId xmlns:p14="http://schemas.microsoft.com/office/powerpoint/2010/main" val="3065007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a:xfrm>
            <a:off x="1135063" y="696913"/>
            <a:ext cx="4587875" cy="3440112"/>
          </a:xfrm>
          <a:ln/>
        </p:spPr>
      </p:sp>
      <p:sp>
        <p:nvSpPr>
          <p:cNvPr id="13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9F87537-93FA-479B-BF11-F36A34888E0C}" type="slidenum">
              <a:rPr lang="en-US" sz="1000" smtClean="0">
                <a:latin typeface="Arial" panose="020B0604020202020204" pitchFamily="34" charset="0"/>
              </a:rPr>
              <a:pPr>
                <a:spcBef>
                  <a:spcPct val="0"/>
                </a:spcBef>
              </a:pPr>
              <a:t>6</a:t>
            </a:fld>
            <a:endParaRPr lang="en-US" sz="1000">
              <a:latin typeface="Arial" panose="020B0604020202020204" pitchFamily="34" charset="0"/>
            </a:endParaRPr>
          </a:p>
        </p:txBody>
      </p:sp>
    </p:spTree>
    <p:extLst>
      <p:ext uri="{BB962C8B-B14F-4D97-AF65-F5344CB8AC3E}">
        <p14:creationId xmlns:p14="http://schemas.microsoft.com/office/powerpoint/2010/main" val="4224333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7</a:t>
            </a:fld>
            <a:endParaRPr lang="en-US"/>
          </a:p>
        </p:txBody>
      </p:sp>
    </p:spTree>
    <p:extLst>
      <p:ext uri="{BB962C8B-B14F-4D97-AF65-F5344CB8AC3E}">
        <p14:creationId xmlns:p14="http://schemas.microsoft.com/office/powerpoint/2010/main" val="1932471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8</a:t>
            </a:fld>
            <a:endParaRPr lang="en-US"/>
          </a:p>
        </p:txBody>
      </p:sp>
    </p:spTree>
    <p:extLst>
      <p:ext uri="{BB962C8B-B14F-4D97-AF65-F5344CB8AC3E}">
        <p14:creationId xmlns:p14="http://schemas.microsoft.com/office/powerpoint/2010/main" val="2749550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9</a:t>
            </a:fld>
            <a:endParaRPr lang="en-US"/>
          </a:p>
        </p:txBody>
      </p:sp>
    </p:spTree>
    <p:extLst>
      <p:ext uri="{BB962C8B-B14F-4D97-AF65-F5344CB8AC3E}">
        <p14:creationId xmlns:p14="http://schemas.microsoft.com/office/powerpoint/2010/main" val="922520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10</a:t>
            </a:fld>
            <a:endParaRPr lang="en-US"/>
          </a:p>
        </p:txBody>
      </p:sp>
    </p:spTree>
    <p:extLst>
      <p:ext uri="{BB962C8B-B14F-4D97-AF65-F5344CB8AC3E}">
        <p14:creationId xmlns:p14="http://schemas.microsoft.com/office/powerpoint/2010/main" val="3373541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11</a:t>
            </a:fld>
            <a:endParaRPr lang="en-US"/>
          </a:p>
        </p:txBody>
      </p:sp>
    </p:spTree>
    <p:extLst>
      <p:ext uri="{BB962C8B-B14F-4D97-AF65-F5344CB8AC3E}">
        <p14:creationId xmlns:p14="http://schemas.microsoft.com/office/powerpoint/2010/main" val="3215989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12</a:t>
            </a:fld>
            <a:endParaRPr lang="en-US"/>
          </a:p>
        </p:txBody>
      </p:sp>
    </p:spTree>
    <p:extLst>
      <p:ext uri="{BB962C8B-B14F-4D97-AF65-F5344CB8AC3E}">
        <p14:creationId xmlns:p14="http://schemas.microsoft.com/office/powerpoint/2010/main" val="3500045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13</a:t>
            </a:fld>
            <a:endParaRPr lang="en-US"/>
          </a:p>
        </p:txBody>
      </p:sp>
    </p:spTree>
    <p:extLst>
      <p:ext uri="{BB962C8B-B14F-4D97-AF65-F5344CB8AC3E}">
        <p14:creationId xmlns:p14="http://schemas.microsoft.com/office/powerpoint/2010/main" val="3067699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14</a:t>
            </a:fld>
            <a:endParaRPr lang="en-US"/>
          </a:p>
        </p:txBody>
      </p:sp>
    </p:spTree>
    <p:extLst>
      <p:ext uri="{BB962C8B-B14F-4D97-AF65-F5344CB8AC3E}">
        <p14:creationId xmlns:p14="http://schemas.microsoft.com/office/powerpoint/2010/main" val="1965274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15</a:t>
            </a:fld>
            <a:endParaRPr lang="en-US"/>
          </a:p>
        </p:txBody>
      </p:sp>
    </p:spTree>
    <p:extLst>
      <p:ext uri="{BB962C8B-B14F-4D97-AF65-F5344CB8AC3E}">
        <p14:creationId xmlns:p14="http://schemas.microsoft.com/office/powerpoint/2010/main" val="42298562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16</a:t>
            </a:fld>
            <a:endParaRPr lang="en-US"/>
          </a:p>
        </p:txBody>
      </p:sp>
    </p:spTree>
    <p:extLst>
      <p:ext uri="{BB962C8B-B14F-4D97-AF65-F5344CB8AC3E}">
        <p14:creationId xmlns:p14="http://schemas.microsoft.com/office/powerpoint/2010/main" val="3489677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17</a:t>
            </a:fld>
            <a:endParaRPr lang="en-US"/>
          </a:p>
        </p:txBody>
      </p:sp>
    </p:spTree>
    <p:extLst>
      <p:ext uri="{BB962C8B-B14F-4D97-AF65-F5344CB8AC3E}">
        <p14:creationId xmlns:p14="http://schemas.microsoft.com/office/powerpoint/2010/main" val="22585557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18</a:t>
            </a:fld>
            <a:endParaRPr lang="en-US"/>
          </a:p>
        </p:txBody>
      </p:sp>
    </p:spTree>
    <p:extLst>
      <p:ext uri="{BB962C8B-B14F-4D97-AF65-F5344CB8AC3E}">
        <p14:creationId xmlns:p14="http://schemas.microsoft.com/office/powerpoint/2010/main" val="23169888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19</a:t>
            </a:fld>
            <a:endParaRPr lang="en-US"/>
          </a:p>
        </p:txBody>
      </p:sp>
    </p:spTree>
    <p:extLst>
      <p:ext uri="{BB962C8B-B14F-4D97-AF65-F5344CB8AC3E}">
        <p14:creationId xmlns:p14="http://schemas.microsoft.com/office/powerpoint/2010/main" val="26069065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20</a:t>
            </a:fld>
            <a:endParaRPr lang="en-US"/>
          </a:p>
        </p:txBody>
      </p:sp>
    </p:spTree>
    <p:extLst>
      <p:ext uri="{BB962C8B-B14F-4D97-AF65-F5344CB8AC3E}">
        <p14:creationId xmlns:p14="http://schemas.microsoft.com/office/powerpoint/2010/main" val="34134949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21</a:t>
            </a:fld>
            <a:endParaRPr lang="en-US"/>
          </a:p>
        </p:txBody>
      </p:sp>
    </p:spTree>
    <p:extLst>
      <p:ext uri="{BB962C8B-B14F-4D97-AF65-F5344CB8AC3E}">
        <p14:creationId xmlns:p14="http://schemas.microsoft.com/office/powerpoint/2010/main" val="3271973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22</a:t>
            </a:fld>
            <a:endParaRPr lang="en-US"/>
          </a:p>
        </p:txBody>
      </p:sp>
    </p:spTree>
    <p:extLst>
      <p:ext uri="{BB962C8B-B14F-4D97-AF65-F5344CB8AC3E}">
        <p14:creationId xmlns:p14="http://schemas.microsoft.com/office/powerpoint/2010/main" val="27654528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23</a:t>
            </a:fld>
            <a:endParaRPr lang="en-US"/>
          </a:p>
        </p:txBody>
      </p:sp>
    </p:spTree>
    <p:extLst>
      <p:ext uri="{BB962C8B-B14F-4D97-AF65-F5344CB8AC3E}">
        <p14:creationId xmlns:p14="http://schemas.microsoft.com/office/powerpoint/2010/main" val="14559808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24</a:t>
            </a:fld>
            <a:endParaRPr lang="en-US"/>
          </a:p>
        </p:txBody>
      </p:sp>
    </p:spTree>
    <p:extLst>
      <p:ext uri="{BB962C8B-B14F-4D97-AF65-F5344CB8AC3E}">
        <p14:creationId xmlns:p14="http://schemas.microsoft.com/office/powerpoint/2010/main" val="15914103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25</a:t>
            </a:fld>
            <a:endParaRPr lang="en-US"/>
          </a:p>
        </p:txBody>
      </p:sp>
    </p:spTree>
    <p:extLst>
      <p:ext uri="{BB962C8B-B14F-4D97-AF65-F5344CB8AC3E}">
        <p14:creationId xmlns:p14="http://schemas.microsoft.com/office/powerpoint/2010/main" val="42551183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26</a:t>
            </a:fld>
            <a:endParaRPr lang="en-US"/>
          </a:p>
        </p:txBody>
      </p:sp>
    </p:spTree>
    <p:extLst>
      <p:ext uri="{BB962C8B-B14F-4D97-AF65-F5344CB8AC3E}">
        <p14:creationId xmlns:p14="http://schemas.microsoft.com/office/powerpoint/2010/main" val="25851549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27</a:t>
            </a:fld>
            <a:endParaRPr lang="en-US"/>
          </a:p>
        </p:txBody>
      </p:sp>
    </p:spTree>
    <p:extLst>
      <p:ext uri="{BB962C8B-B14F-4D97-AF65-F5344CB8AC3E}">
        <p14:creationId xmlns:p14="http://schemas.microsoft.com/office/powerpoint/2010/main" val="36588496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28</a:t>
            </a:fld>
            <a:endParaRPr lang="en-US"/>
          </a:p>
        </p:txBody>
      </p:sp>
    </p:spTree>
    <p:extLst>
      <p:ext uri="{BB962C8B-B14F-4D97-AF65-F5344CB8AC3E}">
        <p14:creationId xmlns:p14="http://schemas.microsoft.com/office/powerpoint/2010/main" val="28501180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29</a:t>
            </a:fld>
            <a:endParaRPr lang="en-US"/>
          </a:p>
        </p:txBody>
      </p:sp>
    </p:spTree>
    <p:extLst>
      <p:ext uri="{BB962C8B-B14F-4D97-AF65-F5344CB8AC3E}">
        <p14:creationId xmlns:p14="http://schemas.microsoft.com/office/powerpoint/2010/main" val="10217956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30</a:t>
            </a:fld>
            <a:endParaRPr lang="en-US"/>
          </a:p>
        </p:txBody>
      </p:sp>
    </p:spTree>
    <p:extLst>
      <p:ext uri="{BB962C8B-B14F-4D97-AF65-F5344CB8AC3E}">
        <p14:creationId xmlns:p14="http://schemas.microsoft.com/office/powerpoint/2010/main" val="27654528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31</a:t>
            </a:fld>
            <a:endParaRPr lang="en-US"/>
          </a:p>
        </p:txBody>
      </p:sp>
    </p:spTree>
    <p:extLst>
      <p:ext uri="{BB962C8B-B14F-4D97-AF65-F5344CB8AC3E}">
        <p14:creationId xmlns:p14="http://schemas.microsoft.com/office/powerpoint/2010/main" val="5668587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32</a:t>
            </a:fld>
            <a:endParaRPr lang="en-US"/>
          </a:p>
        </p:txBody>
      </p:sp>
    </p:spTree>
    <p:extLst>
      <p:ext uri="{BB962C8B-B14F-4D97-AF65-F5344CB8AC3E}">
        <p14:creationId xmlns:p14="http://schemas.microsoft.com/office/powerpoint/2010/main" val="30222076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33</a:t>
            </a:fld>
            <a:endParaRPr lang="en-US"/>
          </a:p>
        </p:txBody>
      </p:sp>
    </p:spTree>
    <p:extLst>
      <p:ext uri="{BB962C8B-B14F-4D97-AF65-F5344CB8AC3E}">
        <p14:creationId xmlns:p14="http://schemas.microsoft.com/office/powerpoint/2010/main" val="5499336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34</a:t>
            </a:fld>
            <a:endParaRPr lang="en-US"/>
          </a:p>
        </p:txBody>
      </p:sp>
    </p:spTree>
    <p:extLst>
      <p:ext uri="{BB962C8B-B14F-4D97-AF65-F5344CB8AC3E}">
        <p14:creationId xmlns:p14="http://schemas.microsoft.com/office/powerpoint/2010/main" val="42783983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35</a:t>
            </a:fld>
            <a:endParaRPr lang="en-US"/>
          </a:p>
        </p:txBody>
      </p:sp>
    </p:spTree>
    <p:extLst>
      <p:ext uri="{BB962C8B-B14F-4D97-AF65-F5344CB8AC3E}">
        <p14:creationId xmlns:p14="http://schemas.microsoft.com/office/powerpoint/2010/main" val="7890604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36</a:t>
            </a:fld>
            <a:endParaRPr lang="en-US"/>
          </a:p>
        </p:txBody>
      </p:sp>
    </p:spTree>
    <p:extLst>
      <p:ext uri="{BB962C8B-B14F-4D97-AF65-F5344CB8AC3E}">
        <p14:creationId xmlns:p14="http://schemas.microsoft.com/office/powerpoint/2010/main" val="36072201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37</a:t>
            </a:fld>
            <a:endParaRPr lang="en-US"/>
          </a:p>
        </p:txBody>
      </p:sp>
    </p:spTree>
    <p:extLst>
      <p:ext uri="{BB962C8B-B14F-4D97-AF65-F5344CB8AC3E}">
        <p14:creationId xmlns:p14="http://schemas.microsoft.com/office/powerpoint/2010/main" val="17671138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38</a:t>
            </a:fld>
            <a:endParaRPr lang="en-US"/>
          </a:p>
        </p:txBody>
      </p:sp>
    </p:spTree>
    <p:extLst>
      <p:ext uri="{BB962C8B-B14F-4D97-AF65-F5344CB8AC3E}">
        <p14:creationId xmlns:p14="http://schemas.microsoft.com/office/powerpoint/2010/main" val="10273696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39</a:t>
            </a:fld>
            <a:endParaRPr lang="en-US"/>
          </a:p>
        </p:txBody>
      </p:sp>
    </p:spTree>
    <p:extLst>
      <p:ext uri="{BB962C8B-B14F-4D97-AF65-F5344CB8AC3E}">
        <p14:creationId xmlns:p14="http://schemas.microsoft.com/office/powerpoint/2010/main" val="8045826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40</a:t>
            </a:fld>
            <a:endParaRPr lang="en-US"/>
          </a:p>
        </p:txBody>
      </p:sp>
    </p:spTree>
    <p:extLst>
      <p:ext uri="{BB962C8B-B14F-4D97-AF65-F5344CB8AC3E}">
        <p14:creationId xmlns:p14="http://schemas.microsoft.com/office/powerpoint/2010/main" val="8045826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41</a:t>
            </a:fld>
            <a:endParaRPr lang="en-US"/>
          </a:p>
        </p:txBody>
      </p:sp>
    </p:spTree>
    <p:extLst>
      <p:ext uri="{BB962C8B-B14F-4D97-AF65-F5344CB8AC3E}">
        <p14:creationId xmlns:p14="http://schemas.microsoft.com/office/powerpoint/2010/main" val="6210464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35063" y="696913"/>
            <a:ext cx="4587875" cy="3440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B13BC3-ABE7-44FC-88F5-128CABBCF6C2}" type="slidenum">
              <a:rPr lang="en-US" smtClean="0"/>
              <a:pPr>
                <a:defRPr/>
              </a:pPr>
              <a:t>42</a:t>
            </a:fld>
            <a:endParaRPr lang="en-US"/>
          </a:p>
        </p:txBody>
      </p:sp>
    </p:spTree>
    <p:extLst>
      <p:ext uri="{BB962C8B-B14F-4D97-AF65-F5344CB8AC3E}">
        <p14:creationId xmlns:p14="http://schemas.microsoft.com/office/powerpoint/2010/main" val="9234916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A396B0A6-90BD-4A8C-B841-2837224CB4B9}" type="slidenum">
              <a:rPr lang="en-US" smtClean="0"/>
              <a:pPr/>
              <a:t>43</a:t>
            </a:fld>
            <a:endParaRPr lang="en-US"/>
          </a:p>
        </p:txBody>
      </p:sp>
      <p:sp>
        <p:nvSpPr>
          <p:cNvPr id="51203"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1204" name="Rectangle 3"/>
          <p:cNvSpPr>
            <a:spLocks noGrp="1" noRot="1" noChangeAspect="1" noChangeArrowheads="1" noTextEdit="1"/>
          </p:cNvSpPr>
          <p:nvPr>
            <p:ph type="sldImg"/>
          </p:nvPr>
        </p:nvSpPr>
        <p:spPr>
          <a:xfrm>
            <a:off x="1136650" y="696913"/>
            <a:ext cx="4584700" cy="3440112"/>
          </a:xfrm>
          <a:ln cap="flat"/>
        </p:spPr>
      </p:sp>
    </p:spTree>
    <p:extLst>
      <p:ext uri="{BB962C8B-B14F-4D97-AF65-F5344CB8AC3E}">
        <p14:creationId xmlns:p14="http://schemas.microsoft.com/office/powerpoint/2010/main" val="18331737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E2A59D82-6C7D-43DD-9107-1F6E801B1F3A}" type="slidenum">
              <a:rPr lang="en-US"/>
              <a:pPr/>
              <a:t>44</a:t>
            </a:fld>
            <a:endParaRPr lang="en-US"/>
          </a:p>
        </p:txBody>
      </p:sp>
      <p:sp>
        <p:nvSpPr>
          <p:cNvPr id="4099" name="Rectangle 2"/>
          <p:cNvSpPr>
            <a:spLocks noGrp="1" noRot="1" noChangeAspect="1" noChangeArrowheads="1" noTextEdit="1"/>
          </p:cNvSpPr>
          <p:nvPr>
            <p:ph type="sldImg"/>
          </p:nvPr>
        </p:nvSpPr>
        <p:spPr>
          <a:xfrm>
            <a:off x="1136650" y="696913"/>
            <a:ext cx="4584700" cy="3440112"/>
          </a:xfrm>
          <a:ln/>
        </p:spPr>
      </p:sp>
      <p:sp>
        <p:nvSpPr>
          <p:cNvPr id="4100"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2206816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6" name="Rectangle 6"/>
          <p:cNvSpPr>
            <a:spLocks noGrp="1" noChangeArrowheads="1"/>
          </p:cNvSpPr>
          <p:nvPr>
            <p:ph type="sldNum" sz="quarter" idx="12"/>
          </p:nvPr>
        </p:nvSpPr>
        <p:spPr>
          <a:ln/>
        </p:spPr>
        <p:txBody>
          <a:bodyPr/>
          <a:lstStyle>
            <a:lvl1pPr>
              <a:defRPr/>
            </a:lvl1pPr>
          </a:lstStyle>
          <a:p>
            <a:pPr>
              <a:defRPr/>
            </a:pPr>
            <a:fld id="{A118E2DF-C2F0-4B57-B597-511A4803960E}" type="slidenum">
              <a:rPr lang="en-US"/>
              <a:pPr>
                <a:defRPr/>
              </a:pPr>
              <a:t>‹#›</a:t>
            </a:fld>
            <a:endParaRPr lang="en-US"/>
          </a:p>
        </p:txBody>
      </p:sp>
    </p:spTree>
    <p:extLst>
      <p:ext uri="{BB962C8B-B14F-4D97-AF65-F5344CB8AC3E}">
        <p14:creationId xmlns:p14="http://schemas.microsoft.com/office/powerpoint/2010/main" val="2515131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6" name="Rectangle 6"/>
          <p:cNvSpPr>
            <a:spLocks noGrp="1" noChangeArrowheads="1"/>
          </p:cNvSpPr>
          <p:nvPr>
            <p:ph type="sldNum" sz="quarter" idx="12"/>
          </p:nvPr>
        </p:nvSpPr>
        <p:spPr>
          <a:ln/>
        </p:spPr>
        <p:txBody>
          <a:bodyPr/>
          <a:lstStyle>
            <a:lvl1pPr>
              <a:defRPr/>
            </a:lvl1pPr>
          </a:lstStyle>
          <a:p>
            <a:pPr>
              <a:defRPr/>
            </a:pPr>
            <a:fld id="{5A429CE1-F7F3-4930-A7A1-4409148A77B2}" type="slidenum">
              <a:rPr lang="en-US"/>
              <a:pPr>
                <a:defRPr/>
              </a:pPr>
              <a:t>‹#›</a:t>
            </a:fld>
            <a:endParaRPr lang="en-US"/>
          </a:p>
        </p:txBody>
      </p:sp>
    </p:spTree>
    <p:extLst>
      <p:ext uri="{BB962C8B-B14F-4D97-AF65-F5344CB8AC3E}">
        <p14:creationId xmlns:p14="http://schemas.microsoft.com/office/powerpoint/2010/main" val="2092006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6" name="Rectangle 6"/>
          <p:cNvSpPr>
            <a:spLocks noGrp="1" noChangeArrowheads="1"/>
          </p:cNvSpPr>
          <p:nvPr>
            <p:ph type="sldNum" sz="quarter" idx="12"/>
          </p:nvPr>
        </p:nvSpPr>
        <p:spPr>
          <a:ln/>
        </p:spPr>
        <p:txBody>
          <a:bodyPr/>
          <a:lstStyle>
            <a:lvl1pPr>
              <a:defRPr/>
            </a:lvl1pPr>
          </a:lstStyle>
          <a:p>
            <a:pPr>
              <a:defRPr/>
            </a:pPr>
            <a:fld id="{294DA64D-6375-4C18-89ED-25C7A2A8E233}" type="slidenum">
              <a:rPr lang="en-US"/>
              <a:pPr>
                <a:defRPr/>
              </a:pPr>
              <a:t>‹#›</a:t>
            </a:fld>
            <a:endParaRPr lang="en-US"/>
          </a:p>
        </p:txBody>
      </p:sp>
    </p:spTree>
    <p:extLst>
      <p:ext uri="{BB962C8B-B14F-4D97-AF65-F5344CB8AC3E}">
        <p14:creationId xmlns:p14="http://schemas.microsoft.com/office/powerpoint/2010/main" val="2702241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7" name="Rectangle 6"/>
          <p:cNvSpPr>
            <a:spLocks noGrp="1" noChangeArrowheads="1"/>
          </p:cNvSpPr>
          <p:nvPr>
            <p:ph type="sldNum" sz="quarter" idx="12"/>
          </p:nvPr>
        </p:nvSpPr>
        <p:spPr>
          <a:ln/>
        </p:spPr>
        <p:txBody>
          <a:bodyPr/>
          <a:lstStyle>
            <a:lvl1pPr>
              <a:defRPr/>
            </a:lvl1pPr>
          </a:lstStyle>
          <a:p>
            <a:pPr>
              <a:defRPr/>
            </a:pPr>
            <a:fld id="{850F4C70-146A-4E96-A4D1-C8295E9B4745}" type="slidenum">
              <a:rPr lang="en-US"/>
              <a:pPr>
                <a:defRPr/>
              </a:pPr>
              <a:t>‹#›</a:t>
            </a:fld>
            <a:endParaRPr lang="en-US"/>
          </a:p>
        </p:txBody>
      </p:sp>
    </p:spTree>
    <p:extLst>
      <p:ext uri="{BB962C8B-B14F-4D97-AF65-F5344CB8AC3E}">
        <p14:creationId xmlns:p14="http://schemas.microsoft.com/office/powerpoint/2010/main" val="2931142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9" name="Rectangle 6"/>
          <p:cNvSpPr>
            <a:spLocks noGrp="1" noChangeArrowheads="1"/>
          </p:cNvSpPr>
          <p:nvPr>
            <p:ph type="sldNum" sz="quarter" idx="12"/>
          </p:nvPr>
        </p:nvSpPr>
        <p:spPr>
          <a:ln/>
        </p:spPr>
        <p:txBody>
          <a:bodyPr/>
          <a:lstStyle>
            <a:lvl1pPr>
              <a:defRPr/>
            </a:lvl1pPr>
          </a:lstStyle>
          <a:p>
            <a:pPr>
              <a:defRPr/>
            </a:pPr>
            <a:fld id="{E728D9D3-705C-4477-8000-304F5A75705C}" type="slidenum">
              <a:rPr lang="en-US"/>
              <a:pPr>
                <a:defRPr/>
              </a:pPr>
              <a:t>‹#›</a:t>
            </a:fld>
            <a:endParaRPr lang="en-US"/>
          </a:p>
        </p:txBody>
      </p:sp>
    </p:spTree>
    <p:extLst>
      <p:ext uri="{BB962C8B-B14F-4D97-AF65-F5344CB8AC3E}">
        <p14:creationId xmlns:p14="http://schemas.microsoft.com/office/powerpoint/2010/main" val="3438817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5" name="Rectangle 6"/>
          <p:cNvSpPr>
            <a:spLocks noGrp="1" noChangeArrowheads="1"/>
          </p:cNvSpPr>
          <p:nvPr>
            <p:ph type="sldNum" sz="quarter" idx="12"/>
          </p:nvPr>
        </p:nvSpPr>
        <p:spPr>
          <a:ln/>
        </p:spPr>
        <p:txBody>
          <a:bodyPr/>
          <a:lstStyle>
            <a:lvl1pPr>
              <a:defRPr/>
            </a:lvl1pPr>
          </a:lstStyle>
          <a:p>
            <a:pPr>
              <a:defRPr/>
            </a:pPr>
            <a:fld id="{2D086108-7DF7-44A8-B637-C51C430ECF1F}" type="slidenum">
              <a:rPr lang="en-US"/>
              <a:pPr>
                <a:defRPr/>
              </a:pPr>
              <a:t>‹#›</a:t>
            </a:fld>
            <a:endParaRPr lang="en-US"/>
          </a:p>
        </p:txBody>
      </p:sp>
    </p:spTree>
    <p:extLst>
      <p:ext uri="{BB962C8B-B14F-4D97-AF65-F5344CB8AC3E}">
        <p14:creationId xmlns:p14="http://schemas.microsoft.com/office/powerpoint/2010/main" val="339839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4" name="Rectangle 6"/>
          <p:cNvSpPr>
            <a:spLocks noGrp="1" noChangeArrowheads="1"/>
          </p:cNvSpPr>
          <p:nvPr>
            <p:ph type="sldNum" sz="quarter" idx="12"/>
          </p:nvPr>
        </p:nvSpPr>
        <p:spPr>
          <a:ln/>
        </p:spPr>
        <p:txBody>
          <a:bodyPr/>
          <a:lstStyle>
            <a:lvl1pPr>
              <a:defRPr/>
            </a:lvl1pPr>
          </a:lstStyle>
          <a:p>
            <a:pPr>
              <a:defRPr/>
            </a:pPr>
            <a:fld id="{866F2D26-0F51-45AC-B9E5-5FE2C2706F75}" type="slidenum">
              <a:rPr lang="en-US"/>
              <a:pPr>
                <a:defRPr/>
              </a:pPr>
              <a:t>‹#›</a:t>
            </a:fld>
            <a:endParaRPr lang="en-US"/>
          </a:p>
        </p:txBody>
      </p:sp>
    </p:spTree>
    <p:extLst>
      <p:ext uri="{BB962C8B-B14F-4D97-AF65-F5344CB8AC3E}">
        <p14:creationId xmlns:p14="http://schemas.microsoft.com/office/powerpoint/2010/main" val="1372043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7" name="Rectangle 6"/>
          <p:cNvSpPr>
            <a:spLocks noGrp="1" noChangeArrowheads="1"/>
          </p:cNvSpPr>
          <p:nvPr>
            <p:ph type="sldNum" sz="quarter" idx="12"/>
          </p:nvPr>
        </p:nvSpPr>
        <p:spPr>
          <a:ln/>
        </p:spPr>
        <p:txBody>
          <a:bodyPr/>
          <a:lstStyle>
            <a:lvl1pPr>
              <a:defRPr/>
            </a:lvl1pPr>
          </a:lstStyle>
          <a:p>
            <a:pPr>
              <a:defRPr/>
            </a:pPr>
            <a:fld id="{198279A0-FADA-4F8B-A788-36127EC93E94}" type="slidenum">
              <a:rPr lang="en-US"/>
              <a:pPr>
                <a:defRPr/>
              </a:pPr>
              <a:t>‹#›</a:t>
            </a:fld>
            <a:endParaRPr lang="en-US"/>
          </a:p>
        </p:txBody>
      </p:sp>
    </p:spTree>
    <p:extLst>
      <p:ext uri="{BB962C8B-B14F-4D97-AF65-F5344CB8AC3E}">
        <p14:creationId xmlns:p14="http://schemas.microsoft.com/office/powerpoint/2010/main" val="1402049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7" name="Rectangle 6"/>
          <p:cNvSpPr>
            <a:spLocks noGrp="1" noChangeArrowheads="1"/>
          </p:cNvSpPr>
          <p:nvPr>
            <p:ph type="sldNum" sz="quarter" idx="12"/>
          </p:nvPr>
        </p:nvSpPr>
        <p:spPr>
          <a:ln/>
        </p:spPr>
        <p:txBody>
          <a:bodyPr/>
          <a:lstStyle>
            <a:lvl1pPr>
              <a:defRPr/>
            </a:lvl1pPr>
          </a:lstStyle>
          <a:p>
            <a:pPr>
              <a:defRPr/>
            </a:pPr>
            <a:fld id="{E0FB5F70-0D26-43B5-957E-DCAF38FE9C09}" type="slidenum">
              <a:rPr lang="en-US"/>
              <a:pPr>
                <a:defRPr/>
              </a:pPr>
              <a:t>‹#›</a:t>
            </a:fld>
            <a:endParaRPr lang="en-US"/>
          </a:p>
        </p:txBody>
      </p:sp>
    </p:spTree>
    <p:extLst>
      <p:ext uri="{BB962C8B-B14F-4D97-AF65-F5344CB8AC3E}">
        <p14:creationId xmlns:p14="http://schemas.microsoft.com/office/powerpoint/2010/main" val="1388682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6" name="Rectangle 6"/>
          <p:cNvSpPr>
            <a:spLocks noGrp="1" noChangeArrowheads="1"/>
          </p:cNvSpPr>
          <p:nvPr>
            <p:ph type="sldNum" sz="quarter" idx="12"/>
          </p:nvPr>
        </p:nvSpPr>
        <p:spPr>
          <a:ln/>
        </p:spPr>
        <p:txBody>
          <a:bodyPr/>
          <a:lstStyle>
            <a:lvl1pPr>
              <a:defRPr/>
            </a:lvl1pPr>
          </a:lstStyle>
          <a:p>
            <a:pPr>
              <a:defRPr/>
            </a:pPr>
            <a:fld id="{71DCCB82-091F-4E77-AAF2-50C79E25F755}" type="slidenum">
              <a:rPr lang="en-US"/>
              <a:pPr>
                <a:defRPr/>
              </a:pPr>
              <a:t>‹#›</a:t>
            </a:fld>
            <a:endParaRPr lang="en-US"/>
          </a:p>
        </p:txBody>
      </p:sp>
    </p:spTree>
    <p:extLst>
      <p:ext uri="{BB962C8B-B14F-4D97-AF65-F5344CB8AC3E}">
        <p14:creationId xmlns:p14="http://schemas.microsoft.com/office/powerpoint/2010/main" val="493443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 2017 Cengage Learning. All Rights Reserved. May not be scanned, copied or duplicated, or posted to a publicly accessible website, in whole or in part.</a:t>
            </a:r>
          </a:p>
        </p:txBody>
      </p:sp>
      <p:sp>
        <p:nvSpPr>
          <p:cNvPr id="6" name="Rectangle 6"/>
          <p:cNvSpPr>
            <a:spLocks noGrp="1" noChangeArrowheads="1"/>
          </p:cNvSpPr>
          <p:nvPr>
            <p:ph type="sldNum" sz="quarter" idx="12"/>
          </p:nvPr>
        </p:nvSpPr>
        <p:spPr>
          <a:ln/>
        </p:spPr>
        <p:txBody>
          <a:bodyPr/>
          <a:lstStyle>
            <a:lvl1pPr>
              <a:defRPr/>
            </a:lvl1pPr>
          </a:lstStyle>
          <a:p>
            <a:pPr>
              <a:defRPr/>
            </a:pPr>
            <a:fld id="{9BA55235-196F-429F-AE36-16170D3D3BCF}" type="slidenum">
              <a:rPr lang="en-US"/>
              <a:pPr>
                <a:defRPr/>
              </a:pPr>
              <a:t>‹#›</a:t>
            </a:fld>
            <a:endParaRPr lang="en-US"/>
          </a:p>
        </p:txBody>
      </p:sp>
    </p:spTree>
    <p:extLst>
      <p:ext uri="{BB962C8B-B14F-4D97-AF65-F5344CB8AC3E}">
        <p14:creationId xmlns:p14="http://schemas.microsoft.com/office/powerpoint/2010/main" val="3954822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758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6758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r>
              <a:rPr lang="en-US" dirty="0"/>
              <a:t>© 2017 Cengage Learning. All Rights Reserved. May not be scanned, copied or duplicated, or posted to a publicly accessible website, in whole or in part.</a:t>
            </a:r>
          </a:p>
        </p:txBody>
      </p:sp>
      <p:sp>
        <p:nvSpPr>
          <p:cNvPr id="6759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0A3B53A-47F4-40FD-BB84-0B78272C7EA3}"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Font typeface="Wingdings" pitchFamily="2" charset="2"/>
        <a:buChar char="Ø"/>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Fig12-2.xls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solver.com/student"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Fig12-6.xlsm"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2.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emf"/><Relationship Id="rId4" Type="http://schemas.openxmlformats.org/officeDocument/2006/relationships/oleObject" Target="../embeddings/oleObject1.bin"/><Relationship Id="rId9" Type="http://schemas.openxmlformats.org/officeDocument/2006/relationships/image" Target="../media/image8.e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33.xml"/><Relationship Id="rId7" Type="http://schemas.openxmlformats.org/officeDocument/2006/relationships/image" Target="../media/image10.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9.emf"/><Relationship Id="rId4" Type="http://schemas.openxmlformats.org/officeDocument/2006/relationships/oleObject" Target="../embeddings/oleObject4.bin"/><Relationship Id="rId9" Type="http://schemas.openxmlformats.org/officeDocument/2006/relationships/image" Target="../media/image11.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Fig12-18.xlsm"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Fig12-23.xlsm"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Fig12-27.xlsm"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Fig12-39.xlsm"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219200"/>
            <a:ext cx="7772400" cy="1143000"/>
          </a:xfrm>
          <a:noFill/>
        </p:spPr>
        <p:txBody>
          <a:bodyPr lIns="92075" tIns="46038" rIns="92075" bIns="46038"/>
          <a:lstStyle/>
          <a:p>
            <a:pPr eaLnBrk="1" hangingPunct="1"/>
            <a:r>
              <a:rPr lang="en-US" b="1" i="1">
                <a:solidFill>
                  <a:schemeClr val="hlink"/>
                </a:solidFill>
              </a:rPr>
              <a:t>Spreadsheet Modeling </a:t>
            </a:r>
            <a:br>
              <a:rPr lang="en-US" b="1" i="1">
                <a:solidFill>
                  <a:schemeClr val="hlink"/>
                </a:solidFill>
              </a:rPr>
            </a:br>
            <a:r>
              <a:rPr lang="en-US" b="1" i="1">
                <a:solidFill>
                  <a:schemeClr val="hlink"/>
                </a:solidFill>
              </a:rPr>
              <a:t>&amp; Decision Analysis</a:t>
            </a:r>
          </a:p>
        </p:txBody>
      </p:sp>
      <p:sp>
        <p:nvSpPr>
          <p:cNvPr id="2051" name="Rectangle 3"/>
          <p:cNvSpPr>
            <a:spLocks noGrp="1" noChangeArrowheads="1"/>
          </p:cNvSpPr>
          <p:nvPr>
            <p:ph type="subTitle" idx="1"/>
          </p:nvPr>
        </p:nvSpPr>
        <p:spPr>
          <a:xfrm>
            <a:off x="1371600" y="2895600"/>
            <a:ext cx="6400800" cy="1752600"/>
          </a:xfrm>
          <a:noFill/>
        </p:spPr>
        <p:txBody>
          <a:bodyPr lIns="92075" tIns="46038" rIns="92075" bIns="46038"/>
          <a:lstStyle/>
          <a:p>
            <a:pPr eaLnBrk="1" hangingPunct="1"/>
            <a:r>
              <a:rPr lang="en-US" dirty="0"/>
              <a:t>A Practical Introduction to Business Analytics </a:t>
            </a:r>
          </a:p>
          <a:p>
            <a:pPr eaLnBrk="1" hangingPunct="1"/>
            <a:r>
              <a:rPr lang="en-US" sz="2400" dirty="0"/>
              <a:t>8</a:t>
            </a:r>
            <a:r>
              <a:rPr lang="en-US" sz="2400" baseline="30000" dirty="0"/>
              <a:t>th</a:t>
            </a:r>
            <a:r>
              <a:rPr lang="en-US" sz="2400" dirty="0"/>
              <a:t> edition</a:t>
            </a:r>
          </a:p>
          <a:p>
            <a:pPr eaLnBrk="1" hangingPunct="1"/>
            <a:endParaRPr lang="en-US" dirty="0"/>
          </a:p>
          <a:p>
            <a:pPr eaLnBrk="1" hangingPunct="1"/>
            <a:r>
              <a:rPr lang="en-US" dirty="0"/>
              <a:t>Cliff T. Ragsdale</a:t>
            </a:r>
          </a:p>
          <a:p>
            <a:pPr eaLnBrk="1" hangingPunct="1"/>
            <a:endParaRPr lang="en-US" dirty="0"/>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64680" y="4437063"/>
            <a:ext cx="1615440" cy="2019300"/>
          </a:xfrm>
          <a:prstGeom prst="rect">
            <a:avLst/>
          </a:prstGeom>
        </p:spPr>
      </p:pic>
    </p:spTree>
    <p:extLst>
      <p:ext uri="{BB962C8B-B14F-4D97-AF65-F5344CB8AC3E}">
        <p14:creationId xmlns:p14="http://schemas.microsoft.com/office/powerpoint/2010/main" val="184965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2209800"/>
            <a:ext cx="7772400" cy="1695450"/>
          </a:xfrm>
          <a:noFill/>
        </p:spPr>
        <p:txBody>
          <a:bodyPr lIns="92075" tIns="46038" rIns="92075" bIns="46038"/>
          <a:lstStyle/>
          <a:p>
            <a:pPr eaLnBrk="1" hangingPunct="1"/>
            <a:r>
              <a:rPr lang="en-US" dirty="0">
                <a:solidFill>
                  <a:schemeClr val="tx1"/>
                </a:solidFill>
              </a:rPr>
              <a:t>Introduction to Simulation </a:t>
            </a:r>
            <a:br>
              <a:rPr lang="en-US" dirty="0">
                <a:solidFill>
                  <a:schemeClr val="tx1"/>
                </a:solidFill>
              </a:rPr>
            </a:br>
            <a:r>
              <a:rPr lang="en-US" dirty="0">
                <a:solidFill>
                  <a:schemeClr val="tx1"/>
                </a:solidFill>
              </a:rPr>
              <a:t>Using Analytic Solver Platform</a:t>
            </a:r>
          </a:p>
        </p:txBody>
      </p:sp>
      <p:sp>
        <p:nvSpPr>
          <p:cNvPr id="5123" name="Rectangle 3"/>
          <p:cNvSpPr>
            <a:spLocks noChangeArrowheads="1"/>
          </p:cNvSpPr>
          <p:nvPr/>
        </p:nvSpPr>
        <p:spPr bwMode="auto">
          <a:xfrm>
            <a:off x="762000" y="228600"/>
            <a:ext cx="77724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eaLnBrk="0" hangingPunct="0"/>
            <a:r>
              <a:rPr lang="en-US" sz="4400" b="1" i="1">
                <a:solidFill>
                  <a:schemeClr val="hlink"/>
                </a:solidFill>
                <a:latin typeface="Tahoma" pitchFamily="34" charset="0"/>
              </a:rPr>
              <a:t>Chapter 12</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381000"/>
            <a:ext cx="8077200" cy="533400"/>
          </a:xfrm>
        </p:spPr>
        <p:txBody>
          <a:bodyPr/>
          <a:lstStyle/>
          <a:p>
            <a:pPr eaLnBrk="1" hangingPunct="1"/>
            <a:r>
              <a:rPr lang="en-US" sz="3500" i="1">
                <a:solidFill>
                  <a:schemeClr val="hlink"/>
                </a:solidFill>
              </a:rPr>
              <a:t>On Uncertainty and Decision-Making…</a:t>
            </a:r>
            <a:endParaRPr lang="en-US" sz="3500">
              <a:solidFill>
                <a:schemeClr val="hlink"/>
              </a:solidFill>
            </a:endParaRPr>
          </a:p>
        </p:txBody>
      </p:sp>
      <p:sp>
        <p:nvSpPr>
          <p:cNvPr id="6147" name="Rectangle 3"/>
          <p:cNvSpPr>
            <a:spLocks noGrp="1" noChangeArrowheads="1"/>
          </p:cNvSpPr>
          <p:nvPr>
            <p:ph type="body" idx="1"/>
          </p:nvPr>
        </p:nvSpPr>
        <p:spPr>
          <a:xfrm>
            <a:off x="457200" y="1066799"/>
            <a:ext cx="8229600" cy="5241925"/>
          </a:xfrm>
        </p:spPr>
        <p:txBody>
          <a:bodyPr/>
          <a:lstStyle/>
          <a:p>
            <a:pPr marL="0" indent="457200" eaLnBrk="1" hangingPunct="1">
              <a:buFont typeface="Wingdings" pitchFamily="2" charset="2"/>
              <a:buNone/>
            </a:pPr>
            <a:r>
              <a:rPr lang="en-US" sz="2800" dirty="0"/>
              <a:t>"Uncertainty is the most difficult thing about decision-making.  In the face of uncertainty, some people react with paralysis, or they do exhaustive research to avoid making a decision.  The best decision-making happens when the mental environment is focused.  …That fined-tuned focus doesn’t leave room for fears and doubts to enter.  Doubts knock at the door of our consciousness, but you don't have to have them in for tea and crumpets."  </a:t>
            </a:r>
          </a:p>
          <a:p>
            <a:pPr marL="0" indent="457200" algn="r" eaLnBrk="1" hangingPunct="1">
              <a:buFont typeface="Wingdings" pitchFamily="2" charset="2"/>
              <a:buNone/>
            </a:pPr>
            <a:r>
              <a:rPr lang="en-US" sz="2600" dirty="0"/>
              <a:t>-- Timothy </a:t>
            </a:r>
            <a:r>
              <a:rPr lang="en-US" sz="2600" dirty="0" err="1"/>
              <a:t>Gallwey</a:t>
            </a:r>
            <a:r>
              <a:rPr lang="en-US" sz="2600" dirty="0"/>
              <a:t>, author of  </a:t>
            </a:r>
            <a:r>
              <a:rPr lang="en-US" sz="2600" i="1" dirty="0"/>
              <a:t>The Inner Game of Tennis</a:t>
            </a:r>
            <a:r>
              <a:rPr lang="en-US" sz="2600" dirty="0"/>
              <a:t> and  </a:t>
            </a:r>
            <a:r>
              <a:rPr lang="en-US" sz="2600" i="1" dirty="0"/>
              <a:t>The Inner Game of Work</a:t>
            </a:r>
            <a:r>
              <a:rPr lang="en-US" sz="2600" dirty="0"/>
              <a:t>. </a:t>
            </a:r>
          </a:p>
        </p:txBody>
      </p:sp>
      <p:sp>
        <p:nvSpPr>
          <p:cNvPr id="2" name="Footer Placeholder 1"/>
          <p:cNvSpPr>
            <a:spLocks noGrp="1"/>
          </p:cNvSpPr>
          <p:nvPr>
            <p:ph type="ftr" sz="quarter" idx="11"/>
          </p:nvPr>
        </p:nvSpPr>
        <p:spPr>
          <a:xfrm>
            <a:off x="3124200" y="6308725"/>
            <a:ext cx="2895600" cy="476250"/>
          </a:xfrm>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74638"/>
            <a:ext cx="8229600" cy="528637"/>
          </a:xfrm>
          <a:noFill/>
        </p:spPr>
        <p:txBody>
          <a:bodyPr lIns="92075" tIns="46038" rIns="92075" bIns="46038"/>
          <a:lstStyle/>
          <a:p>
            <a:pPr eaLnBrk="1" hangingPunct="1"/>
            <a:r>
              <a:rPr lang="en-US" sz="3600" i="1">
                <a:solidFill>
                  <a:schemeClr val="hlink"/>
                </a:solidFill>
              </a:rPr>
              <a:t>Introduction to Simulation</a:t>
            </a:r>
          </a:p>
        </p:txBody>
      </p:sp>
      <p:sp>
        <p:nvSpPr>
          <p:cNvPr id="7171" name="Rectangle 3"/>
          <p:cNvSpPr>
            <a:spLocks noGrp="1" noChangeArrowheads="1"/>
          </p:cNvSpPr>
          <p:nvPr>
            <p:ph type="body" idx="1"/>
          </p:nvPr>
        </p:nvSpPr>
        <p:spPr>
          <a:xfrm>
            <a:off x="601663" y="990600"/>
            <a:ext cx="7772400" cy="3975100"/>
          </a:xfrm>
          <a:noFill/>
        </p:spPr>
        <p:txBody>
          <a:bodyPr lIns="92075" tIns="46038" rIns="92075" bIns="46038"/>
          <a:lstStyle/>
          <a:p>
            <a:pPr eaLnBrk="1" hangingPunct="1"/>
            <a:r>
              <a:rPr lang="en-US" sz="2800" dirty="0"/>
              <a:t>In many spreadsheets, the value for one or more cells representing independent variables is unknown or uncertain.  </a:t>
            </a:r>
          </a:p>
          <a:p>
            <a:pPr eaLnBrk="1" hangingPunct="1"/>
            <a:r>
              <a:rPr lang="en-US" sz="2800" dirty="0"/>
              <a:t>As a result, there is uncertainty about the value the dependent variable will assume:</a:t>
            </a:r>
          </a:p>
          <a:p>
            <a:pPr lvl="1" algn="ctr" eaLnBrk="1" hangingPunct="1">
              <a:buFontTx/>
              <a:buNone/>
            </a:pPr>
            <a:r>
              <a:rPr lang="en-US" sz="3200" dirty="0">
                <a:latin typeface="Times New Roman" pitchFamily="18" charset="0"/>
              </a:rPr>
              <a:t>Y = </a:t>
            </a:r>
            <a:r>
              <a:rPr lang="en-US" sz="3200" i="1" dirty="0">
                <a:latin typeface="Times New Roman" pitchFamily="18" charset="0"/>
              </a:rPr>
              <a:t>f</a:t>
            </a:r>
            <a:r>
              <a:rPr lang="en-US" sz="3200" dirty="0">
                <a:latin typeface="Times New Roman" pitchFamily="18" charset="0"/>
              </a:rPr>
              <a:t>(X</a:t>
            </a:r>
            <a:r>
              <a:rPr lang="en-US" sz="3200" baseline="-25000" dirty="0">
                <a:latin typeface="Times New Roman" pitchFamily="18" charset="0"/>
              </a:rPr>
              <a:t>1</a:t>
            </a:r>
            <a:r>
              <a:rPr lang="en-US" sz="3200" dirty="0">
                <a:latin typeface="Times New Roman" pitchFamily="18" charset="0"/>
              </a:rPr>
              <a:t>, X</a:t>
            </a:r>
            <a:r>
              <a:rPr lang="en-US" sz="3200" baseline="-25000" dirty="0">
                <a:latin typeface="Times New Roman" pitchFamily="18" charset="0"/>
              </a:rPr>
              <a:t>2</a:t>
            </a:r>
            <a:r>
              <a:rPr lang="en-US" sz="3200" dirty="0">
                <a:latin typeface="Times New Roman" pitchFamily="18" charset="0"/>
              </a:rPr>
              <a:t>, …, </a:t>
            </a:r>
            <a:r>
              <a:rPr lang="en-US" sz="3200" dirty="0" err="1">
                <a:latin typeface="Times New Roman" pitchFamily="18" charset="0"/>
              </a:rPr>
              <a:t>X</a:t>
            </a:r>
            <a:r>
              <a:rPr lang="en-US" sz="3200" i="1" baseline="-25000" dirty="0" err="1">
                <a:latin typeface="Times New Roman" pitchFamily="18" charset="0"/>
              </a:rPr>
              <a:t>k</a:t>
            </a:r>
            <a:r>
              <a:rPr lang="en-US" sz="3200" dirty="0">
                <a:latin typeface="Times New Roman" pitchFamily="18" charset="0"/>
              </a:rPr>
              <a:t>)</a:t>
            </a:r>
          </a:p>
          <a:p>
            <a:pPr eaLnBrk="1" hangingPunct="1"/>
            <a:r>
              <a:rPr lang="en-US" sz="2800" dirty="0"/>
              <a:t>Simulation can be used to analyze these types of models.</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7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7171">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454025"/>
            <a:ext cx="7772400" cy="527050"/>
          </a:xfrm>
          <a:noFill/>
        </p:spPr>
        <p:txBody>
          <a:bodyPr lIns="92075" tIns="46038" rIns="92075" bIns="46038"/>
          <a:lstStyle/>
          <a:p>
            <a:pPr eaLnBrk="1" hangingPunct="1"/>
            <a:r>
              <a:rPr lang="en-US" sz="3600" i="1">
                <a:solidFill>
                  <a:schemeClr val="hlink"/>
                </a:solidFill>
              </a:rPr>
              <a:t>Random Variables &amp; Risk</a:t>
            </a:r>
          </a:p>
        </p:txBody>
      </p:sp>
      <p:sp>
        <p:nvSpPr>
          <p:cNvPr id="8195" name="Rectangle 3"/>
          <p:cNvSpPr>
            <a:spLocks noGrp="1" noChangeArrowheads="1"/>
          </p:cNvSpPr>
          <p:nvPr>
            <p:ph type="body" idx="1"/>
          </p:nvPr>
        </p:nvSpPr>
        <p:spPr>
          <a:xfrm>
            <a:off x="457200" y="1219200"/>
            <a:ext cx="8229600" cy="4995863"/>
          </a:xfrm>
          <a:noFill/>
        </p:spPr>
        <p:txBody>
          <a:bodyPr lIns="92075" tIns="46038" rIns="92075" bIns="46038"/>
          <a:lstStyle/>
          <a:p>
            <a:pPr eaLnBrk="1" hangingPunct="1"/>
            <a:r>
              <a:rPr lang="en-US" sz="2500" dirty="0"/>
              <a:t>A </a:t>
            </a:r>
            <a:r>
              <a:rPr lang="en-US" sz="2500" i="1" dirty="0"/>
              <a:t>random variable</a:t>
            </a:r>
            <a:r>
              <a:rPr lang="en-US" sz="2500" dirty="0"/>
              <a:t> is any variable whose value cannot be predicted or set with certainty.</a:t>
            </a:r>
          </a:p>
          <a:p>
            <a:pPr eaLnBrk="1" hangingPunct="1"/>
            <a:r>
              <a:rPr lang="en-US" sz="2500" dirty="0"/>
              <a:t>Many “input cells” in spreadsheet models are actually random variables.</a:t>
            </a:r>
          </a:p>
          <a:p>
            <a:pPr lvl="1" eaLnBrk="1" hangingPunct="1"/>
            <a:r>
              <a:rPr lang="en-US" sz="2500" dirty="0"/>
              <a:t>the future cost of raw materials</a:t>
            </a:r>
          </a:p>
          <a:p>
            <a:pPr lvl="1" eaLnBrk="1" hangingPunct="1"/>
            <a:r>
              <a:rPr lang="en-US" sz="2500" dirty="0"/>
              <a:t>future interest rates</a:t>
            </a:r>
          </a:p>
          <a:p>
            <a:pPr lvl="1" eaLnBrk="1" hangingPunct="1"/>
            <a:r>
              <a:rPr lang="en-US" sz="2500" dirty="0"/>
              <a:t>future number of  employees in a firm</a:t>
            </a:r>
          </a:p>
          <a:p>
            <a:pPr lvl="1" eaLnBrk="1" hangingPunct="1"/>
            <a:r>
              <a:rPr lang="en-US" sz="2500" dirty="0"/>
              <a:t>expected product demand</a:t>
            </a:r>
          </a:p>
          <a:p>
            <a:pPr eaLnBrk="1" hangingPunct="1"/>
            <a:r>
              <a:rPr lang="en-US" sz="2500" dirty="0"/>
              <a:t>Decisions made on the basis of uncertain information often involve risk.</a:t>
            </a:r>
          </a:p>
          <a:p>
            <a:pPr eaLnBrk="1" hangingPunct="1"/>
            <a:r>
              <a:rPr lang="en-US" sz="2500" dirty="0"/>
              <a:t>“Risk” implies the potential for loss.</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1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81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81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81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8195">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195">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81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33400" y="381000"/>
            <a:ext cx="7848600" cy="593725"/>
          </a:xfrm>
        </p:spPr>
        <p:txBody>
          <a:bodyPr lIns="92075" tIns="46038" rIns="92075" bIns="46038"/>
          <a:lstStyle/>
          <a:p>
            <a:pPr eaLnBrk="1" hangingPunct="1"/>
            <a:r>
              <a:rPr lang="en-US" sz="3600" i="1" dirty="0">
                <a:solidFill>
                  <a:schemeClr val="hlink"/>
                </a:solidFill>
              </a:rPr>
              <a:t>Why Use Simulation to Analyze Risk?</a:t>
            </a:r>
          </a:p>
        </p:txBody>
      </p:sp>
      <p:sp>
        <p:nvSpPr>
          <p:cNvPr id="12291" name="Rectangle 3"/>
          <p:cNvSpPr>
            <a:spLocks noGrp="1" noChangeArrowheads="1"/>
          </p:cNvSpPr>
          <p:nvPr>
            <p:ph type="body" idx="1"/>
          </p:nvPr>
        </p:nvSpPr>
        <p:spPr>
          <a:xfrm>
            <a:off x="609600" y="1143000"/>
            <a:ext cx="8077200" cy="1371600"/>
          </a:xfrm>
          <a:noFill/>
        </p:spPr>
        <p:txBody>
          <a:bodyPr lIns="92075" tIns="46038" rIns="92075" bIns="46038"/>
          <a:lstStyle/>
          <a:p>
            <a:pPr marL="514350" indent="-514350" eaLnBrk="1" hangingPunct="1">
              <a:buClr>
                <a:schemeClr val="tx1"/>
              </a:buClr>
              <a:buFont typeface="+mj-lt"/>
              <a:buAutoNum type="arabicPeriod"/>
            </a:pPr>
            <a:r>
              <a:rPr lang="en-US" sz="2600" dirty="0"/>
              <a:t>Using “expected values” for uncertain independent (X) variables may give us the wrong “expected value” for the dependent (Y) variable…</a:t>
            </a:r>
            <a:endParaRPr lang="en-US" dirty="0"/>
          </a:p>
        </p:txBody>
      </p:sp>
      <p:cxnSp>
        <p:nvCxnSpPr>
          <p:cNvPr id="12292" name="Straight Arrow Connector 4"/>
          <p:cNvCxnSpPr>
            <a:cxnSpLocks noChangeShapeType="1"/>
          </p:cNvCxnSpPr>
          <p:nvPr/>
        </p:nvCxnSpPr>
        <p:spPr bwMode="auto">
          <a:xfrm rot="5400000" flipH="1" flipV="1">
            <a:off x="1371601" y="3967162"/>
            <a:ext cx="2590800" cy="3175"/>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293" name="Straight Arrow Connector 6"/>
          <p:cNvCxnSpPr>
            <a:cxnSpLocks noChangeShapeType="1"/>
          </p:cNvCxnSpPr>
          <p:nvPr/>
        </p:nvCxnSpPr>
        <p:spPr bwMode="auto">
          <a:xfrm>
            <a:off x="2667000" y="5262563"/>
            <a:ext cx="5029200" cy="1587"/>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2294" name="Freeform 8"/>
          <p:cNvSpPr>
            <a:spLocks noChangeArrowheads="1"/>
          </p:cNvSpPr>
          <p:nvPr/>
        </p:nvSpPr>
        <p:spPr bwMode="auto">
          <a:xfrm>
            <a:off x="3368675" y="3357563"/>
            <a:ext cx="3260725" cy="1828800"/>
          </a:xfrm>
          <a:custGeom>
            <a:avLst/>
            <a:gdLst>
              <a:gd name="T0" fmla="*/ 0 w 2682240"/>
              <a:gd name="T1" fmla="*/ 7697952 h 1668780"/>
              <a:gd name="T2" fmla="*/ 37526676 w 2682240"/>
              <a:gd name="T3" fmla="*/ 36145 h 1668780"/>
              <a:gd name="T4" fmla="*/ 74210044 w 2682240"/>
              <a:gd name="T5" fmla="*/ 7914807 h 1668780"/>
              <a:gd name="T6" fmla="*/ 0 60000 65536"/>
              <a:gd name="T7" fmla="*/ 0 60000 65536"/>
              <a:gd name="T8" fmla="*/ 0 60000 65536"/>
              <a:gd name="T9" fmla="*/ 0 w 2682240"/>
              <a:gd name="T10" fmla="*/ 0 h 1668780"/>
              <a:gd name="T11" fmla="*/ 2682240 w 2682240"/>
              <a:gd name="T12" fmla="*/ 1668780 h 1668780"/>
            </a:gdLst>
            <a:ahLst/>
            <a:cxnLst>
              <a:cxn ang="T6">
                <a:pos x="T0" y="T1"/>
              </a:cxn>
              <a:cxn ang="T7">
                <a:pos x="T2" y="T3"/>
              </a:cxn>
              <a:cxn ang="T8">
                <a:pos x="T4" y="T5"/>
              </a:cxn>
            </a:cxnLst>
            <a:rect l="T9" t="T10" r="T11" b="T12"/>
            <a:pathLst>
              <a:path w="2682240" h="1668780">
                <a:moveTo>
                  <a:pt x="0" y="1623060"/>
                </a:moveTo>
                <a:cubicBezTo>
                  <a:pt x="454660" y="811530"/>
                  <a:pt x="909320" y="0"/>
                  <a:pt x="1356360" y="7620"/>
                </a:cubicBezTo>
                <a:cubicBezTo>
                  <a:pt x="1803400" y="15240"/>
                  <a:pt x="2242820" y="842010"/>
                  <a:pt x="2682240" y="1668780"/>
                </a:cubicBezTo>
              </a:path>
            </a:pathLst>
          </a:cu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95" name="TextBox 9"/>
          <p:cNvSpPr txBox="1">
            <a:spLocks noChangeArrowheads="1"/>
          </p:cNvSpPr>
          <p:nvPr/>
        </p:nvSpPr>
        <p:spPr bwMode="auto">
          <a:xfrm>
            <a:off x="7010400" y="526256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Ø"/>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sz="1800"/>
              <a:t>X</a:t>
            </a:r>
          </a:p>
        </p:txBody>
      </p:sp>
      <p:sp>
        <p:nvSpPr>
          <p:cNvPr id="12296" name="TextBox 10"/>
          <p:cNvSpPr txBox="1">
            <a:spLocks noChangeArrowheads="1"/>
          </p:cNvSpPr>
          <p:nvPr/>
        </p:nvSpPr>
        <p:spPr bwMode="auto">
          <a:xfrm>
            <a:off x="2209800" y="259080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Ø"/>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sz="1800"/>
              <a:t>Y</a:t>
            </a:r>
          </a:p>
        </p:txBody>
      </p:sp>
      <p:sp>
        <p:nvSpPr>
          <p:cNvPr id="12297" name="TextBox 11"/>
          <p:cNvSpPr txBox="1">
            <a:spLocks noChangeArrowheads="1"/>
          </p:cNvSpPr>
          <p:nvPr/>
        </p:nvSpPr>
        <p:spPr bwMode="auto">
          <a:xfrm>
            <a:off x="4800600" y="5338763"/>
            <a:ext cx="838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Ø"/>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sz="1800"/>
              <a:t>E(X)</a:t>
            </a:r>
          </a:p>
        </p:txBody>
      </p:sp>
      <p:cxnSp>
        <p:nvCxnSpPr>
          <p:cNvPr id="12298" name="Straight Arrow Connector 13"/>
          <p:cNvCxnSpPr>
            <a:cxnSpLocks noChangeShapeType="1"/>
            <a:endCxn id="12294" idx="1"/>
          </p:cNvCxnSpPr>
          <p:nvPr/>
        </p:nvCxnSpPr>
        <p:spPr bwMode="auto">
          <a:xfrm rot="16200000" flipV="1">
            <a:off x="4074318" y="4307682"/>
            <a:ext cx="1897063" cy="12700"/>
          </a:xfrm>
          <a:prstGeom prst="straightConnector1">
            <a:avLst/>
          </a:prstGeom>
          <a:noFill/>
          <a:ln w="158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2299" name="Straight Arrow Connector 16"/>
          <p:cNvCxnSpPr>
            <a:cxnSpLocks noChangeShapeType="1"/>
            <a:stCxn id="12294" idx="1"/>
          </p:cNvCxnSpPr>
          <p:nvPr/>
        </p:nvCxnSpPr>
        <p:spPr bwMode="auto">
          <a:xfrm flipH="1" flipV="1">
            <a:off x="2667000" y="3357563"/>
            <a:ext cx="2349500" cy="7937"/>
          </a:xfrm>
          <a:prstGeom prst="straightConnector1">
            <a:avLst/>
          </a:prstGeom>
          <a:noFill/>
          <a:ln w="15875"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2300" name="TextBox 17"/>
          <p:cNvSpPr txBox="1">
            <a:spLocks noChangeArrowheads="1"/>
          </p:cNvSpPr>
          <p:nvPr/>
        </p:nvSpPr>
        <p:spPr bwMode="auto">
          <a:xfrm>
            <a:off x="1524000" y="3128963"/>
            <a:ext cx="129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Ø"/>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sz="1800"/>
              <a:t>E(Y) ??</a:t>
            </a:r>
          </a:p>
        </p:txBody>
      </p:sp>
      <p:sp>
        <p:nvSpPr>
          <p:cNvPr id="2" name="TextBox 1"/>
          <p:cNvSpPr txBox="1"/>
          <p:nvPr/>
        </p:nvSpPr>
        <p:spPr>
          <a:xfrm>
            <a:off x="838200" y="5851416"/>
            <a:ext cx="7543800" cy="646331"/>
          </a:xfrm>
          <a:prstGeom prst="rect">
            <a:avLst/>
          </a:prstGeom>
          <a:noFill/>
        </p:spPr>
        <p:txBody>
          <a:bodyPr wrap="square" rtlCol="0">
            <a:spAutoFit/>
          </a:bodyPr>
          <a:lstStyle/>
          <a:p>
            <a:pPr algn="ctr"/>
            <a:r>
              <a:rPr lang="en-US" dirty="0"/>
              <a:t>In this case, the expected value of Y should </a:t>
            </a:r>
            <a:br>
              <a:rPr lang="en-US" dirty="0"/>
            </a:br>
            <a:r>
              <a:rPr lang="en-US" dirty="0"/>
              <a:t>be something </a:t>
            </a:r>
            <a:r>
              <a:rPr lang="en-US" i="1" u="sng" dirty="0"/>
              <a:t>less</a:t>
            </a:r>
            <a:r>
              <a:rPr lang="en-US" dirty="0"/>
              <a:t> than its maximum value.</a:t>
            </a:r>
          </a:p>
        </p:txBody>
      </p:sp>
    </p:spTree>
    <p:extLst>
      <p:ext uri="{BB962C8B-B14F-4D97-AF65-F5344CB8AC3E}">
        <p14:creationId xmlns:p14="http://schemas.microsoft.com/office/powerpoint/2010/main" val="57441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40531" y="349250"/>
            <a:ext cx="8229600" cy="593725"/>
          </a:xfrm>
          <a:noFill/>
        </p:spPr>
        <p:txBody>
          <a:bodyPr lIns="92075" tIns="46038" rIns="92075" bIns="46038"/>
          <a:lstStyle/>
          <a:p>
            <a:pPr eaLnBrk="1" hangingPunct="1"/>
            <a:r>
              <a:rPr lang="en-US" sz="3600" i="1" dirty="0">
                <a:solidFill>
                  <a:schemeClr val="hlink"/>
                </a:solidFill>
              </a:rPr>
              <a:t>Why Use Simulation to Analyze Risk?</a:t>
            </a:r>
          </a:p>
        </p:txBody>
      </p:sp>
      <p:sp>
        <p:nvSpPr>
          <p:cNvPr id="9219" name="Rectangle 3"/>
          <p:cNvSpPr>
            <a:spLocks noGrp="1" noChangeArrowheads="1"/>
          </p:cNvSpPr>
          <p:nvPr>
            <p:ph type="body" idx="1"/>
          </p:nvPr>
        </p:nvSpPr>
        <p:spPr>
          <a:xfrm>
            <a:off x="285750" y="1273175"/>
            <a:ext cx="8539163" cy="4289425"/>
          </a:xfrm>
          <a:noFill/>
        </p:spPr>
        <p:txBody>
          <a:bodyPr lIns="92075" tIns="46038" rIns="92075" bIns="46038"/>
          <a:lstStyle/>
          <a:p>
            <a:pPr marL="514350" indent="-514350" eaLnBrk="1" hangingPunct="1">
              <a:buClr>
                <a:schemeClr val="tx1"/>
              </a:buClr>
              <a:buFont typeface="+mj-lt"/>
              <a:buAutoNum type="arabicPeriod" startAt="2"/>
            </a:pPr>
            <a:r>
              <a:rPr lang="en-US" sz="2600" dirty="0"/>
              <a:t>Plugging in expected values for uncertain cells tells us nothing about the variability of the performance measure we base decisions on…</a:t>
            </a:r>
          </a:p>
          <a:p>
            <a:pPr marL="0" indent="0" eaLnBrk="1" hangingPunct="1">
              <a:buClr>
                <a:schemeClr val="tx1"/>
              </a:buClr>
              <a:buNone/>
            </a:pPr>
            <a:endParaRPr lang="en-US" sz="2600" dirty="0"/>
          </a:p>
          <a:p>
            <a:pPr lvl="1" eaLnBrk="1" hangingPunct="1"/>
            <a:r>
              <a:rPr lang="en-US" sz="2200" dirty="0"/>
              <a:t>Suppose an $1,000 investment is expected to return $10,000 in two years.  Would you invest if...</a:t>
            </a:r>
          </a:p>
          <a:p>
            <a:pPr lvl="1" eaLnBrk="1" hangingPunct="1"/>
            <a:r>
              <a:rPr lang="en-US" sz="2400" dirty="0"/>
              <a:t>the outcomes could range from $9,000 to $11,000?</a:t>
            </a:r>
          </a:p>
          <a:p>
            <a:pPr lvl="1" eaLnBrk="1" hangingPunct="1"/>
            <a:r>
              <a:rPr lang="en-US" sz="2400" dirty="0"/>
              <a:t>the outcomes could range from -$30,000 to $50,000?</a:t>
            </a:r>
          </a:p>
          <a:p>
            <a:pPr lvl="1" eaLnBrk="1" hangingPunct="1"/>
            <a:r>
              <a:rPr lang="en-US" sz="2200" dirty="0"/>
              <a:t>Alternatives with the same expected value may involve different levels of risk.</a:t>
            </a:r>
            <a:r>
              <a:rPr lang="en-US" dirty="0"/>
              <a:t> </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348555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2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21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21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2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274638"/>
            <a:ext cx="8229600" cy="593725"/>
          </a:xfrm>
          <a:noFill/>
        </p:spPr>
        <p:txBody>
          <a:bodyPr lIns="92075" tIns="46038" rIns="92075" bIns="46038"/>
          <a:lstStyle/>
          <a:p>
            <a:pPr eaLnBrk="1" hangingPunct="1"/>
            <a:r>
              <a:rPr lang="en-US" sz="3600" i="1">
                <a:solidFill>
                  <a:schemeClr val="hlink"/>
                </a:solidFill>
              </a:rPr>
              <a:t>Methods of Risk Analysis</a:t>
            </a:r>
          </a:p>
        </p:txBody>
      </p:sp>
      <p:sp>
        <p:nvSpPr>
          <p:cNvPr id="10243" name="Rectangle 3"/>
          <p:cNvSpPr>
            <a:spLocks noGrp="1" noChangeArrowheads="1"/>
          </p:cNvSpPr>
          <p:nvPr>
            <p:ph type="body" idx="1"/>
          </p:nvPr>
        </p:nvSpPr>
        <p:spPr>
          <a:xfrm>
            <a:off x="1219200" y="1295400"/>
            <a:ext cx="7086600" cy="2057400"/>
          </a:xfrm>
          <a:noFill/>
        </p:spPr>
        <p:txBody>
          <a:bodyPr lIns="92075" tIns="46038" rIns="92075" bIns="46038"/>
          <a:lstStyle/>
          <a:p>
            <a:pPr eaLnBrk="1" hangingPunct="1"/>
            <a:r>
              <a:rPr lang="en-US" dirty="0"/>
              <a:t>Best-Case/Worst-Case Analysis</a:t>
            </a:r>
          </a:p>
          <a:p>
            <a:pPr eaLnBrk="1" hangingPunct="1"/>
            <a:r>
              <a:rPr lang="en-US" dirty="0"/>
              <a:t>What-if Analysis</a:t>
            </a:r>
          </a:p>
          <a:p>
            <a:pPr eaLnBrk="1" hangingPunct="1"/>
            <a:r>
              <a:rPr lang="en-US" dirty="0"/>
              <a:t>Simulation</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229600" cy="593725"/>
          </a:xfrm>
          <a:noFill/>
        </p:spPr>
        <p:txBody>
          <a:bodyPr lIns="92075" tIns="46038" rIns="92075" bIns="46038"/>
          <a:lstStyle/>
          <a:p>
            <a:pPr eaLnBrk="1" hangingPunct="1"/>
            <a:br>
              <a:rPr lang="en-US" sz="3600" i="1"/>
            </a:br>
            <a:r>
              <a:rPr lang="en-US" sz="3600" i="1">
                <a:solidFill>
                  <a:schemeClr val="hlink"/>
                </a:solidFill>
              </a:rPr>
              <a:t>Best-Case/Worst-Case Analysis</a:t>
            </a:r>
            <a:br>
              <a:rPr lang="en-US" sz="3600" i="1">
                <a:solidFill>
                  <a:schemeClr val="hlink"/>
                </a:solidFill>
              </a:rPr>
            </a:br>
            <a:endParaRPr lang="en-US" sz="3600" i="1">
              <a:solidFill>
                <a:schemeClr val="hlink"/>
              </a:solidFill>
            </a:endParaRPr>
          </a:p>
        </p:txBody>
      </p:sp>
      <p:sp>
        <p:nvSpPr>
          <p:cNvPr id="11267" name="Rectangle 3"/>
          <p:cNvSpPr>
            <a:spLocks noGrp="1" noChangeArrowheads="1"/>
          </p:cNvSpPr>
          <p:nvPr>
            <p:ph type="body" idx="1"/>
          </p:nvPr>
        </p:nvSpPr>
        <p:spPr>
          <a:xfrm>
            <a:off x="533400" y="1028700"/>
            <a:ext cx="8229600" cy="4152900"/>
          </a:xfrm>
          <a:noFill/>
        </p:spPr>
        <p:txBody>
          <a:bodyPr lIns="92075" tIns="46038" rIns="92075" bIns="46038"/>
          <a:lstStyle/>
          <a:p>
            <a:pPr eaLnBrk="1" hangingPunct="1"/>
            <a:r>
              <a:rPr lang="en-US" dirty="0"/>
              <a:t>Best case - plug in the most optimistic values for each of the uncertain cells.</a:t>
            </a:r>
          </a:p>
          <a:p>
            <a:pPr eaLnBrk="1" hangingPunct="1"/>
            <a:r>
              <a:rPr lang="en-US" dirty="0"/>
              <a:t>Worst case - plug in the most pessimistic values for each of the uncertain cells.</a:t>
            </a:r>
          </a:p>
          <a:p>
            <a:pPr eaLnBrk="1" hangingPunct="1"/>
            <a:r>
              <a:rPr lang="en-US" dirty="0"/>
              <a:t>This is easy to do but tells us nothing about the </a:t>
            </a:r>
            <a:r>
              <a:rPr lang="en-US" i="1" u="sng" dirty="0"/>
              <a:t>distribution</a:t>
            </a:r>
            <a:r>
              <a:rPr lang="en-US" dirty="0"/>
              <a:t> of possible outcomes within the best and worst-case limits.</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2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530225"/>
            <a:ext cx="7772400" cy="495300"/>
          </a:xfrm>
          <a:noFill/>
        </p:spPr>
        <p:txBody>
          <a:bodyPr lIns="92075" tIns="46038" rIns="92075" bIns="46038"/>
          <a:lstStyle/>
          <a:p>
            <a:pPr eaLnBrk="1" hangingPunct="1"/>
            <a:r>
              <a:rPr lang="en-US" sz="3600" i="1">
                <a:solidFill>
                  <a:schemeClr val="hlink"/>
                </a:solidFill>
              </a:rPr>
              <a:t>Possible Performance Measure Distributions Within a Range</a:t>
            </a:r>
          </a:p>
        </p:txBody>
      </p:sp>
      <p:sp>
        <p:nvSpPr>
          <p:cNvPr id="12291" name="Freeform 3"/>
          <p:cNvSpPr>
            <a:spLocks/>
          </p:cNvSpPr>
          <p:nvPr/>
        </p:nvSpPr>
        <p:spPr bwMode="auto">
          <a:xfrm>
            <a:off x="698500" y="1295400"/>
            <a:ext cx="3697288" cy="2062163"/>
          </a:xfrm>
          <a:custGeom>
            <a:avLst/>
            <a:gdLst>
              <a:gd name="T0" fmla="*/ 0 w 2329"/>
              <a:gd name="T1" fmla="*/ 0 h 1299"/>
              <a:gd name="T2" fmla="*/ 2147483647 w 2329"/>
              <a:gd name="T3" fmla="*/ 0 h 1299"/>
              <a:gd name="T4" fmla="*/ 2147483647 w 2329"/>
              <a:gd name="T5" fmla="*/ 2147483647 h 1299"/>
              <a:gd name="T6" fmla="*/ 0 w 2329"/>
              <a:gd name="T7" fmla="*/ 2147483647 h 1299"/>
              <a:gd name="T8" fmla="*/ 0 w 2329"/>
              <a:gd name="T9" fmla="*/ 0 h 1299"/>
              <a:gd name="T10" fmla="*/ 0 60000 65536"/>
              <a:gd name="T11" fmla="*/ 0 60000 65536"/>
              <a:gd name="T12" fmla="*/ 0 60000 65536"/>
              <a:gd name="T13" fmla="*/ 0 60000 65536"/>
              <a:gd name="T14" fmla="*/ 0 60000 65536"/>
              <a:gd name="T15" fmla="*/ 0 w 2329"/>
              <a:gd name="T16" fmla="*/ 0 h 1299"/>
              <a:gd name="T17" fmla="*/ 2329 w 2329"/>
              <a:gd name="T18" fmla="*/ 1299 h 1299"/>
            </a:gdLst>
            <a:ahLst/>
            <a:cxnLst>
              <a:cxn ang="T10">
                <a:pos x="T0" y="T1"/>
              </a:cxn>
              <a:cxn ang="T11">
                <a:pos x="T2" y="T3"/>
              </a:cxn>
              <a:cxn ang="T12">
                <a:pos x="T4" y="T5"/>
              </a:cxn>
              <a:cxn ang="T13">
                <a:pos x="T6" y="T7"/>
              </a:cxn>
              <a:cxn ang="T14">
                <a:pos x="T8" y="T9"/>
              </a:cxn>
            </a:cxnLst>
            <a:rect l="T15" t="T16" r="T17" b="T18"/>
            <a:pathLst>
              <a:path w="2329" h="1299">
                <a:moveTo>
                  <a:pt x="0" y="0"/>
                </a:moveTo>
                <a:lnTo>
                  <a:pt x="2328" y="0"/>
                </a:lnTo>
                <a:lnTo>
                  <a:pt x="2328" y="1298"/>
                </a:lnTo>
                <a:lnTo>
                  <a:pt x="0" y="129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2292" name="Line 4"/>
          <p:cNvSpPr>
            <a:spLocks noChangeShapeType="1"/>
          </p:cNvSpPr>
          <p:nvPr/>
        </p:nvSpPr>
        <p:spPr bwMode="auto">
          <a:xfrm flipV="1">
            <a:off x="698500" y="3282950"/>
            <a:ext cx="61913" cy="7938"/>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293" name="Line 5"/>
          <p:cNvSpPr>
            <a:spLocks noChangeShapeType="1"/>
          </p:cNvSpPr>
          <p:nvPr/>
        </p:nvSpPr>
        <p:spPr bwMode="auto">
          <a:xfrm flipV="1">
            <a:off x="760413" y="3273425"/>
            <a:ext cx="63500" cy="9525"/>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294" name="Freeform 6"/>
          <p:cNvSpPr>
            <a:spLocks/>
          </p:cNvSpPr>
          <p:nvPr/>
        </p:nvSpPr>
        <p:spPr bwMode="auto">
          <a:xfrm>
            <a:off x="823913" y="3263900"/>
            <a:ext cx="60325" cy="26988"/>
          </a:xfrm>
          <a:custGeom>
            <a:avLst/>
            <a:gdLst>
              <a:gd name="T0" fmla="*/ 0 w 39"/>
              <a:gd name="T1" fmla="*/ 40323241 h 17"/>
              <a:gd name="T2" fmla="*/ 45458749 w 39"/>
              <a:gd name="T3" fmla="*/ 20161621 h 17"/>
              <a:gd name="T4" fmla="*/ 90917498 w 39"/>
              <a:gd name="T5" fmla="*/ 0 h 17"/>
              <a:gd name="T6" fmla="*/ 0 60000 65536"/>
              <a:gd name="T7" fmla="*/ 0 60000 65536"/>
              <a:gd name="T8" fmla="*/ 0 60000 65536"/>
              <a:gd name="T9" fmla="*/ 0 w 39"/>
              <a:gd name="T10" fmla="*/ 0 h 17"/>
              <a:gd name="T11" fmla="*/ 39 w 39"/>
              <a:gd name="T12" fmla="*/ 17 h 17"/>
            </a:gdLst>
            <a:ahLst/>
            <a:cxnLst>
              <a:cxn ang="T6">
                <a:pos x="T0" y="T1"/>
              </a:cxn>
              <a:cxn ang="T7">
                <a:pos x="T2" y="T3"/>
              </a:cxn>
              <a:cxn ang="T8">
                <a:pos x="T4" y="T5"/>
              </a:cxn>
            </a:cxnLst>
            <a:rect l="T9" t="T10" r="T11" b="T12"/>
            <a:pathLst>
              <a:path w="39" h="17">
                <a:moveTo>
                  <a:pt x="0" y="16"/>
                </a:moveTo>
                <a:lnTo>
                  <a:pt x="19" y="8"/>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95" name="Freeform 7"/>
          <p:cNvSpPr>
            <a:spLocks/>
          </p:cNvSpPr>
          <p:nvPr/>
        </p:nvSpPr>
        <p:spPr bwMode="auto">
          <a:xfrm>
            <a:off x="882650" y="3248025"/>
            <a:ext cx="65088" cy="26988"/>
          </a:xfrm>
          <a:custGeom>
            <a:avLst/>
            <a:gdLst>
              <a:gd name="T0" fmla="*/ 0 w 41"/>
              <a:gd name="T1" fmla="*/ 40323241 h 17"/>
              <a:gd name="T2" fmla="*/ 50403506 w 41"/>
              <a:gd name="T3" fmla="*/ 20161621 h 17"/>
              <a:gd name="T4" fmla="*/ 100807012 w 41"/>
              <a:gd name="T5" fmla="*/ 0 h 17"/>
              <a:gd name="T6" fmla="*/ 0 60000 65536"/>
              <a:gd name="T7" fmla="*/ 0 60000 65536"/>
              <a:gd name="T8" fmla="*/ 0 60000 65536"/>
              <a:gd name="T9" fmla="*/ 0 w 41"/>
              <a:gd name="T10" fmla="*/ 0 h 17"/>
              <a:gd name="T11" fmla="*/ 41 w 41"/>
              <a:gd name="T12" fmla="*/ 17 h 17"/>
            </a:gdLst>
            <a:ahLst/>
            <a:cxnLst>
              <a:cxn ang="T6">
                <a:pos x="T0" y="T1"/>
              </a:cxn>
              <a:cxn ang="T7">
                <a:pos x="T2" y="T3"/>
              </a:cxn>
              <a:cxn ang="T8">
                <a:pos x="T4" y="T5"/>
              </a:cxn>
            </a:cxnLst>
            <a:rect l="T9" t="T10" r="T11" b="T12"/>
            <a:pathLst>
              <a:path w="41" h="17">
                <a:moveTo>
                  <a:pt x="0" y="16"/>
                </a:moveTo>
                <a:lnTo>
                  <a:pt x="20" y="8"/>
                </a:lnTo>
                <a:lnTo>
                  <a:pt x="40"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96" name="Line 8"/>
          <p:cNvSpPr>
            <a:spLocks noChangeShapeType="1"/>
          </p:cNvSpPr>
          <p:nvPr/>
        </p:nvSpPr>
        <p:spPr bwMode="auto">
          <a:xfrm flipV="1">
            <a:off x="946150" y="3228975"/>
            <a:ext cx="61913" cy="1905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297" name="Freeform 9"/>
          <p:cNvSpPr>
            <a:spLocks/>
          </p:cNvSpPr>
          <p:nvPr/>
        </p:nvSpPr>
        <p:spPr bwMode="auto">
          <a:xfrm>
            <a:off x="1008063" y="3208338"/>
            <a:ext cx="63500" cy="26987"/>
          </a:xfrm>
          <a:custGeom>
            <a:avLst/>
            <a:gdLst>
              <a:gd name="T0" fmla="*/ 0 w 40"/>
              <a:gd name="T1" fmla="*/ 40321747 h 17"/>
              <a:gd name="T2" fmla="*/ 47883757 w 40"/>
              <a:gd name="T3" fmla="*/ 20160874 h 17"/>
              <a:gd name="T4" fmla="*/ 98286875 w 40"/>
              <a:gd name="T5" fmla="*/ 0 h 17"/>
              <a:gd name="T6" fmla="*/ 0 60000 65536"/>
              <a:gd name="T7" fmla="*/ 0 60000 65536"/>
              <a:gd name="T8" fmla="*/ 0 60000 65536"/>
              <a:gd name="T9" fmla="*/ 0 w 40"/>
              <a:gd name="T10" fmla="*/ 0 h 17"/>
              <a:gd name="T11" fmla="*/ 40 w 40"/>
              <a:gd name="T12" fmla="*/ 17 h 17"/>
            </a:gdLst>
            <a:ahLst/>
            <a:cxnLst>
              <a:cxn ang="T6">
                <a:pos x="T0" y="T1"/>
              </a:cxn>
              <a:cxn ang="T7">
                <a:pos x="T2" y="T3"/>
              </a:cxn>
              <a:cxn ang="T8">
                <a:pos x="T4" y="T5"/>
              </a:cxn>
            </a:cxnLst>
            <a:rect l="T9" t="T10" r="T11" b="T12"/>
            <a:pathLst>
              <a:path w="40" h="17">
                <a:moveTo>
                  <a:pt x="0" y="16"/>
                </a:moveTo>
                <a:lnTo>
                  <a:pt x="19" y="8"/>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98" name="Freeform 10"/>
          <p:cNvSpPr>
            <a:spLocks/>
          </p:cNvSpPr>
          <p:nvPr/>
        </p:nvSpPr>
        <p:spPr bwMode="auto">
          <a:xfrm>
            <a:off x="1068388" y="3181350"/>
            <a:ext cx="63500" cy="28575"/>
          </a:xfrm>
          <a:custGeom>
            <a:avLst/>
            <a:gdLst>
              <a:gd name="T0" fmla="*/ 0 w 40"/>
              <a:gd name="T1" fmla="*/ 42843444 h 18"/>
              <a:gd name="T2" fmla="*/ 50403118 w 40"/>
              <a:gd name="T3" fmla="*/ 20161248 h 18"/>
              <a:gd name="T4" fmla="*/ 98286875 w 40"/>
              <a:gd name="T5" fmla="*/ 0 h 18"/>
              <a:gd name="T6" fmla="*/ 0 60000 65536"/>
              <a:gd name="T7" fmla="*/ 0 60000 65536"/>
              <a:gd name="T8" fmla="*/ 0 60000 65536"/>
              <a:gd name="T9" fmla="*/ 0 w 40"/>
              <a:gd name="T10" fmla="*/ 0 h 18"/>
              <a:gd name="T11" fmla="*/ 40 w 40"/>
              <a:gd name="T12" fmla="*/ 18 h 18"/>
            </a:gdLst>
            <a:ahLst/>
            <a:cxnLst>
              <a:cxn ang="T6">
                <a:pos x="T0" y="T1"/>
              </a:cxn>
              <a:cxn ang="T7">
                <a:pos x="T2" y="T3"/>
              </a:cxn>
              <a:cxn ang="T8">
                <a:pos x="T4" y="T5"/>
              </a:cxn>
            </a:cxnLst>
            <a:rect l="T9" t="T10" r="T11" b="T12"/>
            <a:pathLst>
              <a:path w="40" h="18">
                <a:moveTo>
                  <a:pt x="0" y="17"/>
                </a:moveTo>
                <a:lnTo>
                  <a:pt x="20" y="8"/>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99" name="Freeform 11"/>
          <p:cNvSpPr>
            <a:spLocks/>
          </p:cNvSpPr>
          <p:nvPr/>
        </p:nvSpPr>
        <p:spPr bwMode="auto">
          <a:xfrm>
            <a:off x="1130300" y="3148013"/>
            <a:ext cx="61913" cy="34925"/>
          </a:xfrm>
          <a:custGeom>
            <a:avLst/>
            <a:gdLst>
              <a:gd name="T0" fmla="*/ 0 w 39"/>
              <a:gd name="T1" fmla="*/ 52924081 h 22"/>
              <a:gd name="T2" fmla="*/ 47884143 w 39"/>
              <a:gd name="T3" fmla="*/ 25201560 h 22"/>
              <a:gd name="T4" fmla="*/ 95766698 w 39"/>
              <a:gd name="T5" fmla="*/ 0 h 22"/>
              <a:gd name="T6" fmla="*/ 0 60000 65536"/>
              <a:gd name="T7" fmla="*/ 0 60000 65536"/>
              <a:gd name="T8" fmla="*/ 0 60000 65536"/>
              <a:gd name="T9" fmla="*/ 0 w 39"/>
              <a:gd name="T10" fmla="*/ 0 h 22"/>
              <a:gd name="T11" fmla="*/ 39 w 39"/>
              <a:gd name="T12" fmla="*/ 22 h 22"/>
            </a:gdLst>
            <a:ahLst/>
            <a:cxnLst>
              <a:cxn ang="T6">
                <a:pos x="T0" y="T1"/>
              </a:cxn>
              <a:cxn ang="T7">
                <a:pos x="T2" y="T3"/>
              </a:cxn>
              <a:cxn ang="T8">
                <a:pos x="T4" y="T5"/>
              </a:cxn>
            </a:cxnLst>
            <a:rect l="T9" t="T10" r="T11" b="T12"/>
            <a:pathLst>
              <a:path w="39" h="22">
                <a:moveTo>
                  <a:pt x="0" y="21"/>
                </a:moveTo>
                <a:lnTo>
                  <a:pt x="19" y="10"/>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0" name="Freeform 12"/>
          <p:cNvSpPr>
            <a:spLocks/>
          </p:cNvSpPr>
          <p:nvPr/>
        </p:nvSpPr>
        <p:spPr bwMode="auto">
          <a:xfrm>
            <a:off x="1192213" y="3109913"/>
            <a:ext cx="63500" cy="39687"/>
          </a:xfrm>
          <a:custGeom>
            <a:avLst/>
            <a:gdLst>
              <a:gd name="T0" fmla="*/ 0 w 41"/>
              <a:gd name="T1" fmla="*/ 60482994 h 25"/>
              <a:gd name="T2" fmla="*/ 45575959 w 41"/>
              <a:gd name="T3" fmla="*/ 30241497 h 25"/>
              <a:gd name="T4" fmla="*/ 95948488 w 41"/>
              <a:gd name="T5" fmla="*/ 0 h 25"/>
              <a:gd name="T6" fmla="*/ 0 60000 65536"/>
              <a:gd name="T7" fmla="*/ 0 60000 65536"/>
              <a:gd name="T8" fmla="*/ 0 60000 65536"/>
              <a:gd name="T9" fmla="*/ 0 w 41"/>
              <a:gd name="T10" fmla="*/ 0 h 25"/>
              <a:gd name="T11" fmla="*/ 41 w 41"/>
              <a:gd name="T12" fmla="*/ 25 h 25"/>
            </a:gdLst>
            <a:ahLst/>
            <a:cxnLst>
              <a:cxn ang="T6">
                <a:pos x="T0" y="T1"/>
              </a:cxn>
              <a:cxn ang="T7">
                <a:pos x="T2" y="T3"/>
              </a:cxn>
              <a:cxn ang="T8">
                <a:pos x="T4" y="T5"/>
              </a:cxn>
            </a:cxnLst>
            <a:rect l="T9" t="T10" r="T11" b="T12"/>
            <a:pathLst>
              <a:path w="41" h="25">
                <a:moveTo>
                  <a:pt x="0" y="24"/>
                </a:moveTo>
                <a:lnTo>
                  <a:pt x="19" y="12"/>
                </a:lnTo>
                <a:lnTo>
                  <a:pt x="40"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1" name="Freeform 13"/>
          <p:cNvSpPr>
            <a:spLocks/>
          </p:cNvSpPr>
          <p:nvPr/>
        </p:nvSpPr>
        <p:spPr bwMode="auto">
          <a:xfrm>
            <a:off x="1255713" y="3062288"/>
            <a:ext cx="60325" cy="49212"/>
          </a:xfrm>
          <a:custGeom>
            <a:avLst/>
            <a:gdLst>
              <a:gd name="T0" fmla="*/ 0 w 39"/>
              <a:gd name="T1" fmla="*/ 75603926 h 31"/>
              <a:gd name="T2" fmla="*/ 45458749 w 39"/>
              <a:gd name="T3" fmla="*/ 37801169 h 31"/>
              <a:gd name="T4" fmla="*/ 90917498 w 39"/>
              <a:gd name="T5" fmla="*/ 0 h 31"/>
              <a:gd name="T6" fmla="*/ 0 60000 65536"/>
              <a:gd name="T7" fmla="*/ 0 60000 65536"/>
              <a:gd name="T8" fmla="*/ 0 60000 65536"/>
              <a:gd name="T9" fmla="*/ 0 w 39"/>
              <a:gd name="T10" fmla="*/ 0 h 31"/>
              <a:gd name="T11" fmla="*/ 39 w 39"/>
              <a:gd name="T12" fmla="*/ 31 h 31"/>
            </a:gdLst>
            <a:ahLst/>
            <a:cxnLst>
              <a:cxn ang="T6">
                <a:pos x="T0" y="T1"/>
              </a:cxn>
              <a:cxn ang="T7">
                <a:pos x="T2" y="T3"/>
              </a:cxn>
              <a:cxn ang="T8">
                <a:pos x="T4" y="T5"/>
              </a:cxn>
            </a:cxnLst>
            <a:rect l="T9" t="T10" r="T11" b="T12"/>
            <a:pathLst>
              <a:path w="39" h="31">
                <a:moveTo>
                  <a:pt x="0" y="30"/>
                </a:moveTo>
                <a:lnTo>
                  <a:pt x="19" y="15"/>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2" name="Freeform 14"/>
          <p:cNvSpPr>
            <a:spLocks/>
          </p:cNvSpPr>
          <p:nvPr/>
        </p:nvSpPr>
        <p:spPr bwMode="auto">
          <a:xfrm>
            <a:off x="1314450" y="3008313"/>
            <a:ext cx="63500" cy="55562"/>
          </a:xfrm>
          <a:custGeom>
            <a:avLst/>
            <a:gdLst>
              <a:gd name="T0" fmla="*/ 0 w 40"/>
              <a:gd name="T1" fmla="*/ 85684529 h 35"/>
              <a:gd name="T2" fmla="*/ 47883757 w 40"/>
              <a:gd name="T3" fmla="*/ 45362397 h 35"/>
              <a:gd name="T4" fmla="*/ 98286875 w 40"/>
              <a:gd name="T5" fmla="*/ 0 h 35"/>
              <a:gd name="T6" fmla="*/ 0 60000 65536"/>
              <a:gd name="T7" fmla="*/ 0 60000 65536"/>
              <a:gd name="T8" fmla="*/ 0 60000 65536"/>
              <a:gd name="T9" fmla="*/ 0 w 40"/>
              <a:gd name="T10" fmla="*/ 0 h 35"/>
              <a:gd name="T11" fmla="*/ 40 w 40"/>
              <a:gd name="T12" fmla="*/ 35 h 35"/>
            </a:gdLst>
            <a:ahLst/>
            <a:cxnLst>
              <a:cxn ang="T6">
                <a:pos x="T0" y="T1"/>
              </a:cxn>
              <a:cxn ang="T7">
                <a:pos x="T2" y="T3"/>
              </a:cxn>
              <a:cxn ang="T8">
                <a:pos x="T4" y="T5"/>
              </a:cxn>
            </a:cxnLst>
            <a:rect l="T9" t="T10" r="T11" b="T12"/>
            <a:pathLst>
              <a:path w="40" h="35">
                <a:moveTo>
                  <a:pt x="0" y="34"/>
                </a:moveTo>
                <a:lnTo>
                  <a:pt x="19" y="18"/>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3" name="Freeform 15"/>
          <p:cNvSpPr>
            <a:spLocks/>
          </p:cNvSpPr>
          <p:nvPr/>
        </p:nvSpPr>
        <p:spPr bwMode="auto">
          <a:xfrm>
            <a:off x="1376363" y="2947988"/>
            <a:ext cx="63500" cy="61912"/>
          </a:xfrm>
          <a:custGeom>
            <a:avLst/>
            <a:gdLst>
              <a:gd name="T0" fmla="*/ 0 w 40"/>
              <a:gd name="T1" fmla="*/ 95765151 h 39"/>
              <a:gd name="T2" fmla="*/ 47883757 w 40"/>
              <a:gd name="T3" fmla="*/ 50402711 h 39"/>
              <a:gd name="T4" fmla="*/ 98286875 w 40"/>
              <a:gd name="T5" fmla="*/ 0 h 39"/>
              <a:gd name="T6" fmla="*/ 0 60000 65536"/>
              <a:gd name="T7" fmla="*/ 0 60000 65536"/>
              <a:gd name="T8" fmla="*/ 0 60000 65536"/>
              <a:gd name="T9" fmla="*/ 0 w 40"/>
              <a:gd name="T10" fmla="*/ 0 h 39"/>
              <a:gd name="T11" fmla="*/ 40 w 40"/>
              <a:gd name="T12" fmla="*/ 39 h 39"/>
            </a:gdLst>
            <a:ahLst/>
            <a:cxnLst>
              <a:cxn ang="T6">
                <a:pos x="T0" y="T1"/>
              </a:cxn>
              <a:cxn ang="T7">
                <a:pos x="T2" y="T3"/>
              </a:cxn>
              <a:cxn ang="T8">
                <a:pos x="T4" y="T5"/>
              </a:cxn>
            </a:cxnLst>
            <a:rect l="T9" t="T10" r="T11" b="T12"/>
            <a:pathLst>
              <a:path w="40" h="39">
                <a:moveTo>
                  <a:pt x="0" y="38"/>
                </a:moveTo>
                <a:lnTo>
                  <a:pt x="19" y="20"/>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4" name="Freeform 16"/>
          <p:cNvSpPr>
            <a:spLocks/>
          </p:cNvSpPr>
          <p:nvPr/>
        </p:nvSpPr>
        <p:spPr bwMode="auto">
          <a:xfrm>
            <a:off x="1439863" y="2879725"/>
            <a:ext cx="60325" cy="69850"/>
          </a:xfrm>
          <a:custGeom>
            <a:avLst/>
            <a:gdLst>
              <a:gd name="T0" fmla="*/ 0 w 39"/>
              <a:gd name="T1" fmla="*/ 108367525 h 44"/>
              <a:gd name="T2" fmla="*/ 45458749 w 39"/>
              <a:gd name="T3" fmla="*/ 55443443 h 44"/>
              <a:gd name="T4" fmla="*/ 90917498 w 39"/>
              <a:gd name="T5" fmla="*/ 0 h 44"/>
              <a:gd name="T6" fmla="*/ 0 60000 65536"/>
              <a:gd name="T7" fmla="*/ 0 60000 65536"/>
              <a:gd name="T8" fmla="*/ 0 60000 65536"/>
              <a:gd name="T9" fmla="*/ 0 w 39"/>
              <a:gd name="T10" fmla="*/ 0 h 44"/>
              <a:gd name="T11" fmla="*/ 39 w 39"/>
              <a:gd name="T12" fmla="*/ 44 h 44"/>
            </a:gdLst>
            <a:ahLst/>
            <a:cxnLst>
              <a:cxn ang="T6">
                <a:pos x="T0" y="T1"/>
              </a:cxn>
              <a:cxn ang="T7">
                <a:pos x="T2" y="T3"/>
              </a:cxn>
              <a:cxn ang="T8">
                <a:pos x="T4" y="T5"/>
              </a:cxn>
            </a:cxnLst>
            <a:rect l="T9" t="T10" r="T11" b="T12"/>
            <a:pathLst>
              <a:path w="39" h="44">
                <a:moveTo>
                  <a:pt x="0" y="43"/>
                </a:moveTo>
                <a:lnTo>
                  <a:pt x="19" y="22"/>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5" name="Freeform 17"/>
          <p:cNvSpPr>
            <a:spLocks/>
          </p:cNvSpPr>
          <p:nvPr/>
        </p:nvSpPr>
        <p:spPr bwMode="auto">
          <a:xfrm>
            <a:off x="1498600" y="2801938"/>
            <a:ext cx="63500" cy="79375"/>
          </a:xfrm>
          <a:custGeom>
            <a:avLst/>
            <a:gdLst>
              <a:gd name="T0" fmla="*/ 0 w 40"/>
              <a:gd name="T1" fmla="*/ 123488462 h 50"/>
              <a:gd name="T2" fmla="*/ 47883757 w 40"/>
              <a:gd name="T3" fmla="*/ 63004706 h 50"/>
              <a:gd name="T4" fmla="*/ 98286875 w 40"/>
              <a:gd name="T5" fmla="*/ 0 h 50"/>
              <a:gd name="T6" fmla="*/ 0 60000 65536"/>
              <a:gd name="T7" fmla="*/ 0 60000 65536"/>
              <a:gd name="T8" fmla="*/ 0 60000 65536"/>
              <a:gd name="T9" fmla="*/ 0 w 40"/>
              <a:gd name="T10" fmla="*/ 0 h 50"/>
              <a:gd name="T11" fmla="*/ 40 w 40"/>
              <a:gd name="T12" fmla="*/ 50 h 50"/>
            </a:gdLst>
            <a:ahLst/>
            <a:cxnLst>
              <a:cxn ang="T6">
                <a:pos x="T0" y="T1"/>
              </a:cxn>
              <a:cxn ang="T7">
                <a:pos x="T2" y="T3"/>
              </a:cxn>
              <a:cxn ang="T8">
                <a:pos x="T4" y="T5"/>
              </a:cxn>
            </a:cxnLst>
            <a:rect l="T9" t="T10" r="T11" b="T12"/>
            <a:pathLst>
              <a:path w="40" h="50">
                <a:moveTo>
                  <a:pt x="0" y="49"/>
                </a:moveTo>
                <a:lnTo>
                  <a:pt x="19" y="25"/>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6" name="Freeform 18"/>
          <p:cNvSpPr>
            <a:spLocks/>
          </p:cNvSpPr>
          <p:nvPr/>
        </p:nvSpPr>
        <p:spPr bwMode="auto">
          <a:xfrm>
            <a:off x="1560513" y="2716213"/>
            <a:ext cx="63500" cy="87312"/>
          </a:xfrm>
          <a:custGeom>
            <a:avLst/>
            <a:gdLst>
              <a:gd name="T0" fmla="*/ 0 w 40"/>
              <a:gd name="T1" fmla="*/ 136087670 h 55"/>
              <a:gd name="T2" fmla="*/ 50403118 w 40"/>
              <a:gd name="T3" fmla="*/ 70563976 h 55"/>
              <a:gd name="T4" fmla="*/ 98286875 w 40"/>
              <a:gd name="T5" fmla="*/ 0 h 55"/>
              <a:gd name="T6" fmla="*/ 0 60000 65536"/>
              <a:gd name="T7" fmla="*/ 0 60000 65536"/>
              <a:gd name="T8" fmla="*/ 0 60000 65536"/>
              <a:gd name="T9" fmla="*/ 0 w 40"/>
              <a:gd name="T10" fmla="*/ 0 h 55"/>
              <a:gd name="T11" fmla="*/ 40 w 40"/>
              <a:gd name="T12" fmla="*/ 55 h 55"/>
            </a:gdLst>
            <a:ahLst/>
            <a:cxnLst>
              <a:cxn ang="T6">
                <a:pos x="T0" y="T1"/>
              </a:cxn>
              <a:cxn ang="T7">
                <a:pos x="T2" y="T3"/>
              </a:cxn>
              <a:cxn ang="T8">
                <a:pos x="T4" y="T5"/>
              </a:cxn>
            </a:cxnLst>
            <a:rect l="T9" t="T10" r="T11" b="T12"/>
            <a:pathLst>
              <a:path w="40" h="55">
                <a:moveTo>
                  <a:pt x="0" y="54"/>
                </a:moveTo>
                <a:lnTo>
                  <a:pt x="20" y="28"/>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7" name="Freeform 19"/>
          <p:cNvSpPr>
            <a:spLocks/>
          </p:cNvSpPr>
          <p:nvPr/>
        </p:nvSpPr>
        <p:spPr bwMode="auto">
          <a:xfrm>
            <a:off x="1624013" y="2624138"/>
            <a:ext cx="63500" cy="93662"/>
          </a:xfrm>
          <a:custGeom>
            <a:avLst/>
            <a:gdLst>
              <a:gd name="T0" fmla="*/ 0 w 40"/>
              <a:gd name="T1" fmla="*/ 146168294 h 59"/>
              <a:gd name="T2" fmla="*/ 47883757 w 40"/>
              <a:gd name="T3" fmla="*/ 75604289 h 59"/>
              <a:gd name="T4" fmla="*/ 98286875 w 40"/>
              <a:gd name="T5" fmla="*/ 0 h 59"/>
              <a:gd name="T6" fmla="*/ 0 60000 65536"/>
              <a:gd name="T7" fmla="*/ 0 60000 65536"/>
              <a:gd name="T8" fmla="*/ 0 60000 65536"/>
              <a:gd name="T9" fmla="*/ 0 w 40"/>
              <a:gd name="T10" fmla="*/ 0 h 59"/>
              <a:gd name="T11" fmla="*/ 40 w 40"/>
              <a:gd name="T12" fmla="*/ 59 h 59"/>
            </a:gdLst>
            <a:ahLst/>
            <a:cxnLst>
              <a:cxn ang="T6">
                <a:pos x="T0" y="T1"/>
              </a:cxn>
              <a:cxn ang="T7">
                <a:pos x="T2" y="T3"/>
              </a:cxn>
              <a:cxn ang="T8">
                <a:pos x="T4" y="T5"/>
              </a:cxn>
            </a:cxnLst>
            <a:rect l="T9" t="T10" r="T11" b="T12"/>
            <a:pathLst>
              <a:path w="40" h="59">
                <a:moveTo>
                  <a:pt x="0" y="58"/>
                </a:moveTo>
                <a:lnTo>
                  <a:pt x="19" y="30"/>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8" name="Freeform 20"/>
          <p:cNvSpPr>
            <a:spLocks/>
          </p:cNvSpPr>
          <p:nvPr/>
        </p:nvSpPr>
        <p:spPr bwMode="auto">
          <a:xfrm>
            <a:off x="1684338" y="2525713"/>
            <a:ext cx="63500" cy="100012"/>
          </a:xfrm>
          <a:custGeom>
            <a:avLst/>
            <a:gdLst>
              <a:gd name="T0" fmla="*/ 0 w 40"/>
              <a:gd name="T1" fmla="*/ 156248918 h 63"/>
              <a:gd name="T2" fmla="*/ 47883757 w 40"/>
              <a:gd name="T3" fmla="*/ 78123665 h 63"/>
              <a:gd name="T4" fmla="*/ 98286875 w 40"/>
              <a:gd name="T5" fmla="*/ 0 h 63"/>
              <a:gd name="T6" fmla="*/ 0 60000 65536"/>
              <a:gd name="T7" fmla="*/ 0 60000 65536"/>
              <a:gd name="T8" fmla="*/ 0 60000 65536"/>
              <a:gd name="T9" fmla="*/ 0 w 40"/>
              <a:gd name="T10" fmla="*/ 0 h 63"/>
              <a:gd name="T11" fmla="*/ 40 w 40"/>
              <a:gd name="T12" fmla="*/ 63 h 63"/>
            </a:gdLst>
            <a:ahLst/>
            <a:cxnLst>
              <a:cxn ang="T6">
                <a:pos x="T0" y="T1"/>
              </a:cxn>
              <a:cxn ang="T7">
                <a:pos x="T2" y="T3"/>
              </a:cxn>
              <a:cxn ang="T8">
                <a:pos x="T4" y="T5"/>
              </a:cxn>
            </a:cxnLst>
            <a:rect l="T9" t="T10" r="T11" b="T12"/>
            <a:pathLst>
              <a:path w="40" h="63">
                <a:moveTo>
                  <a:pt x="0" y="62"/>
                </a:moveTo>
                <a:lnTo>
                  <a:pt x="19" y="31"/>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09" name="Freeform 21"/>
          <p:cNvSpPr>
            <a:spLocks/>
          </p:cNvSpPr>
          <p:nvPr/>
        </p:nvSpPr>
        <p:spPr bwMode="auto">
          <a:xfrm>
            <a:off x="1746250" y="2420938"/>
            <a:ext cx="63500" cy="106362"/>
          </a:xfrm>
          <a:custGeom>
            <a:avLst/>
            <a:gdLst>
              <a:gd name="T0" fmla="*/ 0 w 40"/>
              <a:gd name="T1" fmla="*/ 166329504 h 67"/>
              <a:gd name="T2" fmla="*/ 47883757 w 40"/>
              <a:gd name="T3" fmla="*/ 83163958 h 67"/>
              <a:gd name="T4" fmla="*/ 98286875 w 40"/>
              <a:gd name="T5" fmla="*/ 0 h 67"/>
              <a:gd name="T6" fmla="*/ 0 60000 65536"/>
              <a:gd name="T7" fmla="*/ 0 60000 65536"/>
              <a:gd name="T8" fmla="*/ 0 60000 65536"/>
              <a:gd name="T9" fmla="*/ 0 w 40"/>
              <a:gd name="T10" fmla="*/ 0 h 67"/>
              <a:gd name="T11" fmla="*/ 40 w 40"/>
              <a:gd name="T12" fmla="*/ 67 h 67"/>
            </a:gdLst>
            <a:ahLst/>
            <a:cxnLst>
              <a:cxn ang="T6">
                <a:pos x="T0" y="T1"/>
              </a:cxn>
              <a:cxn ang="T7">
                <a:pos x="T2" y="T3"/>
              </a:cxn>
              <a:cxn ang="T8">
                <a:pos x="T4" y="T5"/>
              </a:cxn>
            </a:cxnLst>
            <a:rect l="T9" t="T10" r="T11" b="T12"/>
            <a:pathLst>
              <a:path w="40" h="67">
                <a:moveTo>
                  <a:pt x="0" y="66"/>
                </a:moveTo>
                <a:lnTo>
                  <a:pt x="19" y="33"/>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10" name="Freeform 22"/>
          <p:cNvSpPr>
            <a:spLocks/>
          </p:cNvSpPr>
          <p:nvPr/>
        </p:nvSpPr>
        <p:spPr bwMode="auto">
          <a:xfrm>
            <a:off x="1808163" y="2311400"/>
            <a:ext cx="63500" cy="111125"/>
          </a:xfrm>
          <a:custGeom>
            <a:avLst/>
            <a:gdLst>
              <a:gd name="T0" fmla="*/ 0 w 39"/>
              <a:gd name="T1" fmla="*/ 173891549 h 70"/>
              <a:gd name="T2" fmla="*/ 50370147 w 39"/>
              <a:gd name="T3" fmla="*/ 88206249 h 70"/>
              <a:gd name="T4" fmla="*/ 100740294 w 39"/>
              <a:gd name="T5" fmla="*/ 0 h 70"/>
              <a:gd name="T6" fmla="*/ 0 60000 65536"/>
              <a:gd name="T7" fmla="*/ 0 60000 65536"/>
              <a:gd name="T8" fmla="*/ 0 60000 65536"/>
              <a:gd name="T9" fmla="*/ 0 w 39"/>
              <a:gd name="T10" fmla="*/ 0 h 70"/>
              <a:gd name="T11" fmla="*/ 39 w 39"/>
              <a:gd name="T12" fmla="*/ 70 h 70"/>
            </a:gdLst>
            <a:ahLst/>
            <a:cxnLst>
              <a:cxn ang="T6">
                <a:pos x="T0" y="T1"/>
              </a:cxn>
              <a:cxn ang="T7">
                <a:pos x="T2" y="T3"/>
              </a:cxn>
              <a:cxn ang="T8">
                <a:pos x="T4" y="T5"/>
              </a:cxn>
            </a:cxnLst>
            <a:rect l="T9" t="T10" r="T11" b="T12"/>
            <a:pathLst>
              <a:path w="39" h="70">
                <a:moveTo>
                  <a:pt x="0" y="69"/>
                </a:moveTo>
                <a:lnTo>
                  <a:pt x="19" y="35"/>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11" name="Line 23"/>
          <p:cNvSpPr>
            <a:spLocks noChangeShapeType="1"/>
          </p:cNvSpPr>
          <p:nvPr/>
        </p:nvSpPr>
        <p:spPr bwMode="auto">
          <a:xfrm flipV="1">
            <a:off x="1868488" y="2201863"/>
            <a:ext cx="61912" cy="109537"/>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12" name="Freeform 24"/>
          <p:cNvSpPr>
            <a:spLocks/>
          </p:cNvSpPr>
          <p:nvPr/>
        </p:nvSpPr>
        <p:spPr bwMode="auto">
          <a:xfrm>
            <a:off x="1930400" y="2090738"/>
            <a:ext cx="63500" cy="112712"/>
          </a:xfrm>
          <a:custGeom>
            <a:avLst/>
            <a:gdLst>
              <a:gd name="T0" fmla="*/ 0 w 40"/>
              <a:gd name="T1" fmla="*/ 176410129 h 71"/>
              <a:gd name="T2" fmla="*/ 47883757 w 40"/>
              <a:gd name="T3" fmla="*/ 88204271 h 71"/>
              <a:gd name="T4" fmla="*/ 98286875 w 40"/>
              <a:gd name="T5" fmla="*/ 0 h 71"/>
              <a:gd name="T6" fmla="*/ 0 60000 65536"/>
              <a:gd name="T7" fmla="*/ 0 60000 65536"/>
              <a:gd name="T8" fmla="*/ 0 60000 65536"/>
              <a:gd name="T9" fmla="*/ 0 w 40"/>
              <a:gd name="T10" fmla="*/ 0 h 71"/>
              <a:gd name="T11" fmla="*/ 40 w 40"/>
              <a:gd name="T12" fmla="*/ 71 h 71"/>
            </a:gdLst>
            <a:ahLst/>
            <a:cxnLst>
              <a:cxn ang="T6">
                <a:pos x="T0" y="T1"/>
              </a:cxn>
              <a:cxn ang="T7">
                <a:pos x="T2" y="T3"/>
              </a:cxn>
              <a:cxn ang="T8">
                <a:pos x="T4" y="T5"/>
              </a:cxn>
            </a:cxnLst>
            <a:rect l="T9" t="T10" r="T11" b="T12"/>
            <a:pathLst>
              <a:path w="40" h="71">
                <a:moveTo>
                  <a:pt x="0" y="70"/>
                </a:moveTo>
                <a:lnTo>
                  <a:pt x="19" y="35"/>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13" name="Freeform 25"/>
          <p:cNvSpPr>
            <a:spLocks/>
          </p:cNvSpPr>
          <p:nvPr/>
        </p:nvSpPr>
        <p:spPr bwMode="auto">
          <a:xfrm>
            <a:off x="1992313" y="1982788"/>
            <a:ext cx="63500" cy="109537"/>
          </a:xfrm>
          <a:custGeom>
            <a:avLst/>
            <a:gdLst>
              <a:gd name="T0" fmla="*/ 0 w 39"/>
              <a:gd name="T1" fmla="*/ 171369817 h 69"/>
              <a:gd name="T2" fmla="*/ 50370147 w 39"/>
              <a:gd name="T3" fmla="*/ 85684908 h 69"/>
              <a:gd name="T4" fmla="*/ 100740294 w 39"/>
              <a:gd name="T5" fmla="*/ 0 h 69"/>
              <a:gd name="T6" fmla="*/ 0 60000 65536"/>
              <a:gd name="T7" fmla="*/ 0 60000 65536"/>
              <a:gd name="T8" fmla="*/ 0 60000 65536"/>
              <a:gd name="T9" fmla="*/ 0 w 39"/>
              <a:gd name="T10" fmla="*/ 0 h 69"/>
              <a:gd name="T11" fmla="*/ 39 w 39"/>
              <a:gd name="T12" fmla="*/ 69 h 69"/>
            </a:gdLst>
            <a:ahLst/>
            <a:cxnLst>
              <a:cxn ang="T6">
                <a:pos x="T0" y="T1"/>
              </a:cxn>
              <a:cxn ang="T7">
                <a:pos x="T2" y="T3"/>
              </a:cxn>
              <a:cxn ang="T8">
                <a:pos x="T4" y="T5"/>
              </a:cxn>
            </a:cxnLst>
            <a:rect l="T9" t="T10" r="T11" b="T12"/>
            <a:pathLst>
              <a:path w="39" h="69">
                <a:moveTo>
                  <a:pt x="0" y="68"/>
                </a:moveTo>
                <a:lnTo>
                  <a:pt x="19" y="34"/>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14" name="Freeform 26"/>
          <p:cNvSpPr>
            <a:spLocks/>
          </p:cNvSpPr>
          <p:nvPr/>
        </p:nvSpPr>
        <p:spPr bwMode="auto">
          <a:xfrm>
            <a:off x="2052638" y="1879600"/>
            <a:ext cx="66675" cy="104775"/>
          </a:xfrm>
          <a:custGeom>
            <a:avLst/>
            <a:gdLst>
              <a:gd name="T0" fmla="*/ 0 w 41"/>
              <a:gd name="T1" fmla="*/ 163810924 h 66"/>
              <a:gd name="T2" fmla="*/ 52891156 w 41"/>
              <a:gd name="T3" fmla="*/ 83165936 h 66"/>
              <a:gd name="T4" fmla="*/ 105783939 w 41"/>
              <a:gd name="T5" fmla="*/ 0 h 66"/>
              <a:gd name="T6" fmla="*/ 0 60000 65536"/>
              <a:gd name="T7" fmla="*/ 0 60000 65536"/>
              <a:gd name="T8" fmla="*/ 0 60000 65536"/>
              <a:gd name="T9" fmla="*/ 0 w 41"/>
              <a:gd name="T10" fmla="*/ 0 h 66"/>
              <a:gd name="T11" fmla="*/ 41 w 41"/>
              <a:gd name="T12" fmla="*/ 66 h 66"/>
            </a:gdLst>
            <a:ahLst/>
            <a:cxnLst>
              <a:cxn ang="T6">
                <a:pos x="T0" y="T1"/>
              </a:cxn>
              <a:cxn ang="T7">
                <a:pos x="T2" y="T3"/>
              </a:cxn>
              <a:cxn ang="T8">
                <a:pos x="T4" y="T5"/>
              </a:cxn>
            </a:cxnLst>
            <a:rect l="T9" t="T10" r="T11" b="T12"/>
            <a:pathLst>
              <a:path w="41" h="66">
                <a:moveTo>
                  <a:pt x="0" y="65"/>
                </a:moveTo>
                <a:lnTo>
                  <a:pt x="20" y="33"/>
                </a:lnTo>
                <a:lnTo>
                  <a:pt x="40"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15" name="Freeform 27"/>
          <p:cNvSpPr>
            <a:spLocks/>
          </p:cNvSpPr>
          <p:nvPr/>
        </p:nvSpPr>
        <p:spPr bwMode="auto">
          <a:xfrm>
            <a:off x="2116138" y="1784350"/>
            <a:ext cx="61912" cy="96838"/>
          </a:xfrm>
          <a:custGeom>
            <a:avLst/>
            <a:gdLst>
              <a:gd name="T0" fmla="*/ 0 w 39"/>
              <a:gd name="T1" fmla="*/ 151210168 h 61"/>
              <a:gd name="T2" fmla="*/ 47881782 w 39"/>
              <a:gd name="T3" fmla="*/ 75605084 h 61"/>
              <a:gd name="T4" fmla="*/ 95765151 w 39"/>
              <a:gd name="T5" fmla="*/ 0 h 61"/>
              <a:gd name="T6" fmla="*/ 0 60000 65536"/>
              <a:gd name="T7" fmla="*/ 0 60000 65536"/>
              <a:gd name="T8" fmla="*/ 0 60000 65536"/>
              <a:gd name="T9" fmla="*/ 0 w 39"/>
              <a:gd name="T10" fmla="*/ 0 h 61"/>
              <a:gd name="T11" fmla="*/ 39 w 39"/>
              <a:gd name="T12" fmla="*/ 61 h 61"/>
            </a:gdLst>
            <a:ahLst/>
            <a:cxnLst>
              <a:cxn ang="T6">
                <a:pos x="T0" y="T1"/>
              </a:cxn>
              <a:cxn ang="T7">
                <a:pos x="T2" y="T3"/>
              </a:cxn>
              <a:cxn ang="T8">
                <a:pos x="T4" y="T5"/>
              </a:cxn>
            </a:cxnLst>
            <a:rect l="T9" t="T10" r="T11" b="T12"/>
            <a:pathLst>
              <a:path w="39" h="61">
                <a:moveTo>
                  <a:pt x="0" y="60"/>
                </a:moveTo>
                <a:lnTo>
                  <a:pt x="19" y="30"/>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16" name="Freeform 28"/>
          <p:cNvSpPr>
            <a:spLocks/>
          </p:cNvSpPr>
          <p:nvPr/>
        </p:nvSpPr>
        <p:spPr bwMode="auto">
          <a:xfrm>
            <a:off x="2176463" y="1698625"/>
            <a:ext cx="63500" cy="87313"/>
          </a:xfrm>
          <a:custGeom>
            <a:avLst/>
            <a:gdLst>
              <a:gd name="T0" fmla="*/ 0 w 40"/>
              <a:gd name="T1" fmla="*/ 136089229 h 55"/>
              <a:gd name="T2" fmla="*/ 47883757 w 40"/>
              <a:gd name="T3" fmla="*/ 65524444 h 55"/>
              <a:gd name="T4" fmla="*/ 98286875 w 40"/>
              <a:gd name="T5" fmla="*/ 0 h 55"/>
              <a:gd name="T6" fmla="*/ 0 60000 65536"/>
              <a:gd name="T7" fmla="*/ 0 60000 65536"/>
              <a:gd name="T8" fmla="*/ 0 60000 65536"/>
              <a:gd name="T9" fmla="*/ 0 w 40"/>
              <a:gd name="T10" fmla="*/ 0 h 55"/>
              <a:gd name="T11" fmla="*/ 40 w 40"/>
              <a:gd name="T12" fmla="*/ 55 h 55"/>
            </a:gdLst>
            <a:ahLst/>
            <a:cxnLst>
              <a:cxn ang="T6">
                <a:pos x="T0" y="T1"/>
              </a:cxn>
              <a:cxn ang="T7">
                <a:pos x="T2" y="T3"/>
              </a:cxn>
              <a:cxn ang="T8">
                <a:pos x="T4" y="T5"/>
              </a:cxn>
            </a:cxnLst>
            <a:rect l="T9" t="T10" r="T11" b="T12"/>
            <a:pathLst>
              <a:path w="40" h="55">
                <a:moveTo>
                  <a:pt x="0" y="54"/>
                </a:moveTo>
                <a:lnTo>
                  <a:pt x="19" y="26"/>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17" name="Freeform 29"/>
          <p:cNvSpPr>
            <a:spLocks/>
          </p:cNvSpPr>
          <p:nvPr/>
        </p:nvSpPr>
        <p:spPr bwMode="auto">
          <a:xfrm>
            <a:off x="2239963" y="1624013"/>
            <a:ext cx="63500" cy="76200"/>
          </a:xfrm>
          <a:custGeom>
            <a:avLst/>
            <a:gdLst>
              <a:gd name="T0" fmla="*/ 0 w 40"/>
              <a:gd name="T1" fmla="*/ 118448149 h 48"/>
              <a:gd name="T2" fmla="*/ 47883757 w 40"/>
              <a:gd name="T3" fmla="*/ 55443445 h 48"/>
              <a:gd name="T4" fmla="*/ 98286875 w 40"/>
              <a:gd name="T5" fmla="*/ 0 h 48"/>
              <a:gd name="T6" fmla="*/ 0 60000 65536"/>
              <a:gd name="T7" fmla="*/ 0 60000 65536"/>
              <a:gd name="T8" fmla="*/ 0 60000 65536"/>
              <a:gd name="T9" fmla="*/ 0 w 40"/>
              <a:gd name="T10" fmla="*/ 0 h 48"/>
              <a:gd name="T11" fmla="*/ 40 w 40"/>
              <a:gd name="T12" fmla="*/ 48 h 48"/>
            </a:gdLst>
            <a:ahLst/>
            <a:cxnLst>
              <a:cxn ang="T6">
                <a:pos x="T0" y="T1"/>
              </a:cxn>
              <a:cxn ang="T7">
                <a:pos x="T2" y="T3"/>
              </a:cxn>
              <a:cxn ang="T8">
                <a:pos x="T4" y="T5"/>
              </a:cxn>
            </a:cxnLst>
            <a:rect l="T9" t="T10" r="T11" b="T12"/>
            <a:pathLst>
              <a:path w="40" h="48">
                <a:moveTo>
                  <a:pt x="0" y="47"/>
                </a:moveTo>
                <a:lnTo>
                  <a:pt x="19" y="22"/>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18" name="Freeform 30"/>
          <p:cNvSpPr>
            <a:spLocks/>
          </p:cNvSpPr>
          <p:nvPr/>
        </p:nvSpPr>
        <p:spPr bwMode="auto">
          <a:xfrm>
            <a:off x="2300288" y="1563688"/>
            <a:ext cx="61912" cy="61912"/>
          </a:xfrm>
          <a:custGeom>
            <a:avLst/>
            <a:gdLst>
              <a:gd name="T0" fmla="*/ 0 w 39"/>
              <a:gd name="T1" fmla="*/ 95765151 h 39"/>
              <a:gd name="T2" fmla="*/ 47881782 w 39"/>
              <a:gd name="T3" fmla="*/ 45362441 h 39"/>
              <a:gd name="T4" fmla="*/ 73083143 w 39"/>
              <a:gd name="T5" fmla="*/ 20161085 h 39"/>
              <a:gd name="T6" fmla="*/ 95765151 w 39"/>
              <a:gd name="T7" fmla="*/ 0 h 39"/>
              <a:gd name="T8" fmla="*/ 0 60000 65536"/>
              <a:gd name="T9" fmla="*/ 0 60000 65536"/>
              <a:gd name="T10" fmla="*/ 0 60000 65536"/>
              <a:gd name="T11" fmla="*/ 0 60000 65536"/>
              <a:gd name="T12" fmla="*/ 0 w 39"/>
              <a:gd name="T13" fmla="*/ 0 h 39"/>
              <a:gd name="T14" fmla="*/ 39 w 39"/>
              <a:gd name="T15" fmla="*/ 39 h 39"/>
            </a:gdLst>
            <a:ahLst/>
            <a:cxnLst>
              <a:cxn ang="T8">
                <a:pos x="T0" y="T1"/>
              </a:cxn>
              <a:cxn ang="T9">
                <a:pos x="T2" y="T3"/>
              </a:cxn>
              <a:cxn ang="T10">
                <a:pos x="T4" y="T5"/>
              </a:cxn>
              <a:cxn ang="T11">
                <a:pos x="T6" y="T7"/>
              </a:cxn>
            </a:cxnLst>
            <a:rect l="T12" t="T13" r="T14" b="T15"/>
            <a:pathLst>
              <a:path w="39" h="39">
                <a:moveTo>
                  <a:pt x="0" y="38"/>
                </a:moveTo>
                <a:lnTo>
                  <a:pt x="19" y="18"/>
                </a:lnTo>
                <a:lnTo>
                  <a:pt x="29" y="8"/>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19" name="Freeform 31"/>
          <p:cNvSpPr>
            <a:spLocks/>
          </p:cNvSpPr>
          <p:nvPr/>
        </p:nvSpPr>
        <p:spPr bwMode="auto">
          <a:xfrm>
            <a:off x="2360613" y="1519238"/>
            <a:ext cx="65087" cy="46037"/>
          </a:xfrm>
          <a:custGeom>
            <a:avLst/>
            <a:gdLst>
              <a:gd name="T0" fmla="*/ 0 w 41"/>
              <a:gd name="T1" fmla="*/ 70563615 h 29"/>
              <a:gd name="T2" fmla="*/ 50402731 w 41"/>
              <a:gd name="T3" fmla="*/ 30241551 h 29"/>
              <a:gd name="T4" fmla="*/ 75604103 w 41"/>
              <a:gd name="T5" fmla="*/ 15120775 h 29"/>
              <a:gd name="T6" fmla="*/ 100805463 w 41"/>
              <a:gd name="T7" fmla="*/ 0 h 29"/>
              <a:gd name="T8" fmla="*/ 0 60000 65536"/>
              <a:gd name="T9" fmla="*/ 0 60000 65536"/>
              <a:gd name="T10" fmla="*/ 0 60000 65536"/>
              <a:gd name="T11" fmla="*/ 0 60000 65536"/>
              <a:gd name="T12" fmla="*/ 0 w 41"/>
              <a:gd name="T13" fmla="*/ 0 h 29"/>
              <a:gd name="T14" fmla="*/ 41 w 41"/>
              <a:gd name="T15" fmla="*/ 29 h 29"/>
            </a:gdLst>
            <a:ahLst/>
            <a:cxnLst>
              <a:cxn ang="T8">
                <a:pos x="T0" y="T1"/>
              </a:cxn>
              <a:cxn ang="T9">
                <a:pos x="T2" y="T3"/>
              </a:cxn>
              <a:cxn ang="T10">
                <a:pos x="T4" y="T5"/>
              </a:cxn>
              <a:cxn ang="T11">
                <a:pos x="T6" y="T7"/>
              </a:cxn>
            </a:cxnLst>
            <a:rect l="T12" t="T13" r="T14" b="T15"/>
            <a:pathLst>
              <a:path w="41" h="29">
                <a:moveTo>
                  <a:pt x="0" y="28"/>
                </a:moveTo>
                <a:lnTo>
                  <a:pt x="20" y="12"/>
                </a:lnTo>
                <a:lnTo>
                  <a:pt x="30" y="6"/>
                </a:lnTo>
                <a:lnTo>
                  <a:pt x="40"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0" name="Freeform 32"/>
          <p:cNvSpPr>
            <a:spLocks/>
          </p:cNvSpPr>
          <p:nvPr/>
        </p:nvSpPr>
        <p:spPr bwMode="auto">
          <a:xfrm>
            <a:off x="2424113" y="1493838"/>
            <a:ext cx="63500" cy="26987"/>
          </a:xfrm>
          <a:custGeom>
            <a:avLst/>
            <a:gdLst>
              <a:gd name="T0" fmla="*/ 0 w 39"/>
              <a:gd name="T1" fmla="*/ 40321747 h 17"/>
              <a:gd name="T2" fmla="*/ 23859715 w 39"/>
              <a:gd name="T3" fmla="*/ 27720411 h 17"/>
              <a:gd name="T4" fmla="*/ 50370147 w 39"/>
              <a:gd name="T5" fmla="*/ 15120657 h 17"/>
              <a:gd name="T6" fmla="*/ 100740294 w 39"/>
              <a:gd name="T7" fmla="*/ 0 h 17"/>
              <a:gd name="T8" fmla="*/ 0 60000 65536"/>
              <a:gd name="T9" fmla="*/ 0 60000 65536"/>
              <a:gd name="T10" fmla="*/ 0 60000 65536"/>
              <a:gd name="T11" fmla="*/ 0 60000 65536"/>
              <a:gd name="T12" fmla="*/ 0 w 39"/>
              <a:gd name="T13" fmla="*/ 0 h 17"/>
              <a:gd name="T14" fmla="*/ 39 w 39"/>
              <a:gd name="T15" fmla="*/ 17 h 17"/>
            </a:gdLst>
            <a:ahLst/>
            <a:cxnLst>
              <a:cxn ang="T8">
                <a:pos x="T0" y="T1"/>
              </a:cxn>
              <a:cxn ang="T9">
                <a:pos x="T2" y="T3"/>
              </a:cxn>
              <a:cxn ang="T10">
                <a:pos x="T4" y="T5"/>
              </a:cxn>
              <a:cxn ang="T11">
                <a:pos x="T6" y="T7"/>
              </a:cxn>
            </a:cxnLst>
            <a:rect l="T12" t="T13" r="T14" b="T15"/>
            <a:pathLst>
              <a:path w="39" h="17">
                <a:moveTo>
                  <a:pt x="0" y="16"/>
                </a:moveTo>
                <a:lnTo>
                  <a:pt x="9" y="11"/>
                </a:lnTo>
                <a:lnTo>
                  <a:pt x="19" y="6"/>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1" name="Freeform 33"/>
          <p:cNvSpPr>
            <a:spLocks/>
          </p:cNvSpPr>
          <p:nvPr/>
        </p:nvSpPr>
        <p:spPr bwMode="auto">
          <a:xfrm>
            <a:off x="2484438" y="1484313"/>
            <a:ext cx="63500" cy="26987"/>
          </a:xfrm>
          <a:custGeom>
            <a:avLst/>
            <a:gdLst>
              <a:gd name="T0" fmla="*/ 0 w 40"/>
              <a:gd name="T1" fmla="*/ 40321747 h 17"/>
              <a:gd name="T2" fmla="*/ 47883757 w 40"/>
              <a:gd name="T3" fmla="*/ 12599752 h 17"/>
              <a:gd name="T4" fmla="*/ 75604683 w 40"/>
              <a:gd name="T5" fmla="*/ 0 h 17"/>
              <a:gd name="T6" fmla="*/ 98286875 w 40"/>
              <a:gd name="T7" fmla="*/ 0 h 17"/>
              <a:gd name="T8" fmla="*/ 0 60000 65536"/>
              <a:gd name="T9" fmla="*/ 0 60000 65536"/>
              <a:gd name="T10" fmla="*/ 0 60000 65536"/>
              <a:gd name="T11" fmla="*/ 0 60000 65536"/>
              <a:gd name="T12" fmla="*/ 0 w 40"/>
              <a:gd name="T13" fmla="*/ 0 h 17"/>
              <a:gd name="T14" fmla="*/ 40 w 40"/>
              <a:gd name="T15" fmla="*/ 17 h 17"/>
            </a:gdLst>
            <a:ahLst/>
            <a:cxnLst>
              <a:cxn ang="T8">
                <a:pos x="T0" y="T1"/>
              </a:cxn>
              <a:cxn ang="T9">
                <a:pos x="T2" y="T3"/>
              </a:cxn>
              <a:cxn ang="T10">
                <a:pos x="T4" y="T5"/>
              </a:cxn>
              <a:cxn ang="T11">
                <a:pos x="T6" y="T7"/>
              </a:cxn>
            </a:cxnLst>
            <a:rect l="T12" t="T13" r="T14" b="T15"/>
            <a:pathLst>
              <a:path w="40" h="17">
                <a:moveTo>
                  <a:pt x="0" y="16"/>
                </a:moveTo>
                <a:lnTo>
                  <a:pt x="19" y="5"/>
                </a:lnTo>
                <a:lnTo>
                  <a:pt x="30" y="0"/>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2" name="Freeform 34"/>
          <p:cNvSpPr>
            <a:spLocks/>
          </p:cNvSpPr>
          <p:nvPr/>
        </p:nvSpPr>
        <p:spPr bwMode="auto">
          <a:xfrm>
            <a:off x="2546350" y="1484313"/>
            <a:ext cx="63500" cy="26987"/>
          </a:xfrm>
          <a:custGeom>
            <a:avLst/>
            <a:gdLst>
              <a:gd name="T0" fmla="*/ 0 w 40"/>
              <a:gd name="T1" fmla="*/ 0 h 17"/>
              <a:gd name="T2" fmla="*/ 25201559 w 40"/>
              <a:gd name="T3" fmla="*/ 0 h 17"/>
              <a:gd name="T4" fmla="*/ 50403118 w 40"/>
              <a:gd name="T5" fmla="*/ 12599752 h 17"/>
              <a:gd name="T6" fmla="*/ 98286875 w 40"/>
              <a:gd name="T7" fmla="*/ 40321747 h 17"/>
              <a:gd name="T8" fmla="*/ 0 60000 65536"/>
              <a:gd name="T9" fmla="*/ 0 60000 65536"/>
              <a:gd name="T10" fmla="*/ 0 60000 65536"/>
              <a:gd name="T11" fmla="*/ 0 60000 65536"/>
              <a:gd name="T12" fmla="*/ 0 w 40"/>
              <a:gd name="T13" fmla="*/ 0 h 17"/>
              <a:gd name="T14" fmla="*/ 40 w 40"/>
              <a:gd name="T15" fmla="*/ 17 h 17"/>
            </a:gdLst>
            <a:ahLst/>
            <a:cxnLst>
              <a:cxn ang="T8">
                <a:pos x="T0" y="T1"/>
              </a:cxn>
              <a:cxn ang="T9">
                <a:pos x="T2" y="T3"/>
              </a:cxn>
              <a:cxn ang="T10">
                <a:pos x="T4" y="T5"/>
              </a:cxn>
              <a:cxn ang="T11">
                <a:pos x="T6" y="T7"/>
              </a:cxn>
            </a:cxnLst>
            <a:rect l="T12" t="T13" r="T14" b="T15"/>
            <a:pathLst>
              <a:path w="40" h="17">
                <a:moveTo>
                  <a:pt x="0" y="0"/>
                </a:moveTo>
                <a:lnTo>
                  <a:pt x="10" y="0"/>
                </a:lnTo>
                <a:lnTo>
                  <a:pt x="20" y="5"/>
                </a:lnTo>
                <a:lnTo>
                  <a:pt x="39"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3" name="Freeform 35"/>
          <p:cNvSpPr>
            <a:spLocks/>
          </p:cNvSpPr>
          <p:nvPr/>
        </p:nvSpPr>
        <p:spPr bwMode="auto">
          <a:xfrm>
            <a:off x="2608263" y="1493838"/>
            <a:ext cx="63500" cy="26987"/>
          </a:xfrm>
          <a:custGeom>
            <a:avLst/>
            <a:gdLst>
              <a:gd name="T0" fmla="*/ 0 w 39"/>
              <a:gd name="T1" fmla="*/ 0 h 17"/>
              <a:gd name="T2" fmla="*/ 50370147 w 39"/>
              <a:gd name="T3" fmla="*/ 15120657 h 17"/>
              <a:gd name="T4" fmla="*/ 76880585 w 39"/>
              <a:gd name="T5" fmla="*/ 27720411 h 17"/>
              <a:gd name="T6" fmla="*/ 100740294 w 39"/>
              <a:gd name="T7" fmla="*/ 40321747 h 17"/>
              <a:gd name="T8" fmla="*/ 0 60000 65536"/>
              <a:gd name="T9" fmla="*/ 0 60000 65536"/>
              <a:gd name="T10" fmla="*/ 0 60000 65536"/>
              <a:gd name="T11" fmla="*/ 0 60000 65536"/>
              <a:gd name="T12" fmla="*/ 0 w 39"/>
              <a:gd name="T13" fmla="*/ 0 h 17"/>
              <a:gd name="T14" fmla="*/ 39 w 39"/>
              <a:gd name="T15" fmla="*/ 17 h 17"/>
            </a:gdLst>
            <a:ahLst/>
            <a:cxnLst>
              <a:cxn ang="T8">
                <a:pos x="T0" y="T1"/>
              </a:cxn>
              <a:cxn ang="T9">
                <a:pos x="T2" y="T3"/>
              </a:cxn>
              <a:cxn ang="T10">
                <a:pos x="T4" y="T5"/>
              </a:cxn>
              <a:cxn ang="T11">
                <a:pos x="T6" y="T7"/>
              </a:cxn>
            </a:cxnLst>
            <a:rect l="T12" t="T13" r="T14" b="T15"/>
            <a:pathLst>
              <a:path w="39" h="17">
                <a:moveTo>
                  <a:pt x="0" y="0"/>
                </a:moveTo>
                <a:lnTo>
                  <a:pt x="19" y="6"/>
                </a:lnTo>
                <a:lnTo>
                  <a:pt x="29" y="11"/>
                </a:lnTo>
                <a:lnTo>
                  <a:pt x="38"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4" name="Freeform 36"/>
          <p:cNvSpPr>
            <a:spLocks/>
          </p:cNvSpPr>
          <p:nvPr/>
        </p:nvSpPr>
        <p:spPr bwMode="auto">
          <a:xfrm>
            <a:off x="2668588" y="1519238"/>
            <a:ext cx="66675" cy="46037"/>
          </a:xfrm>
          <a:custGeom>
            <a:avLst/>
            <a:gdLst>
              <a:gd name="T0" fmla="*/ 0 w 41"/>
              <a:gd name="T1" fmla="*/ 0 h 29"/>
              <a:gd name="T2" fmla="*/ 26445578 w 41"/>
              <a:gd name="T3" fmla="*/ 15120775 h 29"/>
              <a:gd name="T4" fmla="*/ 50246924 w 41"/>
              <a:gd name="T5" fmla="*/ 30241551 h 29"/>
              <a:gd name="T6" fmla="*/ 105783939 w 41"/>
              <a:gd name="T7" fmla="*/ 70563615 h 29"/>
              <a:gd name="T8" fmla="*/ 0 60000 65536"/>
              <a:gd name="T9" fmla="*/ 0 60000 65536"/>
              <a:gd name="T10" fmla="*/ 0 60000 65536"/>
              <a:gd name="T11" fmla="*/ 0 60000 65536"/>
              <a:gd name="T12" fmla="*/ 0 w 41"/>
              <a:gd name="T13" fmla="*/ 0 h 29"/>
              <a:gd name="T14" fmla="*/ 41 w 41"/>
              <a:gd name="T15" fmla="*/ 29 h 29"/>
            </a:gdLst>
            <a:ahLst/>
            <a:cxnLst>
              <a:cxn ang="T8">
                <a:pos x="T0" y="T1"/>
              </a:cxn>
              <a:cxn ang="T9">
                <a:pos x="T2" y="T3"/>
              </a:cxn>
              <a:cxn ang="T10">
                <a:pos x="T4" y="T5"/>
              </a:cxn>
              <a:cxn ang="T11">
                <a:pos x="T6" y="T7"/>
              </a:cxn>
            </a:cxnLst>
            <a:rect l="T12" t="T13" r="T14" b="T15"/>
            <a:pathLst>
              <a:path w="41" h="29">
                <a:moveTo>
                  <a:pt x="0" y="0"/>
                </a:moveTo>
                <a:lnTo>
                  <a:pt x="10" y="6"/>
                </a:lnTo>
                <a:lnTo>
                  <a:pt x="19" y="12"/>
                </a:lnTo>
                <a:lnTo>
                  <a:pt x="40" y="28"/>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5" name="Freeform 37"/>
          <p:cNvSpPr>
            <a:spLocks/>
          </p:cNvSpPr>
          <p:nvPr/>
        </p:nvSpPr>
        <p:spPr bwMode="auto">
          <a:xfrm>
            <a:off x="2732088" y="1563688"/>
            <a:ext cx="61912" cy="61912"/>
          </a:xfrm>
          <a:custGeom>
            <a:avLst/>
            <a:gdLst>
              <a:gd name="T0" fmla="*/ 0 w 39"/>
              <a:gd name="T1" fmla="*/ 0 h 39"/>
              <a:gd name="T2" fmla="*/ 22680427 w 39"/>
              <a:gd name="T3" fmla="*/ 20161085 h 39"/>
              <a:gd name="T4" fmla="*/ 47881782 w 39"/>
              <a:gd name="T5" fmla="*/ 45362441 h 39"/>
              <a:gd name="T6" fmla="*/ 95765151 w 39"/>
              <a:gd name="T7" fmla="*/ 95765151 h 39"/>
              <a:gd name="T8" fmla="*/ 0 60000 65536"/>
              <a:gd name="T9" fmla="*/ 0 60000 65536"/>
              <a:gd name="T10" fmla="*/ 0 60000 65536"/>
              <a:gd name="T11" fmla="*/ 0 60000 65536"/>
              <a:gd name="T12" fmla="*/ 0 w 39"/>
              <a:gd name="T13" fmla="*/ 0 h 39"/>
              <a:gd name="T14" fmla="*/ 39 w 39"/>
              <a:gd name="T15" fmla="*/ 39 h 39"/>
            </a:gdLst>
            <a:ahLst/>
            <a:cxnLst>
              <a:cxn ang="T8">
                <a:pos x="T0" y="T1"/>
              </a:cxn>
              <a:cxn ang="T9">
                <a:pos x="T2" y="T3"/>
              </a:cxn>
              <a:cxn ang="T10">
                <a:pos x="T4" y="T5"/>
              </a:cxn>
              <a:cxn ang="T11">
                <a:pos x="T6" y="T7"/>
              </a:cxn>
            </a:cxnLst>
            <a:rect l="T12" t="T13" r="T14" b="T15"/>
            <a:pathLst>
              <a:path w="39" h="39">
                <a:moveTo>
                  <a:pt x="0" y="0"/>
                </a:moveTo>
                <a:lnTo>
                  <a:pt x="9" y="8"/>
                </a:lnTo>
                <a:lnTo>
                  <a:pt x="19" y="18"/>
                </a:lnTo>
                <a:lnTo>
                  <a:pt x="38" y="38"/>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6" name="Freeform 38"/>
          <p:cNvSpPr>
            <a:spLocks/>
          </p:cNvSpPr>
          <p:nvPr/>
        </p:nvSpPr>
        <p:spPr bwMode="auto">
          <a:xfrm>
            <a:off x="2792413" y="1624013"/>
            <a:ext cx="63500" cy="76200"/>
          </a:xfrm>
          <a:custGeom>
            <a:avLst/>
            <a:gdLst>
              <a:gd name="T0" fmla="*/ 0 w 40"/>
              <a:gd name="T1" fmla="*/ 0 h 48"/>
              <a:gd name="T2" fmla="*/ 47883757 w 40"/>
              <a:gd name="T3" fmla="*/ 55443445 h 48"/>
              <a:gd name="T4" fmla="*/ 98286875 w 40"/>
              <a:gd name="T5" fmla="*/ 118448149 h 48"/>
              <a:gd name="T6" fmla="*/ 0 60000 65536"/>
              <a:gd name="T7" fmla="*/ 0 60000 65536"/>
              <a:gd name="T8" fmla="*/ 0 60000 65536"/>
              <a:gd name="T9" fmla="*/ 0 w 40"/>
              <a:gd name="T10" fmla="*/ 0 h 48"/>
              <a:gd name="T11" fmla="*/ 40 w 40"/>
              <a:gd name="T12" fmla="*/ 48 h 48"/>
            </a:gdLst>
            <a:ahLst/>
            <a:cxnLst>
              <a:cxn ang="T6">
                <a:pos x="T0" y="T1"/>
              </a:cxn>
              <a:cxn ang="T7">
                <a:pos x="T2" y="T3"/>
              </a:cxn>
              <a:cxn ang="T8">
                <a:pos x="T4" y="T5"/>
              </a:cxn>
            </a:cxnLst>
            <a:rect l="T9" t="T10" r="T11" b="T12"/>
            <a:pathLst>
              <a:path w="40" h="48">
                <a:moveTo>
                  <a:pt x="0" y="0"/>
                </a:moveTo>
                <a:lnTo>
                  <a:pt x="19" y="22"/>
                </a:lnTo>
                <a:lnTo>
                  <a:pt x="39" y="47"/>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7" name="Freeform 39"/>
          <p:cNvSpPr>
            <a:spLocks/>
          </p:cNvSpPr>
          <p:nvPr/>
        </p:nvSpPr>
        <p:spPr bwMode="auto">
          <a:xfrm>
            <a:off x="2855913" y="1698625"/>
            <a:ext cx="63500" cy="87313"/>
          </a:xfrm>
          <a:custGeom>
            <a:avLst/>
            <a:gdLst>
              <a:gd name="T0" fmla="*/ 0 w 40"/>
              <a:gd name="T1" fmla="*/ 0 h 55"/>
              <a:gd name="T2" fmla="*/ 47883757 w 40"/>
              <a:gd name="T3" fmla="*/ 65524444 h 55"/>
              <a:gd name="T4" fmla="*/ 98286875 w 40"/>
              <a:gd name="T5" fmla="*/ 136089229 h 55"/>
              <a:gd name="T6" fmla="*/ 0 60000 65536"/>
              <a:gd name="T7" fmla="*/ 0 60000 65536"/>
              <a:gd name="T8" fmla="*/ 0 60000 65536"/>
              <a:gd name="T9" fmla="*/ 0 w 40"/>
              <a:gd name="T10" fmla="*/ 0 h 55"/>
              <a:gd name="T11" fmla="*/ 40 w 40"/>
              <a:gd name="T12" fmla="*/ 55 h 55"/>
            </a:gdLst>
            <a:ahLst/>
            <a:cxnLst>
              <a:cxn ang="T6">
                <a:pos x="T0" y="T1"/>
              </a:cxn>
              <a:cxn ang="T7">
                <a:pos x="T2" y="T3"/>
              </a:cxn>
              <a:cxn ang="T8">
                <a:pos x="T4" y="T5"/>
              </a:cxn>
            </a:cxnLst>
            <a:rect l="T9" t="T10" r="T11" b="T12"/>
            <a:pathLst>
              <a:path w="40" h="55">
                <a:moveTo>
                  <a:pt x="0" y="0"/>
                </a:moveTo>
                <a:lnTo>
                  <a:pt x="19" y="26"/>
                </a:lnTo>
                <a:lnTo>
                  <a:pt x="39" y="5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8" name="Freeform 40"/>
          <p:cNvSpPr>
            <a:spLocks/>
          </p:cNvSpPr>
          <p:nvPr/>
        </p:nvSpPr>
        <p:spPr bwMode="auto">
          <a:xfrm>
            <a:off x="2916238" y="1784350"/>
            <a:ext cx="61912" cy="96838"/>
          </a:xfrm>
          <a:custGeom>
            <a:avLst/>
            <a:gdLst>
              <a:gd name="T0" fmla="*/ 0 w 39"/>
              <a:gd name="T1" fmla="*/ 0 h 61"/>
              <a:gd name="T2" fmla="*/ 47881782 w 39"/>
              <a:gd name="T3" fmla="*/ 75605084 h 61"/>
              <a:gd name="T4" fmla="*/ 95765151 w 39"/>
              <a:gd name="T5" fmla="*/ 151210168 h 61"/>
              <a:gd name="T6" fmla="*/ 0 60000 65536"/>
              <a:gd name="T7" fmla="*/ 0 60000 65536"/>
              <a:gd name="T8" fmla="*/ 0 60000 65536"/>
              <a:gd name="T9" fmla="*/ 0 w 39"/>
              <a:gd name="T10" fmla="*/ 0 h 61"/>
              <a:gd name="T11" fmla="*/ 39 w 39"/>
              <a:gd name="T12" fmla="*/ 61 h 61"/>
            </a:gdLst>
            <a:ahLst/>
            <a:cxnLst>
              <a:cxn ang="T6">
                <a:pos x="T0" y="T1"/>
              </a:cxn>
              <a:cxn ang="T7">
                <a:pos x="T2" y="T3"/>
              </a:cxn>
              <a:cxn ang="T8">
                <a:pos x="T4" y="T5"/>
              </a:cxn>
            </a:cxnLst>
            <a:rect l="T9" t="T10" r="T11" b="T12"/>
            <a:pathLst>
              <a:path w="39" h="61">
                <a:moveTo>
                  <a:pt x="0" y="0"/>
                </a:moveTo>
                <a:lnTo>
                  <a:pt x="19" y="30"/>
                </a:lnTo>
                <a:lnTo>
                  <a:pt x="38" y="6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9" name="Freeform 41"/>
          <p:cNvSpPr>
            <a:spLocks/>
          </p:cNvSpPr>
          <p:nvPr/>
        </p:nvSpPr>
        <p:spPr bwMode="auto">
          <a:xfrm>
            <a:off x="2976563" y="1879600"/>
            <a:ext cx="63500" cy="104775"/>
          </a:xfrm>
          <a:custGeom>
            <a:avLst/>
            <a:gdLst>
              <a:gd name="T0" fmla="*/ 0 w 40"/>
              <a:gd name="T1" fmla="*/ 0 h 66"/>
              <a:gd name="T2" fmla="*/ 47883757 w 40"/>
              <a:gd name="T3" fmla="*/ 83165936 h 66"/>
              <a:gd name="T4" fmla="*/ 98286875 w 40"/>
              <a:gd name="T5" fmla="*/ 163810924 h 66"/>
              <a:gd name="T6" fmla="*/ 0 60000 65536"/>
              <a:gd name="T7" fmla="*/ 0 60000 65536"/>
              <a:gd name="T8" fmla="*/ 0 60000 65536"/>
              <a:gd name="T9" fmla="*/ 0 w 40"/>
              <a:gd name="T10" fmla="*/ 0 h 66"/>
              <a:gd name="T11" fmla="*/ 40 w 40"/>
              <a:gd name="T12" fmla="*/ 66 h 66"/>
            </a:gdLst>
            <a:ahLst/>
            <a:cxnLst>
              <a:cxn ang="T6">
                <a:pos x="T0" y="T1"/>
              </a:cxn>
              <a:cxn ang="T7">
                <a:pos x="T2" y="T3"/>
              </a:cxn>
              <a:cxn ang="T8">
                <a:pos x="T4" y="T5"/>
              </a:cxn>
            </a:cxnLst>
            <a:rect l="T9" t="T10" r="T11" b="T12"/>
            <a:pathLst>
              <a:path w="40" h="66">
                <a:moveTo>
                  <a:pt x="0" y="0"/>
                </a:moveTo>
                <a:lnTo>
                  <a:pt x="19" y="33"/>
                </a:lnTo>
                <a:lnTo>
                  <a:pt x="39" y="65"/>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30" name="Freeform 42"/>
          <p:cNvSpPr>
            <a:spLocks/>
          </p:cNvSpPr>
          <p:nvPr/>
        </p:nvSpPr>
        <p:spPr bwMode="auto">
          <a:xfrm>
            <a:off x="3040063" y="1982788"/>
            <a:ext cx="63500" cy="109537"/>
          </a:xfrm>
          <a:custGeom>
            <a:avLst/>
            <a:gdLst>
              <a:gd name="T0" fmla="*/ 0 w 40"/>
              <a:gd name="T1" fmla="*/ 0 h 69"/>
              <a:gd name="T2" fmla="*/ 50403118 w 40"/>
              <a:gd name="T3" fmla="*/ 85684908 h 69"/>
              <a:gd name="T4" fmla="*/ 98286875 w 40"/>
              <a:gd name="T5" fmla="*/ 171369817 h 69"/>
              <a:gd name="T6" fmla="*/ 0 60000 65536"/>
              <a:gd name="T7" fmla="*/ 0 60000 65536"/>
              <a:gd name="T8" fmla="*/ 0 60000 65536"/>
              <a:gd name="T9" fmla="*/ 0 w 40"/>
              <a:gd name="T10" fmla="*/ 0 h 69"/>
              <a:gd name="T11" fmla="*/ 40 w 40"/>
              <a:gd name="T12" fmla="*/ 69 h 69"/>
            </a:gdLst>
            <a:ahLst/>
            <a:cxnLst>
              <a:cxn ang="T6">
                <a:pos x="T0" y="T1"/>
              </a:cxn>
              <a:cxn ang="T7">
                <a:pos x="T2" y="T3"/>
              </a:cxn>
              <a:cxn ang="T8">
                <a:pos x="T4" y="T5"/>
              </a:cxn>
            </a:cxnLst>
            <a:rect l="T9" t="T10" r="T11" b="T12"/>
            <a:pathLst>
              <a:path w="40" h="69">
                <a:moveTo>
                  <a:pt x="0" y="0"/>
                </a:moveTo>
                <a:lnTo>
                  <a:pt x="20" y="34"/>
                </a:lnTo>
                <a:lnTo>
                  <a:pt x="39" y="68"/>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31" name="Freeform 43"/>
          <p:cNvSpPr>
            <a:spLocks/>
          </p:cNvSpPr>
          <p:nvPr/>
        </p:nvSpPr>
        <p:spPr bwMode="auto">
          <a:xfrm>
            <a:off x="3100388" y="2090738"/>
            <a:ext cx="63500" cy="112712"/>
          </a:xfrm>
          <a:custGeom>
            <a:avLst/>
            <a:gdLst>
              <a:gd name="T0" fmla="*/ 0 w 40"/>
              <a:gd name="T1" fmla="*/ 0 h 71"/>
              <a:gd name="T2" fmla="*/ 47883757 w 40"/>
              <a:gd name="T3" fmla="*/ 88204271 h 71"/>
              <a:gd name="T4" fmla="*/ 98286875 w 40"/>
              <a:gd name="T5" fmla="*/ 176410129 h 71"/>
              <a:gd name="T6" fmla="*/ 0 60000 65536"/>
              <a:gd name="T7" fmla="*/ 0 60000 65536"/>
              <a:gd name="T8" fmla="*/ 0 60000 65536"/>
              <a:gd name="T9" fmla="*/ 0 w 40"/>
              <a:gd name="T10" fmla="*/ 0 h 71"/>
              <a:gd name="T11" fmla="*/ 40 w 40"/>
              <a:gd name="T12" fmla="*/ 71 h 71"/>
            </a:gdLst>
            <a:ahLst/>
            <a:cxnLst>
              <a:cxn ang="T6">
                <a:pos x="T0" y="T1"/>
              </a:cxn>
              <a:cxn ang="T7">
                <a:pos x="T2" y="T3"/>
              </a:cxn>
              <a:cxn ang="T8">
                <a:pos x="T4" y="T5"/>
              </a:cxn>
            </a:cxnLst>
            <a:rect l="T9" t="T10" r="T11" b="T12"/>
            <a:pathLst>
              <a:path w="40" h="71">
                <a:moveTo>
                  <a:pt x="0" y="0"/>
                </a:moveTo>
                <a:lnTo>
                  <a:pt x="19" y="35"/>
                </a:lnTo>
                <a:lnTo>
                  <a:pt x="39" y="7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32" name="Line 44"/>
          <p:cNvSpPr>
            <a:spLocks noChangeShapeType="1"/>
          </p:cNvSpPr>
          <p:nvPr/>
        </p:nvSpPr>
        <p:spPr bwMode="auto">
          <a:xfrm>
            <a:off x="3162300" y="2201863"/>
            <a:ext cx="61913" cy="109537"/>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33" name="Freeform 45"/>
          <p:cNvSpPr>
            <a:spLocks/>
          </p:cNvSpPr>
          <p:nvPr/>
        </p:nvSpPr>
        <p:spPr bwMode="auto">
          <a:xfrm>
            <a:off x="3224213" y="2311400"/>
            <a:ext cx="63500" cy="111125"/>
          </a:xfrm>
          <a:custGeom>
            <a:avLst/>
            <a:gdLst>
              <a:gd name="T0" fmla="*/ 0 w 40"/>
              <a:gd name="T1" fmla="*/ 0 h 70"/>
              <a:gd name="T2" fmla="*/ 47883757 w 40"/>
              <a:gd name="T3" fmla="*/ 88206249 h 70"/>
              <a:gd name="T4" fmla="*/ 98286875 w 40"/>
              <a:gd name="T5" fmla="*/ 173891549 h 70"/>
              <a:gd name="T6" fmla="*/ 0 60000 65536"/>
              <a:gd name="T7" fmla="*/ 0 60000 65536"/>
              <a:gd name="T8" fmla="*/ 0 60000 65536"/>
              <a:gd name="T9" fmla="*/ 0 w 40"/>
              <a:gd name="T10" fmla="*/ 0 h 70"/>
              <a:gd name="T11" fmla="*/ 40 w 40"/>
              <a:gd name="T12" fmla="*/ 70 h 70"/>
            </a:gdLst>
            <a:ahLst/>
            <a:cxnLst>
              <a:cxn ang="T6">
                <a:pos x="T0" y="T1"/>
              </a:cxn>
              <a:cxn ang="T7">
                <a:pos x="T2" y="T3"/>
              </a:cxn>
              <a:cxn ang="T8">
                <a:pos x="T4" y="T5"/>
              </a:cxn>
            </a:cxnLst>
            <a:rect l="T9" t="T10" r="T11" b="T12"/>
            <a:pathLst>
              <a:path w="40" h="70">
                <a:moveTo>
                  <a:pt x="0" y="0"/>
                </a:moveTo>
                <a:lnTo>
                  <a:pt x="19" y="35"/>
                </a:lnTo>
                <a:lnTo>
                  <a:pt x="39" y="69"/>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34" name="Freeform 46"/>
          <p:cNvSpPr>
            <a:spLocks/>
          </p:cNvSpPr>
          <p:nvPr/>
        </p:nvSpPr>
        <p:spPr bwMode="auto">
          <a:xfrm>
            <a:off x="3287713" y="2420938"/>
            <a:ext cx="60325" cy="106362"/>
          </a:xfrm>
          <a:custGeom>
            <a:avLst/>
            <a:gdLst>
              <a:gd name="T0" fmla="*/ 0 w 39"/>
              <a:gd name="T1" fmla="*/ 0 h 67"/>
              <a:gd name="T2" fmla="*/ 45458749 w 39"/>
              <a:gd name="T3" fmla="*/ 83163958 h 67"/>
              <a:gd name="T4" fmla="*/ 90917498 w 39"/>
              <a:gd name="T5" fmla="*/ 166329504 h 67"/>
              <a:gd name="T6" fmla="*/ 0 60000 65536"/>
              <a:gd name="T7" fmla="*/ 0 60000 65536"/>
              <a:gd name="T8" fmla="*/ 0 60000 65536"/>
              <a:gd name="T9" fmla="*/ 0 w 39"/>
              <a:gd name="T10" fmla="*/ 0 h 67"/>
              <a:gd name="T11" fmla="*/ 39 w 39"/>
              <a:gd name="T12" fmla="*/ 67 h 67"/>
            </a:gdLst>
            <a:ahLst/>
            <a:cxnLst>
              <a:cxn ang="T6">
                <a:pos x="T0" y="T1"/>
              </a:cxn>
              <a:cxn ang="T7">
                <a:pos x="T2" y="T3"/>
              </a:cxn>
              <a:cxn ang="T8">
                <a:pos x="T4" y="T5"/>
              </a:cxn>
            </a:cxnLst>
            <a:rect l="T9" t="T10" r="T11" b="T12"/>
            <a:pathLst>
              <a:path w="39" h="67">
                <a:moveTo>
                  <a:pt x="0" y="0"/>
                </a:moveTo>
                <a:lnTo>
                  <a:pt x="19" y="33"/>
                </a:lnTo>
                <a:lnTo>
                  <a:pt x="38" y="6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35" name="Freeform 47"/>
          <p:cNvSpPr>
            <a:spLocks/>
          </p:cNvSpPr>
          <p:nvPr/>
        </p:nvSpPr>
        <p:spPr bwMode="auto">
          <a:xfrm>
            <a:off x="3346450" y="2525713"/>
            <a:ext cx="63500" cy="100012"/>
          </a:xfrm>
          <a:custGeom>
            <a:avLst/>
            <a:gdLst>
              <a:gd name="T0" fmla="*/ 0 w 40"/>
              <a:gd name="T1" fmla="*/ 0 h 63"/>
              <a:gd name="T2" fmla="*/ 50403118 w 40"/>
              <a:gd name="T3" fmla="*/ 78123665 h 63"/>
              <a:gd name="T4" fmla="*/ 98286875 w 40"/>
              <a:gd name="T5" fmla="*/ 156248918 h 63"/>
              <a:gd name="T6" fmla="*/ 0 60000 65536"/>
              <a:gd name="T7" fmla="*/ 0 60000 65536"/>
              <a:gd name="T8" fmla="*/ 0 60000 65536"/>
              <a:gd name="T9" fmla="*/ 0 w 40"/>
              <a:gd name="T10" fmla="*/ 0 h 63"/>
              <a:gd name="T11" fmla="*/ 40 w 40"/>
              <a:gd name="T12" fmla="*/ 63 h 63"/>
            </a:gdLst>
            <a:ahLst/>
            <a:cxnLst>
              <a:cxn ang="T6">
                <a:pos x="T0" y="T1"/>
              </a:cxn>
              <a:cxn ang="T7">
                <a:pos x="T2" y="T3"/>
              </a:cxn>
              <a:cxn ang="T8">
                <a:pos x="T4" y="T5"/>
              </a:cxn>
            </a:cxnLst>
            <a:rect l="T9" t="T10" r="T11" b="T12"/>
            <a:pathLst>
              <a:path w="40" h="63">
                <a:moveTo>
                  <a:pt x="0" y="0"/>
                </a:moveTo>
                <a:lnTo>
                  <a:pt x="20" y="31"/>
                </a:lnTo>
                <a:lnTo>
                  <a:pt x="39" y="62"/>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36" name="Freeform 48"/>
          <p:cNvSpPr>
            <a:spLocks/>
          </p:cNvSpPr>
          <p:nvPr/>
        </p:nvSpPr>
        <p:spPr bwMode="auto">
          <a:xfrm>
            <a:off x="3408363" y="2624138"/>
            <a:ext cx="63500" cy="93662"/>
          </a:xfrm>
          <a:custGeom>
            <a:avLst/>
            <a:gdLst>
              <a:gd name="T0" fmla="*/ 0 w 40"/>
              <a:gd name="T1" fmla="*/ 0 h 59"/>
              <a:gd name="T2" fmla="*/ 47883757 w 40"/>
              <a:gd name="T3" fmla="*/ 75604289 h 59"/>
              <a:gd name="T4" fmla="*/ 98286875 w 40"/>
              <a:gd name="T5" fmla="*/ 146168294 h 59"/>
              <a:gd name="T6" fmla="*/ 0 60000 65536"/>
              <a:gd name="T7" fmla="*/ 0 60000 65536"/>
              <a:gd name="T8" fmla="*/ 0 60000 65536"/>
              <a:gd name="T9" fmla="*/ 0 w 40"/>
              <a:gd name="T10" fmla="*/ 0 h 59"/>
              <a:gd name="T11" fmla="*/ 40 w 40"/>
              <a:gd name="T12" fmla="*/ 59 h 59"/>
            </a:gdLst>
            <a:ahLst/>
            <a:cxnLst>
              <a:cxn ang="T6">
                <a:pos x="T0" y="T1"/>
              </a:cxn>
              <a:cxn ang="T7">
                <a:pos x="T2" y="T3"/>
              </a:cxn>
              <a:cxn ang="T8">
                <a:pos x="T4" y="T5"/>
              </a:cxn>
            </a:cxnLst>
            <a:rect l="T9" t="T10" r="T11" b="T12"/>
            <a:pathLst>
              <a:path w="40" h="59">
                <a:moveTo>
                  <a:pt x="0" y="0"/>
                </a:moveTo>
                <a:lnTo>
                  <a:pt x="19" y="30"/>
                </a:lnTo>
                <a:lnTo>
                  <a:pt x="39" y="58"/>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37" name="Freeform 49"/>
          <p:cNvSpPr>
            <a:spLocks/>
          </p:cNvSpPr>
          <p:nvPr/>
        </p:nvSpPr>
        <p:spPr bwMode="auto">
          <a:xfrm>
            <a:off x="3471863" y="2716213"/>
            <a:ext cx="60325" cy="87312"/>
          </a:xfrm>
          <a:custGeom>
            <a:avLst/>
            <a:gdLst>
              <a:gd name="T0" fmla="*/ 0 w 39"/>
              <a:gd name="T1" fmla="*/ 0 h 55"/>
              <a:gd name="T2" fmla="*/ 45458749 w 39"/>
              <a:gd name="T3" fmla="*/ 70563976 h 55"/>
              <a:gd name="T4" fmla="*/ 90917498 w 39"/>
              <a:gd name="T5" fmla="*/ 136087670 h 55"/>
              <a:gd name="T6" fmla="*/ 0 60000 65536"/>
              <a:gd name="T7" fmla="*/ 0 60000 65536"/>
              <a:gd name="T8" fmla="*/ 0 60000 65536"/>
              <a:gd name="T9" fmla="*/ 0 w 39"/>
              <a:gd name="T10" fmla="*/ 0 h 55"/>
              <a:gd name="T11" fmla="*/ 39 w 39"/>
              <a:gd name="T12" fmla="*/ 55 h 55"/>
            </a:gdLst>
            <a:ahLst/>
            <a:cxnLst>
              <a:cxn ang="T6">
                <a:pos x="T0" y="T1"/>
              </a:cxn>
              <a:cxn ang="T7">
                <a:pos x="T2" y="T3"/>
              </a:cxn>
              <a:cxn ang="T8">
                <a:pos x="T4" y="T5"/>
              </a:cxn>
            </a:cxnLst>
            <a:rect l="T9" t="T10" r="T11" b="T12"/>
            <a:pathLst>
              <a:path w="39" h="55">
                <a:moveTo>
                  <a:pt x="0" y="0"/>
                </a:moveTo>
                <a:lnTo>
                  <a:pt x="19" y="28"/>
                </a:lnTo>
                <a:lnTo>
                  <a:pt x="38" y="5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38" name="Freeform 50"/>
          <p:cNvSpPr>
            <a:spLocks/>
          </p:cNvSpPr>
          <p:nvPr/>
        </p:nvSpPr>
        <p:spPr bwMode="auto">
          <a:xfrm>
            <a:off x="3530600" y="2801938"/>
            <a:ext cx="65088" cy="79375"/>
          </a:xfrm>
          <a:custGeom>
            <a:avLst/>
            <a:gdLst>
              <a:gd name="T0" fmla="*/ 0 w 41"/>
              <a:gd name="T1" fmla="*/ 0 h 50"/>
              <a:gd name="T2" fmla="*/ 50403506 w 41"/>
              <a:gd name="T3" fmla="*/ 63004706 h 50"/>
              <a:gd name="T4" fmla="*/ 100807012 w 41"/>
              <a:gd name="T5" fmla="*/ 123488462 h 50"/>
              <a:gd name="T6" fmla="*/ 0 60000 65536"/>
              <a:gd name="T7" fmla="*/ 0 60000 65536"/>
              <a:gd name="T8" fmla="*/ 0 60000 65536"/>
              <a:gd name="T9" fmla="*/ 0 w 41"/>
              <a:gd name="T10" fmla="*/ 0 h 50"/>
              <a:gd name="T11" fmla="*/ 41 w 41"/>
              <a:gd name="T12" fmla="*/ 50 h 50"/>
            </a:gdLst>
            <a:ahLst/>
            <a:cxnLst>
              <a:cxn ang="T6">
                <a:pos x="T0" y="T1"/>
              </a:cxn>
              <a:cxn ang="T7">
                <a:pos x="T2" y="T3"/>
              </a:cxn>
              <a:cxn ang="T8">
                <a:pos x="T4" y="T5"/>
              </a:cxn>
            </a:cxnLst>
            <a:rect l="T9" t="T10" r="T11" b="T12"/>
            <a:pathLst>
              <a:path w="41" h="50">
                <a:moveTo>
                  <a:pt x="0" y="0"/>
                </a:moveTo>
                <a:lnTo>
                  <a:pt x="20" y="25"/>
                </a:lnTo>
                <a:lnTo>
                  <a:pt x="40" y="49"/>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39" name="Freeform 51"/>
          <p:cNvSpPr>
            <a:spLocks/>
          </p:cNvSpPr>
          <p:nvPr/>
        </p:nvSpPr>
        <p:spPr bwMode="auto">
          <a:xfrm>
            <a:off x="3594100" y="2879725"/>
            <a:ext cx="61913" cy="69850"/>
          </a:xfrm>
          <a:custGeom>
            <a:avLst/>
            <a:gdLst>
              <a:gd name="T0" fmla="*/ 0 w 39"/>
              <a:gd name="T1" fmla="*/ 0 h 44"/>
              <a:gd name="T2" fmla="*/ 47884143 w 39"/>
              <a:gd name="T3" fmla="*/ 55443443 h 44"/>
              <a:gd name="T4" fmla="*/ 95766698 w 39"/>
              <a:gd name="T5" fmla="*/ 108367525 h 44"/>
              <a:gd name="T6" fmla="*/ 0 60000 65536"/>
              <a:gd name="T7" fmla="*/ 0 60000 65536"/>
              <a:gd name="T8" fmla="*/ 0 60000 65536"/>
              <a:gd name="T9" fmla="*/ 0 w 39"/>
              <a:gd name="T10" fmla="*/ 0 h 44"/>
              <a:gd name="T11" fmla="*/ 39 w 39"/>
              <a:gd name="T12" fmla="*/ 44 h 44"/>
            </a:gdLst>
            <a:ahLst/>
            <a:cxnLst>
              <a:cxn ang="T6">
                <a:pos x="T0" y="T1"/>
              </a:cxn>
              <a:cxn ang="T7">
                <a:pos x="T2" y="T3"/>
              </a:cxn>
              <a:cxn ang="T8">
                <a:pos x="T4" y="T5"/>
              </a:cxn>
            </a:cxnLst>
            <a:rect l="T9" t="T10" r="T11" b="T12"/>
            <a:pathLst>
              <a:path w="39" h="44">
                <a:moveTo>
                  <a:pt x="0" y="0"/>
                </a:moveTo>
                <a:lnTo>
                  <a:pt x="19" y="22"/>
                </a:lnTo>
                <a:lnTo>
                  <a:pt x="38" y="43"/>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0" name="Freeform 52"/>
          <p:cNvSpPr>
            <a:spLocks/>
          </p:cNvSpPr>
          <p:nvPr/>
        </p:nvSpPr>
        <p:spPr bwMode="auto">
          <a:xfrm>
            <a:off x="3656013" y="2947988"/>
            <a:ext cx="63500" cy="61912"/>
          </a:xfrm>
          <a:custGeom>
            <a:avLst/>
            <a:gdLst>
              <a:gd name="T0" fmla="*/ 0 w 40"/>
              <a:gd name="T1" fmla="*/ 0 h 39"/>
              <a:gd name="T2" fmla="*/ 47883757 w 40"/>
              <a:gd name="T3" fmla="*/ 50402711 h 39"/>
              <a:gd name="T4" fmla="*/ 98286875 w 40"/>
              <a:gd name="T5" fmla="*/ 95765151 h 39"/>
              <a:gd name="T6" fmla="*/ 0 60000 65536"/>
              <a:gd name="T7" fmla="*/ 0 60000 65536"/>
              <a:gd name="T8" fmla="*/ 0 60000 65536"/>
              <a:gd name="T9" fmla="*/ 0 w 40"/>
              <a:gd name="T10" fmla="*/ 0 h 39"/>
              <a:gd name="T11" fmla="*/ 40 w 40"/>
              <a:gd name="T12" fmla="*/ 39 h 39"/>
            </a:gdLst>
            <a:ahLst/>
            <a:cxnLst>
              <a:cxn ang="T6">
                <a:pos x="T0" y="T1"/>
              </a:cxn>
              <a:cxn ang="T7">
                <a:pos x="T2" y="T3"/>
              </a:cxn>
              <a:cxn ang="T8">
                <a:pos x="T4" y="T5"/>
              </a:cxn>
            </a:cxnLst>
            <a:rect l="T9" t="T10" r="T11" b="T12"/>
            <a:pathLst>
              <a:path w="40" h="39">
                <a:moveTo>
                  <a:pt x="0" y="0"/>
                </a:moveTo>
                <a:lnTo>
                  <a:pt x="19" y="20"/>
                </a:lnTo>
                <a:lnTo>
                  <a:pt x="39" y="38"/>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1" name="Freeform 53"/>
          <p:cNvSpPr>
            <a:spLocks/>
          </p:cNvSpPr>
          <p:nvPr/>
        </p:nvSpPr>
        <p:spPr bwMode="auto">
          <a:xfrm>
            <a:off x="3716338" y="3008313"/>
            <a:ext cx="63500" cy="55562"/>
          </a:xfrm>
          <a:custGeom>
            <a:avLst/>
            <a:gdLst>
              <a:gd name="T0" fmla="*/ 0 w 40"/>
              <a:gd name="T1" fmla="*/ 0 h 35"/>
              <a:gd name="T2" fmla="*/ 47883757 w 40"/>
              <a:gd name="T3" fmla="*/ 45362397 h 35"/>
              <a:gd name="T4" fmla="*/ 98286875 w 40"/>
              <a:gd name="T5" fmla="*/ 85684529 h 35"/>
              <a:gd name="T6" fmla="*/ 0 60000 65536"/>
              <a:gd name="T7" fmla="*/ 0 60000 65536"/>
              <a:gd name="T8" fmla="*/ 0 60000 65536"/>
              <a:gd name="T9" fmla="*/ 0 w 40"/>
              <a:gd name="T10" fmla="*/ 0 h 35"/>
              <a:gd name="T11" fmla="*/ 40 w 40"/>
              <a:gd name="T12" fmla="*/ 35 h 35"/>
            </a:gdLst>
            <a:ahLst/>
            <a:cxnLst>
              <a:cxn ang="T6">
                <a:pos x="T0" y="T1"/>
              </a:cxn>
              <a:cxn ang="T7">
                <a:pos x="T2" y="T3"/>
              </a:cxn>
              <a:cxn ang="T8">
                <a:pos x="T4" y="T5"/>
              </a:cxn>
            </a:cxnLst>
            <a:rect l="T9" t="T10" r="T11" b="T12"/>
            <a:pathLst>
              <a:path w="40" h="35">
                <a:moveTo>
                  <a:pt x="0" y="0"/>
                </a:moveTo>
                <a:lnTo>
                  <a:pt x="19" y="18"/>
                </a:lnTo>
                <a:lnTo>
                  <a:pt x="39" y="3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2" name="Freeform 54"/>
          <p:cNvSpPr>
            <a:spLocks/>
          </p:cNvSpPr>
          <p:nvPr/>
        </p:nvSpPr>
        <p:spPr bwMode="auto">
          <a:xfrm>
            <a:off x="3778250" y="3062288"/>
            <a:ext cx="61913" cy="49212"/>
          </a:xfrm>
          <a:custGeom>
            <a:avLst/>
            <a:gdLst>
              <a:gd name="T0" fmla="*/ 0 w 39"/>
              <a:gd name="T1" fmla="*/ 0 h 31"/>
              <a:gd name="T2" fmla="*/ 47884143 w 39"/>
              <a:gd name="T3" fmla="*/ 37801169 h 31"/>
              <a:gd name="T4" fmla="*/ 95766698 w 39"/>
              <a:gd name="T5" fmla="*/ 75603926 h 31"/>
              <a:gd name="T6" fmla="*/ 0 60000 65536"/>
              <a:gd name="T7" fmla="*/ 0 60000 65536"/>
              <a:gd name="T8" fmla="*/ 0 60000 65536"/>
              <a:gd name="T9" fmla="*/ 0 w 39"/>
              <a:gd name="T10" fmla="*/ 0 h 31"/>
              <a:gd name="T11" fmla="*/ 39 w 39"/>
              <a:gd name="T12" fmla="*/ 31 h 31"/>
            </a:gdLst>
            <a:ahLst/>
            <a:cxnLst>
              <a:cxn ang="T6">
                <a:pos x="T0" y="T1"/>
              </a:cxn>
              <a:cxn ang="T7">
                <a:pos x="T2" y="T3"/>
              </a:cxn>
              <a:cxn ang="T8">
                <a:pos x="T4" y="T5"/>
              </a:cxn>
            </a:cxnLst>
            <a:rect l="T9" t="T10" r="T11" b="T12"/>
            <a:pathLst>
              <a:path w="39" h="31">
                <a:moveTo>
                  <a:pt x="0" y="0"/>
                </a:moveTo>
                <a:lnTo>
                  <a:pt x="19" y="15"/>
                </a:lnTo>
                <a:lnTo>
                  <a:pt x="38" y="3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3" name="Freeform 55"/>
          <p:cNvSpPr>
            <a:spLocks/>
          </p:cNvSpPr>
          <p:nvPr/>
        </p:nvSpPr>
        <p:spPr bwMode="auto">
          <a:xfrm>
            <a:off x="3840163" y="3109913"/>
            <a:ext cx="63500" cy="39687"/>
          </a:xfrm>
          <a:custGeom>
            <a:avLst/>
            <a:gdLst>
              <a:gd name="T0" fmla="*/ 0 w 41"/>
              <a:gd name="T1" fmla="*/ 0 h 25"/>
              <a:gd name="T2" fmla="*/ 47975019 w 41"/>
              <a:gd name="T3" fmla="*/ 30241497 h 25"/>
              <a:gd name="T4" fmla="*/ 95948488 w 41"/>
              <a:gd name="T5" fmla="*/ 60482994 h 25"/>
              <a:gd name="T6" fmla="*/ 0 60000 65536"/>
              <a:gd name="T7" fmla="*/ 0 60000 65536"/>
              <a:gd name="T8" fmla="*/ 0 60000 65536"/>
              <a:gd name="T9" fmla="*/ 0 w 41"/>
              <a:gd name="T10" fmla="*/ 0 h 25"/>
              <a:gd name="T11" fmla="*/ 41 w 41"/>
              <a:gd name="T12" fmla="*/ 25 h 25"/>
            </a:gdLst>
            <a:ahLst/>
            <a:cxnLst>
              <a:cxn ang="T6">
                <a:pos x="T0" y="T1"/>
              </a:cxn>
              <a:cxn ang="T7">
                <a:pos x="T2" y="T3"/>
              </a:cxn>
              <a:cxn ang="T8">
                <a:pos x="T4" y="T5"/>
              </a:cxn>
            </a:cxnLst>
            <a:rect l="T9" t="T10" r="T11" b="T12"/>
            <a:pathLst>
              <a:path w="41" h="25">
                <a:moveTo>
                  <a:pt x="0" y="0"/>
                </a:moveTo>
                <a:lnTo>
                  <a:pt x="20" y="12"/>
                </a:lnTo>
                <a:lnTo>
                  <a:pt x="40" y="2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4" name="Freeform 56"/>
          <p:cNvSpPr>
            <a:spLocks/>
          </p:cNvSpPr>
          <p:nvPr/>
        </p:nvSpPr>
        <p:spPr bwMode="auto">
          <a:xfrm>
            <a:off x="3903663" y="3148013"/>
            <a:ext cx="60325" cy="34925"/>
          </a:xfrm>
          <a:custGeom>
            <a:avLst/>
            <a:gdLst>
              <a:gd name="T0" fmla="*/ 0 w 39"/>
              <a:gd name="T1" fmla="*/ 0 h 22"/>
              <a:gd name="T2" fmla="*/ 45458749 w 39"/>
              <a:gd name="T3" fmla="*/ 25201560 h 22"/>
              <a:gd name="T4" fmla="*/ 90917498 w 39"/>
              <a:gd name="T5" fmla="*/ 52924081 h 22"/>
              <a:gd name="T6" fmla="*/ 0 60000 65536"/>
              <a:gd name="T7" fmla="*/ 0 60000 65536"/>
              <a:gd name="T8" fmla="*/ 0 60000 65536"/>
              <a:gd name="T9" fmla="*/ 0 w 39"/>
              <a:gd name="T10" fmla="*/ 0 h 22"/>
              <a:gd name="T11" fmla="*/ 39 w 39"/>
              <a:gd name="T12" fmla="*/ 22 h 22"/>
            </a:gdLst>
            <a:ahLst/>
            <a:cxnLst>
              <a:cxn ang="T6">
                <a:pos x="T0" y="T1"/>
              </a:cxn>
              <a:cxn ang="T7">
                <a:pos x="T2" y="T3"/>
              </a:cxn>
              <a:cxn ang="T8">
                <a:pos x="T4" y="T5"/>
              </a:cxn>
            </a:cxnLst>
            <a:rect l="T9" t="T10" r="T11" b="T12"/>
            <a:pathLst>
              <a:path w="39" h="22">
                <a:moveTo>
                  <a:pt x="0" y="0"/>
                </a:moveTo>
                <a:lnTo>
                  <a:pt x="19" y="10"/>
                </a:lnTo>
                <a:lnTo>
                  <a:pt x="38" y="21"/>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5" name="Freeform 57"/>
          <p:cNvSpPr>
            <a:spLocks/>
          </p:cNvSpPr>
          <p:nvPr/>
        </p:nvSpPr>
        <p:spPr bwMode="auto">
          <a:xfrm>
            <a:off x="3962400" y="3181350"/>
            <a:ext cx="63500" cy="28575"/>
          </a:xfrm>
          <a:custGeom>
            <a:avLst/>
            <a:gdLst>
              <a:gd name="T0" fmla="*/ 0 w 40"/>
              <a:gd name="T1" fmla="*/ 0 h 18"/>
              <a:gd name="T2" fmla="*/ 47883757 w 40"/>
              <a:gd name="T3" fmla="*/ 20161248 h 18"/>
              <a:gd name="T4" fmla="*/ 98286875 w 40"/>
              <a:gd name="T5" fmla="*/ 42843444 h 18"/>
              <a:gd name="T6" fmla="*/ 0 60000 65536"/>
              <a:gd name="T7" fmla="*/ 0 60000 65536"/>
              <a:gd name="T8" fmla="*/ 0 60000 65536"/>
              <a:gd name="T9" fmla="*/ 0 w 40"/>
              <a:gd name="T10" fmla="*/ 0 h 18"/>
              <a:gd name="T11" fmla="*/ 40 w 40"/>
              <a:gd name="T12" fmla="*/ 18 h 18"/>
            </a:gdLst>
            <a:ahLst/>
            <a:cxnLst>
              <a:cxn ang="T6">
                <a:pos x="T0" y="T1"/>
              </a:cxn>
              <a:cxn ang="T7">
                <a:pos x="T2" y="T3"/>
              </a:cxn>
              <a:cxn ang="T8">
                <a:pos x="T4" y="T5"/>
              </a:cxn>
            </a:cxnLst>
            <a:rect l="T9" t="T10" r="T11" b="T12"/>
            <a:pathLst>
              <a:path w="40" h="18">
                <a:moveTo>
                  <a:pt x="0" y="0"/>
                </a:moveTo>
                <a:lnTo>
                  <a:pt x="19" y="8"/>
                </a:lnTo>
                <a:lnTo>
                  <a:pt x="39" y="17"/>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6" name="Freeform 58"/>
          <p:cNvSpPr>
            <a:spLocks/>
          </p:cNvSpPr>
          <p:nvPr/>
        </p:nvSpPr>
        <p:spPr bwMode="auto">
          <a:xfrm>
            <a:off x="4024313" y="3208338"/>
            <a:ext cx="63500" cy="26987"/>
          </a:xfrm>
          <a:custGeom>
            <a:avLst/>
            <a:gdLst>
              <a:gd name="T0" fmla="*/ 0 w 40"/>
              <a:gd name="T1" fmla="*/ 0 h 17"/>
              <a:gd name="T2" fmla="*/ 50403118 w 40"/>
              <a:gd name="T3" fmla="*/ 20160874 h 17"/>
              <a:gd name="T4" fmla="*/ 98286875 w 40"/>
              <a:gd name="T5" fmla="*/ 40321747 h 17"/>
              <a:gd name="T6" fmla="*/ 0 60000 65536"/>
              <a:gd name="T7" fmla="*/ 0 60000 65536"/>
              <a:gd name="T8" fmla="*/ 0 60000 65536"/>
              <a:gd name="T9" fmla="*/ 0 w 40"/>
              <a:gd name="T10" fmla="*/ 0 h 17"/>
              <a:gd name="T11" fmla="*/ 40 w 40"/>
              <a:gd name="T12" fmla="*/ 17 h 17"/>
            </a:gdLst>
            <a:ahLst/>
            <a:cxnLst>
              <a:cxn ang="T6">
                <a:pos x="T0" y="T1"/>
              </a:cxn>
              <a:cxn ang="T7">
                <a:pos x="T2" y="T3"/>
              </a:cxn>
              <a:cxn ang="T8">
                <a:pos x="T4" y="T5"/>
              </a:cxn>
            </a:cxnLst>
            <a:rect l="T9" t="T10" r="T11" b="T12"/>
            <a:pathLst>
              <a:path w="40" h="17">
                <a:moveTo>
                  <a:pt x="0" y="0"/>
                </a:moveTo>
                <a:lnTo>
                  <a:pt x="20" y="8"/>
                </a:lnTo>
                <a:lnTo>
                  <a:pt x="39"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7" name="Line 59"/>
          <p:cNvSpPr>
            <a:spLocks noChangeShapeType="1"/>
          </p:cNvSpPr>
          <p:nvPr/>
        </p:nvSpPr>
        <p:spPr bwMode="auto">
          <a:xfrm>
            <a:off x="4044950" y="3190875"/>
            <a:ext cx="101600" cy="5715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48" name="Freeform 60"/>
          <p:cNvSpPr>
            <a:spLocks/>
          </p:cNvSpPr>
          <p:nvPr/>
        </p:nvSpPr>
        <p:spPr bwMode="auto">
          <a:xfrm>
            <a:off x="4146550" y="3248025"/>
            <a:ext cx="65088" cy="26988"/>
          </a:xfrm>
          <a:custGeom>
            <a:avLst/>
            <a:gdLst>
              <a:gd name="T0" fmla="*/ 0 w 41"/>
              <a:gd name="T1" fmla="*/ 0 h 17"/>
              <a:gd name="T2" fmla="*/ 47884125 w 41"/>
              <a:gd name="T3" fmla="*/ 20161621 h 17"/>
              <a:gd name="T4" fmla="*/ 100807012 w 41"/>
              <a:gd name="T5" fmla="*/ 40323241 h 17"/>
              <a:gd name="T6" fmla="*/ 0 60000 65536"/>
              <a:gd name="T7" fmla="*/ 0 60000 65536"/>
              <a:gd name="T8" fmla="*/ 0 60000 65536"/>
              <a:gd name="T9" fmla="*/ 0 w 41"/>
              <a:gd name="T10" fmla="*/ 0 h 17"/>
              <a:gd name="T11" fmla="*/ 41 w 41"/>
              <a:gd name="T12" fmla="*/ 17 h 17"/>
            </a:gdLst>
            <a:ahLst/>
            <a:cxnLst>
              <a:cxn ang="T6">
                <a:pos x="T0" y="T1"/>
              </a:cxn>
              <a:cxn ang="T7">
                <a:pos x="T2" y="T3"/>
              </a:cxn>
              <a:cxn ang="T8">
                <a:pos x="T4" y="T5"/>
              </a:cxn>
            </a:cxnLst>
            <a:rect l="T9" t="T10" r="T11" b="T12"/>
            <a:pathLst>
              <a:path w="41" h="17">
                <a:moveTo>
                  <a:pt x="0" y="0"/>
                </a:moveTo>
                <a:lnTo>
                  <a:pt x="19" y="8"/>
                </a:lnTo>
                <a:lnTo>
                  <a:pt x="40"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9" name="Freeform 61"/>
          <p:cNvSpPr>
            <a:spLocks/>
          </p:cNvSpPr>
          <p:nvPr/>
        </p:nvSpPr>
        <p:spPr bwMode="auto">
          <a:xfrm>
            <a:off x="4210050" y="3263900"/>
            <a:ext cx="61913" cy="26988"/>
          </a:xfrm>
          <a:custGeom>
            <a:avLst/>
            <a:gdLst>
              <a:gd name="T0" fmla="*/ 0 w 39"/>
              <a:gd name="T1" fmla="*/ 0 h 17"/>
              <a:gd name="T2" fmla="*/ 47884143 w 39"/>
              <a:gd name="T3" fmla="*/ 20161621 h 17"/>
              <a:gd name="T4" fmla="*/ 95766698 w 39"/>
              <a:gd name="T5" fmla="*/ 40323241 h 17"/>
              <a:gd name="T6" fmla="*/ 0 60000 65536"/>
              <a:gd name="T7" fmla="*/ 0 60000 65536"/>
              <a:gd name="T8" fmla="*/ 0 60000 65536"/>
              <a:gd name="T9" fmla="*/ 0 w 39"/>
              <a:gd name="T10" fmla="*/ 0 h 17"/>
              <a:gd name="T11" fmla="*/ 39 w 39"/>
              <a:gd name="T12" fmla="*/ 17 h 17"/>
            </a:gdLst>
            <a:ahLst/>
            <a:cxnLst>
              <a:cxn ang="T6">
                <a:pos x="T0" y="T1"/>
              </a:cxn>
              <a:cxn ang="T7">
                <a:pos x="T2" y="T3"/>
              </a:cxn>
              <a:cxn ang="T8">
                <a:pos x="T4" y="T5"/>
              </a:cxn>
            </a:cxnLst>
            <a:rect l="T9" t="T10" r="T11" b="T12"/>
            <a:pathLst>
              <a:path w="39" h="17">
                <a:moveTo>
                  <a:pt x="0" y="0"/>
                </a:moveTo>
                <a:lnTo>
                  <a:pt x="19" y="8"/>
                </a:lnTo>
                <a:lnTo>
                  <a:pt x="38"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50" name="Line 62"/>
          <p:cNvSpPr>
            <a:spLocks noChangeShapeType="1"/>
          </p:cNvSpPr>
          <p:nvPr/>
        </p:nvSpPr>
        <p:spPr bwMode="auto">
          <a:xfrm>
            <a:off x="4271963" y="3273425"/>
            <a:ext cx="60325" cy="9525"/>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51" name="Line 63"/>
          <p:cNvSpPr>
            <a:spLocks noChangeShapeType="1"/>
          </p:cNvSpPr>
          <p:nvPr/>
        </p:nvSpPr>
        <p:spPr bwMode="auto">
          <a:xfrm>
            <a:off x="4332288" y="3282950"/>
            <a:ext cx="61912" cy="7938"/>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52" name="Freeform 64"/>
          <p:cNvSpPr>
            <a:spLocks/>
          </p:cNvSpPr>
          <p:nvPr/>
        </p:nvSpPr>
        <p:spPr bwMode="auto">
          <a:xfrm>
            <a:off x="698500" y="1484313"/>
            <a:ext cx="3697288" cy="1808162"/>
          </a:xfrm>
          <a:custGeom>
            <a:avLst/>
            <a:gdLst>
              <a:gd name="T0" fmla="*/ 0 w 2329"/>
              <a:gd name="T1" fmla="*/ 2147483647 h 1139"/>
              <a:gd name="T2" fmla="*/ 98286884 w 2329"/>
              <a:gd name="T3" fmla="*/ 2147483647 h 1139"/>
              <a:gd name="T4" fmla="*/ 196572181 w 2329"/>
              <a:gd name="T5" fmla="*/ 2147483647 h 1139"/>
              <a:gd name="T6" fmla="*/ 292338141 w 2329"/>
              <a:gd name="T7" fmla="*/ 2147483647 h 1139"/>
              <a:gd name="T8" fmla="*/ 393144363 w 2329"/>
              <a:gd name="T9" fmla="*/ 2147483647 h 1139"/>
              <a:gd name="T10" fmla="*/ 488910372 w 2329"/>
              <a:gd name="T11" fmla="*/ 2147483647 h 1139"/>
              <a:gd name="T12" fmla="*/ 587195644 w 2329"/>
              <a:gd name="T13" fmla="*/ 2147483647 h 1139"/>
              <a:gd name="T14" fmla="*/ 685482504 w 2329"/>
              <a:gd name="T15" fmla="*/ 2147483647 h 1139"/>
              <a:gd name="T16" fmla="*/ 781248414 w 2329"/>
              <a:gd name="T17" fmla="*/ 2147483647 h 1139"/>
              <a:gd name="T18" fmla="*/ 882054834 w 2329"/>
              <a:gd name="T19" fmla="*/ 2147483647 h 1139"/>
              <a:gd name="T20" fmla="*/ 977820744 w 2329"/>
              <a:gd name="T21" fmla="*/ 2147483647 h 1139"/>
              <a:gd name="T22" fmla="*/ 1076107604 w 2329"/>
              <a:gd name="T23" fmla="*/ 2147483647 h 1139"/>
              <a:gd name="T24" fmla="*/ 1174392876 w 2329"/>
              <a:gd name="T25" fmla="*/ 2147483647 h 1139"/>
              <a:gd name="T26" fmla="*/ 1270158786 w 2329"/>
              <a:gd name="T27" fmla="*/ 2147483647 h 1139"/>
              <a:gd name="T28" fmla="*/ 1368445646 w 2329"/>
              <a:gd name="T29" fmla="*/ 2091727419 h 1139"/>
              <a:gd name="T30" fmla="*/ 1466730918 w 2329"/>
              <a:gd name="T31" fmla="*/ 1955640665 h 1139"/>
              <a:gd name="T32" fmla="*/ 1565017777 w 2329"/>
              <a:gd name="T33" fmla="*/ 1809471705 h 1139"/>
              <a:gd name="T34" fmla="*/ 1663303049 w 2329"/>
              <a:gd name="T35" fmla="*/ 1653221731 h 1139"/>
              <a:gd name="T36" fmla="*/ 1761590306 w 2329"/>
              <a:gd name="T37" fmla="*/ 1486891536 h 1139"/>
              <a:gd name="T38" fmla="*/ 1857356216 w 2329"/>
              <a:gd name="T39" fmla="*/ 1313000083 h 1139"/>
              <a:gd name="T40" fmla="*/ 1955641488 w 2329"/>
              <a:gd name="T41" fmla="*/ 1139110219 h 1139"/>
              <a:gd name="T42" fmla="*/ 2053928348 w 2329"/>
              <a:gd name="T43" fmla="*/ 962699405 h 1139"/>
              <a:gd name="T44" fmla="*/ 2147483647 w 2329"/>
              <a:gd name="T45" fmla="*/ 791328703 h 1139"/>
              <a:gd name="T46" fmla="*/ 2147483647 w 2329"/>
              <a:gd name="T47" fmla="*/ 627517868 h 1139"/>
              <a:gd name="T48" fmla="*/ 2147483647 w 2329"/>
              <a:gd name="T49" fmla="*/ 476308600 h 1139"/>
              <a:gd name="T50" fmla="*/ 2147483647 w 2329"/>
              <a:gd name="T51" fmla="*/ 340220159 h 1139"/>
              <a:gd name="T52" fmla="*/ 2147483647 w 2329"/>
              <a:gd name="T53" fmla="*/ 221773693 h 1139"/>
              <a:gd name="T54" fmla="*/ 2147483647 w 2329"/>
              <a:gd name="T55" fmla="*/ 126007773 h 1139"/>
              <a:gd name="T56" fmla="*/ 2147483647 w 2329"/>
              <a:gd name="T57" fmla="*/ 55443423 h 1139"/>
              <a:gd name="T58" fmla="*/ 2147483647 w 2329"/>
              <a:gd name="T59" fmla="*/ 15120933 h 1139"/>
              <a:gd name="T60" fmla="*/ 2147483647 w 2329"/>
              <a:gd name="T61" fmla="*/ 0 h 1139"/>
              <a:gd name="T62" fmla="*/ 2147483647 w 2329"/>
              <a:gd name="T63" fmla="*/ 15120933 h 1139"/>
              <a:gd name="T64" fmla="*/ 2147483647 w 2329"/>
              <a:gd name="T65" fmla="*/ 55443423 h 1139"/>
              <a:gd name="T66" fmla="*/ 2147483647 w 2329"/>
              <a:gd name="T67" fmla="*/ 126007773 h 1139"/>
              <a:gd name="T68" fmla="*/ 2147483647 w 2329"/>
              <a:gd name="T69" fmla="*/ 221773693 h 1139"/>
              <a:gd name="T70" fmla="*/ 2147483647 w 2329"/>
              <a:gd name="T71" fmla="*/ 340220159 h 1139"/>
              <a:gd name="T72" fmla="*/ 2147483647 w 2329"/>
              <a:gd name="T73" fmla="*/ 476308600 h 1139"/>
              <a:gd name="T74" fmla="*/ 2147483647 w 2329"/>
              <a:gd name="T75" fmla="*/ 627517868 h 1139"/>
              <a:gd name="T76" fmla="*/ 2147483647 w 2329"/>
              <a:gd name="T77" fmla="*/ 791328703 h 1139"/>
              <a:gd name="T78" fmla="*/ 2147483647 w 2329"/>
              <a:gd name="T79" fmla="*/ 962699405 h 1139"/>
              <a:gd name="T80" fmla="*/ 2147483647 w 2329"/>
              <a:gd name="T81" fmla="*/ 1139110219 h 1139"/>
              <a:gd name="T82" fmla="*/ 2147483647 w 2329"/>
              <a:gd name="T83" fmla="*/ 1313000083 h 1139"/>
              <a:gd name="T84" fmla="*/ 2147483647 w 2329"/>
              <a:gd name="T85" fmla="*/ 1486891536 h 1139"/>
              <a:gd name="T86" fmla="*/ 2147483647 w 2329"/>
              <a:gd name="T87" fmla="*/ 1653221731 h 1139"/>
              <a:gd name="T88" fmla="*/ 2147483647 w 2329"/>
              <a:gd name="T89" fmla="*/ 1809471705 h 1139"/>
              <a:gd name="T90" fmla="*/ 2147483647 w 2329"/>
              <a:gd name="T91" fmla="*/ 1955640665 h 1139"/>
              <a:gd name="T92" fmla="*/ 2147483647 w 2329"/>
              <a:gd name="T93" fmla="*/ 2091727419 h 1139"/>
              <a:gd name="T94" fmla="*/ 2147483647 w 2329"/>
              <a:gd name="T95" fmla="*/ 2147483647 h 1139"/>
              <a:gd name="T96" fmla="*/ 2147483647 w 2329"/>
              <a:gd name="T97" fmla="*/ 2147483647 h 1139"/>
              <a:gd name="T98" fmla="*/ 2147483647 w 2329"/>
              <a:gd name="T99" fmla="*/ 2147483647 h 1139"/>
              <a:gd name="T100" fmla="*/ 2147483647 w 2329"/>
              <a:gd name="T101" fmla="*/ 2147483647 h 1139"/>
              <a:gd name="T102" fmla="*/ 2147483647 w 2329"/>
              <a:gd name="T103" fmla="*/ 2147483647 h 1139"/>
              <a:gd name="T104" fmla="*/ 2147483647 w 2329"/>
              <a:gd name="T105" fmla="*/ 2147483647 h 1139"/>
              <a:gd name="T106" fmla="*/ 2147483647 w 2329"/>
              <a:gd name="T107" fmla="*/ 2147483647 h 1139"/>
              <a:gd name="T108" fmla="*/ 2147483647 w 2329"/>
              <a:gd name="T109" fmla="*/ 2147483647 h 1139"/>
              <a:gd name="T110" fmla="*/ 2147483647 w 2329"/>
              <a:gd name="T111" fmla="*/ 2147483647 h 1139"/>
              <a:gd name="T112" fmla="*/ 2147483647 w 2329"/>
              <a:gd name="T113" fmla="*/ 2147483647 h 1139"/>
              <a:gd name="T114" fmla="*/ 2147483647 w 2329"/>
              <a:gd name="T115" fmla="*/ 2147483647 h 1139"/>
              <a:gd name="T116" fmla="*/ 2147483647 w 2329"/>
              <a:gd name="T117" fmla="*/ 2147483647 h 1139"/>
              <a:gd name="T118" fmla="*/ 2147483647 w 2329"/>
              <a:gd name="T119" fmla="*/ 2147483647 h 1139"/>
              <a:gd name="T120" fmla="*/ 2147483647 w 2329"/>
              <a:gd name="T121" fmla="*/ 2147483647 h 113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29"/>
              <a:gd name="T184" fmla="*/ 0 h 1139"/>
              <a:gd name="T185" fmla="*/ 2329 w 2329"/>
              <a:gd name="T186" fmla="*/ 1139 h 113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29" h="1139">
                <a:moveTo>
                  <a:pt x="0" y="1138"/>
                </a:moveTo>
                <a:lnTo>
                  <a:pt x="39" y="1133"/>
                </a:lnTo>
                <a:lnTo>
                  <a:pt x="78" y="1127"/>
                </a:lnTo>
                <a:lnTo>
                  <a:pt x="116" y="1121"/>
                </a:lnTo>
                <a:lnTo>
                  <a:pt x="156" y="1111"/>
                </a:lnTo>
                <a:lnTo>
                  <a:pt x="194" y="1099"/>
                </a:lnTo>
                <a:lnTo>
                  <a:pt x="233" y="1086"/>
                </a:lnTo>
                <a:lnTo>
                  <a:pt x="272" y="1069"/>
                </a:lnTo>
                <a:lnTo>
                  <a:pt x="310" y="1048"/>
                </a:lnTo>
                <a:lnTo>
                  <a:pt x="350" y="1024"/>
                </a:lnTo>
                <a:lnTo>
                  <a:pt x="388" y="994"/>
                </a:lnTo>
                <a:lnTo>
                  <a:pt x="427" y="960"/>
                </a:lnTo>
                <a:lnTo>
                  <a:pt x="466" y="922"/>
                </a:lnTo>
                <a:lnTo>
                  <a:pt x="504" y="879"/>
                </a:lnTo>
                <a:lnTo>
                  <a:pt x="543" y="830"/>
                </a:lnTo>
                <a:lnTo>
                  <a:pt x="582" y="776"/>
                </a:lnTo>
                <a:lnTo>
                  <a:pt x="621" y="718"/>
                </a:lnTo>
                <a:lnTo>
                  <a:pt x="660" y="656"/>
                </a:lnTo>
                <a:lnTo>
                  <a:pt x="699" y="590"/>
                </a:lnTo>
                <a:lnTo>
                  <a:pt x="737" y="521"/>
                </a:lnTo>
                <a:lnTo>
                  <a:pt x="776" y="452"/>
                </a:lnTo>
                <a:lnTo>
                  <a:pt x="815" y="382"/>
                </a:lnTo>
                <a:lnTo>
                  <a:pt x="853" y="314"/>
                </a:lnTo>
                <a:lnTo>
                  <a:pt x="893" y="249"/>
                </a:lnTo>
                <a:lnTo>
                  <a:pt x="931" y="189"/>
                </a:lnTo>
                <a:lnTo>
                  <a:pt x="970" y="135"/>
                </a:lnTo>
                <a:lnTo>
                  <a:pt x="1009" y="88"/>
                </a:lnTo>
                <a:lnTo>
                  <a:pt x="1047" y="50"/>
                </a:lnTo>
                <a:lnTo>
                  <a:pt x="1087" y="22"/>
                </a:lnTo>
                <a:lnTo>
                  <a:pt x="1125" y="6"/>
                </a:lnTo>
                <a:lnTo>
                  <a:pt x="1164" y="0"/>
                </a:lnTo>
                <a:lnTo>
                  <a:pt x="1203" y="6"/>
                </a:lnTo>
                <a:lnTo>
                  <a:pt x="1241" y="22"/>
                </a:lnTo>
                <a:lnTo>
                  <a:pt x="1281" y="50"/>
                </a:lnTo>
                <a:lnTo>
                  <a:pt x="1319" y="88"/>
                </a:lnTo>
                <a:lnTo>
                  <a:pt x="1358" y="135"/>
                </a:lnTo>
                <a:lnTo>
                  <a:pt x="1397" y="189"/>
                </a:lnTo>
                <a:lnTo>
                  <a:pt x="1435" y="249"/>
                </a:lnTo>
                <a:lnTo>
                  <a:pt x="1474" y="314"/>
                </a:lnTo>
                <a:lnTo>
                  <a:pt x="1513" y="382"/>
                </a:lnTo>
                <a:lnTo>
                  <a:pt x="1552" y="452"/>
                </a:lnTo>
                <a:lnTo>
                  <a:pt x="1591" y="521"/>
                </a:lnTo>
                <a:lnTo>
                  <a:pt x="1630" y="590"/>
                </a:lnTo>
                <a:lnTo>
                  <a:pt x="1668" y="656"/>
                </a:lnTo>
                <a:lnTo>
                  <a:pt x="1707" y="718"/>
                </a:lnTo>
                <a:lnTo>
                  <a:pt x="1746" y="776"/>
                </a:lnTo>
                <a:lnTo>
                  <a:pt x="1784" y="830"/>
                </a:lnTo>
                <a:lnTo>
                  <a:pt x="1824" y="879"/>
                </a:lnTo>
                <a:lnTo>
                  <a:pt x="1862" y="922"/>
                </a:lnTo>
                <a:lnTo>
                  <a:pt x="1901" y="960"/>
                </a:lnTo>
                <a:lnTo>
                  <a:pt x="1940" y="994"/>
                </a:lnTo>
                <a:lnTo>
                  <a:pt x="1978" y="1024"/>
                </a:lnTo>
                <a:lnTo>
                  <a:pt x="2018" y="1048"/>
                </a:lnTo>
                <a:lnTo>
                  <a:pt x="2056" y="1069"/>
                </a:lnTo>
                <a:lnTo>
                  <a:pt x="2095" y="1086"/>
                </a:lnTo>
                <a:lnTo>
                  <a:pt x="2134" y="1099"/>
                </a:lnTo>
                <a:lnTo>
                  <a:pt x="2172" y="1111"/>
                </a:lnTo>
                <a:lnTo>
                  <a:pt x="2212" y="1121"/>
                </a:lnTo>
                <a:lnTo>
                  <a:pt x="2250" y="1127"/>
                </a:lnTo>
                <a:lnTo>
                  <a:pt x="2289" y="1133"/>
                </a:lnTo>
                <a:lnTo>
                  <a:pt x="2328" y="1138"/>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53" name="Freeform 65"/>
          <p:cNvSpPr>
            <a:spLocks/>
          </p:cNvSpPr>
          <p:nvPr/>
        </p:nvSpPr>
        <p:spPr bwMode="auto">
          <a:xfrm>
            <a:off x="4792663" y="1939925"/>
            <a:ext cx="63500" cy="1417638"/>
          </a:xfrm>
          <a:custGeom>
            <a:avLst/>
            <a:gdLst>
              <a:gd name="T0" fmla="*/ 0 w 39"/>
              <a:gd name="T1" fmla="*/ 2147483647 h 893"/>
              <a:gd name="T2" fmla="*/ 5301435 w 39"/>
              <a:gd name="T3" fmla="*/ 2104332223 h 893"/>
              <a:gd name="T4" fmla="*/ 13255216 w 39"/>
              <a:gd name="T5" fmla="*/ 1955642199 h 893"/>
              <a:gd name="T6" fmla="*/ 18556653 w 39"/>
              <a:gd name="T7" fmla="*/ 1804432812 h 893"/>
              <a:gd name="T8" fmla="*/ 26510432 w 39"/>
              <a:gd name="T9" fmla="*/ 1648182715 h 893"/>
              <a:gd name="T10" fmla="*/ 37114934 w 39"/>
              <a:gd name="T11" fmla="*/ 1335683315 h 893"/>
              <a:gd name="T12" fmla="*/ 42416368 w 39"/>
              <a:gd name="T13" fmla="*/ 1176914253 h 893"/>
              <a:gd name="T14" fmla="*/ 50370147 w 39"/>
              <a:gd name="T15" fmla="*/ 1023183916 h 893"/>
              <a:gd name="T16" fmla="*/ 58323939 w 39"/>
              <a:gd name="T17" fmla="*/ 871974529 h 893"/>
              <a:gd name="T18" fmla="*/ 63625372 w 39"/>
              <a:gd name="T19" fmla="*/ 725805256 h 893"/>
              <a:gd name="T20" fmla="*/ 71579151 w 39"/>
              <a:gd name="T21" fmla="*/ 582157132 h 893"/>
              <a:gd name="T22" fmla="*/ 74229868 w 39"/>
              <a:gd name="T23" fmla="*/ 514112114 h 893"/>
              <a:gd name="T24" fmla="*/ 76880585 w 39"/>
              <a:gd name="T25" fmla="*/ 448588047 h 893"/>
              <a:gd name="T26" fmla="*/ 79531302 w 39"/>
              <a:gd name="T27" fmla="*/ 385584830 h 893"/>
              <a:gd name="T28" fmla="*/ 84834364 w 39"/>
              <a:gd name="T29" fmla="*/ 322580125 h 893"/>
              <a:gd name="T30" fmla="*/ 87485081 w 39"/>
              <a:gd name="T31" fmla="*/ 262096370 h 893"/>
              <a:gd name="T32" fmla="*/ 90135798 w 39"/>
              <a:gd name="T33" fmla="*/ 204133516 h 893"/>
              <a:gd name="T34" fmla="*/ 92786515 w 39"/>
              <a:gd name="T35" fmla="*/ 148690074 h 893"/>
              <a:gd name="T36" fmla="*/ 95437232 w 39"/>
              <a:gd name="T37" fmla="*/ 95765970 h 893"/>
              <a:gd name="T38" fmla="*/ 98089577 w 39"/>
              <a:gd name="T39" fmla="*/ 45362828 h 893"/>
              <a:gd name="T40" fmla="*/ 100740294 w 39"/>
              <a:gd name="T41" fmla="*/ 0 h 89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9"/>
              <a:gd name="T64" fmla="*/ 0 h 893"/>
              <a:gd name="T65" fmla="*/ 39 w 39"/>
              <a:gd name="T66" fmla="*/ 893 h 89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9" h="893">
                <a:moveTo>
                  <a:pt x="0" y="892"/>
                </a:moveTo>
                <a:lnTo>
                  <a:pt x="2" y="835"/>
                </a:lnTo>
                <a:lnTo>
                  <a:pt x="5" y="776"/>
                </a:lnTo>
                <a:lnTo>
                  <a:pt x="7" y="716"/>
                </a:lnTo>
                <a:lnTo>
                  <a:pt x="10" y="654"/>
                </a:lnTo>
                <a:lnTo>
                  <a:pt x="14" y="530"/>
                </a:lnTo>
                <a:lnTo>
                  <a:pt x="16" y="467"/>
                </a:lnTo>
                <a:lnTo>
                  <a:pt x="19" y="406"/>
                </a:lnTo>
                <a:lnTo>
                  <a:pt x="22" y="346"/>
                </a:lnTo>
                <a:lnTo>
                  <a:pt x="24" y="288"/>
                </a:lnTo>
                <a:lnTo>
                  <a:pt x="27" y="231"/>
                </a:lnTo>
                <a:lnTo>
                  <a:pt x="28" y="204"/>
                </a:lnTo>
                <a:lnTo>
                  <a:pt x="29" y="178"/>
                </a:lnTo>
                <a:lnTo>
                  <a:pt x="30" y="153"/>
                </a:lnTo>
                <a:lnTo>
                  <a:pt x="32" y="128"/>
                </a:lnTo>
                <a:lnTo>
                  <a:pt x="33" y="104"/>
                </a:lnTo>
                <a:lnTo>
                  <a:pt x="34" y="81"/>
                </a:lnTo>
                <a:lnTo>
                  <a:pt x="35" y="59"/>
                </a:lnTo>
                <a:lnTo>
                  <a:pt x="36" y="38"/>
                </a:lnTo>
                <a:lnTo>
                  <a:pt x="37" y="18"/>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54" name="Freeform 66"/>
          <p:cNvSpPr>
            <a:spLocks/>
          </p:cNvSpPr>
          <p:nvPr/>
        </p:nvSpPr>
        <p:spPr bwMode="auto">
          <a:xfrm>
            <a:off x="4852988" y="1533525"/>
            <a:ext cx="63500" cy="407988"/>
          </a:xfrm>
          <a:custGeom>
            <a:avLst/>
            <a:gdLst>
              <a:gd name="T0" fmla="*/ 0 w 40"/>
              <a:gd name="T1" fmla="*/ 645160683 h 257"/>
              <a:gd name="T2" fmla="*/ 5040312 w 40"/>
              <a:gd name="T3" fmla="*/ 584676887 h 257"/>
              <a:gd name="T4" fmla="*/ 10080624 w 40"/>
              <a:gd name="T5" fmla="*/ 526714044 h 257"/>
              <a:gd name="T6" fmla="*/ 15120938 w 40"/>
              <a:gd name="T7" fmla="*/ 471270565 h 257"/>
              <a:gd name="T8" fmla="*/ 22682198 w 40"/>
              <a:gd name="T9" fmla="*/ 418346450 h 257"/>
              <a:gd name="T10" fmla="*/ 27720927 w 40"/>
              <a:gd name="T11" fmla="*/ 367943188 h 257"/>
              <a:gd name="T12" fmla="*/ 35282186 w 40"/>
              <a:gd name="T13" fmla="*/ 320060977 h 257"/>
              <a:gd name="T14" fmla="*/ 42843446 w 40"/>
              <a:gd name="T15" fmla="*/ 272177178 h 257"/>
              <a:gd name="T16" fmla="*/ 50403118 w 40"/>
              <a:gd name="T17" fmla="*/ 229335284 h 257"/>
              <a:gd name="T18" fmla="*/ 55443441 w 40"/>
              <a:gd name="T19" fmla="*/ 191532068 h 257"/>
              <a:gd name="T20" fmla="*/ 63003113 w 40"/>
              <a:gd name="T21" fmla="*/ 153730490 h 257"/>
              <a:gd name="T22" fmla="*/ 70564373 w 40"/>
              <a:gd name="T23" fmla="*/ 118448276 h 257"/>
              <a:gd name="T24" fmla="*/ 75604683 w 40"/>
              <a:gd name="T25" fmla="*/ 88206354 h 257"/>
              <a:gd name="T26" fmla="*/ 83165943 w 40"/>
              <a:gd name="T27" fmla="*/ 60483820 h 257"/>
              <a:gd name="T28" fmla="*/ 88206254 w 40"/>
              <a:gd name="T29" fmla="*/ 37803178 h 257"/>
              <a:gd name="T30" fmla="*/ 93246564 w 40"/>
              <a:gd name="T31" fmla="*/ 17641907 h 257"/>
              <a:gd name="T32" fmla="*/ 98286875 w 40"/>
              <a:gd name="T33" fmla="*/ 0 h 25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0"/>
              <a:gd name="T52" fmla="*/ 0 h 257"/>
              <a:gd name="T53" fmla="*/ 40 w 40"/>
              <a:gd name="T54" fmla="*/ 257 h 25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0" h="257">
                <a:moveTo>
                  <a:pt x="0" y="256"/>
                </a:moveTo>
                <a:lnTo>
                  <a:pt x="2" y="232"/>
                </a:lnTo>
                <a:lnTo>
                  <a:pt x="4" y="209"/>
                </a:lnTo>
                <a:lnTo>
                  <a:pt x="6" y="187"/>
                </a:lnTo>
                <a:lnTo>
                  <a:pt x="9" y="166"/>
                </a:lnTo>
                <a:lnTo>
                  <a:pt x="11" y="146"/>
                </a:lnTo>
                <a:lnTo>
                  <a:pt x="14" y="127"/>
                </a:lnTo>
                <a:lnTo>
                  <a:pt x="17" y="108"/>
                </a:lnTo>
                <a:lnTo>
                  <a:pt x="20" y="91"/>
                </a:lnTo>
                <a:lnTo>
                  <a:pt x="22" y="76"/>
                </a:lnTo>
                <a:lnTo>
                  <a:pt x="25" y="61"/>
                </a:lnTo>
                <a:lnTo>
                  <a:pt x="28" y="47"/>
                </a:lnTo>
                <a:lnTo>
                  <a:pt x="30" y="35"/>
                </a:lnTo>
                <a:lnTo>
                  <a:pt x="33" y="24"/>
                </a:lnTo>
                <a:lnTo>
                  <a:pt x="35" y="15"/>
                </a:lnTo>
                <a:lnTo>
                  <a:pt x="37" y="7"/>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55" name="Freeform 67"/>
          <p:cNvSpPr>
            <a:spLocks/>
          </p:cNvSpPr>
          <p:nvPr/>
        </p:nvSpPr>
        <p:spPr bwMode="auto">
          <a:xfrm>
            <a:off x="4914900" y="1498600"/>
            <a:ext cx="61913" cy="36513"/>
          </a:xfrm>
          <a:custGeom>
            <a:avLst/>
            <a:gdLst>
              <a:gd name="T0" fmla="*/ 0 w 38"/>
              <a:gd name="T1" fmla="*/ 55444203 h 23"/>
              <a:gd name="T2" fmla="*/ 7963967 w 38"/>
              <a:gd name="T3" fmla="*/ 40323051 h 23"/>
              <a:gd name="T4" fmla="*/ 18582045 w 38"/>
              <a:gd name="T5" fmla="*/ 25201905 h 23"/>
              <a:gd name="T6" fmla="*/ 31854238 w 38"/>
              <a:gd name="T7" fmla="*/ 15121146 h 23"/>
              <a:gd name="T8" fmla="*/ 47782166 w 38"/>
              <a:gd name="T9" fmla="*/ 7561367 h 23"/>
              <a:gd name="T10" fmla="*/ 66364218 w 38"/>
              <a:gd name="T11" fmla="*/ 2520984 h 23"/>
              <a:gd name="T12" fmla="*/ 76982293 w 38"/>
              <a:gd name="T13" fmla="*/ 0 h 23"/>
              <a:gd name="T14" fmla="*/ 90256109 w 38"/>
              <a:gd name="T15" fmla="*/ 0 h 23"/>
              <a:gd name="T16" fmla="*/ 98220073 w 38"/>
              <a:gd name="T17" fmla="*/ 0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23"/>
              <a:gd name="T29" fmla="*/ 38 w 38"/>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23">
                <a:moveTo>
                  <a:pt x="0" y="22"/>
                </a:moveTo>
                <a:lnTo>
                  <a:pt x="3" y="16"/>
                </a:lnTo>
                <a:lnTo>
                  <a:pt x="7" y="10"/>
                </a:lnTo>
                <a:lnTo>
                  <a:pt x="12" y="6"/>
                </a:lnTo>
                <a:lnTo>
                  <a:pt x="18" y="3"/>
                </a:lnTo>
                <a:lnTo>
                  <a:pt x="25" y="1"/>
                </a:lnTo>
                <a:lnTo>
                  <a:pt x="29" y="0"/>
                </a:lnTo>
                <a:lnTo>
                  <a:pt x="34" y="0"/>
                </a:lnTo>
                <a:lnTo>
                  <a:pt x="37"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56" name="Freeform 68"/>
          <p:cNvSpPr>
            <a:spLocks/>
          </p:cNvSpPr>
          <p:nvPr/>
        </p:nvSpPr>
        <p:spPr bwMode="auto">
          <a:xfrm>
            <a:off x="4973638" y="1498600"/>
            <a:ext cx="61912" cy="71438"/>
          </a:xfrm>
          <a:custGeom>
            <a:avLst/>
            <a:gdLst>
              <a:gd name="T0" fmla="*/ 0 w 39"/>
              <a:gd name="T1" fmla="*/ 0 h 45"/>
              <a:gd name="T2" fmla="*/ 12599884 w 39"/>
              <a:gd name="T3" fmla="*/ 5040348 h 45"/>
              <a:gd name="T4" fmla="*/ 25201355 w 39"/>
              <a:gd name="T5" fmla="*/ 15121044 h 45"/>
              <a:gd name="T6" fmla="*/ 35281901 w 39"/>
              <a:gd name="T7" fmla="*/ 27722710 h 45"/>
              <a:gd name="T8" fmla="*/ 47881782 w 39"/>
              <a:gd name="T9" fmla="*/ 42843748 h 45"/>
              <a:gd name="T10" fmla="*/ 60483263 w 39"/>
              <a:gd name="T11" fmla="*/ 55443832 h 45"/>
              <a:gd name="T12" fmla="*/ 73083143 w 39"/>
              <a:gd name="T13" fmla="*/ 75605216 h 45"/>
              <a:gd name="T14" fmla="*/ 95765151 w 39"/>
              <a:gd name="T15" fmla="*/ 110887663 h 45"/>
              <a:gd name="T16" fmla="*/ 0 60000 65536"/>
              <a:gd name="T17" fmla="*/ 0 60000 65536"/>
              <a:gd name="T18" fmla="*/ 0 60000 65536"/>
              <a:gd name="T19" fmla="*/ 0 60000 65536"/>
              <a:gd name="T20" fmla="*/ 0 60000 65536"/>
              <a:gd name="T21" fmla="*/ 0 60000 65536"/>
              <a:gd name="T22" fmla="*/ 0 60000 65536"/>
              <a:gd name="T23" fmla="*/ 0 60000 65536"/>
              <a:gd name="T24" fmla="*/ 0 w 39"/>
              <a:gd name="T25" fmla="*/ 0 h 45"/>
              <a:gd name="T26" fmla="*/ 39 w 39"/>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9" h="45">
                <a:moveTo>
                  <a:pt x="0" y="0"/>
                </a:moveTo>
                <a:lnTo>
                  <a:pt x="5" y="2"/>
                </a:lnTo>
                <a:lnTo>
                  <a:pt x="10" y="6"/>
                </a:lnTo>
                <a:lnTo>
                  <a:pt x="14" y="11"/>
                </a:lnTo>
                <a:lnTo>
                  <a:pt x="19" y="17"/>
                </a:lnTo>
                <a:lnTo>
                  <a:pt x="24" y="22"/>
                </a:lnTo>
                <a:lnTo>
                  <a:pt x="29" y="30"/>
                </a:lnTo>
                <a:lnTo>
                  <a:pt x="38" y="4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57" name="Freeform 69"/>
          <p:cNvSpPr>
            <a:spLocks/>
          </p:cNvSpPr>
          <p:nvPr/>
        </p:nvSpPr>
        <p:spPr bwMode="auto">
          <a:xfrm>
            <a:off x="5033963" y="1568450"/>
            <a:ext cx="63500" cy="119063"/>
          </a:xfrm>
          <a:custGeom>
            <a:avLst/>
            <a:gdLst>
              <a:gd name="T0" fmla="*/ 0 w 40"/>
              <a:gd name="T1" fmla="*/ 0 h 75"/>
              <a:gd name="T2" fmla="*/ 12601573 w 40"/>
              <a:gd name="T3" fmla="*/ 20161333 h 75"/>
              <a:gd name="T4" fmla="*/ 25201559 w 40"/>
              <a:gd name="T5" fmla="*/ 42843625 h 75"/>
              <a:gd name="T6" fmla="*/ 50403118 w 40"/>
              <a:gd name="T7" fmla="*/ 88206622 h 75"/>
              <a:gd name="T8" fmla="*/ 73083734 w 40"/>
              <a:gd name="T9" fmla="*/ 136089003 h 75"/>
              <a:gd name="T10" fmla="*/ 98286875 w 40"/>
              <a:gd name="T11" fmla="*/ 186492319 h 75"/>
              <a:gd name="T12" fmla="*/ 0 60000 65536"/>
              <a:gd name="T13" fmla="*/ 0 60000 65536"/>
              <a:gd name="T14" fmla="*/ 0 60000 65536"/>
              <a:gd name="T15" fmla="*/ 0 60000 65536"/>
              <a:gd name="T16" fmla="*/ 0 60000 65536"/>
              <a:gd name="T17" fmla="*/ 0 60000 65536"/>
              <a:gd name="T18" fmla="*/ 0 w 40"/>
              <a:gd name="T19" fmla="*/ 0 h 75"/>
              <a:gd name="T20" fmla="*/ 40 w 40"/>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40" h="75">
                <a:moveTo>
                  <a:pt x="0" y="0"/>
                </a:moveTo>
                <a:lnTo>
                  <a:pt x="5" y="8"/>
                </a:lnTo>
                <a:lnTo>
                  <a:pt x="10" y="17"/>
                </a:lnTo>
                <a:lnTo>
                  <a:pt x="20" y="35"/>
                </a:lnTo>
                <a:lnTo>
                  <a:pt x="29" y="54"/>
                </a:lnTo>
                <a:lnTo>
                  <a:pt x="39" y="7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58" name="Freeform 70"/>
          <p:cNvSpPr>
            <a:spLocks/>
          </p:cNvSpPr>
          <p:nvPr/>
        </p:nvSpPr>
        <p:spPr bwMode="auto">
          <a:xfrm>
            <a:off x="5097463" y="1685925"/>
            <a:ext cx="60325" cy="136525"/>
          </a:xfrm>
          <a:custGeom>
            <a:avLst/>
            <a:gdLst>
              <a:gd name="T0" fmla="*/ 0 w 39"/>
              <a:gd name="T1" fmla="*/ 0 h 86"/>
              <a:gd name="T2" fmla="*/ 21532929 w 39"/>
              <a:gd name="T3" fmla="*/ 50403120 h 86"/>
              <a:gd name="T4" fmla="*/ 45458749 w 39"/>
              <a:gd name="T5" fmla="*/ 103327188 h 86"/>
              <a:gd name="T6" fmla="*/ 90917498 w 39"/>
              <a:gd name="T7" fmla="*/ 214214098 h 86"/>
              <a:gd name="T8" fmla="*/ 0 60000 65536"/>
              <a:gd name="T9" fmla="*/ 0 60000 65536"/>
              <a:gd name="T10" fmla="*/ 0 60000 65536"/>
              <a:gd name="T11" fmla="*/ 0 60000 65536"/>
              <a:gd name="T12" fmla="*/ 0 w 39"/>
              <a:gd name="T13" fmla="*/ 0 h 86"/>
              <a:gd name="T14" fmla="*/ 39 w 39"/>
              <a:gd name="T15" fmla="*/ 86 h 86"/>
            </a:gdLst>
            <a:ahLst/>
            <a:cxnLst>
              <a:cxn ang="T8">
                <a:pos x="T0" y="T1"/>
              </a:cxn>
              <a:cxn ang="T9">
                <a:pos x="T2" y="T3"/>
              </a:cxn>
              <a:cxn ang="T10">
                <a:pos x="T4" y="T5"/>
              </a:cxn>
              <a:cxn ang="T11">
                <a:pos x="T6" y="T7"/>
              </a:cxn>
            </a:cxnLst>
            <a:rect l="T12" t="T13" r="T14" b="T15"/>
            <a:pathLst>
              <a:path w="39" h="86">
                <a:moveTo>
                  <a:pt x="0" y="0"/>
                </a:moveTo>
                <a:lnTo>
                  <a:pt x="9" y="20"/>
                </a:lnTo>
                <a:lnTo>
                  <a:pt x="19" y="41"/>
                </a:lnTo>
                <a:lnTo>
                  <a:pt x="38" y="85"/>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59" name="Freeform 71"/>
          <p:cNvSpPr>
            <a:spLocks/>
          </p:cNvSpPr>
          <p:nvPr/>
        </p:nvSpPr>
        <p:spPr bwMode="auto">
          <a:xfrm>
            <a:off x="5156200" y="1820863"/>
            <a:ext cx="61913" cy="144462"/>
          </a:xfrm>
          <a:custGeom>
            <a:avLst/>
            <a:gdLst>
              <a:gd name="T0" fmla="*/ 0 w 38"/>
              <a:gd name="T1" fmla="*/ 0 h 91"/>
              <a:gd name="T2" fmla="*/ 47782166 w 38"/>
              <a:gd name="T3" fmla="*/ 113405857 h 91"/>
              <a:gd name="T4" fmla="*/ 98220073 w 38"/>
              <a:gd name="T5" fmla="*/ 226813301 h 91"/>
              <a:gd name="T6" fmla="*/ 0 60000 65536"/>
              <a:gd name="T7" fmla="*/ 0 60000 65536"/>
              <a:gd name="T8" fmla="*/ 0 60000 65536"/>
              <a:gd name="T9" fmla="*/ 0 w 38"/>
              <a:gd name="T10" fmla="*/ 0 h 91"/>
              <a:gd name="T11" fmla="*/ 38 w 38"/>
              <a:gd name="T12" fmla="*/ 91 h 91"/>
            </a:gdLst>
            <a:ahLst/>
            <a:cxnLst>
              <a:cxn ang="T6">
                <a:pos x="T0" y="T1"/>
              </a:cxn>
              <a:cxn ang="T7">
                <a:pos x="T2" y="T3"/>
              </a:cxn>
              <a:cxn ang="T8">
                <a:pos x="T4" y="T5"/>
              </a:cxn>
            </a:cxnLst>
            <a:rect l="T9" t="T10" r="T11" b="T12"/>
            <a:pathLst>
              <a:path w="38" h="91">
                <a:moveTo>
                  <a:pt x="0" y="0"/>
                </a:moveTo>
                <a:lnTo>
                  <a:pt x="18" y="45"/>
                </a:lnTo>
                <a:lnTo>
                  <a:pt x="37" y="9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0" name="Freeform 72"/>
          <p:cNvSpPr>
            <a:spLocks/>
          </p:cNvSpPr>
          <p:nvPr/>
        </p:nvSpPr>
        <p:spPr bwMode="auto">
          <a:xfrm>
            <a:off x="5214938" y="1963738"/>
            <a:ext cx="63500" cy="144462"/>
          </a:xfrm>
          <a:custGeom>
            <a:avLst/>
            <a:gdLst>
              <a:gd name="T0" fmla="*/ 0 w 40"/>
              <a:gd name="T1" fmla="*/ 0 h 91"/>
              <a:gd name="T2" fmla="*/ 50403118 w 40"/>
              <a:gd name="T3" fmla="*/ 113405857 h 91"/>
              <a:gd name="T4" fmla="*/ 98286875 w 40"/>
              <a:gd name="T5" fmla="*/ 226813301 h 91"/>
              <a:gd name="T6" fmla="*/ 0 60000 65536"/>
              <a:gd name="T7" fmla="*/ 0 60000 65536"/>
              <a:gd name="T8" fmla="*/ 0 60000 65536"/>
              <a:gd name="T9" fmla="*/ 0 w 40"/>
              <a:gd name="T10" fmla="*/ 0 h 91"/>
              <a:gd name="T11" fmla="*/ 40 w 40"/>
              <a:gd name="T12" fmla="*/ 91 h 91"/>
            </a:gdLst>
            <a:ahLst/>
            <a:cxnLst>
              <a:cxn ang="T6">
                <a:pos x="T0" y="T1"/>
              </a:cxn>
              <a:cxn ang="T7">
                <a:pos x="T2" y="T3"/>
              </a:cxn>
              <a:cxn ang="T8">
                <a:pos x="T4" y="T5"/>
              </a:cxn>
            </a:cxnLst>
            <a:rect l="T9" t="T10" r="T11" b="T12"/>
            <a:pathLst>
              <a:path w="40" h="91">
                <a:moveTo>
                  <a:pt x="0" y="0"/>
                </a:moveTo>
                <a:lnTo>
                  <a:pt x="20" y="45"/>
                </a:lnTo>
                <a:lnTo>
                  <a:pt x="39" y="9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1" name="Freeform 73"/>
          <p:cNvSpPr>
            <a:spLocks/>
          </p:cNvSpPr>
          <p:nvPr/>
        </p:nvSpPr>
        <p:spPr bwMode="auto">
          <a:xfrm>
            <a:off x="5276850" y="2106613"/>
            <a:ext cx="61913" cy="138112"/>
          </a:xfrm>
          <a:custGeom>
            <a:avLst/>
            <a:gdLst>
              <a:gd name="T0" fmla="*/ 0 w 39"/>
              <a:gd name="T1" fmla="*/ 0 h 87"/>
              <a:gd name="T2" fmla="*/ 47884143 w 39"/>
              <a:gd name="T3" fmla="*/ 110886484 h 87"/>
              <a:gd name="T4" fmla="*/ 95766698 w 39"/>
              <a:gd name="T5" fmla="*/ 216732676 h 87"/>
              <a:gd name="T6" fmla="*/ 0 60000 65536"/>
              <a:gd name="T7" fmla="*/ 0 60000 65536"/>
              <a:gd name="T8" fmla="*/ 0 60000 65536"/>
              <a:gd name="T9" fmla="*/ 0 w 39"/>
              <a:gd name="T10" fmla="*/ 0 h 87"/>
              <a:gd name="T11" fmla="*/ 39 w 39"/>
              <a:gd name="T12" fmla="*/ 87 h 87"/>
            </a:gdLst>
            <a:ahLst/>
            <a:cxnLst>
              <a:cxn ang="T6">
                <a:pos x="T0" y="T1"/>
              </a:cxn>
              <a:cxn ang="T7">
                <a:pos x="T2" y="T3"/>
              </a:cxn>
              <a:cxn ang="T8">
                <a:pos x="T4" y="T5"/>
              </a:cxn>
            </a:cxnLst>
            <a:rect l="T9" t="T10" r="T11" b="T12"/>
            <a:pathLst>
              <a:path w="39" h="87">
                <a:moveTo>
                  <a:pt x="0" y="0"/>
                </a:moveTo>
                <a:lnTo>
                  <a:pt x="19" y="44"/>
                </a:lnTo>
                <a:lnTo>
                  <a:pt x="38" y="8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2" name="Freeform 74"/>
          <p:cNvSpPr>
            <a:spLocks/>
          </p:cNvSpPr>
          <p:nvPr/>
        </p:nvSpPr>
        <p:spPr bwMode="auto">
          <a:xfrm>
            <a:off x="5338763" y="2243138"/>
            <a:ext cx="60325" cy="130175"/>
          </a:xfrm>
          <a:custGeom>
            <a:avLst/>
            <a:gdLst>
              <a:gd name="T0" fmla="*/ 0 w 39"/>
              <a:gd name="T1" fmla="*/ 0 h 82"/>
              <a:gd name="T2" fmla="*/ 45458749 w 39"/>
              <a:gd name="T3" fmla="*/ 103327186 h 82"/>
              <a:gd name="T4" fmla="*/ 90917498 w 39"/>
              <a:gd name="T5" fmla="*/ 204133424 h 82"/>
              <a:gd name="T6" fmla="*/ 0 60000 65536"/>
              <a:gd name="T7" fmla="*/ 0 60000 65536"/>
              <a:gd name="T8" fmla="*/ 0 60000 65536"/>
              <a:gd name="T9" fmla="*/ 0 w 39"/>
              <a:gd name="T10" fmla="*/ 0 h 82"/>
              <a:gd name="T11" fmla="*/ 39 w 39"/>
              <a:gd name="T12" fmla="*/ 82 h 82"/>
            </a:gdLst>
            <a:ahLst/>
            <a:cxnLst>
              <a:cxn ang="T6">
                <a:pos x="T0" y="T1"/>
              </a:cxn>
              <a:cxn ang="T7">
                <a:pos x="T2" y="T3"/>
              </a:cxn>
              <a:cxn ang="T8">
                <a:pos x="T4" y="T5"/>
              </a:cxn>
            </a:cxnLst>
            <a:rect l="T9" t="T10" r="T11" b="T12"/>
            <a:pathLst>
              <a:path w="39" h="82">
                <a:moveTo>
                  <a:pt x="0" y="0"/>
                </a:moveTo>
                <a:lnTo>
                  <a:pt x="19" y="41"/>
                </a:lnTo>
                <a:lnTo>
                  <a:pt x="38" y="81"/>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3" name="Freeform 75"/>
          <p:cNvSpPr>
            <a:spLocks/>
          </p:cNvSpPr>
          <p:nvPr/>
        </p:nvSpPr>
        <p:spPr bwMode="auto">
          <a:xfrm>
            <a:off x="5397500" y="2371725"/>
            <a:ext cx="61913" cy="122238"/>
          </a:xfrm>
          <a:custGeom>
            <a:avLst/>
            <a:gdLst>
              <a:gd name="T0" fmla="*/ 0 w 39"/>
              <a:gd name="T1" fmla="*/ 0 h 77"/>
              <a:gd name="T2" fmla="*/ 45363174 w 39"/>
              <a:gd name="T3" fmla="*/ 98287275 h 77"/>
              <a:gd name="T4" fmla="*/ 95766698 w 39"/>
              <a:gd name="T5" fmla="*/ 191532632 h 77"/>
              <a:gd name="T6" fmla="*/ 0 60000 65536"/>
              <a:gd name="T7" fmla="*/ 0 60000 65536"/>
              <a:gd name="T8" fmla="*/ 0 60000 65536"/>
              <a:gd name="T9" fmla="*/ 0 w 39"/>
              <a:gd name="T10" fmla="*/ 0 h 77"/>
              <a:gd name="T11" fmla="*/ 39 w 39"/>
              <a:gd name="T12" fmla="*/ 77 h 77"/>
            </a:gdLst>
            <a:ahLst/>
            <a:cxnLst>
              <a:cxn ang="T6">
                <a:pos x="T0" y="T1"/>
              </a:cxn>
              <a:cxn ang="T7">
                <a:pos x="T2" y="T3"/>
              </a:cxn>
              <a:cxn ang="T8">
                <a:pos x="T4" y="T5"/>
              </a:cxn>
            </a:cxnLst>
            <a:rect l="T9" t="T10" r="T11" b="T12"/>
            <a:pathLst>
              <a:path w="39" h="77">
                <a:moveTo>
                  <a:pt x="0" y="0"/>
                </a:moveTo>
                <a:lnTo>
                  <a:pt x="18" y="39"/>
                </a:lnTo>
                <a:lnTo>
                  <a:pt x="38" y="7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4" name="Freeform 76"/>
          <p:cNvSpPr>
            <a:spLocks/>
          </p:cNvSpPr>
          <p:nvPr/>
        </p:nvSpPr>
        <p:spPr bwMode="auto">
          <a:xfrm>
            <a:off x="5459413" y="2492375"/>
            <a:ext cx="60325" cy="112713"/>
          </a:xfrm>
          <a:custGeom>
            <a:avLst/>
            <a:gdLst>
              <a:gd name="T0" fmla="*/ 0 w 39"/>
              <a:gd name="T1" fmla="*/ 0 h 71"/>
              <a:gd name="T2" fmla="*/ 45458749 w 39"/>
              <a:gd name="T3" fmla="*/ 88206641 h 71"/>
              <a:gd name="T4" fmla="*/ 90917498 w 39"/>
              <a:gd name="T5" fmla="*/ 176411694 h 71"/>
              <a:gd name="T6" fmla="*/ 0 60000 65536"/>
              <a:gd name="T7" fmla="*/ 0 60000 65536"/>
              <a:gd name="T8" fmla="*/ 0 60000 65536"/>
              <a:gd name="T9" fmla="*/ 0 w 39"/>
              <a:gd name="T10" fmla="*/ 0 h 71"/>
              <a:gd name="T11" fmla="*/ 39 w 39"/>
              <a:gd name="T12" fmla="*/ 71 h 71"/>
            </a:gdLst>
            <a:ahLst/>
            <a:cxnLst>
              <a:cxn ang="T6">
                <a:pos x="T0" y="T1"/>
              </a:cxn>
              <a:cxn ang="T7">
                <a:pos x="T2" y="T3"/>
              </a:cxn>
              <a:cxn ang="T8">
                <a:pos x="T4" y="T5"/>
              </a:cxn>
            </a:cxnLst>
            <a:rect l="T9" t="T10" r="T11" b="T12"/>
            <a:pathLst>
              <a:path w="39" h="71">
                <a:moveTo>
                  <a:pt x="0" y="0"/>
                </a:moveTo>
                <a:lnTo>
                  <a:pt x="19" y="35"/>
                </a:lnTo>
                <a:lnTo>
                  <a:pt x="38" y="7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5" name="Freeform 77"/>
          <p:cNvSpPr>
            <a:spLocks/>
          </p:cNvSpPr>
          <p:nvPr/>
        </p:nvSpPr>
        <p:spPr bwMode="auto">
          <a:xfrm>
            <a:off x="5518150" y="2603500"/>
            <a:ext cx="61913" cy="100013"/>
          </a:xfrm>
          <a:custGeom>
            <a:avLst/>
            <a:gdLst>
              <a:gd name="T0" fmla="*/ 0 w 39"/>
              <a:gd name="T1" fmla="*/ 0 h 63"/>
              <a:gd name="T2" fmla="*/ 47884143 w 39"/>
              <a:gd name="T3" fmla="*/ 78126034 h 63"/>
              <a:gd name="T4" fmla="*/ 95766698 w 39"/>
              <a:gd name="T5" fmla="*/ 156250480 h 63"/>
              <a:gd name="T6" fmla="*/ 0 60000 65536"/>
              <a:gd name="T7" fmla="*/ 0 60000 65536"/>
              <a:gd name="T8" fmla="*/ 0 60000 65536"/>
              <a:gd name="T9" fmla="*/ 0 w 39"/>
              <a:gd name="T10" fmla="*/ 0 h 63"/>
              <a:gd name="T11" fmla="*/ 39 w 39"/>
              <a:gd name="T12" fmla="*/ 63 h 63"/>
            </a:gdLst>
            <a:ahLst/>
            <a:cxnLst>
              <a:cxn ang="T6">
                <a:pos x="T0" y="T1"/>
              </a:cxn>
              <a:cxn ang="T7">
                <a:pos x="T2" y="T3"/>
              </a:cxn>
              <a:cxn ang="T8">
                <a:pos x="T4" y="T5"/>
              </a:cxn>
            </a:cxnLst>
            <a:rect l="T9" t="T10" r="T11" b="T12"/>
            <a:pathLst>
              <a:path w="39" h="63">
                <a:moveTo>
                  <a:pt x="0" y="0"/>
                </a:moveTo>
                <a:lnTo>
                  <a:pt x="19" y="31"/>
                </a:lnTo>
                <a:lnTo>
                  <a:pt x="38" y="62"/>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6" name="Freeform 78"/>
          <p:cNvSpPr>
            <a:spLocks/>
          </p:cNvSpPr>
          <p:nvPr/>
        </p:nvSpPr>
        <p:spPr bwMode="auto">
          <a:xfrm>
            <a:off x="5580063" y="2701925"/>
            <a:ext cx="63500" cy="90488"/>
          </a:xfrm>
          <a:custGeom>
            <a:avLst/>
            <a:gdLst>
              <a:gd name="T0" fmla="*/ 0 w 40"/>
              <a:gd name="T1" fmla="*/ 0 h 57"/>
              <a:gd name="T2" fmla="*/ 47883757 w 40"/>
              <a:gd name="T3" fmla="*/ 73085734 h 57"/>
              <a:gd name="T4" fmla="*/ 98286875 w 40"/>
              <a:gd name="T5" fmla="*/ 141129542 h 57"/>
              <a:gd name="T6" fmla="*/ 0 60000 65536"/>
              <a:gd name="T7" fmla="*/ 0 60000 65536"/>
              <a:gd name="T8" fmla="*/ 0 60000 65536"/>
              <a:gd name="T9" fmla="*/ 0 w 40"/>
              <a:gd name="T10" fmla="*/ 0 h 57"/>
              <a:gd name="T11" fmla="*/ 40 w 40"/>
              <a:gd name="T12" fmla="*/ 57 h 57"/>
            </a:gdLst>
            <a:ahLst/>
            <a:cxnLst>
              <a:cxn ang="T6">
                <a:pos x="T0" y="T1"/>
              </a:cxn>
              <a:cxn ang="T7">
                <a:pos x="T2" y="T3"/>
              </a:cxn>
              <a:cxn ang="T8">
                <a:pos x="T4" y="T5"/>
              </a:cxn>
            </a:cxnLst>
            <a:rect l="T9" t="T10" r="T11" b="T12"/>
            <a:pathLst>
              <a:path w="40" h="57">
                <a:moveTo>
                  <a:pt x="0" y="0"/>
                </a:moveTo>
                <a:lnTo>
                  <a:pt x="19" y="29"/>
                </a:lnTo>
                <a:lnTo>
                  <a:pt x="39" y="5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7" name="Freeform 79"/>
          <p:cNvSpPr>
            <a:spLocks/>
          </p:cNvSpPr>
          <p:nvPr/>
        </p:nvSpPr>
        <p:spPr bwMode="auto">
          <a:xfrm>
            <a:off x="5640388" y="2790825"/>
            <a:ext cx="60325" cy="82550"/>
          </a:xfrm>
          <a:custGeom>
            <a:avLst/>
            <a:gdLst>
              <a:gd name="T0" fmla="*/ 0 w 38"/>
              <a:gd name="T1" fmla="*/ 0 h 52"/>
              <a:gd name="T2" fmla="*/ 45362807 w 38"/>
              <a:gd name="T3" fmla="*/ 65524068 h 52"/>
              <a:gd name="T4" fmla="*/ 93246562 w 38"/>
              <a:gd name="T5" fmla="*/ 128528774 h 52"/>
              <a:gd name="T6" fmla="*/ 0 60000 65536"/>
              <a:gd name="T7" fmla="*/ 0 60000 65536"/>
              <a:gd name="T8" fmla="*/ 0 60000 65536"/>
              <a:gd name="T9" fmla="*/ 0 w 38"/>
              <a:gd name="T10" fmla="*/ 0 h 52"/>
              <a:gd name="T11" fmla="*/ 38 w 38"/>
              <a:gd name="T12" fmla="*/ 52 h 52"/>
            </a:gdLst>
            <a:ahLst/>
            <a:cxnLst>
              <a:cxn ang="T6">
                <a:pos x="T0" y="T1"/>
              </a:cxn>
              <a:cxn ang="T7">
                <a:pos x="T2" y="T3"/>
              </a:cxn>
              <a:cxn ang="T8">
                <a:pos x="T4" y="T5"/>
              </a:cxn>
            </a:cxnLst>
            <a:rect l="T9" t="T10" r="T11" b="T12"/>
            <a:pathLst>
              <a:path w="38" h="52">
                <a:moveTo>
                  <a:pt x="0" y="0"/>
                </a:moveTo>
                <a:lnTo>
                  <a:pt x="18" y="26"/>
                </a:lnTo>
                <a:lnTo>
                  <a:pt x="37" y="51"/>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8" name="Freeform 80"/>
          <p:cNvSpPr>
            <a:spLocks/>
          </p:cNvSpPr>
          <p:nvPr/>
        </p:nvSpPr>
        <p:spPr bwMode="auto">
          <a:xfrm>
            <a:off x="5700713" y="2871788"/>
            <a:ext cx="60325" cy="71437"/>
          </a:xfrm>
          <a:custGeom>
            <a:avLst/>
            <a:gdLst>
              <a:gd name="T0" fmla="*/ 0 w 39"/>
              <a:gd name="T1" fmla="*/ 0 h 45"/>
              <a:gd name="T2" fmla="*/ 45458749 w 39"/>
              <a:gd name="T3" fmla="*/ 57962399 h 45"/>
              <a:gd name="T4" fmla="*/ 90917498 w 39"/>
              <a:gd name="T5" fmla="*/ 110886111 h 45"/>
              <a:gd name="T6" fmla="*/ 0 60000 65536"/>
              <a:gd name="T7" fmla="*/ 0 60000 65536"/>
              <a:gd name="T8" fmla="*/ 0 60000 65536"/>
              <a:gd name="T9" fmla="*/ 0 w 39"/>
              <a:gd name="T10" fmla="*/ 0 h 45"/>
              <a:gd name="T11" fmla="*/ 39 w 39"/>
              <a:gd name="T12" fmla="*/ 45 h 45"/>
            </a:gdLst>
            <a:ahLst/>
            <a:cxnLst>
              <a:cxn ang="T6">
                <a:pos x="T0" y="T1"/>
              </a:cxn>
              <a:cxn ang="T7">
                <a:pos x="T2" y="T3"/>
              </a:cxn>
              <a:cxn ang="T8">
                <a:pos x="T4" y="T5"/>
              </a:cxn>
            </a:cxnLst>
            <a:rect l="T9" t="T10" r="T11" b="T12"/>
            <a:pathLst>
              <a:path w="39" h="45">
                <a:moveTo>
                  <a:pt x="0" y="0"/>
                </a:moveTo>
                <a:lnTo>
                  <a:pt x="19" y="23"/>
                </a:lnTo>
                <a:lnTo>
                  <a:pt x="38" y="4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9" name="Freeform 81"/>
          <p:cNvSpPr>
            <a:spLocks/>
          </p:cNvSpPr>
          <p:nvPr/>
        </p:nvSpPr>
        <p:spPr bwMode="auto">
          <a:xfrm>
            <a:off x="5759450" y="2941638"/>
            <a:ext cx="63500" cy="63500"/>
          </a:xfrm>
          <a:custGeom>
            <a:avLst/>
            <a:gdLst>
              <a:gd name="T0" fmla="*/ 0 w 40"/>
              <a:gd name="T1" fmla="*/ 0 h 40"/>
              <a:gd name="T2" fmla="*/ 47883757 w 40"/>
              <a:gd name="T3" fmla="*/ 50403118 h 40"/>
              <a:gd name="T4" fmla="*/ 98286875 w 40"/>
              <a:gd name="T5" fmla="*/ 98286875 h 40"/>
              <a:gd name="T6" fmla="*/ 0 60000 65536"/>
              <a:gd name="T7" fmla="*/ 0 60000 65536"/>
              <a:gd name="T8" fmla="*/ 0 60000 65536"/>
              <a:gd name="T9" fmla="*/ 0 w 40"/>
              <a:gd name="T10" fmla="*/ 0 h 40"/>
              <a:gd name="T11" fmla="*/ 40 w 40"/>
              <a:gd name="T12" fmla="*/ 40 h 40"/>
            </a:gdLst>
            <a:ahLst/>
            <a:cxnLst>
              <a:cxn ang="T6">
                <a:pos x="T0" y="T1"/>
              </a:cxn>
              <a:cxn ang="T7">
                <a:pos x="T2" y="T3"/>
              </a:cxn>
              <a:cxn ang="T8">
                <a:pos x="T4" y="T5"/>
              </a:cxn>
            </a:cxnLst>
            <a:rect l="T9" t="T10" r="T11" b="T12"/>
            <a:pathLst>
              <a:path w="40" h="40">
                <a:moveTo>
                  <a:pt x="0" y="0"/>
                </a:moveTo>
                <a:lnTo>
                  <a:pt x="19" y="20"/>
                </a:lnTo>
                <a:lnTo>
                  <a:pt x="39" y="39"/>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70" name="Freeform 82"/>
          <p:cNvSpPr>
            <a:spLocks/>
          </p:cNvSpPr>
          <p:nvPr/>
        </p:nvSpPr>
        <p:spPr bwMode="auto">
          <a:xfrm>
            <a:off x="5821363" y="3003550"/>
            <a:ext cx="63500" cy="57150"/>
          </a:xfrm>
          <a:custGeom>
            <a:avLst/>
            <a:gdLst>
              <a:gd name="T0" fmla="*/ 0 w 39"/>
              <a:gd name="T1" fmla="*/ 0 h 36"/>
              <a:gd name="T2" fmla="*/ 50370147 w 39"/>
              <a:gd name="T3" fmla="*/ 45362806 h 36"/>
              <a:gd name="T4" fmla="*/ 100740294 w 39"/>
              <a:gd name="T5" fmla="*/ 88206250 h 36"/>
              <a:gd name="T6" fmla="*/ 0 60000 65536"/>
              <a:gd name="T7" fmla="*/ 0 60000 65536"/>
              <a:gd name="T8" fmla="*/ 0 60000 65536"/>
              <a:gd name="T9" fmla="*/ 0 w 39"/>
              <a:gd name="T10" fmla="*/ 0 h 36"/>
              <a:gd name="T11" fmla="*/ 39 w 39"/>
              <a:gd name="T12" fmla="*/ 36 h 36"/>
            </a:gdLst>
            <a:ahLst/>
            <a:cxnLst>
              <a:cxn ang="T6">
                <a:pos x="T0" y="T1"/>
              </a:cxn>
              <a:cxn ang="T7">
                <a:pos x="T2" y="T3"/>
              </a:cxn>
              <a:cxn ang="T8">
                <a:pos x="T4" y="T5"/>
              </a:cxn>
            </a:cxnLst>
            <a:rect l="T9" t="T10" r="T11" b="T12"/>
            <a:pathLst>
              <a:path w="39" h="36">
                <a:moveTo>
                  <a:pt x="0" y="0"/>
                </a:moveTo>
                <a:lnTo>
                  <a:pt x="19" y="18"/>
                </a:lnTo>
                <a:lnTo>
                  <a:pt x="38" y="35"/>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71" name="Freeform 83"/>
          <p:cNvSpPr>
            <a:spLocks/>
          </p:cNvSpPr>
          <p:nvPr/>
        </p:nvSpPr>
        <p:spPr bwMode="auto">
          <a:xfrm>
            <a:off x="5881688" y="3059113"/>
            <a:ext cx="60325" cy="47625"/>
          </a:xfrm>
          <a:custGeom>
            <a:avLst/>
            <a:gdLst>
              <a:gd name="T0" fmla="*/ 0 w 38"/>
              <a:gd name="T1" fmla="*/ 0 h 30"/>
              <a:gd name="T2" fmla="*/ 45362807 w 38"/>
              <a:gd name="T3" fmla="*/ 37803140 h 30"/>
              <a:gd name="T4" fmla="*/ 93246562 w 38"/>
              <a:gd name="T5" fmla="*/ 73085331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0" y="0"/>
                </a:moveTo>
                <a:lnTo>
                  <a:pt x="18" y="15"/>
                </a:lnTo>
                <a:lnTo>
                  <a:pt x="37" y="29"/>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72" name="Freeform 84"/>
          <p:cNvSpPr>
            <a:spLocks/>
          </p:cNvSpPr>
          <p:nvPr/>
        </p:nvSpPr>
        <p:spPr bwMode="auto">
          <a:xfrm>
            <a:off x="5942013" y="3105150"/>
            <a:ext cx="63500" cy="42863"/>
          </a:xfrm>
          <a:custGeom>
            <a:avLst/>
            <a:gdLst>
              <a:gd name="T0" fmla="*/ 0 w 40"/>
              <a:gd name="T1" fmla="*/ 0 h 27"/>
              <a:gd name="T2" fmla="*/ 47883757 w 40"/>
              <a:gd name="T3" fmla="*/ 35282602 h 27"/>
              <a:gd name="T4" fmla="*/ 98286875 w 40"/>
              <a:gd name="T5" fmla="*/ 65524833 h 27"/>
              <a:gd name="T6" fmla="*/ 0 60000 65536"/>
              <a:gd name="T7" fmla="*/ 0 60000 65536"/>
              <a:gd name="T8" fmla="*/ 0 60000 65536"/>
              <a:gd name="T9" fmla="*/ 0 w 40"/>
              <a:gd name="T10" fmla="*/ 0 h 27"/>
              <a:gd name="T11" fmla="*/ 40 w 40"/>
              <a:gd name="T12" fmla="*/ 27 h 27"/>
            </a:gdLst>
            <a:ahLst/>
            <a:cxnLst>
              <a:cxn ang="T6">
                <a:pos x="T0" y="T1"/>
              </a:cxn>
              <a:cxn ang="T7">
                <a:pos x="T2" y="T3"/>
              </a:cxn>
              <a:cxn ang="T8">
                <a:pos x="T4" y="T5"/>
              </a:cxn>
            </a:cxnLst>
            <a:rect l="T9" t="T10" r="T11" b="T12"/>
            <a:pathLst>
              <a:path w="40" h="27">
                <a:moveTo>
                  <a:pt x="0" y="0"/>
                </a:moveTo>
                <a:lnTo>
                  <a:pt x="19" y="14"/>
                </a:lnTo>
                <a:lnTo>
                  <a:pt x="39" y="2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73" name="Freeform 85"/>
          <p:cNvSpPr>
            <a:spLocks/>
          </p:cNvSpPr>
          <p:nvPr/>
        </p:nvSpPr>
        <p:spPr bwMode="auto">
          <a:xfrm>
            <a:off x="6002338" y="3146425"/>
            <a:ext cx="61912" cy="38100"/>
          </a:xfrm>
          <a:custGeom>
            <a:avLst/>
            <a:gdLst>
              <a:gd name="T0" fmla="*/ 0 w 39"/>
              <a:gd name="T1" fmla="*/ 0 h 24"/>
              <a:gd name="T2" fmla="*/ 47881782 w 39"/>
              <a:gd name="T3" fmla="*/ 32761239 h 24"/>
              <a:gd name="T4" fmla="*/ 95765151 w 39"/>
              <a:gd name="T5" fmla="*/ 57964394 h 24"/>
              <a:gd name="T6" fmla="*/ 0 60000 65536"/>
              <a:gd name="T7" fmla="*/ 0 60000 65536"/>
              <a:gd name="T8" fmla="*/ 0 60000 65536"/>
              <a:gd name="T9" fmla="*/ 0 w 39"/>
              <a:gd name="T10" fmla="*/ 0 h 24"/>
              <a:gd name="T11" fmla="*/ 39 w 39"/>
              <a:gd name="T12" fmla="*/ 24 h 24"/>
            </a:gdLst>
            <a:ahLst/>
            <a:cxnLst>
              <a:cxn ang="T6">
                <a:pos x="T0" y="T1"/>
              </a:cxn>
              <a:cxn ang="T7">
                <a:pos x="T2" y="T3"/>
              </a:cxn>
              <a:cxn ang="T8">
                <a:pos x="T4" y="T5"/>
              </a:cxn>
            </a:cxnLst>
            <a:rect l="T9" t="T10" r="T11" b="T12"/>
            <a:pathLst>
              <a:path w="39" h="24">
                <a:moveTo>
                  <a:pt x="0" y="0"/>
                </a:moveTo>
                <a:lnTo>
                  <a:pt x="19" y="13"/>
                </a:lnTo>
                <a:lnTo>
                  <a:pt x="38" y="23"/>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74" name="Freeform 86"/>
          <p:cNvSpPr>
            <a:spLocks/>
          </p:cNvSpPr>
          <p:nvPr/>
        </p:nvSpPr>
        <p:spPr bwMode="auto">
          <a:xfrm>
            <a:off x="6062663" y="3182938"/>
            <a:ext cx="63500" cy="30162"/>
          </a:xfrm>
          <a:custGeom>
            <a:avLst/>
            <a:gdLst>
              <a:gd name="T0" fmla="*/ 0 w 39"/>
              <a:gd name="T1" fmla="*/ 0 h 19"/>
              <a:gd name="T2" fmla="*/ 50370147 w 39"/>
              <a:gd name="T3" fmla="*/ 25201141 h 19"/>
              <a:gd name="T4" fmla="*/ 100740294 w 39"/>
              <a:gd name="T5" fmla="*/ 45362055 h 19"/>
              <a:gd name="T6" fmla="*/ 0 60000 65536"/>
              <a:gd name="T7" fmla="*/ 0 60000 65536"/>
              <a:gd name="T8" fmla="*/ 0 60000 65536"/>
              <a:gd name="T9" fmla="*/ 0 w 39"/>
              <a:gd name="T10" fmla="*/ 0 h 19"/>
              <a:gd name="T11" fmla="*/ 39 w 39"/>
              <a:gd name="T12" fmla="*/ 19 h 19"/>
            </a:gdLst>
            <a:ahLst/>
            <a:cxnLst>
              <a:cxn ang="T6">
                <a:pos x="T0" y="T1"/>
              </a:cxn>
              <a:cxn ang="T7">
                <a:pos x="T2" y="T3"/>
              </a:cxn>
              <a:cxn ang="T8">
                <a:pos x="T4" y="T5"/>
              </a:cxn>
            </a:cxnLst>
            <a:rect l="T9" t="T10" r="T11" b="T12"/>
            <a:pathLst>
              <a:path w="39" h="19">
                <a:moveTo>
                  <a:pt x="0" y="0"/>
                </a:moveTo>
                <a:lnTo>
                  <a:pt x="19" y="10"/>
                </a:lnTo>
                <a:lnTo>
                  <a:pt x="38" y="18"/>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75" name="Line 87"/>
          <p:cNvSpPr>
            <a:spLocks noChangeShapeType="1"/>
          </p:cNvSpPr>
          <p:nvPr/>
        </p:nvSpPr>
        <p:spPr bwMode="auto">
          <a:xfrm>
            <a:off x="6122988" y="3211513"/>
            <a:ext cx="60325" cy="2540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76" name="Freeform 88"/>
          <p:cNvSpPr>
            <a:spLocks/>
          </p:cNvSpPr>
          <p:nvPr/>
        </p:nvSpPr>
        <p:spPr bwMode="auto">
          <a:xfrm>
            <a:off x="6183313" y="3236913"/>
            <a:ext cx="63500" cy="26987"/>
          </a:xfrm>
          <a:custGeom>
            <a:avLst/>
            <a:gdLst>
              <a:gd name="T0" fmla="*/ 0 w 39"/>
              <a:gd name="T1" fmla="*/ 0 h 17"/>
              <a:gd name="T2" fmla="*/ 50370147 w 39"/>
              <a:gd name="T3" fmla="*/ 20160874 h 17"/>
              <a:gd name="T4" fmla="*/ 100740294 w 39"/>
              <a:gd name="T5" fmla="*/ 40321747 h 17"/>
              <a:gd name="T6" fmla="*/ 0 60000 65536"/>
              <a:gd name="T7" fmla="*/ 0 60000 65536"/>
              <a:gd name="T8" fmla="*/ 0 60000 65536"/>
              <a:gd name="T9" fmla="*/ 0 w 39"/>
              <a:gd name="T10" fmla="*/ 0 h 17"/>
              <a:gd name="T11" fmla="*/ 39 w 39"/>
              <a:gd name="T12" fmla="*/ 17 h 17"/>
            </a:gdLst>
            <a:ahLst/>
            <a:cxnLst>
              <a:cxn ang="T6">
                <a:pos x="T0" y="T1"/>
              </a:cxn>
              <a:cxn ang="T7">
                <a:pos x="T2" y="T3"/>
              </a:cxn>
              <a:cxn ang="T8">
                <a:pos x="T4" y="T5"/>
              </a:cxn>
            </a:cxnLst>
            <a:rect l="T9" t="T10" r="T11" b="T12"/>
            <a:pathLst>
              <a:path w="39" h="17">
                <a:moveTo>
                  <a:pt x="0" y="0"/>
                </a:moveTo>
                <a:lnTo>
                  <a:pt x="19" y="8"/>
                </a:lnTo>
                <a:lnTo>
                  <a:pt x="38"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77" name="Freeform 89"/>
          <p:cNvSpPr>
            <a:spLocks/>
          </p:cNvSpPr>
          <p:nvPr/>
        </p:nvSpPr>
        <p:spPr bwMode="auto">
          <a:xfrm>
            <a:off x="6243638" y="3260725"/>
            <a:ext cx="61912" cy="26988"/>
          </a:xfrm>
          <a:custGeom>
            <a:avLst/>
            <a:gdLst>
              <a:gd name="T0" fmla="*/ 0 w 39"/>
              <a:gd name="T1" fmla="*/ 0 h 17"/>
              <a:gd name="T2" fmla="*/ 47881782 w 39"/>
              <a:gd name="T3" fmla="*/ 20161621 h 17"/>
              <a:gd name="T4" fmla="*/ 95765151 w 39"/>
              <a:gd name="T5" fmla="*/ 40323241 h 17"/>
              <a:gd name="T6" fmla="*/ 0 60000 65536"/>
              <a:gd name="T7" fmla="*/ 0 60000 65536"/>
              <a:gd name="T8" fmla="*/ 0 60000 65536"/>
              <a:gd name="T9" fmla="*/ 0 w 39"/>
              <a:gd name="T10" fmla="*/ 0 h 17"/>
              <a:gd name="T11" fmla="*/ 39 w 39"/>
              <a:gd name="T12" fmla="*/ 17 h 17"/>
            </a:gdLst>
            <a:ahLst/>
            <a:cxnLst>
              <a:cxn ang="T6">
                <a:pos x="T0" y="T1"/>
              </a:cxn>
              <a:cxn ang="T7">
                <a:pos x="T2" y="T3"/>
              </a:cxn>
              <a:cxn ang="T8">
                <a:pos x="T4" y="T5"/>
              </a:cxn>
            </a:cxnLst>
            <a:rect l="T9" t="T10" r="T11" b="T12"/>
            <a:pathLst>
              <a:path w="39" h="17">
                <a:moveTo>
                  <a:pt x="0" y="0"/>
                </a:moveTo>
                <a:lnTo>
                  <a:pt x="19" y="8"/>
                </a:lnTo>
                <a:lnTo>
                  <a:pt x="38"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78" name="Line 90"/>
          <p:cNvSpPr>
            <a:spLocks noChangeShapeType="1"/>
          </p:cNvSpPr>
          <p:nvPr/>
        </p:nvSpPr>
        <p:spPr bwMode="auto">
          <a:xfrm>
            <a:off x="6303963" y="3278188"/>
            <a:ext cx="60325" cy="15875"/>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79" name="Line 91"/>
          <p:cNvSpPr>
            <a:spLocks noChangeShapeType="1"/>
          </p:cNvSpPr>
          <p:nvPr/>
        </p:nvSpPr>
        <p:spPr bwMode="auto">
          <a:xfrm>
            <a:off x="6364288" y="3294063"/>
            <a:ext cx="60325" cy="1270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80" name="Line 92"/>
          <p:cNvSpPr>
            <a:spLocks noChangeShapeType="1"/>
          </p:cNvSpPr>
          <p:nvPr/>
        </p:nvSpPr>
        <p:spPr bwMode="auto">
          <a:xfrm>
            <a:off x="6424613" y="3306763"/>
            <a:ext cx="60325" cy="9525"/>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81" name="Freeform 93"/>
          <p:cNvSpPr>
            <a:spLocks/>
          </p:cNvSpPr>
          <p:nvPr/>
        </p:nvSpPr>
        <p:spPr bwMode="auto">
          <a:xfrm>
            <a:off x="6484938" y="3316288"/>
            <a:ext cx="61912" cy="26987"/>
          </a:xfrm>
          <a:custGeom>
            <a:avLst/>
            <a:gdLst>
              <a:gd name="T0" fmla="*/ 0 w 39"/>
              <a:gd name="T1" fmla="*/ 0 h 17"/>
              <a:gd name="T2" fmla="*/ 47881782 w 39"/>
              <a:gd name="T3" fmla="*/ 22680188 h 17"/>
              <a:gd name="T4" fmla="*/ 95765151 w 39"/>
              <a:gd name="T5" fmla="*/ 40321747 h 17"/>
              <a:gd name="T6" fmla="*/ 0 60000 65536"/>
              <a:gd name="T7" fmla="*/ 0 60000 65536"/>
              <a:gd name="T8" fmla="*/ 0 60000 65536"/>
              <a:gd name="T9" fmla="*/ 0 w 39"/>
              <a:gd name="T10" fmla="*/ 0 h 17"/>
              <a:gd name="T11" fmla="*/ 39 w 39"/>
              <a:gd name="T12" fmla="*/ 17 h 17"/>
            </a:gdLst>
            <a:ahLst/>
            <a:cxnLst>
              <a:cxn ang="T6">
                <a:pos x="T0" y="T1"/>
              </a:cxn>
              <a:cxn ang="T7">
                <a:pos x="T2" y="T3"/>
              </a:cxn>
              <a:cxn ang="T8">
                <a:pos x="T4" y="T5"/>
              </a:cxn>
            </a:cxnLst>
            <a:rect l="T9" t="T10" r="T11" b="T12"/>
            <a:pathLst>
              <a:path w="39" h="17">
                <a:moveTo>
                  <a:pt x="0" y="0"/>
                </a:moveTo>
                <a:lnTo>
                  <a:pt x="19" y="9"/>
                </a:lnTo>
                <a:lnTo>
                  <a:pt x="38"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82" name="Line 94"/>
          <p:cNvSpPr>
            <a:spLocks noChangeShapeType="1"/>
          </p:cNvSpPr>
          <p:nvPr/>
        </p:nvSpPr>
        <p:spPr bwMode="auto">
          <a:xfrm>
            <a:off x="6545263" y="3324225"/>
            <a:ext cx="63500" cy="7938"/>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83" name="Freeform 95"/>
          <p:cNvSpPr>
            <a:spLocks/>
          </p:cNvSpPr>
          <p:nvPr/>
        </p:nvSpPr>
        <p:spPr bwMode="auto">
          <a:xfrm>
            <a:off x="6608763" y="3332163"/>
            <a:ext cx="58737" cy="1587"/>
          </a:xfrm>
          <a:custGeom>
            <a:avLst/>
            <a:gdLst>
              <a:gd name="T0" fmla="*/ 0 w 38"/>
              <a:gd name="T1" fmla="*/ 0 h 1"/>
              <a:gd name="T2" fmla="*/ 43006299 w 38"/>
              <a:gd name="T3" fmla="*/ 0 h 1"/>
              <a:gd name="T4" fmla="*/ 88400719 w 38"/>
              <a:gd name="T5" fmla="*/ 0 h 1"/>
              <a:gd name="T6" fmla="*/ 0 60000 65536"/>
              <a:gd name="T7" fmla="*/ 0 60000 65536"/>
              <a:gd name="T8" fmla="*/ 0 60000 65536"/>
              <a:gd name="T9" fmla="*/ 0 w 38"/>
              <a:gd name="T10" fmla="*/ 0 h 1"/>
              <a:gd name="T11" fmla="*/ 38 w 38"/>
              <a:gd name="T12" fmla="*/ 1 h 1"/>
            </a:gdLst>
            <a:ahLst/>
            <a:cxnLst>
              <a:cxn ang="T6">
                <a:pos x="T0" y="T1"/>
              </a:cxn>
              <a:cxn ang="T7">
                <a:pos x="T2" y="T3"/>
              </a:cxn>
              <a:cxn ang="T8">
                <a:pos x="T4" y="T5"/>
              </a:cxn>
            </a:cxnLst>
            <a:rect l="T9" t="T10" r="T11" b="T12"/>
            <a:pathLst>
              <a:path w="38" h="1">
                <a:moveTo>
                  <a:pt x="0" y="0"/>
                </a:moveTo>
                <a:lnTo>
                  <a:pt x="18" y="0"/>
                </a:lnTo>
                <a:lnTo>
                  <a:pt x="37"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84" name="Freeform 96"/>
          <p:cNvSpPr>
            <a:spLocks/>
          </p:cNvSpPr>
          <p:nvPr/>
        </p:nvSpPr>
        <p:spPr bwMode="auto">
          <a:xfrm>
            <a:off x="6665913" y="3324225"/>
            <a:ext cx="63500" cy="26988"/>
          </a:xfrm>
          <a:custGeom>
            <a:avLst/>
            <a:gdLst>
              <a:gd name="T0" fmla="*/ 0 w 39"/>
              <a:gd name="T1" fmla="*/ 40323241 h 17"/>
              <a:gd name="T2" fmla="*/ 50370147 w 39"/>
              <a:gd name="T3" fmla="*/ 22682616 h 17"/>
              <a:gd name="T4" fmla="*/ 100740294 w 39"/>
              <a:gd name="T5" fmla="*/ 0 h 17"/>
              <a:gd name="T6" fmla="*/ 0 60000 65536"/>
              <a:gd name="T7" fmla="*/ 0 60000 65536"/>
              <a:gd name="T8" fmla="*/ 0 60000 65536"/>
              <a:gd name="T9" fmla="*/ 0 w 39"/>
              <a:gd name="T10" fmla="*/ 0 h 17"/>
              <a:gd name="T11" fmla="*/ 39 w 39"/>
              <a:gd name="T12" fmla="*/ 17 h 17"/>
            </a:gdLst>
            <a:ahLst/>
            <a:cxnLst>
              <a:cxn ang="T6">
                <a:pos x="T0" y="T1"/>
              </a:cxn>
              <a:cxn ang="T7">
                <a:pos x="T2" y="T3"/>
              </a:cxn>
              <a:cxn ang="T8">
                <a:pos x="T4" y="T5"/>
              </a:cxn>
            </a:cxnLst>
            <a:rect l="T9" t="T10" r="T11" b="T12"/>
            <a:pathLst>
              <a:path w="39" h="17">
                <a:moveTo>
                  <a:pt x="0" y="16"/>
                </a:moveTo>
                <a:lnTo>
                  <a:pt x="19" y="9"/>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85" name="Freeform 97"/>
          <p:cNvSpPr>
            <a:spLocks/>
          </p:cNvSpPr>
          <p:nvPr/>
        </p:nvSpPr>
        <p:spPr bwMode="auto">
          <a:xfrm>
            <a:off x="6726238" y="3316288"/>
            <a:ext cx="63500" cy="26987"/>
          </a:xfrm>
          <a:custGeom>
            <a:avLst/>
            <a:gdLst>
              <a:gd name="T0" fmla="*/ 0 w 40"/>
              <a:gd name="T1" fmla="*/ 40321747 h 17"/>
              <a:gd name="T2" fmla="*/ 50403118 w 40"/>
              <a:gd name="T3" fmla="*/ 22680188 h 17"/>
              <a:gd name="T4" fmla="*/ 98286875 w 40"/>
              <a:gd name="T5" fmla="*/ 0 h 17"/>
              <a:gd name="T6" fmla="*/ 0 60000 65536"/>
              <a:gd name="T7" fmla="*/ 0 60000 65536"/>
              <a:gd name="T8" fmla="*/ 0 60000 65536"/>
              <a:gd name="T9" fmla="*/ 0 w 40"/>
              <a:gd name="T10" fmla="*/ 0 h 17"/>
              <a:gd name="T11" fmla="*/ 40 w 40"/>
              <a:gd name="T12" fmla="*/ 17 h 17"/>
            </a:gdLst>
            <a:ahLst/>
            <a:cxnLst>
              <a:cxn ang="T6">
                <a:pos x="T0" y="T1"/>
              </a:cxn>
              <a:cxn ang="T7">
                <a:pos x="T2" y="T3"/>
              </a:cxn>
              <a:cxn ang="T8">
                <a:pos x="T4" y="T5"/>
              </a:cxn>
            </a:cxnLst>
            <a:rect l="T9" t="T10" r="T11" b="T12"/>
            <a:pathLst>
              <a:path w="40" h="17">
                <a:moveTo>
                  <a:pt x="0" y="16"/>
                </a:moveTo>
                <a:lnTo>
                  <a:pt x="20" y="9"/>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86" name="Line 98"/>
          <p:cNvSpPr>
            <a:spLocks noChangeShapeType="1"/>
          </p:cNvSpPr>
          <p:nvPr/>
        </p:nvSpPr>
        <p:spPr bwMode="auto">
          <a:xfrm flipV="1">
            <a:off x="6788150" y="3306763"/>
            <a:ext cx="61913" cy="9525"/>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87" name="Line 99"/>
          <p:cNvSpPr>
            <a:spLocks noChangeShapeType="1"/>
          </p:cNvSpPr>
          <p:nvPr/>
        </p:nvSpPr>
        <p:spPr bwMode="auto">
          <a:xfrm flipV="1">
            <a:off x="6850063" y="3294063"/>
            <a:ext cx="57150" cy="1270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88" name="Line 100"/>
          <p:cNvSpPr>
            <a:spLocks noChangeShapeType="1"/>
          </p:cNvSpPr>
          <p:nvPr/>
        </p:nvSpPr>
        <p:spPr bwMode="auto">
          <a:xfrm flipV="1">
            <a:off x="6907213" y="3278188"/>
            <a:ext cx="63500" cy="15875"/>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89" name="Freeform 101"/>
          <p:cNvSpPr>
            <a:spLocks/>
          </p:cNvSpPr>
          <p:nvPr/>
        </p:nvSpPr>
        <p:spPr bwMode="auto">
          <a:xfrm>
            <a:off x="6970713" y="3260725"/>
            <a:ext cx="60325" cy="26988"/>
          </a:xfrm>
          <a:custGeom>
            <a:avLst/>
            <a:gdLst>
              <a:gd name="T0" fmla="*/ 0 w 39"/>
              <a:gd name="T1" fmla="*/ 40323241 h 17"/>
              <a:gd name="T2" fmla="*/ 45458749 w 39"/>
              <a:gd name="T3" fmla="*/ 20161621 h 17"/>
              <a:gd name="T4" fmla="*/ 90917498 w 39"/>
              <a:gd name="T5" fmla="*/ 0 h 17"/>
              <a:gd name="T6" fmla="*/ 0 60000 65536"/>
              <a:gd name="T7" fmla="*/ 0 60000 65536"/>
              <a:gd name="T8" fmla="*/ 0 60000 65536"/>
              <a:gd name="T9" fmla="*/ 0 w 39"/>
              <a:gd name="T10" fmla="*/ 0 h 17"/>
              <a:gd name="T11" fmla="*/ 39 w 39"/>
              <a:gd name="T12" fmla="*/ 17 h 17"/>
            </a:gdLst>
            <a:ahLst/>
            <a:cxnLst>
              <a:cxn ang="T6">
                <a:pos x="T0" y="T1"/>
              </a:cxn>
              <a:cxn ang="T7">
                <a:pos x="T2" y="T3"/>
              </a:cxn>
              <a:cxn ang="T8">
                <a:pos x="T4" y="T5"/>
              </a:cxn>
            </a:cxnLst>
            <a:rect l="T9" t="T10" r="T11" b="T12"/>
            <a:pathLst>
              <a:path w="39" h="17">
                <a:moveTo>
                  <a:pt x="0" y="16"/>
                </a:moveTo>
                <a:lnTo>
                  <a:pt x="19" y="8"/>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90" name="Freeform 102"/>
          <p:cNvSpPr>
            <a:spLocks/>
          </p:cNvSpPr>
          <p:nvPr/>
        </p:nvSpPr>
        <p:spPr bwMode="auto">
          <a:xfrm>
            <a:off x="7029450" y="3236913"/>
            <a:ext cx="61913" cy="26987"/>
          </a:xfrm>
          <a:custGeom>
            <a:avLst/>
            <a:gdLst>
              <a:gd name="T0" fmla="*/ 0 w 39"/>
              <a:gd name="T1" fmla="*/ 40321747 h 17"/>
              <a:gd name="T2" fmla="*/ 47884143 w 39"/>
              <a:gd name="T3" fmla="*/ 20160874 h 17"/>
              <a:gd name="T4" fmla="*/ 95766698 w 39"/>
              <a:gd name="T5" fmla="*/ 0 h 17"/>
              <a:gd name="T6" fmla="*/ 0 60000 65536"/>
              <a:gd name="T7" fmla="*/ 0 60000 65536"/>
              <a:gd name="T8" fmla="*/ 0 60000 65536"/>
              <a:gd name="T9" fmla="*/ 0 w 39"/>
              <a:gd name="T10" fmla="*/ 0 h 17"/>
              <a:gd name="T11" fmla="*/ 39 w 39"/>
              <a:gd name="T12" fmla="*/ 17 h 17"/>
            </a:gdLst>
            <a:ahLst/>
            <a:cxnLst>
              <a:cxn ang="T6">
                <a:pos x="T0" y="T1"/>
              </a:cxn>
              <a:cxn ang="T7">
                <a:pos x="T2" y="T3"/>
              </a:cxn>
              <a:cxn ang="T8">
                <a:pos x="T4" y="T5"/>
              </a:cxn>
            </a:cxnLst>
            <a:rect l="T9" t="T10" r="T11" b="T12"/>
            <a:pathLst>
              <a:path w="39" h="17">
                <a:moveTo>
                  <a:pt x="0" y="16"/>
                </a:moveTo>
                <a:lnTo>
                  <a:pt x="19" y="8"/>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91" name="Line 103"/>
          <p:cNvSpPr>
            <a:spLocks noChangeShapeType="1"/>
          </p:cNvSpPr>
          <p:nvPr/>
        </p:nvSpPr>
        <p:spPr bwMode="auto">
          <a:xfrm flipV="1">
            <a:off x="7091363" y="3211513"/>
            <a:ext cx="58737" cy="2540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92" name="Freeform 104"/>
          <p:cNvSpPr>
            <a:spLocks/>
          </p:cNvSpPr>
          <p:nvPr/>
        </p:nvSpPr>
        <p:spPr bwMode="auto">
          <a:xfrm>
            <a:off x="7150100" y="3182938"/>
            <a:ext cx="61913" cy="30162"/>
          </a:xfrm>
          <a:custGeom>
            <a:avLst/>
            <a:gdLst>
              <a:gd name="T0" fmla="*/ 0 w 39"/>
              <a:gd name="T1" fmla="*/ 45362055 h 19"/>
              <a:gd name="T2" fmla="*/ 47884143 w 39"/>
              <a:gd name="T3" fmla="*/ 25201141 h 19"/>
              <a:gd name="T4" fmla="*/ 95766698 w 39"/>
              <a:gd name="T5" fmla="*/ 0 h 19"/>
              <a:gd name="T6" fmla="*/ 0 60000 65536"/>
              <a:gd name="T7" fmla="*/ 0 60000 65536"/>
              <a:gd name="T8" fmla="*/ 0 60000 65536"/>
              <a:gd name="T9" fmla="*/ 0 w 39"/>
              <a:gd name="T10" fmla="*/ 0 h 19"/>
              <a:gd name="T11" fmla="*/ 39 w 39"/>
              <a:gd name="T12" fmla="*/ 19 h 19"/>
            </a:gdLst>
            <a:ahLst/>
            <a:cxnLst>
              <a:cxn ang="T6">
                <a:pos x="T0" y="T1"/>
              </a:cxn>
              <a:cxn ang="T7">
                <a:pos x="T2" y="T3"/>
              </a:cxn>
              <a:cxn ang="T8">
                <a:pos x="T4" y="T5"/>
              </a:cxn>
            </a:cxnLst>
            <a:rect l="T9" t="T10" r="T11" b="T12"/>
            <a:pathLst>
              <a:path w="39" h="19">
                <a:moveTo>
                  <a:pt x="0" y="18"/>
                </a:moveTo>
                <a:lnTo>
                  <a:pt x="19" y="10"/>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93" name="Freeform 105"/>
          <p:cNvSpPr>
            <a:spLocks/>
          </p:cNvSpPr>
          <p:nvPr/>
        </p:nvSpPr>
        <p:spPr bwMode="auto">
          <a:xfrm>
            <a:off x="7212013" y="3146425"/>
            <a:ext cx="60325" cy="38100"/>
          </a:xfrm>
          <a:custGeom>
            <a:avLst/>
            <a:gdLst>
              <a:gd name="T0" fmla="*/ 0 w 39"/>
              <a:gd name="T1" fmla="*/ 57964394 h 24"/>
              <a:gd name="T2" fmla="*/ 45458749 w 39"/>
              <a:gd name="T3" fmla="*/ 32761239 h 24"/>
              <a:gd name="T4" fmla="*/ 90917498 w 39"/>
              <a:gd name="T5" fmla="*/ 0 h 24"/>
              <a:gd name="T6" fmla="*/ 0 60000 65536"/>
              <a:gd name="T7" fmla="*/ 0 60000 65536"/>
              <a:gd name="T8" fmla="*/ 0 60000 65536"/>
              <a:gd name="T9" fmla="*/ 0 w 39"/>
              <a:gd name="T10" fmla="*/ 0 h 24"/>
              <a:gd name="T11" fmla="*/ 39 w 39"/>
              <a:gd name="T12" fmla="*/ 24 h 24"/>
            </a:gdLst>
            <a:ahLst/>
            <a:cxnLst>
              <a:cxn ang="T6">
                <a:pos x="T0" y="T1"/>
              </a:cxn>
              <a:cxn ang="T7">
                <a:pos x="T2" y="T3"/>
              </a:cxn>
              <a:cxn ang="T8">
                <a:pos x="T4" y="T5"/>
              </a:cxn>
            </a:cxnLst>
            <a:rect l="T9" t="T10" r="T11" b="T12"/>
            <a:pathLst>
              <a:path w="39" h="24">
                <a:moveTo>
                  <a:pt x="0" y="23"/>
                </a:moveTo>
                <a:lnTo>
                  <a:pt x="19" y="13"/>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94" name="Freeform 106"/>
          <p:cNvSpPr>
            <a:spLocks/>
          </p:cNvSpPr>
          <p:nvPr/>
        </p:nvSpPr>
        <p:spPr bwMode="auto">
          <a:xfrm>
            <a:off x="7270750" y="3105150"/>
            <a:ext cx="63500" cy="42863"/>
          </a:xfrm>
          <a:custGeom>
            <a:avLst/>
            <a:gdLst>
              <a:gd name="T0" fmla="*/ 0 w 40"/>
              <a:gd name="T1" fmla="*/ 65524833 h 27"/>
              <a:gd name="T2" fmla="*/ 47883757 w 40"/>
              <a:gd name="T3" fmla="*/ 35282602 h 27"/>
              <a:gd name="T4" fmla="*/ 98286875 w 40"/>
              <a:gd name="T5" fmla="*/ 0 h 27"/>
              <a:gd name="T6" fmla="*/ 0 60000 65536"/>
              <a:gd name="T7" fmla="*/ 0 60000 65536"/>
              <a:gd name="T8" fmla="*/ 0 60000 65536"/>
              <a:gd name="T9" fmla="*/ 0 w 40"/>
              <a:gd name="T10" fmla="*/ 0 h 27"/>
              <a:gd name="T11" fmla="*/ 40 w 40"/>
              <a:gd name="T12" fmla="*/ 27 h 27"/>
            </a:gdLst>
            <a:ahLst/>
            <a:cxnLst>
              <a:cxn ang="T6">
                <a:pos x="T0" y="T1"/>
              </a:cxn>
              <a:cxn ang="T7">
                <a:pos x="T2" y="T3"/>
              </a:cxn>
              <a:cxn ang="T8">
                <a:pos x="T4" y="T5"/>
              </a:cxn>
            </a:cxnLst>
            <a:rect l="T9" t="T10" r="T11" b="T12"/>
            <a:pathLst>
              <a:path w="40" h="27">
                <a:moveTo>
                  <a:pt x="0" y="26"/>
                </a:moveTo>
                <a:lnTo>
                  <a:pt x="19" y="14"/>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95" name="Freeform 107"/>
          <p:cNvSpPr>
            <a:spLocks/>
          </p:cNvSpPr>
          <p:nvPr/>
        </p:nvSpPr>
        <p:spPr bwMode="auto">
          <a:xfrm>
            <a:off x="7332663" y="3059113"/>
            <a:ext cx="60325" cy="47625"/>
          </a:xfrm>
          <a:custGeom>
            <a:avLst/>
            <a:gdLst>
              <a:gd name="T0" fmla="*/ 0 w 38"/>
              <a:gd name="T1" fmla="*/ 73085331 h 30"/>
              <a:gd name="T2" fmla="*/ 45362807 w 38"/>
              <a:gd name="T3" fmla="*/ 37803140 h 30"/>
              <a:gd name="T4" fmla="*/ 93246562 w 38"/>
              <a:gd name="T5" fmla="*/ 0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0" y="29"/>
                </a:moveTo>
                <a:lnTo>
                  <a:pt x="18" y="15"/>
                </a:lnTo>
                <a:lnTo>
                  <a:pt x="37"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96" name="Freeform 108"/>
          <p:cNvSpPr>
            <a:spLocks/>
          </p:cNvSpPr>
          <p:nvPr/>
        </p:nvSpPr>
        <p:spPr bwMode="auto">
          <a:xfrm>
            <a:off x="7391400" y="3003550"/>
            <a:ext cx="61913" cy="57150"/>
          </a:xfrm>
          <a:custGeom>
            <a:avLst/>
            <a:gdLst>
              <a:gd name="T0" fmla="*/ 0 w 39"/>
              <a:gd name="T1" fmla="*/ 88206250 h 36"/>
              <a:gd name="T2" fmla="*/ 47884143 w 39"/>
              <a:gd name="T3" fmla="*/ 45362806 h 36"/>
              <a:gd name="T4" fmla="*/ 95766698 w 39"/>
              <a:gd name="T5" fmla="*/ 0 h 36"/>
              <a:gd name="T6" fmla="*/ 0 60000 65536"/>
              <a:gd name="T7" fmla="*/ 0 60000 65536"/>
              <a:gd name="T8" fmla="*/ 0 60000 65536"/>
              <a:gd name="T9" fmla="*/ 0 w 39"/>
              <a:gd name="T10" fmla="*/ 0 h 36"/>
              <a:gd name="T11" fmla="*/ 39 w 39"/>
              <a:gd name="T12" fmla="*/ 36 h 36"/>
            </a:gdLst>
            <a:ahLst/>
            <a:cxnLst>
              <a:cxn ang="T6">
                <a:pos x="T0" y="T1"/>
              </a:cxn>
              <a:cxn ang="T7">
                <a:pos x="T2" y="T3"/>
              </a:cxn>
              <a:cxn ang="T8">
                <a:pos x="T4" y="T5"/>
              </a:cxn>
            </a:cxnLst>
            <a:rect l="T9" t="T10" r="T11" b="T12"/>
            <a:pathLst>
              <a:path w="39" h="36">
                <a:moveTo>
                  <a:pt x="0" y="35"/>
                </a:moveTo>
                <a:lnTo>
                  <a:pt x="19" y="18"/>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97" name="Freeform 109"/>
          <p:cNvSpPr>
            <a:spLocks/>
          </p:cNvSpPr>
          <p:nvPr/>
        </p:nvSpPr>
        <p:spPr bwMode="auto">
          <a:xfrm>
            <a:off x="7453313" y="2941638"/>
            <a:ext cx="63500" cy="63500"/>
          </a:xfrm>
          <a:custGeom>
            <a:avLst/>
            <a:gdLst>
              <a:gd name="T0" fmla="*/ 0 w 40"/>
              <a:gd name="T1" fmla="*/ 98286875 h 40"/>
              <a:gd name="T2" fmla="*/ 47883757 w 40"/>
              <a:gd name="T3" fmla="*/ 50403118 h 40"/>
              <a:gd name="T4" fmla="*/ 98286875 w 40"/>
              <a:gd name="T5" fmla="*/ 0 h 40"/>
              <a:gd name="T6" fmla="*/ 0 60000 65536"/>
              <a:gd name="T7" fmla="*/ 0 60000 65536"/>
              <a:gd name="T8" fmla="*/ 0 60000 65536"/>
              <a:gd name="T9" fmla="*/ 0 w 40"/>
              <a:gd name="T10" fmla="*/ 0 h 40"/>
              <a:gd name="T11" fmla="*/ 40 w 40"/>
              <a:gd name="T12" fmla="*/ 40 h 40"/>
            </a:gdLst>
            <a:ahLst/>
            <a:cxnLst>
              <a:cxn ang="T6">
                <a:pos x="T0" y="T1"/>
              </a:cxn>
              <a:cxn ang="T7">
                <a:pos x="T2" y="T3"/>
              </a:cxn>
              <a:cxn ang="T8">
                <a:pos x="T4" y="T5"/>
              </a:cxn>
            </a:cxnLst>
            <a:rect l="T9" t="T10" r="T11" b="T12"/>
            <a:pathLst>
              <a:path w="40" h="40">
                <a:moveTo>
                  <a:pt x="0" y="39"/>
                </a:moveTo>
                <a:lnTo>
                  <a:pt x="19" y="20"/>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98" name="Freeform 110"/>
          <p:cNvSpPr>
            <a:spLocks/>
          </p:cNvSpPr>
          <p:nvPr/>
        </p:nvSpPr>
        <p:spPr bwMode="auto">
          <a:xfrm>
            <a:off x="7513638" y="2871788"/>
            <a:ext cx="61912" cy="71437"/>
          </a:xfrm>
          <a:custGeom>
            <a:avLst/>
            <a:gdLst>
              <a:gd name="T0" fmla="*/ 0 w 39"/>
              <a:gd name="T1" fmla="*/ 110886111 h 45"/>
              <a:gd name="T2" fmla="*/ 47881782 w 39"/>
              <a:gd name="T3" fmla="*/ 57962399 h 45"/>
              <a:gd name="T4" fmla="*/ 95765151 w 39"/>
              <a:gd name="T5" fmla="*/ 0 h 45"/>
              <a:gd name="T6" fmla="*/ 0 60000 65536"/>
              <a:gd name="T7" fmla="*/ 0 60000 65536"/>
              <a:gd name="T8" fmla="*/ 0 60000 65536"/>
              <a:gd name="T9" fmla="*/ 0 w 39"/>
              <a:gd name="T10" fmla="*/ 0 h 45"/>
              <a:gd name="T11" fmla="*/ 39 w 39"/>
              <a:gd name="T12" fmla="*/ 45 h 45"/>
            </a:gdLst>
            <a:ahLst/>
            <a:cxnLst>
              <a:cxn ang="T6">
                <a:pos x="T0" y="T1"/>
              </a:cxn>
              <a:cxn ang="T7">
                <a:pos x="T2" y="T3"/>
              </a:cxn>
              <a:cxn ang="T8">
                <a:pos x="T4" y="T5"/>
              </a:cxn>
            </a:cxnLst>
            <a:rect l="T9" t="T10" r="T11" b="T12"/>
            <a:pathLst>
              <a:path w="39" h="45">
                <a:moveTo>
                  <a:pt x="0" y="44"/>
                </a:moveTo>
                <a:lnTo>
                  <a:pt x="19" y="23"/>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99" name="Freeform 111"/>
          <p:cNvSpPr>
            <a:spLocks/>
          </p:cNvSpPr>
          <p:nvPr/>
        </p:nvSpPr>
        <p:spPr bwMode="auto">
          <a:xfrm>
            <a:off x="7573963" y="2790825"/>
            <a:ext cx="60325" cy="82550"/>
          </a:xfrm>
          <a:custGeom>
            <a:avLst/>
            <a:gdLst>
              <a:gd name="T0" fmla="*/ 0 w 38"/>
              <a:gd name="T1" fmla="*/ 128528774 h 52"/>
              <a:gd name="T2" fmla="*/ 45362807 w 38"/>
              <a:gd name="T3" fmla="*/ 65524068 h 52"/>
              <a:gd name="T4" fmla="*/ 93246562 w 38"/>
              <a:gd name="T5" fmla="*/ 0 h 52"/>
              <a:gd name="T6" fmla="*/ 0 60000 65536"/>
              <a:gd name="T7" fmla="*/ 0 60000 65536"/>
              <a:gd name="T8" fmla="*/ 0 60000 65536"/>
              <a:gd name="T9" fmla="*/ 0 w 38"/>
              <a:gd name="T10" fmla="*/ 0 h 52"/>
              <a:gd name="T11" fmla="*/ 38 w 38"/>
              <a:gd name="T12" fmla="*/ 52 h 52"/>
            </a:gdLst>
            <a:ahLst/>
            <a:cxnLst>
              <a:cxn ang="T6">
                <a:pos x="T0" y="T1"/>
              </a:cxn>
              <a:cxn ang="T7">
                <a:pos x="T2" y="T3"/>
              </a:cxn>
              <a:cxn ang="T8">
                <a:pos x="T4" y="T5"/>
              </a:cxn>
            </a:cxnLst>
            <a:rect l="T9" t="T10" r="T11" b="T12"/>
            <a:pathLst>
              <a:path w="38" h="52">
                <a:moveTo>
                  <a:pt x="0" y="51"/>
                </a:moveTo>
                <a:lnTo>
                  <a:pt x="18" y="26"/>
                </a:lnTo>
                <a:lnTo>
                  <a:pt x="37"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0" name="Freeform 112"/>
          <p:cNvSpPr>
            <a:spLocks/>
          </p:cNvSpPr>
          <p:nvPr/>
        </p:nvSpPr>
        <p:spPr bwMode="auto">
          <a:xfrm>
            <a:off x="7632700" y="2701925"/>
            <a:ext cx="63500" cy="90488"/>
          </a:xfrm>
          <a:custGeom>
            <a:avLst/>
            <a:gdLst>
              <a:gd name="T0" fmla="*/ 0 w 40"/>
              <a:gd name="T1" fmla="*/ 141129542 h 57"/>
              <a:gd name="T2" fmla="*/ 47883757 w 40"/>
              <a:gd name="T3" fmla="*/ 73085734 h 57"/>
              <a:gd name="T4" fmla="*/ 98286875 w 40"/>
              <a:gd name="T5" fmla="*/ 0 h 57"/>
              <a:gd name="T6" fmla="*/ 0 60000 65536"/>
              <a:gd name="T7" fmla="*/ 0 60000 65536"/>
              <a:gd name="T8" fmla="*/ 0 60000 65536"/>
              <a:gd name="T9" fmla="*/ 0 w 40"/>
              <a:gd name="T10" fmla="*/ 0 h 57"/>
              <a:gd name="T11" fmla="*/ 40 w 40"/>
              <a:gd name="T12" fmla="*/ 57 h 57"/>
            </a:gdLst>
            <a:ahLst/>
            <a:cxnLst>
              <a:cxn ang="T6">
                <a:pos x="T0" y="T1"/>
              </a:cxn>
              <a:cxn ang="T7">
                <a:pos x="T2" y="T3"/>
              </a:cxn>
              <a:cxn ang="T8">
                <a:pos x="T4" y="T5"/>
              </a:cxn>
            </a:cxnLst>
            <a:rect l="T9" t="T10" r="T11" b="T12"/>
            <a:pathLst>
              <a:path w="40" h="57">
                <a:moveTo>
                  <a:pt x="0" y="56"/>
                </a:moveTo>
                <a:lnTo>
                  <a:pt x="19" y="29"/>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1" name="Freeform 113"/>
          <p:cNvSpPr>
            <a:spLocks/>
          </p:cNvSpPr>
          <p:nvPr/>
        </p:nvSpPr>
        <p:spPr bwMode="auto">
          <a:xfrm>
            <a:off x="7694613" y="2603500"/>
            <a:ext cx="63500" cy="100013"/>
          </a:xfrm>
          <a:custGeom>
            <a:avLst/>
            <a:gdLst>
              <a:gd name="T0" fmla="*/ 0 w 39"/>
              <a:gd name="T1" fmla="*/ 156250480 h 63"/>
              <a:gd name="T2" fmla="*/ 50370147 w 39"/>
              <a:gd name="T3" fmla="*/ 78126034 h 63"/>
              <a:gd name="T4" fmla="*/ 100740294 w 39"/>
              <a:gd name="T5" fmla="*/ 0 h 63"/>
              <a:gd name="T6" fmla="*/ 0 60000 65536"/>
              <a:gd name="T7" fmla="*/ 0 60000 65536"/>
              <a:gd name="T8" fmla="*/ 0 60000 65536"/>
              <a:gd name="T9" fmla="*/ 0 w 39"/>
              <a:gd name="T10" fmla="*/ 0 h 63"/>
              <a:gd name="T11" fmla="*/ 39 w 39"/>
              <a:gd name="T12" fmla="*/ 63 h 63"/>
            </a:gdLst>
            <a:ahLst/>
            <a:cxnLst>
              <a:cxn ang="T6">
                <a:pos x="T0" y="T1"/>
              </a:cxn>
              <a:cxn ang="T7">
                <a:pos x="T2" y="T3"/>
              </a:cxn>
              <a:cxn ang="T8">
                <a:pos x="T4" y="T5"/>
              </a:cxn>
            </a:cxnLst>
            <a:rect l="T9" t="T10" r="T11" b="T12"/>
            <a:pathLst>
              <a:path w="39" h="63">
                <a:moveTo>
                  <a:pt x="0" y="62"/>
                </a:moveTo>
                <a:lnTo>
                  <a:pt x="19" y="31"/>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2" name="Freeform 114"/>
          <p:cNvSpPr>
            <a:spLocks/>
          </p:cNvSpPr>
          <p:nvPr/>
        </p:nvSpPr>
        <p:spPr bwMode="auto">
          <a:xfrm>
            <a:off x="7754938" y="2492375"/>
            <a:ext cx="61912" cy="112713"/>
          </a:xfrm>
          <a:custGeom>
            <a:avLst/>
            <a:gdLst>
              <a:gd name="T0" fmla="*/ 0 w 39"/>
              <a:gd name="T1" fmla="*/ 176411694 h 71"/>
              <a:gd name="T2" fmla="*/ 47881782 w 39"/>
              <a:gd name="T3" fmla="*/ 88206641 h 71"/>
              <a:gd name="T4" fmla="*/ 95765151 w 39"/>
              <a:gd name="T5" fmla="*/ 0 h 71"/>
              <a:gd name="T6" fmla="*/ 0 60000 65536"/>
              <a:gd name="T7" fmla="*/ 0 60000 65536"/>
              <a:gd name="T8" fmla="*/ 0 60000 65536"/>
              <a:gd name="T9" fmla="*/ 0 w 39"/>
              <a:gd name="T10" fmla="*/ 0 h 71"/>
              <a:gd name="T11" fmla="*/ 39 w 39"/>
              <a:gd name="T12" fmla="*/ 71 h 71"/>
            </a:gdLst>
            <a:ahLst/>
            <a:cxnLst>
              <a:cxn ang="T6">
                <a:pos x="T0" y="T1"/>
              </a:cxn>
              <a:cxn ang="T7">
                <a:pos x="T2" y="T3"/>
              </a:cxn>
              <a:cxn ang="T8">
                <a:pos x="T4" y="T5"/>
              </a:cxn>
            </a:cxnLst>
            <a:rect l="T9" t="T10" r="T11" b="T12"/>
            <a:pathLst>
              <a:path w="39" h="71">
                <a:moveTo>
                  <a:pt x="0" y="70"/>
                </a:moveTo>
                <a:lnTo>
                  <a:pt x="19" y="35"/>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3" name="Freeform 115"/>
          <p:cNvSpPr>
            <a:spLocks/>
          </p:cNvSpPr>
          <p:nvPr/>
        </p:nvSpPr>
        <p:spPr bwMode="auto">
          <a:xfrm>
            <a:off x="7815263" y="2371725"/>
            <a:ext cx="63500" cy="122238"/>
          </a:xfrm>
          <a:custGeom>
            <a:avLst/>
            <a:gdLst>
              <a:gd name="T0" fmla="*/ 0 w 39"/>
              <a:gd name="T1" fmla="*/ 191532632 h 77"/>
              <a:gd name="T2" fmla="*/ 47719430 w 39"/>
              <a:gd name="T3" fmla="*/ 98287275 h 77"/>
              <a:gd name="T4" fmla="*/ 100740294 w 39"/>
              <a:gd name="T5" fmla="*/ 0 h 77"/>
              <a:gd name="T6" fmla="*/ 0 60000 65536"/>
              <a:gd name="T7" fmla="*/ 0 60000 65536"/>
              <a:gd name="T8" fmla="*/ 0 60000 65536"/>
              <a:gd name="T9" fmla="*/ 0 w 39"/>
              <a:gd name="T10" fmla="*/ 0 h 77"/>
              <a:gd name="T11" fmla="*/ 39 w 39"/>
              <a:gd name="T12" fmla="*/ 77 h 77"/>
            </a:gdLst>
            <a:ahLst/>
            <a:cxnLst>
              <a:cxn ang="T6">
                <a:pos x="T0" y="T1"/>
              </a:cxn>
              <a:cxn ang="T7">
                <a:pos x="T2" y="T3"/>
              </a:cxn>
              <a:cxn ang="T8">
                <a:pos x="T4" y="T5"/>
              </a:cxn>
            </a:cxnLst>
            <a:rect l="T9" t="T10" r="T11" b="T12"/>
            <a:pathLst>
              <a:path w="39" h="77">
                <a:moveTo>
                  <a:pt x="0" y="76"/>
                </a:moveTo>
                <a:lnTo>
                  <a:pt x="18" y="39"/>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4" name="Freeform 116"/>
          <p:cNvSpPr>
            <a:spLocks/>
          </p:cNvSpPr>
          <p:nvPr/>
        </p:nvSpPr>
        <p:spPr bwMode="auto">
          <a:xfrm>
            <a:off x="7875588" y="2243138"/>
            <a:ext cx="61912" cy="130175"/>
          </a:xfrm>
          <a:custGeom>
            <a:avLst/>
            <a:gdLst>
              <a:gd name="T0" fmla="*/ 0 w 39"/>
              <a:gd name="T1" fmla="*/ 204133424 h 82"/>
              <a:gd name="T2" fmla="*/ 47881782 w 39"/>
              <a:gd name="T3" fmla="*/ 103327186 h 82"/>
              <a:gd name="T4" fmla="*/ 95765151 w 39"/>
              <a:gd name="T5" fmla="*/ 0 h 82"/>
              <a:gd name="T6" fmla="*/ 0 60000 65536"/>
              <a:gd name="T7" fmla="*/ 0 60000 65536"/>
              <a:gd name="T8" fmla="*/ 0 60000 65536"/>
              <a:gd name="T9" fmla="*/ 0 w 39"/>
              <a:gd name="T10" fmla="*/ 0 h 82"/>
              <a:gd name="T11" fmla="*/ 39 w 39"/>
              <a:gd name="T12" fmla="*/ 82 h 82"/>
            </a:gdLst>
            <a:ahLst/>
            <a:cxnLst>
              <a:cxn ang="T6">
                <a:pos x="T0" y="T1"/>
              </a:cxn>
              <a:cxn ang="T7">
                <a:pos x="T2" y="T3"/>
              </a:cxn>
              <a:cxn ang="T8">
                <a:pos x="T4" y="T5"/>
              </a:cxn>
            </a:cxnLst>
            <a:rect l="T9" t="T10" r="T11" b="T12"/>
            <a:pathLst>
              <a:path w="39" h="82">
                <a:moveTo>
                  <a:pt x="0" y="81"/>
                </a:moveTo>
                <a:lnTo>
                  <a:pt x="19" y="41"/>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5" name="Freeform 117"/>
          <p:cNvSpPr>
            <a:spLocks/>
          </p:cNvSpPr>
          <p:nvPr/>
        </p:nvSpPr>
        <p:spPr bwMode="auto">
          <a:xfrm>
            <a:off x="7935913" y="2106613"/>
            <a:ext cx="63500" cy="138112"/>
          </a:xfrm>
          <a:custGeom>
            <a:avLst/>
            <a:gdLst>
              <a:gd name="T0" fmla="*/ 0 w 39"/>
              <a:gd name="T1" fmla="*/ 216732676 h 87"/>
              <a:gd name="T2" fmla="*/ 50370147 w 39"/>
              <a:gd name="T3" fmla="*/ 110886484 h 87"/>
              <a:gd name="T4" fmla="*/ 100740294 w 39"/>
              <a:gd name="T5" fmla="*/ 0 h 87"/>
              <a:gd name="T6" fmla="*/ 0 60000 65536"/>
              <a:gd name="T7" fmla="*/ 0 60000 65536"/>
              <a:gd name="T8" fmla="*/ 0 60000 65536"/>
              <a:gd name="T9" fmla="*/ 0 w 39"/>
              <a:gd name="T10" fmla="*/ 0 h 87"/>
              <a:gd name="T11" fmla="*/ 39 w 39"/>
              <a:gd name="T12" fmla="*/ 87 h 87"/>
            </a:gdLst>
            <a:ahLst/>
            <a:cxnLst>
              <a:cxn ang="T6">
                <a:pos x="T0" y="T1"/>
              </a:cxn>
              <a:cxn ang="T7">
                <a:pos x="T2" y="T3"/>
              </a:cxn>
              <a:cxn ang="T8">
                <a:pos x="T4" y="T5"/>
              </a:cxn>
            </a:cxnLst>
            <a:rect l="T9" t="T10" r="T11" b="T12"/>
            <a:pathLst>
              <a:path w="39" h="87">
                <a:moveTo>
                  <a:pt x="0" y="86"/>
                </a:moveTo>
                <a:lnTo>
                  <a:pt x="19" y="44"/>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6" name="Freeform 118"/>
          <p:cNvSpPr>
            <a:spLocks/>
          </p:cNvSpPr>
          <p:nvPr/>
        </p:nvSpPr>
        <p:spPr bwMode="auto">
          <a:xfrm>
            <a:off x="7996238" y="1963738"/>
            <a:ext cx="61912" cy="144462"/>
          </a:xfrm>
          <a:custGeom>
            <a:avLst/>
            <a:gdLst>
              <a:gd name="T0" fmla="*/ 0 w 39"/>
              <a:gd name="T1" fmla="*/ 226813301 h 91"/>
              <a:gd name="T2" fmla="*/ 47881782 w 39"/>
              <a:gd name="T3" fmla="*/ 113405857 h 91"/>
              <a:gd name="T4" fmla="*/ 95765151 w 39"/>
              <a:gd name="T5" fmla="*/ 0 h 91"/>
              <a:gd name="T6" fmla="*/ 0 60000 65536"/>
              <a:gd name="T7" fmla="*/ 0 60000 65536"/>
              <a:gd name="T8" fmla="*/ 0 60000 65536"/>
              <a:gd name="T9" fmla="*/ 0 w 39"/>
              <a:gd name="T10" fmla="*/ 0 h 91"/>
              <a:gd name="T11" fmla="*/ 39 w 39"/>
              <a:gd name="T12" fmla="*/ 91 h 91"/>
            </a:gdLst>
            <a:ahLst/>
            <a:cxnLst>
              <a:cxn ang="T6">
                <a:pos x="T0" y="T1"/>
              </a:cxn>
              <a:cxn ang="T7">
                <a:pos x="T2" y="T3"/>
              </a:cxn>
              <a:cxn ang="T8">
                <a:pos x="T4" y="T5"/>
              </a:cxn>
            </a:cxnLst>
            <a:rect l="T9" t="T10" r="T11" b="T12"/>
            <a:pathLst>
              <a:path w="39" h="91">
                <a:moveTo>
                  <a:pt x="0" y="90"/>
                </a:moveTo>
                <a:lnTo>
                  <a:pt x="19" y="45"/>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7" name="Freeform 119"/>
          <p:cNvSpPr>
            <a:spLocks/>
          </p:cNvSpPr>
          <p:nvPr/>
        </p:nvSpPr>
        <p:spPr bwMode="auto">
          <a:xfrm>
            <a:off x="8056563" y="1820863"/>
            <a:ext cx="63500" cy="144462"/>
          </a:xfrm>
          <a:custGeom>
            <a:avLst/>
            <a:gdLst>
              <a:gd name="T0" fmla="*/ 0 w 39"/>
              <a:gd name="T1" fmla="*/ 226813301 h 91"/>
              <a:gd name="T2" fmla="*/ 50370147 w 39"/>
              <a:gd name="T3" fmla="*/ 113405857 h 91"/>
              <a:gd name="T4" fmla="*/ 100740294 w 39"/>
              <a:gd name="T5" fmla="*/ 0 h 91"/>
              <a:gd name="T6" fmla="*/ 0 60000 65536"/>
              <a:gd name="T7" fmla="*/ 0 60000 65536"/>
              <a:gd name="T8" fmla="*/ 0 60000 65536"/>
              <a:gd name="T9" fmla="*/ 0 w 39"/>
              <a:gd name="T10" fmla="*/ 0 h 91"/>
              <a:gd name="T11" fmla="*/ 39 w 39"/>
              <a:gd name="T12" fmla="*/ 91 h 91"/>
            </a:gdLst>
            <a:ahLst/>
            <a:cxnLst>
              <a:cxn ang="T6">
                <a:pos x="T0" y="T1"/>
              </a:cxn>
              <a:cxn ang="T7">
                <a:pos x="T2" y="T3"/>
              </a:cxn>
              <a:cxn ang="T8">
                <a:pos x="T4" y="T5"/>
              </a:cxn>
            </a:cxnLst>
            <a:rect l="T9" t="T10" r="T11" b="T12"/>
            <a:pathLst>
              <a:path w="39" h="91">
                <a:moveTo>
                  <a:pt x="0" y="90"/>
                </a:moveTo>
                <a:lnTo>
                  <a:pt x="19" y="45"/>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8" name="Freeform 120"/>
          <p:cNvSpPr>
            <a:spLocks/>
          </p:cNvSpPr>
          <p:nvPr/>
        </p:nvSpPr>
        <p:spPr bwMode="auto">
          <a:xfrm>
            <a:off x="8116888" y="1685925"/>
            <a:ext cx="61912" cy="136525"/>
          </a:xfrm>
          <a:custGeom>
            <a:avLst/>
            <a:gdLst>
              <a:gd name="T0" fmla="*/ 0 w 39"/>
              <a:gd name="T1" fmla="*/ 214214098 h 86"/>
              <a:gd name="T2" fmla="*/ 47881782 w 39"/>
              <a:gd name="T3" fmla="*/ 103327188 h 86"/>
              <a:gd name="T4" fmla="*/ 73083143 w 39"/>
              <a:gd name="T5" fmla="*/ 50403120 h 86"/>
              <a:gd name="T6" fmla="*/ 95765151 w 39"/>
              <a:gd name="T7" fmla="*/ 0 h 86"/>
              <a:gd name="T8" fmla="*/ 0 60000 65536"/>
              <a:gd name="T9" fmla="*/ 0 60000 65536"/>
              <a:gd name="T10" fmla="*/ 0 60000 65536"/>
              <a:gd name="T11" fmla="*/ 0 60000 65536"/>
              <a:gd name="T12" fmla="*/ 0 w 39"/>
              <a:gd name="T13" fmla="*/ 0 h 86"/>
              <a:gd name="T14" fmla="*/ 39 w 39"/>
              <a:gd name="T15" fmla="*/ 86 h 86"/>
            </a:gdLst>
            <a:ahLst/>
            <a:cxnLst>
              <a:cxn ang="T8">
                <a:pos x="T0" y="T1"/>
              </a:cxn>
              <a:cxn ang="T9">
                <a:pos x="T2" y="T3"/>
              </a:cxn>
              <a:cxn ang="T10">
                <a:pos x="T4" y="T5"/>
              </a:cxn>
              <a:cxn ang="T11">
                <a:pos x="T6" y="T7"/>
              </a:cxn>
            </a:cxnLst>
            <a:rect l="T12" t="T13" r="T14" b="T15"/>
            <a:pathLst>
              <a:path w="39" h="86">
                <a:moveTo>
                  <a:pt x="0" y="85"/>
                </a:moveTo>
                <a:lnTo>
                  <a:pt x="19" y="41"/>
                </a:lnTo>
                <a:lnTo>
                  <a:pt x="29" y="20"/>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09" name="Freeform 121"/>
          <p:cNvSpPr>
            <a:spLocks/>
          </p:cNvSpPr>
          <p:nvPr/>
        </p:nvSpPr>
        <p:spPr bwMode="auto">
          <a:xfrm>
            <a:off x="8177213" y="1568450"/>
            <a:ext cx="63500" cy="119063"/>
          </a:xfrm>
          <a:custGeom>
            <a:avLst/>
            <a:gdLst>
              <a:gd name="T0" fmla="*/ 0 w 39"/>
              <a:gd name="T1" fmla="*/ 186492319 h 75"/>
              <a:gd name="T2" fmla="*/ 26510432 w 39"/>
              <a:gd name="T3" fmla="*/ 136089003 h 75"/>
              <a:gd name="T4" fmla="*/ 50370147 w 39"/>
              <a:gd name="T5" fmla="*/ 88206622 h 75"/>
              <a:gd name="T6" fmla="*/ 76880585 w 39"/>
              <a:gd name="T7" fmla="*/ 42843625 h 75"/>
              <a:gd name="T8" fmla="*/ 90135798 w 39"/>
              <a:gd name="T9" fmla="*/ 20161333 h 75"/>
              <a:gd name="T10" fmla="*/ 100740294 w 39"/>
              <a:gd name="T11" fmla="*/ 0 h 75"/>
              <a:gd name="T12" fmla="*/ 0 60000 65536"/>
              <a:gd name="T13" fmla="*/ 0 60000 65536"/>
              <a:gd name="T14" fmla="*/ 0 60000 65536"/>
              <a:gd name="T15" fmla="*/ 0 60000 65536"/>
              <a:gd name="T16" fmla="*/ 0 60000 65536"/>
              <a:gd name="T17" fmla="*/ 0 60000 65536"/>
              <a:gd name="T18" fmla="*/ 0 w 39"/>
              <a:gd name="T19" fmla="*/ 0 h 75"/>
              <a:gd name="T20" fmla="*/ 39 w 39"/>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39" h="75">
                <a:moveTo>
                  <a:pt x="0" y="74"/>
                </a:moveTo>
                <a:lnTo>
                  <a:pt x="10" y="54"/>
                </a:lnTo>
                <a:lnTo>
                  <a:pt x="19" y="35"/>
                </a:lnTo>
                <a:lnTo>
                  <a:pt x="29" y="17"/>
                </a:lnTo>
                <a:lnTo>
                  <a:pt x="34" y="8"/>
                </a:lnTo>
                <a:lnTo>
                  <a:pt x="38"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10" name="Freeform 122"/>
          <p:cNvSpPr>
            <a:spLocks/>
          </p:cNvSpPr>
          <p:nvPr/>
        </p:nvSpPr>
        <p:spPr bwMode="auto">
          <a:xfrm>
            <a:off x="8237538" y="1498600"/>
            <a:ext cx="63500" cy="71438"/>
          </a:xfrm>
          <a:custGeom>
            <a:avLst/>
            <a:gdLst>
              <a:gd name="T0" fmla="*/ 0 w 40"/>
              <a:gd name="T1" fmla="*/ 110887663 h 45"/>
              <a:gd name="T2" fmla="*/ 25201559 w 40"/>
              <a:gd name="T3" fmla="*/ 75605216 h 45"/>
              <a:gd name="T4" fmla="*/ 37801548 w 40"/>
              <a:gd name="T5" fmla="*/ 55443832 h 45"/>
              <a:gd name="T6" fmla="*/ 50403118 w 40"/>
              <a:gd name="T7" fmla="*/ 42843748 h 45"/>
              <a:gd name="T8" fmla="*/ 60483752 w 40"/>
              <a:gd name="T9" fmla="*/ 27722710 h 45"/>
              <a:gd name="T10" fmla="*/ 73083734 w 40"/>
              <a:gd name="T11" fmla="*/ 15121044 h 45"/>
              <a:gd name="T12" fmla="*/ 85685305 w 40"/>
              <a:gd name="T13" fmla="*/ 5040348 h 45"/>
              <a:gd name="T14" fmla="*/ 98286875 w 40"/>
              <a:gd name="T15" fmla="*/ 0 h 45"/>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45"/>
              <a:gd name="T26" fmla="*/ 40 w 40"/>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45">
                <a:moveTo>
                  <a:pt x="0" y="44"/>
                </a:moveTo>
                <a:lnTo>
                  <a:pt x="10" y="30"/>
                </a:lnTo>
                <a:lnTo>
                  <a:pt x="15" y="22"/>
                </a:lnTo>
                <a:lnTo>
                  <a:pt x="20" y="17"/>
                </a:lnTo>
                <a:lnTo>
                  <a:pt x="24" y="11"/>
                </a:lnTo>
                <a:lnTo>
                  <a:pt x="29" y="6"/>
                </a:lnTo>
                <a:lnTo>
                  <a:pt x="34" y="2"/>
                </a:lnTo>
                <a:lnTo>
                  <a:pt x="39"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11" name="Freeform 123"/>
          <p:cNvSpPr>
            <a:spLocks/>
          </p:cNvSpPr>
          <p:nvPr/>
        </p:nvSpPr>
        <p:spPr bwMode="auto">
          <a:xfrm>
            <a:off x="8299450" y="1498600"/>
            <a:ext cx="61913" cy="36513"/>
          </a:xfrm>
          <a:custGeom>
            <a:avLst/>
            <a:gdLst>
              <a:gd name="T0" fmla="*/ 0 w 38"/>
              <a:gd name="T1" fmla="*/ 0 h 23"/>
              <a:gd name="T2" fmla="*/ 7963967 w 38"/>
              <a:gd name="T3" fmla="*/ 0 h 23"/>
              <a:gd name="T4" fmla="*/ 18582045 w 38"/>
              <a:gd name="T5" fmla="*/ 0 h 23"/>
              <a:gd name="T6" fmla="*/ 31854238 w 38"/>
              <a:gd name="T7" fmla="*/ 2520984 h 23"/>
              <a:gd name="T8" fmla="*/ 47782166 w 38"/>
              <a:gd name="T9" fmla="*/ 7561367 h 23"/>
              <a:gd name="T10" fmla="*/ 66364218 w 38"/>
              <a:gd name="T11" fmla="*/ 15121146 h 23"/>
              <a:gd name="T12" fmla="*/ 76982293 w 38"/>
              <a:gd name="T13" fmla="*/ 25201905 h 23"/>
              <a:gd name="T14" fmla="*/ 90256109 w 38"/>
              <a:gd name="T15" fmla="*/ 40323051 h 23"/>
              <a:gd name="T16" fmla="*/ 98220073 w 38"/>
              <a:gd name="T17" fmla="*/ 55444203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23"/>
              <a:gd name="T29" fmla="*/ 38 w 38"/>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23">
                <a:moveTo>
                  <a:pt x="0" y="0"/>
                </a:moveTo>
                <a:lnTo>
                  <a:pt x="3" y="0"/>
                </a:lnTo>
                <a:lnTo>
                  <a:pt x="7" y="0"/>
                </a:lnTo>
                <a:lnTo>
                  <a:pt x="12" y="1"/>
                </a:lnTo>
                <a:lnTo>
                  <a:pt x="18" y="3"/>
                </a:lnTo>
                <a:lnTo>
                  <a:pt x="25" y="6"/>
                </a:lnTo>
                <a:lnTo>
                  <a:pt x="29" y="10"/>
                </a:lnTo>
                <a:lnTo>
                  <a:pt x="34" y="16"/>
                </a:lnTo>
                <a:lnTo>
                  <a:pt x="37" y="22"/>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12" name="Freeform 124"/>
          <p:cNvSpPr>
            <a:spLocks/>
          </p:cNvSpPr>
          <p:nvPr/>
        </p:nvSpPr>
        <p:spPr bwMode="auto">
          <a:xfrm>
            <a:off x="8358188" y="1533525"/>
            <a:ext cx="61912" cy="407988"/>
          </a:xfrm>
          <a:custGeom>
            <a:avLst/>
            <a:gdLst>
              <a:gd name="T0" fmla="*/ 0 w 39"/>
              <a:gd name="T1" fmla="*/ 0 h 257"/>
              <a:gd name="T2" fmla="*/ 5040271 w 39"/>
              <a:gd name="T3" fmla="*/ 17641907 h 257"/>
              <a:gd name="T4" fmla="*/ 10080543 w 39"/>
              <a:gd name="T5" fmla="*/ 37803178 h 257"/>
              <a:gd name="T6" fmla="*/ 15120816 w 39"/>
              <a:gd name="T7" fmla="*/ 60483820 h 257"/>
              <a:gd name="T8" fmla="*/ 22680427 w 39"/>
              <a:gd name="T9" fmla="*/ 88206354 h 257"/>
              <a:gd name="T10" fmla="*/ 27720703 w 39"/>
              <a:gd name="T11" fmla="*/ 118448276 h 257"/>
              <a:gd name="T12" fmla="*/ 35281901 w 39"/>
              <a:gd name="T13" fmla="*/ 153730490 h 257"/>
              <a:gd name="T14" fmla="*/ 40322171 w 39"/>
              <a:gd name="T15" fmla="*/ 191532068 h 257"/>
              <a:gd name="T16" fmla="*/ 47881782 w 39"/>
              <a:gd name="T17" fmla="*/ 229335284 h 257"/>
              <a:gd name="T18" fmla="*/ 55442993 w 39"/>
              <a:gd name="T19" fmla="*/ 272177178 h 257"/>
              <a:gd name="T20" fmla="*/ 63002604 w 39"/>
              <a:gd name="T21" fmla="*/ 320060977 h 257"/>
              <a:gd name="T22" fmla="*/ 70563802 w 39"/>
              <a:gd name="T23" fmla="*/ 367943188 h 257"/>
              <a:gd name="T24" fmla="*/ 75604072 w 39"/>
              <a:gd name="T25" fmla="*/ 418346450 h 257"/>
              <a:gd name="T26" fmla="*/ 83163683 w 39"/>
              <a:gd name="T27" fmla="*/ 471270565 h 257"/>
              <a:gd name="T28" fmla="*/ 88203953 w 39"/>
              <a:gd name="T29" fmla="*/ 526714044 h 257"/>
              <a:gd name="T30" fmla="*/ 90724882 w 39"/>
              <a:gd name="T31" fmla="*/ 584676887 h 257"/>
              <a:gd name="T32" fmla="*/ 95765151 w 39"/>
              <a:gd name="T33" fmla="*/ 645160683 h 25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257"/>
              <a:gd name="T53" fmla="*/ 39 w 39"/>
              <a:gd name="T54" fmla="*/ 257 h 25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257">
                <a:moveTo>
                  <a:pt x="0" y="0"/>
                </a:moveTo>
                <a:lnTo>
                  <a:pt x="2" y="7"/>
                </a:lnTo>
                <a:lnTo>
                  <a:pt x="4" y="15"/>
                </a:lnTo>
                <a:lnTo>
                  <a:pt x="6" y="24"/>
                </a:lnTo>
                <a:lnTo>
                  <a:pt x="9" y="35"/>
                </a:lnTo>
                <a:lnTo>
                  <a:pt x="11" y="47"/>
                </a:lnTo>
                <a:lnTo>
                  <a:pt x="14" y="61"/>
                </a:lnTo>
                <a:lnTo>
                  <a:pt x="16" y="76"/>
                </a:lnTo>
                <a:lnTo>
                  <a:pt x="19" y="91"/>
                </a:lnTo>
                <a:lnTo>
                  <a:pt x="22" y="108"/>
                </a:lnTo>
                <a:lnTo>
                  <a:pt x="25" y="127"/>
                </a:lnTo>
                <a:lnTo>
                  <a:pt x="28" y="146"/>
                </a:lnTo>
                <a:lnTo>
                  <a:pt x="30" y="166"/>
                </a:lnTo>
                <a:lnTo>
                  <a:pt x="33" y="187"/>
                </a:lnTo>
                <a:lnTo>
                  <a:pt x="35" y="209"/>
                </a:lnTo>
                <a:lnTo>
                  <a:pt x="36" y="232"/>
                </a:lnTo>
                <a:lnTo>
                  <a:pt x="38" y="25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13" name="Freeform 125"/>
          <p:cNvSpPr>
            <a:spLocks/>
          </p:cNvSpPr>
          <p:nvPr/>
        </p:nvSpPr>
        <p:spPr bwMode="auto">
          <a:xfrm>
            <a:off x="8418513" y="1939925"/>
            <a:ext cx="63500" cy="1417638"/>
          </a:xfrm>
          <a:custGeom>
            <a:avLst/>
            <a:gdLst>
              <a:gd name="T0" fmla="*/ 0 w 40"/>
              <a:gd name="T1" fmla="*/ 0 h 893"/>
              <a:gd name="T2" fmla="*/ 2520950 w 40"/>
              <a:gd name="T3" fmla="*/ 45362828 h 893"/>
              <a:gd name="T4" fmla="*/ 5040312 w 40"/>
              <a:gd name="T5" fmla="*/ 95765970 h 893"/>
              <a:gd name="T6" fmla="*/ 10080624 w 40"/>
              <a:gd name="T7" fmla="*/ 148690074 h 893"/>
              <a:gd name="T8" fmla="*/ 12601573 w 40"/>
              <a:gd name="T9" fmla="*/ 204133516 h 893"/>
              <a:gd name="T10" fmla="*/ 15120938 w 40"/>
              <a:gd name="T11" fmla="*/ 262096370 h 893"/>
              <a:gd name="T12" fmla="*/ 17640299 w 40"/>
              <a:gd name="T13" fmla="*/ 322580125 h 893"/>
              <a:gd name="T14" fmla="*/ 22682198 w 40"/>
              <a:gd name="T15" fmla="*/ 385584830 h 893"/>
              <a:gd name="T16" fmla="*/ 25201559 w 40"/>
              <a:gd name="T17" fmla="*/ 448588047 h 893"/>
              <a:gd name="T18" fmla="*/ 27720927 w 40"/>
              <a:gd name="T19" fmla="*/ 514112114 h 893"/>
              <a:gd name="T20" fmla="*/ 30241876 w 40"/>
              <a:gd name="T21" fmla="*/ 582157132 h 893"/>
              <a:gd name="T22" fmla="*/ 37801548 w 40"/>
              <a:gd name="T23" fmla="*/ 725805256 h 893"/>
              <a:gd name="T24" fmla="*/ 42843446 w 40"/>
              <a:gd name="T25" fmla="*/ 871974529 h 893"/>
              <a:gd name="T26" fmla="*/ 50403118 w 40"/>
              <a:gd name="T27" fmla="*/ 1023183916 h 893"/>
              <a:gd name="T28" fmla="*/ 52922492 w 40"/>
              <a:gd name="T29" fmla="*/ 1176914253 h 893"/>
              <a:gd name="T30" fmla="*/ 60483752 w 40"/>
              <a:gd name="T31" fmla="*/ 1335683315 h 893"/>
              <a:gd name="T32" fmla="*/ 73083734 w 40"/>
              <a:gd name="T33" fmla="*/ 1648182715 h 893"/>
              <a:gd name="T34" fmla="*/ 78124045 w 40"/>
              <a:gd name="T35" fmla="*/ 1804432812 h 893"/>
              <a:gd name="T36" fmla="*/ 85685305 w 40"/>
              <a:gd name="T37" fmla="*/ 1955642199 h 893"/>
              <a:gd name="T38" fmla="*/ 90725615 w 40"/>
              <a:gd name="T39" fmla="*/ 2104332223 h 893"/>
              <a:gd name="T40" fmla="*/ 98286875 w 40"/>
              <a:gd name="T41" fmla="*/ 2147483647 h 89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0"/>
              <a:gd name="T64" fmla="*/ 0 h 893"/>
              <a:gd name="T65" fmla="*/ 40 w 40"/>
              <a:gd name="T66" fmla="*/ 893 h 89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0" h="893">
                <a:moveTo>
                  <a:pt x="0" y="0"/>
                </a:moveTo>
                <a:lnTo>
                  <a:pt x="1" y="18"/>
                </a:lnTo>
                <a:lnTo>
                  <a:pt x="2" y="38"/>
                </a:lnTo>
                <a:lnTo>
                  <a:pt x="4" y="59"/>
                </a:lnTo>
                <a:lnTo>
                  <a:pt x="5" y="81"/>
                </a:lnTo>
                <a:lnTo>
                  <a:pt x="6" y="104"/>
                </a:lnTo>
                <a:lnTo>
                  <a:pt x="7" y="128"/>
                </a:lnTo>
                <a:lnTo>
                  <a:pt x="9" y="153"/>
                </a:lnTo>
                <a:lnTo>
                  <a:pt x="10" y="178"/>
                </a:lnTo>
                <a:lnTo>
                  <a:pt x="11" y="204"/>
                </a:lnTo>
                <a:lnTo>
                  <a:pt x="12" y="231"/>
                </a:lnTo>
                <a:lnTo>
                  <a:pt x="15" y="288"/>
                </a:lnTo>
                <a:lnTo>
                  <a:pt x="17" y="346"/>
                </a:lnTo>
                <a:lnTo>
                  <a:pt x="20" y="406"/>
                </a:lnTo>
                <a:lnTo>
                  <a:pt x="21" y="467"/>
                </a:lnTo>
                <a:lnTo>
                  <a:pt x="24" y="530"/>
                </a:lnTo>
                <a:lnTo>
                  <a:pt x="29" y="654"/>
                </a:lnTo>
                <a:lnTo>
                  <a:pt x="31" y="716"/>
                </a:lnTo>
                <a:lnTo>
                  <a:pt x="34" y="776"/>
                </a:lnTo>
                <a:lnTo>
                  <a:pt x="36" y="835"/>
                </a:lnTo>
                <a:lnTo>
                  <a:pt x="39" y="892"/>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14" name="Freeform 126"/>
          <p:cNvSpPr>
            <a:spLocks/>
          </p:cNvSpPr>
          <p:nvPr/>
        </p:nvSpPr>
        <p:spPr bwMode="auto">
          <a:xfrm>
            <a:off x="4800600" y="3962400"/>
            <a:ext cx="3681413" cy="1895475"/>
          </a:xfrm>
          <a:custGeom>
            <a:avLst/>
            <a:gdLst>
              <a:gd name="T0" fmla="*/ 0 w 2321"/>
              <a:gd name="T1" fmla="*/ 0 h 1295"/>
              <a:gd name="T2" fmla="*/ 2147483647 w 2321"/>
              <a:gd name="T3" fmla="*/ 0 h 1295"/>
              <a:gd name="T4" fmla="*/ 2147483647 w 2321"/>
              <a:gd name="T5" fmla="*/ 2147483647 h 1295"/>
              <a:gd name="T6" fmla="*/ 0 w 2321"/>
              <a:gd name="T7" fmla="*/ 2147483647 h 1295"/>
              <a:gd name="T8" fmla="*/ 0 w 2321"/>
              <a:gd name="T9" fmla="*/ 0 h 1295"/>
              <a:gd name="T10" fmla="*/ 0 60000 65536"/>
              <a:gd name="T11" fmla="*/ 0 60000 65536"/>
              <a:gd name="T12" fmla="*/ 0 60000 65536"/>
              <a:gd name="T13" fmla="*/ 0 60000 65536"/>
              <a:gd name="T14" fmla="*/ 0 60000 65536"/>
              <a:gd name="T15" fmla="*/ 0 w 2321"/>
              <a:gd name="T16" fmla="*/ 0 h 1295"/>
              <a:gd name="T17" fmla="*/ 2321 w 2321"/>
              <a:gd name="T18" fmla="*/ 1295 h 1295"/>
            </a:gdLst>
            <a:ahLst/>
            <a:cxnLst>
              <a:cxn ang="T10">
                <a:pos x="T0" y="T1"/>
              </a:cxn>
              <a:cxn ang="T11">
                <a:pos x="T2" y="T3"/>
              </a:cxn>
              <a:cxn ang="T12">
                <a:pos x="T4" y="T5"/>
              </a:cxn>
              <a:cxn ang="T13">
                <a:pos x="T6" y="T7"/>
              </a:cxn>
              <a:cxn ang="T14">
                <a:pos x="T8" y="T9"/>
              </a:cxn>
            </a:cxnLst>
            <a:rect l="T15" t="T16" r="T17" b="T18"/>
            <a:pathLst>
              <a:path w="2321" h="1295">
                <a:moveTo>
                  <a:pt x="0" y="0"/>
                </a:moveTo>
                <a:lnTo>
                  <a:pt x="2320" y="0"/>
                </a:lnTo>
                <a:lnTo>
                  <a:pt x="2320" y="1294"/>
                </a:lnTo>
                <a:lnTo>
                  <a:pt x="0" y="129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rnd">
                <a:solidFill>
                  <a:srgbClr val="000000"/>
                </a:solidFill>
                <a:round/>
                <a:headEnd/>
                <a:tailEnd/>
              </a14:hiddenLine>
            </a:ext>
          </a:extLst>
        </p:spPr>
        <p:txBody>
          <a:bodyPr/>
          <a:lstStyle/>
          <a:p>
            <a:endParaRPr lang="en-US"/>
          </a:p>
        </p:txBody>
      </p:sp>
      <p:sp>
        <p:nvSpPr>
          <p:cNvPr id="12415" name="Freeform 127"/>
          <p:cNvSpPr>
            <a:spLocks/>
          </p:cNvSpPr>
          <p:nvPr/>
        </p:nvSpPr>
        <p:spPr bwMode="auto">
          <a:xfrm>
            <a:off x="4800600" y="4078288"/>
            <a:ext cx="3681413" cy="1779587"/>
          </a:xfrm>
          <a:custGeom>
            <a:avLst/>
            <a:gdLst>
              <a:gd name="T0" fmla="*/ 0 w 2321"/>
              <a:gd name="T1" fmla="*/ 2147483647 h 1215"/>
              <a:gd name="T2" fmla="*/ 95600935 w 2321"/>
              <a:gd name="T3" fmla="*/ 2147483647 h 1215"/>
              <a:gd name="T4" fmla="*/ 196233079 w 2321"/>
              <a:gd name="T5" fmla="*/ 2147483647 h 1215"/>
              <a:gd name="T6" fmla="*/ 291834039 w 2321"/>
              <a:gd name="T7" fmla="*/ 2147483647 h 1215"/>
              <a:gd name="T8" fmla="*/ 389950554 w 2321"/>
              <a:gd name="T9" fmla="*/ 2147483647 h 1215"/>
              <a:gd name="T10" fmla="*/ 485551563 w 2321"/>
              <a:gd name="T11" fmla="*/ 2147483647 h 1215"/>
              <a:gd name="T12" fmla="*/ 583669664 w 2321"/>
              <a:gd name="T13" fmla="*/ 2147483647 h 1215"/>
              <a:gd name="T14" fmla="*/ 681786179 w 2321"/>
              <a:gd name="T15" fmla="*/ 2147483647 h 1215"/>
              <a:gd name="T16" fmla="*/ 777387089 w 2321"/>
              <a:gd name="T17" fmla="*/ 2147483647 h 1215"/>
              <a:gd name="T18" fmla="*/ 875503802 w 2321"/>
              <a:gd name="T19" fmla="*/ 2147483647 h 1215"/>
              <a:gd name="T20" fmla="*/ 973620317 w 2321"/>
              <a:gd name="T21" fmla="*/ 2147483647 h 1215"/>
              <a:gd name="T22" fmla="*/ 1071736832 w 2321"/>
              <a:gd name="T23" fmla="*/ 2147483647 h 1215"/>
              <a:gd name="T24" fmla="*/ 1167337742 w 2321"/>
              <a:gd name="T25" fmla="*/ 2147483647 h 1215"/>
              <a:gd name="T26" fmla="*/ 1262938652 w 2321"/>
              <a:gd name="T27" fmla="*/ 2147483647 h 1215"/>
              <a:gd name="T28" fmla="*/ 1361056753 w 2321"/>
              <a:gd name="T29" fmla="*/ 2147483647 h 1215"/>
              <a:gd name="T30" fmla="*/ 1459173268 w 2321"/>
              <a:gd name="T31" fmla="*/ 2147483647 h 1215"/>
              <a:gd name="T32" fmla="*/ 1557289783 w 2321"/>
              <a:gd name="T33" fmla="*/ 2147483647 h 1215"/>
              <a:gd name="T34" fmla="*/ 1652890693 w 2321"/>
              <a:gd name="T35" fmla="*/ 2147483647 h 1215"/>
              <a:gd name="T36" fmla="*/ 1751007604 w 2321"/>
              <a:gd name="T37" fmla="*/ 2147483647 h 1215"/>
              <a:gd name="T38" fmla="*/ 1849124119 w 2321"/>
              <a:gd name="T39" fmla="*/ 2147483647 h 1215"/>
              <a:gd name="T40" fmla="*/ 1944725029 w 2321"/>
              <a:gd name="T41" fmla="*/ 2147483647 h 1215"/>
              <a:gd name="T42" fmla="*/ 2042841544 w 2321"/>
              <a:gd name="T43" fmla="*/ 2147483647 h 1215"/>
              <a:gd name="T44" fmla="*/ 2138442454 w 2321"/>
              <a:gd name="T45" fmla="*/ 2147483647 h 1215"/>
              <a:gd name="T46" fmla="*/ 2147483647 w 2321"/>
              <a:gd name="T47" fmla="*/ 2147483647 h 1215"/>
              <a:gd name="T48" fmla="*/ 2147483647 w 2321"/>
              <a:gd name="T49" fmla="*/ 2147483647 h 1215"/>
              <a:gd name="T50" fmla="*/ 2147483647 w 2321"/>
              <a:gd name="T51" fmla="*/ 2147483647 h 1215"/>
              <a:gd name="T52" fmla="*/ 2147483647 w 2321"/>
              <a:gd name="T53" fmla="*/ 2147483647 h 1215"/>
              <a:gd name="T54" fmla="*/ 2147483647 w 2321"/>
              <a:gd name="T55" fmla="*/ 2147483647 h 1215"/>
              <a:gd name="T56" fmla="*/ 2147483647 w 2321"/>
              <a:gd name="T57" fmla="*/ 2147483647 h 1215"/>
              <a:gd name="T58" fmla="*/ 2147483647 w 2321"/>
              <a:gd name="T59" fmla="*/ 2143144045 h 1215"/>
              <a:gd name="T60" fmla="*/ 2147483647 w 2321"/>
              <a:gd name="T61" fmla="*/ 2080930295 h 1215"/>
              <a:gd name="T62" fmla="*/ 2147483647 w 2321"/>
              <a:gd name="T63" fmla="*/ 2018716544 h 1215"/>
              <a:gd name="T64" fmla="*/ 2147483647 w 2321"/>
              <a:gd name="T65" fmla="*/ 1947922698 h 1215"/>
              <a:gd name="T66" fmla="*/ 2147483647 w 2321"/>
              <a:gd name="T67" fmla="*/ 1874983095 h 1215"/>
              <a:gd name="T68" fmla="*/ 2147483647 w 2321"/>
              <a:gd name="T69" fmla="*/ 1795607688 h 1215"/>
              <a:gd name="T70" fmla="*/ 2147483647 w 2321"/>
              <a:gd name="T71" fmla="*/ 1711940768 h 1215"/>
              <a:gd name="T72" fmla="*/ 2147483647 w 2321"/>
              <a:gd name="T73" fmla="*/ 1623983801 h 1215"/>
              <a:gd name="T74" fmla="*/ 2147483647 w 2321"/>
              <a:gd name="T75" fmla="*/ 1529590663 h 1215"/>
              <a:gd name="T76" fmla="*/ 2147483647 w 2321"/>
              <a:gd name="T77" fmla="*/ 1433053599 h 1215"/>
              <a:gd name="T78" fmla="*/ 2147483647 w 2321"/>
              <a:gd name="T79" fmla="*/ 1334369315 h 1215"/>
              <a:gd name="T80" fmla="*/ 2147483647 w 2321"/>
              <a:gd name="T81" fmla="*/ 1229250691 h 1215"/>
              <a:gd name="T82" fmla="*/ 2147483647 w 2321"/>
              <a:gd name="T83" fmla="*/ 1121986311 h 1215"/>
              <a:gd name="T84" fmla="*/ 2147483647 w 2321"/>
              <a:gd name="T85" fmla="*/ 1012576174 h 1215"/>
              <a:gd name="T86" fmla="*/ 2147483647 w 2321"/>
              <a:gd name="T87" fmla="*/ 901021746 h 1215"/>
              <a:gd name="T88" fmla="*/ 2147483647 w 2321"/>
              <a:gd name="T89" fmla="*/ 789465853 h 1215"/>
              <a:gd name="T90" fmla="*/ 2147483647 w 2321"/>
              <a:gd name="T91" fmla="*/ 680056998 h 1215"/>
              <a:gd name="T92" fmla="*/ 2147483647 w 2321"/>
              <a:gd name="T93" fmla="*/ 568501105 h 1215"/>
              <a:gd name="T94" fmla="*/ 2147483647 w 2321"/>
              <a:gd name="T95" fmla="*/ 461236725 h 1215"/>
              <a:gd name="T96" fmla="*/ 2147483647 w 2321"/>
              <a:gd name="T97" fmla="*/ 360408058 h 1215"/>
              <a:gd name="T98" fmla="*/ 2147483647 w 2321"/>
              <a:gd name="T99" fmla="*/ 263870994 h 1215"/>
              <a:gd name="T100" fmla="*/ 2147483647 w 2321"/>
              <a:gd name="T101" fmla="*/ 175913981 h 1215"/>
              <a:gd name="T102" fmla="*/ 2147483647 w 2321"/>
              <a:gd name="T103" fmla="*/ 102974378 h 1215"/>
              <a:gd name="T104" fmla="*/ 2147483647 w 2321"/>
              <a:gd name="T105" fmla="*/ 45050641 h 1215"/>
              <a:gd name="T106" fmla="*/ 2147483647 w 2321"/>
              <a:gd name="T107" fmla="*/ 8581563 h 1215"/>
              <a:gd name="T108" fmla="*/ 2147483647 w 2321"/>
              <a:gd name="T109" fmla="*/ 0 h 1215"/>
              <a:gd name="T110" fmla="*/ 2147483647 w 2321"/>
              <a:gd name="T111" fmla="*/ 25743228 h 1215"/>
              <a:gd name="T112" fmla="*/ 2147483647 w 2321"/>
              <a:gd name="T113" fmla="*/ 94392795 h 1215"/>
              <a:gd name="T114" fmla="*/ 2147483647 w 2321"/>
              <a:gd name="T115" fmla="*/ 229546217 h 1215"/>
              <a:gd name="T116" fmla="*/ 2147483647 w 2321"/>
              <a:gd name="T117" fmla="*/ 454800921 h 1215"/>
              <a:gd name="T118" fmla="*/ 2147483647 w 2321"/>
              <a:gd name="T119" fmla="*/ 825936387 h 1215"/>
              <a:gd name="T120" fmla="*/ 2147483647 w 2321"/>
              <a:gd name="T121" fmla="*/ 2147483647 h 121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21"/>
              <a:gd name="T184" fmla="*/ 0 h 1215"/>
              <a:gd name="T185" fmla="*/ 2321 w 2321"/>
              <a:gd name="T186" fmla="*/ 1215 h 121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21" h="1215">
                <a:moveTo>
                  <a:pt x="0" y="1214"/>
                </a:moveTo>
                <a:lnTo>
                  <a:pt x="38" y="1214"/>
                </a:lnTo>
                <a:lnTo>
                  <a:pt x="78" y="1214"/>
                </a:lnTo>
                <a:lnTo>
                  <a:pt x="116" y="1214"/>
                </a:lnTo>
                <a:lnTo>
                  <a:pt x="155" y="1214"/>
                </a:lnTo>
                <a:lnTo>
                  <a:pt x="193" y="1214"/>
                </a:lnTo>
                <a:lnTo>
                  <a:pt x="232" y="1214"/>
                </a:lnTo>
                <a:lnTo>
                  <a:pt x="271" y="1213"/>
                </a:lnTo>
                <a:lnTo>
                  <a:pt x="309" y="1213"/>
                </a:lnTo>
                <a:lnTo>
                  <a:pt x="348" y="1212"/>
                </a:lnTo>
                <a:lnTo>
                  <a:pt x="387" y="1210"/>
                </a:lnTo>
                <a:lnTo>
                  <a:pt x="426" y="1209"/>
                </a:lnTo>
                <a:lnTo>
                  <a:pt x="464" y="1207"/>
                </a:lnTo>
                <a:lnTo>
                  <a:pt x="502" y="1205"/>
                </a:lnTo>
                <a:lnTo>
                  <a:pt x="541" y="1201"/>
                </a:lnTo>
                <a:lnTo>
                  <a:pt x="580" y="1197"/>
                </a:lnTo>
                <a:lnTo>
                  <a:pt x="619" y="1192"/>
                </a:lnTo>
                <a:lnTo>
                  <a:pt x="657" y="1185"/>
                </a:lnTo>
                <a:lnTo>
                  <a:pt x="696" y="1179"/>
                </a:lnTo>
                <a:lnTo>
                  <a:pt x="735" y="1170"/>
                </a:lnTo>
                <a:lnTo>
                  <a:pt x="773" y="1161"/>
                </a:lnTo>
                <a:lnTo>
                  <a:pt x="812" y="1149"/>
                </a:lnTo>
                <a:lnTo>
                  <a:pt x="850" y="1137"/>
                </a:lnTo>
                <a:lnTo>
                  <a:pt x="890" y="1122"/>
                </a:lnTo>
                <a:lnTo>
                  <a:pt x="928" y="1107"/>
                </a:lnTo>
                <a:lnTo>
                  <a:pt x="966" y="1089"/>
                </a:lnTo>
                <a:lnTo>
                  <a:pt x="1005" y="1070"/>
                </a:lnTo>
                <a:lnTo>
                  <a:pt x="1044" y="1048"/>
                </a:lnTo>
                <a:lnTo>
                  <a:pt x="1083" y="1025"/>
                </a:lnTo>
                <a:lnTo>
                  <a:pt x="1121" y="999"/>
                </a:lnTo>
                <a:lnTo>
                  <a:pt x="1160" y="970"/>
                </a:lnTo>
                <a:lnTo>
                  <a:pt x="1199" y="941"/>
                </a:lnTo>
                <a:lnTo>
                  <a:pt x="1237" y="908"/>
                </a:lnTo>
                <a:lnTo>
                  <a:pt x="1276" y="874"/>
                </a:lnTo>
                <a:lnTo>
                  <a:pt x="1314" y="837"/>
                </a:lnTo>
                <a:lnTo>
                  <a:pt x="1354" y="798"/>
                </a:lnTo>
                <a:lnTo>
                  <a:pt x="1392" y="757"/>
                </a:lnTo>
                <a:lnTo>
                  <a:pt x="1430" y="713"/>
                </a:lnTo>
                <a:lnTo>
                  <a:pt x="1469" y="668"/>
                </a:lnTo>
                <a:lnTo>
                  <a:pt x="1508" y="622"/>
                </a:lnTo>
                <a:lnTo>
                  <a:pt x="1547" y="573"/>
                </a:lnTo>
                <a:lnTo>
                  <a:pt x="1585" y="523"/>
                </a:lnTo>
                <a:lnTo>
                  <a:pt x="1624" y="472"/>
                </a:lnTo>
                <a:lnTo>
                  <a:pt x="1663" y="420"/>
                </a:lnTo>
                <a:lnTo>
                  <a:pt x="1701" y="368"/>
                </a:lnTo>
                <a:lnTo>
                  <a:pt x="1740" y="317"/>
                </a:lnTo>
                <a:lnTo>
                  <a:pt x="1778" y="265"/>
                </a:lnTo>
                <a:lnTo>
                  <a:pt x="1818" y="215"/>
                </a:lnTo>
                <a:lnTo>
                  <a:pt x="1856" y="168"/>
                </a:lnTo>
                <a:lnTo>
                  <a:pt x="1894" y="123"/>
                </a:lnTo>
                <a:lnTo>
                  <a:pt x="1933" y="82"/>
                </a:lnTo>
                <a:lnTo>
                  <a:pt x="1972" y="48"/>
                </a:lnTo>
                <a:lnTo>
                  <a:pt x="2011" y="21"/>
                </a:lnTo>
                <a:lnTo>
                  <a:pt x="2049" y="4"/>
                </a:lnTo>
                <a:lnTo>
                  <a:pt x="2088" y="0"/>
                </a:lnTo>
                <a:lnTo>
                  <a:pt x="2127" y="12"/>
                </a:lnTo>
                <a:lnTo>
                  <a:pt x="2165" y="44"/>
                </a:lnTo>
                <a:lnTo>
                  <a:pt x="2204" y="107"/>
                </a:lnTo>
                <a:lnTo>
                  <a:pt x="2242" y="212"/>
                </a:lnTo>
                <a:lnTo>
                  <a:pt x="2281" y="385"/>
                </a:lnTo>
                <a:lnTo>
                  <a:pt x="2320" y="121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416" name="Group 133"/>
          <p:cNvGrpSpPr>
            <a:grpSpLocks/>
          </p:cNvGrpSpPr>
          <p:nvPr/>
        </p:nvGrpSpPr>
        <p:grpSpPr bwMode="auto">
          <a:xfrm>
            <a:off x="577850" y="3348038"/>
            <a:ext cx="3994150" cy="309562"/>
            <a:chOff x="364" y="2109"/>
            <a:chExt cx="2516" cy="195"/>
          </a:xfrm>
        </p:grpSpPr>
        <p:sp>
          <p:nvSpPr>
            <p:cNvPr id="12497" name="Line 128"/>
            <p:cNvSpPr>
              <a:spLocks noChangeShapeType="1"/>
            </p:cNvSpPr>
            <p:nvPr/>
          </p:nvSpPr>
          <p:spPr bwMode="auto">
            <a:xfrm>
              <a:off x="441" y="2112"/>
              <a:ext cx="233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98" name="Line 129"/>
            <p:cNvSpPr>
              <a:spLocks noChangeShapeType="1"/>
            </p:cNvSpPr>
            <p:nvPr/>
          </p:nvSpPr>
          <p:spPr bwMode="auto">
            <a:xfrm>
              <a:off x="2768" y="2110"/>
              <a:ext cx="0" cy="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99" name="Line 130"/>
            <p:cNvSpPr>
              <a:spLocks noChangeShapeType="1"/>
            </p:cNvSpPr>
            <p:nvPr/>
          </p:nvSpPr>
          <p:spPr bwMode="auto">
            <a:xfrm>
              <a:off x="442" y="2109"/>
              <a:ext cx="0" cy="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500" name="Rectangle 131"/>
            <p:cNvSpPr>
              <a:spLocks noChangeArrowheads="1"/>
            </p:cNvSpPr>
            <p:nvPr/>
          </p:nvSpPr>
          <p:spPr bwMode="auto">
            <a:xfrm>
              <a:off x="364" y="2131"/>
              <a:ext cx="5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1200">
                  <a:latin typeface="Times New Roman" pitchFamily="18" charset="0"/>
                </a:rPr>
                <a:t>worst case</a:t>
              </a:r>
            </a:p>
          </p:txBody>
        </p:sp>
        <p:sp>
          <p:nvSpPr>
            <p:cNvPr id="12501" name="Rectangle 132"/>
            <p:cNvSpPr>
              <a:spLocks noChangeArrowheads="1"/>
            </p:cNvSpPr>
            <p:nvPr/>
          </p:nvSpPr>
          <p:spPr bwMode="auto">
            <a:xfrm>
              <a:off x="2318" y="2131"/>
              <a:ext cx="5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1200">
                  <a:latin typeface="Times New Roman" pitchFamily="18" charset="0"/>
                </a:rPr>
                <a:t>best case</a:t>
              </a:r>
            </a:p>
          </p:txBody>
        </p:sp>
      </p:grpSp>
      <p:grpSp>
        <p:nvGrpSpPr>
          <p:cNvPr id="12417" name="Group 139"/>
          <p:cNvGrpSpPr>
            <a:grpSpLocks/>
          </p:cNvGrpSpPr>
          <p:nvPr/>
        </p:nvGrpSpPr>
        <p:grpSpPr bwMode="auto">
          <a:xfrm>
            <a:off x="4672013" y="5857875"/>
            <a:ext cx="3994150" cy="309563"/>
            <a:chOff x="2942" y="3690"/>
            <a:chExt cx="2516" cy="195"/>
          </a:xfrm>
        </p:grpSpPr>
        <p:sp>
          <p:nvSpPr>
            <p:cNvPr id="12492" name="Line 134"/>
            <p:cNvSpPr>
              <a:spLocks noChangeShapeType="1"/>
            </p:cNvSpPr>
            <p:nvPr/>
          </p:nvSpPr>
          <p:spPr bwMode="auto">
            <a:xfrm>
              <a:off x="3019" y="3693"/>
              <a:ext cx="233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93" name="Line 135"/>
            <p:cNvSpPr>
              <a:spLocks noChangeShapeType="1"/>
            </p:cNvSpPr>
            <p:nvPr/>
          </p:nvSpPr>
          <p:spPr bwMode="auto">
            <a:xfrm>
              <a:off x="5346" y="3691"/>
              <a:ext cx="0" cy="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94" name="Line 136"/>
            <p:cNvSpPr>
              <a:spLocks noChangeShapeType="1"/>
            </p:cNvSpPr>
            <p:nvPr/>
          </p:nvSpPr>
          <p:spPr bwMode="auto">
            <a:xfrm>
              <a:off x="3020" y="3690"/>
              <a:ext cx="0" cy="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95" name="Rectangle 137"/>
            <p:cNvSpPr>
              <a:spLocks noChangeArrowheads="1"/>
            </p:cNvSpPr>
            <p:nvPr/>
          </p:nvSpPr>
          <p:spPr bwMode="auto">
            <a:xfrm>
              <a:off x="2942" y="3712"/>
              <a:ext cx="5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1200">
                  <a:latin typeface="Times New Roman" pitchFamily="18" charset="0"/>
                </a:rPr>
                <a:t>worst case</a:t>
              </a:r>
            </a:p>
          </p:txBody>
        </p:sp>
        <p:sp>
          <p:nvSpPr>
            <p:cNvPr id="12496" name="Rectangle 138"/>
            <p:cNvSpPr>
              <a:spLocks noChangeArrowheads="1"/>
            </p:cNvSpPr>
            <p:nvPr/>
          </p:nvSpPr>
          <p:spPr bwMode="auto">
            <a:xfrm>
              <a:off x="4896" y="3712"/>
              <a:ext cx="5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1200">
                  <a:latin typeface="Times New Roman" pitchFamily="18" charset="0"/>
                </a:rPr>
                <a:t>best case</a:t>
              </a:r>
            </a:p>
          </p:txBody>
        </p:sp>
      </p:grpSp>
      <p:grpSp>
        <p:nvGrpSpPr>
          <p:cNvPr id="12418" name="Group 145"/>
          <p:cNvGrpSpPr>
            <a:grpSpLocks/>
          </p:cNvGrpSpPr>
          <p:nvPr/>
        </p:nvGrpSpPr>
        <p:grpSpPr bwMode="auto">
          <a:xfrm>
            <a:off x="4665663" y="3351213"/>
            <a:ext cx="3994150" cy="309562"/>
            <a:chOff x="2939" y="2111"/>
            <a:chExt cx="2516" cy="195"/>
          </a:xfrm>
        </p:grpSpPr>
        <p:sp>
          <p:nvSpPr>
            <p:cNvPr id="12487" name="Line 140"/>
            <p:cNvSpPr>
              <a:spLocks noChangeShapeType="1"/>
            </p:cNvSpPr>
            <p:nvPr/>
          </p:nvSpPr>
          <p:spPr bwMode="auto">
            <a:xfrm>
              <a:off x="3016" y="2114"/>
              <a:ext cx="233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88" name="Line 141"/>
            <p:cNvSpPr>
              <a:spLocks noChangeShapeType="1"/>
            </p:cNvSpPr>
            <p:nvPr/>
          </p:nvSpPr>
          <p:spPr bwMode="auto">
            <a:xfrm>
              <a:off x="5343" y="2112"/>
              <a:ext cx="0" cy="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89" name="Line 142"/>
            <p:cNvSpPr>
              <a:spLocks noChangeShapeType="1"/>
            </p:cNvSpPr>
            <p:nvPr/>
          </p:nvSpPr>
          <p:spPr bwMode="auto">
            <a:xfrm>
              <a:off x="3017" y="2111"/>
              <a:ext cx="0" cy="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90" name="Rectangle 143"/>
            <p:cNvSpPr>
              <a:spLocks noChangeArrowheads="1"/>
            </p:cNvSpPr>
            <p:nvPr/>
          </p:nvSpPr>
          <p:spPr bwMode="auto">
            <a:xfrm>
              <a:off x="2939" y="2133"/>
              <a:ext cx="5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1200">
                  <a:latin typeface="Times New Roman" pitchFamily="18" charset="0"/>
                </a:rPr>
                <a:t>worst case</a:t>
              </a:r>
            </a:p>
          </p:txBody>
        </p:sp>
        <p:sp>
          <p:nvSpPr>
            <p:cNvPr id="12491" name="Rectangle 144"/>
            <p:cNvSpPr>
              <a:spLocks noChangeArrowheads="1"/>
            </p:cNvSpPr>
            <p:nvPr/>
          </p:nvSpPr>
          <p:spPr bwMode="auto">
            <a:xfrm>
              <a:off x="4893" y="2133"/>
              <a:ext cx="5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1200">
                  <a:latin typeface="Times New Roman" pitchFamily="18" charset="0"/>
                </a:rPr>
                <a:t>best case</a:t>
              </a:r>
            </a:p>
          </p:txBody>
        </p:sp>
      </p:grpSp>
      <p:grpSp>
        <p:nvGrpSpPr>
          <p:cNvPr id="12419" name="Group 151"/>
          <p:cNvGrpSpPr>
            <a:grpSpLocks/>
          </p:cNvGrpSpPr>
          <p:nvPr/>
        </p:nvGrpSpPr>
        <p:grpSpPr bwMode="auto">
          <a:xfrm>
            <a:off x="563563" y="5907088"/>
            <a:ext cx="3994150" cy="309562"/>
            <a:chOff x="354" y="3721"/>
            <a:chExt cx="2516" cy="195"/>
          </a:xfrm>
        </p:grpSpPr>
        <p:sp>
          <p:nvSpPr>
            <p:cNvPr id="12482" name="Line 146"/>
            <p:cNvSpPr>
              <a:spLocks noChangeShapeType="1"/>
            </p:cNvSpPr>
            <p:nvPr/>
          </p:nvSpPr>
          <p:spPr bwMode="auto">
            <a:xfrm>
              <a:off x="431" y="3724"/>
              <a:ext cx="233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83" name="Line 147"/>
            <p:cNvSpPr>
              <a:spLocks noChangeShapeType="1"/>
            </p:cNvSpPr>
            <p:nvPr/>
          </p:nvSpPr>
          <p:spPr bwMode="auto">
            <a:xfrm>
              <a:off x="2758" y="3722"/>
              <a:ext cx="0" cy="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84" name="Line 148"/>
            <p:cNvSpPr>
              <a:spLocks noChangeShapeType="1"/>
            </p:cNvSpPr>
            <p:nvPr/>
          </p:nvSpPr>
          <p:spPr bwMode="auto">
            <a:xfrm>
              <a:off x="432" y="3721"/>
              <a:ext cx="0" cy="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85" name="Rectangle 149"/>
            <p:cNvSpPr>
              <a:spLocks noChangeArrowheads="1"/>
            </p:cNvSpPr>
            <p:nvPr/>
          </p:nvSpPr>
          <p:spPr bwMode="auto">
            <a:xfrm>
              <a:off x="354" y="3743"/>
              <a:ext cx="5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1200">
                  <a:latin typeface="Times New Roman" pitchFamily="18" charset="0"/>
                </a:rPr>
                <a:t>worst case</a:t>
              </a:r>
            </a:p>
          </p:txBody>
        </p:sp>
        <p:sp>
          <p:nvSpPr>
            <p:cNvPr id="12486" name="Rectangle 150"/>
            <p:cNvSpPr>
              <a:spLocks noChangeArrowheads="1"/>
            </p:cNvSpPr>
            <p:nvPr/>
          </p:nvSpPr>
          <p:spPr bwMode="auto">
            <a:xfrm>
              <a:off x="2308" y="3743"/>
              <a:ext cx="5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1200">
                  <a:latin typeface="Times New Roman" pitchFamily="18" charset="0"/>
                </a:rPr>
                <a:t>best case</a:t>
              </a:r>
            </a:p>
          </p:txBody>
        </p:sp>
      </p:grpSp>
      <p:sp>
        <p:nvSpPr>
          <p:cNvPr id="12420" name="Freeform 152"/>
          <p:cNvSpPr>
            <a:spLocks/>
          </p:cNvSpPr>
          <p:nvPr/>
        </p:nvSpPr>
        <p:spPr bwMode="auto">
          <a:xfrm>
            <a:off x="684213" y="3827463"/>
            <a:ext cx="3698875" cy="2065337"/>
          </a:xfrm>
          <a:custGeom>
            <a:avLst/>
            <a:gdLst>
              <a:gd name="T0" fmla="*/ 0 w 2330"/>
              <a:gd name="T1" fmla="*/ 0 h 1301"/>
              <a:gd name="T2" fmla="*/ 2147483647 w 2330"/>
              <a:gd name="T3" fmla="*/ 0 h 1301"/>
              <a:gd name="T4" fmla="*/ 2147483647 w 2330"/>
              <a:gd name="T5" fmla="*/ 2147483647 h 1301"/>
              <a:gd name="T6" fmla="*/ 0 w 2330"/>
              <a:gd name="T7" fmla="*/ 2147483647 h 1301"/>
              <a:gd name="T8" fmla="*/ 0 w 2330"/>
              <a:gd name="T9" fmla="*/ 0 h 1301"/>
              <a:gd name="T10" fmla="*/ 0 60000 65536"/>
              <a:gd name="T11" fmla="*/ 0 60000 65536"/>
              <a:gd name="T12" fmla="*/ 0 60000 65536"/>
              <a:gd name="T13" fmla="*/ 0 60000 65536"/>
              <a:gd name="T14" fmla="*/ 0 60000 65536"/>
              <a:gd name="T15" fmla="*/ 0 w 2330"/>
              <a:gd name="T16" fmla="*/ 0 h 1301"/>
              <a:gd name="T17" fmla="*/ 2330 w 2330"/>
              <a:gd name="T18" fmla="*/ 1301 h 1301"/>
            </a:gdLst>
            <a:ahLst/>
            <a:cxnLst>
              <a:cxn ang="T10">
                <a:pos x="T0" y="T1"/>
              </a:cxn>
              <a:cxn ang="T11">
                <a:pos x="T2" y="T3"/>
              </a:cxn>
              <a:cxn ang="T12">
                <a:pos x="T4" y="T5"/>
              </a:cxn>
              <a:cxn ang="T13">
                <a:pos x="T6" y="T7"/>
              </a:cxn>
              <a:cxn ang="T14">
                <a:pos x="T8" y="T9"/>
              </a:cxn>
            </a:cxnLst>
            <a:rect l="T15" t="T16" r="T17" b="T18"/>
            <a:pathLst>
              <a:path w="2330" h="1301">
                <a:moveTo>
                  <a:pt x="0" y="0"/>
                </a:moveTo>
                <a:lnTo>
                  <a:pt x="2329" y="0"/>
                </a:lnTo>
                <a:lnTo>
                  <a:pt x="2329" y="1300"/>
                </a:lnTo>
                <a:lnTo>
                  <a:pt x="0" y="130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2421" name="Freeform 207"/>
          <p:cNvSpPr>
            <a:spLocks/>
          </p:cNvSpPr>
          <p:nvPr/>
        </p:nvSpPr>
        <p:spPr bwMode="auto">
          <a:xfrm>
            <a:off x="3536950" y="5889625"/>
            <a:ext cx="55563" cy="26988"/>
          </a:xfrm>
          <a:custGeom>
            <a:avLst/>
            <a:gdLst>
              <a:gd name="T0" fmla="*/ 0 w 34"/>
              <a:gd name="T1" fmla="*/ 0 h 17"/>
              <a:gd name="T2" fmla="*/ 45401500 w 34"/>
              <a:gd name="T3" fmla="*/ 0 h 17"/>
              <a:gd name="T4" fmla="*/ 88131075 w 34"/>
              <a:gd name="T5" fmla="*/ 40323241 h 17"/>
              <a:gd name="T6" fmla="*/ 0 60000 65536"/>
              <a:gd name="T7" fmla="*/ 0 60000 65536"/>
              <a:gd name="T8" fmla="*/ 0 60000 65536"/>
              <a:gd name="T9" fmla="*/ 0 w 34"/>
              <a:gd name="T10" fmla="*/ 0 h 17"/>
              <a:gd name="T11" fmla="*/ 34 w 34"/>
              <a:gd name="T12" fmla="*/ 17 h 17"/>
            </a:gdLst>
            <a:ahLst/>
            <a:cxnLst>
              <a:cxn ang="T6">
                <a:pos x="T0" y="T1"/>
              </a:cxn>
              <a:cxn ang="T7">
                <a:pos x="T2" y="T3"/>
              </a:cxn>
              <a:cxn ang="T8">
                <a:pos x="T4" y="T5"/>
              </a:cxn>
            </a:cxnLst>
            <a:rect l="T9" t="T10" r="T11" b="T12"/>
            <a:pathLst>
              <a:path w="34" h="17">
                <a:moveTo>
                  <a:pt x="0" y="0"/>
                </a:moveTo>
                <a:lnTo>
                  <a:pt x="17" y="0"/>
                </a:lnTo>
                <a:lnTo>
                  <a:pt x="33"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422" name="Group 213"/>
          <p:cNvGrpSpPr>
            <a:grpSpLocks/>
          </p:cNvGrpSpPr>
          <p:nvPr/>
        </p:nvGrpSpPr>
        <p:grpSpPr bwMode="auto">
          <a:xfrm>
            <a:off x="684213" y="3956050"/>
            <a:ext cx="3168650" cy="1935163"/>
            <a:chOff x="431" y="2492"/>
            <a:chExt cx="1996" cy="1219"/>
          </a:xfrm>
        </p:grpSpPr>
        <p:sp>
          <p:nvSpPr>
            <p:cNvPr id="12423" name="Freeform 153"/>
            <p:cNvSpPr>
              <a:spLocks/>
            </p:cNvSpPr>
            <p:nvPr/>
          </p:nvSpPr>
          <p:spPr bwMode="auto">
            <a:xfrm>
              <a:off x="431" y="3226"/>
              <a:ext cx="35" cy="483"/>
            </a:xfrm>
            <a:custGeom>
              <a:avLst/>
              <a:gdLst>
                <a:gd name="T0" fmla="*/ 0 w 35"/>
                <a:gd name="T1" fmla="*/ 482 h 483"/>
                <a:gd name="T2" fmla="*/ 4 w 35"/>
                <a:gd name="T3" fmla="*/ 421 h 483"/>
                <a:gd name="T4" fmla="*/ 9 w 35"/>
                <a:gd name="T5" fmla="*/ 358 h 483"/>
                <a:gd name="T6" fmla="*/ 13 w 35"/>
                <a:gd name="T7" fmla="*/ 296 h 483"/>
                <a:gd name="T8" fmla="*/ 17 w 35"/>
                <a:gd name="T9" fmla="*/ 232 h 483"/>
                <a:gd name="T10" fmla="*/ 21 w 35"/>
                <a:gd name="T11" fmla="*/ 171 h 483"/>
                <a:gd name="T12" fmla="*/ 25 w 35"/>
                <a:gd name="T13" fmla="*/ 111 h 483"/>
                <a:gd name="T14" fmla="*/ 27 w 35"/>
                <a:gd name="T15" fmla="*/ 82 h 483"/>
                <a:gd name="T16" fmla="*/ 30 w 35"/>
                <a:gd name="T17" fmla="*/ 54 h 483"/>
                <a:gd name="T18" fmla="*/ 32 w 35"/>
                <a:gd name="T19" fmla="*/ 27 h 483"/>
                <a:gd name="T20" fmla="*/ 34 w 35"/>
                <a:gd name="T21" fmla="*/ 0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83"/>
                <a:gd name="T35" fmla="*/ 35 w 3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83">
                  <a:moveTo>
                    <a:pt x="0" y="482"/>
                  </a:moveTo>
                  <a:lnTo>
                    <a:pt x="4" y="421"/>
                  </a:lnTo>
                  <a:lnTo>
                    <a:pt x="9" y="358"/>
                  </a:lnTo>
                  <a:lnTo>
                    <a:pt x="13" y="296"/>
                  </a:lnTo>
                  <a:lnTo>
                    <a:pt x="17" y="232"/>
                  </a:lnTo>
                  <a:lnTo>
                    <a:pt x="21" y="171"/>
                  </a:lnTo>
                  <a:lnTo>
                    <a:pt x="25" y="111"/>
                  </a:lnTo>
                  <a:lnTo>
                    <a:pt x="27" y="82"/>
                  </a:lnTo>
                  <a:lnTo>
                    <a:pt x="30" y="54"/>
                  </a:lnTo>
                  <a:lnTo>
                    <a:pt x="32" y="27"/>
                  </a:lnTo>
                  <a:lnTo>
                    <a:pt x="34"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24" name="Freeform 154"/>
            <p:cNvSpPr>
              <a:spLocks/>
            </p:cNvSpPr>
            <p:nvPr/>
          </p:nvSpPr>
          <p:spPr bwMode="auto">
            <a:xfrm>
              <a:off x="465" y="2879"/>
              <a:ext cx="33" cy="348"/>
            </a:xfrm>
            <a:custGeom>
              <a:avLst/>
              <a:gdLst>
                <a:gd name="T0" fmla="*/ 0 w 33"/>
                <a:gd name="T1" fmla="*/ 347 h 348"/>
                <a:gd name="T2" fmla="*/ 4 w 33"/>
                <a:gd name="T3" fmla="*/ 296 h 348"/>
                <a:gd name="T4" fmla="*/ 8 w 33"/>
                <a:gd name="T5" fmla="*/ 246 h 348"/>
                <a:gd name="T6" fmla="*/ 12 w 33"/>
                <a:gd name="T7" fmla="*/ 199 h 348"/>
                <a:gd name="T8" fmla="*/ 16 w 33"/>
                <a:gd name="T9" fmla="*/ 154 h 348"/>
                <a:gd name="T10" fmla="*/ 20 w 33"/>
                <a:gd name="T11" fmla="*/ 111 h 348"/>
                <a:gd name="T12" fmla="*/ 24 w 33"/>
                <a:gd name="T13" fmla="*/ 72 h 348"/>
                <a:gd name="T14" fmla="*/ 27 w 33"/>
                <a:gd name="T15" fmla="*/ 52 h 348"/>
                <a:gd name="T16" fmla="*/ 29 w 33"/>
                <a:gd name="T17" fmla="*/ 34 h 348"/>
                <a:gd name="T18" fmla="*/ 31 w 33"/>
                <a:gd name="T19" fmla="*/ 16 h 348"/>
                <a:gd name="T20" fmla="*/ 32 w 33"/>
                <a:gd name="T21" fmla="*/ 0 h 3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348"/>
                <a:gd name="T35" fmla="*/ 33 w 33"/>
                <a:gd name="T36" fmla="*/ 348 h 3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348">
                  <a:moveTo>
                    <a:pt x="0" y="347"/>
                  </a:moveTo>
                  <a:lnTo>
                    <a:pt x="4" y="296"/>
                  </a:lnTo>
                  <a:lnTo>
                    <a:pt x="8" y="246"/>
                  </a:lnTo>
                  <a:lnTo>
                    <a:pt x="12" y="199"/>
                  </a:lnTo>
                  <a:lnTo>
                    <a:pt x="16" y="154"/>
                  </a:lnTo>
                  <a:lnTo>
                    <a:pt x="20" y="111"/>
                  </a:lnTo>
                  <a:lnTo>
                    <a:pt x="24" y="72"/>
                  </a:lnTo>
                  <a:lnTo>
                    <a:pt x="27" y="52"/>
                  </a:lnTo>
                  <a:lnTo>
                    <a:pt x="29" y="34"/>
                  </a:lnTo>
                  <a:lnTo>
                    <a:pt x="31" y="16"/>
                  </a:lnTo>
                  <a:lnTo>
                    <a:pt x="32"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25" name="Freeform 155"/>
            <p:cNvSpPr>
              <a:spLocks/>
            </p:cNvSpPr>
            <p:nvPr/>
          </p:nvSpPr>
          <p:spPr bwMode="auto">
            <a:xfrm>
              <a:off x="497" y="2704"/>
              <a:ext cx="35" cy="176"/>
            </a:xfrm>
            <a:custGeom>
              <a:avLst/>
              <a:gdLst>
                <a:gd name="T0" fmla="*/ 0 w 35"/>
                <a:gd name="T1" fmla="*/ 175 h 176"/>
                <a:gd name="T2" fmla="*/ 2 w 35"/>
                <a:gd name="T3" fmla="*/ 159 h 176"/>
                <a:gd name="T4" fmla="*/ 4 w 35"/>
                <a:gd name="T5" fmla="*/ 144 h 176"/>
                <a:gd name="T6" fmla="*/ 7 w 35"/>
                <a:gd name="T7" fmla="*/ 130 h 176"/>
                <a:gd name="T8" fmla="*/ 9 w 35"/>
                <a:gd name="T9" fmla="*/ 117 h 176"/>
                <a:gd name="T10" fmla="*/ 11 w 35"/>
                <a:gd name="T11" fmla="*/ 105 h 176"/>
                <a:gd name="T12" fmla="*/ 13 w 35"/>
                <a:gd name="T13" fmla="*/ 93 h 176"/>
                <a:gd name="T14" fmla="*/ 17 w 35"/>
                <a:gd name="T15" fmla="*/ 72 h 176"/>
                <a:gd name="T16" fmla="*/ 22 w 35"/>
                <a:gd name="T17" fmla="*/ 53 h 176"/>
                <a:gd name="T18" fmla="*/ 25 w 35"/>
                <a:gd name="T19" fmla="*/ 34 h 176"/>
                <a:gd name="T20" fmla="*/ 34 w 35"/>
                <a:gd name="T21" fmla="*/ 0 h 1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176"/>
                <a:gd name="T35" fmla="*/ 35 w 35"/>
                <a:gd name="T36" fmla="*/ 176 h 1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176">
                  <a:moveTo>
                    <a:pt x="0" y="175"/>
                  </a:moveTo>
                  <a:lnTo>
                    <a:pt x="2" y="159"/>
                  </a:lnTo>
                  <a:lnTo>
                    <a:pt x="4" y="144"/>
                  </a:lnTo>
                  <a:lnTo>
                    <a:pt x="7" y="130"/>
                  </a:lnTo>
                  <a:lnTo>
                    <a:pt x="9" y="117"/>
                  </a:lnTo>
                  <a:lnTo>
                    <a:pt x="11" y="105"/>
                  </a:lnTo>
                  <a:lnTo>
                    <a:pt x="13" y="93"/>
                  </a:lnTo>
                  <a:lnTo>
                    <a:pt x="17" y="72"/>
                  </a:lnTo>
                  <a:lnTo>
                    <a:pt x="22" y="53"/>
                  </a:lnTo>
                  <a:lnTo>
                    <a:pt x="25" y="34"/>
                  </a:lnTo>
                  <a:lnTo>
                    <a:pt x="34"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26" name="Freeform 156"/>
            <p:cNvSpPr>
              <a:spLocks/>
            </p:cNvSpPr>
            <p:nvPr/>
          </p:nvSpPr>
          <p:spPr bwMode="auto">
            <a:xfrm>
              <a:off x="531" y="2599"/>
              <a:ext cx="35" cy="106"/>
            </a:xfrm>
            <a:custGeom>
              <a:avLst/>
              <a:gdLst>
                <a:gd name="T0" fmla="*/ 0 w 35"/>
                <a:gd name="T1" fmla="*/ 105 h 106"/>
                <a:gd name="T2" fmla="*/ 4 w 35"/>
                <a:gd name="T3" fmla="*/ 89 h 106"/>
                <a:gd name="T4" fmla="*/ 9 w 35"/>
                <a:gd name="T5" fmla="*/ 73 h 106"/>
                <a:gd name="T6" fmla="*/ 13 w 35"/>
                <a:gd name="T7" fmla="*/ 59 h 106"/>
                <a:gd name="T8" fmla="*/ 17 w 35"/>
                <a:gd name="T9" fmla="*/ 45 h 106"/>
                <a:gd name="T10" fmla="*/ 21 w 35"/>
                <a:gd name="T11" fmla="*/ 33 h 106"/>
                <a:gd name="T12" fmla="*/ 25 w 35"/>
                <a:gd name="T13" fmla="*/ 21 h 106"/>
                <a:gd name="T14" fmla="*/ 34 w 35"/>
                <a:gd name="T15" fmla="*/ 0 h 106"/>
                <a:gd name="T16" fmla="*/ 0 60000 65536"/>
                <a:gd name="T17" fmla="*/ 0 60000 65536"/>
                <a:gd name="T18" fmla="*/ 0 60000 65536"/>
                <a:gd name="T19" fmla="*/ 0 60000 65536"/>
                <a:gd name="T20" fmla="*/ 0 60000 65536"/>
                <a:gd name="T21" fmla="*/ 0 60000 65536"/>
                <a:gd name="T22" fmla="*/ 0 60000 65536"/>
                <a:gd name="T23" fmla="*/ 0 60000 65536"/>
                <a:gd name="T24" fmla="*/ 0 w 35"/>
                <a:gd name="T25" fmla="*/ 0 h 106"/>
                <a:gd name="T26" fmla="*/ 35 w 35"/>
                <a:gd name="T27" fmla="*/ 106 h 1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 h="106">
                  <a:moveTo>
                    <a:pt x="0" y="105"/>
                  </a:moveTo>
                  <a:lnTo>
                    <a:pt x="4" y="89"/>
                  </a:lnTo>
                  <a:lnTo>
                    <a:pt x="9" y="73"/>
                  </a:lnTo>
                  <a:lnTo>
                    <a:pt x="13" y="59"/>
                  </a:lnTo>
                  <a:lnTo>
                    <a:pt x="17" y="45"/>
                  </a:lnTo>
                  <a:lnTo>
                    <a:pt x="21" y="33"/>
                  </a:lnTo>
                  <a:lnTo>
                    <a:pt x="25" y="21"/>
                  </a:lnTo>
                  <a:lnTo>
                    <a:pt x="34"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27" name="Freeform 157"/>
            <p:cNvSpPr>
              <a:spLocks/>
            </p:cNvSpPr>
            <p:nvPr/>
          </p:nvSpPr>
          <p:spPr bwMode="auto">
            <a:xfrm>
              <a:off x="565" y="2536"/>
              <a:ext cx="33" cy="64"/>
            </a:xfrm>
            <a:custGeom>
              <a:avLst/>
              <a:gdLst>
                <a:gd name="T0" fmla="*/ 0 w 33"/>
                <a:gd name="T1" fmla="*/ 63 h 64"/>
                <a:gd name="T2" fmla="*/ 4 w 33"/>
                <a:gd name="T3" fmla="*/ 53 h 64"/>
                <a:gd name="T4" fmla="*/ 8 w 33"/>
                <a:gd name="T5" fmla="*/ 44 h 64"/>
                <a:gd name="T6" fmla="*/ 16 w 33"/>
                <a:gd name="T7" fmla="*/ 27 h 64"/>
                <a:gd name="T8" fmla="*/ 24 w 33"/>
                <a:gd name="T9" fmla="*/ 12 h 64"/>
                <a:gd name="T10" fmla="*/ 32 w 33"/>
                <a:gd name="T11" fmla="*/ 0 h 64"/>
                <a:gd name="T12" fmla="*/ 0 60000 65536"/>
                <a:gd name="T13" fmla="*/ 0 60000 65536"/>
                <a:gd name="T14" fmla="*/ 0 60000 65536"/>
                <a:gd name="T15" fmla="*/ 0 60000 65536"/>
                <a:gd name="T16" fmla="*/ 0 60000 65536"/>
                <a:gd name="T17" fmla="*/ 0 60000 65536"/>
                <a:gd name="T18" fmla="*/ 0 w 33"/>
                <a:gd name="T19" fmla="*/ 0 h 64"/>
                <a:gd name="T20" fmla="*/ 33 w 33"/>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33" h="64">
                  <a:moveTo>
                    <a:pt x="0" y="63"/>
                  </a:moveTo>
                  <a:lnTo>
                    <a:pt x="4" y="53"/>
                  </a:lnTo>
                  <a:lnTo>
                    <a:pt x="8" y="44"/>
                  </a:lnTo>
                  <a:lnTo>
                    <a:pt x="16" y="27"/>
                  </a:lnTo>
                  <a:lnTo>
                    <a:pt x="24" y="12"/>
                  </a:lnTo>
                  <a:lnTo>
                    <a:pt x="32"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28" name="Freeform 158"/>
            <p:cNvSpPr>
              <a:spLocks/>
            </p:cNvSpPr>
            <p:nvPr/>
          </p:nvSpPr>
          <p:spPr bwMode="auto">
            <a:xfrm>
              <a:off x="597" y="2503"/>
              <a:ext cx="35" cy="34"/>
            </a:xfrm>
            <a:custGeom>
              <a:avLst/>
              <a:gdLst>
                <a:gd name="T0" fmla="*/ 0 w 35"/>
                <a:gd name="T1" fmla="*/ 33 h 34"/>
                <a:gd name="T2" fmla="*/ 9 w 35"/>
                <a:gd name="T3" fmla="*/ 22 h 34"/>
                <a:gd name="T4" fmla="*/ 17 w 35"/>
                <a:gd name="T5" fmla="*/ 14 h 34"/>
                <a:gd name="T6" fmla="*/ 25 w 35"/>
                <a:gd name="T7" fmla="*/ 6 h 34"/>
                <a:gd name="T8" fmla="*/ 34 w 35"/>
                <a:gd name="T9" fmla="*/ 0 h 34"/>
                <a:gd name="T10" fmla="*/ 0 60000 65536"/>
                <a:gd name="T11" fmla="*/ 0 60000 65536"/>
                <a:gd name="T12" fmla="*/ 0 60000 65536"/>
                <a:gd name="T13" fmla="*/ 0 60000 65536"/>
                <a:gd name="T14" fmla="*/ 0 60000 65536"/>
                <a:gd name="T15" fmla="*/ 0 w 35"/>
                <a:gd name="T16" fmla="*/ 0 h 34"/>
                <a:gd name="T17" fmla="*/ 35 w 35"/>
                <a:gd name="T18" fmla="*/ 34 h 34"/>
              </a:gdLst>
              <a:ahLst/>
              <a:cxnLst>
                <a:cxn ang="T10">
                  <a:pos x="T0" y="T1"/>
                </a:cxn>
                <a:cxn ang="T11">
                  <a:pos x="T2" y="T3"/>
                </a:cxn>
                <a:cxn ang="T12">
                  <a:pos x="T4" y="T5"/>
                </a:cxn>
                <a:cxn ang="T13">
                  <a:pos x="T6" y="T7"/>
                </a:cxn>
                <a:cxn ang="T14">
                  <a:pos x="T8" y="T9"/>
                </a:cxn>
              </a:cxnLst>
              <a:rect l="T15" t="T16" r="T17" b="T18"/>
              <a:pathLst>
                <a:path w="35" h="34">
                  <a:moveTo>
                    <a:pt x="0" y="33"/>
                  </a:moveTo>
                  <a:lnTo>
                    <a:pt x="9" y="22"/>
                  </a:lnTo>
                  <a:lnTo>
                    <a:pt x="17" y="14"/>
                  </a:lnTo>
                  <a:lnTo>
                    <a:pt x="25" y="6"/>
                  </a:lnTo>
                  <a:lnTo>
                    <a:pt x="34"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29" name="Freeform 159"/>
            <p:cNvSpPr>
              <a:spLocks/>
            </p:cNvSpPr>
            <p:nvPr/>
          </p:nvSpPr>
          <p:spPr bwMode="auto">
            <a:xfrm>
              <a:off x="631" y="2492"/>
              <a:ext cx="34" cy="17"/>
            </a:xfrm>
            <a:custGeom>
              <a:avLst/>
              <a:gdLst>
                <a:gd name="T0" fmla="*/ 0 w 34"/>
                <a:gd name="T1" fmla="*/ 16 h 17"/>
                <a:gd name="T2" fmla="*/ 9 w 34"/>
                <a:gd name="T3" fmla="*/ 10 h 17"/>
                <a:gd name="T4" fmla="*/ 16 w 34"/>
                <a:gd name="T5" fmla="*/ 5 h 17"/>
                <a:gd name="T6" fmla="*/ 24 w 34"/>
                <a:gd name="T7" fmla="*/ 1 h 17"/>
                <a:gd name="T8" fmla="*/ 33 w 34"/>
                <a:gd name="T9" fmla="*/ 0 h 17"/>
                <a:gd name="T10" fmla="*/ 0 60000 65536"/>
                <a:gd name="T11" fmla="*/ 0 60000 65536"/>
                <a:gd name="T12" fmla="*/ 0 60000 65536"/>
                <a:gd name="T13" fmla="*/ 0 60000 65536"/>
                <a:gd name="T14" fmla="*/ 0 60000 65536"/>
                <a:gd name="T15" fmla="*/ 0 w 34"/>
                <a:gd name="T16" fmla="*/ 0 h 17"/>
                <a:gd name="T17" fmla="*/ 34 w 34"/>
                <a:gd name="T18" fmla="*/ 17 h 17"/>
              </a:gdLst>
              <a:ahLst/>
              <a:cxnLst>
                <a:cxn ang="T10">
                  <a:pos x="T0" y="T1"/>
                </a:cxn>
                <a:cxn ang="T11">
                  <a:pos x="T2" y="T3"/>
                </a:cxn>
                <a:cxn ang="T12">
                  <a:pos x="T4" y="T5"/>
                </a:cxn>
                <a:cxn ang="T13">
                  <a:pos x="T6" y="T7"/>
                </a:cxn>
                <a:cxn ang="T14">
                  <a:pos x="T8" y="T9"/>
                </a:cxn>
              </a:cxnLst>
              <a:rect l="T15" t="T16" r="T17" b="T18"/>
              <a:pathLst>
                <a:path w="34" h="17">
                  <a:moveTo>
                    <a:pt x="0" y="16"/>
                  </a:moveTo>
                  <a:lnTo>
                    <a:pt x="9" y="10"/>
                  </a:lnTo>
                  <a:lnTo>
                    <a:pt x="16" y="5"/>
                  </a:lnTo>
                  <a:lnTo>
                    <a:pt x="24" y="1"/>
                  </a:lnTo>
                  <a:lnTo>
                    <a:pt x="33" y="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30" name="Freeform 160"/>
            <p:cNvSpPr>
              <a:spLocks/>
            </p:cNvSpPr>
            <p:nvPr/>
          </p:nvSpPr>
          <p:spPr bwMode="auto">
            <a:xfrm>
              <a:off x="664" y="2492"/>
              <a:ext cx="34" cy="17"/>
            </a:xfrm>
            <a:custGeom>
              <a:avLst/>
              <a:gdLst>
                <a:gd name="T0" fmla="*/ 0 w 34"/>
                <a:gd name="T1" fmla="*/ 0 h 17"/>
                <a:gd name="T2" fmla="*/ 8 w 34"/>
                <a:gd name="T3" fmla="*/ 0 h 17"/>
                <a:gd name="T4" fmla="*/ 16 w 34"/>
                <a:gd name="T5" fmla="*/ 0 h 17"/>
                <a:gd name="T6" fmla="*/ 25 w 34"/>
                <a:gd name="T7" fmla="*/ 8 h 17"/>
                <a:gd name="T8" fmla="*/ 33 w 34"/>
                <a:gd name="T9" fmla="*/ 16 h 17"/>
                <a:gd name="T10" fmla="*/ 0 60000 65536"/>
                <a:gd name="T11" fmla="*/ 0 60000 65536"/>
                <a:gd name="T12" fmla="*/ 0 60000 65536"/>
                <a:gd name="T13" fmla="*/ 0 60000 65536"/>
                <a:gd name="T14" fmla="*/ 0 60000 65536"/>
                <a:gd name="T15" fmla="*/ 0 w 34"/>
                <a:gd name="T16" fmla="*/ 0 h 17"/>
                <a:gd name="T17" fmla="*/ 34 w 34"/>
                <a:gd name="T18" fmla="*/ 17 h 17"/>
              </a:gdLst>
              <a:ahLst/>
              <a:cxnLst>
                <a:cxn ang="T10">
                  <a:pos x="T0" y="T1"/>
                </a:cxn>
                <a:cxn ang="T11">
                  <a:pos x="T2" y="T3"/>
                </a:cxn>
                <a:cxn ang="T12">
                  <a:pos x="T4" y="T5"/>
                </a:cxn>
                <a:cxn ang="T13">
                  <a:pos x="T6" y="T7"/>
                </a:cxn>
                <a:cxn ang="T14">
                  <a:pos x="T8" y="T9"/>
                </a:cxn>
              </a:cxnLst>
              <a:rect l="T15" t="T16" r="T17" b="T18"/>
              <a:pathLst>
                <a:path w="34" h="17">
                  <a:moveTo>
                    <a:pt x="0" y="0"/>
                  </a:moveTo>
                  <a:lnTo>
                    <a:pt x="8" y="0"/>
                  </a:lnTo>
                  <a:lnTo>
                    <a:pt x="16" y="0"/>
                  </a:lnTo>
                  <a:lnTo>
                    <a:pt x="25" y="8"/>
                  </a:lnTo>
                  <a:lnTo>
                    <a:pt x="33"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31" name="Freeform 161"/>
            <p:cNvSpPr>
              <a:spLocks/>
            </p:cNvSpPr>
            <p:nvPr/>
          </p:nvSpPr>
          <p:spPr bwMode="auto">
            <a:xfrm>
              <a:off x="697" y="2496"/>
              <a:ext cx="35" cy="18"/>
            </a:xfrm>
            <a:custGeom>
              <a:avLst/>
              <a:gdLst>
                <a:gd name="T0" fmla="*/ 0 w 35"/>
                <a:gd name="T1" fmla="*/ 0 h 18"/>
                <a:gd name="T2" fmla="*/ 9 w 35"/>
                <a:gd name="T3" fmla="*/ 3 h 18"/>
                <a:gd name="T4" fmla="*/ 18 w 35"/>
                <a:gd name="T5" fmla="*/ 6 h 18"/>
                <a:gd name="T6" fmla="*/ 25 w 35"/>
                <a:gd name="T7" fmla="*/ 11 h 18"/>
                <a:gd name="T8" fmla="*/ 34 w 35"/>
                <a:gd name="T9" fmla="*/ 17 h 18"/>
                <a:gd name="T10" fmla="*/ 0 60000 65536"/>
                <a:gd name="T11" fmla="*/ 0 60000 65536"/>
                <a:gd name="T12" fmla="*/ 0 60000 65536"/>
                <a:gd name="T13" fmla="*/ 0 60000 65536"/>
                <a:gd name="T14" fmla="*/ 0 60000 65536"/>
                <a:gd name="T15" fmla="*/ 0 w 35"/>
                <a:gd name="T16" fmla="*/ 0 h 18"/>
                <a:gd name="T17" fmla="*/ 35 w 35"/>
                <a:gd name="T18" fmla="*/ 18 h 18"/>
              </a:gdLst>
              <a:ahLst/>
              <a:cxnLst>
                <a:cxn ang="T10">
                  <a:pos x="T0" y="T1"/>
                </a:cxn>
                <a:cxn ang="T11">
                  <a:pos x="T2" y="T3"/>
                </a:cxn>
                <a:cxn ang="T12">
                  <a:pos x="T4" y="T5"/>
                </a:cxn>
                <a:cxn ang="T13">
                  <a:pos x="T6" y="T7"/>
                </a:cxn>
                <a:cxn ang="T14">
                  <a:pos x="T8" y="T9"/>
                </a:cxn>
              </a:cxnLst>
              <a:rect l="T15" t="T16" r="T17" b="T18"/>
              <a:pathLst>
                <a:path w="35" h="18">
                  <a:moveTo>
                    <a:pt x="0" y="0"/>
                  </a:moveTo>
                  <a:lnTo>
                    <a:pt x="9" y="3"/>
                  </a:lnTo>
                  <a:lnTo>
                    <a:pt x="18" y="6"/>
                  </a:lnTo>
                  <a:lnTo>
                    <a:pt x="25" y="11"/>
                  </a:lnTo>
                  <a:lnTo>
                    <a:pt x="34" y="17"/>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32" name="Freeform 162"/>
            <p:cNvSpPr>
              <a:spLocks/>
            </p:cNvSpPr>
            <p:nvPr/>
          </p:nvSpPr>
          <p:spPr bwMode="auto">
            <a:xfrm>
              <a:off x="731" y="2513"/>
              <a:ext cx="34" cy="28"/>
            </a:xfrm>
            <a:custGeom>
              <a:avLst/>
              <a:gdLst>
                <a:gd name="T0" fmla="*/ 0 w 34"/>
                <a:gd name="T1" fmla="*/ 0 h 28"/>
                <a:gd name="T2" fmla="*/ 9 w 34"/>
                <a:gd name="T3" fmla="*/ 6 h 28"/>
                <a:gd name="T4" fmla="*/ 16 w 34"/>
                <a:gd name="T5" fmla="*/ 12 h 28"/>
                <a:gd name="T6" fmla="*/ 33 w 34"/>
                <a:gd name="T7" fmla="*/ 27 h 28"/>
                <a:gd name="T8" fmla="*/ 0 60000 65536"/>
                <a:gd name="T9" fmla="*/ 0 60000 65536"/>
                <a:gd name="T10" fmla="*/ 0 60000 65536"/>
                <a:gd name="T11" fmla="*/ 0 60000 65536"/>
                <a:gd name="T12" fmla="*/ 0 w 34"/>
                <a:gd name="T13" fmla="*/ 0 h 28"/>
                <a:gd name="T14" fmla="*/ 34 w 34"/>
                <a:gd name="T15" fmla="*/ 28 h 28"/>
              </a:gdLst>
              <a:ahLst/>
              <a:cxnLst>
                <a:cxn ang="T8">
                  <a:pos x="T0" y="T1"/>
                </a:cxn>
                <a:cxn ang="T9">
                  <a:pos x="T2" y="T3"/>
                </a:cxn>
                <a:cxn ang="T10">
                  <a:pos x="T4" y="T5"/>
                </a:cxn>
                <a:cxn ang="T11">
                  <a:pos x="T6" y="T7"/>
                </a:cxn>
              </a:cxnLst>
              <a:rect l="T12" t="T13" r="T14" b="T15"/>
              <a:pathLst>
                <a:path w="34" h="28">
                  <a:moveTo>
                    <a:pt x="0" y="0"/>
                  </a:moveTo>
                  <a:lnTo>
                    <a:pt x="9" y="6"/>
                  </a:lnTo>
                  <a:lnTo>
                    <a:pt x="16" y="12"/>
                  </a:lnTo>
                  <a:lnTo>
                    <a:pt x="33" y="27"/>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33" name="Freeform 163"/>
            <p:cNvSpPr>
              <a:spLocks/>
            </p:cNvSpPr>
            <p:nvPr/>
          </p:nvSpPr>
          <p:spPr bwMode="auto">
            <a:xfrm>
              <a:off x="764" y="2540"/>
              <a:ext cx="34" cy="35"/>
            </a:xfrm>
            <a:custGeom>
              <a:avLst/>
              <a:gdLst>
                <a:gd name="T0" fmla="*/ 0 w 34"/>
                <a:gd name="T1" fmla="*/ 0 h 35"/>
                <a:gd name="T2" fmla="*/ 16 w 34"/>
                <a:gd name="T3" fmla="*/ 16 h 35"/>
                <a:gd name="T4" fmla="*/ 33 w 34"/>
                <a:gd name="T5" fmla="*/ 34 h 35"/>
                <a:gd name="T6" fmla="*/ 0 60000 65536"/>
                <a:gd name="T7" fmla="*/ 0 60000 65536"/>
                <a:gd name="T8" fmla="*/ 0 60000 65536"/>
                <a:gd name="T9" fmla="*/ 0 w 34"/>
                <a:gd name="T10" fmla="*/ 0 h 35"/>
                <a:gd name="T11" fmla="*/ 34 w 34"/>
                <a:gd name="T12" fmla="*/ 35 h 35"/>
              </a:gdLst>
              <a:ahLst/>
              <a:cxnLst>
                <a:cxn ang="T6">
                  <a:pos x="T0" y="T1"/>
                </a:cxn>
                <a:cxn ang="T7">
                  <a:pos x="T2" y="T3"/>
                </a:cxn>
                <a:cxn ang="T8">
                  <a:pos x="T4" y="T5"/>
                </a:cxn>
              </a:cxnLst>
              <a:rect l="T9" t="T10" r="T11" b="T12"/>
              <a:pathLst>
                <a:path w="34" h="35">
                  <a:moveTo>
                    <a:pt x="0" y="0"/>
                  </a:moveTo>
                  <a:lnTo>
                    <a:pt x="16" y="16"/>
                  </a:lnTo>
                  <a:lnTo>
                    <a:pt x="33" y="3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34" name="Freeform 164"/>
            <p:cNvSpPr>
              <a:spLocks/>
            </p:cNvSpPr>
            <p:nvPr/>
          </p:nvSpPr>
          <p:spPr bwMode="auto">
            <a:xfrm>
              <a:off x="797" y="2574"/>
              <a:ext cx="35" cy="42"/>
            </a:xfrm>
            <a:custGeom>
              <a:avLst/>
              <a:gdLst>
                <a:gd name="T0" fmla="*/ 0 w 35"/>
                <a:gd name="T1" fmla="*/ 0 h 42"/>
                <a:gd name="T2" fmla="*/ 17 w 35"/>
                <a:gd name="T3" fmla="*/ 20 h 42"/>
                <a:gd name="T4" fmla="*/ 34 w 35"/>
                <a:gd name="T5" fmla="*/ 41 h 42"/>
                <a:gd name="T6" fmla="*/ 0 60000 65536"/>
                <a:gd name="T7" fmla="*/ 0 60000 65536"/>
                <a:gd name="T8" fmla="*/ 0 60000 65536"/>
                <a:gd name="T9" fmla="*/ 0 w 35"/>
                <a:gd name="T10" fmla="*/ 0 h 42"/>
                <a:gd name="T11" fmla="*/ 35 w 35"/>
                <a:gd name="T12" fmla="*/ 42 h 42"/>
              </a:gdLst>
              <a:ahLst/>
              <a:cxnLst>
                <a:cxn ang="T6">
                  <a:pos x="T0" y="T1"/>
                </a:cxn>
                <a:cxn ang="T7">
                  <a:pos x="T2" y="T3"/>
                </a:cxn>
                <a:cxn ang="T8">
                  <a:pos x="T4" y="T5"/>
                </a:cxn>
              </a:cxnLst>
              <a:rect l="T9" t="T10" r="T11" b="T12"/>
              <a:pathLst>
                <a:path w="35" h="42">
                  <a:moveTo>
                    <a:pt x="0" y="0"/>
                  </a:moveTo>
                  <a:lnTo>
                    <a:pt x="17" y="20"/>
                  </a:lnTo>
                  <a:lnTo>
                    <a:pt x="34" y="41"/>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35" name="Freeform 165"/>
            <p:cNvSpPr>
              <a:spLocks/>
            </p:cNvSpPr>
            <p:nvPr/>
          </p:nvSpPr>
          <p:spPr bwMode="auto">
            <a:xfrm>
              <a:off x="831" y="2615"/>
              <a:ext cx="33" cy="46"/>
            </a:xfrm>
            <a:custGeom>
              <a:avLst/>
              <a:gdLst>
                <a:gd name="T0" fmla="*/ 0 w 33"/>
                <a:gd name="T1" fmla="*/ 0 h 46"/>
                <a:gd name="T2" fmla="*/ 16 w 33"/>
                <a:gd name="T3" fmla="*/ 22 h 46"/>
                <a:gd name="T4" fmla="*/ 32 w 33"/>
                <a:gd name="T5" fmla="*/ 45 h 46"/>
                <a:gd name="T6" fmla="*/ 0 60000 65536"/>
                <a:gd name="T7" fmla="*/ 0 60000 65536"/>
                <a:gd name="T8" fmla="*/ 0 60000 65536"/>
                <a:gd name="T9" fmla="*/ 0 w 33"/>
                <a:gd name="T10" fmla="*/ 0 h 46"/>
                <a:gd name="T11" fmla="*/ 33 w 33"/>
                <a:gd name="T12" fmla="*/ 46 h 46"/>
              </a:gdLst>
              <a:ahLst/>
              <a:cxnLst>
                <a:cxn ang="T6">
                  <a:pos x="T0" y="T1"/>
                </a:cxn>
                <a:cxn ang="T7">
                  <a:pos x="T2" y="T3"/>
                </a:cxn>
                <a:cxn ang="T8">
                  <a:pos x="T4" y="T5"/>
                </a:cxn>
              </a:cxnLst>
              <a:rect l="T9" t="T10" r="T11" b="T12"/>
              <a:pathLst>
                <a:path w="33" h="46">
                  <a:moveTo>
                    <a:pt x="0" y="0"/>
                  </a:moveTo>
                  <a:lnTo>
                    <a:pt x="16" y="22"/>
                  </a:lnTo>
                  <a:lnTo>
                    <a:pt x="32" y="45"/>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36" name="Freeform 166"/>
            <p:cNvSpPr>
              <a:spLocks/>
            </p:cNvSpPr>
            <p:nvPr/>
          </p:nvSpPr>
          <p:spPr bwMode="auto">
            <a:xfrm>
              <a:off x="863" y="2660"/>
              <a:ext cx="35" cy="49"/>
            </a:xfrm>
            <a:custGeom>
              <a:avLst/>
              <a:gdLst>
                <a:gd name="T0" fmla="*/ 0 w 35"/>
                <a:gd name="T1" fmla="*/ 0 h 49"/>
                <a:gd name="T2" fmla="*/ 17 w 35"/>
                <a:gd name="T3" fmla="*/ 24 h 49"/>
                <a:gd name="T4" fmla="*/ 34 w 35"/>
                <a:gd name="T5" fmla="*/ 48 h 49"/>
                <a:gd name="T6" fmla="*/ 0 60000 65536"/>
                <a:gd name="T7" fmla="*/ 0 60000 65536"/>
                <a:gd name="T8" fmla="*/ 0 60000 65536"/>
                <a:gd name="T9" fmla="*/ 0 w 35"/>
                <a:gd name="T10" fmla="*/ 0 h 49"/>
                <a:gd name="T11" fmla="*/ 35 w 35"/>
                <a:gd name="T12" fmla="*/ 49 h 49"/>
              </a:gdLst>
              <a:ahLst/>
              <a:cxnLst>
                <a:cxn ang="T6">
                  <a:pos x="T0" y="T1"/>
                </a:cxn>
                <a:cxn ang="T7">
                  <a:pos x="T2" y="T3"/>
                </a:cxn>
                <a:cxn ang="T8">
                  <a:pos x="T4" y="T5"/>
                </a:cxn>
              </a:cxnLst>
              <a:rect l="T9" t="T10" r="T11" b="T12"/>
              <a:pathLst>
                <a:path w="35" h="49">
                  <a:moveTo>
                    <a:pt x="0" y="0"/>
                  </a:moveTo>
                  <a:lnTo>
                    <a:pt x="17" y="24"/>
                  </a:lnTo>
                  <a:lnTo>
                    <a:pt x="34" y="48"/>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37" name="Line 167"/>
            <p:cNvSpPr>
              <a:spLocks noChangeShapeType="1"/>
            </p:cNvSpPr>
            <p:nvPr/>
          </p:nvSpPr>
          <p:spPr bwMode="auto">
            <a:xfrm>
              <a:off x="897" y="2708"/>
              <a:ext cx="33" cy="5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38" name="Freeform 168"/>
            <p:cNvSpPr>
              <a:spLocks/>
            </p:cNvSpPr>
            <p:nvPr/>
          </p:nvSpPr>
          <p:spPr bwMode="auto">
            <a:xfrm>
              <a:off x="930" y="2758"/>
              <a:ext cx="34" cy="53"/>
            </a:xfrm>
            <a:custGeom>
              <a:avLst/>
              <a:gdLst>
                <a:gd name="T0" fmla="*/ 0 w 34"/>
                <a:gd name="T1" fmla="*/ 0 h 53"/>
                <a:gd name="T2" fmla="*/ 16 w 34"/>
                <a:gd name="T3" fmla="*/ 26 h 53"/>
                <a:gd name="T4" fmla="*/ 33 w 34"/>
                <a:gd name="T5" fmla="*/ 52 h 53"/>
                <a:gd name="T6" fmla="*/ 0 60000 65536"/>
                <a:gd name="T7" fmla="*/ 0 60000 65536"/>
                <a:gd name="T8" fmla="*/ 0 60000 65536"/>
                <a:gd name="T9" fmla="*/ 0 w 34"/>
                <a:gd name="T10" fmla="*/ 0 h 53"/>
                <a:gd name="T11" fmla="*/ 34 w 34"/>
                <a:gd name="T12" fmla="*/ 53 h 53"/>
              </a:gdLst>
              <a:ahLst/>
              <a:cxnLst>
                <a:cxn ang="T6">
                  <a:pos x="T0" y="T1"/>
                </a:cxn>
                <a:cxn ang="T7">
                  <a:pos x="T2" y="T3"/>
                </a:cxn>
                <a:cxn ang="T8">
                  <a:pos x="T4" y="T5"/>
                </a:cxn>
              </a:cxnLst>
              <a:rect l="T9" t="T10" r="T11" b="T12"/>
              <a:pathLst>
                <a:path w="34" h="53">
                  <a:moveTo>
                    <a:pt x="0" y="0"/>
                  </a:moveTo>
                  <a:lnTo>
                    <a:pt x="16" y="26"/>
                  </a:lnTo>
                  <a:lnTo>
                    <a:pt x="33" y="52"/>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39" name="Line 169"/>
            <p:cNvSpPr>
              <a:spLocks noChangeShapeType="1"/>
            </p:cNvSpPr>
            <p:nvPr/>
          </p:nvSpPr>
          <p:spPr bwMode="auto">
            <a:xfrm>
              <a:off x="963" y="2810"/>
              <a:ext cx="34" cy="51"/>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40" name="Line 170"/>
            <p:cNvSpPr>
              <a:spLocks noChangeShapeType="1"/>
            </p:cNvSpPr>
            <p:nvPr/>
          </p:nvSpPr>
          <p:spPr bwMode="auto">
            <a:xfrm>
              <a:off x="997" y="2861"/>
              <a:ext cx="33" cy="52"/>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41" name="Freeform 171"/>
            <p:cNvSpPr>
              <a:spLocks/>
            </p:cNvSpPr>
            <p:nvPr/>
          </p:nvSpPr>
          <p:spPr bwMode="auto">
            <a:xfrm>
              <a:off x="1030" y="2913"/>
              <a:ext cx="34" cy="54"/>
            </a:xfrm>
            <a:custGeom>
              <a:avLst/>
              <a:gdLst>
                <a:gd name="T0" fmla="*/ 0 w 34"/>
                <a:gd name="T1" fmla="*/ 0 h 54"/>
                <a:gd name="T2" fmla="*/ 16 w 34"/>
                <a:gd name="T3" fmla="*/ 27 h 54"/>
                <a:gd name="T4" fmla="*/ 33 w 34"/>
                <a:gd name="T5" fmla="*/ 53 h 54"/>
                <a:gd name="T6" fmla="*/ 0 60000 65536"/>
                <a:gd name="T7" fmla="*/ 0 60000 65536"/>
                <a:gd name="T8" fmla="*/ 0 60000 65536"/>
                <a:gd name="T9" fmla="*/ 0 w 34"/>
                <a:gd name="T10" fmla="*/ 0 h 54"/>
                <a:gd name="T11" fmla="*/ 34 w 34"/>
                <a:gd name="T12" fmla="*/ 54 h 54"/>
              </a:gdLst>
              <a:ahLst/>
              <a:cxnLst>
                <a:cxn ang="T6">
                  <a:pos x="T0" y="T1"/>
                </a:cxn>
                <a:cxn ang="T7">
                  <a:pos x="T2" y="T3"/>
                </a:cxn>
                <a:cxn ang="T8">
                  <a:pos x="T4" y="T5"/>
                </a:cxn>
              </a:cxnLst>
              <a:rect l="T9" t="T10" r="T11" b="T12"/>
              <a:pathLst>
                <a:path w="34" h="54">
                  <a:moveTo>
                    <a:pt x="0" y="0"/>
                  </a:moveTo>
                  <a:lnTo>
                    <a:pt x="16" y="27"/>
                  </a:lnTo>
                  <a:lnTo>
                    <a:pt x="33" y="53"/>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42" name="Line 172"/>
            <p:cNvSpPr>
              <a:spLocks noChangeShapeType="1"/>
            </p:cNvSpPr>
            <p:nvPr/>
          </p:nvSpPr>
          <p:spPr bwMode="auto">
            <a:xfrm>
              <a:off x="1063" y="2966"/>
              <a:ext cx="34" cy="51"/>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43" name="Line 173"/>
            <p:cNvSpPr>
              <a:spLocks noChangeShapeType="1"/>
            </p:cNvSpPr>
            <p:nvPr/>
          </p:nvSpPr>
          <p:spPr bwMode="auto">
            <a:xfrm>
              <a:off x="1097" y="3017"/>
              <a:ext cx="33" cy="5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44" name="Freeform 174"/>
            <p:cNvSpPr>
              <a:spLocks/>
            </p:cNvSpPr>
            <p:nvPr/>
          </p:nvSpPr>
          <p:spPr bwMode="auto">
            <a:xfrm>
              <a:off x="1130" y="3067"/>
              <a:ext cx="34" cy="50"/>
            </a:xfrm>
            <a:custGeom>
              <a:avLst/>
              <a:gdLst>
                <a:gd name="T0" fmla="*/ 0 w 34"/>
                <a:gd name="T1" fmla="*/ 0 h 50"/>
                <a:gd name="T2" fmla="*/ 16 w 34"/>
                <a:gd name="T3" fmla="*/ 25 h 50"/>
                <a:gd name="T4" fmla="*/ 33 w 34"/>
                <a:gd name="T5" fmla="*/ 49 h 50"/>
                <a:gd name="T6" fmla="*/ 0 60000 65536"/>
                <a:gd name="T7" fmla="*/ 0 60000 65536"/>
                <a:gd name="T8" fmla="*/ 0 60000 65536"/>
                <a:gd name="T9" fmla="*/ 0 w 34"/>
                <a:gd name="T10" fmla="*/ 0 h 50"/>
                <a:gd name="T11" fmla="*/ 34 w 34"/>
                <a:gd name="T12" fmla="*/ 50 h 50"/>
              </a:gdLst>
              <a:ahLst/>
              <a:cxnLst>
                <a:cxn ang="T6">
                  <a:pos x="T0" y="T1"/>
                </a:cxn>
                <a:cxn ang="T7">
                  <a:pos x="T2" y="T3"/>
                </a:cxn>
                <a:cxn ang="T8">
                  <a:pos x="T4" y="T5"/>
                </a:cxn>
              </a:cxnLst>
              <a:rect l="T9" t="T10" r="T11" b="T12"/>
              <a:pathLst>
                <a:path w="34" h="50">
                  <a:moveTo>
                    <a:pt x="0" y="0"/>
                  </a:moveTo>
                  <a:lnTo>
                    <a:pt x="16" y="25"/>
                  </a:lnTo>
                  <a:lnTo>
                    <a:pt x="33" y="49"/>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45" name="Line 175"/>
            <p:cNvSpPr>
              <a:spLocks noChangeShapeType="1"/>
            </p:cNvSpPr>
            <p:nvPr/>
          </p:nvSpPr>
          <p:spPr bwMode="auto">
            <a:xfrm>
              <a:off x="1163" y="3116"/>
              <a:ext cx="33" cy="47"/>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46" name="Line 176"/>
            <p:cNvSpPr>
              <a:spLocks noChangeShapeType="1"/>
            </p:cNvSpPr>
            <p:nvPr/>
          </p:nvSpPr>
          <p:spPr bwMode="auto">
            <a:xfrm>
              <a:off x="1196" y="3163"/>
              <a:ext cx="33" cy="45"/>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47" name="Freeform 177"/>
            <p:cNvSpPr>
              <a:spLocks/>
            </p:cNvSpPr>
            <p:nvPr/>
          </p:nvSpPr>
          <p:spPr bwMode="auto">
            <a:xfrm>
              <a:off x="1229" y="3208"/>
              <a:ext cx="35" cy="45"/>
            </a:xfrm>
            <a:custGeom>
              <a:avLst/>
              <a:gdLst>
                <a:gd name="T0" fmla="*/ 0 w 35"/>
                <a:gd name="T1" fmla="*/ 0 h 45"/>
                <a:gd name="T2" fmla="*/ 18 w 35"/>
                <a:gd name="T3" fmla="*/ 22 h 45"/>
                <a:gd name="T4" fmla="*/ 34 w 35"/>
                <a:gd name="T5" fmla="*/ 44 h 45"/>
                <a:gd name="T6" fmla="*/ 0 60000 65536"/>
                <a:gd name="T7" fmla="*/ 0 60000 65536"/>
                <a:gd name="T8" fmla="*/ 0 60000 65536"/>
                <a:gd name="T9" fmla="*/ 0 w 35"/>
                <a:gd name="T10" fmla="*/ 0 h 45"/>
                <a:gd name="T11" fmla="*/ 35 w 35"/>
                <a:gd name="T12" fmla="*/ 45 h 45"/>
              </a:gdLst>
              <a:ahLst/>
              <a:cxnLst>
                <a:cxn ang="T6">
                  <a:pos x="T0" y="T1"/>
                </a:cxn>
                <a:cxn ang="T7">
                  <a:pos x="T2" y="T3"/>
                </a:cxn>
                <a:cxn ang="T8">
                  <a:pos x="T4" y="T5"/>
                </a:cxn>
              </a:cxnLst>
              <a:rect l="T9" t="T10" r="T11" b="T12"/>
              <a:pathLst>
                <a:path w="35" h="45">
                  <a:moveTo>
                    <a:pt x="0" y="0"/>
                  </a:moveTo>
                  <a:lnTo>
                    <a:pt x="18" y="22"/>
                  </a:lnTo>
                  <a:lnTo>
                    <a:pt x="34" y="44"/>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48" name="Freeform 178"/>
            <p:cNvSpPr>
              <a:spLocks/>
            </p:cNvSpPr>
            <p:nvPr/>
          </p:nvSpPr>
          <p:spPr bwMode="auto">
            <a:xfrm>
              <a:off x="1263" y="3252"/>
              <a:ext cx="34" cy="42"/>
            </a:xfrm>
            <a:custGeom>
              <a:avLst/>
              <a:gdLst>
                <a:gd name="T0" fmla="*/ 0 w 34"/>
                <a:gd name="T1" fmla="*/ 0 h 42"/>
                <a:gd name="T2" fmla="*/ 16 w 34"/>
                <a:gd name="T3" fmla="*/ 21 h 42"/>
                <a:gd name="T4" fmla="*/ 33 w 34"/>
                <a:gd name="T5" fmla="*/ 41 h 42"/>
                <a:gd name="T6" fmla="*/ 0 60000 65536"/>
                <a:gd name="T7" fmla="*/ 0 60000 65536"/>
                <a:gd name="T8" fmla="*/ 0 60000 65536"/>
                <a:gd name="T9" fmla="*/ 0 w 34"/>
                <a:gd name="T10" fmla="*/ 0 h 42"/>
                <a:gd name="T11" fmla="*/ 34 w 34"/>
                <a:gd name="T12" fmla="*/ 42 h 42"/>
              </a:gdLst>
              <a:ahLst/>
              <a:cxnLst>
                <a:cxn ang="T6">
                  <a:pos x="T0" y="T1"/>
                </a:cxn>
                <a:cxn ang="T7">
                  <a:pos x="T2" y="T3"/>
                </a:cxn>
                <a:cxn ang="T8">
                  <a:pos x="T4" y="T5"/>
                </a:cxn>
              </a:cxnLst>
              <a:rect l="T9" t="T10" r="T11" b="T12"/>
              <a:pathLst>
                <a:path w="34" h="42">
                  <a:moveTo>
                    <a:pt x="0" y="0"/>
                  </a:moveTo>
                  <a:lnTo>
                    <a:pt x="16" y="21"/>
                  </a:lnTo>
                  <a:lnTo>
                    <a:pt x="33" y="41"/>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49" name="Freeform 179"/>
            <p:cNvSpPr>
              <a:spLocks/>
            </p:cNvSpPr>
            <p:nvPr/>
          </p:nvSpPr>
          <p:spPr bwMode="auto">
            <a:xfrm>
              <a:off x="1296" y="3293"/>
              <a:ext cx="34" cy="40"/>
            </a:xfrm>
            <a:custGeom>
              <a:avLst/>
              <a:gdLst>
                <a:gd name="T0" fmla="*/ 0 w 34"/>
                <a:gd name="T1" fmla="*/ 0 h 40"/>
                <a:gd name="T2" fmla="*/ 16 w 34"/>
                <a:gd name="T3" fmla="*/ 20 h 40"/>
                <a:gd name="T4" fmla="*/ 33 w 34"/>
                <a:gd name="T5" fmla="*/ 39 h 40"/>
                <a:gd name="T6" fmla="*/ 0 60000 65536"/>
                <a:gd name="T7" fmla="*/ 0 60000 65536"/>
                <a:gd name="T8" fmla="*/ 0 60000 65536"/>
                <a:gd name="T9" fmla="*/ 0 w 34"/>
                <a:gd name="T10" fmla="*/ 0 h 40"/>
                <a:gd name="T11" fmla="*/ 34 w 34"/>
                <a:gd name="T12" fmla="*/ 40 h 40"/>
              </a:gdLst>
              <a:ahLst/>
              <a:cxnLst>
                <a:cxn ang="T6">
                  <a:pos x="T0" y="T1"/>
                </a:cxn>
                <a:cxn ang="T7">
                  <a:pos x="T2" y="T3"/>
                </a:cxn>
                <a:cxn ang="T8">
                  <a:pos x="T4" y="T5"/>
                </a:cxn>
              </a:cxnLst>
              <a:rect l="T9" t="T10" r="T11" b="T12"/>
              <a:pathLst>
                <a:path w="34" h="40">
                  <a:moveTo>
                    <a:pt x="0" y="0"/>
                  </a:moveTo>
                  <a:lnTo>
                    <a:pt x="16" y="20"/>
                  </a:lnTo>
                  <a:lnTo>
                    <a:pt x="33" y="39"/>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50" name="Freeform 180"/>
            <p:cNvSpPr>
              <a:spLocks/>
            </p:cNvSpPr>
            <p:nvPr/>
          </p:nvSpPr>
          <p:spPr bwMode="auto">
            <a:xfrm>
              <a:off x="1329" y="3332"/>
              <a:ext cx="35" cy="38"/>
            </a:xfrm>
            <a:custGeom>
              <a:avLst/>
              <a:gdLst>
                <a:gd name="T0" fmla="*/ 0 w 35"/>
                <a:gd name="T1" fmla="*/ 0 h 38"/>
                <a:gd name="T2" fmla="*/ 18 w 35"/>
                <a:gd name="T3" fmla="*/ 19 h 38"/>
                <a:gd name="T4" fmla="*/ 34 w 35"/>
                <a:gd name="T5" fmla="*/ 37 h 38"/>
                <a:gd name="T6" fmla="*/ 0 60000 65536"/>
                <a:gd name="T7" fmla="*/ 0 60000 65536"/>
                <a:gd name="T8" fmla="*/ 0 60000 65536"/>
                <a:gd name="T9" fmla="*/ 0 w 35"/>
                <a:gd name="T10" fmla="*/ 0 h 38"/>
                <a:gd name="T11" fmla="*/ 35 w 35"/>
                <a:gd name="T12" fmla="*/ 38 h 38"/>
              </a:gdLst>
              <a:ahLst/>
              <a:cxnLst>
                <a:cxn ang="T6">
                  <a:pos x="T0" y="T1"/>
                </a:cxn>
                <a:cxn ang="T7">
                  <a:pos x="T2" y="T3"/>
                </a:cxn>
                <a:cxn ang="T8">
                  <a:pos x="T4" y="T5"/>
                </a:cxn>
              </a:cxnLst>
              <a:rect l="T9" t="T10" r="T11" b="T12"/>
              <a:pathLst>
                <a:path w="35" h="38">
                  <a:moveTo>
                    <a:pt x="0" y="0"/>
                  </a:moveTo>
                  <a:lnTo>
                    <a:pt x="18" y="19"/>
                  </a:lnTo>
                  <a:lnTo>
                    <a:pt x="34" y="37"/>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51" name="Freeform 181"/>
            <p:cNvSpPr>
              <a:spLocks/>
            </p:cNvSpPr>
            <p:nvPr/>
          </p:nvSpPr>
          <p:spPr bwMode="auto">
            <a:xfrm>
              <a:off x="1363" y="3369"/>
              <a:ext cx="34" cy="36"/>
            </a:xfrm>
            <a:custGeom>
              <a:avLst/>
              <a:gdLst>
                <a:gd name="T0" fmla="*/ 0 w 34"/>
                <a:gd name="T1" fmla="*/ 0 h 36"/>
                <a:gd name="T2" fmla="*/ 16 w 34"/>
                <a:gd name="T3" fmla="*/ 17 h 36"/>
                <a:gd name="T4" fmla="*/ 33 w 34"/>
                <a:gd name="T5" fmla="*/ 35 h 36"/>
                <a:gd name="T6" fmla="*/ 0 60000 65536"/>
                <a:gd name="T7" fmla="*/ 0 60000 65536"/>
                <a:gd name="T8" fmla="*/ 0 60000 65536"/>
                <a:gd name="T9" fmla="*/ 0 w 34"/>
                <a:gd name="T10" fmla="*/ 0 h 36"/>
                <a:gd name="T11" fmla="*/ 34 w 34"/>
                <a:gd name="T12" fmla="*/ 36 h 36"/>
              </a:gdLst>
              <a:ahLst/>
              <a:cxnLst>
                <a:cxn ang="T6">
                  <a:pos x="T0" y="T1"/>
                </a:cxn>
                <a:cxn ang="T7">
                  <a:pos x="T2" y="T3"/>
                </a:cxn>
                <a:cxn ang="T8">
                  <a:pos x="T4" y="T5"/>
                </a:cxn>
              </a:cxnLst>
              <a:rect l="T9" t="T10" r="T11" b="T12"/>
              <a:pathLst>
                <a:path w="34" h="36">
                  <a:moveTo>
                    <a:pt x="0" y="0"/>
                  </a:moveTo>
                  <a:lnTo>
                    <a:pt x="16" y="17"/>
                  </a:lnTo>
                  <a:lnTo>
                    <a:pt x="33" y="35"/>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52" name="Freeform 182"/>
            <p:cNvSpPr>
              <a:spLocks/>
            </p:cNvSpPr>
            <p:nvPr/>
          </p:nvSpPr>
          <p:spPr bwMode="auto">
            <a:xfrm>
              <a:off x="1396" y="3404"/>
              <a:ext cx="34" cy="33"/>
            </a:xfrm>
            <a:custGeom>
              <a:avLst/>
              <a:gdLst>
                <a:gd name="T0" fmla="*/ 0 w 34"/>
                <a:gd name="T1" fmla="*/ 0 h 33"/>
                <a:gd name="T2" fmla="*/ 16 w 34"/>
                <a:gd name="T3" fmla="*/ 16 h 33"/>
                <a:gd name="T4" fmla="*/ 33 w 34"/>
                <a:gd name="T5" fmla="*/ 32 h 33"/>
                <a:gd name="T6" fmla="*/ 0 60000 65536"/>
                <a:gd name="T7" fmla="*/ 0 60000 65536"/>
                <a:gd name="T8" fmla="*/ 0 60000 65536"/>
                <a:gd name="T9" fmla="*/ 0 w 34"/>
                <a:gd name="T10" fmla="*/ 0 h 33"/>
                <a:gd name="T11" fmla="*/ 34 w 34"/>
                <a:gd name="T12" fmla="*/ 33 h 33"/>
              </a:gdLst>
              <a:ahLst/>
              <a:cxnLst>
                <a:cxn ang="T6">
                  <a:pos x="T0" y="T1"/>
                </a:cxn>
                <a:cxn ang="T7">
                  <a:pos x="T2" y="T3"/>
                </a:cxn>
                <a:cxn ang="T8">
                  <a:pos x="T4" y="T5"/>
                </a:cxn>
              </a:cxnLst>
              <a:rect l="T9" t="T10" r="T11" b="T12"/>
              <a:pathLst>
                <a:path w="34" h="33">
                  <a:moveTo>
                    <a:pt x="0" y="0"/>
                  </a:moveTo>
                  <a:lnTo>
                    <a:pt x="16" y="16"/>
                  </a:lnTo>
                  <a:lnTo>
                    <a:pt x="33" y="32"/>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53" name="Freeform 183"/>
            <p:cNvSpPr>
              <a:spLocks/>
            </p:cNvSpPr>
            <p:nvPr/>
          </p:nvSpPr>
          <p:spPr bwMode="auto">
            <a:xfrm>
              <a:off x="1429" y="3436"/>
              <a:ext cx="34" cy="31"/>
            </a:xfrm>
            <a:custGeom>
              <a:avLst/>
              <a:gdLst>
                <a:gd name="T0" fmla="*/ 0 w 34"/>
                <a:gd name="T1" fmla="*/ 0 h 31"/>
                <a:gd name="T2" fmla="*/ 17 w 34"/>
                <a:gd name="T3" fmla="*/ 16 h 31"/>
                <a:gd name="T4" fmla="*/ 33 w 34"/>
                <a:gd name="T5" fmla="*/ 30 h 31"/>
                <a:gd name="T6" fmla="*/ 0 60000 65536"/>
                <a:gd name="T7" fmla="*/ 0 60000 65536"/>
                <a:gd name="T8" fmla="*/ 0 60000 65536"/>
                <a:gd name="T9" fmla="*/ 0 w 34"/>
                <a:gd name="T10" fmla="*/ 0 h 31"/>
                <a:gd name="T11" fmla="*/ 34 w 34"/>
                <a:gd name="T12" fmla="*/ 31 h 31"/>
              </a:gdLst>
              <a:ahLst/>
              <a:cxnLst>
                <a:cxn ang="T6">
                  <a:pos x="T0" y="T1"/>
                </a:cxn>
                <a:cxn ang="T7">
                  <a:pos x="T2" y="T3"/>
                </a:cxn>
                <a:cxn ang="T8">
                  <a:pos x="T4" y="T5"/>
                </a:cxn>
              </a:cxnLst>
              <a:rect l="T9" t="T10" r="T11" b="T12"/>
              <a:pathLst>
                <a:path w="34" h="31">
                  <a:moveTo>
                    <a:pt x="0" y="0"/>
                  </a:moveTo>
                  <a:lnTo>
                    <a:pt x="17" y="16"/>
                  </a:lnTo>
                  <a:lnTo>
                    <a:pt x="33" y="30"/>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54" name="Freeform 184"/>
            <p:cNvSpPr>
              <a:spLocks/>
            </p:cNvSpPr>
            <p:nvPr/>
          </p:nvSpPr>
          <p:spPr bwMode="auto">
            <a:xfrm>
              <a:off x="1462" y="3466"/>
              <a:ext cx="35" cy="30"/>
            </a:xfrm>
            <a:custGeom>
              <a:avLst/>
              <a:gdLst>
                <a:gd name="T0" fmla="*/ 0 w 35"/>
                <a:gd name="T1" fmla="*/ 0 h 30"/>
                <a:gd name="T2" fmla="*/ 16 w 35"/>
                <a:gd name="T3" fmla="*/ 15 h 30"/>
                <a:gd name="T4" fmla="*/ 34 w 35"/>
                <a:gd name="T5" fmla="*/ 29 h 30"/>
                <a:gd name="T6" fmla="*/ 0 60000 65536"/>
                <a:gd name="T7" fmla="*/ 0 60000 65536"/>
                <a:gd name="T8" fmla="*/ 0 60000 65536"/>
                <a:gd name="T9" fmla="*/ 0 w 35"/>
                <a:gd name="T10" fmla="*/ 0 h 30"/>
                <a:gd name="T11" fmla="*/ 35 w 35"/>
                <a:gd name="T12" fmla="*/ 30 h 30"/>
              </a:gdLst>
              <a:ahLst/>
              <a:cxnLst>
                <a:cxn ang="T6">
                  <a:pos x="T0" y="T1"/>
                </a:cxn>
                <a:cxn ang="T7">
                  <a:pos x="T2" y="T3"/>
                </a:cxn>
                <a:cxn ang="T8">
                  <a:pos x="T4" y="T5"/>
                </a:cxn>
              </a:cxnLst>
              <a:rect l="T9" t="T10" r="T11" b="T12"/>
              <a:pathLst>
                <a:path w="35" h="30">
                  <a:moveTo>
                    <a:pt x="0" y="0"/>
                  </a:moveTo>
                  <a:lnTo>
                    <a:pt x="16" y="15"/>
                  </a:lnTo>
                  <a:lnTo>
                    <a:pt x="34" y="29"/>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55" name="Line 185"/>
            <p:cNvSpPr>
              <a:spLocks noChangeShapeType="1"/>
            </p:cNvSpPr>
            <p:nvPr/>
          </p:nvSpPr>
          <p:spPr bwMode="auto">
            <a:xfrm>
              <a:off x="1496" y="3495"/>
              <a:ext cx="33" cy="26"/>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56" name="Freeform 186"/>
            <p:cNvSpPr>
              <a:spLocks/>
            </p:cNvSpPr>
            <p:nvPr/>
          </p:nvSpPr>
          <p:spPr bwMode="auto">
            <a:xfrm>
              <a:off x="1529" y="3521"/>
              <a:ext cx="34" cy="24"/>
            </a:xfrm>
            <a:custGeom>
              <a:avLst/>
              <a:gdLst>
                <a:gd name="T0" fmla="*/ 0 w 34"/>
                <a:gd name="T1" fmla="*/ 0 h 24"/>
                <a:gd name="T2" fmla="*/ 16 w 34"/>
                <a:gd name="T3" fmla="*/ 11 h 24"/>
                <a:gd name="T4" fmla="*/ 33 w 34"/>
                <a:gd name="T5" fmla="*/ 23 h 24"/>
                <a:gd name="T6" fmla="*/ 0 60000 65536"/>
                <a:gd name="T7" fmla="*/ 0 60000 65536"/>
                <a:gd name="T8" fmla="*/ 0 60000 65536"/>
                <a:gd name="T9" fmla="*/ 0 w 34"/>
                <a:gd name="T10" fmla="*/ 0 h 24"/>
                <a:gd name="T11" fmla="*/ 34 w 34"/>
                <a:gd name="T12" fmla="*/ 24 h 24"/>
              </a:gdLst>
              <a:ahLst/>
              <a:cxnLst>
                <a:cxn ang="T6">
                  <a:pos x="T0" y="T1"/>
                </a:cxn>
                <a:cxn ang="T7">
                  <a:pos x="T2" y="T3"/>
                </a:cxn>
                <a:cxn ang="T8">
                  <a:pos x="T4" y="T5"/>
                </a:cxn>
              </a:cxnLst>
              <a:rect l="T9" t="T10" r="T11" b="T12"/>
              <a:pathLst>
                <a:path w="34" h="24">
                  <a:moveTo>
                    <a:pt x="0" y="0"/>
                  </a:moveTo>
                  <a:lnTo>
                    <a:pt x="16" y="11"/>
                  </a:lnTo>
                  <a:lnTo>
                    <a:pt x="33" y="23"/>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57" name="Freeform 187"/>
            <p:cNvSpPr>
              <a:spLocks/>
            </p:cNvSpPr>
            <p:nvPr/>
          </p:nvSpPr>
          <p:spPr bwMode="auto">
            <a:xfrm>
              <a:off x="1562" y="3544"/>
              <a:ext cx="34" cy="23"/>
            </a:xfrm>
            <a:custGeom>
              <a:avLst/>
              <a:gdLst>
                <a:gd name="T0" fmla="*/ 0 w 34"/>
                <a:gd name="T1" fmla="*/ 0 h 23"/>
                <a:gd name="T2" fmla="*/ 16 w 34"/>
                <a:gd name="T3" fmla="*/ 11 h 23"/>
                <a:gd name="T4" fmla="*/ 33 w 34"/>
                <a:gd name="T5" fmla="*/ 22 h 23"/>
                <a:gd name="T6" fmla="*/ 0 60000 65536"/>
                <a:gd name="T7" fmla="*/ 0 60000 65536"/>
                <a:gd name="T8" fmla="*/ 0 60000 65536"/>
                <a:gd name="T9" fmla="*/ 0 w 34"/>
                <a:gd name="T10" fmla="*/ 0 h 23"/>
                <a:gd name="T11" fmla="*/ 34 w 34"/>
                <a:gd name="T12" fmla="*/ 23 h 23"/>
              </a:gdLst>
              <a:ahLst/>
              <a:cxnLst>
                <a:cxn ang="T6">
                  <a:pos x="T0" y="T1"/>
                </a:cxn>
                <a:cxn ang="T7">
                  <a:pos x="T2" y="T3"/>
                </a:cxn>
                <a:cxn ang="T8">
                  <a:pos x="T4" y="T5"/>
                </a:cxn>
              </a:cxnLst>
              <a:rect l="T9" t="T10" r="T11" b="T12"/>
              <a:pathLst>
                <a:path w="34" h="23">
                  <a:moveTo>
                    <a:pt x="0" y="0"/>
                  </a:moveTo>
                  <a:lnTo>
                    <a:pt x="16" y="11"/>
                  </a:lnTo>
                  <a:lnTo>
                    <a:pt x="33" y="22"/>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58" name="Freeform 188"/>
            <p:cNvSpPr>
              <a:spLocks/>
            </p:cNvSpPr>
            <p:nvPr/>
          </p:nvSpPr>
          <p:spPr bwMode="auto">
            <a:xfrm>
              <a:off x="1595" y="3566"/>
              <a:ext cx="35" cy="20"/>
            </a:xfrm>
            <a:custGeom>
              <a:avLst/>
              <a:gdLst>
                <a:gd name="T0" fmla="*/ 0 w 35"/>
                <a:gd name="T1" fmla="*/ 0 h 20"/>
                <a:gd name="T2" fmla="*/ 18 w 35"/>
                <a:gd name="T3" fmla="*/ 10 h 20"/>
                <a:gd name="T4" fmla="*/ 34 w 35"/>
                <a:gd name="T5" fmla="*/ 19 h 20"/>
                <a:gd name="T6" fmla="*/ 0 60000 65536"/>
                <a:gd name="T7" fmla="*/ 0 60000 65536"/>
                <a:gd name="T8" fmla="*/ 0 60000 65536"/>
                <a:gd name="T9" fmla="*/ 0 w 35"/>
                <a:gd name="T10" fmla="*/ 0 h 20"/>
                <a:gd name="T11" fmla="*/ 35 w 35"/>
                <a:gd name="T12" fmla="*/ 20 h 20"/>
              </a:gdLst>
              <a:ahLst/>
              <a:cxnLst>
                <a:cxn ang="T6">
                  <a:pos x="T0" y="T1"/>
                </a:cxn>
                <a:cxn ang="T7">
                  <a:pos x="T2" y="T3"/>
                </a:cxn>
                <a:cxn ang="T8">
                  <a:pos x="T4" y="T5"/>
                </a:cxn>
              </a:cxnLst>
              <a:rect l="T9" t="T10" r="T11" b="T12"/>
              <a:pathLst>
                <a:path w="35" h="20">
                  <a:moveTo>
                    <a:pt x="0" y="0"/>
                  </a:moveTo>
                  <a:lnTo>
                    <a:pt x="18" y="10"/>
                  </a:lnTo>
                  <a:lnTo>
                    <a:pt x="34" y="19"/>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59" name="Freeform 189"/>
            <p:cNvSpPr>
              <a:spLocks/>
            </p:cNvSpPr>
            <p:nvPr/>
          </p:nvSpPr>
          <p:spPr bwMode="auto">
            <a:xfrm>
              <a:off x="1629" y="3585"/>
              <a:ext cx="34" cy="19"/>
            </a:xfrm>
            <a:custGeom>
              <a:avLst/>
              <a:gdLst>
                <a:gd name="T0" fmla="*/ 0 w 34"/>
                <a:gd name="T1" fmla="*/ 0 h 19"/>
                <a:gd name="T2" fmla="*/ 16 w 34"/>
                <a:gd name="T3" fmla="*/ 10 h 19"/>
                <a:gd name="T4" fmla="*/ 33 w 34"/>
                <a:gd name="T5" fmla="*/ 18 h 19"/>
                <a:gd name="T6" fmla="*/ 0 60000 65536"/>
                <a:gd name="T7" fmla="*/ 0 60000 65536"/>
                <a:gd name="T8" fmla="*/ 0 60000 65536"/>
                <a:gd name="T9" fmla="*/ 0 w 34"/>
                <a:gd name="T10" fmla="*/ 0 h 19"/>
                <a:gd name="T11" fmla="*/ 34 w 34"/>
                <a:gd name="T12" fmla="*/ 19 h 19"/>
              </a:gdLst>
              <a:ahLst/>
              <a:cxnLst>
                <a:cxn ang="T6">
                  <a:pos x="T0" y="T1"/>
                </a:cxn>
                <a:cxn ang="T7">
                  <a:pos x="T2" y="T3"/>
                </a:cxn>
                <a:cxn ang="T8">
                  <a:pos x="T4" y="T5"/>
                </a:cxn>
              </a:cxnLst>
              <a:rect l="T9" t="T10" r="T11" b="T12"/>
              <a:pathLst>
                <a:path w="34" h="19">
                  <a:moveTo>
                    <a:pt x="0" y="0"/>
                  </a:moveTo>
                  <a:lnTo>
                    <a:pt x="16" y="10"/>
                  </a:lnTo>
                  <a:lnTo>
                    <a:pt x="33" y="18"/>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60" name="Freeform 190"/>
            <p:cNvSpPr>
              <a:spLocks/>
            </p:cNvSpPr>
            <p:nvPr/>
          </p:nvSpPr>
          <p:spPr bwMode="auto">
            <a:xfrm>
              <a:off x="1662" y="3603"/>
              <a:ext cx="34" cy="17"/>
            </a:xfrm>
            <a:custGeom>
              <a:avLst/>
              <a:gdLst>
                <a:gd name="T0" fmla="*/ 0 w 34"/>
                <a:gd name="T1" fmla="*/ 0 h 17"/>
                <a:gd name="T2" fmla="*/ 16 w 34"/>
                <a:gd name="T3" fmla="*/ 8 h 17"/>
                <a:gd name="T4" fmla="*/ 33 w 34"/>
                <a:gd name="T5" fmla="*/ 16 h 17"/>
                <a:gd name="T6" fmla="*/ 0 60000 65536"/>
                <a:gd name="T7" fmla="*/ 0 60000 65536"/>
                <a:gd name="T8" fmla="*/ 0 60000 65536"/>
                <a:gd name="T9" fmla="*/ 0 w 34"/>
                <a:gd name="T10" fmla="*/ 0 h 17"/>
                <a:gd name="T11" fmla="*/ 34 w 34"/>
                <a:gd name="T12" fmla="*/ 17 h 17"/>
              </a:gdLst>
              <a:ahLst/>
              <a:cxnLst>
                <a:cxn ang="T6">
                  <a:pos x="T0" y="T1"/>
                </a:cxn>
                <a:cxn ang="T7">
                  <a:pos x="T2" y="T3"/>
                </a:cxn>
                <a:cxn ang="T8">
                  <a:pos x="T4" y="T5"/>
                </a:cxn>
              </a:cxnLst>
              <a:rect l="T9" t="T10" r="T11" b="T12"/>
              <a:pathLst>
                <a:path w="34" h="17">
                  <a:moveTo>
                    <a:pt x="0" y="0"/>
                  </a:moveTo>
                  <a:lnTo>
                    <a:pt x="16" y="8"/>
                  </a:lnTo>
                  <a:lnTo>
                    <a:pt x="33"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61" name="Freeform 191"/>
            <p:cNvSpPr>
              <a:spLocks/>
            </p:cNvSpPr>
            <p:nvPr/>
          </p:nvSpPr>
          <p:spPr bwMode="auto">
            <a:xfrm>
              <a:off x="1695" y="3619"/>
              <a:ext cx="35" cy="17"/>
            </a:xfrm>
            <a:custGeom>
              <a:avLst/>
              <a:gdLst>
                <a:gd name="T0" fmla="*/ 0 w 35"/>
                <a:gd name="T1" fmla="*/ 0 h 17"/>
                <a:gd name="T2" fmla="*/ 18 w 35"/>
                <a:gd name="T3" fmla="*/ 8 h 17"/>
                <a:gd name="T4" fmla="*/ 34 w 35"/>
                <a:gd name="T5" fmla="*/ 16 h 17"/>
                <a:gd name="T6" fmla="*/ 0 60000 65536"/>
                <a:gd name="T7" fmla="*/ 0 60000 65536"/>
                <a:gd name="T8" fmla="*/ 0 60000 65536"/>
                <a:gd name="T9" fmla="*/ 0 w 35"/>
                <a:gd name="T10" fmla="*/ 0 h 17"/>
                <a:gd name="T11" fmla="*/ 35 w 35"/>
                <a:gd name="T12" fmla="*/ 17 h 17"/>
              </a:gdLst>
              <a:ahLst/>
              <a:cxnLst>
                <a:cxn ang="T6">
                  <a:pos x="T0" y="T1"/>
                </a:cxn>
                <a:cxn ang="T7">
                  <a:pos x="T2" y="T3"/>
                </a:cxn>
                <a:cxn ang="T8">
                  <a:pos x="T4" y="T5"/>
                </a:cxn>
              </a:cxnLst>
              <a:rect l="T9" t="T10" r="T11" b="T12"/>
              <a:pathLst>
                <a:path w="35" h="17">
                  <a:moveTo>
                    <a:pt x="0" y="0"/>
                  </a:moveTo>
                  <a:lnTo>
                    <a:pt x="18" y="8"/>
                  </a:lnTo>
                  <a:lnTo>
                    <a:pt x="34"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62" name="Line 192"/>
            <p:cNvSpPr>
              <a:spLocks noChangeShapeType="1"/>
            </p:cNvSpPr>
            <p:nvPr/>
          </p:nvSpPr>
          <p:spPr bwMode="auto">
            <a:xfrm>
              <a:off x="1729" y="3633"/>
              <a:ext cx="33" cy="13"/>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63" name="Freeform 193"/>
            <p:cNvSpPr>
              <a:spLocks/>
            </p:cNvSpPr>
            <p:nvPr/>
          </p:nvSpPr>
          <p:spPr bwMode="auto">
            <a:xfrm>
              <a:off x="1762" y="3646"/>
              <a:ext cx="34" cy="17"/>
            </a:xfrm>
            <a:custGeom>
              <a:avLst/>
              <a:gdLst>
                <a:gd name="T0" fmla="*/ 0 w 34"/>
                <a:gd name="T1" fmla="*/ 0 h 17"/>
                <a:gd name="T2" fmla="*/ 16 w 34"/>
                <a:gd name="T3" fmla="*/ 7 h 17"/>
                <a:gd name="T4" fmla="*/ 33 w 34"/>
                <a:gd name="T5" fmla="*/ 16 h 17"/>
                <a:gd name="T6" fmla="*/ 0 60000 65536"/>
                <a:gd name="T7" fmla="*/ 0 60000 65536"/>
                <a:gd name="T8" fmla="*/ 0 60000 65536"/>
                <a:gd name="T9" fmla="*/ 0 w 34"/>
                <a:gd name="T10" fmla="*/ 0 h 17"/>
                <a:gd name="T11" fmla="*/ 34 w 34"/>
                <a:gd name="T12" fmla="*/ 17 h 17"/>
              </a:gdLst>
              <a:ahLst/>
              <a:cxnLst>
                <a:cxn ang="T6">
                  <a:pos x="T0" y="T1"/>
                </a:cxn>
                <a:cxn ang="T7">
                  <a:pos x="T2" y="T3"/>
                </a:cxn>
                <a:cxn ang="T8">
                  <a:pos x="T4" y="T5"/>
                </a:cxn>
              </a:cxnLst>
              <a:rect l="T9" t="T10" r="T11" b="T12"/>
              <a:pathLst>
                <a:path w="34" h="17">
                  <a:moveTo>
                    <a:pt x="0" y="0"/>
                  </a:moveTo>
                  <a:lnTo>
                    <a:pt x="16" y="7"/>
                  </a:lnTo>
                  <a:lnTo>
                    <a:pt x="33"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64" name="Line 194"/>
            <p:cNvSpPr>
              <a:spLocks noChangeShapeType="1"/>
            </p:cNvSpPr>
            <p:nvPr/>
          </p:nvSpPr>
          <p:spPr bwMode="auto">
            <a:xfrm>
              <a:off x="1795" y="3657"/>
              <a:ext cx="33" cy="1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65" name="Freeform 195"/>
            <p:cNvSpPr>
              <a:spLocks/>
            </p:cNvSpPr>
            <p:nvPr/>
          </p:nvSpPr>
          <p:spPr bwMode="auto">
            <a:xfrm>
              <a:off x="1828" y="3667"/>
              <a:ext cx="35" cy="17"/>
            </a:xfrm>
            <a:custGeom>
              <a:avLst/>
              <a:gdLst>
                <a:gd name="T0" fmla="*/ 0 w 35"/>
                <a:gd name="T1" fmla="*/ 0 h 17"/>
                <a:gd name="T2" fmla="*/ 16 w 35"/>
                <a:gd name="T3" fmla="*/ 10 h 17"/>
                <a:gd name="T4" fmla="*/ 34 w 35"/>
                <a:gd name="T5" fmla="*/ 16 h 17"/>
                <a:gd name="T6" fmla="*/ 0 60000 65536"/>
                <a:gd name="T7" fmla="*/ 0 60000 65536"/>
                <a:gd name="T8" fmla="*/ 0 60000 65536"/>
                <a:gd name="T9" fmla="*/ 0 w 35"/>
                <a:gd name="T10" fmla="*/ 0 h 17"/>
                <a:gd name="T11" fmla="*/ 35 w 35"/>
                <a:gd name="T12" fmla="*/ 17 h 17"/>
              </a:gdLst>
              <a:ahLst/>
              <a:cxnLst>
                <a:cxn ang="T6">
                  <a:pos x="T0" y="T1"/>
                </a:cxn>
                <a:cxn ang="T7">
                  <a:pos x="T2" y="T3"/>
                </a:cxn>
                <a:cxn ang="T8">
                  <a:pos x="T4" y="T5"/>
                </a:cxn>
              </a:cxnLst>
              <a:rect l="T9" t="T10" r="T11" b="T12"/>
              <a:pathLst>
                <a:path w="35" h="17">
                  <a:moveTo>
                    <a:pt x="0" y="0"/>
                  </a:moveTo>
                  <a:lnTo>
                    <a:pt x="16" y="10"/>
                  </a:lnTo>
                  <a:lnTo>
                    <a:pt x="34"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66" name="Freeform 196"/>
            <p:cNvSpPr>
              <a:spLocks/>
            </p:cNvSpPr>
            <p:nvPr/>
          </p:nvSpPr>
          <p:spPr bwMode="auto">
            <a:xfrm>
              <a:off x="1862" y="3675"/>
              <a:ext cx="34" cy="17"/>
            </a:xfrm>
            <a:custGeom>
              <a:avLst/>
              <a:gdLst>
                <a:gd name="T0" fmla="*/ 0 w 34"/>
                <a:gd name="T1" fmla="*/ 0 h 17"/>
                <a:gd name="T2" fmla="*/ 17 w 34"/>
                <a:gd name="T3" fmla="*/ 9 h 17"/>
                <a:gd name="T4" fmla="*/ 33 w 34"/>
                <a:gd name="T5" fmla="*/ 16 h 17"/>
                <a:gd name="T6" fmla="*/ 0 60000 65536"/>
                <a:gd name="T7" fmla="*/ 0 60000 65536"/>
                <a:gd name="T8" fmla="*/ 0 60000 65536"/>
                <a:gd name="T9" fmla="*/ 0 w 34"/>
                <a:gd name="T10" fmla="*/ 0 h 17"/>
                <a:gd name="T11" fmla="*/ 34 w 34"/>
                <a:gd name="T12" fmla="*/ 17 h 17"/>
              </a:gdLst>
              <a:ahLst/>
              <a:cxnLst>
                <a:cxn ang="T6">
                  <a:pos x="T0" y="T1"/>
                </a:cxn>
                <a:cxn ang="T7">
                  <a:pos x="T2" y="T3"/>
                </a:cxn>
                <a:cxn ang="T8">
                  <a:pos x="T4" y="T5"/>
                </a:cxn>
              </a:cxnLst>
              <a:rect l="T9" t="T10" r="T11" b="T12"/>
              <a:pathLst>
                <a:path w="34" h="17">
                  <a:moveTo>
                    <a:pt x="0" y="0"/>
                  </a:moveTo>
                  <a:lnTo>
                    <a:pt x="17" y="9"/>
                  </a:lnTo>
                  <a:lnTo>
                    <a:pt x="33"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67" name="Freeform 197"/>
            <p:cNvSpPr>
              <a:spLocks/>
            </p:cNvSpPr>
            <p:nvPr/>
          </p:nvSpPr>
          <p:spPr bwMode="auto">
            <a:xfrm>
              <a:off x="1895" y="3682"/>
              <a:ext cx="34" cy="17"/>
            </a:xfrm>
            <a:custGeom>
              <a:avLst/>
              <a:gdLst>
                <a:gd name="T0" fmla="*/ 0 w 34"/>
                <a:gd name="T1" fmla="*/ 0 h 17"/>
                <a:gd name="T2" fmla="*/ 16 w 34"/>
                <a:gd name="T3" fmla="*/ 9 h 17"/>
                <a:gd name="T4" fmla="*/ 33 w 34"/>
                <a:gd name="T5" fmla="*/ 16 h 17"/>
                <a:gd name="T6" fmla="*/ 0 60000 65536"/>
                <a:gd name="T7" fmla="*/ 0 60000 65536"/>
                <a:gd name="T8" fmla="*/ 0 60000 65536"/>
                <a:gd name="T9" fmla="*/ 0 w 34"/>
                <a:gd name="T10" fmla="*/ 0 h 17"/>
                <a:gd name="T11" fmla="*/ 34 w 34"/>
                <a:gd name="T12" fmla="*/ 17 h 17"/>
              </a:gdLst>
              <a:ahLst/>
              <a:cxnLst>
                <a:cxn ang="T6">
                  <a:pos x="T0" y="T1"/>
                </a:cxn>
                <a:cxn ang="T7">
                  <a:pos x="T2" y="T3"/>
                </a:cxn>
                <a:cxn ang="T8">
                  <a:pos x="T4" y="T5"/>
                </a:cxn>
              </a:cxnLst>
              <a:rect l="T9" t="T10" r="T11" b="T12"/>
              <a:pathLst>
                <a:path w="34" h="17">
                  <a:moveTo>
                    <a:pt x="0" y="0"/>
                  </a:moveTo>
                  <a:lnTo>
                    <a:pt x="16" y="9"/>
                  </a:lnTo>
                  <a:lnTo>
                    <a:pt x="33" y="16"/>
                  </a:lnTo>
                </a:path>
              </a:pathLst>
            </a:custGeom>
            <a:noFill/>
            <a:ln w="25400" cap="rnd">
              <a:solidFill>
                <a:srgbClr val="3399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68" name="Line 198"/>
            <p:cNvSpPr>
              <a:spLocks noChangeShapeType="1"/>
            </p:cNvSpPr>
            <p:nvPr/>
          </p:nvSpPr>
          <p:spPr bwMode="auto">
            <a:xfrm>
              <a:off x="1928" y="3689"/>
              <a:ext cx="33" cy="5"/>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69" name="Line 199"/>
            <p:cNvSpPr>
              <a:spLocks noChangeShapeType="1"/>
            </p:cNvSpPr>
            <p:nvPr/>
          </p:nvSpPr>
          <p:spPr bwMode="auto">
            <a:xfrm>
              <a:off x="1961" y="3694"/>
              <a:ext cx="34" cy="3"/>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0" name="Line 200"/>
            <p:cNvSpPr>
              <a:spLocks noChangeShapeType="1"/>
            </p:cNvSpPr>
            <p:nvPr/>
          </p:nvSpPr>
          <p:spPr bwMode="auto">
            <a:xfrm>
              <a:off x="1995" y="3697"/>
              <a:ext cx="33" cy="4"/>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1" name="Line 201"/>
            <p:cNvSpPr>
              <a:spLocks noChangeShapeType="1"/>
            </p:cNvSpPr>
            <p:nvPr/>
          </p:nvSpPr>
          <p:spPr bwMode="auto">
            <a:xfrm>
              <a:off x="2028" y="3701"/>
              <a:ext cx="33" cy="3"/>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2" name="Line 202"/>
            <p:cNvSpPr>
              <a:spLocks noChangeShapeType="1"/>
            </p:cNvSpPr>
            <p:nvPr/>
          </p:nvSpPr>
          <p:spPr bwMode="auto">
            <a:xfrm>
              <a:off x="2061" y="3704"/>
              <a:ext cx="33" cy="2"/>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3" name="Line 203"/>
            <p:cNvSpPr>
              <a:spLocks noChangeShapeType="1"/>
            </p:cNvSpPr>
            <p:nvPr/>
          </p:nvSpPr>
          <p:spPr bwMode="auto">
            <a:xfrm>
              <a:off x="2094" y="3706"/>
              <a:ext cx="34" cy="1"/>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4" name="Line 204"/>
            <p:cNvSpPr>
              <a:spLocks noChangeShapeType="1"/>
            </p:cNvSpPr>
            <p:nvPr/>
          </p:nvSpPr>
          <p:spPr bwMode="auto">
            <a:xfrm>
              <a:off x="2128" y="3707"/>
              <a:ext cx="33" cy="2"/>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5" name="Line 205"/>
            <p:cNvSpPr>
              <a:spLocks noChangeShapeType="1"/>
            </p:cNvSpPr>
            <p:nvPr/>
          </p:nvSpPr>
          <p:spPr bwMode="auto">
            <a:xfrm>
              <a:off x="2161" y="3709"/>
              <a:ext cx="33" cy="1"/>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6" name="Line 206"/>
            <p:cNvSpPr>
              <a:spLocks noChangeShapeType="1"/>
            </p:cNvSpPr>
            <p:nvPr/>
          </p:nvSpPr>
          <p:spPr bwMode="auto">
            <a:xfrm>
              <a:off x="2194" y="3710"/>
              <a:ext cx="34" cy="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7" name="Line 208"/>
            <p:cNvSpPr>
              <a:spLocks noChangeShapeType="1"/>
            </p:cNvSpPr>
            <p:nvPr/>
          </p:nvSpPr>
          <p:spPr bwMode="auto">
            <a:xfrm>
              <a:off x="2261" y="3711"/>
              <a:ext cx="33" cy="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8" name="Line 209"/>
            <p:cNvSpPr>
              <a:spLocks noChangeShapeType="1"/>
            </p:cNvSpPr>
            <p:nvPr/>
          </p:nvSpPr>
          <p:spPr bwMode="auto">
            <a:xfrm>
              <a:off x="2294" y="3711"/>
              <a:ext cx="33" cy="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79" name="Line 210"/>
            <p:cNvSpPr>
              <a:spLocks noChangeShapeType="1"/>
            </p:cNvSpPr>
            <p:nvPr/>
          </p:nvSpPr>
          <p:spPr bwMode="auto">
            <a:xfrm>
              <a:off x="2327" y="3711"/>
              <a:ext cx="33" cy="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80" name="Line 211"/>
            <p:cNvSpPr>
              <a:spLocks noChangeShapeType="1"/>
            </p:cNvSpPr>
            <p:nvPr/>
          </p:nvSpPr>
          <p:spPr bwMode="auto">
            <a:xfrm>
              <a:off x="2360" y="3711"/>
              <a:ext cx="34" cy="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81" name="Line 212"/>
            <p:cNvSpPr>
              <a:spLocks noChangeShapeType="1"/>
            </p:cNvSpPr>
            <p:nvPr/>
          </p:nvSpPr>
          <p:spPr bwMode="auto">
            <a:xfrm>
              <a:off x="2394" y="3711"/>
              <a:ext cx="33" cy="0"/>
            </a:xfrm>
            <a:prstGeom prst="line">
              <a:avLst/>
            </a:prstGeom>
            <a:noFill/>
            <a:ln w="25400">
              <a:solidFill>
                <a:srgbClr val="33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593725"/>
          </a:xfrm>
          <a:noFill/>
        </p:spPr>
        <p:txBody>
          <a:bodyPr lIns="92075" tIns="46038" rIns="92075" bIns="46038"/>
          <a:lstStyle/>
          <a:p>
            <a:pPr eaLnBrk="1" hangingPunct="1"/>
            <a:br>
              <a:rPr lang="en-US" sz="3600" i="1"/>
            </a:br>
            <a:r>
              <a:rPr lang="en-US" sz="3600" i="1">
                <a:solidFill>
                  <a:schemeClr val="hlink"/>
                </a:solidFill>
              </a:rPr>
              <a:t>What-If Analysis</a:t>
            </a:r>
            <a:br>
              <a:rPr lang="en-US" sz="3600" i="1">
                <a:solidFill>
                  <a:schemeClr val="hlink"/>
                </a:solidFill>
              </a:rPr>
            </a:br>
            <a:endParaRPr lang="en-US" sz="3600" i="1">
              <a:solidFill>
                <a:schemeClr val="hlink"/>
              </a:solidFill>
            </a:endParaRPr>
          </a:p>
        </p:txBody>
      </p:sp>
      <p:sp>
        <p:nvSpPr>
          <p:cNvPr id="13315" name="Rectangle 3"/>
          <p:cNvSpPr>
            <a:spLocks noGrp="1" noChangeArrowheads="1"/>
          </p:cNvSpPr>
          <p:nvPr>
            <p:ph type="body" idx="1"/>
          </p:nvPr>
        </p:nvSpPr>
        <p:spPr>
          <a:xfrm>
            <a:off x="381000" y="1222374"/>
            <a:ext cx="8305800" cy="4797425"/>
          </a:xfrm>
          <a:noFill/>
        </p:spPr>
        <p:txBody>
          <a:bodyPr lIns="92075" tIns="46038" rIns="92075" bIns="46038"/>
          <a:lstStyle/>
          <a:p>
            <a:pPr eaLnBrk="1" hangingPunct="1"/>
            <a:r>
              <a:rPr lang="en-US" sz="3000" dirty="0"/>
              <a:t>Plug in different values for the uncertain cells and see what happens.</a:t>
            </a:r>
          </a:p>
          <a:p>
            <a:pPr eaLnBrk="1" hangingPunct="1"/>
            <a:r>
              <a:rPr lang="en-US" sz="3000" dirty="0"/>
              <a:t>This is easy to do with spreadsheets.</a:t>
            </a:r>
          </a:p>
          <a:p>
            <a:pPr eaLnBrk="1" hangingPunct="1"/>
            <a:r>
              <a:rPr lang="en-US" sz="3000" dirty="0"/>
              <a:t>Problems:</a:t>
            </a:r>
          </a:p>
          <a:p>
            <a:pPr lvl="1" eaLnBrk="1" hangingPunct="1"/>
            <a:r>
              <a:rPr lang="en-US" sz="2600" dirty="0"/>
              <a:t>Values may be chosen in a biased way.</a:t>
            </a:r>
          </a:p>
          <a:p>
            <a:pPr lvl="1" eaLnBrk="1" hangingPunct="1"/>
            <a:r>
              <a:rPr lang="en-US" sz="2600" dirty="0"/>
              <a:t>Hundreds or thousands of scenarios may be required to generate a representative distribution.</a:t>
            </a:r>
          </a:p>
          <a:p>
            <a:pPr lvl="1" eaLnBrk="1" hangingPunct="1"/>
            <a:r>
              <a:rPr lang="en-US" sz="2600" dirty="0"/>
              <a:t>Does not supply the tangible evidence (facts and figures) needed to justify decisions to management.</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3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3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3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31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3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454025"/>
            <a:ext cx="7772400" cy="557213"/>
          </a:xfrm>
          <a:noFill/>
        </p:spPr>
        <p:txBody>
          <a:bodyPr lIns="92075" tIns="46038" rIns="92075" bIns="46038"/>
          <a:lstStyle/>
          <a:p>
            <a:pPr eaLnBrk="1" hangingPunct="1"/>
            <a:r>
              <a:rPr lang="en-US" sz="3600" i="1">
                <a:solidFill>
                  <a:schemeClr val="hlink"/>
                </a:solidFill>
              </a:rPr>
              <a:t>Simulation</a:t>
            </a:r>
          </a:p>
        </p:txBody>
      </p:sp>
      <p:sp>
        <p:nvSpPr>
          <p:cNvPr id="14339" name="Rectangle 3"/>
          <p:cNvSpPr>
            <a:spLocks noGrp="1" noChangeArrowheads="1"/>
          </p:cNvSpPr>
          <p:nvPr>
            <p:ph type="body" idx="1"/>
          </p:nvPr>
        </p:nvSpPr>
        <p:spPr>
          <a:xfrm>
            <a:off x="304800" y="1219200"/>
            <a:ext cx="8382000" cy="4800600"/>
          </a:xfrm>
          <a:noFill/>
        </p:spPr>
        <p:txBody>
          <a:bodyPr lIns="92075" tIns="46038" rIns="92075" bIns="46038"/>
          <a:lstStyle/>
          <a:p>
            <a:pPr eaLnBrk="1" hangingPunct="1"/>
            <a:r>
              <a:rPr lang="en-US" sz="2800" dirty="0"/>
              <a:t>Resembles automated what-if analysis.</a:t>
            </a:r>
          </a:p>
          <a:p>
            <a:pPr eaLnBrk="1" hangingPunct="1"/>
            <a:r>
              <a:rPr lang="en-US" sz="2800" dirty="0"/>
              <a:t>Values for uncertain cells are selected in an unbiased manner.</a:t>
            </a:r>
          </a:p>
          <a:p>
            <a:pPr eaLnBrk="1" hangingPunct="1"/>
            <a:r>
              <a:rPr lang="en-US" sz="2800" dirty="0"/>
              <a:t>The computer generates hundreds (or thousands) of scenarios.</a:t>
            </a:r>
          </a:p>
          <a:p>
            <a:pPr eaLnBrk="1" hangingPunct="1"/>
            <a:r>
              <a:rPr lang="en-US" sz="2800" dirty="0"/>
              <a:t>We analyze the results of these scenarios to better understand the behavior of the performance measure.</a:t>
            </a:r>
          </a:p>
          <a:p>
            <a:pPr eaLnBrk="1" hangingPunct="1"/>
            <a:r>
              <a:rPr lang="en-US" sz="2800" dirty="0"/>
              <a:t>This allows us to make decisions using solid empirical evidence.</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3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33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3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454025"/>
            <a:ext cx="7772400" cy="500063"/>
          </a:xfrm>
          <a:noFill/>
        </p:spPr>
        <p:txBody>
          <a:bodyPr lIns="92075" tIns="46038" rIns="92075" bIns="46038"/>
          <a:lstStyle/>
          <a:p>
            <a:pPr eaLnBrk="1" hangingPunct="1">
              <a:lnSpc>
                <a:spcPct val="90000"/>
              </a:lnSpc>
            </a:pPr>
            <a:r>
              <a:rPr lang="en-US" sz="3600" i="1">
                <a:solidFill>
                  <a:schemeClr val="hlink"/>
                </a:solidFill>
              </a:rPr>
              <a:t>Example: Hungry Dawg Restaurants</a:t>
            </a:r>
          </a:p>
        </p:txBody>
      </p:sp>
      <p:sp>
        <p:nvSpPr>
          <p:cNvPr id="15363" name="Rectangle 3"/>
          <p:cNvSpPr>
            <a:spLocks noGrp="1" noChangeArrowheads="1"/>
          </p:cNvSpPr>
          <p:nvPr>
            <p:ph type="body" idx="1"/>
          </p:nvPr>
        </p:nvSpPr>
        <p:spPr>
          <a:xfrm>
            <a:off x="312738" y="1103313"/>
            <a:ext cx="8297862" cy="5141912"/>
          </a:xfrm>
          <a:noFill/>
        </p:spPr>
        <p:txBody>
          <a:bodyPr lIns="92075" tIns="46038" rIns="92075" bIns="46038"/>
          <a:lstStyle/>
          <a:p>
            <a:pPr eaLnBrk="1" hangingPunct="1"/>
            <a:r>
              <a:rPr lang="en-US" sz="2600" dirty="0"/>
              <a:t>Hungry Dawg is a growing restaurant chain with a self-insured employee health plan.</a:t>
            </a:r>
          </a:p>
          <a:p>
            <a:pPr eaLnBrk="1" hangingPunct="1"/>
            <a:r>
              <a:rPr lang="en-US" sz="2600" dirty="0"/>
              <a:t>Covered employees contribute $125 per month to the plan, Hungry Dawg pays the rest.</a:t>
            </a:r>
          </a:p>
          <a:p>
            <a:pPr eaLnBrk="1" hangingPunct="1"/>
            <a:r>
              <a:rPr lang="en-US" sz="2600" dirty="0"/>
              <a:t>The number of covered employees changes from month to month.</a:t>
            </a:r>
          </a:p>
          <a:p>
            <a:pPr eaLnBrk="1" hangingPunct="1"/>
            <a:r>
              <a:rPr lang="en-US" sz="2600" dirty="0"/>
              <a:t>The number of covered employees was 18,533 last month and this is expected to increase by 2% per month.</a:t>
            </a:r>
          </a:p>
          <a:p>
            <a:pPr eaLnBrk="1" hangingPunct="1"/>
            <a:r>
              <a:rPr lang="en-US" sz="2600" dirty="0"/>
              <a:t>The average claim per employee was $250 last month and is expected to increase at a rate of 1% per month. </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6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5363">
                                            <p:txEl>
                                              <p:pRg st="0" end="0"/>
                                            </p:txEl>
                                          </p:spTgt>
                                        </p:tgtEl>
                                        <p:attrNameLst>
                                          <p:attrName>ppt_c</p:attrName>
                                        </p:attrNameLst>
                                      </p:cBhvr>
                                      <p:to>
                                        <a:srgbClr val="CBCBCB"/>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36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5363">
                                            <p:txEl>
                                              <p:pRg st="1" end="1"/>
                                            </p:txEl>
                                          </p:spTgt>
                                        </p:tgtEl>
                                        <p:attrNameLst>
                                          <p:attrName>ppt_c</p:attrName>
                                        </p:attrNameLst>
                                      </p:cBhvr>
                                      <p:to>
                                        <a:srgbClr val="CBCBCB"/>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36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5363">
                                            <p:txEl>
                                              <p:pRg st="2" end="2"/>
                                            </p:txEl>
                                          </p:spTgt>
                                        </p:tgtEl>
                                        <p:attrNameLst>
                                          <p:attrName>ppt_c</p:attrName>
                                        </p:attrNameLst>
                                      </p:cBhvr>
                                      <p:to>
                                        <a:srgbClr val="CBCBCB"/>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36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5363">
                                            <p:txEl>
                                              <p:pRg st="3" end="3"/>
                                            </p:txEl>
                                          </p:spTgt>
                                        </p:tgtEl>
                                        <p:attrNameLst>
                                          <p:attrName>ppt_c</p:attrName>
                                        </p:attrNameLst>
                                      </p:cBhvr>
                                      <p:to>
                                        <a:srgbClr val="CBCBCB"/>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53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74638"/>
            <a:ext cx="8229600" cy="1055687"/>
          </a:xfrm>
          <a:noFill/>
        </p:spPr>
        <p:txBody>
          <a:bodyPr lIns="92075" tIns="46038" rIns="92075" bIns="46038"/>
          <a:lstStyle/>
          <a:p>
            <a:pPr eaLnBrk="1" hangingPunct="1"/>
            <a:r>
              <a:rPr lang="en-US" sz="3600" i="1">
                <a:solidFill>
                  <a:schemeClr val="hlink"/>
                </a:solidFill>
              </a:rPr>
              <a:t>Implementing the Model</a:t>
            </a:r>
          </a:p>
        </p:txBody>
      </p:sp>
      <p:sp>
        <p:nvSpPr>
          <p:cNvPr id="16387" name="Rectangle 3"/>
          <p:cNvSpPr>
            <a:spLocks noGrp="1" noChangeArrowheads="1"/>
          </p:cNvSpPr>
          <p:nvPr>
            <p:ph type="body" idx="1"/>
          </p:nvPr>
        </p:nvSpPr>
        <p:spPr>
          <a:noFill/>
        </p:spPr>
        <p:txBody>
          <a:bodyPr lIns="92075" tIns="46038" rIns="92075" bIns="46038"/>
          <a:lstStyle/>
          <a:p>
            <a:pPr algn="ctr" eaLnBrk="1" hangingPunct="1">
              <a:buFont typeface="Wingdings" pitchFamily="2" charset="2"/>
              <a:buNone/>
            </a:pPr>
            <a:r>
              <a:rPr lang="en-US" dirty="0"/>
              <a:t>See file </a:t>
            </a:r>
            <a:r>
              <a:rPr lang="en-US" dirty="0">
                <a:hlinkClick r:id="rId3" action="ppaction://hlinkfile"/>
              </a:rPr>
              <a:t>Fig12-2.xlsm</a:t>
            </a:r>
            <a:endParaRPr lang="en-US" dirty="0"/>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74638"/>
            <a:ext cx="8229600" cy="623887"/>
          </a:xfrm>
          <a:noFill/>
        </p:spPr>
        <p:txBody>
          <a:bodyPr lIns="92075" tIns="46038" rIns="92075" bIns="46038"/>
          <a:lstStyle/>
          <a:p>
            <a:pPr eaLnBrk="1" hangingPunct="1"/>
            <a:r>
              <a:rPr lang="en-US" sz="3600" i="1">
                <a:solidFill>
                  <a:schemeClr val="hlink"/>
                </a:solidFill>
              </a:rPr>
              <a:t>Questions About the Model</a:t>
            </a:r>
          </a:p>
        </p:txBody>
      </p:sp>
      <p:sp>
        <p:nvSpPr>
          <p:cNvPr id="17411" name="Rectangle 3"/>
          <p:cNvSpPr>
            <a:spLocks noGrp="1" noChangeArrowheads="1"/>
          </p:cNvSpPr>
          <p:nvPr>
            <p:ph type="body" idx="1"/>
          </p:nvPr>
        </p:nvSpPr>
        <p:spPr>
          <a:xfrm>
            <a:off x="601663" y="1333500"/>
            <a:ext cx="7772400" cy="4152900"/>
          </a:xfrm>
          <a:noFill/>
        </p:spPr>
        <p:txBody>
          <a:bodyPr lIns="92075" tIns="46038" rIns="92075" bIns="46038"/>
          <a:lstStyle/>
          <a:p>
            <a:pPr eaLnBrk="1" hangingPunct="1"/>
            <a:r>
              <a:rPr lang="en-US" sz="2800" dirty="0"/>
              <a:t>Will the number of covered employees really increase by exactly 2% each month?</a:t>
            </a:r>
          </a:p>
          <a:p>
            <a:pPr eaLnBrk="1" hangingPunct="1"/>
            <a:r>
              <a:rPr lang="en-US" sz="2800" dirty="0"/>
              <a:t>Will the average health claim per employee really increase by exactly 1% each month?</a:t>
            </a:r>
          </a:p>
          <a:p>
            <a:pPr eaLnBrk="1" hangingPunct="1"/>
            <a:r>
              <a:rPr lang="en-US" sz="2800" dirty="0"/>
              <a:t>How likely is it that the total company cost will be exactly $36,125,850 in the coming year?</a:t>
            </a:r>
          </a:p>
          <a:p>
            <a:pPr eaLnBrk="1" hangingPunct="1"/>
            <a:r>
              <a:rPr lang="en-US" sz="2800" dirty="0"/>
              <a:t>What is the probability that the total company cost will exceed, say, $38,000,000?</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1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7411">
                                            <p:txEl>
                                              <p:pRg st="0" end="0"/>
                                            </p:txEl>
                                          </p:spTgt>
                                        </p:tgtEl>
                                        <p:attrNameLst>
                                          <p:attrName>ppt_c</p:attrName>
                                        </p:attrNameLst>
                                      </p:cBhvr>
                                      <p:to>
                                        <a:srgbClr val="CBCBCB"/>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41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7411">
                                            <p:txEl>
                                              <p:pRg st="1" end="1"/>
                                            </p:txEl>
                                          </p:spTgt>
                                        </p:tgtEl>
                                        <p:attrNameLst>
                                          <p:attrName>ppt_c</p:attrName>
                                        </p:attrNameLst>
                                      </p:cBhvr>
                                      <p:to>
                                        <a:srgbClr val="CBCBCB"/>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741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7411">
                                            <p:txEl>
                                              <p:pRg st="2" end="2"/>
                                            </p:txEl>
                                          </p:spTgt>
                                        </p:tgtEl>
                                        <p:attrNameLst>
                                          <p:attrName>ppt_c</p:attrName>
                                        </p:attrNameLst>
                                      </p:cBhvr>
                                      <p:to>
                                        <a:srgbClr val="CBCBCB"/>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74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454025"/>
            <a:ext cx="7772400" cy="444500"/>
          </a:xfrm>
          <a:noFill/>
        </p:spPr>
        <p:txBody>
          <a:bodyPr lIns="92075" tIns="46038" rIns="92075" bIns="46038"/>
          <a:lstStyle/>
          <a:p>
            <a:pPr eaLnBrk="1" hangingPunct="1"/>
            <a:r>
              <a:rPr lang="en-US" sz="3600" i="1" dirty="0">
                <a:solidFill>
                  <a:schemeClr val="hlink"/>
                </a:solidFill>
              </a:rPr>
              <a:t>Simulation</a:t>
            </a:r>
          </a:p>
        </p:txBody>
      </p:sp>
      <p:sp>
        <p:nvSpPr>
          <p:cNvPr id="18435" name="Rectangle 3"/>
          <p:cNvSpPr>
            <a:spLocks noGrp="1" noChangeArrowheads="1"/>
          </p:cNvSpPr>
          <p:nvPr>
            <p:ph type="body" idx="1"/>
          </p:nvPr>
        </p:nvSpPr>
        <p:spPr>
          <a:xfrm>
            <a:off x="668338" y="1017588"/>
            <a:ext cx="7772400" cy="4656137"/>
          </a:xfrm>
          <a:noFill/>
        </p:spPr>
        <p:txBody>
          <a:bodyPr lIns="92075" tIns="46038" rIns="92075" bIns="46038"/>
          <a:lstStyle/>
          <a:p>
            <a:pPr eaLnBrk="1" hangingPunct="1"/>
            <a:r>
              <a:rPr lang="en-US" sz="2800" dirty="0"/>
              <a:t>To properly assess the risk inherent in the model we need to use simulation.</a:t>
            </a:r>
          </a:p>
          <a:p>
            <a:pPr eaLnBrk="1" hangingPunct="1"/>
            <a:r>
              <a:rPr lang="en-US" sz="2800" dirty="0"/>
              <a:t>Simulation is a 4-step process:</a:t>
            </a:r>
          </a:p>
          <a:p>
            <a:pPr marL="850900" lvl="1" indent="-393700" eaLnBrk="1" hangingPunct="1">
              <a:buFontTx/>
              <a:buNone/>
            </a:pPr>
            <a:r>
              <a:rPr lang="en-US" dirty="0"/>
              <a:t>1) </a:t>
            </a:r>
            <a:r>
              <a:rPr lang="en-US" sz="2400" dirty="0"/>
              <a:t>Identify the uncertain cells in the model.</a:t>
            </a:r>
          </a:p>
          <a:p>
            <a:pPr marL="850900" lvl="1" indent="-393700" eaLnBrk="1" hangingPunct="1">
              <a:buFontTx/>
              <a:buNone/>
            </a:pPr>
            <a:r>
              <a:rPr lang="en-US" sz="2400" dirty="0"/>
              <a:t>2) Implement appropriate RNGs for each uncertain cell.</a:t>
            </a:r>
          </a:p>
          <a:p>
            <a:pPr marL="850900" lvl="1" indent="-393700" eaLnBrk="1" hangingPunct="1">
              <a:buFontTx/>
              <a:buNone/>
            </a:pPr>
            <a:r>
              <a:rPr lang="en-US" sz="2400" dirty="0"/>
              <a:t>3) Replicate the model </a:t>
            </a:r>
            <a:r>
              <a:rPr lang="en-US" sz="2400" i="1" dirty="0">
                <a:latin typeface="Times New Roman" pitchFamily="18" charset="0"/>
              </a:rPr>
              <a:t>n</a:t>
            </a:r>
            <a:r>
              <a:rPr lang="en-US" sz="2400" dirty="0"/>
              <a:t> times and record the value of the bottom-line performance measure.</a:t>
            </a:r>
          </a:p>
          <a:p>
            <a:pPr marL="850900" lvl="1" indent="-393700" eaLnBrk="1" hangingPunct="1">
              <a:buFontTx/>
              <a:buNone/>
            </a:pPr>
            <a:r>
              <a:rPr lang="en-US" sz="2400" dirty="0"/>
              <a:t>4) Analyze the sample values collected on the performance measure.</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43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2" end="2"/>
                                            </p:txEl>
                                          </p:spTgt>
                                        </p:tgtEl>
                                        <p:attrNameLst>
                                          <p:attrName>ppt_c</p:attrName>
                                        </p:attrNameLst>
                                      </p:cBhvr>
                                      <p:to>
                                        <a:srgbClr val="CBCBCB"/>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43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3" end="3"/>
                                            </p:txEl>
                                          </p:spTgt>
                                        </p:tgtEl>
                                        <p:attrNameLst>
                                          <p:attrName>ppt_c</p:attrName>
                                        </p:attrNameLst>
                                      </p:cBhvr>
                                      <p:to>
                                        <a:srgbClr val="CBCBCB"/>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43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4" end="4"/>
                                            </p:txEl>
                                          </p:spTgt>
                                        </p:tgtEl>
                                        <p:attrNameLst>
                                          <p:attrName>ppt_c</p:attrName>
                                        </p:attrNameLst>
                                      </p:cBhvr>
                                      <p:to>
                                        <a:srgbClr val="CBCBCB"/>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bldLvl="2"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0" y="454025"/>
            <a:ext cx="7772400" cy="500063"/>
          </a:xfrm>
          <a:noFill/>
        </p:spPr>
        <p:txBody>
          <a:bodyPr lIns="92075" tIns="46038" rIns="92075" bIns="46038"/>
          <a:lstStyle/>
          <a:p>
            <a:pPr eaLnBrk="1" hangingPunct="1"/>
            <a:r>
              <a:rPr lang="en-US" sz="3600" i="1" dirty="0">
                <a:solidFill>
                  <a:schemeClr val="hlink"/>
                </a:solidFill>
              </a:rPr>
              <a:t>What is Analytic Solver Platform?</a:t>
            </a:r>
          </a:p>
        </p:txBody>
      </p:sp>
      <p:sp>
        <p:nvSpPr>
          <p:cNvPr id="19459" name="Rectangle 3"/>
          <p:cNvSpPr>
            <a:spLocks noGrp="1" noChangeArrowheads="1"/>
          </p:cNvSpPr>
          <p:nvPr>
            <p:ph type="body" idx="1"/>
          </p:nvPr>
        </p:nvSpPr>
        <p:spPr>
          <a:xfrm>
            <a:off x="304800" y="1295400"/>
            <a:ext cx="8458200" cy="4191000"/>
          </a:xfrm>
          <a:noFill/>
        </p:spPr>
        <p:txBody>
          <a:bodyPr lIns="92075" tIns="46038" rIns="92075" bIns="46038"/>
          <a:lstStyle/>
          <a:p>
            <a:pPr eaLnBrk="1" hangingPunct="1"/>
            <a:r>
              <a:rPr lang="en-US" sz="2800" dirty="0"/>
              <a:t>Analytic Solver Platform (ASP)  is a spreadsheet add-in that simplifies spreadsheet simulation.</a:t>
            </a:r>
          </a:p>
          <a:p>
            <a:pPr eaLnBrk="1" hangingPunct="1"/>
            <a:r>
              <a:rPr lang="en-US" sz="2800" dirty="0"/>
              <a:t>ASP provides:</a:t>
            </a:r>
          </a:p>
          <a:p>
            <a:pPr lvl="1" eaLnBrk="1" hangingPunct="1"/>
            <a:r>
              <a:rPr lang="en-US" sz="2600" dirty="0"/>
              <a:t>dialogs &amp; functions for generating random numbers</a:t>
            </a:r>
          </a:p>
          <a:p>
            <a:pPr lvl="1" eaLnBrk="1" hangingPunct="1"/>
            <a:r>
              <a:rPr lang="en-US" sz="2600" dirty="0"/>
              <a:t>commands for running simulations</a:t>
            </a:r>
          </a:p>
          <a:p>
            <a:pPr lvl="1" eaLnBrk="1" hangingPunct="1"/>
            <a:r>
              <a:rPr lang="en-US" sz="2600" dirty="0"/>
              <a:t>graphical &amp; statistical summaries of simulation data</a:t>
            </a:r>
          </a:p>
          <a:p>
            <a:pPr eaLnBrk="1" hangingPunct="1"/>
            <a:r>
              <a:rPr lang="en-US" sz="2800" dirty="0"/>
              <a:t>For more info </a:t>
            </a:r>
            <a:r>
              <a:rPr lang="en-US" sz="2800" dirty="0" err="1"/>
              <a:t>see:</a:t>
            </a:r>
            <a:r>
              <a:rPr lang="en-US" sz="2800" dirty="0" err="1">
                <a:hlinkClick r:id="rId3"/>
              </a:rPr>
              <a:t>http</a:t>
            </a:r>
            <a:r>
              <a:rPr lang="en-US" sz="2800" dirty="0">
                <a:hlinkClick r:id="rId3"/>
              </a:rPr>
              <a:t>://www.solver.com</a:t>
            </a:r>
            <a:endParaRPr lang="en-US" sz="2800" dirty="0"/>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5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945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945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9459">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274638"/>
            <a:ext cx="8229600" cy="657225"/>
          </a:xfrm>
          <a:noFill/>
        </p:spPr>
        <p:txBody>
          <a:bodyPr lIns="92075" tIns="46038" rIns="92075" bIns="46038"/>
          <a:lstStyle/>
          <a:p>
            <a:pPr eaLnBrk="1" hangingPunct="1"/>
            <a:r>
              <a:rPr lang="en-US" sz="3600" i="1">
                <a:solidFill>
                  <a:schemeClr val="hlink"/>
                </a:solidFill>
              </a:rPr>
              <a:t>Random Number Generators (RNGs)</a:t>
            </a:r>
          </a:p>
        </p:txBody>
      </p:sp>
      <p:sp>
        <p:nvSpPr>
          <p:cNvPr id="20483" name="Rectangle 3"/>
          <p:cNvSpPr>
            <a:spLocks noGrp="1" noChangeArrowheads="1"/>
          </p:cNvSpPr>
          <p:nvPr>
            <p:ph type="body" idx="1"/>
          </p:nvPr>
        </p:nvSpPr>
        <p:spPr>
          <a:xfrm>
            <a:off x="685800" y="1600200"/>
            <a:ext cx="7772400" cy="4148138"/>
          </a:xfrm>
          <a:noFill/>
        </p:spPr>
        <p:txBody>
          <a:bodyPr lIns="92075" tIns="46038" rIns="92075" bIns="46038"/>
          <a:lstStyle/>
          <a:p>
            <a:pPr eaLnBrk="1" hangingPunct="1"/>
            <a:r>
              <a:rPr lang="en-US" sz="2800" dirty="0"/>
              <a:t>A RNG is a mathematical function that randomly generates (returns) a value from a particular probability distribution.</a:t>
            </a:r>
          </a:p>
          <a:p>
            <a:pPr eaLnBrk="1" hangingPunct="1"/>
            <a:r>
              <a:rPr lang="en-US" sz="2800" dirty="0"/>
              <a:t>We can implement RNGs for uncertain cells to allow us to sample from the distribution of values expected for different cells.</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48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74638"/>
            <a:ext cx="8229600" cy="560387"/>
          </a:xfrm>
          <a:noFill/>
        </p:spPr>
        <p:txBody>
          <a:bodyPr lIns="92075" tIns="46038" rIns="92075" bIns="46038"/>
          <a:lstStyle/>
          <a:p>
            <a:pPr eaLnBrk="1" hangingPunct="1"/>
            <a:r>
              <a:rPr lang="en-US" sz="3600" i="1">
                <a:solidFill>
                  <a:schemeClr val="hlink"/>
                </a:solidFill>
              </a:rPr>
              <a:t>How RNGs Work</a:t>
            </a:r>
          </a:p>
        </p:txBody>
      </p:sp>
      <p:sp>
        <p:nvSpPr>
          <p:cNvPr id="21507" name="Rectangle 3"/>
          <p:cNvSpPr>
            <a:spLocks noGrp="1" noChangeArrowheads="1"/>
          </p:cNvSpPr>
          <p:nvPr>
            <p:ph type="body" idx="1"/>
          </p:nvPr>
        </p:nvSpPr>
        <p:spPr>
          <a:xfrm>
            <a:off x="457200" y="1219200"/>
            <a:ext cx="8229600" cy="4152900"/>
          </a:xfrm>
          <a:noFill/>
        </p:spPr>
        <p:txBody>
          <a:bodyPr lIns="92075" tIns="46038" rIns="92075" bIns="46038"/>
          <a:lstStyle/>
          <a:p>
            <a:pPr eaLnBrk="1" hangingPunct="1"/>
            <a:r>
              <a:rPr lang="en-US" sz="2700" dirty="0"/>
              <a:t>The RAND( ) function returns uniformly distributed random numbers between 0.0 and 0.9999999.</a:t>
            </a:r>
          </a:p>
          <a:p>
            <a:pPr eaLnBrk="1" hangingPunct="1"/>
            <a:r>
              <a:rPr lang="en-US" sz="2700" dirty="0"/>
              <a:t>Suppose we want to simulate the act of tossing a fair coin.</a:t>
            </a:r>
          </a:p>
          <a:p>
            <a:pPr eaLnBrk="1" hangingPunct="1"/>
            <a:r>
              <a:rPr lang="en-US" sz="2700" dirty="0"/>
              <a:t>Let 1 represent “heads” and 2 represent “tails”.</a:t>
            </a:r>
          </a:p>
          <a:p>
            <a:pPr eaLnBrk="1" hangingPunct="1"/>
            <a:r>
              <a:rPr lang="en-US" sz="2700" dirty="0"/>
              <a:t>Consider the following RNG:</a:t>
            </a:r>
          </a:p>
          <a:p>
            <a:pPr lvl="1" algn="ctr" eaLnBrk="1" hangingPunct="1">
              <a:buFontTx/>
              <a:buNone/>
            </a:pPr>
            <a:r>
              <a:rPr lang="en-US" sz="3000" dirty="0"/>
              <a:t>=IF(RAND( )&lt;0.5,1,2)</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5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5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5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150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215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5800" y="454025"/>
            <a:ext cx="7772400" cy="527050"/>
          </a:xfrm>
          <a:noFill/>
        </p:spPr>
        <p:txBody>
          <a:bodyPr lIns="92075" tIns="46038" rIns="92075" bIns="46038"/>
          <a:lstStyle/>
          <a:p>
            <a:pPr eaLnBrk="1" hangingPunct="1"/>
            <a:r>
              <a:rPr lang="en-US" sz="3600" i="1">
                <a:solidFill>
                  <a:schemeClr val="hlink"/>
                </a:solidFill>
              </a:rPr>
              <a:t>Simulating the Roll of a Die</a:t>
            </a:r>
          </a:p>
        </p:txBody>
      </p:sp>
      <p:sp>
        <p:nvSpPr>
          <p:cNvPr id="22531" name="Rectangle 3"/>
          <p:cNvSpPr>
            <a:spLocks noGrp="1" noChangeArrowheads="1"/>
          </p:cNvSpPr>
          <p:nvPr>
            <p:ph type="body" idx="1"/>
          </p:nvPr>
        </p:nvSpPr>
        <p:spPr>
          <a:xfrm>
            <a:off x="533400" y="1143000"/>
            <a:ext cx="7589838" cy="1981200"/>
          </a:xfrm>
          <a:noFill/>
        </p:spPr>
        <p:txBody>
          <a:bodyPr lIns="92075" tIns="46038" rIns="92075" bIns="46038"/>
          <a:lstStyle/>
          <a:p>
            <a:pPr eaLnBrk="1" hangingPunct="1"/>
            <a:r>
              <a:rPr lang="en-US" sz="2700" dirty="0"/>
              <a:t>We want the values 1, 2, 3, 4, 5 &amp; 6 to occur randomly with equal probability of occurrence.</a:t>
            </a:r>
          </a:p>
          <a:p>
            <a:pPr eaLnBrk="1" hangingPunct="1"/>
            <a:r>
              <a:rPr lang="en-US" sz="2700" dirty="0"/>
              <a:t>Consider the following RNG:</a:t>
            </a:r>
          </a:p>
          <a:p>
            <a:pPr lvl="1" algn="ctr" eaLnBrk="1" hangingPunct="1">
              <a:buFontTx/>
              <a:buNone/>
            </a:pPr>
            <a:r>
              <a:rPr lang="en-US" dirty="0"/>
              <a:t>=INT(6*RAND())+1</a:t>
            </a:r>
          </a:p>
        </p:txBody>
      </p:sp>
      <p:grpSp>
        <p:nvGrpSpPr>
          <p:cNvPr id="2" name="Group 6"/>
          <p:cNvGrpSpPr>
            <a:grpSpLocks/>
          </p:cNvGrpSpPr>
          <p:nvPr/>
        </p:nvGrpSpPr>
        <p:grpSpPr bwMode="auto">
          <a:xfrm>
            <a:off x="1289050" y="3328988"/>
            <a:ext cx="7008813" cy="2838450"/>
            <a:chOff x="812" y="2097"/>
            <a:chExt cx="4414" cy="1788"/>
          </a:xfrm>
        </p:grpSpPr>
        <p:sp>
          <p:nvSpPr>
            <p:cNvPr id="22533" name="Rectangle 4"/>
            <p:cNvSpPr>
              <a:spLocks noChangeArrowheads="1"/>
            </p:cNvSpPr>
            <p:nvPr/>
          </p:nvSpPr>
          <p:spPr bwMode="auto">
            <a:xfrm>
              <a:off x="812" y="2097"/>
              <a:ext cx="4414" cy="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tabLst>
                  <a:tab pos="1836738" algn="ctr"/>
                  <a:tab pos="5033963" algn="ctr"/>
                </a:tabLst>
              </a:pPr>
              <a:r>
                <a:rPr lang="en-US" sz="2200" b="1" dirty="0"/>
                <a:t>	</a:t>
              </a:r>
              <a:r>
                <a:rPr lang="en-US" sz="2200" b="1" dirty="0">
                  <a:latin typeface="Tahoma" pitchFamily="34" charset="0"/>
                </a:rPr>
                <a:t>If 6*RAND( ) falls 	INT(6*RAND( ))+1 </a:t>
              </a:r>
            </a:p>
            <a:p>
              <a:pPr eaLnBrk="0" hangingPunct="0">
                <a:tabLst>
                  <a:tab pos="1836738" algn="ctr"/>
                  <a:tab pos="5033963" algn="ctr"/>
                </a:tabLst>
              </a:pPr>
              <a:r>
                <a:rPr lang="en-US" sz="2200" b="1" dirty="0">
                  <a:latin typeface="Tahoma" pitchFamily="34" charset="0"/>
                </a:rPr>
                <a:t>	in the interval:	returns the value:</a:t>
              </a:r>
            </a:p>
            <a:p>
              <a:pPr eaLnBrk="0" hangingPunct="0">
                <a:lnSpc>
                  <a:spcPct val="120000"/>
                </a:lnSpc>
                <a:tabLst>
                  <a:tab pos="1836738" algn="ctr"/>
                  <a:tab pos="5033963" algn="ctr"/>
                </a:tabLst>
              </a:pPr>
              <a:r>
                <a:rPr lang="en-US" sz="2200" dirty="0"/>
                <a:t>	</a:t>
              </a:r>
              <a:r>
                <a:rPr lang="en-US" sz="2200" dirty="0">
                  <a:latin typeface="Tahoma" pitchFamily="34" charset="0"/>
                </a:rPr>
                <a:t>0.0 to 0.999	1	</a:t>
              </a:r>
            </a:p>
            <a:p>
              <a:pPr eaLnBrk="0" hangingPunct="0">
                <a:tabLst>
                  <a:tab pos="1836738" algn="ctr"/>
                  <a:tab pos="5033963" algn="ctr"/>
                </a:tabLst>
              </a:pPr>
              <a:r>
                <a:rPr lang="en-US" sz="2200" dirty="0">
                  <a:latin typeface="Tahoma" pitchFamily="34" charset="0"/>
                </a:rPr>
                <a:t>	1.0 to 1.999	2	</a:t>
              </a:r>
            </a:p>
            <a:p>
              <a:pPr eaLnBrk="0" hangingPunct="0">
                <a:tabLst>
                  <a:tab pos="1836738" algn="ctr"/>
                  <a:tab pos="5033963" algn="ctr"/>
                </a:tabLst>
              </a:pPr>
              <a:r>
                <a:rPr lang="en-US" sz="2200" dirty="0">
                  <a:latin typeface="Tahoma" pitchFamily="34" charset="0"/>
                </a:rPr>
                <a:t>	2.0 to 2.999	3	</a:t>
              </a:r>
            </a:p>
            <a:p>
              <a:pPr eaLnBrk="0" hangingPunct="0">
                <a:tabLst>
                  <a:tab pos="1836738" algn="ctr"/>
                  <a:tab pos="5033963" algn="ctr"/>
                </a:tabLst>
              </a:pPr>
              <a:r>
                <a:rPr lang="en-US" sz="2200" dirty="0">
                  <a:latin typeface="Tahoma" pitchFamily="34" charset="0"/>
                </a:rPr>
                <a:t>	3.0 to 3.999	4	</a:t>
              </a:r>
            </a:p>
            <a:p>
              <a:pPr eaLnBrk="0" hangingPunct="0">
                <a:tabLst>
                  <a:tab pos="1836738" algn="ctr"/>
                  <a:tab pos="5033963" algn="ctr"/>
                </a:tabLst>
              </a:pPr>
              <a:r>
                <a:rPr lang="en-US" sz="2200" dirty="0">
                  <a:latin typeface="Tahoma" pitchFamily="34" charset="0"/>
                </a:rPr>
                <a:t>	4.0 to 4.999	5	</a:t>
              </a:r>
            </a:p>
            <a:p>
              <a:pPr eaLnBrk="0" hangingPunct="0">
                <a:tabLst>
                  <a:tab pos="1836738" algn="ctr"/>
                  <a:tab pos="5033963" algn="ctr"/>
                </a:tabLst>
              </a:pPr>
              <a:r>
                <a:rPr lang="en-US" sz="2200" dirty="0">
                  <a:latin typeface="Tahoma" pitchFamily="34" charset="0"/>
                </a:rPr>
                <a:t>	5.0 to 5.999	6</a:t>
              </a:r>
            </a:p>
          </p:txBody>
        </p:sp>
        <p:sp>
          <p:nvSpPr>
            <p:cNvPr id="22534" name="Line 5"/>
            <p:cNvSpPr>
              <a:spLocks noChangeShapeType="1"/>
            </p:cNvSpPr>
            <p:nvPr/>
          </p:nvSpPr>
          <p:spPr bwMode="auto">
            <a:xfrm>
              <a:off x="1241" y="2546"/>
              <a:ext cx="353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3" name="Footer Placeholder 2"/>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53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2531">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274638"/>
            <a:ext cx="8229600" cy="623887"/>
          </a:xfrm>
          <a:noFill/>
        </p:spPr>
        <p:txBody>
          <a:bodyPr lIns="92075" tIns="46038" rIns="92075" bIns="46038"/>
          <a:lstStyle/>
          <a:p>
            <a:pPr eaLnBrk="1" hangingPunct="1"/>
            <a:r>
              <a:rPr lang="en-US" sz="3600" i="1" dirty="0">
                <a:solidFill>
                  <a:schemeClr val="hlink"/>
                </a:solidFill>
              </a:rPr>
              <a:t>Generating Random Numbers </a:t>
            </a:r>
            <a:br>
              <a:rPr lang="en-US" sz="3600" i="1" dirty="0">
                <a:solidFill>
                  <a:schemeClr val="hlink"/>
                </a:solidFill>
              </a:rPr>
            </a:br>
            <a:r>
              <a:rPr lang="en-US" sz="3600" i="1" dirty="0">
                <a:solidFill>
                  <a:schemeClr val="hlink"/>
                </a:solidFill>
              </a:rPr>
              <a:t>With Analytic Solver Platform</a:t>
            </a:r>
          </a:p>
        </p:txBody>
      </p:sp>
      <p:sp>
        <p:nvSpPr>
          <p:cNvPr id="69638" name="Rectangle 6"/>
          <p:cNvSpPr>
            <a:spLocks noGrp="1" noChangeArrowheads="1"/>
          </p:cNvSpPr>
          <p:nvPr>
            <p:ph type="body" idx="1"/>
          </p:nvPr>
        </p:nvSpPr>
        <p:spPr>
          <a:xfrm>
            <a:off x="457200" y="1295400"/>
            <a:ext cx="8229600" cy="4152900"/>
          </a:xfrm>
          <a:noFill/>
        </p:spPr>
        <p:txBody>
          <a:bodyPr lIns="92075" tIns="46038" rIns="92075" bIns="46038"/>
          <a:lstStyle/>
          <a:p>
            <a:pPr eaLnBrk="1" hangingPunct="1"/>
            <a:r>
              <a:rPr lang="en-US" sz="2800" dirty="0"/>
              <a:t>ASP uses “Psi” functions to implement RNGs in spreadsheets</a:t>
            </a:r>
          </a:p>
          <a:p>
            <a:pPr lvl="1" eaLnBrk="1" hangingPunct="1"/>
            <a:r>
              <a:rPr lang="en-US" sz="2400" dirty="0"/>
              <a:t>“Psi” functions</a:t>
            </a:r>
          </a:p>
          <a:p>
            <a:pPr lvl="2" eaLnBrk="1" hangingPunct="1"/>
            <a:r>
              <a:rPr lang="en-US" sz="2000" dirty="0"/>
              <a:t>Used in formulas like any other Excel function</a:t>
            </a:r>
          </a:p>
          <a:p>
            <a:pPr lvl="2" eaLnBrk="1" hangingPunct="1"/>
            <a:r>
              <a:rPr lang="en-US" sz="2000" dirty="0"/>
              <a:t>Require ASP to be installed on the machine displaying the spreadsheet</a:t>
            </a:r>
          </a:p>
          <a:p>
            <a:pPr lvl="1" eaLnBrk="1" hangingPunct="1"/>
            <a:r>
              <a:rPr lang="en-US" sz="2400" dirty="0"/>
              <a:t>The Distribution Gallery</a:t>
            </a:r>
          </a:p>
          <a:p>
            <a:pPr lvl="2" eaLnBrk="1" hangingPunct="1"/>
            <a:r>
              <a:rPr lang="en-US" sz="2000" dirty="0"/>
              <a:t>Displays graphical depictions of RNG distributions to assist in selecting the appropriate Psi function</a:t>
            </a:r>
          </a:p>
          <a:p>
            <a:pPr lvl="2" eaLnBrk="1" hangingPunct="1"/>
            <a:endParaRPr lang="en-US" sz="2000" dirty="0"/>
          </a:p>
          <a:p>
            <a:pPr eaLnBrk="1" hangingPunct="1"/>
            <a:endParaRPr lang="en-US" sz="2400" dirty="0"/>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963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6963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6963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6963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6963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6963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8"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81000" y="274638"/>
            <a:ext cx="8229600" cy="623887"/>
          </a:xfrm>
          <a:noFill/>
        </p:spPr>
        <p:txBody>
          <a:bodyPr lIns="92075" tIns="46038" rIns="92075" bIns="46038"/>
          <a:lstStyle/>
          <a:p>
            <a:pPr eaLnBrk="1" hangingPunct="1"/>
            <a:r>
              <a:rPr lang="en-US" sz="3600" i="1" dirty="0">
                <a:solidFill>
                  <a:schemeClr val="hlink"/>
                </a:solidFill>
              </a:rPr>
              <a:t>Some of the RNGs Provided </a:t>
            </a:r>
            <a:br>
              <a:rPr lang="en-US" sz="3600" i="1" dirty="0">
                <a:solidFill>
                  <a:schemeClr val="hlink"/>
                </a:solidFill>
              </a:rPr>
            </a:br>
            <a:r>
              <a:rPr lang="en-US" sz="3600" i="1" dirty="0">
                <a:solidFill>
                  <a:schemeClr val="hlink"/>
                </a:solidFill>
              </a:rPr>
              <a:t>By Analytic Solver Platform</a:t>
            </a:r>
          </a:p>
        </p:txBody>
      </p:sp>
      <p:sp>
        <p:nvSpPr>
          <p:cNvPr id="24579" name="Rectangle 3"/>
          <p:cNvSpPr>
            <a:spLocks noGrp="1" noChangeArrowheads="1"/>
          </p:cNvSpPr>
          <p:nvPr>
            <p:ph type="body" idx="1"/>
          </p:nvPr>
        </p:nvSpPr>
        <p:spPr>
          <a:xfrm>
            <a:off x="488950" y="1142999"/>
            <a:ext cx="8281987" cy="4876795"/>
          </a:xfrm>
          <a:noFill/>
        </p:spPr>
        <p:txBody>
          <a:bodyPr lIns="92075" tIns="46038" rIns="92075" bIns="46038"/>
          <a:lstStyle/>
          <a:p>
            <a:pPr eaLnBrk="1" hangingPunct="1">
              <a:lnSpc>
                <a:spcPct val="190000"/>
              </a:lnSpc>
              <a:buFont typeface="Wingdings" pitchFamily="2" charset="2"/>
              <a:buNone/>
              <a:tabLst>
                <a:tab pos="2865438" algn="l"/>
              </a:tabLst>
            </a:pPr>
            <a:r>
              <a:rPr lang="en-US" sz="2400" dirty="0"/>
              <a:t>Distribution	RNG Function</a:t>
            </a:r>
          </a:p>
          <a:p>
            <a:pPr eaLnBrk="1" hangingPunct="1">
              <a:buFont typeface="Wingdings" pitchFamily="2" charset="2"/>
              <a:buNone/>
              <a:tabLst>
                <a:tab pos="2865438" algn="l"/>
              </a:tabLst>
            </a:pPr>
            <a:r>
              <a:rPr lang="en-US" sz="2400" dirty="0"/>
              <a:t>Binomial	</a:t>
            </a:r>
            <a:r>
              <a:rPr lang="en-US" sz="2400" dirty="0" err="1"/>
              <a:t>PsiBinomial</a:t>
            </a:r>
            <a:r>
              <a:rPr lang="en-US" sz="2400" dirty="0"/>
              <a:t>(</a:t>
            </a:r>
            <a:r>
              <a:rPr lang="en-US" sz="2400" i="1" dirty="0" err="1"/>
              <a:t>n,p</a:t>
            </a:r>
            <a:r>
              <a:rPr lang="en-US" sz="2400" dirty="0"/>
              <a:t>)			</a:t>
            </a:r>
          </a:p>
          <a:p>
            <a:pPr eaLnBrk="1" hangingPunct="1">
              <a:buFont typeface="Wingdings" pitchFamily="2" charset="2"/>
              <a:buNone/>
              <a:tabLst>
                <a:tab pos="2865438" algn="l"/>
              </a:tabLst>
            </a:pPr>
            <a:r>
              <a:rPr lang="en-US" sz="2400" dirty="0"/>
              <a:t>Chi-Square	</a:t>
            </a:r>
            <a:r>
              <a:rPr lang="en-US" sz="2400" dirty="0" err="1"/>
              <a:t>PsiChisquare</a:t>
            </a:r>
            <a:r>
              <a:rPr lang="en-US" sz="2400" dirty="0"/>
              <a:t>(</a:t>
            </a:r>
            <a:r>
              <a:rPr lang="el-GR" sz="2400" dirty="0"/>
              <a:t>λ</a:t>
            </a:r>
            <a:r>
              <a:rPr lang="en-US" sz="2400" dirty="0"/>
              <a:t>)	</a:t>
            </a:r>
          </a:p>
          <a:p>
            <a:pPr eaLnBrk="1" hangingPunct="1">
              <a:buFont typeface="Wingdings" pitchFamily="2" charset="2"/>
              <a:buNone/>
              <a:tabLst>
                <a:tab pos="2865438" algn="l"/>
              </a:tabLst>
            </a:pPr>
            <a:r>
              <a:rPr lang="en-US" sz="2400" dirty="0"/>
              <a:t>Poisson	</a:t>
            </a:r>
            <a:r>
              <a:rPr lang="en-US" sz="2400" dirty="0" err="1"/>
              <a:t>PsiPoisson</a:t>
            </a:r>
            <a:r>
              <a:rPr lang="en-US" sz="2400" dirty="0"/>
              <a:t>(</a:t>
            </a:r>
            <a:r>
              <a:rPr lang="el-GR" sz="2400" dirty="0"/>
              <a:t>λ</a:t>
            </a:r>
            <a:r>
              <a:rPr lang="en-US" sz="2400" dirty="0"/>
              <a:t>)	</a:t>
            </a:r>
          </a:p>
          <a:p>
            <a:pPr eaLnBrk="1" hangingPunct="1">
              <a:buFont typeface="Wingdings" pitchFamily="2" charset="2"/>
              <a:buNone/>
              <a:tabLst>
                <a:tab pos="2865438" algn="l"/>
              </a:tabLst>
            </a:pPr>
            <a:r>
              <a:rPr lang="en-US" sz="2400" dirty="0"/>
              <a:t>Continuous Uniform	</a:t>
            </a:r>
            <a:r>
              <a:rPr lang="en-US" sz="2400" dirty="0" err="1"/>
              <a:t>PsiUniform</a:t>
            </a:r>
            <a:r>
              <a:rPr lang="en-US" sz="2400" dirty="0"/>
              <a:t>(</a:t>
            </a:r>
            <a:r>
              <a:rPr lang="en-US" sz="2400" dirty="0" err="1"/>
              <a:t>min,max</a:t>
            </a:r>
            <a:r>
              <a:rPr lang="en-US" sz="2400" dirty="0"/>
              <a:t>)		</a:t>
            </a:r>
          </a:p>
          <a:p>
            <a:pPr eaLnBrk="1" hangingPunct="1">
              <a:buFont typeface="Wingdings" pitchFamily="2" charset="2"/>
              <a:buNone/>
              <a:tabLst>
                <a:tab pos="2865438" algn="l"/>
              </a:tabLst>
            </a:pPr>
            <a:r>
              <a:rPr lang="en-US" sz="2400" dirty="0"/>
              <a:t>Exponential	</a:t>
            </a:r>
            <a:r>
              <a:rPr lang="en-US" sz="2400" dirty="0" err="1"/>
              <a:t>PsiExponential</a:t>
            </a:r>
            <a:r>
              <a:rPr lang="en-US" sz="2400" dirty="0"/>
              <a:t>(</a:t>
            </a:r>
            <a:r>
              <a:rPr lang="el-GR" sz="2400" dirty="0"/>
              <a:t>λ</a:t>
            </a:r>
            <a:r>
              <a:rPr lang="en-US" sz="2400" dirty="0"/>
              <a:t>)	</a:t>
            </a:r>
          </a:p>
          <a:p>
            <a:pPr eaLnBrk="1" hangingPunct="1">
              <a:buFont typeface="Wingdings" pitchFamily="2" charset="2"/>
              <a:buNone/>
              <a:tabLst>
                <a:tab pos="2865438" algn="l"/>
              </a:tabLst>
            </a:pPr>
            <a:r>
              <a:rPr lang="en-US" sz="2400" dirty="0"/>
              <a:t>Triangular	</a:t>
            </a:r>
            <a:r>
              <a:rPr lang="en-US" sz="2400" dirty="0" err="1"/>
              <a:t>PsiTriang</a:t>
            </a:r>
            <a:r>
              <a:rPr lang="en-US" sz="2400" dirty="0"/>
              <a:t>(min, most likely, max)	</a:t>
            </a:r>
          </a:p>
          <a:p>
            <a:pPr eaLnBrk="1" hangingPunct="1">
              <a:buFont typeface="Wingdings" pitchFamily="2" charset="2"/>
              <a:buNone/>
              <a:tabLst>
                <a:tab pos="2865438" algn="l"/>
              </a:tabLst>
            </a:pPr>
            <a:r>
              <a:rPr lang="en-US" sz="2400" dirty="0"/>
              <a:t>Normal	</a:t>
            </a:r>
            <a:r>
              <a:rPr lang="en-US" sz="2400" dirty="0" err="1"/>
              <a:t>PsiNormal</a:t>
            </a:r>
            <a:r>
              <a:rPr lang="en-US" sz="2400" dirty="0"/>
              <a:t>(</a:t>
            </a:r>
            <a:r>
              <a:rPr lang="el-GR" sz="2400" dirty="0"/>
              <a:t>μ</a:t>
            </a:r>
            <a:r>
              <a:rPr lang="en-US" sz="2400" dirty="0"/>
              <a:t>,</a:t>
            </a:r>
            <a:r>
              <a:rPr lang="el-GR" sz="2400" dirty="0"/>
              <a:t>σ</a:t>
            </a:r>
            <a:r>
              <a:rPr lang="en-US" sz="2400" dirty="0"/>
              <a:t>)	</a:t>
            </a:r>
          </a:p>
          <a:p>
            <a:pPr eaLnBrk="1" hangingPunct="1">
              <a:buFont typeface="Wingdings" pitchFamily="2" charset="2"/>
              <a:buNone/>
              <a:tabLst>
                <a:tab pos="2865438" algn="l"/>
              </a:tabLst>
            </a:pPr>
            <a:r>
              <a:rPr lang="en-US" sz="2400" dirty="0"/>
              <a:t>Truncated Normal	</a:t>
            </a:r>
            <a:r>
              <a:rPr lang="en-US" sz="2400" dirty="0" err="1"/>
              <a:t>PsiNormal</a:t>
            </a:r>
            <a:r>
              <a:rPr lang="en-US" sz="2400" dirty="0"/>
              <a:t>(</a:t>
            </a:r>
            <a:r>
              <a:rPr lang="el-GR" sz="2400" dirty="0"/>
              <a:t>μ</a:t>
            </a:r>
            <a:r>
              <a:rPr lang="en-US" sz="2400" dirty="0"/>
              <a:t>,</a:t>
            </a:r>
            <a:r>
              <a:rPr lang="el-GR" sz="2400" dirty="0"/>
              <a:t>σ</a:t>
            </a:r>
            <a:r>
              <a:rPr lang="en-US" sz="2400" dirty="0"/>
              <a:t>, </a:t>
            </a:r>
            <a:r>
              <a:rPr lang="en-US" sz="2400" dirty="0" err="1"/>
              <a:t>PsiTruncate</a:t>
            </a:r>
            <a:r>
              <a:rPr lang="en-US" sz="2400" dirty="0"/>
              <a:t>(</a:t>
            </a:r>
            <a:r>
              <a:rPr lang="en-US" sz="2400" dirty="0" err="1"/>
              <a:t>min,max</a:t>
            </a:r>
            <a:r>
              <a:rPr lang="en-US" sz="2400" dirty="0"/>
              <a:t>))</a:t>
            </a:r>
          </a:p>
          <a:p>
            <a:pPr algn="ctr" eaLnBrk="1" hangingPunct="1">
              <a:buFont typeface="Wingdings" pitchFamily="2" charset="2"/>
              <a:buNone/>
              <a:tabLst>
                <a:tab pos="2865438" algn="l"/>
              </a:tabLst>
            </a:pPr>
            <a:r>
              <a:rPr lang="en-US" sz="2400" dirty="0"/>
              <a:t>(And there are many others)</a:t>
            </a:r>
          </a:p>
        </p:txBody>
      </p:sp>
      <p:sp>
        <p:nvSpPr>
          <p:cNvPr id="24580" name="Line 4"/>
          <p:cNvSpPr>
            <a:spLocks noChangeShapeType="1"/>
          </p:cNvSpPr>
          <p:nvPr/>
        </p:nvSpPr>
        <p:spPr bwMode="auto">
          <a:xfrm>
            <a:off x="404813" y="1905000"/>
            <a:ext cx="828198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419886" y="1329758"/>
            <a:ext cx="6058491" cy="4296342"/>
          </a:xfrm>
          <a:prstGeom prst="rect">
            <a:avLst/>
          </a:prstGeom>
        </p:spPr>
      </p:pic>
      <p:sp>
        <p:nvSpPr>
          <p:cNvPr id="25603" name="Rectangle 2"/>
          <p:cNvSpPr>
            <a:spLocks noGrp="1" noChangeArrowheads="1"/>
          </p:cNvSpPr>
          <p:nvPr>
            <p:ph type="title"/>
          </p:nvPr>
        </p:nvSpPr>
        <p:spPr>
          <a:xfrm>
            <a:off x="457200" y="76200"/>
            <a:ext cx="8229600" cy="944562"/>
          </a:xfrm>
        </p:spPr>
        <p:txBody>
          <a:bodyPr/>
          <a:lstStyle/>
          <a:p>
            <a:pPr eaLnBrk="1" hangingPunct="1"/>
            <a:r>
              <a:rPr lang="en-US" sz="3600" i="1" dirty="0">
                <a:solidFill>
                  <a:schemeClr val="hlink"/>
                </a:solidFill>
              </a:rPr>
              <a:t>Using Psi Functions</a:t>
            </a:r>
          </a:p>
        </p:txBody>
      </p:sp>
      <p:sp>
        <p:nvSpPr>
          <p:cNvPr id="25604" name="Line 5"/>
          <p:cNvSpPr>
            <a:spLocks noChangeShapeType="1"/>
          </p:cNvSpPr>
          <p:nvPr/>
        </p:nvSpPr>
        <p:spPr bwMode="auto">
          <a:xfrm>
            <a:off x="3931186" y="2409826"/>
            <a:ext cx="1644114" cy="619124"/>
          </a:xfrm>
          <a:prstGeom prst="line">
            <a:avLst/>
          </a:prstGeom>
          <a:noFill/>
          <a:ln w="9525">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5605" name="Oval 6"/>
          <p:cNvSpPr>
            <a:spLocks noChangeArrowheads="1"/>
          </p:cNvSpPr>
          <p:nvPr/>
        </p:nvSpPr>
        <p:spPr bwMode="auto">
          <a:xfrm>
            <a:off x="3702586" y="2270126"/>
            <a:ext cx="228600" cy="228600"/>
          </a:xfrm>
          <a:prstGeom prst="ellipse">
            <a:avLst/>
          </a:prstGeom>
          <a:noFill/>
          <a:ln w="1905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en-US" b="1"/>
          </a:p>
        </p:txBody>
      </p:sp>
      <p:sp>
        <p:nvSpPr>
          <p:cNvPr id="25606" name="Text Box 7"/>
          <p:cNvSpPr txBox="1">
            <a:spLocks noChangeArrowheads="1"/>
          </p:cNvSpPr>
          <p:nvPr/>
        </p:nvSpPr>
        <p:spPr bwMode="auto">
          <a:xfrm>
            <a:off x="622300" y="203835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dirty="0"/>
              <a:t>Click Insert Function icon</a:t>
            </a:r>
          </a:p>
        </p:txBody>
      </p:sp>
      <p:sp>
        <p:nvSpPr>
          <p:cNvPr id="25607" name="Line 8"/>
          <p:cNvSpPr>
            <a:spLocks noChangeShapeType="1"/>
          </p:cNvSpPr>
          <p:nvPr/>
        </p:nvSpPr>
        <p:spPr bwMode="auto">
          <a:xfrm>
            <a:off x="2222500" y="2359026"/>
            <a:ext cx="1416050" cy="60324"/>
          </a:xfrm>
          <a:prstGeom prst="line">
            <a:avLst/>
          </a:prstGeom>
          <a:noFill/>
          <a:ln w="19050">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5608" name="Text Box 9"/>
          <p:cNvSpPr txBox="1">
            <a:spLocks noChangeArrowheads="1"/>
          </p:cNvSpPr>
          <p:nvPr/>
        </p:nvSpPr>
        <p:spPr bwMode="auto">
          <a:xfrm>
            <a:off x="381000" y="3028950"/>
            <a:ext cx="21463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dirty="0"/>
              <a:t>Select Psi </a:t>
            </a:r>
            <a:br>
              <a:rPr lang="en-US" dirty="0"/>
            </a:br>
            <a:r>
              <a:rPr lang="en-US" dirty="0"/>
              <a:t>distribution</a:t>
            </a:r>
          </a:p>
        </p:txBody>
      </p:sp>
      <p:sp>
        <p:nvSpPr>
          <p:cNvPr id="25609" name="Line 10"/>
          <p:cNvSpPr>
            <a:spLocks noChangeShapeType="1"/>
          </p:cNvSpPr>
          <p:nvPr/>
        </p:nvSpPr>
        <p:spPr bwMode="auto">
          <a:xfrm>
            <a:off x="2057400" y="3378200"/>
            <a:ext cx="3657600" cy="200593"/>
          </a:xfrm>
          <a:prstGeom prst="line">
            <a:avLst/>
          </a:prstGeom>
          <a:noFill/>
          <a:ln w="19050">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5610" name="AutoShape 11"/>
          <p:cNvSpPr>
            <a:spLocks/>
          </p:cNvSpPr>
          <p:nvPr/>
        </p:nvSpPr>
        <p:spPr bwMode="auto">
          <a:xfrm>
            <a:off x="5696486" y="3781991"/>
            <a:ext cx="76200" cy="685800"/>
          </a:xfrm>
          <a:prstGeom prst="leftBrace">
            <a:avLst>
              <a:gd name="adj1" fmla="val 75000"/>
              <a:gd name="adj2" fmla="val 50000"/>
            </a:avLst>
          </a:prstGeom>
          <a:noFill/>
          <a:ln w="1905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11" name="Text Box 12"/>
          <p:cNvSpPr txBox="1">
            <a:spLocks noChangeArrowheads="1"/>
          </p:cNvSpPr>
          <p:nvPr/>
        </p:nvSpPr>
        <p:spPr bwMode="auto">
          <a:xfrm>
            <a:off x="444500" y="3943350"/>
            <a:ext cx="2082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dirty="0"/>
              <a:t>Select Psi </a:t>
            </a:r>
            <a:br>
              <a:rPr lang="en-US" dirty="0"/>
            </a:br>
            <a:r>
              <a:rPr lang="en-US" dirty="0"/>
              <a:t>function</a:t>
            </a:r>
          </a:p>
        </p:txBody>
      </p:sp>
      <p:sp>
        <p:nvSpPr>
          <p:cNvPr id="25612" name="Line 13"/>
          <p:cNvSpPr>
            <a:spLocks noChangeShapeType="1"/>
          </p:cNvSpPr>
          <p:nvPr/>
        </p:nvSpPr>
        <p:spPr bwMode="auto">
          <a:xfrm flipV="1">
            <a:off x="2222500" y="4109018"/>
            <a:ext cx="3416300" cy="185388"/>
          </a:xfrm>
          <a:prstGeom prst="line">
            <a:avLst/>
          </a:prstGeom>
          <a:noFill/>
          <a:ln w="19050">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512862" y="1030512"/>
            <a:ext cx="6500978" cy="4608288"/>
          </a:xfrm>
          <a:prstGeom prst="rect">
            <a:avLst/>
          </a:prstGeom>
        </p:spPr>
      </p:pic>
      <p:sp>
        <p:nvSpPr>
          <p:cNvPr id="26628" name="Rectangle 2"/>
          <p:cNvSpPr>
            <a:spLocks noGrp="1" noChangeArrowheads="1"/>
          </p:cNvSpPr>
          <p:nvPr>
            <p:ph type="title"/>
          </p:nvPr>
        </p:nvSpPr>
        <p:spPr>
          <a:xfrm>
            <a:off x="457200" y="147638"/>
            <a:ext cx="8229600" cy="715962"/>
          </a:xfrm>
        </p:spPr>
        <p:txBody>
          <a:bodyPr/>
          <a:lstStyle/>
          <a:p>
            <a:pPr eaLnBrk="1" hangingPunct="1"/>
            <a:r>
              <a:rPr lang="en-US" sz="3600" i="1" dirty="0">
                <a:solidFill>
                  <a:schemeClr val="hlink"/>
                </a:solidFill>
              </a:rPr>
              <a:t>Using the Distribution Gallery </a:t>
            </a:r>
          </a:p>
        </p:txBody>
      </p:sp>
      <p:sp>
        <p:nvSpPr>
          <p:cNvPr id="26629" name="Text Box 15"/>
          <p:cNvSpPr txBox="1">
            <a:spLocks noChangeArrowheads="1"/>
          </p:cNvSpPr>
          <p:nvPr/>
        </p:nvSpPr>
        <p:spPr bwMode="auto">
          <a:xfrm>
            <a:off x="88900" y="1193800"/>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t>1. Click Distributions</a:t>
            </a:r>
          </a:p>
        </p:txBody>
      </p:sp>
      <p:sp>
        <p:nvSpPr>
          <p:cNvPr id="26630" name="Line 16"/>
          <p:cNvSpPr>
            <a:spLocks noChangeShapeType="1"/>
          </p:cNvSpPr>
          <p:nvPr/>
        </p:nvSpPr>
        <p:spPr bwMode="auto">
          <a:xfrm>
            <a:off x="2349500" y="1422400"/>
            <a:ext cx="533400" cy="152400"/>
          </a:xfrm>
          <a:prstGeom prst="line">
            <a:avLst/>
          </a:prstGeom>
          <a:noFill/>
          <a:ln w="19050">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6631" name="Text Box 19"/>
          <p:cNvSpPr txBox="1">
            <a:spLocks noChangeArrowheads="1"/>
          </p:cNvSpPr>
          <p:nvPr/>
        </p:nvSpPr>
        <p:spPr bwMode="auto">
          <a:xfrm>
            <a:off x="76200" y="2044700"/>
            <a:ext cx="2286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t>2. Select distribution</a:t>
            </a:r>
          </a:p>
        </p:txBody>
      </p:sp>
      <p:sp>
        <p:nvSpPr>
          <p:cNvPr id="26632" name="Text Box 21"/>
          <p:cNvSpPr txBox="1">
            <a:spLocks noChangeArrowheads="1"/>
          </p:cNvSpPr>
          <p:nvPr/>
        </p:nvSpPr>
        <p:spPr bwMode="auto">
          <a:xfrm>
            <a:off x="76200" y="30099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t>3. Specify parameters</a:t>
            </a:r>
          </a:p>
        </p:txBody>
      </p:sp>
      <p:sp>
        <p:nvSpPr>
          <p:cNvPr id="26633" name="Line 23"/>
          <p:cNvSpPr>
            <a:spLocks noChangeShapeType="1"/>
          </p:cNvSpPr>
          <p:nvPr/>
        </p:nvSpPr>
        <p:spPr bwMode="auto">
          <a:xfrm>
            <a:off x="2438400" y="3251200"/>
            <a:ext cx="5105400" cy="1092200"/>
          </a:xfrm>
          <a:prstGeom prst="line">
            <a:avLst/>
          </a:prstGeom>
          <a:noFill/>
          <a:ln w="19050">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6634" name="Oval 24"/>
          <p:cNvSpPr>
            <a:spLocks noChangeArrowheads="1"/>
          </p:cNvSpPr>
          <p:nvPr/>
        </p:nvSpPr>
        <p:spPr bwMode="auto">
          <a:xfrm>
            <a:off x="2844800" y="1333500"/>
            <a:ext cx="469900" cy="571500"/>
          </a:xfrm>
          <a:prstGeom prst="ellipse">
            <a:avLst/>
          </a:prstGeom>
          <a:noFill/>
          <a:ln w="1905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en-US" b="1"/>
          </a:p>
        </p:txBody>
      </p:sp>
      <p:sp>
        <p:nvSpPr>
          <p:cNvPr id="26635" name="Line 18"/>
          <p:cNvSpPr>
            <a:spLocks noChangeShapeType="1"/>
          </p:cNvSpPr>
          <p:nvPr/>
        </p:nvSpPr>
        <p:spPr bwMode="auto">
          <a:xfrm>
            <a:off x="4432300" y="2781300"/>
            <a:ext cx="1358900" cy="469900"/>
          </a:xfrm>
          <a:prstGeom prst="line">
            <a:avLst/>
          </a:prstGeom>
          <a:noFill/>
          <a:ln w="19050">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6636" name="Line 20"/>
          <p:cNvSpPr>
            <a:spLocks noChangeShapeType="1"/>
          </p:cNvSpPr>
          <p:nvPr/>
        </p:nvSpPr>
        <p:spPr bwMode="auto">
          <a:xfrm>
            <a:off x="2273300" y="2260600"/>
            <a:ext cx="571500" cy="76200"/>
          </a:xfrm>
          <a:prstGeom prst="line">
            <a:avLst/>
          </a:prstGeom>
          <a:noFill/>
          <a:ln w="19050">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 name="Footer Placeholder 1"/>
          <p:cNvSpPr>
            <a:spLocks noGrp="1"/>
          </p:cNvSpPr>
          <p:nvPr>
            <p:ph type="ftr" sz="quarter" idx="11"/>
          </p:nvPr>
        </p:nvSpPr>
        <p:spPr>
          <a:xfrm>
            <a:off x="3124200" y="6397625"/>
            <a:ext cx="2895600" cy="476250"/>
          </a:xfrm>
        </p:spPr>
        <p:txBody>
          <a:bodyPr/>
          <a:lstStyle/>
          <a:p>
            <a:pPr>
              <a:defRPr/>
            </a:pPr>
            <a:r>
              <a:rPr lang="en-US" sz="800" dirty="0"/>
              <a:t>© 2017 Cengage Learning. All Rights Reserved. May not be scanned, copied or duplicated, or posted to a publicly accessible website, in whole or in part.</a:t>
            </a:r>
          </a:p>
        </p:txBody>
      </p:sp>
      <p:sp>
        <p:nvSpPr>
          <p:cNvPr id="17" name="Text Box 21"/>
          <p:cNvSpPr txBox="1">
            <a:spLocks noChangeArrowheads="1"/>
          </p:cNvSpPr>
          <p:nvPr/>
        </p:nvSpPr>
        <p:spPr bwMode="auto">
          <a:xfrm>
            <a:off x="63500" y="3827688"/>
            <a:ext cx="2514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t>4. Click Save</a:t>
            </a:r>
          </a:p>
        </p:txBody>
      </p:sp>
      <p:sp>
        <p:nvSpPr>
          <p:cNvPr id="18" name="Line 23"/>
          <p:cNvSpPr>
            <a:spLocks noChangeShapeType="1"/>
          </p:cNvSpPr>
          <p:nvPr/>
        </p:nvSpPr>
        <p:spPr bwMode="auto">
          <a:xfrm>
            <a:off x="1600200" y="4051300"/>
            <a:ext cx="5943600" cy="1050925"/>
          </a:xfrm>
          <a:prstGeom prst="line">
            <a:avLst/>
          </a:prstGeom>
          <a:noFill/>
          <a:ln w="19050">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8"/>
          <p:cNvSpPr>
            <a:spLocks noChangeArrowheads="1"/>
          </p:cNvSpPr>
          <p:nvPr/>
        </p:nvSpPr>
        <p:spPr bwMode="auto">
          <a:xfrm>
            <a:off x="381000" y="450850"/>
            <a:ext cx="83058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lnSpc>
                <a:spcPct val="90000"/>
              </a:lnSpc>
            </a:pPr>
            <a:r>
              <a:rPr lang="en-US" sz="3600" i="1">
                <a:solidFill>
                  <a:schemeClr val="hlink"/>
                </a:solidFill>
              </a:rPr>
              <a:t>Examples of Discrete Probability Distributions</a:t>
            </a:r>
          </a:p>
        </p:txBody>
      </p:sp>
      <p:pic>
        <p:nvPicPr>
          <p:cNvPr id="2765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82700"/>
            <a:ext cx="7391400" cy="491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8"/>
          <p:cNvSpPr>
            <a:spLocks noChangeArrowheads="1"/>
          </p:cNvSpPr>
          <p:nvPr/>
        </p:nvSpPr>
        <p:spPr bwMode="auto">
          <a:xfrm>
            <a:off x="304800" y="241300"/>
            <a:ext cx="86868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lnSpc>
                <a:spcPct val="90000"/>
              </a:lnSpc>
            </a:pPr>
            <a:r>
              <a:rPr lang="en-US" sz="3600" i="1" dirty="0">
                <a:solidFill>
                  <a:schemeClr val="hlink"/>
                </a:solidFill>
              </a:rPr>
              <a:t>Examples of Continuous Probability Distributions</a:t>
            </a:r>
          </a:p>
        </p:txBody>
      </p:sp>
      <p:pic>
        <p:nvPicPr>
          <p:cNvPr id="2867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154113"/>
            <a:ext cx="7467600" cy="506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a:xfrm>
            <a:off x="3124200" y="6308725"/>
            <a:ext cx="2895600" cy="476250"/>
          </a:xfrm>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274638"/>
            <a:ext cx="8229600" cy="912812"/>
          </a:xfrm>
          <a:noFill/>
        </p:spPr>
        <p:txBody>
          <a:bodyPr lIns="92075" tIns="46038" rIns="92075" bIns="46038"/>
          <a:lstStyle/>
          <a:p>
            <a:pPr eaLnBrk="1" hangingPunct="1">
              <a:lnSpc>
                <a:spcPct val="80000"/>
              </a:lnSpc>
            </a:pPr>
            <a:r>
              <a:rPr lang="en-US" sz="3600" i="1" dirty="0">
                <a:solidFill>
                  <a:schemeClr val="hlink"/>
                </a:solidFill>
              </a:rPr>
              <a:t>Discrete vs. Continuous </a:t>
            </a:r>
            <a:br>
              <a:rPr lang="en-US" sz="3600" i="1" dirty="0">
                <a:solidFill>
                  <a:schemeClr val="hlink"/>
                </a:solidFill>
              </a:rPr>
            </a:br>
            <a:r>
              <a:rPr lang="en-US" sz="3600" i="1" dirty="0">
                <a:solidFill>
                  <a:schemeClr val="hlink"/>
                </a:solidFill>
              </a:rPr>
              <a:t>Random Variables</a:t>
            </a:r>
          </a:p>
        </p:txBody>
      </p:sp>
      <p:sp>
        <p:nvSpPr>
          <p:cNvPr id="26627" name="Rectangle 3"/>
          <p:cNvSpPr>
            <a:spLocks noGrp="1" noChangeArrowheads="1"/>
          </p:cNvSpPr>
          <p:nvPr>
            <p:ph type="body" idx="1"/>
          </p:nvPr>
        </p:nvSpPr>
        <p:spPr>
          <a:xfrm>
            <a:off x="736600" y="1425575"/>
            <a:ext cx="7772400" cy="4152900"/>
          </a:xfrm>
          <a:noFill/>
        </p:spPr>
        <p:txBody>
          <a:bodyPr lIns="92075" tIns="46038" rIns="92075" bIns="46038"/>
          <a:lstStyle/>
          <a:p>
            <a:pPr eaLnBrk="1" hangingPunct="1"/>
            <a:r>
              <a:rPr lang="en-US" sz="2600" dirty="0"/>
              <a:t>A discrete random variable may assume one of a fixed set of (usually integer) values.</a:t>
            </a:r>
          </a:p>
          <a:p>
            <a:pPr lvl="1" eaLnBrk="1" hangingPunct="1"/>
            <a:r>
              <a:rPr lang="en-US" sz="2400" dirty="0"/>
              <a:t>Example: The number of defective tires on a new car can be 0, 1, 2, 3, or 4.</a:t>
            </a:r>
            <a:endParaRPr lang="en-US" sz="2600" dirty="0"/>
          </a:p>
          <a:p>
            <a:pPr eaLnBrk="1" hangingPunct="1"/>
            <a:r>
              <a:rPr lang="en-US" sz="2600" dirty="0"/>
              <a:t>A continuous random variable may assume one of an infinite number of values in a specified range.</a:t>
            </a:r>
          </a:p>
          <a:p>
            <a:pPr lvl="1" eaLnBrk="1" hangingPunct="1"/>
            <a:r>
              <a:rPr lang="en-US" sz="2400" dirty="0"/>
              <a:t>Example: The amount of gasoline in a new car can be any value between 0 and the maximum capacity of the fuel tank.</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66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66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66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bldLvl="2"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85800" y="454025"/>
            <a:ext cx="7772400" cy="541338"/>
          </a:xfrm>
          <a:noFill/>
        </p:spPr>
        <p:txBody>
          <a:bodyPr lIns="92075" tIns="46038" rIns="92075" bIns="46038"/>
          <a:lstStyle/>
          <a:p>
            <a:pPr eaLnBrk="1" hangingPunct="1"/>
            <a:r>
              <a:rPr lang="en-US" sz="3600" i="1">
                <a:solidFill>
                  <a:schemeClr val="hlink"/>
                </a:solidFill>
              </a:rPr>
              <a:t>Preparing the Model for Simulation</a:t>
            </a:r>
          </a:p>
        </p:txBody>
      </p:sp>
      <p:sp>
        <p:nvSpPr>
          <p:cNvPr id="27651" name="Rectangle 3"/>
          <p:cNvSpPr>
            <a:spLocks noGrp="1" noChangeArrowheads="1"/>
          </p:cNvSpPr>
          <p:nvPr>
            <p:ph type="body" idx="1"/>
          </p:nvPr>
        </p:nvSpPr>
        <p:spPr>
          <a:xfrm>
            <a:off x="361950" y="1136650"/>
            <a:ext cx="8275638" cy="4152900"/>
          </a:xfrm>
          <a:noFill/>
        </p:spPr>
        <p:txBody>
          <a:bodyPr lIns="92075" tIns="46038" rIns="92075" bIns="46038"/>
          <a:lstStyle/>
          <a:p>
            <a:pPr eaLnBrk="1" hangingPunct="1"/>
            <a:r>
              <a:rPr lang="en-US" dirty="0"/>
              <a:t>Suppose we analyzed historical data and found that:</a:t>
            </a:r>
          </a:p>
          <a:p>
            <a:pPr lvl="1" eaLnBrk="1" hangingPunct="1"/>
            <a:r>
              <a:rPr lang="en-US" dirty="0"/>
              <a:t>The change in the number of covered employees each month is uniformly distributed between a 3% decrease and a 7% increase.</a:t>
            </a:r>
          </a:p>
          <a:p>
            <a:pPr lvl="1" eaLnBrk="1" hangingPunct="1"/>
            <a:r>
              <a:rPr lang="en-US" dirty="0"/>
              <a:t>The average claim per employee follows a  normal distribution with mean increasing by 1% per month and a standard deviation of $3. </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7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76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7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bldLvl="2"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74638"/>
            <a:ext cx="8229600" cy="1119187"/>
          </a:xfrm>
          <a:noFill/>
        </p:spPr>
        <p:txBody>
          <a:bodyPr lIns="92075" tIns="46038" rIns="92075" bIns="46038"/>
          <a:lstStyle/>
          <a:p>
            <a:pPr eaLnBrk="1" hangingPunct="1"/>
            <a:r>
              <a:rPr lang="en-US" sz="3600" i="1">
                <a:solidFill>
                  <a:schemeClr val="hlink"/>
                </a:solidFill>
              </a:rPr>
              <a:t>Revising &amp; Simulating the Model</a:t>
            </a:r>
            <a:r>
              <a:rPr lang="en-US" sz="3600" i="1"/>
              <a:t> </a:t>
            </a:r>
          </a:p>
        </p:txBody>
      </p:sp>
      <p:sp>
        <p:nvSpPr>
          <p:cNvPr id="31747" name="Rectangle 3"/>
          <p:cNvSpPr>
            <a:spLocks noGrp="1" noChangeArrowheads="1"/>
          </p:cNvSpPr>
          <p:nvPr>
            <p:ph type="body" idx="1"/>
          </p:nvPr>
        </p:nvSpPr>
        <p:spPr>
          <a:noFill/>
        </p:spPr>
        <p:txBody>
          <a:bodyPr lIns="92075" tIns="46038" rIns="92075" bIns="46038"/>
          <a:lstStyle/>
          <a:p>
            <a:pPr algn="ctr" eaLnBrk="1" hangingPunct="1">
              <a:buFont typeface="Wingdings" pitchFamily="2" charset="2"/>
              <a:buNone/>
            </a:pPr>
            <a:r>
              <a:rPr lang="en-US" dirty="0"/>
              <a:t>See file </a:t>
            </a:r>
            <a:r>
              <a:rPr lang="en-US" dirty="0">
                <a:hlinkClick r:id="rId3" action="ppaction://hlinkfile"/>
              </a:rPr>
              <a:t>Fig12-6.xlsm</a:t>
            </a:r>
            <a:endParaRPr lang="en-US" dirty="0"/>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81000" y="274638"/>
            <a:ext cx="8229600" cy="623887"/>
          </a:xfrm>
          <a:noFill/>
        </p:spPr>
        <p:txBody>
          <a:bodyPr lIns="92075" tIns="46038" rIns="92075" bIns="46038"/>
          <a:lstStyle/>
          <a:p>
            <a:pPr eaLnBrk="1" hangingPunct="1"/>
            <a:r>
              <a:rPr lang="en-US" sz="3600" i="1" dirty="0">
                <a:solidFill>
                  <a:schemeClr val="hlink"/>
                </a:solidFill>
              </a:rPr>
              <a:t>Psi Functions for Analyzing </a:t>
            </a:r>
            <a:br>
              <a:rPr lang="en-US" sz="3600" i="1" dirty="0">
                <a:solidFill>
                  <a:schemeClr val="hlink"/>
                </a:solidFill>
              </a:rPr>
            </a:br>
            <a:r>
              <a:rPr lang="en-US" sz="3600" i="1" dirty="0" err="1">
                <a:solidFill>
                  <a:schemeClr val="hlink"/>
                </a:solidFill>
              </a:rPr>
              <a:t>PsiOutput</a:t>
            </a:r>
            <a:r>
              <a:rPr lang="en-US" sz="3600" i="1" dirty="0">
                <a:solidFill>
                  <a:schemeClr val="hlink"/>
                </a:solidFill>
              </a:rPr>
              <a:t>( ) Cells</a:t>
            </a:r>
          </a:p>
        </p:txBody>
      </p:sp>
      <p:sp>
        <p:nvSpPr>
          <p:cNvPr id="24579" name="Rectangle 3"/>
          <p:cNvSpPr>
            <a:spLocks noGrp="1" noChangeArrowheads="1"/>
          </p:cNvSpPr>
          <p:nvPr>
            <p:ph type="body" idx="1"/>
          </p:nvPr>
        </p:nvSpPr>
        <p:spPr>
          <a:xfrm>
            <a:off x="328613" y="1219200"/>
            <a:ext cx="8655050" cy="4605338"/>
          </a:xfrm>
          <a:noFill/>
        </p:spPr>
        <p:txBody>
          <a:bodyPr lIns="92075" tIns="46038" rIns="92075" bIns="46038"/>
          <a:lstStyle/>
          <a:p>
            <a:pPr eaLnBrk="1" hangingPunct="1">
              <a:lnSpc>
                <a:spcPct val="190000"/>
              </a:lnSpc>
              <a:buFont typeface="Wingdings" pitchFamily="2" charset="2"/>
              <a:buNone/>
              <a:tabLst>
                <a:tab pos="2865438" algn="l"/>
              </a:tabLst>
            </a:pPr>
            <a:r>
              <a:rPr lang="en-US" sz="2400" dirty="0"/>
              <a:t>Psi Function	Meaning</a:t>
            </a:r>
          </a:p>
          <a:p>
            <a:pPr eaLnBrk="1" hangingPunct="1">
              <a:buFont typeface="Wingdings" pitchFamily="2" charset="2"/>
              <a:buNone/>
              <a:tabLst>
                <a:tab pos="2865438" algn="l"/>
              </a:tabLst>
            </a:pPr>
            <a:r>
              <a:rPr lang="en-US" sz="2400" dirty="0" err="1"/>
              <a:t>PsiMax</a:t>
            </a:r>
            <a:r>
              <a:rPr lang="en-US" sz="2400" dirty="0"/>
              <a:t>(x)	Returns maximum of output cell x</a:t>
            </a:r>
          </a:p>
          <a:p>
            <a:pPr eaLnBrk="1" hangingPunct="1">
              <a:buNone/>
              <a:tabLst>
                <a:tab pos="2865438" algn="l"/>
              </a:tabLst>
            </a:pPr>
            <a:r>
              <a:rPr lang="en-US" sz="2400" dirty="0" err="1"/>
              <a:t>PsiMin</a:t>
            </a:r>
            <a:r>
              <a:rPr lang="en-US" sz="2400" dirty="0"/>
              <a:t>(x)	Returns minimum of output cell x</a:t>
            </a:r>
          </a:p>
          <a:p>
            <a:pPr eaLnBrk="1" hangingPunct="1">
              <a:buNone/>
              <a:tabLst>
                <a:tab pos="2865438" algn="l"/>
              </a:tabLst>
            </a:pPr>
            <a:r>
              <a:rPr lang="en-US" sz="2400" dirty="0" err="1"/>
              <a:t>PsiMean</a:t>
            </a:r>
            <a:r>
              <a:rPr lang="en-US" sz="2400" dirty="0"/>
              <a:t>(x)	Returns mean of output cell x 	</a:t>
            </a:r>
          </a:p>
          <a:p>
            <a:pPr eaLnBrk="1" hangingPunct="1">
              <a:buNone/>
              <a:tabLst>
                <a:tab pos="2865438" algn="l"/>
              </a:tabLst>
            </a:pPr>
            <a:r>
              <a:rPr lang="en-US" sz="2400" dirty="0" err="1"/>
              <a:t>PsiStdDev</a:t>
            </a:r>
            <a:r>
              <a:rPr lang="en-US" sz="2400" dirty="0"/>
              <a:t>(x)	Returns </a:t>
            </a:r>
            <a:r>
              <a:rPr lang="en-US" sz="2400" dirty="0" err="1"/>
              <a:t>std</a:t>
            </a:r>
            <a:r>
              <a:rPr lang="en-US" sz="2400" dirty="0"/>
              <a:t> </a:t>
            </a:r>
            <a:r>
              <a:rPr lang="en-US" sz="2400" dirty="0" err="1"/>
              <a:t>dev</a:t>
            </a:r>
            <a:r>
              <a:rPr lang="en-US" sz="2400" dirty="0"/>
              <a:t> of output cell x 	</a:t>
            </a:r>
          </a:p>
          <a:p>
            <a:pPr eaLnBrk="1" hangingPunct="1">
              <a:buNone/>
              <a:tabLst>
                <a:tab pos="2865438" algn="l"/>
              </a:tabLst>
            </a:pPr>
            <a:r>
              <a:rPr lang="en-US" sz="2400" dirty="0" err="1"/>
              <a:t>PsiPercentile</a:t>
            </a:r>
            <a:r>
              <a:rPr lang="en-US" sz="2400" dirty="0"/>
              <a:t>(x, y) 	Returns </a:t>
            </a:r>
            <a:r>
              <a:rPr lang="en-US" sz="2400" dirty="0" err="1"/>
              <a:t>y</a:t>
            </a:r>
            <a:r>
              <a:rPr lang="en-US" sz="2400" baseline="30000" dirty="0" err="1"/>
              <a:t>th</a:t>
            </a:r>
            <a:r>
              <a:rPr lang="en-US" sz="2400" dirty="0"/>
              <a:t> percentile of output cell x</a:t>
            </a:r>
          </a:p>
          <a:p>
            <a:pPr eaLnBrk="1" hangingPunct="1">
              <a:buFont typeface="Wingdings" pitchFamily="2" charset="2"/>
              <a:buNone/>
              <a:tabLst>
                <a:tab pos="2865438" algn="l"/>
              </a:tabLst>
            </a:pPr>
            <a:r>
              <a:rPr lang="en-US" sz="2400" dirty="0" err="1"/>
              <a:t>PsiTarget</a:t>
            </a:r>
            <a:r>
              <a:rPr lang="en-US" sz="2400" dirty="0"/>
              <a:t>(</a:t>
            </a:r>
            <a:r>
              <a:rPr lang="en-US" sz="2400" dirty="0" err="1"/>
              <a:t>x,y</a:t>
            </a:r>
            <a:r>
              <a:rPr lang="en-US" sz="2400" dirty="0"/>
              <a:t>)	Returns P( x &lt; y)	</a:t>
            </a:r>
          </a:p>
          <a:p>
            <a:pPr eaLnBrk="1" hangingPunct="1">
              <a:buFont typeface="Wingdings" pitchFamily="2" charset="2"/>
              <a:buNone/>
              <a:tabLst>
                <a:tab pos="2865438" algn="l"/>
              </a:tabLst>
            </a:pPr>
            <a:endParaRPr lang="en-US" sz="2400" dirty="0"/>
          </a:p>
          <a:p>
            <a:pPr algn="ctr" eaLnBrk="1" hangingPunct="1">
              <a:buFont typeface="Wingdings" pitchFamily="2" charset="2"/>
              <a:buNone/>
              <a:tabLst>
                <a:tab pos="2865438" algn="l"/>
              </a:tabLst>
            </a:pPr>
            <a:r>
              <a:rPr lang="en-US" sz="2400" dirty="0"/>
              <a:t>(And there are many others)</a:t>
            </a:r>
          </a:p>
        </p:txBody>
      </p:sp>
      <p:sp>
        <p:nvSpPr>
          <p:cNvPr id="24580" name="Line 4"/>
          <p:cNvSpPr>
            <a:spLocks noChangeShapeType="1"/>
          </p:cNvSpPr>
          <p:nvPr/>
        </p:nvSpPr>
        <p:spPr bwMode="auto">
          <a:xfrm>
            <a:off x="328613" y="1905000"/>
            <a:ext cx="828198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 name="Footer Placeholder 1"/>
          <p:cNvSpPr>
            <a:spLocks noGrp="1"/>
          </p:cNvSpPr>
          <p:nvPr>
            <p:ph type="ftr" sz="quarter" idx="11"/>
          </p:nvPr>
        </p:nvSpPr>
        <p:spPr>
          <a:xfrm>
            <a:off x="3124200" y="6375400"/>
            <a:ext cx="2895600" cy="325285"/>
          </a:xfrm>
        </p:spPr>
        <p:txBody>
          <a:bodyPr/>
          <a:lstStyle/>
          <a:p>
            <a:pPr>
              <a:defRPr/>
            </a:pPr>
            <a:r>
              <a:rPr lang="en-US" sz="800" dirty="0"/>
              <a: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655444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85800" y="454025"/>
            <a:ext cx="7772400" cy="569913"/>
          </a:xfrm>
          <a:noFill/>
        </p:spPr>
        <p:txBody>
          <a:bodyPr lIns="92075" tIns="46038" rIns="92075" bIns="46038"/>
          <a:lstStyle/>
          <a:p>
            <a:pPr eaLnBrk="1" hangingPunct="1"/>
            <a:r>
              <a:rPr lang="en-US" sz="3600" i="1">
                <a:solidFill>
                  <a:schemeClr val="hlink"/>
                </a:solidFill>
              </a:rPr>
              <a:t>The Uncertainty of Sampling</a:t>
            </a:r>
          </a:p>
        </p:txBody>
      </p:sp>
      <p:sp>
        <p:nvSpPr>
          <p:cNvPr id="29699" name="Rectangle 3"/>
          <p:cNvSpPr>
            <a:spLocks noGrp="1" noChangeArrowheads="1"/>
          </p:cNvSpPr>
          <p:nvPr>
            <p:ph type="body" idx="1"/>
          </p:nvPr>
        </p:nvSpPr>
        <p:spPr>
          <a:xfrm>
            <a:off x="457200" y="1220788"/>
            <a:ext cx="8316913" cy="5013325"/>
          </a:xfrm>
          <a:noFill/>
        </p:spPr>
        <p:txBody>
          <a:bodyPr lIns="92075" tIns="46038" rIns="92075" bIns="46038"/>
          <a:lstStyle/>
          <a:p>
            <a:pPr eaLnBrk="1" hangingPunct="1"/>
            <a:r>
              <a:rPr lang="en-US" sz="2500" dirty="0"/>
              <a:t>The replications of our model represent a sample from the (infinite) population of all possible replications.</a:t>
            </a:r>
          </a:p>
          <a:p>
            <a:pPr eaLnBrk="1" hangingPunct="1"/>
            <a:r>
              <a:rPr lang="en-US" sz="2500" dirty="0"/>
              <a:t>Suppose we repeated the simulation and obtained a new sample of the same size.  </a:t>
            </a:r>
          </a:p>
          <a:p>
            <a:pPr lvl="1" eaLnBrk="1" hangingPunct="1">
              <a:buFontTx/>
              <a:buNone/>
            </a:pPr>
            <a:r>
              <a:rPr lang="en-US" sz="2500" dirty="0"/>
              <a:t>Q: Would the statistical results be the same?</a:t>
            </a:r>
          </a:p>
          <a:p>
            <a:pPr lvl="1" eaLnBrk="1" hangingPunct="1">
              <a:buFontTx/>
              <a:buNone/>
            </a:pPr>
            <a:r>
              <a:rPr lang="en-US" sz="2500" dirty="0"/>
              <a:t>A: No!</a:t>
            </a:r>
          </a:p>
          <a:p>
            <a:pPr eaLnBrk="1" hangingPunct="1"/>
            <a:r>
              <a:rPr lang="en-US" sz="2500" dirty="0"/>
              <a:t>As the sample size (# of replications) increases, the sample statistics converge to the true population values. </a:t>
            </a:r>
          </a:p>
          <a:p>
            <a:pPr eaLnBrk="1" hangingPunct="1"/>
            <a:r>
              <a:rPr lang="en-US" sz="2500" dirty="0"/>
              <a:t>We can also construct confidence intervals for a number of statistics...</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6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6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6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96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969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96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bldLvl="2"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a:xfrm>
            <a:off x="685800" y="377825"/>
            <a:ext cx="7772400" cy="858838"/>
          </a:xfrm>
          <a:noFill/>
        </p:spPr>
        <p:txBody>
          <a:bodyPr lIns="92075" tIns="46038" rIns="92075" bIns="46038"/>
          <a:lstStyle/>
          <a:p>
            <a:pPr eaLnBrk="1" hangingPunct="1"/>
            <a:r>
              <a:rPr lang="en-US" sz="3600" i="1">
                <a:solidFill>
                  <a:schemeClr val="hlink"/>
                </a:solidFill>
              </a:rPr>
              <a:t>Constructing a Confidence Interval for the True Population Mean</a:t>
            </a:r>
          </a:p>
        </p:txBody>
      </p:sp>
      <p:graphicFrame>
        <p:nvGraphicFramePr>
          <p:cNvPr id="1026" name="Object 3"/>
          <p:cNvGraphicFramePr>
            <a:graphicFrameLocks/>
          </p:cNvGraphicFramePr>
          <p:nvPr/>
        </p:nvGraphicFramePr>
        <p:xfrm>
          <a:off x="1928813" y="1473200"/>
          <a:ext cx="4749800" cy="779463"/>
        </p:xfrm>
        <a:graphic>
          <a:graphicData uri="http://schemas.openxmlformats.org/presentationml/2006/ole">
            <mc:AlternateContent xmlns:mc="http://schemas.openxmlformats.org/markup-compatibility/2006">
              <mc:Choice xmlns:v="urn:schemas-microsoft-com:vml" Requires="v">
                <p:oleObj spid="_x0000_s1029" name="Equation" r:id="rId4" imgW="2273040" imgH="380880" progId="Equation.3">
                  <p:embed/>
                </p:oleObj>
              </mc:Choice>
              <mc:Fallback>
                <p:oleObj name="Equation" r:id="rId4" imgW="2273040" imgH="380880"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8813" y="1473200"/>
                        <a:ext cx="474980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4"/>
          <p:cNvGraphicFramePr>
            <a:graphicFrameLocks/>
          </p:cNvGraphicFramePr>
          <p:nvPr/>
        </p:nvGraphicFramePr>
        <p:xfrm>
          <a:off x="1833563" y="2311400"/>
          <a:ext cx="4872037" cy="771525"/>
        </p:xfrm>
        <a:graphic>
          <a:graphicData uri="http://schemas.openxmlformats.org/presentationml/2006/ole">
            <mc:AlternateContent xmlns:mc="http://schemas.openxmlformats.org/markup-compatibility/2006">
              <mc:Choice xmlns:v="urn:schemas-microsoft-com:vml" Requires="v">
                <p:oleObj spid="_x0000_s1030" name="Equation" r:id="rId6" imgW="2336760" imgH="380880" progId="Equation.3">
                  <p:embed/>
                </p:oleObj>
              </mc:Choice>
              <mc:Fallback>
                <p:oleObj name="Equation" r:id="rId6" imgW="2336760" imgH="38088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3563" y="2311400"/>
                        <a:ext cx="4872037"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5"/>
          <p:cNvGraphicFramePr>
            <a:graphicFrameLocks/>
          </p:cNvGraphicFramePr>
          <p:nvPr/>
        </p:nvGraphicFramePr>
        <p:xfrm>
          <a:off x="2032000" y="3894138"/>
          <a:ext cx="4913313" cy="1524000"/>
        </p:xfrm>
        <a:graphic>
          <a:graphicData uri="http://schemas.openxmlformats.org/presentationml/2006/ole">
            <mc:AlternateContent xmlns:mc="http://schemas.openxmlformats.org/markup-compatibility/2006">
              <mc:Choice xmlns:v="urn:schemas-microsoft-com:vml" Requires="v">
                <p:oleObj spid="_x0000_s1031" name="Equation" r:id="rId8" imgW="2108160" imgH="660240" progId="Equation.2">
                  <p:embed/>
                </p:oleObj>
              </mc:Choice>
              <mc:Fallback>
                <p:oleObj name="Equation" r:id="rId8" imgW="2108160" imgH="660240" progId="Equation.2">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32000" y="3894138"/>
                        <a:ext cx="4913313"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6"/>
          <p:cNvSpPr>
            <a:spLocks noChangeArrowheads="1"/>
          </p:cNvSpPr>
          <p:nvPr/>
        </p:nvSpPr>
        <p:spPr bwMode="auto">
          <a:xfrm>
            <a:off x="1169988" y="334486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2400">
                <a:latin typeface="Times New Roman" pitchFamily="18" charset="0"/>
              </a:rPr>
              <a:t>where:</a:t>
            </a:r>
          </a:p>
        </p:txBody>
      </p:sp>
      <p:sp>
        <p:nvSpPr>
          <p:cNvPr id="30727" name="Rectangle 7"/>
          <p:cNvSpPr>
            <a:spLocks noChangeArrowheads="1"/>
          </p:cNvSpPr>
          <p:nvPr/>
        </p:nvSpPr>
        <p:spPr bwMode="auto">
          <a:xfrm>
            <a:off x="1676400" y="5486400"/>
            <a:ext cx="5715000" cy="7620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2200" b="1" dirty="0">
                <a:solidFill>
                  <a:schemeClr val="bg1"/>
                </a:solidFill>
                <a:latin typeface="Tahoma" pitchFamily="34" charset="0"/>
              </a:rPr>
              <a:t>Note that as </a:t>
            </a:r>
            <a:r>
              <a:rPr lang="en-US" sz="2200" b="1" i="1" dirty="0">
                <a:solidFill>
                  <a:schemeClr val="bg1"/>
                </a:solidFill>
                <a:latin typeface="Times New Roman" pitchFamily="18" charset="0"/>
              </a:rPr>
              <a:t>n</a:t>
            </a:r>
            <a:r>
              <a:rPr lang="en-US" sz="2200" b="1" dirty="0">
                <a:solidFill>
                  <a:schemeClr val="bg1"/>
                </a:solidFill>
                <a:latin typeface="Tahoma" pitchFamily="34" charset="0"/>
              </a:rPr>
              <a:t> increases, the width of the confidence interval decreases.</a:t>
            </a:r>
          </a:p>
        </p:txBody>
      </p:sp>
      <p:sp>
        <p:nvSpPr>
          <p:cNvPr id="2" name="Footer Placeholder 1"/>
          <p:cNvSpPr>
            <a:spLocks noGrp="1"/>
          </p:cNvSpPr>
          <p:nvPr>
            <p:ph type="ftr" sz="quarter" idx="11"/>
          </p:nvPr>
        </p:nvSpPr>
        <p:spPr>
          <a:xfrm>
            <a:off x="3124200" y="6321425"/>
            <a:ext cx="2895600" cy="476250"/>
          </a:xfrm>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0727"/>
                                        </p:tgtEl>
                                        <p:attrNameLst>
                                          <p:attrName>style.visibility</p:attrName>
                                        </p:attrNameLst>
                                      </p:cBhvr>
                                      <p:to>
                                        <p:strVal val="visible"/>
                                      </p:to>
                                    </p:set>
                                    <p:anim calcmode="lin" valueType="num">
                                      <p:cBhvr>
                                        <p:cTn id="7" dur="500" fill="hold"/>
                                        <p:tgtEl>
                                          <p:spTgt spid="30727"/>
                                        </p:tgtEl>
                                        <p:attrNameLst>
                                          <p:attrName>ppt_w</p:attrName>
                                        </p:attrNameLst>
                                      </p:cBhvr>
                                      <p:tavLst>
                                        <p:tav tm="0">
                                          <p:val>
                                            <p:fltVal val="0"/>
                                          </p:val>
                                        </p:tav>
                                        <p:tav tm="100000">
                                          <p:val>
                                            <p:strVal val="#ppt_w"/>
                                          </p:val>
                                        </p:tav>
                                      </p:tavLst>
                                    </p:anim>
                                    <p:anim calcmode="lin" valueType="num">
                                      <p:cBhvr>
                                        <p:cTn id="8" dur="500" fill="hold"/>
                                        <p:tgtEl>
                                          <p:spTgt spid="30727"/>
                                        </p:tgtEl>
                                        <p:attrNameLst>
                                          <p:attrName>ppt_h</p:attrName>
                                        </p:attrNameLst>
                                      </p:cBhvr>
                                      <p:tavLst>
                                        <p:tav tm="0">
                                          <p:val>
                                            <p:fltVal val="0"/>
                                          </p:val>
                                        </p:tav>
                                        <p:tav tm="100000">
                                          <p:val>
                                            <p:strVal val="#ppt_h"/>
                                          </p:val>
                                        </p:tav>
                                      </p:tavLst>
                                    </p:anim>
                                    <p:animEffect transition="in" filter="fade">
                                      <p:cBhvr>
                                        <p:cTn id="9" dur="500"/>
                                        <p:tgtEl>
                                          <p:spTgt spid="30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7"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a:xfrm>
            <a:off x="457200" y="274638"/>
            <a:ext cx="8229600" cy="990600"/>
          </a:xfrm>
          <a:noFill/>
        </p:spPr>
        <p:txBody>
          <a:bodyPr lIns="92075" tIns="46038" rIns="92075" bIns="46038"/>
          <a:lstStyle/>
          <a:p>
            <a:pPr eaLnBrk="1" hangingPunct="1"/>
            <a:r>
              <a:rPr lang="en-US" sz="3600" i="1" dirty="0">
                <a:solidFill>
                  <a:schemeClr val="hlink"/>
                </a:solidFill>
              </a:rPr>
              <a:t>Constructing a Confidence Interval for the True Population Proportion</a:t>
            </a:r>
          </a:p>
        </p:txBody>
      </p:sp>
      <p:graphicFrame>
        <p:nvGraphicFramePr>
          <p:cNvPr id="2050" name="Object 3"/>
          <p:cNvGraphicFramePr>
            <a:graphicFrameLocks/>
          </p:cNvGraphicFramePr>
          <p:nvPr/>
        </p:nvGraphicFramePr>
        <p:xfrm>
          <a:off x="1397000" y="1658938"/>
          <a:ext cx="5484813" cy="796925"/>
        </p:xfrm>
        <a:graphic>
          <a:graphicData uri="http://schemas.openxmlformats.org/presentationml/2006/ole">
            <mc:AlternateContent xmlns:mc="http://schemas.openxmlformats.org/markup-compatibility/2006">
              <mc:Choice xmlns:v="urn:schemas-microsoft-com:vml" Requires="v">
                <p:oleObj spid="_x0000_s2053" name="Equation" r:id="rId4" imgW="2628720" imgH="393480" progId="Equation.3">
                  <p:embed/>
                </p:oleObj>
              </mc:Choice>
              <mc:Fallback>
                <p:oleObj name="Equation" r:id="rId4" imgW="2628720" imgH="393480"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7000" y="1658938"/>
                        <a:ext cx="5484813"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 name="Object 4"/>
          <p:cNvGraphicFramePr>
            <a:graphicFrameLocks/>
          </p:cNvGraphicFramePr>
          <p:nvPr/>
        </p:nvGraphicFramePr>
        <p:xfrm>
          <a:off x="1220788" y="4146550"/>
          <a:ext cx="7108825" cy="806450"/>
        </p:xfrm>
        <a:graphic>
          <a:graphicData uri="http://schemas.openxmlformats.org/presentationml/2006/ole">
            <mc:AlternateContent xmlns:mc="http://schemas.openxmlformats.org/markup-compatibility/2006">
              <mc:Choice xmlns:v="urn:schemas-microsoft-com:vml" Requires="v">
                <p:oleObj spid="_x0000_s2054" name="Equation" r:id="rId6" imgW="3924000" imgH="457200" progId="Equation.2">
                  <p:embed/>
                </p:oleObj>
              </mc:Choice>
              <mc:Fallback>
                <p:oleObj name="Equation" r:id="rId6" imgW="3924000" imgH="457200" progId="Equation.2">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20788" y="4146550"/>
                        <a:ext cx="7108825"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4" name="Rectangle 5"/>
          <p:cNvSpPr>
            <a:spLocks noChangeArrowheads="1"/>
          </p:cNvSpPr>
          <p:nvPr/>
        </p:nvSpPr>
        <p:spPr bwMode="auto">
          <a:xfrm>
            <a:off x="849313" y="35052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2400">
                <a:latin typeface="Times New Roman" pitchFamily="18" charset="0"/>
              </a:rPr>
              <a:t>where:</a:t>
            </a:r>
          </a:p>
        </p:txBody>
      </p:sp>
      <p:graphicFrame>
        <p:nvGraphicFramePr>
          <p:cNvPr id="2052" name="Object 6"/>
          <p:cNvGraphicFramePr>
            <a:graphicFrameLocks/>
          </p:cNvGraphicFramePr>
          <p:nvPr/>
        </p:nvGraphicFramePr>
        <p:xfrm>
          <a:off x="1524000" y="2590800"/>
          <a:ext cx="5611813" cy="788988"/>
        </p:xfrm>
        <a:graphic>
          <a:graphicData uri="http://schemas.openxmlformats.org/presentationml/2006/ole">
            <mc:AlternateContent xmlns:mc="http://schemas.openxmlformats.org/markup-compatibility/2006">
              <mc:Choice xmlns:v="urn:schemas-microsoft-com:vml" Requires="v">
                <p:oleObj spid="_x0000_s2055" name="Equation" r:id="rId8" imgW="2692080" imgH="393480" progId="Equation.3">
                  <p:embed/>
                </p:oleObj>
              </mc:Choice>
              <mc:Fallback>
                <p:oleObj name="Equation" r:id="rId8" imgW="2692080" imgH="393480" progId="Equation.3">
                  <p:embed/>
                  <p:pic>
                    <p:nvPicPr>
                      <p:cNvPr id="0" name="Object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2590800"/>
                        <a:ext cx="5611813"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2" name="Rectangle 8"/>
          <p:cNvSpPr>
            <a:spLocks noChangeArrowheads="1"/>
          </p:cNvSpPr>
          <p:nvPr/>
        </p:nvSpPr>
        <p:spPr bwMode="auto">
          <a:xfrm>
            <a:off x="1676400" y="5257800"/>
            <a:ext cx="5943600" cy="7620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spcBef>
                <a:spcPct val="50000"/>
              </a:spcBef>
            </a:pPr>
            <a:r>
              <a:rPr lang="en-US" sz="2200" b="1">
                <a:solidFill>
                  <a:schemeClr val="bg1"/>
                </a:solidFill>
                <a:latin typeface="Tahoma" pitchFamily="34" charset="0"/>
              </a:rPr>
              <a:t>Note again that as </a:t>
            </a:r>
            <a:r>
              <a:rPr lang="en-US" sz="2200" b="1" i="1">
                <a:solidFill>
                  <a:schemeClr val="bg1"/>
                </a:solidFill>
                <a:latin typeface="Times New Roman" pitchFamily="18" charset="0"/>
              </a:rPr>
              <a:t>n</a:t>
            </a:r>
            <a:r>
              <a:rPr lang="en-US" sz="2200" b="1">
                <a:solidFill>
                  <a:schemeClr val="bg1"/>
                </a:solidFill>
                <a:latin typeface="Tahoma" pitchFamily="34" charset="0"/>
              </a:rPr>
              <a:t> increases, the width of the confidence interval decreases.</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1752"/>
                                        </p:tgtEl>
                                        <p:attrNameLst>
                                          <p:attrName>style.visibility</p:attrName>
                                        </p:attrNameLst>
                                      </p:cBhvr>
                                      <p:to>
                                        <p:strVal val="visible"/>
                                      </p:to>
                                    </p:set>
                                    <p:anim calcmode="lin" valueType="num">
                                      <p:cBhvr>
                                        <p:cTn id="7" dur="500" fill="hold"/>
                                        <p:tgtEl>
                                          <p:spTgt spid="31752"/>
                                        </p:tgtEl>
                                        <p:attrNameLst>
                                          <p:attrName>ppt_w</p:attrName>
                                        </p:attrNameLst>
                                      </p:cBhvr>
                                      <p:tavLst>
                                        <p:tav tm="0">
                                          <p:val>
                                            <p:fltVal val="0"/>
                                          </p:val>
                                        </p:tav>
                                        <p:tav tm="100000">
                                          <p:val>
                                            <p:strVal val="#ppt_w"/>
                                          </p:val>
                                        </p:tav>
                                      </p:tavLst>
                                    </p:anim>
                                    <p:anim calcmode="lin" valueType="num">
                                      <p:cBhvr>
                                        <p:cTn id="8" dur="500" fill="hold"/>
                                        <p:tgtEl>
                                          <p:spTgt spid="31752"/>
                                        </p:tgtEl>
                                        <p:attrNameLst>
                                          <p:attrName>ppt_h</p:attrName>
                                        </p:attrNameLst>
                                      </p:cBhvr>
                                      <p:tavLst>
                                        <p:tav tm="0">
                                          <p:val>
                                            <p:fltVal val="0"/>
                                          </p:val>
                                        </p:tav>
                                        <p:tav tm="100000">
                                          <p:val>
                                            <p:strVal val="#ppt_h"/>
                                          </p:val>
                                        </p:tav>
                                      </p:tavLst>
                                    </p:anim>
                                    <p:animEffect transition="in" filter="fade">
                                      <p:cBhvr>
                                        <p:cTn id="9" dur="500"/>
                                        <p:tgtEl>
                                          <p:spTgt spid="3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2"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377825"/>
            <a:ext cx="7772400" cy="555625"/>
          </a:xfrm>
          <a:noFill/>
        </p:spPr>
        <p:txBody>
          <a:bodyPr lIns="92075" tIns="46038" rIns="92075" bIns="46038"/>
          <a:lstStyle/>
          <a:p>
            <a:pPr eaLnBrk="1" hangingPunct="1"/>
            <a:r>
              <a:rPr lang="en-US" sz="3600" i="1">
                <a:solidFill>
                  <a:schemeClr val="hlink"/>
                </a:solidFill>
              </a:rPr>
              <a:t>Additional Uses of Simulation</a:t>
            </a:r>
          </a:p>
        </p:txBody>
      </p:sp>
      <p:sp>
        <p:nvSpPr>
          <p:cNvPr id="32771" name="Rectangle 3"/>
          <p:cNvSpPr>
            <a:spLocks noGrp="1" noChangeArrowheads="1"/>
          </p:cNvSpPr>
          <p:nvPr>
            <p:ph type="body" idx="1"/>
          </p:nvPr>
        </p:nvSpPr>
        <p:spPr>
          <a:xfrm>
            <a:off x="500063" y="1125538"/>
            <a:ext cx="8085137" cy="4741862"/>
          </a:xfrm>
          <a:noFill/>
        </p:spPr>
        <p:txBody>
          <a:bodyPr lIns="92075" tIns="46038" rIns="92075" bIns="46038"/>
          <a:lstStyle/>
          <a:p>
            <a:pPr eaLnBrk="1" hangingPunct="1"/>
            <a:r>
              <a:rPr lang="en-US" sz="2800" dirty="0"/>
              <a:t>Simulation is used to describe the behavior, distribution and/or characteristics of some bottom-line performance measure when values of one or more input variables are uncertain.</a:t>
            </a:r>
          </a:p>
          <a:p>
            <a:pPr eaLnBrk="1" hangingPunct="1"/>
            <a:r>
              <a:rPr lang="en-US" sz="2800" dirty="0"/>
              <a:t>Often, some input variables are under the decision maker's control.</a:t>
            </a:r>
          </a:p>
          <a:p>
            <a:pPr eaLnBrk="1" hangingPunct="1"/>
            <a:r>
              <a:rPr lang="en-US" sz="2800" dirty="0"/>
              <a:t>We can use simulation to assist in finding the values of the controllable variables that cause the system to operate optimally. </a:t>
            </a:r>
          </a:p>
          <a:p>
            <a:pPr eaLnBrk="1" hangingPunct="1"/>
            <a:r>
              <a:rPr lang="en-US" sz="2800" dirty="0"/>
              <a:t>The following examples illustrate this process.</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2771">
                                            <p:txEl>
                                              <p:pRg st="0" end="0"/>
                                            </p:txEl>
                                          </p:spTgt>
                                        </p:tgtEl>
                                        <p:attrNameLst>
                                          <p:attrName>ppt_c</p:attrName>
                                        </p:attrNameLst>
                                      </p:cBhvr>
                                      <p:to>
                                        <a:srgbClr val="CBCBCB"/>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277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2771">
                                            <p:txEl>
                                              <p:pRg st="1" end="1"/>
                                            </p:txEl>
                                          </p:spTgt>
                                        </p:tgtEl>
                                        <p:attrNameLst>
                                          <p:attrName>ppt_c</p:attrName>
                                        </p:attrNameLst>
                                      </p:cBhvr>
                                      <p:to>
                                        <a:srgbClr val="CBCBCB"/>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77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2771">
                                            <p:txEl>
                                              <p:pRg st="2" end="2"/>
                                            </p:txEl>
                                          </p:spTgt>
                                        </p:tgtEl>
                                        <p:attrNameLst>
                                          <p:attrName>ppt_c</p:attrName>
                                        </p:attrNameLst>
                                      </p:cBhvr>
                                      <p:to>
                                        <a:srgbClr val="CBCBCB"/>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2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28600" y="381000"/>
            <a:ext cx="8686800" cy="685800"/>
          </a:xfrm>
          <a:noFill/>
        </p:spPr>
        <p:txBody>
          <a:bodyPr lIns="92075" tIns="46038" rIns="92075" bIns="46038"/>
          <a:lstStyle/>
          <a:p>
            <a:pPr eaLnBrk="1" hangingPunct="1">
              <a:lnSpc>
                <a:spcPct val="80000"/>
              </a:lnSpc>
            </a:pPr>
            <a:r>
              <a:rPr lang="en-US" sz="3600" i="1">
                <a:solidFill>
                  <a:schemeClr val="hlink"/>
                </a:solidFill>
              </a:rPr>
              <a:t>A </a:t>
            </a:r>
            <a:r>
              <a:rPr lang="en-US" sz="3600" i="1" dirty="0">
                <a:solidFill>
                  <a:schemeClr val="hlink"/>
                </a:solidFill>
              </a:rPr>
              <a:t>Reservation Management Example:</a:t>
            </a:r>
            <a:br>
              <a:rPr lang="en-US" sz="3600" i="1" dirty="0">
                <a:solidFill>
                  <a:schemeClr val="hlink"/>
                </a:solidFill>
              </a:rPr>
            </a:br>
            <a:r>
              <a:rPr lang="en-US" sz="3600" i="1" dirty="0">
                <a:solidFill>
                  <a:schemeClr val="hlink"/>
                </a:solidFill>
              </a:rPr>
              <a:t>Piedmont Commuter Airlines</a:t>
            </a:r>
          </a:p>
        </p:txBody>
      </p:sp>
      <p:sp>
        <p:nvSpPr>
          <p:cNvPr id="41987" name="Rectangle 3"/>
          <p:cNvSpPr>
            <a:spLocks noGrp="1" noChangeArrowheads="1"/>
          </p:cNvSpPr>
          <p:nvPr>
            <p:ph type="body" idx="1"/>
          </p:nvPr>
        </p:nvSpPr>
        <p:spPr>
          <a:xfrm>
            <a:off x="287338" y="1139825"/>
            <a:ext cx="8551862" cy="5184775"/>
          </a:xfrm>
          <a:noFill/>
        </p:spPr>
        <p:txBody>
          <a:bodyPr lIns="92075" tIns="46038" rIns="92075" bIns="46038"/>
          <a:lstStyle/>
          <a:p>
            <a:pPr eaLnBrk="1" hangingPunct="1"/>
            <a:r>
              <a:rPr lang="en-US" sz="2600" dirty="0"/>
              <a:t>PCA Flight 343 flies between a small regional airport and a major hub.</a:t>
            </a:r>
          </a:p>
          <a:p>
            <a:pPr eaLnBrk="1" hangingPunct="1"/>
            <a:r>
              <a:rPr lang="en-US" sz="2600" dirty="0"/>
              <a:t>The plane has 19 seats &amp; several are often vacant.</a:t>
            </a:r>
          </a:p>
          <a:p>
            <a:pPr eaLnBrk="1" hangingPunct="1"/>
            <a:r>
              <a:rPr lang="en-US" sz="2600" dirty="0"/>
              <a:t>Tickets cost $150 non-refundable per seat.</a:t>
            </a:r>
          </a:p>
          <a:p>
            <a:pPr eaLnBrk="1" hangingPunct="1"/>
            <a:r>
              <a:rPr lang="en-US" sz="2600" dirty="0"/>
              <a:t>There is a 0.10 probability of a sold seat being vacant.</a:t>
            </a:r>
          </a:p>
          <a:p>
            <a:pPr eaLnBrk="1" hangingPunct="1"/>
            <a:r>
              <a:rPr lang="en-US" sz="2600" dirty="0"/>
              <a:t>If PCA overbooks, it must pay an average of $325 for any passengers that get “bumped”. </a:t>
            </a:r>
          </a:p>
          <a:p>
            <a:pPr eaLnBrk="1" hangingPunct="1"/>
            <a:r>
              <a:rPr lang="en-US" sz="2600" dirty="0"/>
              <a:t>Demand for seats is random, as follows:</a:t>
            </a:r>
          </a:p>
          <a:p>
            <a:pPr eaLnBrk="1" hangingPunct="1"/>
            <a:endParaRPr lang="en-US" sz="2600" dirty="0"/>
          </a:p>
          <a:p>
            <a:pPr eaLnBrk="1" hangingPunct="1">
              <a:buFont typeface="Wingdings" pitchFamily="2" charset="2"/>
              <a:buNone/>
            </a:pPr>
            <a:endParaRPr lang="en-US" sz="2600" dirty="0"/>
          </a:p>
          <a:p>
            <a:pPr eaLnBrk="1" hangingPunct="1"/>
            <a:r>
              <a:rPr lang="en-US" sz="2600" dirty="0"/>
              <a:t>What is the optimal number of seats to sell? </a:t>
            </a:r>
          </a:p>
        </p:txBody>
      </p:sp>
      <p:grpSp>
        <p:nvGrpSpPr>
          <p:cNvPr id="2" name="Group 8"/>
          <p:cNvGrpSpPr>
            <a:grpSpLocks/>
          </p:cNvGrpSpPr>
          <p:nvPr/>
        </p:nvGrpSpPr>
        <p:grpSpPr bwMode="auto">
          <a:xfrm>
            <a:off x="762000" y="4784725"/>
            <a:ext cx="7315200" cy="854075"/>
            <a:chOff x="432" y="960"/>
            <a:chExt cx="4608" cy="538"/>
          </a:xfrm>
        </p:grpSpPr>
        <p:sp>
          <p:nvSpPr>
            <p:cNvPr id="34821" name="Text Box 6"/>
            <p:cNvSpPr txBox="1">
              <a:spLocks noChangeArrowheads="1"/>
            </p:cNvSpPr>
            <p:nvPr/>
          </p:nvSpPr>
          <p:spPr bwMode="auto">
            <a:xfrm>
              <a:off x="432" y="960"/>
              <a:ext cx="460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a:spAutoFit/>
            </a:bodyPr>
            <a:lstStyle>
              <a:lvl1pPr eaLnBrk="0" hangingPunct="0">
                <a:tabLst>
                  <a:tab pos="1822450" algn="ctr"/>
                  <a:tab pos="2282825" algn="ctr"/>
                  <a:tab pos="2743200" algn="ctr"/>
                  <a:tab pos="3201988" algn="ctr"/>
                  <a:tab pos="3662363" algn="ctr"/>
                  <a:tab pos="4122738" algn="ctr"/>
                  <a:tab pos="4565650" algn="ctr"/>
                  <a:tab pos="5026025" algn="ctr"/>
                  <a:tab pos="5484813" algn="ctr"/>
                  <a:tab pos="5994400" algn="ctr"/>
                  <a:tab pos="6403975" algn="ctr"/>
                  <a:tab pos="6864350" algn="ctr"/>
                </a:tabLst>
                <a:defRPr>
                  <a:solidFill>
                    <a:schemeClr val="tx1"/>
                  </a:solidFill>
                  <a:latin typeface="Arial" charset="0"/>
                  <a:cs typeface="Arial" charset="0"/>
                </a:defRPr>
              </a:lvl1pPr>
              <a:lvl2pPr marL="742950" indent="-285750" eaLnBrk="0" hangingPunct="0">
                <a:tabLst>
                  <a:tab pos="1822450" algn="ctr"/>
                  <a:tab pos="2282825" algn="ctr"/>
                  <a:tab pos="2743200" algn="ctr"/>
                  <a:tab pos="3201988" algn="ctr"/>
                  <a:tab pos="3662363" algn="ctr"/>
                  <a:tab pos="4122738" algn="ctr"/>
                  <a:tab pos="4565650" algn="ctr"/>
                  <a:tab pos="5026025" algn="ctr"/>
                  <a:tab pos="5484813" algn="ctr"/>
                  <a:tab pos="5994400" algn="ctr"/>
                  <a:tab pos="6403975" algn="ctr"/>
                  <a:tab pos="6864350" algn="ctr"/>
                </a:tabLst>
                <a:defRPr>
                  <a:solidFill>
                    <a:schemeClr val="tx1"/>
                  </a:solidFill>
                  <a:latin typeface="Arial" charset="0"/>
                  <a:cs typeface="Arial" charset="0"/>
                </a:defRPr>
              </a:lvl2pPr>
              <a:lvl3pPr marL="1143000" indent="-228600" eaLnBrk="0" hangingPunct="0">
                <a:tabLst>
                  <a:tab pos="1822450" algn="ctr"/>
                  <a:tab pos="2282825" algn="ctr"/>
                  <a:tab pos="2743200" algn="ctr"/>
                  <a:tab pos="3201988" algn="ctr"/>
                  <a:tab pos="3662363" algn="ctr"/>
                  <a:tab pos="4122738" algn="ctr"/>
                  <a:tab pos="4565650" algn="ctr"/>
                  <a:tab pos="5026025" algn="ctr"/>
                  <a:tab pos="5484813" algn="ctr"/>
                  <a:tab pos="5994400" algn="ctr"/>
                  <a:tab pos="6403975" algn="ctr"/>
                  <a:tab pos="6864350" algn="ctr"/>
                </a:tabLst>
                <a:defRPr>
                  <a:solidFill>
                    <a:schemeClr val="tx1"/>
                  </a:solidFill>
                  <a:latin typeface="Arial" charset="0"/>
                  <a:cs typeface="Arial" charset="0"/>
                </a:defRPr>
              </a:lvl3pPr>
              <a:lvl4pPr marL="1600200" indent="-228600" eaLnBrk="0" hangingPunct="0">
                <a:tabLst>
                  <a:tab pos="1822450" algn="ctr"/>
                  <a:tab pos="2282825" algn="ctr"/>
                  <a:tab pos="2743200" algn="ctr"/>
                  <a:tab pos="3201988" algn="ctr"/>
                  <a:tab pos="3662363" algn="ctr"/>
                  <a:tab pos="4122738" algn="ctr"/>
                  <a:tab pos="4565650" algn="ctr"/>
                  <a:tab pos="5026025" algn="ctr"/>
                  <a:tab pos="5484813" algn="ctr"/>
                  <a:tab pos="5994400" algn="ctr"/>
                  <a:tab pos="6403975" algn="ctr"/>
                  <a:tab pos="6864350" algn="ctr"/>
                </a:tabLst>
                <a:defRPr>
                  <a:solidFill>
                    <a:schemeClr val="tx1"/>
                  </a:solidFill>
                  <a:latin typeface="Arial" charset="0"/>
                  <a:cs typeface="Arial" charset="0"/>
                </a:defRPr>
              </a:lvl4pPr>
              <a:lvl5pPr marL="2057400" indent="-228600" eaLnBrk="0" hangingPunct="0">
                <a:tabLst>
                  <a:tab pos="1822450" algn="ctr"/>
                  <a:tab pos="2282825" algn="ctr"/>
                  <a:tab pos="2743200" algn="ctr"/>
                  <a:tab pos="3201988" algn="ctr"/>
                  <a:tab pos="3662363" algn="ctr"/>
                  <a:tab pos="4122738" algn="ctr"/>
                  <a:tab pos="4565650" algn="ctr"/>
                  <a:tab pos="5026025" algn="ctr"/>
                  <a:tab pos="5484813" algn="ctr"/>
                  <a:tab pos="5994400" algn="ctr"/>
                  <a:tab pos="6403975" algn="ctr"/>
                  <a:tab pos="6864350" algn="ctr"/>
                </a:tabLst>
                <a:defRPr>
                  <a:solidFill>
                    <a:schemeClr val="tx1"/>
                  </a:solidFill>
                  <a:latin typeface="Arial" charset="0"/>
                  <a:cs typeface="Arial" charset="0"/>
                </a:defRPr>
              </a:lvl5pPr>
              <a:lvl6pPr marL="2514600" indent="-228600" eaLnBrk="0" fontAlgn="base" hangingPunct="0">
                <a:spcBef>
                  <a:spcPct val="0"/>
                </a:spcBef>
                <a:spcAft>
                  <a:spcPct val="0"/>
                </a:spcAft>
                <a:tabLst>
                  <a:tab pos="1822450" algn="ctr"/>
                  <a:tab pos="2282825" algn="ctr"/>
                  <a:tab pos="2743200" algn="ctr"/>
                  <a:tab pos="3201988" algn="ctr"/>
                  <a:tab pos="3662363" algn="ctr"/>
                  <a:tab pos="4122738" algn="ctr"/>
                  <a:tab pos="4565650" algn="ctr"/>
                  <a:tab pos="5026025" algn="ctr"/>
                  <a:tab pos="5484813" algn="ctr"/>
                  <a:tab pos="5994400" algn="ctr"/>
                  <a:tab pos="6403975" algn="ctr"/>
                  <a:tab pos="6864350" algn="ctr"/>
                </a:tabLst>
                <a:defRPr>
                  <a:solidFill>
                    <a:schemeClr val="tx1"/>
                  </a:solidFill>
                  <a:latin typeface="Arial" charset="0"/>
                  <a:cs typeface="Arial" charset="0"/>
                </a:defRPr>
              </a:lvl6pPr>
              <a:lvl7pPr marL="2971800" indent="-228600" eaLnBrk="0" fontAlgn="base" hangingPunct="0">
                <a:spcBef>
                  <a:spcPct val="0"/>
                </a:spcBef>
                <a:spcAft>
                  <a:spcPct val="0"/>
                </a:spcAft>
                <a:tabLst>
                  <a:tab pos="1822450" algn="ctr"/>
                  <a:tab pos="2282825" algn="ctr"/>
                  <a:tab pos="2743200" algn="ctr"/>
                  <a:tab pos="3201988" algn="ctr"/>
                  <a:tab pos="3662363" algn="ctr"/>
                  <a:tab pos="4122738" algn="ctr"/>
                  <a:tab pos="4565650" algn="ctr"/>
                  <a:tab pos="5026025" algn="ctr"/>
                  <a:tab pos="5484813" algn="ctr"/>
                  <a:tab pos="5994400" algn="ctr"/>
                  <a:tab pos="6403975" algn="ctr"/>
                  <a:tab pos="6864350" algn="ctr"/>
                </a:tabLst>
                <a:defRPr>
                  <a:solidFill>
                    <a:schemeClr val="tx1"/>
                  </a:solidFill>
                  <a:latin typeface="Arial" charset="0"/>
                  <a:cs typeface="Arial" charset="0"/>
                </a:defRPr>
              </a:lvl7pPr>
              <a:lvl8pPr marL="3429000" indent="-228600" eaLnBrk="0" fontAlgn="base" hangingPunct="0">
                <a:spcBef>
                  <a:spcPct val="0"/>
                </a:spcBef>
                <a:spcAft>
                  <a:spcPct val="0"/>
                </a:spcAft>
                <a:tabLst>
                  <a:tab pos="1822450" algn="ctr"/>
                  <a:tab pos="2282825" algn="ctr"/>
                  <a:tab pos="2743200" algn="ctr"/>
                  <a:tab pos="3201988" algn="ctr"/>
                  <a:tab pos="3662363" algn="ctr"/>
                  <a:tab pos="4122738" algn="ctr"/>
                  <a:tab pos="4565650" algn="ctr"/>
                  <a:tab pos="5026025" algn="ctr"/>
                  <a:tab pos="5484813" algn="ctr"/>
                  <a:tab pos="5994400" algn="ctr"/>
                  <a:tab pos="6403975" algn="ctr"/>
                  <a:tab pos="6864350" algn="ctr"/>
                </a:tabLst>
                <a:defRPr>
                  <a:solidFill>
                    <a:schemeClr val="tx1"/>
                  </a:solidFill>
                  <a:latin typeface="Arial" charset="0"/>
                  <a:cs typeface="Arial" charset="0"/>
                </a:defRPr>
              </a:lvl8pPr>
              <a:lvl9pPr marL="3886200" indent="-228600" eaLnBrk="0" fontAlgn="base" hangingPunct="0">
                <a:spcBef>
                  <a:spcPct val="0"/>
                </a:spcBef>
                <a:spcAft>
                  <a:spcPct val="0"/>
                </a:spcAft>
                <a:tabLst>
                  <a:tab pos="1822450" algn="ctr"/>
                  <a:tab pos="2282825" algn="ctr"/>
                  <a:tab pos="2743200" algn="ctr"/>
                  <a:tab pos="3201988" algn="ctr"/>
                  <a:tab pos="3662363" algn="ctr"/>
                  <a:tab pos="4122738" algn="ctr"/>
                  <a:tab pos="4565650" algn="ctr"/>
                  <a:tab pos="5026025" algn="ctr"/>
                  <a:tab pos="5484813" algn="ctr"/>
                  <a:tab pos="5994400" algn="ctr"/>
                  <a:tab pos="6403975" algn="ctr"/>
                  <a:tab pos="6864350" algn="ctr"/>
                </a:tabLst>
                <a:defRPr>
                  <a:solidFill>
                    <a:schemeClr val="tx1"/>
                  </a:solidFill>
                  <a:latin typeface="Arial" charset="0"/>
                  <a:cs typeface="Arial" charset="0"/>
                </a:defRPr>
              </a:lvl9pPr>
            </a:lstStyle>
            <a:p>
              <a:pPr>
                <a:spcBef>
                  <a:spcPct val="50000"/>
                </a:spcBef>
              </a:pPr>
              <a:r>
                <a:rPr lang="en-US" sz="2000"/>
                <a:t>Demand	14	15	16	17	18	19	20	21	22	23	24	25</a:t>
              </a:r>
            </a:p>
            <a:p>
              <a:pPr>
                <a:spcBef>
                  <a:spcPct val="50000"/>
                </a:spcBef>
              </a:pPr>
              <a:r>
                <a:rPr lang="en-US" sz="2000"/>
                <a:t>Probability	.03	.05	.07	.09	.11	.15	.18	.14	.08	.05	.03	.02</a:t>
              </a:r>
            </a:p>
          </p:txBody>
        </p:sp>
        <p:sp>
          <p:nvSpPr>
            <p:cNvPr id="34822" name="Line 7"/>
            <p:cNvSpPr>
              <a:spLocks noChangeShapeType="1"/>
            </p:cNvSpPr>
            <p:nvPr/>
          </p:nvSpPr>
          <p:spPr bwMode="auto">
            <a:xfrm>
              <a:off x="432" y="1248"/>
              <a:ext cx="45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3" name="Footer Placeholder 2"/>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0" end="0"/>
                                            </p:txEl>
                                          </p:spTgt>
                                        </p:tgtEl>
                                        <p:attrNameLst>
                                          <p:attrName>ppt_c</p:attrName>
                                        </p:attrNameLst>
                                      </p:cBhvr>
                                      <p:to>
                                        <a:srgbClr val="CBCBCB"/>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 end="1"/>
                                            </p:txEl>
                                          </p:spTgt>
                                        </p:tgtEl>
                                        <p:attrNameLst>
                                          <p:attrName>ppt_c</p:attrName>
                                        </p:attrNameLst>
                                      </p:cBhvr>
                                      <p:to>
                                        <a:srgbClr val="CBCBCB"/>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2" end="2"/>
                                            </p:txEl>
                                          </p:spTgt>
                                        </p:tgtEl>
                                        <p:attrNameLst>
                                          <p:attrName>ppt_c</p:attrName>
                                        </p:attrNameLst>
                                      </p:cBhvr>
                                      <p:to>
                                        <a:srgbClr val="CBCBCB"/>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3" end="3"/>
                                            </p:txEl>
                                          </p:spTgt>
                                        </p:tgtEl>
                                        <p:attrNameLst>
                                          <p:attrName>ppt_c</p:attrName>
                                        </p:attrNameLst>
                                      </p:cBhvr>
                                      <p:to>
                                        <a:srgbClr val="CBCBCB"/>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98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4" end="4"/>
                                            </p:txEl>
                                          </p:spTgt>
                                        </p:tgtEl>
                                        <p:attrNameLst>
                                          <p:attrName>ppt_c</p:attrName>
                                        </p:attrNameLst>
                                      </p:cBhvr>
                                      <p:to>
                                        <a:srgbClr val="CBCBCB"/>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987">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5" end="5"/>
                                            </p:txEl>
                                          </p:spTgt>
                                        </p:tgtEl>
                                        <p:attrNameLst>
                                          <p:attrName>ppt_c</p:attrName>
                                        </p:attrNameLst>
                                      </p:cBhvr>
                                      <p:to>
                                        <a:srgbClr val="CBCBCB"/>
                                      </p:to>
                                    </p:animClr>
                                  </p:subTnLst>
                                </p:cTn>
                              </p:par>
                              <p:par>
                                <p:cTn id="27" presetID="1"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subTnLst>
                                    <p:animClr clrSpc="rgb" dir="cw">
                                      <p:cBhvr override="childStyle">
                                        <p:cTn dur="1" fill="hold" display="0" masterRel="nextClick" afterEffect="1"/>
                                        <p:tgtEl>
                                          <p:spTgt spid="2"/>
                                        </p:tgtEl>
                                        <p:attrNameLst>
                                          <p:attrName>ppt_c</p:attrName>
                                        </p:attrNameLst>
                                      </p:cBhvr>
                                      <p:to>
                                        <a:srgbClr val="CBCBCB"/>
                                      </p:to>
                                    </p:animClr>
                                  </p:sub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9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5800" y="454025"/>
            <a:ext cx="7772400" cy="533400"/>
          </a:xfrm>
        </p:spPr>
        <p:txBody>
          <a:bodyPr/>
          <a:lstStyle/>
          <a:p>
            <a:pPr eaLnBrk="1" hangingPunct="1"/>
            <a:r>
              <a:rPr lang="en-US" sz="3600" i="1">
                <a:solidFill>
                  <a:schemeClr val="hlink"/>
                </a:solidFill>
              </a:rPr>
              <a:t>Random Number Seeds</a:t>
            </a:r>
          </a:p>
        </p:txBody>
      </p:sp>
      <p:sp>
        <p:nvSpPr>
          <p:cNvPr id="55299" name="Rectangle 3"/>
          <p:cNvSpPr>
            <a:spLocks noGrp="1" noChangeArrowheads="1"/>
          </p:cNvSpPr>
          <p:nvPr>
            <p:ph type="body" idx="1"/>
          </p:nvPr>
        </p:nvSpPr>
        <p:spPr>
          <a:xfrm>
            <a:off x="609600" y="1066800"/>
            <a:ext cx="8153400" cy="5105400"/>
          </a:xfrm>
        </p:spPr>
        <p:txBody>
          <a:bodyPr/>
          <a:lstStyle/>
          <a:p>
            <a:pPr eaLnBrk="1" hangingPunct="1"/>
            <a:r>
              <a:rPr lang="en-US" sz="2600" dirty="0"/>
              <a:t>RNGs can be “seeded” with an initial value that causes the same series of “random” numbers to generated repeatedly.</a:t>
            </a:r>
          </a:p>
          <a:p>
            <a:pPr eaLnBrk="1" hangingPunct="1"/>
            <a:r>
              <a:rPr lang="en-US" sz="2600" dirty="0"/>
              <a:t>This is very useful when searching for the optimal value of a controllable parameter in a simulation model (</a:t>
            </a:r>
            <a:r>
              <a:rPr lang="en-US" sz="2600" i="1" dirty="0"/>
              <a:t>e.g.</a:t>
            </a:r>
            <a:r>
              <a:rPr lang="en-US" sz="2600" dirty="0"/>
              <a:t>, # of seats to sell).</a:t>
            </a:r>
          </a:p>
          <a:p>
            <a:pPr eaLnBrk="1" hangingPunct="1"/>
            <a:r>
              <a:rPr lang="en-US" sz="2600" dirty="0"/>
              <a:t>By using the same seed, the same exact scenarios can be used when evaluating different values for the controllable parameter.</a:t>
            </a:r>
          </a:p>
          <a:p>
            <a:pPr eaLnBrk="1" hangingPunct="1"/>
            <a:r>
              <a:rPr lang="en-US" sz="2600" dirty="0"/>
              <a:t>Differences in the simulation results then solely reflect the differences in the controllable parameter – not random variation in the scenarios used.</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5299">
                                            <p:txEl>
                                              <p:pRg st="0" end="0"/>
                                            </p:txEl>
                                          </p:spTgt>
                                        </p:tgtEl>
                                        <p:attrNameLst>
                                          <p:attrName>ppt_c</p:attrName>
                                        </p:attrNameLst>
                                      </p:cBhvr>
                                      <p:to>
                                        <a:schemeClr val="bg2"/>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5299">
                                            <p:txEl>
                                              <p:pRg st="1" end="1"/>
                                            </p:txEl>
                                          </p:spTgt>
                                        </p:tgtEl>
                                        <p:attrNameLst>
                                          <p:attrName>ppt_c</p:attrName>
                                        </p:attrNameLst>
                                      </p:cBhvr>
                                      <p:to>
                                        <a:schemeClr val="bg2"/>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5299">
                                            <p:txEl>
                                              <p:pRg st="2" end="2"/>
                                            </p:txEl>
                                          </p:spTgt>
                                        </p:tgtEl>
                                        <p:attrNameLst>
                                          <p:attrName>ppt_c</p:attrName>
                                        </p:attrNameLst>
                                      </p:cBhvr>
                                      <p:to>
                                        <a:schemeClr val="bg2"/>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2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85800" y="606425"/>
            <a:ext cx="8001000" cy="735013"/>
          </a:xfrm>
          <a:noFill/>
        </p:spPr>
        <p:txBody>
          <a:bodyPr lIns="92075" tIns="46038" rIns="92075" bIns="46038"/>
          <a:lstStyle/>
          <a:p>
            <a:pPr eaLnBrk="1" hangingPunct="1"/>
            <a:r>
              <a:rPr lang="en-US" sz="3600" i="1">
                <a:solidFill>
                  <a:schemeClr val="hlink"/>
                </a:solidFill>
              </a:rPr>
              <a:t>Implementing &amp; Simulating the Model</a:t>
            </a:r>
          </a:p>
        </p:txBody>
      </p:sp>
      <p:sp>
        <p:nvSpPr>
          <p:cNvPr id="36867" name="Rectangle 3"/>
          <p:cNvSpPr>
            <a:spLocks noGrp="1" noChangeArrowheads="1"/>
          </p:cNvSpPr>
          <p:nvPr>
            <p:ph type="body" idx="1"/>
          </p:nvPr>
        </p:nvSpPr>
        <p:spPr>
          <a:xfrm>
            <a:off x="457200" y="1600201"/>
            <a:ext cx="8229600" cy="1447799"/>
          </a:xfrm>
          <a:noFill/>
        </p:spPr>
        <p:txBody>
          <a:bodyPr lIns="92075" tIns="46038" rIns="92075" bIns="46038"/>
          <a:lstStyle/>
          <a:p>
            <a:pPr algn="ctr" eaLnBrk="1" hangingPunct="1">
              <a:lnSpc>
                <a:spcPct val="110000"/>
              </a:lnSpc>
              <a:buFont typeface="Wingdings" pitchFamily="2" charset="2"/>
              <a:buNone/>
            </a:pPr>
            <a:r>
              <a:rPr lang="en-US" dirty="0"/>
              <a:t>See file </a:t>
            </a:r>
            <a:r>
              <a:rPr lang="en-US" dirty="0">
                <a:hlinkClick r:id="rId3" action="ppaction://hlinkfile"/>
              </a:rPr>
              <a:t>Fig12-18.xlsm</a:t>
            </a:r>
            <a:endParaRPr lang="en-US" dirty="0"/>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28600" y="314325"/>
            <a:ext cx="8686800" cy="904875"/>
          </a:xfrm>
          <a:noFill/>
        </p:spPr>
        <p:txBody>
          <a:bodyPr lIns="92075" tIns="46038" rIns="92075" bIns="46038"/>
          <a:lstStyle/>
          <a:p>
            <a:pPr eaLnBrk="1" hangingPunct="1">
              <a:lnSpc>
                <a:spcPct val="80000"/>
              </a:lnSpc>
            </a:pPr>
            <a:r>
              <a:rPr lang="en-US" sz="3600" i="1" dirty="0">
                <a:solidFill>
                  <a:schemeClr val="hlink"/>
                </a:solidFill>
              </a:rPr>
              <a:t>Inventory Control Example:</a:t>
            </a:r>
            <a:br>
              <a:rPr lang="en-US" sz="3600" i="1" dirty="0">
                <a:solidFill>
                  <a:schemeClr val="hlink"/>
                </a:solidFill>
              </a:rPr>
            </a:br>
            <a:r>
              <a:rPr lang="en-US" sz="3600" i="1" dirty="0">
                <a:solidFill>
                  <a:schemeClr val="hlink"/>
                </a:solidFill>
              </a:rPr>
              <a:t>Millennium Computer Corporation (MCC)</a:t>
            </a:r>
          </a:p>
        </p:txBody>
      </p:sp>
      <p:sp>
        <p:nvSpPr>
          <p:cNvPr id="33795" name="Rectangle 3"/>
          <p:cNvSpPr>
            <a:spLocks noGrp="1" noChangeArrowheads="1"/>
          </p:cNvSpPr>
          <p:nvPr>
            <p:ph type="body" idx="1"/>
          </p:nvPr>
        </p:nvSpPr>
        <p:spPr>
          <a:xfrm>
            <a:off x="285750" y="1239838"/>
            <a:ext cx="8828088" cy="2284412"/>
          </a:xfrm>
          <a:noFill/>
        </p:spPr>
        <p:txBody>
          <a:bodyPr lIns="92075" tIns="46038" rIns="92075" bIns="46038"/>
          <a:lstStyle/>
          <a:p>
            <a:pPr eaLnBrk="1" hangingPunct="1"/>
            <a:r>
              <a:rPr lang="en-US" sz="2400" dirty="0"/>
              <a:t>MCC is a retail computer store facing fierce competition.</a:t>
            </a:r>
          </a:p>
          <a:p>
            <a:pPr eaLnBrk="1" hangingPunct="1"/>
            <a:r>
              <a:rPr lang="en-US" sz="2400" dirty="0"/>
              <a:t>Stock outs are occurring on a popular monitor.</a:t>
            </a:r>
          </a:p>
          <a:p>
            <a:pPr eaLnBrk="1" hangingPunct="1"/>
            <a:r>
              <a:rPr lang="en-US" sz="2400" dirty="0"/>
              <a:t>The current reorder point  (ROP) is 28.</a:t>
            </a:r>
          </a:p>
          <a:p>
            <a:pPr eaLnBrk="1" hangingPunct="1"/>
            <a:r>
              <a:rPr lang="en-US" sz="2400" dirty="0"/>
              <a:t>The current order size is 50.</a:t>
            </a:r>
          </a:p>
          <a:p>
            <a:pPr eaLnBrk="1" hangingPunct="1"/>
            <a:r>
              <a:rPr lang="en-US" sz="2400" dirty="0"/>
              <a:t>Daily demand and order lead times vary randomly, viz.:</a:t>
            </a:r>
          </a:p>
        </p:txBody>
      </p:sp>
      <p:grpSp>
        <p:nvGrpSpPr>
          <p:cNvPr id="2" name="Group 7"/>
          <p:cNvGrpSpPr>
            <a:grpSpLocks/>
          </p:cNvGrpSpPr>
          <p:nvPr/>
        </p:nvGrpSpPr>
        <p:grpSpPr bwMode="auto">
          <a:xfrm>
            <a:off x="533400" y="3505200"/>
            <a:ext cx="8248650" cy="1576388"/>
            <a:chOff x="384" y="2079"/>
            <a:chExt cx="5196" cy="993"/>
          </a:xfrm>
        </p:grpSpPr>
        <p:sp>
          <p:nvSpPr>
            <p:cNvPr id="38918" name="Rectangle 4"/>
            <p:cNvSpPr>
              <a:spLocks noChangeArrowheads="1"/>
            </p:cNvSpPr>
            <p:nvPr/>
          </p:nvSpPr>
          <p:spPr bwMode="auto">
            <a:xfrm>
              <a:off x="384" y="2079"/>
              <a:ext cx="5196" cy="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tabLst>
                  <a:tab pos="2006600" algn="ctr"/>
                  <a:tab pos="2517775" algn="ctr"/>
                  <a:tab pos="3027363" algn="ctr"/>
                  <a:tab pos="3538538" algn="ctr"/>
                  <a:tab pos="4065588" algn="ctr"/>
                  <a:tab pos="4625975" algn="ctr"/>
                  <a:tab pos="5205413" algn="ctr"/>
                  <a:tab pos="5765800" algn="ctr"/>
                  <a:tab pos="6343650" algn="ctr"/>
                  <a:tab pos="6923088" algn="ctr"/>
                  <a:tab pos="7432675" algn="ctr"/>
                </a:tabLst>
              </a:pPr>
              <a:r>
                <a:rPr lang="en-US" dirty="0">
                  <a:latin typeface="Tahoma" pitchFamily="34" charset="0"/>
                </a:rPr>
                <a:t>Units Demanded:	0	1	2	3	4	5	6	7	8	9	10</a:t>
              </a:r>
            </a:p>
            <a:p>
              <a:pPr eaLnBrk="0" hangingPunct="0">
                <a:lnSpc>
                  <a:spcPct val="120000"/>
                </a:lnSpc>
                <a:tabLst>
                  <a:tab pos="2006600" algn="ctr"/>
                  <a:tab pos="2517775" algn="ctr"/>
                  <a:tab pos="3027363" algn="ctr"/>
                  <a:tab pos="3538538" algn="ctr"/>
                  <a:tab pos="4065588" algn="ctr"/>
                  <a:tab pos="4625975" algn="ctr"/>
                  <a:tab pos="5205413" algn="ctr"/>
                  <a:tab pos="5765800" algn="ctr"/>
                  <a:tab pos="6343650" algn="ctr"/>
                  <a:tab pos="6923088" algn="ctr"/>
                  <a:tab pos="7432675" algn="ctr"/>
                </a:tabLst>
              </a:pPr>
              <a:r>
                <a:rPr lang="en-US" dirty="0">
                  <a:latin typeface="Tahoma" pitchFamily="34" charset="0"/>
                </a:rPr>
                <a:t>Probability:	0.01	0.02	0.04	0.06	0.09	0.14	0.18	0.22	0.16	0.06	0.02</a:t>
              </a:r>
            </a:p>
            <a:p>
              <a:pPr eaLnBrk="0" hangingPunct="0">
                <a:tabLst>
                  <a:tab pos="2006600" algn="ctr"/>
                  <a:tab pos="2517775" algn="ctr"/>
                  <a:tab pos="3027363" algn="ctr"/>
                  <a:tab pos="3538538" algn="ctr"/>
                  <a:tab pos="4065588" algn="ctr"/>
                  <a:tab pos="4625975" algn="ctr"/>
                  <a:tab pos="5205413" algn="ctr"/>
                  <a:tab pos="5765800" algn="ctr"/>
                  <a:tab pos="6343650" algn="ctr"/>
                  <a:tab pos="6923088" algn="ctr"/>
                  <a:tab pos="7432675" algn="ctr"/>
                </a:tabLst>
              </a:pPr>
              <a:endParaRPr lang="en-US" dirty="0">
                <a:latin typeface="Tahoma" pitchFamily="34" charset="0"/>
              </a:endParaRPr>
            </a:p>
            <a:p>
              <a:pPr eaLnBrk="0" hangingPunct="0">
                <a:tabLst>
                  <a:tab pos="2006600" algn="ctr"/>
                  <a:tab pos="2517775" algn="ctr"/>
                  <a:tab pos="3027363" algn="ctr"/>
                  <a:tab pos="3538538" algn="ctr"/>
                  <a:tab pos="4065588" algn="ctr"/>
                  <a:tab pos="4625975" algn="ctr"/>
                  <a:tab pos="5205413" algn="ctr"/>
                  <a:tab pos="5765800" algn="ctr"/>
                  <a:tab pos="6343650" algn="ctr"/>
                  <a:tab pos="6923088" algn="ctr"/>
                  <a:tab pos="7432675" algn="ctr"/>
                </a:tabLst>
              </a:pPr>
              <a:r>
                <a:rPr lang="en-US" dirty="0">
                  <a:latin typeface="Tahoma" pitchFamily="34" charset="0"/>
                </a:rPr>
                <a:t>Lead Time (days):	3	4	5	</a:t>
              </a:r>
            </a:p>
            <a:p>
              <a:pPr eaLnBrk="0" hangingPunct="0">
                <a:lnSpc>
                  <a:spcPct val="120000"/>
                </a:lnSpc>
                <a:tabLst>
                  <a:tab pos="2006600" algn="ctr"/>
                  <a:tab pos="2517775" algn="ctr"/>
                  <a:tab pos="3027363" algn="ctr"/>
                  <a:tab pos="3538538" algn="ctr"/>
                  <a:tab pos="4065588" algn="ctr"/>
                  <a:tab pos="4625975" algn="ctr"/>
                  <a:tab pos="5205413" algn="ctr"/>
                  <a:tab pos="5765800" algn="ctr"/>
                  <a:tab pos="6343650" algn="ctr"/>
                  <a:tab pos="6923088" algn="ctr"/>
                  <a:tab pos="7432675" algn="ctr"/>
                </a:tabLst>
              </a:pPr>
              <a:r>
                <a:rPr lang="en-US" dirty="0">
                  <a:latin typeface="Tahoma" pitchFamily="34" charset="0"/>
                </a:rPr>
                <a:t>Probability:  	0.2	0.6	0.2	</a:t>
              </a:r>
            </a:p>
          </p:txBody>
        </p:sp>
        <p:sp>
          <p:nvSpPr>
            <p:cNvPr id="38919" name="Line 5"/>
            <p:cNvSpPr>
              <a:spLocks noChangeShapeType="1"/>
            </p:cNvSpPr>
            <p:nvPr/>
          </p:nvSpPr>
          <p:spPr bwMode="auto">
            <a:xfrm>
              <a:off x="384" y="2304"/>
              <a:ext cx="489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0" name="Line 6"/>
            <p:cNvSpPr>
              <a:spLocks noChangeShapeType="1"/>
            </p:cNvSpPr>
            <p:nvPr/>
          </p:nvSpPr>
          <p:spPr bwMode="auto">
            <a:xfrm>
              <a:off x="384" y="2832"/>
              <a:ext cx="21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33800" name="Rectangle 8"/>
          <p:cNvSpPr>
            <a:spLocks noChangeArrowheads="1"/>
          </p:cNvSpPr>
          <p:nvPr/>
        </p:nvSpPr>
        <p:spPr bwMode="auto">
          <a:xfrm>
            <a:off x="315913" y="5257800"/>
            <a:ext cx="8370887" cy="121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spcBef>
                <a:spcPct val="20000"/>
              </a:spcBef>
              <a:buClr>
                <a:schemeClr val="hlink"/>
              </a:buClr>
              <a:buFont typeface="Wingdings" pitchFamily="2" charset="2"/>
              <a:buChar char="§"/>
            </a:pPr>
            <a:r>
              <a:rPr lang="en-US" sz="2400" dirty="0"/>
              <a:t>MCC’s owner wants to determine the ROP and order size that will provide a 98% service level while minimizing average inventory.</a:t>
            </a:r>
          </a:p>
        </p:txBody>
      </p:sp>
      <p:sp>
        <p:nvSpPr>
          <p:cNvPr id="3" name="Footer Placeholder 2"/>
          <p:cNvSpPr>
            <a:spLocks noGrp="1"/>
          </p:cNvSpPr>
          <p:nvPr>
            <p:ph type="ftr" sz="quarter" idx="11"/>
          </p:nvPr>
        </p:nvSpPr>
        <p:spPr>
          <a:xfrm>
            <a:off x="3124200" y="6384208"/>
            <a:ext cx="2895600" cy="325285"/>
          </a:xfrm>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79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3795">
                                            <p:txEl>
                                              <p:pRg st="0" end="0"/>
                                            </p:txEl>
                                          </p:spTgt>
                                        </p:tgtEl>
                                        <p:attrNameLst>
                                          <p:attrName>ppt_c</p:attrName>
                                        </p:attrNameLst>
                                      </p:cBhvr>
                                      <p:to>
                                        <a:srgbClr val="CBCBCB"/>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79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3795">
                                            <p:txEl>
                                              <p:pRg st="1" end="1"/>
                                            </p:txEl>
                                          </p:spTgt>
                                        </p:tgtEl>
                                        <p:attrNameLst>
                                          <p:attrName>ppt_c</p:attrName>
                                        </p:attrNameLst>
                                      </p:cBhvr>
                                      <p:to>
                                        <a:srgbClr val="CBCBCB"/>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79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3795">
                                            <p:txEl>
                                              <p:pRg st="2" end="2"/>
                                            </p:txEl>
                                          </p:spTgt>
                                        </p:tgtEl>
                                        <p:attrNameLst>
                                          <p:attrName>ppt_c</p:attrName>
                                        </p:attrNameLst>
                                      </p:cBhvr>
                                      <p:to>
                                        <a:srgbClr val="CBCBCB"/>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379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3795">
                                            <p:txEl>
                                              <p:pRg st="3" end="3"/>
                                            </p:txEl>
                                          </p:spTgt>
                                        </p:tgtEl>
                                        <p:attrNameLst>
                                          <p:attrName>ppt_c</p:attrName>
                                        </p:attrNameLst>
                                      </p:cBhvr>
                                      <p:to>
                                        <a:srgbClr val="CBCBCB"/>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379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3795">
                                            <p:txEl>
                                              <p:pRg st="4" end="4"/>
                                            </p:txEl>
                                          </p:spTgt>
                                        </p:tgtEl>
                                        <p:attrNameLst>
                                          <p:attrName>ppt_c</p:attrName>
                                        </p:attrNameLst>
                                      </p:cBhvr>
                                      <p:to>
                                        <a:srgbClr val="CBCBCB"/>
                                      </p:to>
                                    </p:animClr>
                                  </p:sub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childTnLst>
                                  <p:subTnLst>
                                    <p:animClr clrSpc="rgb" dir="cw">
                                      <p:cBhvr override="childStyle">
                                        <p:cTn dur="1" fill="hold" display="0" masterRel="nextClick" afterEffect="1"/>
                                        <p:tgtEl>
                                          <p:spTgt spid="2"/>
                                        </p:tgtEl>
                                        <p:attrNameLst>
                                          <p:attrName>ppt_c</p:attrName>
                                        </p:attrNameLst>
                                      </p:cBhvr>
                                      <p:to>
                                        <a:srgbClr val="CBCBCB"/>
                                      </p:to>
                                    </p:animClr>
                                  </p:sub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3380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autoUpdateAnimBg="0"/>
      <p:bldP spid="33800"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381000" y="609600"/>
            <a:ext cx="8077200" cy="735013"/>
          </a:xfrm>
          <a:noFill/>
        </p:spPr>
        <p:txBody>
          <a:bodyPr lIns="92075" tIns="46038" rIns="92075" bIns="46038"/>
          <a:lstStyle/>
          <a:p>
            <a:pPr eaLnBrk="1" hangingPunct="1"/>
            <a:r>
              <a:rPr lang="en-US" sz="3600" i="1">
                <a:solidFill>
                  <a:schemeClr val="hlink"/>
                </a:solidFill>
              </a:rPr>
              <a:t>Implementing &amp; Simulating the Model</a:t>
            </a:r>
          </a:p>
        </p:txBody>
      </p:sp>
      <p:sp>
        <p:nvSpPr>
          <p:cNvPr id="39939" name="Rectangle 3"/>
          <p:cNvSpPr>
            <a:spLocks noGrp="1" noChangeArrowheads="1"/>
          </p:cNvSpPr>
          <p:nvPr>
            <p:ph type="body" idx="1"/>
          </p:nvPr>
        </p:nvSpPr>
        <p:spPr>
          <a:xfrm>
            <a:off x="457200" y="1600201"/>
            <a:ext cx="8229600" cy="1905000"/>
          </a:xfrm>
          <a:noFill/>
        </p:spPr>
        <p:txBody>
          <a:bodyPr lIns="92075" tIns="46038" rIns="92075" bIns="46038"/>
          <a:lstStyle/>
          <a:p>
            <a:pPr algn="ctr" eaLnBrk="1" hangingPunct="1">
              <a:lnSpc>
                <a:spcPct val="110000"/>
              </a:lnSpc>
              <a:buFont typeface="Wingdings" pitchFamily="2" charset="2"/>
              <a:buNone/>
            </a:pPr>
            <a:r>
              <a:rPr lang="en-US" dirty="0"/>
              <a:t>See file </a:t>
            </a:r>
            <a:r>
              <a:rPr lang="en-US" dirty="0">
                <a:hlinkClick r:id="rId3" action="ppaction://hlinkfile"/>
              </a:rPr>
              <a:t>Fig12-23.xlsm</a:t>
            </a:r>
            <a:endParaRPr lang="en-US" dirty="0"/>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381000" y="609600"/>
            <a:ext cx="8077200" cy="735013"/>
          </a:xfrm>
          <a:noFill/>
        </p:spPr>
        <p:txBody>
          <a:bodyPr lIns="92075" tIns="46038" rIns="92075" bIns="46038"/>
          <a:lstStyle/>
          <a:p>
            <a:pPr eaLnBrk="1" hangingPunct="1"/>
            <a:r>
              <a:rPr lang="en-US" sz="3600" i="1" dirty="0">
                <a:solidFill>
                  <a:schemeClr val="hlink"/>
                </a:solidFill>
              </a:rPr>
              <a:t>Optimizing the Model</a:t>
            </a:r>
          </a:p>
        </p:txBody>
      </p:sp>
      <p:sp>
        <p:nvSpPr>
          <p:cNvPr id="39939" name="Rectangle 3"/>
          <p:cNvSpPr>
            <a:spLocks noGrp="1" noChangeArrowheads="1"/>
          </p:cNvSpPr>
          <p:nvPr>
            <p:ph type="body" idx="1"/>
          </p:nvPr>
        </p:nvSpPr>
        <p:spPr>
          <a:xfrm>
            <a:off x="457200" y="1600201"/>
            <a:ext cx="8229600" cy="1905000"/>
          </a:xfrm>
          <a:noFill/>
        </p:spPr>
        <p:txBody>
          <a:bodyPr lIns="92075" tIns="46038" rIns="92075" bIns="46038"/>
          <a:lstStyle/>
          <a:p>
            <a:pPr algn="ctr" eaLnBrk="1" hangingPunct="1">
              <a:lnSpc>
                <a:spcPct val="110000"/>
              </a:lnSpc>
              <a:buFont typeface="Wingdings" pitchFamily="2" charset="2"/>
              <a:buNone/>
            </a:pPr>
            <a:r>
              <a:rPr lang="en-US" dirty="0"/>
              <a:t>See file </a:t>
            </a:r>
            <a:r>
              <a:rPr lang="en-US" dirty="0">
                <a:hlinkClick r:id="rId3" action="ppaction://hlinkfile"/>
              </a:rPr>
              <a:t>Fig12-27.xlsm</a:t>
            </a:r>
            <a:endParaRPr lang="en-US" dirty="0"/>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7334219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304800" y="390525"/>
            <a:ext cx="8458200" cy="828675"/>
          </a:xfrm>
          <a:noFill/>
        </p:spPr>
        <p:txBody>
          <a:bodyPr lIns="92075" tIns="46038" rIns="92075" bIns="46038"/>
          <a:lstStyle/>
          <a:p>
            <a:pPr eaLnBrk="1" hangingPunct="1">
              <a:lnSpc>
                <a:spcPct val="90000"/>
              </a:lnSpc>
            </a:pPr>
            <a:r>
              <a:rPr lang="en-US" sz="3600" i="1">
                <a:solidFill>
                  <a:schemeClr val="hlink"/>
                </a:solidFill>
              </a:rPr>
              <a:t>A Project Selection Example:</a:t>
            </a:r>
            <a:br>
              <a:rPr lang="en-US" sz="3600" i="1">
                <a:solidFill>
                  <a:schemeClr val="hlink"/>
                </a:solidFill>
              </a:rPr>
            </a:br>
            <a:r>
              <a:rPr lang="en-US" sz="3600" i="1">
                <a:solidFill>
                  <a:schemeClr val="hlink"/>
                </a:solidFill>
              </a:rPr>
              <a:t>TRC Technologies</a:t>
            </a:r>
          </a:p>
        </p:txBody>
      </p:sp>
      <p:sp>
        <p:nvSpPr>
          <p:cNvPr id="41987" name="Rectangle 3"/>
          <p:cNvSpPr>
            <a:spLocks noGrp="1" noChangeArrowheads="1"/>
          </p:cNvSpPr>
          <p:nvPr>
            <p:ph type="body" idx="1"/>
          </p:nvPr>
        </p:nvSpPr>
        <p:spPr>
          <a:xfrm>
            <a:off x="315913" y="1295400"/>
            <a:ext cx="8828087" cy="914400"/>
          </a:xfrm>
          <a:noFill/>
        </p:spPr>
        <p:txBody>
          <a:bodyPr lIns="92075" tIns="46038" rIns="92075" bIns="46038"/>
          <a:lstStyle/>
          <a:p>
            <a:pPr eaLnBrk="1" hangingPunct="1"/>
            <a:r>
              <a:rPr lang="en-US" sz="2400"/>
              <a:t>TRC has $2 million to invest in the following new R&amp;D projects.</a:t>
            </a:r>
          </a:p>
        </p:txBody>
      </p:sp>
      <p:sp>
        <p:nvSpPr>
          <p:cNvPr id="45064" name="Rectangle 8"/>
          <p:cNvSpPr>
            <a:spLocks noChangeArrowheads="1"/>
          </p:cNvSpPr>
          <p:nvPr/>
        </p:nvSpPr>
        <p:spPr bwMode="auto">
          <a:xfrm>
            <a:off x="392113" y="5511800"/>
            <a:ext cx="83708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spcBef>
                <a:spcPct val="20000"/>
              </a:spcBef>
              <a:buClr>
                <a:schemeClr val="hlink"/>
              </a:buClr>
              <a:buFont typeface="Wingdings" pitchFamily="2" charset="2"/>
              <a:buChar char="§"/>
            </a:pPr>
            <a:r>
              <a:rPr lang="en-US" sz="2400" dirty="0"/>
              <a:t>TRC wants to select the projects that will maximize the firm’s expected profit.</a:t>
            </a:r>
          </a:p>
        </p:txBody>
      </p:sp>
      <p:sp>
        <p:nvSpPr>
          <p:cNvPr id="41989" name="Text Box 9"/>
          <p:cNvSpPr txBox="1">
            <a:spLocks noChangeArrowheads="1"/>
          </p:cNvSpPr>
          <p:nvPr/>
        </p:nvSpPr>
        <p:spPr bwMode="auto">
          <a:xfrm>
            <a:off x="457200" y="1778000"/>
            <a:ext cx="8686800" cy="380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a:spAutoFit/>
          </a:bodyPr>
          <a:lstStyle>
            <a:lvl1pPr eaLnBrk="0" hangingPunct="0">
              <a:tabLst>
                <a:tab pos="460375" algn="ctr"/>
                <a:tab pos="1822450" algn="ctr"/>
                <a:tab pos="3201988" algn="ctr"/>
                <a:tab pos="4565650" algn="ctr"/>
                <a:tab pos="5484813" algn="ctr"/>
                <a:tab pos="6403975" algn="ctr"/>
              </a:tabLst>
              <a:defRPr>
                <a:solidFill>
                  <a:schemeClr val="tx1"/>
                </a:solidFill>
                <a:latin typeface="Arial" charset="0"/>
                <a:cs typeface="Arial" charset="0"/>
              </a:defRPr>
            </a:lvl1pPr>
            <a:lvl2pPr marL="742950" indent="-285750" eaLnBrk="0" hangingPunct="0">
              <a:tabLst>
                <a:tab pos="460375" algn="ctr"/>
                <a:tab pos="1822450" algn="ctr"/>
                <a:tab pos="3201988" algn="ctr"/>
                <a:tab pos="4565650" algn="ctr"/>
                <a:tab pos="5484813" algn="ctr"/>
                <a:tab pos="6403975" algn="ctr"/>
              </a:tabLst>
              <a:defRPr>
                <a:solidFill>
                  <a:schemeClr val="tx1"/>
                </a:solidFill>
                <a:latin typeface="Arial" charset="0"/>
                <a:cs typeface="Arial" charset="0"/>
              </a:defRPr>
            </a:lvl2pPr>
            <a:lvl3pPr marL="1143000" indent="-228600" eaLnBrk="0" hangingPunct="0">
              <a:tabLst>
                <a:tab pos="460375" algn="ctr"/>
                <a:tab pos="1822450" algn="ctr"/>
                <a:tab pos="3201988" algn="ctr"/>
                <a:tab pos="4565650" algn="ctr"/>
                <a:tab pos="5484813" algn="ctr"/>
                <a:tab pos="6403975" algn="ctr"/>
              </a:tabLst>
              <a:defRPr>
                <a:solidFill>
                  <a:schemeClr val="tx1"/>
                </a:solidFill>
                <a:latin typeface="Arial" charset="0"/>
                <a:cs typeface="Arial" charset="0"/>
              </a:defRPr>
            </a:lvl3pPr>
            <a:lvl4pPr marL="1600200" indent="-228600" eaLnBrk="0" hangingPunct="0">
              <a:tabLst>
                <a:tab pos="460375" algn="ctr"/>
                <a:tab pos="1822450" algn="ctr"/>
                <a:tab pos="3201988" algn="ctr"/>
                <a:tab pos="4565650" algn="ctr"/>
                <a:tab pos="5484813" algn="ctr"/>
                <a:tab pos="6403975" algn="ctr"/>
              </a:tabLst>
              <a:defRPr>
                <a:solidFill>
                  <a:schemeClr val="tx1"/>
                </a:solidFill>
                <a:latin typeface="Arial" charset="0"/>
                <a:cs typeface="Arial" charset="0"/>
              </a:defRPr>
            </a:lvl4pPr>
            <a:lvl5pPr marL="2057400" indent="-228600" eaLnBrk="0" hangingPunct="0">
              <a:tabLst>
                <a:tab pos="460375" algn="ctr"/>
                <a:tab pos="1822450" algn="ctr"/>
                <a:tab pos="3201988" algn="ctr"/>
                <a:tab pos="4565650" algn="ctr"/>
                <a:tab pos="5484813" algn="ctr"/>
                <a:tab pos="6403975" algn="ctr"/>
              </a:tabLst>
              <a:defRPr>
                <a:solidFill>
                  <a:schemeClr val="tx1"/>
                </a:solidFill>
                <a:latin typeface="Arial" charset="0"/>
                <a:cs typeface="Arial" charset="0"/>
              </a:defRPr>
            </a:lvl5pPr>
            <a:lvl6pPr marL="2514600" indent="-228600" eaLnBrk="0" fontAlgn="base" hangingPunct="0">
              <a:spcBef>
                <a:spcPct val="0"/>
              </a:spcBef>
              <a:spcAft>
                <a:spcPct val="0"/>
              </a:spcAft>
              <a:tabLst>
                <a:tab pos="460375" algn="ctr"/>
                <a:tab pos="1822450" algn="ctr"/>
                <a:tab pos="3201988" algn="ctr"/>
                <a:tab pos="4565650" algn="ctr"/>
                <a:tab pos="5484813" algn="ctr"/>
                <a:tab pos="6403975" algn="ctr"/>
              </a:tabLst>
              <a:defRPr>
                <a:solidFill>
                  <a:schemeClr val="tx1"/>
                </a:solidFill>
                <a:latin typeface="Arial" charset="0"/>
                <a:cs typeface="Arial" charset="0"/>
              </a:defRPr>
            </a:lvl6pPr>
            <a:lvl7pPr marL="2971800" indent="-228600" eaLnBrk="0" fontAlgn="base" hangingPunct="0">
              <a:spcBef>
                <a:spcPct val="0"/>
              </a:spcBef>
              <a:spcAft>
                <a:spcPct val="0"/>
              </a:spcAft>
              <a:tabLst>
                <a:tab pos="460375" algn="ctr"/>
                <a:tab pos="1822450" algn="ctr"/>
                <a:tab pos="3201988" algn="ctr"/>
                <a:tab pos="4565650" algn="ctr"/>
                <a:tab pos="5484813" algn="ctr"/>
                <a:tab pos="6403975" algn="ctr"/>
              </a:tabLst>
              <a:defRPr>
                <a:solidFill>
                  <a:schemeClr val="tx1"/>
                </a:solidFill>
                <a:latin typeface="Arial" charset="0"/>
                <a:cs typeface="Arial" charset="0"/>
              </a:defRPr>
            </a:lvl7pPr>
            <a:lvl8pPr marL="3429000" indent="-228600" eaLnBrk="0" fontAlgn="base" hangingPunct="0">
              <a:spcBef>
                <a:spcPct val="0"/>
              </a:spcBef>
              <a:spcAft>
                <a:spcPct val="0"/>
              </a:spcAft>
              <a:tabLst>
                <a:tab pos="460375" algn="ctr"/>
                <a:tab pos="1822450" algn="ctr"/>
                <a:tab pos="3201988" algn="ctr"/>
                <a:tab pos="4565650" algn="ctr"/>
                <a:tab pos="5484813" algn="ctr"/>
                <a:tab pos="6403975" algn="ctr"/>
              </a:tabLst>
              <a:defRPr>
                <a:solidFill>
                  <a:schemeClr val="tx1"/>
                </a:solidFill>
                <a:latin typeface="Arial" charset="0"/>
                <a:cs typeface="Arial" charset="0"/>
              </a:defRPr>
            </a:lvl8pPr>
            <a:lvl9pPr marL="3886200" indent="-228600" eaLnBrk="0" fontAlgn="base" hangingPunct="0">
              <a:spcBef>
                <a:spcPct val="0"/>
              </a:spcBef>
              <a:spcAft>
                <a:spcPct val="0"/>
              </a:spcAft>
              <a:tabLst>
                <a:tab pos="460375" algn="ctr"/>
                <a:tab pos="1822450" algn="ctr"/>
                <a:tab pos="3201988" algn="ctr"/>
                <a:tab pos="4565650" algn="ctr"/>
                <a:tab pos="5484813" algn="ctr"/>
                <a:tab pos="6403975" algn="ctr"/>
              </a:tabLst>
              <a:defRPr>
                <a:solidFill>
                  <a:schemeClr val="tx1"/>
                </a:solidFill>
                <a:latin typeface="Arial" charset="0"/>
                <a:cs typeface="Arial" charset="0"/>
              </a:defRPr>
            </a:lvl9pPr>
          </a:lstStyle>
          <a:p>
            <a:pPr>
              <a:lnSpc>
                <a:spcPct val="60000"/>
              </a:lnSpc>
              <a:spcBef>
                <a:spcPct val="50000"/>
              </a:spcBef>
            </a:pPr>
            <a:r>
              <a:rPr lang="en-US" sz="2100" dirty="0">
                <a:latin typeface="Tahoma" pitchFamily="34" charset="0"/>
              </a:rPr>
              <a:t>					Revenue Potential</a:t>
            </a:r>
          </a:p>
          <a:p>
            <a:pPr>
              <a:lnSpc>
                <a:spcPct val="60000"/>
              </a:lnSpc>
              <a:spcBef>
                <a:spcPct val="50000"/>
              </a:spcBef>
            </a:pPr>
            <a:r>
              <a:rPr lang="en-US" sz="2100" dirty="0">
                <a:latin typeface="Tahoma" pitchFamily="34" charset="0"/>
              </a:rPr>
              <a:t>		Initial Cost	Prob. Of		($1,000s)</a:t>
            </a:r>
          </a:p>
          <a:p>
            <a:pPr>
              <a:lnSpc>
                <a:spcPct val="60000"/>
              </a:lnSpc>
              <a:spcBef>
                <a:spcPct val="50000"/>
              </a:spcBef>
            </a:pPr>
            <a:r>
              <a:rPr lang="en-US" sz="2100" dirty="0">
                <a:latin typeface="Tahoma" pitchFamily="34" charset="0"/>
              </a:rPr>
              <a:t>	Project	($1,000s)	Success	Min	Likely	Max</a:t>
            </a:r>
          </a:p>
          <a:p>
            <a:pPr>
              <a:lnSpc>
                <a:spcPct val="60000"/>
              </a:lnSpc>
              <a:spcBef>
                <a:spcPct val="50000"/>
              </a:spcBef>
            </a:pPr>
            <a:r>
              <a:rPr lang="en-US" sz="2100" dirty="0">
                <a:latin typeface="Tahoma" pitchFamily="34" charset="0"/>
              </a:rPr>
              <a:t>	1	$250	0.9	$600	$750	$900</a:t>
            </a:r>
          </a:p>
          <a:p>
            <a:pPr>
              <a:lnSpc>
                <a:spcPct val="60000"/>
              </a:lnSpc>
              <a:spcBef>
                <a:spcPct val="50000"/>
              </a:spcBef>
            </a:pPr>
            <a:r>
              <a:rPr lang="en-US" sz="2100" dirty="0">
                <a:latin typeface="Tahoma" pitchFamily="34" charset="0"/>
              </a:rPr>
              <a:t>	2	$650	0.7	$1250	$1500	$1600</a:t>
            </a:r>
          </a:p>
          <a:p>
            <a:pPr>
              <a:lnSpc>
                <a:spcPct val="60000"/>
              </a:lnSpc>
              <a:spcBef>
                <a:spcPct val="50000"/>
              </a:spcBef>
            </a:pPr>
            <a:r>
              <a:rPr lang="en-US" sz="2100" dirty="0">
                <a:latin typeface="Tahoma" pitchFamily="34" charset="0"/>
              </a:rPr>
              <a:t>	3	$250	0.6	$500	$600	$750</a:t>
            </a:r>
          </a:p>
          <a:p>
            <a:pPr>
              <a:lnSpc>
                <a:spcPct val="60000"/>
              </a:lnSpc>
              <a:spcBef>
                <a:spcPct val="50000"/>
              </a:spcBef>
            </a:pPr>
            <a:r>
              <a:rPr lang="en-US" sz="2100" dirty="0">
                <a:latin typeface="Tahoma" pitchFamily="34" charset="0"/>
              </a:rPr>
              <a:t>	4	$500	0.4	$1600	$1800	$1900</a:t>
            </a:r>
          </a:p>
          <a:p>
            <a:pPr>
              <a:lnSpc>
                <a:spcPct val="60000"/>
              </a:lnSpc>
              <a:spcBef>
                <a:spcPct val="50000"/>
              </a:spcBef>
            </a:pPr>
            <a:r>
              <a:rPr lang="en-US" sz="2100" dirty="0">
                <a:latin typeface="Tahoma" pitchFamily="34" charset="0"/>
              </a:rPr>
              <a:t>	5	$700	0.8	$1150	$1200	$1400</a:t>
            </a:r>
          </a:p>
          <a:p>
            <a:pPr>
              <a:lnSpc>
                <a:spcPct val="60000"/>
              </a:lnSpc>
              <a:spcBef>
                <a:spcPct val="50000"/>
              </a:spcBef>
            </a:pPr>
            <a:r>
              <a:rPr lang="en-US" sz="2100" dirty="0">
                <a:latin typeface="Tahoma" pitchFamily="34" charset="0"/>
              </a:rPr>
              <a:t>	6	$30	0.6	$150	$180	$250</a:t>
            </a:r>
          </a:p>
          <a:p>
            <a:pPr>
              <a:lnSpc>
                <a:spcPct val="60000"/>
              </a:lnSpc>
              <a:spcBef>
                <a:spcPct val="50000"/>
              </a:spcBef>
            </a:pPr>
            <a:r>
              <a:rPr lang="en-US" sz="2100" dirty="0">
                <a:latin typeface="Tahoma" pitchFamily="34" charset="0"/>
              </a:rPr>
              <a:t>	7	$350	0.7	$750	$900	$1000</a:t>
            </a:r>
          </a:p>
          <a:p>
            <a:pPr>
              <a:lnSpc>
                <a:spcPct val="60000"/>
              </a:lnSpc>
              <a:spcBef>
                <a:spcPct val="50000"/>
              </a:spcBef>
            </a:pPr>
            <a:r>
              <a:rPr lang="en-US" sz="2100" dirty="0">
                <a:latin typeface="Tahoma" pitchFamily="34" charset="0"/>
              </a:rPr>
              <a:t>	8	$70	0.9	$220	$250	$320</a:t>
            </a:r>
          </a:p>
        </p:txBody>
      </p:sp>
      <p:sp>
        <p:nvSpPr>
          <p:cNvPr id="41990" name="Line 10"/>
          <p:cNvSpPr>
            <a:spLocks noChangeShapeType="1"/>
          </p:cNvSpPr>
          <p:nvPr/>
        </p:nvSpPr>
        <p:spPr bwMode="auto">
          <a:xfrm>
            <a:off x="533400" y="2768600"/>
            <a:ext cx="69342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 name="Footer Placeholder 1"/>
          <p:cNvSpPr>
            <a:spLocks noGrp="1"/>
          </p:cNvSpPr>
          <p:nvPr>
            <p:ph type="ftr" sz="quarter" idx="11"/>
          </p:nvPr>
        </p:nvSpPr>
        <p:spPr>
          <a:xfrm>
            <a:off x="3124200" y="6346825"/>
            <a:ext cx="2895600" cy="476250"/>
          </a:xfrm>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85800" y="609600"/>
            <a:ext cx="8077200" cy="735013"/>
          </a:xfrm>
          <a:noFill/>
        </p:spPr>
        <p:txBody>
          <a:bodyPr lIns="92075" tIns="46038" rIns="92075" bIns="46038"/>
          <a:lstStyle/>
          <a:p>
            <a:pPr eaLnBrk="1" hangingPunct="1"/>
            <a:r>
              <a:rPr lang="en-US" sz="3600" i="1">
                <a:solidFill>
                  <a:schemeClr val="hlink"/>
                </a:solidFill>
              </a:rPr>
              <a:t>Implementing &amp; Simulating the Model</a:t>
            </a:r>
          </a:p>
        </p:txBody>
      </p:sp>
      <p:sp>
        <p:nvSpPr>
          <p:cNvPr id="43011" name="Rectangle 3"/>
          <p:cNvSpPr>
            <a:spLocks noGrp="1" noChangeArrowheads="1"/>
          </p:cNvSpPr>
          <p:nvPr>
            <p:ph type="body" idx="1"/>
          </p:nvPr>
        </p:nvSpPr>
        <p:spPr>
          <a:xfrm>
            <a:off x="457200" y="1600201"/>
            <a:ext cx="8229600" cy="1600200"/>
          </a:xfrm>
          <a:noFill/>
        </p:spPr>
        <p:txBody>
          <a:bodyPr lIns="92075" tIns="46038" rIns="92075" bIns="46038"/>
          <a:lstStyle/>
          <a:p>
            <a:pPr algn="ctr" eaLnBrk="1" hangingPunct="1">
              <a:lnSpc>
                <a:spcPct val="110000"/>
              </a:lnSpc>
              <a:buFont typeface="Wingdings" pitchFamily="2" charset="2"/>
              <a:buNone/>
            </a:pPr>
            <a:r>
              <a:rPr lang="en-US" dirty="0"/>
              <a:t>See file </a:t>
            </a:r>
            <a:r>
              <a:rPr lang="en-US" dirty="0">
                <a:hlinkClick r:id="rId3" action="ppaction://hlinkfile"/>
              </a:rPr>
              <a:t>Fig12-39.xlsm</a:t>
            </a:r>
            <a:endParaRPr lang="en-US" dirty="0"/>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85800" y="2667000"/>
            <a:ext cx="7772400" cy="1219200"/>
          </a:xfrm>
          <a:noFill/>
        </p:spPr>
        <p:txBody>
          <a:bodyPr lIns="92075" tIns="46038" rIns="92075" bIns="46038"/>
          <a:lstStyle/>
          <a:p>
            <a:pPr eaLnBrk="1" hangingPunct="1"/>
            <a:r>
              <a:rPr lang="en-US">
                <a:solidFill>
                  <a:schemeClr val="hlink"/>
                </a:solidFill>
              </a:rPr>
              <a:t>End of Chapter 12</a:t>
            </a:r>
          </a:p>
        </p:txBody>
      </p:sp>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6725" y="1752600"/>
            <a:ext cx="8001000" cy="1905000"/>
          </a:xfrm>
          <a:noFill/>
        </p:spPr>
        <p:txBody>
          <a:bodyPr lIns="92075" tIns="46038" rIns="92075" bIns="46038"/>
          <a:lstStyle/>
          <a:p>
            <a:pPr eaLnBrk="1" hangingPunct="1"/>
            <a:r>
              <a:rPr lang="en-US" sz="4000" dirty="0">
                <a:solidFill>
                  <a:schemeClr val="tx1"/>
                </a:solidFill>
              </a:rPr>
              <a:t>The Analytic Solver Platform software featured in this book is provided by Frontline Systems.</a:t>
            </a:r>
            <a:br>
              <a:rPr lang="en-US" sz="4000" dirty="0">
                <a:solidFill>
                  <a:schemeClr val="tx1"/>
                </a:solidFill>
              </a:rPr>
            </a:br>
            <a:br>
              <a:rPr lang="en-US" sz="4000" dirty="0">
                <a:solidFill>
                  <a:schemeClr val="tx1"/>
                </a:solidFill>
              </a:rPr>
            </a:br>
            <a:r>
              <a:rPr lang="en-US" sz="4000" dirty="0">
                <a:solidFill>
                  <a:schemeClr val="tx1"/>
                </a:solidFill>
              </a:rPr>
              <a:t>http://www.solver.com</a:t>
            </a:r>
            <a:br>
              <a:rPr lang="en-US" sz="4000" dirty="0">
                <a:solidFill>
                  <a:schemeClr val="tx1"/>
                </a:solidFill>
              </a:rPr>
            </a:br>
            <a:endParaRPr lang="en-US" sz="4000" dirty="0">
              <a:solidFill>
                <a:schemeClr val="tx1"/>
              </a:solidFill>
            </a:endParaRPr>
          </a:p>
        </p:txBody>
      </p:sp>
      <p:pic>
        <p:nvPicPr>
          <p:cNvPr id="2051" name="Picture 2" descr="C:\Users\BIT\Documents\My Dropbox\SMDA\frontline-system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9625" y="4495800"/>
            <a:ext cx="22352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US" sz="800" dirty="0"/>
              <a: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41081380"/>
      </p:ext>
    </p:extLst>
  </p:cSld>
  <p:clrMapOvr>
    <a:masterClrMapping/>
  </p:clrMapOvr>
</p:sld>
</file>

<file path=ppt/theme/theme1.xml><?xml version="1.0" encoding="utf-8"?>
<a:theme xmlns:a="http://schemas.openxmlformats.org/drawingml/2006/main" name="SMDA5">
  <a:themeElements>
    <a:clrScheme name="SMDA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SMDA5">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SMDA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MDA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MDA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MDA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MDA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MDA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MDA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MDA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MDA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MDA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MDA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MDA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SMDA5</Template>
  <TotalTime>4578</TotalTime>
  <Words>3911</Words>
  <Application>Microsoft Office PowerPoint</Application>
  <PresentationFormat>On-screen Show (4:3)</PresentationFormat>
  <Paragraphs>324</Paragraphs>
  <Slides>44</Slides>
  <Notes>44</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0" baseType="lpstr">
      <vt:lpstr>Arial</vt:lpstr>
      <vt:lpstr>Tahoma</vt:lpstr>
      <vt:lpstr>Times New Roman</vt:lpstr>
      <vt:lpstr>Wingdings</vt:lpstr>
      <vt:lpstr>SMDA5</vt:lpstr>
      <vt:lpstr>Equation</vt:lpstr>
      <vt:lpstr>Spreadsheet Modeling  &amp; Decision Analysis</vt:lpstr>
      <vt:lpstr>Introduction to Simulation  Using Analytic Solver Platform</vt:lpstr>
      <vt:lpstr>On Uncertainty and Decision-Making…</vt:lpstr>
      <vt:lpstr>Introduction to Simulation</vt:lpstr>
      <vt:lpstr>Random Variables &amp; Risk</vt:lpstr>
      <vt:lpstr>Why Use Simulation to Analyze Risk?</vt:lpstr>
      <vt:lpstr>Why Use Simulation to Analyze Risk?</vt:lpstr>
      <vt:lpstr>Methods of Risk Analysis</vt:lpstr>
      <vt:lpstr> Best-Case/Worst-Case Analysis </vt:lpstr>
      <vt:lpstr>Possible Performance Measure Distributions Within a Range</vt:lpstr>
      <vt:lpstr> What-If Analysis </vt:lpstr>
      <vt:lpstr>Simulation</vt:lpstr>
      <vt:lpstr>Example: Hungry Dawg Restaurants</vt:lpstr>
      <vt:lpstr>Implementing the Model</vt:lpstr>
      <vt:lpstr>Questions About the Model</vt:lpstr>
      <vt:lpstr>Simulation</vt:lpstr>
      <vt:lpstr>What is Analytic Solver Platform?</vt:lpstr>
      <vt:lpstr>Random Number Generators (RNGs)</vt:lpstr>
      <vt:lpstr>How RNGs Work</vt:lpstr>
      <vt:lpstr>Simulating the Roll of a Die</vt:lpstr>
      <vt:lpstr>Generating Random Numbers  With Analytic Solver Platform</vt:lpstr>
      <vt:lpstr>Some of the RNGs Provided  By Analytic Solver Platform</vt:lpstr>
      <vt:lpstr>Using Psi Functions</vt:lpstr>
      <vt:lpstr>Using the Distribution Gallery </vt:lpstr>
      <vt:lpstr>PowerPoint Presentation</vt:lpstr>
      <vt:lpstr>PowerPoint Presentation</vt:lpstr>
      <vt:lpstr>Discrete vs. Continuous  Random Variables</vt:lpstr>
      <vt:lpstr>Preparing the Model for Simulation</vt:lpstr>
      <vt:lpstr>Revising &amp; Simulating the Model </vt:lpstr>
      <vt:lpstr>Psi Functions for Analyzing  PsiOutput( ) Cells</vt:lpstr>
      <vt:lpstr>The Uncertainty of Sampling</vt:lpstr>
      <vt:lpstr>Constructing a Confidence Interval for the True Population Mean</vt:lpstr>
      <vt:lpstr>Constructing a Confidence Interval for the True Population Proportion</vt:lpstr>
      <vt:lpstr>Additional Uses of Simulation</vt:lpstr>
      <vt:lpstr>A Reservation Management Example: Piedmont Commuter Airlines</vt:lpstr>
      <vt:lpstr>Random Number Seeds</vt:lpstr>
      <vt:lpstr>Implementing &amp; Simulating the Model</vt:lpstr>
      <vt:lpstr>Inventory Control Example: Millennium Computer Corporation (MCC)</vt:lpstr>
      <vt:lpstr>Implementing &amp; Simulating the Model</vt:lpstr>
      <vt:lpstr>Optimizing the Model</vt:lpstr>
      <vt:lpstr>A Project Selection Example: TRC Technologies</vt:lpstr>
      <vt:lpstr>Implementing &amp; Simulating the Model</vt:lpstr>
      <vt:lpstr>End of Chapter 12</vt:lpstr>
      <vt:lpstr>The Analytic Solver Platform software featured in this book is provided by Frontline Systems.  http://www.solver.com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Spreadsheet Modeling &amp; Decision Analysis:</dc:title>
  <dc:creator>Cliff Ragsdale</dc:creator>
  <cp:lastModifiedBy>Arie Harel</cp:lastModifiedBy>
  <cp:revision>299</cp:revision>
  <cp:lastPrinted>1997-06-09T17:13:08Z</cp:lastPrinted>
  <dcterms:created xsi:type="dcterms:W3CDTF">1995-06-17T23:31:02Z</dcterms:created>
  <dcterms:modified xsi:type="dcterms:W3CDTF">2021-11-11T14:20:20Z</dcterms:modified>
</cp:coreProperties>
</file>