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55"/>
  </p:notesMasterIdLst>
  <p:handoutMasterIdLst>
    <p:handoutMasterId r:id="rId56"/>
  </p:handoutMasterIdLst>
  <p:sldIdLst>
    <p:sldId id="356" r:id="rId2"/>
    <p:sldId id="256" r:id="rId3"/>
    <p:sldId id="291" r:id="rId4"/>
    <p:sldId id="292" r:id="rId5"/>
    <p:sldId id="295" r:id="rId6"/>
    <p:sldId id="293" r:id="rId7"/>
    <p:sldId id="294" r:id="rId8"/>
    <p:sldId id="358" r:id="rId9"/>
    <p:sldId id="361" r:id="rId10"/>
    <p:sldId id="359" r:id="rId11"/>
    <p:sldId id="296" r:id="rId12"/>
    <p:sldId id="297" r:id="rId13"/>
    <p:sldId id="298" r:id="rId14"/>
    <p:sldId id="353" r:id="rId15"/>
    <p:sldId id="354" r:id="rId16"/>
    <p:sldId id="299" r:id="rId17"/>
    <p:sldId id="300" r:id="rId18"/>
    <p:sldId id="301" r:id="rId19"/>
    <p:sldId id="304" r:id="rId20"/>
    <p:sldId id="302" r:id="rId21"/>
    <p:sldId id="303" r:id="rId22"/>
    <p:sldId id="305" r:id="rId23"/>
    <p:sldId id="306" r:id="rId24"/>
    <p:sldId id="309" r:id="rId25"/>
    <p:sldId id="307" r:id="rId26"/>
    <p:sldId id="308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5" r:id="rId41"/>
    <p:sldId id="328" r:id="rId42"/>
    <p:sldId id="329" r:id="rId43"/>
    <p:sldId id="330" r:id="rId44"/>
    <p:sldId id="331" r:id="rId45"/>
    <p:sldId id="334" r:id="rId46"/>
    <p:sldId id="335" r:id="rId47"/>
    <p:sldId id="345" r:id="rId48"/>
    <p:sldId id="346" r:id="rId49"/>
    <p:sldId id="347" r:id="rId50"/>
    <p:sldId id="348" r:id="rId51"/>
    <p:sldId id="350" r:id="rId52"/>
    <p:sldId id="349" r:id="rId53"/>
    <p:sldId id="278" r:id="rId54"/>
  </p:sldIdLst>
  <p:sldSz cx="9144000" cy="6858000" type="screen4x3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3399FF"/>
    <a:srgbClr val="CC0000"/>
    <a:srgbClr val="FFFFFF"/>
    <a:srgbClr val="856EF8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8" autoAdjust="0"/>
    <p:restoredTop sz="94677" autoAdjust="0"/>
  </p:normalViewPr>
  <p:slideViewPr>
    <p:cSldViewPr>
      <p:cViewPr varScale="1">
        <p:scale>
          <a:sx n="99" d="100"/>
          <a:sy n="99" d="100"/>
        </p:scale>
        <p:origin x="26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2" d="100"/>
          <a:sy n="42" d="100"/>
        </p:scale>
        <p:origin x="-1151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4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317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317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185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185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0E13BC98-BC2C-40B9-82E6-E321A00D4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72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3475" y="696913"/>
            <a:ext cx="4591050" cy="344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1CFF75B1-6010-43A7-8D2E-E5A85B37D62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206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2589D30-6639-4274-9B42-3F9D5FCCD1DC}" type="slidenum">
              <a:rPr lang="en-US"/>
              <a:pPr/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696913"/>
            <a:ext cx="4584700" cy="344011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19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9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0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87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0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94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94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43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43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63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34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75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14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68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9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15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24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12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809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5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8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90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97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356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58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155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17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341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647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06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38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352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1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635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207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98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200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60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595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355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242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498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827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226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018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527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541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010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331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FF75B1-6010-43A7-8D2E-E5A85B37D627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510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9F6C5D-DCD9-45A1-8924-7026267F1868}" type="slidenum">
              <a:rPr lang="en-US"/>
              <a:pPr/>
              <a:t>53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04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</p:spTree>
    <p:extLst>
      <p:ext uri="{BB962C8B-B14F-4D97-AF65-F5344CB8AC3E}">
        <p14:creationId xmlns:p14="http://schemas.microsoft.com/office/powerpoint/2010/main" val="4276844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BD24A-53D6-4053-9A1F-0DBF842BF0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8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85B94-43CF-45F2-B55E-78ADD7E149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ED8CAB-BE03-4D6A-8881-F6051198ED1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3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01E455-5708-4CB0-8530-6660EFF102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5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4EA0C-4FC5-4480-B6E8-27DE9B276E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25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4FC43-0C3D-4F48-9008-4C97DE265E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7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A173E2-F10F-463D-9576-4A66B39EC0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7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5654E-4E2C-4825-BA6B-E8508D5306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7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D4AC5-8204-4E3E-88BE-913EEAD961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6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2B185-29B1-4397-8758-5AF226F9CB5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F1F75-AC40-4684-B120-5915E615C6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5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B3DD42-23DE-4B4E-B1E8-712B76185883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Fig8-6.xls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1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Fig8-10.xlsm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Fig8-13.xlsm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6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Fig8-15.xlsm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8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Fig8-19.xlsm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Fig8-19.xlsm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Fig8-37.xlsm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Fig8-40.xlsm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i="1">
                <a:solidFill>
                  <a:schemeClr val="hlink"/>
                </a:solidFill>
              </a:rPr>
              <a:t>Spreadsheet Modeling </a:t>
            </a:r>
            <a:br>
              <a:rPr lang="en-US" b="1" i="1">
                <a:solidFill>
                  <a:schemeClr val="hlink"/>
                </a:solidFill>
              </a:rPr>
            </a:br>
            <a:r>
              <a:rPr lang="en-US" b="1" i="1">
                <a:solidFill>
                  <a:schemeClr val="hlink"/>
                </a:solidFill>
              </a:rPr>
              <a:t>&amp; Decision Analysis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A Practical Introduction to Business Analytics</a:t>
            </a:r>
          </a:p>
          <a:p>
            <a:pPr eaLnBrk="1" hangingPunct="1"/>
            <a:r>
              <a:rPr lang="en-US" sz="2400" dirty="0"/>
              <a:t>8</a:t>
            </a:r>
            <a:r>
              <a:rPr lang="en-US" sz="2400" baseline="30000" dirty="0"/>
              <a:t>th</a:t>
            </a:r>
            <a:r>
              <a:rPr lang="en-US" sz="2400" dirty="0"/>
              <a:t> edition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Cliff T. Ragsdale</a:t>
            </a:r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437063"/>
            <a:ext cx="161544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4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0"/>
            <a:ext cx="7772400" cy="2362200"/>
          </a:xfrm>
          <a:noFill/>
          <a:ln/>
        </p:spPr>
        <p:txBody>
          <a:bodyPr lIns="92075" tIns="46038" rIns="92075" bIns="46038"/>
          <a:lstStyle/>
          <a:p>
            <a:r>
              <a:rPr lang="en-US">
                <a:solidFill>
                  <a:schemeClr val="tx1"/>
                </a:solidFill>
              </a:rPr>
              <a:t>Nonlinear Programming &amp; Evolutionary Optimization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762000" y="228600"/>
            <a:ext cx="7772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 b="1" i="1">
                <a:solidFill>
                  <a:schemeClr val="hlink"/>
                </a:solidFill>
                <a:latin typeface="Tahoma" pitchFamily="34" charset="0"/>
              </a:rPr>
              <a:t>Chapter 8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839200" cy="569913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Introduction to Nonlinear Programming (NLP)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4775"/>
            <a:ext cx="8382000" cy="5097463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An NLP problem has a nonlinear objective function and/or one or more nonlinear constraints.</a:t>
            </a:r>
          </a:p>
          <a:p>
            <a:r>
              <a:rPr lang="en-US" sz="2800" dirty="0"/>
              <a:t>NLP problems are formulated and implemented in virtually the same way as linear problems.</a:t>
            </a:r>
          </a:p>
          <a:p>
            <a:r>
              <a:rPr lang="en-US" sz="2800" dirty="0"/>
              <a:t>The mathematics involved in solving NLPs is quite different than for LPs.</a:t>
            </a:r>
          </a:p>
          <a:p>
            <a:r>
              <a:rPr lang="en-US" sz="2800" dirty="0"/>
              <a:t>Solver tends to mask this difference but it is important to understand the difficulties that may be encountered when solving NLPs.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18618"/>
            <a:ext cx="7772400" cy="3105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 dirty="0">
                <a:solidFill>
                  <a:schemeClr val="hlink"/>
                </a:solidFill>
              </a:rPr>
              <a:t>Possible Optimal Solutions to NLPs 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2400" i="1" dirty="0">
                <a:solidFill>
                  <a:schemeClr val="hlink"/>
                </a:solidFill>
              </a:rPr>
              <a:t>(not occurring at corner points)</a:t>
            </a:r>
          </a:p>
        </p:txBody>
      </p:sp>
      <p:grpSp>
        <p:nvGrpSpPr>
          <p:cNvPr id="8250" name="Group 58"/>
          <p:cNvGrpSpPr>
            <a:grpSpLocks/>
          </p:cNvGrpSpPr>
          <p:nvPr/>
        </p:nvGrpSpPr>
        <p:grpSpPr bwMode="auto">
          <a:xfrm>
            <a:off x="893763" y="882650"/>
            <a:ext cx="7629525" cy="5551488"/>
            <a:chOff x="563" y="719"/>
            <a:chExt cx="4806" cy="3497"/>
          </a:xfrm>
        </p:grpSpPr>
        <p:sp>
          <p:nvSpPr>
            <p:cNvPr id="8195" name="Freeform 3" descr="20%"/>
            <p:cNvSpPr>
              <a:spLocks/>
            </p:cNvSpPr>
            <p:nvPr/>
          </p:nvSpPr>
          <p:spPr bwMode="auto">
            <a:xfrm>
              <a:off x="3402" y="2841"/>
              <a:ext cx="1252" cy="1099"/>
            </a:xfrm>
            <a:custGeom>
              <a:avLst/>
              <a:gdLst>
                <a:gd name="T0" fmla="*/ 0 w 1252"/>
                <a:gd name="T1" fmla="*/ 294 h 1099"/>
                <a:gd name="T2" fmla="*/ 603 w 1252"/>
                <a:gd name="T3" fmla="*/ 0 h 1099"/>
                <a:gd name="T4" fmla="*/ 1251 w 1252"/>
                <a:gd name="T5" fmla="*/ 645 h 1099"/>
                <a:gd name="T6" fmla="*/ 1170 w 1252"/>
                <a:gd name="T7" fmla="*/ 1098 h 1099"/>
                <a:gd name="T8" fmla="*/ 3 w 1252"/>
                <a:gd name="T9" fmla="*/ 1095 h 1099"/>
                <a:gd name="T10" fmla="*/ 0 w 1252"/>
                <a:gd name="T11" fmla="*/ 294 h 1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2" h="1099">
                  <a:moveTo>
                    <a:pt x="0" y="294"/>
                  </a:moveTo>
                  <a:lnTo>
                    <a:pt x="603" y="0"/>
                  </a:lnTo>
                  <a:lnTo>
                    <a:pt x="1251" y="645"/>
                  </a:lnTo>
                  <a:lnTo>
                    <a:pt x="1170" y="1098"/>
                  </a:lnTo>
                  <a:lnTo>
                    <a:pt x="3" y="1095"/>
                  </a:lnTo>
                  <a:lnTo>
                    <a:pt x="0" y="294"/>
                  </a:lnTo>
                </a:path>
              </a:pathLst>
            </a:custGeom>
            <a:pattFill prst="pct20">
              <a:fgClr>
                <a:schemeClr val="bg2"/>
              </a:fgClr>
              <a:bgClr>
                <a:srgbClr val="3399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" name="Freeform 4" descr="20%"/>
            <p:cNvSpPr>
              <a:spLocks/>
            </p:cNvSpPr>
            <p:nvPr/>
          </p:nvSpPr>
          <p:spPr bwMode="auto">
            <a:xfrm>
              <a:off x="3402" y="1368"/>
              <a:ext cx="877" cy="790"/>
            </a:xfrm>
            <a:custGeom>
              <a:avLst/>
              <a:gdLst>
                <a:gd name="T0" fmla="*/ 3 w 877"/>
                <a:gd name="T1" fmla="*/ 0 h 790"/>
                <a:gd name="T2" fmla="*/ 528 w 877"/>
                <a:gd name="T3" fmla="*/ 0 h 790"/>
                <a:gd name="T4" fmla="*/ 876 w 877"/>
                <a:gd name="T5" fmla="*/ 420 h 790"/>
                <a:gd name="T6" fmla="*/ 876 w 877"/>
                <a:gd name="T7" fmla="*/ 789 h 790"/>
                <a:gd name="T8" fmla="*/ 0 w 877"/>
                <a:gd name="T9" fmla="*/ 789 h 790"/>
                <a:gd name="T10" fmla="*/ 3 w 877"/>
                <a:gd name="T11" fmla="*/ 0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7" h="790">
                  <a:moveTo>
                    <a:pt x="3" y="0"/>
                  </a:moveTo>
                  <a:lnTo>
                    <a:pt x="528" y="0"/>
                  </a:lnTo>
                  <a:lnTo>
                    <a:pt x="876" y="420"/>
                  </a:lnTo>
                  <a:lnTo>
                    <a:pt x="876" y="789"/>
                  </a:lnTo>
                  <a:lnTo>
                    <a:pt x="0" y="789"/>
                  </a:lnTo>
                  <a:lnTo>
                    <a:pt x="3" y="0"/>
                  </a:lnTo>
                </a:path>
              </a:pathLst>
            </a:custGeom>
            <a:pattFill prst="pct20">
              <a:fgClr>
                <a:schemeClr val="bg2"/>
              </a:fgClr>
              <a:bgClr>
                <a:srgbClr val="3399FF"/>
              </a:bgClr>
            </a:pattFill>
            <a:ln w="254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7" name="Freeform 5" descr="20%"/>
            <p:cNvSpPr>
              <a:spLocks/>
            </p:cNvSpPr>
            <p:nvPr/>
          </p:nvSpPr>
          <p:spPr bwMode="auto">
            <a:xfrm>
              <a:off x="576" y="1386"/>
              <a:ext cx="913" cy="778"/>
            </a:xfrm>
            <a:custGeom>
              <a:avLst/>
              <a:gdLst>
                <a:gd name="T0" fmla="*/ 0 w 913"/>
                <a:gd name="T1" fmla="*/ 0 h 778"/>
                <a:gd name="T2" fmla="*/ 519 w 913"/>
                <a:gd name="T3" fmla="*/ 0 h 778"/>
                <a:gd name="T4" fmla="*/ 564 w 913"/>
                <a:gd name="T5" fmla="*/ 6 h 778"/>
                <a:gd name="T6" fmla="*/ 618 w 913"/>
                <a:gd name="T7" fmla="*/ 12 h 778"/>
                <a:gd name="T8" fmla="*/ 657 w 913"/>
                <a:gd name="T9" fmla="*/ 27 h 778"/>
                <a:gd name="T10" fmla="*/ 714 w 913"/>
                <a:gd name="T11" fmla="*/ 48 h 778"/>
                <a:gd name="T12" fmla="*/ 792 w 913"/>
                <a:gd name="T13" fmla="*/ 102 h 778"/>
                <a:gd name="T14" fmla="*/ 828 w 913"/>
                <a:gd name="T15" fmla="*/ 147 h 778"/>
                <a:gd name="T16" fmla="*/ 861 w 913"/>
                <a:gd name="T17" fmla="*/ 195 h 778"/>
                <a:gd name="T18" fmla="*/ 882 w 913"/>
                <a:gd name="T19" fmla="*/ 237 h 778"/>
                <a:gd name="T20" fmla="*/ 897 w 913"/>
                <a:gd name="T21" fmla="*/ 282 h 778"/>
                <a:gd name="T22" fmla="*/ 903 w 913"/>
                <a:gd name="T23" fmla="*/ 312 h 778"/>
                <a:gd name="T24" fmla="*/ 912 w 913"/>
                <a:gd name="T25" fmla="*/ 387 h 778"/>
                <a:gd name="T26" fmla="*/ 912 w 913"/>
                <a:gd name="T27" fmla="*/ 438 h 778"/>
                <a:gd name="T28" fmla="*/ 912 w 913"/>
                <a:gd name="T29" fmla="*/ 777 h 778"/>
                <a:gd name="T30" fmla="*/ 0 w 913"/>
                <a:gd name="T31" fmla="*/ 774 h 778"/>
                <a:gd name="T32" fmla="*/ 0 w 913"/>
                <a:gd name="T33" fmla="*/ 0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3" h="778">
                  <a:moveTo>
                    <a:pt x="0" y="0"/>
                  </a:moveTo>
                  <a:lnTo>
                    <a:pt x="519" y="0"/>
                  </a:lnTo>
                  <a:lnTo>
                    <a:pt x="564" y="6"/>
                  </a:lnTo>
                  <a:lnTo>
                    <a:pt x="618" y="12"/>
                  </a:lnTo>
                  <a:lnTo>
                    <a:pt x="657" y="27"/>
                  </a:lnTo>
                  <a:lnTo>
                    <a:pt x="714" y="48"/>
                  </a:lnTo>
                  <a:lnTo>
                    <a:pt x="792" y="102"/>
                  </a:lnTo>
                  <a:lnTo>
                    <a:pt x="828" y="147"/>
                  </a:lnTo>
                  <a:lnTo>
                    <a:pt x="861" y="195"/>
                  </a:lnTo>
                  <a:lnTo>
                    <a:pt x="882" y="237"/>
                  </a:lnTo>
                  <a:lnTo>
                    <a:pt x="897" y="282"/>
                  </a:lnTo>
                  <a:lnTo>
                    <a:pt x="903" y="312"/>
                  </a:lnTo>
                  <a:lnTo>
                    <a:pt x="912" y="387"/>
                  </a:lnTo>
                  <a:lnTo>
                    <a:pt x="912" y="438"/>
                  </a:lnTo>
                  <a:lnTo>
                    <a:pt x="912" y="777"/>
                  </a:lnTo>
                  <a:lnTo>
                    <a:pt x="0" y="774"/>
                  </a:lnTo>
                  <a:lnTo>
                    <a:pt x="0" y="0"/>
                  </a:lnTo>
                </a:path>
              </a:pathLst>
            </a:custGeom>
            <a:pattFill prst="pct20">
              <a:fgClr>
                <a:schemeClr val="bg1"/>
              </a:fgClr>
              <a:bgClr>
                <a:srgbClr val="3399FF"/>
              </a:bgClr>
            </a:pattFill>
            <a:ln w="254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8" name="Line 6"/>
            <p:cNvSpPr>
              <a:spLocks noChangeShapeType="1"/>
            </p:cNvSpPr>
            <p:nvPr/>
          </p:nvSpPr>
          <p:spPr bwMode="auto">
            <a:xfrm flipV="1">
              <a:off x="576" y="720"/>
              <a:ext cx="0" cy="1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9" name="Line 7"/>
            <p:cNvSpPr>
              <a:spLocks noChangeShapeType="1"/>
            </p:cNvSpPr>
            <p:nvPr/>
          </p:nvSpPr>
          <p:spPr bwMode="auto">
            <a:xfrm>
              <a:off x="574" y="2160"/>
              <a:ext cx="1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>
              <a:off x="577" y="1384"/>
              <a:ext cx="527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Arc 9"/>
            <p:cNvSpPr>
              <a:spLocks/>
            </p:cNvSpPr>
            <p:nvPr/>
          </p:nvSpPr>
          <p:spPr bwMode="auto">
            <a:xfrm>
              <a:off x="1107" y="1384"/>
              <a:ext cx="385" cy="372"/>
            </a:xfrm>
            <a:custGeom>
              <a:avLst/>
              <a:gdLst>
                <a:gd name="G0" fmla="+- 56 0 0"/>
                <a:gd name="G1" fmla="+- 21600 0 0"/>
                <a:gd name="G2" fmla="+- 21600 0 0"/>
                <a:gd name="T0" fmla="*/ 0 w 21656"/>
                <a:gd name="T1" fmla="*/ 0 h 21600"/>
                <a:gd name="T2" fmla="*/ 21656 w 21656"/>
                <a:gd name="T3" fmla="*/ 21600 h 21600"/>
                <a:gd name="T4" fmla="*/ 56 w 2165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56" h="21600" fill="none" extrusionOk="0">
                  <a:moveTo>
                    <a:pt x="0" y="0"/>
                  </a:moveTo>
                  <a:cubicBezTo>
                    <a:pt x="18" y="0"/>
                    <a:pt x="37" y="-1"/>
                    <a:pt x="56" y="0"/>
                  </a:cubicBezTo>
                  <a:cubicBezTo>
                    <a:pt x="11985" y="0"/>
                    <a:pt x="21656" y="9670"/>
                    <a:pt x="21656" y="21600"/>
                  </a:cubicBezTo>
                </a:path>
                <a:path w="21656" h="21600" stroke="0" extrusionOk="0">
                  <a:moveTo>
                    <a:pt x="0" y="0"/>
                  </a:moveTo>
                  <a:cubicBezTo>
                    <a:pt x="18" y="0"/>
                    <a:pt x="37" y="-1"/>
                    <a:pt x="56" y="0"/>
                  </a:cubicBezTo>
                  <a:cubicBezTo>
                    <a:pt x="11985" y="0"/>
                    <a:pt x="21656" y="9670"/>
                    <a:pt x="21656" y="21600"/>
                  </a:cubicBezTo>
                  <a:lnTo>
                    <a:pt x="56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1491" y="1758"/>
              <a:ext cx="0" cy="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918" y="951"/>
              <a:ext cx="903" cy="10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Rectangle 12"/>
            <p:cNvSpPr>
              <a:spLocks noChangeArrowheads="1"/>
            </p:cNvSpPr>
            <p:nvPr/>
          </p:nvSpPr>
          <p:spPr bwMode="auto">
            <a:xfrm>
              <a:off x="1281" y="885"/>
              <a:ext cx="100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objective function level curve</a:t>
              </a:r>
            </a:p>
          </p:txBody>
        </p:sp>
        <p:sp>
          <p:nvSpPr>
            <p:cNvPr id="8205" name="Line 13"/>
            <p:cNvSpPr>
              <a:spLocks noChangeShapeType="1"/>
            </p:cNvSpPr>
            <p:nvPr/>
          </p:nvSpPr>
          <p:spPr bwMode="auto">
            <a:xfrm flipH="1">
              <a:off x="1089" y="969"/>
              <a:ext cx="243" cy="1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Rectangle 14"/>
            <p:cNvSpPr>
              <a:spLocks noChangeArrowheads="1"/>
            </p:cNvSpPr>
            <p:nvPr/>
          </p:nvSpPr>
          <p:spPr bwMode="auto">
            <a:xfrm>
              <a:off x="1644" y="1293"/>
              <a:ext cx="924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optimal solution</a:t>
              </a:r>
            </a:p>
          </p:txBody>
        </p:sp>
        <p:sp>
          <p:nvSpPr>
            <p:cNvPr id="8207" name="Line 15"/>
            <p:cNvSpPr>
              <a:spLocks noChangeShapeType="1"/>
            </p:cNvSpPr>
            <p:nvPr/>
          </p:nvSpPr>
          <p:spPr bwMode="auto">
            <a:xfrm flipH="1">
              <a:off x="1425" y="1380"/>
              <a:ext cx="261" cy="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Rectangle 16"/>
            <p:cNvSpPr>
              <a:spLocks noChangeArrowheads="1"/>
            </p:cNvSpPr>
            <p:nvPr/>
          </p:nvSpPr>
          <p:spPr bwMode="auto">
            <a:xfrm>
              <a:off x="673" y="1742"/>
              <a:ext cx="654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400" b="1"/>
                <a:t>Feasible Region</a:t>
              </a:r>
            </a:p>
          </p:txBody>
        </p:sp>
        <p:sp>
          <p:nvSpPr>
            <p:cNvPr id="8209" name="Rectangle 17"/>
            <p:cNvSpPr>
              <a:spLocks noChangeArrowheads="1"/>
            </p:cNvSpPr>
            <p:nvPr/>
          </p:nvSpPr>
          <p:spPr bwMode="auto">
            <a:xfrm>
              <a:off x="608" y="2235"/>
              <a:ext cx="1329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linear objective,</a:t>
              </a:r>
            </a:p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nonlinear constraints</a:t>
              </a:r>
            </a:p>
          </p:txBody>
        </p:sp>
        <p:sp>
          <p:nvSpPr>
            <p:cNvPr id="8210" name="Freeform 18" descr="20%"/>
            <p:cNvSpPr>
              <a:spLocks/>
            </p:cNvSpPr>
            <p:nvPr/>
          </p:nvSpPr>
          <p:spPr bwMode="auto">
            <a:xfrm>
              <a:off x="565" y="3132"/>
              <a:ext cx="913" cy="778"/>
            </a:xfrm>
            <a:custGeom>
              <a:avLst/>
              <a:gdLst>
                <a:gd name="T0" fmla="*/ 0 w 913"/>
                <a:gd name="T1" fmla="*/ 0 h 778"/>
                <a:gd name="T2" fmla="*/ 519 w 913"/>
                <a:gd name="T3" fmla="*/ 0 h 778"/>
                <a:gd name="T4" fmla="*/ 564 w 913"/>
                <a:gd name="T5" fmla="*/ 6 h 778"/>
                <a:gd name="T6" fmla="*/ 618 w 913"/>
                <a:gd name="T7" fmla="*/ 12 h 778"/>
                <a:gd name="T8" fmla="*/ 657 w 913"/>
                <a:gd name="T9" fmla="*/ 27 h 778"/>
                <a:gd name="T10" fmla="*/ 714 w 913"/>
                <a:gd name="T11" fmla="*/ 48 h 778"/>
                <a:gd name="T12" fmla="*/ 792 w 913"/>
                <a:gd name="T13" fmla="*/ 102 h 778"/>
                <a:gd name="T14" fmla="*/ 828 w 913"/>
                <a:gd name="T15" fmla="*/ 147 h 778"/>
                <a:gd name="T16" fmla="*/ 861 w 913"/>
                <a:gd name="T17" fmla="*/ 195 h 778"/>
                <a:gd name="T18" fmla="*/ 882 w 913"/>
                <a:gd name="T19" fmla="*/ 237 h 778"/>
                <a:gd name="T20" fmla="*/ 897 w 913"/>
                <a:gd name="T21" fmla="*/ 282 h 778"/>
                <a:gd name="T22" fmla="*/ 903 w 913"/>
                <a:gd name="T23" fmla="*/ 312 h 778"/>
                <a:gd name="T24" fmla="*/ 912 w 913"/>
                <a:gd name="T25" fmla="*/ 387 h 778"/>
                <a:gd name="T26" fmla="*/ 912 w 913"/>
                <a:gd name="T27" fmla="*/ 438 h 778"/>
                <a:gd name="T28" fmla="*/ 912 w 913"/>
                <a:gd name="T29" fmla="*/ 777 h 778"/>
                <a:gd name="T30" fmla="*/ 0 w 913"/>
                <a:gd name="T31" fmla="*/ 774 h 778"/>
                <a:gd name="T32" fmla="*/ 0 w 913"/>
                <a:gd name="T33" fmla="*/ 0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3" h="778">
                  <a:moveTo>
                    <a:pt x="0" y="0"/>
                  </a:moveTo>
                  <a:lnTo>
                    <a:pt x="519" y="0"/>
                  </a:lnTo>
                  <a:lnTo>
                    <a:pt x="564" y="6"/>
                  </a:lnTo>
                  <a:lnTo>
                    <a:pt x="618" y="12"/>
                  </a:lnTo>
                  <a:lnTo>
                    <a:pt x="657" y="27"/>
                  </a:lnTo>
                  <a:lnTo>
                    <a:pt x="714" y="48"/>
                  </a:lnTo>
                  <a:lnTo>
                    <a:pt x="792" y="102"/>
                  </a:lnTo>
                  <a:lnTo>
                    <a:pt x="828" y="147"/>
                  </a:lnTo>
                  <a:lnTo>
                    <a:pt x="861" y="195"/>
                  </a:lnTo>
                  <a:lnTo>
                    <a:pt x="882" y="237"/>
                  </a:lnTo>
                  <a:lnTo>
                    <a:pt x="897" y="282"/>
                  </a:lnTo>
                  <a:lnTo>
                    <a:pt x="903" y="312"/>
                  </a:lnTo>
                  <a:lnTo>
                    <a:pt x="912" y="387"/>
                  </a:lnTo>
                  <a:lnTo>
                    <a:pt x="912" y="438"/>
                  </a:lnTo>
                  <a:lnTo>
                    <a:pt x="912" y="777"/>
                  </a:lnTo>
                  <a:lnTo>
                    <a:pt x="0" y="774"/>
                  </a:lnTo>
                  <a:lnTo>
                    <a:pt x="0" y="0"/>
                  </a:lnTo>
                </a:path>
              </a:pathLst>
            </a:custGeom>
            <a:pattFill prst="pct20">
              <a:fgClr>
                <a:schemeClr val="bg1"/>
              </a:fgClr>
              <a:bgClr>
                <a:srgbClr val="3399FF"/>
              </a:bgClr>
            </a:pattFill>
            <a:ln w="254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Line 19"/>
            <p:cNvSpPr>
              <a:spLocks noChangeShapeType="1"/>
            </p:cNvSpPr>
            <p:nvPr/>
          </p:nvSpPr>
          <p:spPr bwMode="auto">
            <a:xfrm flipV="1">
              <a:off x="565" y="2466"/>
              <a:ext cx="0" cy="1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20"/>
            <p:cNvSpPr>
              <a:spLocks noChangeShapeType="1"/>
            </p:cNvSpPr>
            <p:nvPr/>
          </p:nvSpPr>
          <p:spPr bwMode="auto">
            <a:xfrm>
              <a:off x="563" y="3906"/>
              <a:ext cx="1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Line 21"/>
            <p:cNvSpPr>
              <a:spLocks noChangeShapeType="1"/>
            </p:cNvSpPr>
            <p:nvPr/>
          </p:nvSpPr>
          <p:spPr bwMode="auto">
            <a:xfrm>
              <a:off x="566" y="3130"/>
              <a:ext cx="527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4" name="Arc 22"/>
            <p:cNvSpPr>
              <a:spLocks/>
            </p:cNvSpPr>
            <p:nvPr/>
          </p:nvSpPr>
          <p:spPr bwMode="auto">
            <a:xfrm>
              <a:off x="1096" y="3130"/>
              <a:ext cx="385" cy="372"/>
            </a:xfrm>
            <a:custGeom>
              <a:avLst/>
              <a:gdLst>
                <a:gd name="G0" fmla="+- 56 0 0"/>
                <a:gd name="G1" fmla="+- 21600 0 0"/>
                <a:gd name="G2" fmla="+- 21600 0 0"/>
                <a:gd name="T0" fmla="*/ 0 w 21656"/>
                <a:gd name="T1" fmla="*/ 0 h 21600"/>
                <a:gd name="T2" fmla="*/ 21656 w 21656"/>
                <a:gd name="T3" fmla="*/ 21600 h 21600"/>
                <a:gd name="T4" fmla="*/ 56 w 2165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56" h="21600" fill="none" extrusionOk="0">
                  <a:moveTo>
                    <a:pt x="0" y="0"/>
                  </a:moveTo>
                  <a:cubicBezTo>
                    <a:pt x="18" y="0"/>
                    <a:pt x="37" y="-1"/>
                    <a:pt x="56" y="0"/>
                  </a:cubicBezTo>
                  <a:cubicBezTo>
                    <a:pt x="11985" y="0"/>
                    <a:pt x="21656" y="9670"/>
                    <a:pt x="21656" y="21600"/>
                  </a:cubicBezTo>
                </a:path>
                <a:path w="21656" h="21600" stroke="0" extrusionOk="0">
                  <a:moveTo>
                    <a:pt x="0" y="0"/>
                  </a:moveTo>
                  <a:cubicBezTo>
                    <a:pt x="18" y="0"/>
                    <a:pt x="37" y="-1"/>
                    <a:pt x="56" y="0"/>
                  </a:cubicBezTo>
                  <a:cubicBezTo>
                    <a:pt x="11985" y="0"/>
                    <a:pt x="21656" y="9670"/>
                    <a:pt x="21656" y="21600"/>
                  </a:cubicBezTo>
                  <a:lnTo>
                    <a:pt x="56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5" name="Line 23"/>
            <p:cNvSpPr>
              <a:spLocks noChangeShapeType="1"/>
            </p:cNvSpPr>
            <p:nvPr/>
          </p:nvSpPr>
          <p:spPr bwMode="auto">
            <a:xfrm>
              <a:off x="1480" y="3504"/>
              <a:ext cx="0" cy="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Rectangle 24"/>
            <p:cNvSpPr>
              <a:spLocks noChangeArrowheads="1"/>
            </p:cNvSpPr>
            <p:nvPr/>
          </p:nvSpPr>
          <p:spPr bwMode="auto">
            <a:xfrm>
              <a:off x="1516" y="2631"/>
              <a:ext cx="100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objective function level curve</a:t>
              </a:r>
            </a:p>
          </p:txBody>
        </p:sp>
        <p:sp>
          <p:nvSpPr>
            <p:cNvPr id="8217" name="Line 25"/>
            <p:cNvSpPr>
              <a:spLocks noChangeShapeType="1"/>
            </p:cNvSpPr>
            <p:nvPr/>
          </p:nvSpPr>
          <p:spPr bwMode="auto">
            <a:xfrm flipH="1">
              <a:off x="1324" y="2715"/>
              <a:ext cx="243" cy="1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Rectangle 26"/>
            <p:cNvSpPr>
              <a:spLocks noChangeArrowheads="1"/>
            </p:cNvSpPr>
            <p:nvPr/>
          </p:nvSpPr>
          <p:spPr bwMode="auto">
            <a:xfrm>
              <a:off x="1633" y="3039"/>
              <a:ext cx="924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optimal solution</a:t>
              </a:r>
            </a:p>
          </p:txBody>
        </p:sp>
        <p:sp>
          <p:nvSpPr>
            <p:cNvPr id="8219" name="Line 27"/>
            <p:cNvSpPr>
              <a:spLocks noChangeShapeType="1"/>
            </p:cNvSpPr>
            <p:nvPr/>
          </p:nvSpPr>
          <p:spPr bwMode="auto">
            <a:xfrm flipH="1">
              <a:off x="1414" y="3126"/>
              <a:ext cx="261" cy="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0" name="Rectangle 28"/>
            <p:cNvSpPr>
              <a:spLocks noChangeArrowheads="1"/>
            </p:cNvSpPr>
            <p:nvPr/>
          </p:nvSpPr>
          <p:spPr bwMode="auto">
            <a:xfrm>
              <a:off x="662" y="3488"/>
              <a:ext cx="654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400" b="1"/>
                <a:t>Feasible Region</a:t>
              </a:r>
            </a:p>
          </p:txBody>
        </p:sp>
        <p:sp>
          <p:nvSpPr>
            <p:cNvPr id="8221" name="Rectangle 29"/>
            <p:cNvSpPr>
              <a:spLocks noChangeArrowheads="1"/>
            </p:cNvSpPr>
            <p:nvPr/>
          </p:nvSpPr>
          <p:spPr bwMode="auto">
            <a:xfrm>
              <a:off x="597" y="3981"/>
              <a:ext cx="1329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nonlinear objective,</a:t>
              </a:r>
            </a:p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nonlinear constraints</a:t>
              </a:r>
            </a:p>
          </p:txBody>
        </p:sp>
        <p:sp>
          <p:nvSpPr>
            <p:cNvPr id="8222" name="Arc 30"/>
            <p:cNvSpPr>
              <a:spLocks/>
            </p:cNvSpPr>
            <p:nvPr/>
          </p:nvSpPr>
          <p:spPr bwMode="auto">
            <a:xfrm>
              <a:off x="1285" y="2824"/>
              <a:ext cx="525" cy="707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3" name="Line 31"/>
            <p:cNvSpPr>
              <a:spLocks noChangeShapeType="1"/>
            </p:cNvSpPr>
            <p:nvPr/>
          </p:nvSpPr>
          <p:spPr bwMode="auto">
            <a:xfrm flipV="1">
              <a:off x="3404" y="719"/>
              <a:ext cx="0" cy="1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4" name="Line 32"/>
            <p:cNvSpPr>
              <a:spLocks noChangeShapeType="1"/>
            </p:cNvSpPr>
            <p:nvPr/>
          </p:nvSpPr>
          <p:spPr bwMode="auto">
            <a:xfrm>
              <a:off x="3402" y="2159"/>
              <a:ext cx="1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5" name="Rectangle 33"/>
            <p:cNvSpPr>
              <a:spLocks noChangeArrowheads="1"/>
            </p:cNvSpPr>
            <p:nvPr/>
          </p:nvSpPr>
          <p:spPr bwMode="auto">
            <a:xfrm>
              <a:off x="4195" y="894"/>
              <a:ext cx="100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objective function level curve</a:t>
              </a:r>
            </a:p>
          </p:txBody>
        </p:sp>
        <p:sp>
          <p:nvSpPr>
            <p:cNvPr id="8226" name="Line 34"/>
            <p:cNvSpPr>
              <a:spLocks noChangeShapeType="1"/>
            </p:cNvSpPr>
            <p:nvPr/>
          </p:nvSpPr>
          <p:spPr bwMode="auto">
            <a:xfrm flipH="1">
              <a:off x="4003" y="978"/>
              <a:ext cx="243" cy="1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7" name="Rectangle 35"/>
            <p:cNvSpPr>
              <a:spLocks noChangeArrowheads="1"/>
            </p:cNvSpPr>
            <p:nvPr/>
          </p:nvSpPr>
          <p:spPr bwMode="auto">
            <a:xfrm>
              <a:off x="4354" y="1324"/>
              <a:ext cx="924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optimal solution</a:t>
              </a:r>
            </a:p>
          </p:txBody>
        </p:sp>
        <p:sp>
          <p:nvSpPr>
            <p:cNvPr id="8228" name="Line 36"/>
            <p:cNvSpPr>
              <a:spLocks noChangeShapeType="1"/>
            </p:cNvSpPr>
            <p:nvPr/>
          </p:nvSpPr>
          <p:spPr bwMode="auto">
            <a:xfrm flipH="1">
              <a:off x="4135" y="1411"/>
              <a:ext cx="261" cy="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9" name="Rectangle 37"/>
            <p:cNvSpPr>
              <a:spLocks noChangeArrowheads="1"/>
            </p:cNvSpPr>
            <p:nvPr/>
          </p:nvSpPr>
          <p:spPr bwMode="auto">
            <a:xfrm>
              <a:off x="3501" y="1741"/>
              <a:ext cx="654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400" b="1"/>
                <a:t>Feasible Region</a:t>
              </a:r>
            </a:p>
          </p:txBody>
        </p:sp>
        <p:sp>
          <p:nvSpPr>
            <p:cNvPr id="8230" name="Rectangle 38"/>
            <p:cNvSpPr>
              <a:spLocks noChangeArrowheads="1"/>
            </p:cNvSpPr>
            <p:nvPr/>
          </p:nvSpPr>
          <p:spPr bwMode="auto">
            <a:xfrm>
              <a:off x="3436" y="2234"/>
              <a:ext cx="1329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nonlinear objective,</a:t>
              </a:r>
            </a:p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linear constraints</a:t>
              </a:r>
            </a:p>
          </p:txBody>
        </p:sp>
        <p:sp>
          <p:nvSpPr>
            <p:cNvPr id="8231" name="Line 39"/>
            <p:cNvSpPr>
              <a:spLocks noChangeShapeType="1"/>
            </p:cNvSpPr>
            <p:nvPr/>
          </p:nvSpPr>
          <p:spPr bwMode="auto">
            <a:xfrm>
              <a:off x="3405" y="1367"/>
              <a:ext cx="53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2" name="Line 40"/>
            <p:cNvSpPr>
              <a:spLocks noChangeShapeType="1"/>
            </p:cNvSpPr>
            <p:nvPr/>
          </p:nvSpPr>
          <p:spPr bwMode="auto">
            <a:xfrm>
              <a:off x="3930" y="1368"/>
              <a:ext cx="354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3" name="Line 41"/>
            <p:cNvSpPr>
              <a:spLocks noChangeShapeType="1"/>
            </p:cNvSpPr>
            <p:nvPr/>
          </p:nvSpPr>
          <p:spPr bwMode="auto">
            <a:xfrm flipH="1">
              <a:off x="4280" y="1791"/>
              <a:ext cx="1" cy="3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4" name="Arc 42"/>
            <p:cNvSpPr>
              <a:spLocks/>
            </p:cNvSpPr>
            <p:nvPr/>
          </p:nvSpPr>
          <p:spPr bwMode="auto">
            <a:xfrm>
              <a:off x="3941" y="1045"/>
              <a:ext cx="525" cy="707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5" name="Line 43"/>
            <p:cNvSpPr>
              <a:spLocks noChangeShapeType="1"/>
            </p:cNvSpPr>
            <p:nvPr/>
          </p:nvSpPr>
          <p:spPr bwMode="auto">
            <a:xfrm flipV="1">
              <a:off x="3404" y="2496"/>
              <a:ext cx="0" cy="1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6" name="Line 44"/>
            <p:cNvSpPr>
              <a:spLocks noChangeShapeType="1"/>
            </p:cNvSpPr>
            <p:nvPr/>
          </p:nvSpPr>
          <p:spPr bwMode="auto">
            <a:xfrm>
              <a:off x="3402" y="3936"/>
              <a:ext cx="1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7" name="Rectangle 45"/>
            <p:cNvSpPr>
              <a:spLocks noChangeArrowheads="1"/>
            </p:cNvSpPr>
            <p:nvPr/>
          </p:nvSpPr>
          <p:spPr bwMode="auto">
            <a:xfrm>
              <a:off x="4140" y="2725"/>
              <a:ext cx="100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objective function level curves</a:t>
              </a:r>
            </a:p>
          </p:txBody>
        </p:sp>
        <p:sp>
          <p:nvSpPr>
            <p:cNvPr id="8238" name="Line 46"/>
            <p:cNvSpPr>
              <a:spLocks noChangeShapeType="1"/>
            </p:cNvSpPr>
            <p:nvPr/>
          </p:nvSpPr>
          <p:spPr bwMode="auto">
            <a:xfrm flipH="1">
              <a:off x="4016" y="2809"/>
              <a:ext cx="175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9" name="Rectangle 47"/>
            <p:cNvSpPr>
              <a:spLocks noChangeArrowheads="1"/>
            </p:cNvSpPr>
            <p:nvPr/>
          </p:nvSpPr>
          <p:spPr bwMode="auto">
            <a:xfrm>
              <a:off x="4445" y="3137"/>
              <a:ext cx="924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1400"/>
                <a:t>optimal solution</a:t>
              </a:r>
            </a:p>
          </p:txBody>
        </p:sp>
        <p:sp>
          <p:nvSpPr>
            <p:cNvPr id="8240" name="Line 48"/>
            <p:cNvSpPr>
              <a:spLocks noChangeShapeType="1"/>
            </p:cNvSpPr>
            <p:nvPr/>
          </p:nvSpPr>
          <p:spPr bwMode="auto">
            <a:xfrm flipH="1">
              <a:off x="4127" y="3216"/>
              <a:ext cx="355" cy="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1" name="Rectangle 49"/>
            <p:cNvSpPr>
              <a:spLocks noChangeArrowheads="1"/>
            </p:cNvSpPr>
            <p:nvPr/>
          </p:nvSpPr>
          <p:spPr bwMode="auto">
            <a:xfrm>
              <a:off x="3458" y="3668"/>
              <a:ext cx="654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70000"/>
                </a:lnSpc>
                <a:spcBef>
                  <a:spcPct val="50000"/>
                </a:spcBef>
              </a:pPr>
              <a:r>
                <a:rPr lang="en-US" sz="1400" b="1"/>
                <a:t>Feasible Region</a:t>
              </a:r>
            </a:p>
          </p:txBody>
        </p:sp>
        <p:sp>
          <p:nvSpPr>
            <p:cNvPr id="8242" name="Rectangle 50"/>
            <p:cNvSpPr>
              <a:spLocks noChangeArrowheads="1"/>
            </p:cNvSpPr>
            <p:nvPr/>
          </p:nvSpPr>
          <p:spPr bwMode="auto">
            <a:xfrm>
              <a:off x="3436" y="4011"/>
              <a:ext cx="1329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nonlinear objective,</a:t>
              </a:r>
            </a:p>
            <a:p>
              <a:pPr eaLnBrk="0" hangingPunct="0">
                <a:lnSpc>
                  <a:spcPct val="30000"/>
                </a:lnSpc>
                <a:spcBef>
                  <a:spcPct val="50000"/>
                </a:spcBef>
              </a:pPr>
              <a:r>
                <a:rPr lang="en-US" sz="1400" b="1"/>
                <a:t>linear constraints</a:t>
              </a:r>
            </a:p>
          </p:txBody>
        </p:sp>
        <p:sp>
          <p:nvSpPr>
            <p:cNvPr id="8243" name="Line 51"/>
            <p:cNvSpPr>
              <a:spLocks noChangeShapeType="1"/>
            </p:cNvSpPr>
            <p:nvPr/>
          </p:nvSpPr>
          <p:spPr bwMode="auto">
            <a:xfrm flipV="1">
              <a:off x="3405" y="2835"/>
              <a:ext cx="600" cy="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4" name="Line 52"/>
            <p:cNvSpPr>
              <a:spLocks noChangeShapeType="1"/>
            </p:cNvSpPr>
            <p:nvPr/>
          </p:nvSpPr>
          <p:spPr bwMode="auto">
            <a:xfrm>
              <a:off x="4005" y="2835"/>
              <a:ext cx="653" cy="6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5" name="Line 53"/>
            <p:cNvSpPr>
              <a:spLocks noChangeShapeType="1"/>
            </p:cNvSpPr>
            <p:nvPr/>
          </p:nvSpPr>
          <p:spPr bwMode="auto">
            <a:xfrm flipH="1">
              <a:off x="4573" y="3492"/>
              <a:ext cx="80" cy="4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6" name="Oval 54"/>
            <p:cNvSpPr>
              <a:spLocks noChangeArrowheads="1"/>
            </p:cNvSpPr>
            <p:nvPr/>
          </p:nvSpPr>
          <p:spPr bwMode="auto">
            <a:xfrm rot="2700000">
              <a:off x="3759" y="3207"/>
              <a:ext cx="759" cy="3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7" name="Oval 55"/>
            <p:cNvSpPr>
              <a:spLocks noChangeArrowheads="1"/>
            </p:cNvSpPr>
            <p:nvPr/>
          </p:nvSpPr>
          <p:spPr bwMode="auto">
            <a:xfrm rot="2700000">
              <a:off x="3820" y="3235"/>
              <a:ext cx="628" cy="32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8" name="Oval 56"/>
            <p:cNvSpPr>
              <a:spLocks noChangeArrowheads="1"/>
            </p:cNvSpPr>
            <p:nvPr/>
          </p:nvSpPr>
          <p:spPr bwMode="auto">
            <a:xfrm rot="2700000">
              <a:off x="3878" y="3266"/>
              <a:ext cx="511" cy="25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9" name="Oval 57"/>
            <p:cNvSpPr>
              <a:spLocks noChangeArrowheads="1"/>
            </p:cNvSpPr>
            <p:nvPr/>
          </p:nvSpPr>
          <p:spPr bwMode="auto">
            <a:xfrm rot="2700000">
              <a:off x="3927" y="3289"/>
              <a:ext cx="401" cy="19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32799" y="6373019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15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The GRG Algorithm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529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Solver uses the Generalized Reduced Gradient (GRG) algorithm to solve NLPs.</a:t>
            </a:r>
          </a:p>
          <a:p>
            <a:r>
              <a:rPr lang="en-US" dirty="0"/>
              <a:t>GRG can also be used on LPs but is slower than the Simplex method.</a:t>
            </a:r>
          </a:p>
          <a:p>
            <a:r>
              <a:rPr lang="en-US" dirty="0"/>
              <a:t>The following discussion gives a general (but somewhat imprecise) idea of how GRG works.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37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An NLP Solution Strategy</a:t>
            </a:r>
          </a:p>
        </p:txBody>
      </p:sp>
      <p:grpSp>
        <p:nvGrpSpPr>
          <p:cNvPr id="10275" name="Group 35"/>
          <p:cNvGrpSpPr>
            <a:grpSpLocks/>
          </p:cNvGrpSpPr>
          <p:nvPr/>
        </p:nvGrpSpPr>
        <p:grpSpPr bwMode="auto">
          <a:xfrm>
            <a:off x="457200" y="1524000"/>
            <a:ext cx="8199438" cy="4810125"/>
            <a:chOff x="490" y="843"/>
            <a:chExt cx="5165" cy="3030"/>
          </a:xfrm>
        </p:grpSpPr>
        <p:sp>
          <p:nvSpPr>
            <p:cNvPr id="10243" name="Freeform 3" descr="20%"/>
            <p:cNvSpPr>
              <a:spLocks/>
            </p:cNvSpPr>
            <p:nvPr/>
          </p:nvSpPr>
          <p:spPr bwMode="auto">
            <a:xfrm>
              <a:off x="877" y="1343"/>
              <a:ext cx="2851" cy="2125"/>
            </a:xfrm>
            <a:custGeom>
              <a:avLst/>
              <a:gdLst>
                <a:gd name="T0" fmla="*/ 0 w 2851"/>
                <a:gd name="T1" fmla="*/ 1335 h 2125"/>
                <a:gd name="T2" fmla="*/ 984 w 2851"/>
                <a:gd name="T3" fmla="*/ 378 h 2125"/>
                <a:gd name="T4" fmla="*/ 1083 w 2851"/>
                <a:gd name="T5" fmla="*/ 276 h 2125"/>
                <a:gd name="T6" fmla="*/ 1224 w 2851"/>
                <a:gd name="T7" fmla="*/ 168 h 2125"/>
                <a:gd name="T8" fmla="*/ 1383 w 2851"/>
                <a:gd name="T9" fmla="*/ 84 h 2125"/>
                <a:gd name="T10" fmla="*/ 1500 w 2851"/>
                <a:gd name="T11" fmla="*/ 39 h 2125"/>
                <a:gd name="T12" fmla="*/ 1578 w 2851"/>
                <a:gd name="T13" fmla="*/ 24 h 2125"/>
                <a:gd name="T14" fmla="*/ 1737 w 2851"/>
                <a:gd name="T15" fmla="*/ 0 h 2125"/>
                <a:gd name="T16" fmla="*/ 1866 w 2851"/>
                <a:gd name="T17" fmla="*/ 0 h 2125"/>
                <a:gd name="T18" fmla="*/ 1983 w 2851"/>
                <a:gd name="T19" fmla="*/ 15 h 2125"/>
                <a:gd name="T20" fmla="*/ 2130 w 2851"/>
                <a:gd name="T21" fmla="*/ 54 h 2125"/>
                <a:gd name="T22" fmla="*/ 2256 w 2851"/>
                <a:gd name="T23" fmla="*/ 105 h 2125"/>
                <a:gd name="T24" fmla="*/ 2367 w 2851"/>
                <a:gd name="T25" fmla="*/ 168 h 2125"/>
                <a:gd name="T26" fmla="*/ 2469 w 2851"/>
                <a:gd name="T27" fmla="*/ 246 h 2125"/>
                <a:gd name="T28" fmla="*/ 2559 w 2851"/>
                <a:gd name="T29" fmla="*/ 330 h 2125"/>
                <a:gd name="T30" fmla="*/ 2652 w 2851"/>
                <a:gd name="T31" fmla="*/ 438 h 2125"/>
                <a:gd name="T32" fmla="*/ 2706 w 2851"/>
                <a:gd name="T33" fmla="*/ 519 h 2125"/>
                <a:gd name="T34" fmla="*/ 2742 w 2851"/>
                <a:gd name="T35" fmla="*/ 600 h 2125"/>
                <a:gd name="T36" fmla="*/ 2784 w 2851"/>
                <a:gd name="T37" fmla="*/ 696 h 2125"/>
                <a:gd name="T38" fmla="*/ 2820 w 2851"/>
                <a:gd name="T39" fmla="*/ 816 h 2125"/>
                <a:gd name="T40" fmla="*/ 2835 w 2851"/>
                <a:gd name="T41" fmla="*/ 888 h 2125"/>
                <a:gd name="T42" fmla="*/ 2844 w 2851"/>
                <a:gd name="T43" fmla="*/ 972 h 2125"/>
                <a:gd name="T44" fmla="*/ 2850 w 2851"/>
                <a:gd name="T45" fmla="*/ 1083 h 2125"/>
                <a:gd name="T46" fmla="*/ 2844 w 2851"/>
                <a:gd name="T47" fmla="*/ 1239 h 2125"/>
                <a:gd name="T48" fmla="*/ 2841 w 2851"/>
                <a:gd name="T49" fmla="*/ 1341 h 2125"/>
                <a:gd name="T50" fmla="*/ 2832 w 2851"/>
                <a:gd name="T51" fmla="*/ 1464 h 2125"/>
                <a:gd name="T52" fmla="*/ 2820 w 2851"/>
                <a:gd name="T53" fmla="*/ 1629 h 2125"/>
                <a:gd name="T54" fmla="*/ 2805 w 2851"/>
                <a:gd name="T55" fmla="*/ 1764 h 2125"/>
                <a:gd name="T56" fmla="*/ 2793 w 2851"/>
                <a:gd name="T57" fmla="*/ 1839 h 2125"/>
                <a:gd name="T58" fmla="*/ 2781 w 2851"/>
                <a:gd name="T59" fmla="*/ 1920 h 2125"/>
                <a:gd name="T60" fmla="*/ 2766 w 2851"/>
                <a:gd name="T61" fmla="*/ 1998 h 2125"/>
                <a:gd name="T62" fmla="*/ 2751 w 2851"/>
                <a:gd name="T63" fmla="*/ 2064 h 2125"/>
                <a:gd name="T64" fmla="*/ 2736 w 2851"/>
                <a:gd name="T65" fmla="*/ 2112 h 2125"/>
                <a:gd name="T66" fmla="*/ 2733 w 2851"/>
                <a:gd name="T67" fmla="*/ 2124 h 2125"/>
                <a:gd name="T68" fmla="*/ 0 w 2851"/>
                <a:gd name="T69" fmla="*/ 2124 h 2125"/>
                <a:gd name="T70" fmla="*/ 0 w 2851"/>
                <a:gd name="T71" fmla="*/ 1335 h 2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851" h="2125">
                  <a:moveTo>
                    <a:pt x="0" y="1335"/>
                  </a:moveTo>
                  <a:lnTo>
                    <a:pt x="984" y="378"/>
                  </a:lnTo>
                  <a:lnTo>
                    <a:pt x="1083" y="276"/>
                  </a:lnTo>
                  <a:lnTo>
                    <a:pt x="1224" y="168"/>
                  </a:lnTo>
                  <a:lnTo>
                    <a:pt x="1383" y="84"/>
                  </a:lnTo>
                  <a:lnTo>
                    <a:pt x="1500" y="39"/>
                  </a:lnTo>
                  <a:lnTo>
                    <a:pt x="1578" y="24"/>
                  </a:lnTo>
                  <a:lnTo>
                    <a:pt x="1737" y="0"/>
                  </a:lnTo>
                  <a:lnTo>
                    <a:pt x="1866" y="0"/>
                  </a:lnTo>
                  <a:lnTo>
                    <a:pt x="1983" y="15"/>
                  </a:lnTo>
                  <a:lnTo>
                    <a:pt x="2130" y="54"/>
                  </a:lnTo>
                  <a:lnTo>
                    <a:pt x="2256" y="105"/>
                  </a:lnTo>
                  <a:lnTo>
                    <a:pt x="2367" y="168"/>
                  </a:lnTo>
                  <a:lnTo>
                    <a:pt x="2469" y="246"/>
                  </a:lnTo>
                  <a:lnTo>
                    <a:pt x="2559" y="330"/>
                  </a:lnTo>
                  <a:lnTo>
                    <a:pt x="2652" y="438"/>
                  </a:lnTo>
                  <a:lnTo>
                    <a:pt x="2706" y="519"/>
                  </a:lnTo>
                  <a:lnTo>
                    <a:pt x="2742" y="600"/>
                  </a:lnTo>
                  <a:lnTo>
                    <a:pt x="2784" y="696"/>
                  </a:lnTo>
                  <a:lnTo>
                    <a:pt x="2820" y="816"/>
                  </a:lnTo>
                  <a:lnTo>
                    <a:pt x="2835" y="888"/>
                  </a:lnTo>
                  <a:lnTo>
                    <a:pt x="2844" y="972"/>
                  </a:lnTo>
                  <a:lnTo>
                    <a:pt x="2850" y="1083"/>
                  </a:lnTo>
                  <a:lnTo>
                    <a:pt x="2844" y="1239"/>
                  </a:lnTo>
                  <a:lnTo>
                    <a:pt x="2841" y="1341"/>
                  </a:lnTo>
                  <a:lnTo>
                    <a:pt x="2832" y="1464"/>
                  </a:lnTo>
                  <a:lnTo>
                    <a:pt x="2820" y="1629"/>
                  </a:lnTo>
                  <a:lnTo>
                    <a:pt x="2805" y="1764"/>
                  </a:lnTo>
                  <a:lnTo>
                    <a:pt x="2793" y="1839"/>
                  </a:lnTo>
                  <a:lnTo>
                    <a:pt x="2781" y="1920"/>
                  </a:lnTo>
                  <a:lnTo>
                    <a:pt x="2766" y="1998"/>
                  </a:lnTo>
                  <a:lnTo>
                    <a:pt x="2751" y="2064"/>
                  </a:lnTo>
                  <a:lnTo>
                    <a:pt x="2736" y="2112"/>
                  </a:lnTo>
                  <a:lnTo>
                    <a:pt x="2733" y="2124"/>
                  </a:lnTo>
                  <a:lnTo>
                    <a:pt x="0" y="2124"/>
                  </a:lnTo>
                  <a:lnTo>
                    <a:pt x="0" y="1335"/>
                  </a:lnTo>
                </a:path>
              </a:pathLst>
            </a:custGeom>
            <a:pattFill prst="pct20">
              <a:fgClr>
                <a:schemeClr val="bg2"/>
              </a:fgClr>
              <a:bgClr>
                <a:srgbClr val="3399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4" name="Line 4"/>
            <p:cNvSpPr>
              <a:spLocks noChangeShapeType="1"/>
            </p:cNvSpPr>
            <p:nvPr/>
          </p:nvSpPr>
          <p:spPr bwMode="auto">
            <a:xfrm flipV="1">
              <a:off x="877" y="875"/>
              <a:ext cx="0" cy="25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877" y="3467"/>
              <a:ext cx="356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 flipV="1">
              <a:off x="877" y="1698"/>
              <a:ext cx="1020" cy="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7" name="Arc 7"/>
            <p:cNvSpPr>
              <a:spLocks/>
            </p:cNvSpPr>
            <p:nvPr/>
          </p:nvSpPr>
          <p:spPr bwMode="auto">
            <a:xfrm>
              <a:off x="1882" y="1338"/>
              <a:ext cx="1851" cy="1147"/>
            </a:xfrm>
            <a:custGeom>
              <a:avLst/>
              <a:gdLst>
                <a:gd name="G0" fmla="+- 16127 0 0"/>
                <a:gd name="G1" fmla="+- 21600 0 0"/>
                <a:gd name="G2" fmla="+- 21600 0 0"/>
                <a:gd name="T0" fmla="*/ 0 w 37727"/>
                <a:gd name="T1" fmla="*/ 7231 h 23352"/>
                <a:gd name="T2" fmla="*/ 37656 w 37727"/>
                <a:gd name="T3" fmla="*/ 23352 h 23352"/>
                <a:gd name="T4" fmla="*/ 16127 w 37727"/>
                <a:gd name="T5" fmla="*/ 21600 h 23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727" h="23352" fill="none" extrusionOk="0">
                  <a:moveTo>
                    <a:pt x="-1" y="7230"/>
                  </a:moveTo>
                  <a:cubicBezTo>
                    <a:pt x="4098" y="2630"/>
                    <a:pt x="9966" y="-1"/>
                    <a:pt x="16127" y="0"/>
                  </a:cubicBezTo>
                  <a:cubicBezTo>
                    <a:pt x="28056" y="0"/>
                    <a:pt x="37727" y="9670"/>
                    <a:pt x="37727" y="21600"/>
                  </a:cubicBezTo>
                  <a:cubicBezTo>
                    <a:pt x="37727" y="22184"/>
                    <a:pt x="37703" y="22769"/>
                    <a:pt x="37655" y="23351"/>
                  </a:cubicBezTo>
                </a:path>
                <a:path w="37727" h="23352" stroke="0" extrusionOk="0">
                  <a:moveTo>
                    <a:pt x="-1" y="7230"/>
                  </a:moveTo>
                  <a:cubicBezTo>
                    <a:pt x="4098" y="2630"/>
                    <a:pt x="9966" y="-1"/>
                    <a:pt x="16127" y="0"/>
                  </a:cubicBezTo>
                  <a:cubicBezTo>
                    <a:pt x="28056" y="0"/>
                    <a:pt x="37727" y="9670"/>
                    <a:pt x="37727" y="21600"/>
                  </a:cubicBezTo>
                  <a:cubicBezTo>
                    <a:pt x="37727" y="22184"/>
                    <a:pt x="37703" y="22769"/>
                    <a:pt x="37655" y="23351"/>
                  </a:cubicBezTo>
                  <a:lnTo>
                    <a:pt x="16127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8" name="Arc 8"/>
            <p:cNvSpPr>
              <a:spLocks/>
            </p:cNvSpPr>
            <p:nvPr/>
          </p:nvSpPr>
          <p:spPr bwMode="auto">
            <a:xfrm>
              <a:off x="3517" y="2225"/>
              <a:ext cx="216" cy="124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255 w 21255"/>
                <a:gd name="T1" fmla="*/ 3847 h 19359"/>
                <a:gd name="T2" fmla="*/ 9581 w 21255"/>
                <a:gd name="T3" fmla="*/ 19359 h 19359"/>
                <a:gd name="T4" fmla="*/ 0 w 21255"/>
                <a:gd name="T5" fmla="*/ 0 h 19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55" h="19359" fill="none" extrusionOk="0">
                  <a:moveTo>
                    <a:pt x="21254" y="3846"/>
                  </a:moveTo>
                  <a:cubicBezTo>
                    <a:pt x="20037" y="10573"/>
                    <a:pt x="15707" y="16326"/>
                    <a:pt x="9580" y="19358"/>
                  </a:cubicBezTo>
                </a:path>
                <a:path w="21255" h="19359" stroke="0" extrusionOk="0">
                  <a:moveTo>
                    <a:pt x="21254" y="3846"/>
                  </a:moveTo>
                  <a:cubicBezTo>
                    <a:pt x="20037" y="10573"/>
                    <a:pt x="15707" y="16326"/>
                    <a:pt x="9580" y="19358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>
              <a:off x="1466" y="1368"/>
              <a:ext cx="2539" cy="18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>
              <a:off x="1724" y="1218"/>
              <a:ext cx="2409" cy="17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>
              <a:off x="2045" y="1004"/>
              <a:ext cx="2238" cy="16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>
              <a:off x="2345" y="843"/>
              <a:ext cx="2034" cy="14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Rectangle 13"/>
            <p:cNvSpPr>
              <a:spLocks noChangeArrowheads="1"/>
            </p:cNvSpPr>
            <p:nvPr/>
          </p:nvSpPr>
          <p:spPr bwMode="auto">
            <a:xfrm>
              <a:off x="2045" y="2729"/>
              <a:ext cx="110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b="1"/>
                <a:t>Feasible Region</a:t>
              </a:r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 flipH="1">
              <a:off x="984" y="3189"/>
              <a:ext cx="407" cy="2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Rectangle 15"/>
            <p:cNvSpPr>
              <a:spLocks noChangeArrowheads="1"/>
            </p:cNvSpPr>
            <p:nvPr/>
          </p:nvSpPr>
          <p:spPr bwMode="auto">
            <a:xfrm>
              <a:off x="1392" y="3049"/>
              <a:ext cx="1574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A </a:t>
              </a:r>
            </a:p>
            <a:p>
              <a:pPr eaLnBrk="0" hangingPunct="0">
                <a:lnSpc>
                  <a:spcPct val="10000"/>
                </a:lnSpc>
                <a:spcBef>
                  <a:spcPct val="50000"/>
                </a:spcBef>
              </a:pPr>
              <a:r>
                <a:rPr lang="en-US" b="1"/>
                <a:t>(the starting point)</a:t>
              </a:r>
            </a:p>
          </p:txBody>
        </p:sp>
        <p:sp>
          <p:nvSpPr>
            <p:cNvPr id="10256" name="Line 16"/>
            <p:cNvSpPr>
              <a:spLocks noChangeShapeType="1"/>
            </p:cNvSpPr>
            <p:nvPr/>
          </p:nvSpPr>
          <p:spPr bwMode="auto">
            <a:xfrm flipV="1">
              <a:off x="888" y="1753"/>
              <a:ext cx="1018" cy="1703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7" name="Line 17"/>
            <p:cNvSpPr>
              <a:spLocks noChangeShapeType="1"/>
            </p:cNvSpPr>
            <p:nvPr/>
          </p:nvSpPr>
          <p:spPr bwMode="auto">
            <a:xfrm flipV="1">
              <a:off x="1970" y="1561"/>
              <a:ext cx="161" cy="128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V="1">
              <a:off x="2194" y="1411"/>
              <a:ext cx="322" cy="107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>
              <a:off x="2623" y="1400"/>
              <a:ext cx="557" cy="139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0" name="Rectangle 20"/>
            <p:cNvSpPr>
              <a:spLocks noChangeArrowheads="1"/>
            </p:cNvSpPr>
            <p:nvPr/>
          </p:nvSpPr>
          <p:spPr bwMode="auto">
            <a:xfrm>
              <a:off x="1498" y="113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B</a:t>
              </a:r>
            </a:p>
          </p:txBody>
        </p:sp>
        <p:sp>
          <p:nvSpPr>
            <p:cNvPr id="10261" name="Rectangle 21"/>
            <p:cNvSpPr>
              <a:spLocks noChangeArrowheads="1"/>
            </p:cNvSpPr>
            <p:nvPr/>
          </p:nvSpPr>
          <p:spPr bwMode="auto">
            <a:xfrm>
              <a:off x="1754" y="916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C</a:t>
              </a:r>
            </a:p>
          </p:txBody>
        </p:sp>
        <p:sp>
          <p:nvSpPr>
            <p:cNvPr id="10262" name="Rectangle 22"/>
            <p:cNvSpPr>
              <a:spLocks noChangeArrowheads="1"/>
            </p:cNvSpPr>
            <p:nvPr/>
          </p:nvSpPr>
          <p:spPr bwMode="auto">
            <a:xfrm>
              <a:off x="2751" y="85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D</a:t>
              </a:r>
            </a:p>
          </p:txBody>
        </p:sp>
        <p:sp>
          <p:nvSpPr>
            <p:cNvPr id="10263" name="Rectangle 23"/>
            <p:cNvSpPr>
              <a:spLocks noChangeArrowheads="1"/>
            </p:cNvSpPr>
            <p:nvPr/>
          </p:nvSpPr>
          <p:spPr bwMode="auto">
            <a:xfrm>
              <a:off x="3683" y="1120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E</a:t>
              </a:r>
            </a:p>
          </p:txBody>
        </p:sp>
        <p:sp>
          <p:nvSpPr>
            <p:cNvPr id="10264" name="Line 24"/>
            <p:cNvSpPr>
              <a:spLocks noChangeShapeType="1"/>
            </p:cNvSpPr>
            <p:nvPr/>
          </p:nvSpPr>
          <p:spPr bwMode="auto">
            <a:xfrm>
              <a:off x="1638" y="1314"/>
              <a:ext cx="257" cy="3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5" name="Line 25"/>
            <p:cNvSpPr>
              <a:spLocks noChangeShapeType="1"/>
            </p:cNvSpPr>
            <p:nvPr/>
          </p:nvSpPr>
          <p:spPr bwMode="auto">
            <a:xfrm>
              <a:off x="1906" y="1143"/>
              <a:ext cx="214" cy="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6" name="Line 26"/>
            <p:cNvSpPr>
              <a:spLocks noChangeShapeType="1"/>
            </p:cNvSpPr>
            <p:nvPr/>
          </p:nvSpPr>
          <p:spPr bwMode="auto">
            <a:xfrm flipH="1">
              <a:off x="2548" y="993"/>
              <a:ext cx="225" cy="3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7" name="Line 27"/>
            <p:cNvSpPr>
              <a:spLocks noChangeShapeType="1"/>
            </p:cNvSpPr>
            <p:nvPr/>
          </p:nvSpPr>
          <p:spPr bwMode="auto">
            <a:xfrm flipH="1">
              <a:off x="3286" y="1239"/>
              <a:ext cx="377" cy="2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8" name="Rectangle 28"/>
            <p:cNvSpPr>
              <a:spLocks noChangeArrowheads="1"/>
            </p:cNvSpPr>
            <p:nvPr/>
          </p:nvSpPr>
          <p:spPr bwMode="auto">
            <a:xfrm>
              <a:off x="4037" y="1421"/>
              <a:ext cx="161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400"/>
                <a:t>objective function level curves</a:t>
              </a:r>
            </a:p>
          </p:txBody>
        </p:sp>
        <p:sp>
          <p:nvSpPr>
            <p:cNvPr id="10269" name="Line 29"/>
            <p:cNvSpPr>
              <a:spLocks noChangeShapeType="1"/>
            </p:cNvSpPr>
            <p:nvPr/>
          </p:nvSpPr>
          <p:spPr bwMode="auto">
            <a:xfrm flipH="1">
              <a:off x="3959" y="1755"/>
              <a:ext cx="291" cy="13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0" name="Line 30"/>
            <p:cNvSpPr>
              <a:spLocks noChangeShapeType="1"/>
            </p:cNvSpPr>
            <p:nvPr/>
          </p:nvSpPr>
          <p:spPr bwMode="auto">
            <a:xfrm flipH="1">
              <a:off x="3929" y="1758"/>
              <a:ext cx="321" cy="9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Line 31"/>
            <p:cNvSpPr>
              <a:spLocks noChangeShapeType="1"/>
            </p:cNvSpPr>
            <p:nvPr/>
          </p:nvSpPr>
          <p:spPr bwMode="auto">
            <a:xfrm flipH="1">
              <a:off x="3962" y="1755"/>
              <a:ext cx="288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2" name="Line 32"/>
            <p:cNvSpPr>
              <a:spLocks noChangeShapeType="1"/>
            </p:cNvSpPr>
            <p:nvPr/>
          </p:nvSpPr>
          <p:spPr bwMode="auto">
            <a:xfrm flipH="1">
              <a:off x="4005" y="1755"/>
              <a:ext cx="245" cy="2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Rectangle 33"/>
            <p:cNvSpPr>
              <a:spLocks noChangeArrowheads="1"/>
            </p:cNvSpPr>
            <p:nvPr/>
          </p:nvSpPr>
          <p:spPr bwMode="auto">
            <a:xfrm>
              <a:off x="4229" y="3585"/>
              <a:ext cx="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1</a:t>
              </a:r>
            </a:p>
          </p:txBody>
        </p:sp>
        <p:sp>
          <p:nvSpPr>
            <p:cNvPr id="10274" name="Rectangle 34"/>
            <p:cNvSpPr>
              <a:spLocks noChangeArrowheads="1"/>
            </p:cNvSpPr>
            <p:nvPr/>
          </p:nvSpPr>
          <p:spPr bwMode="auto">
            <a:xfrm>
              <a:off x="490" y="844"/>
              <a:ext cx="5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aseline="-25000"/>
                <a:t>2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722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4000" i="1">
                <a:solidFill>
                  <a:schemeClr val="hlink"/>
                </a:solidFill>
              </a:rPr>
              <a:t>Local vs. Global Optimal Solutions</a:t>
            </a:r>
          </a:p>
        </p:txBody>
      </p:sp>
      <p:sp>
        <p:nvSpPr>
          <p:cNvPr id="11267" name="Freeform 3" descr="20%"/>
          <p:cNvSpPr>
            <a:spLocks/>
          </p:cNvSpPr>
          <p:nvPr/>
        </p:nvSpPr>
        <p:spPr bwMode="auto">
          <a:xfrm>
            <a:off x="1381125" y="3027363"/>
            <a:ext cx="4419600" cy="2771775"/>
          </a:xfrm>
          <a:custGeom>
            <a:avLst/>
            <a:gdLst>
              <a:gd name="T0" fmla="*/ 0 w 2784"/>
              <a:gd name="T1" fmla="*/ 336 h 1746"/>
              <a:gd name="T2" fmla="*/ 108 w 2784"/>
              <a:gd name="T3" fmla="*/ 288 h 1746"/>
              <a:gd name="T4" fmla="*/ 267 w 2784"/>
              <a:gd name="T5" fmla="*/ 225 h 1746"/>
              <a:gd name="T6" fmla="*/ 417 w 2784"/>
              <a:gd name="T7" fmla="*/ 171 h 1746"/>
              <a:gd name="T8" fmla="*/ 564 w 2784"/>
              <a:gd name="T9" fmla="*/ 123 h 1746"/>
              <a:gd name="T10" fmla="*/ 699 w 2784"/>
              <a:gd name="T11" fmla="*/ 84 h 1746"/>
              <a:gd name="T12" fmla="*/ 837 w 2784"/>
              <a:gd name="T13" fmla="*/ 51 h 1746"/>
              <a:gd name="T14" fmla="*/ 936 w 2784"/>
              <a:gd name="T15" fmla="*/ 33 h 1746"/>
              <a:gd name="T16" fmla="*/ 1062 w 2784"/>
              <a:gd name="T17" fmla="*/ 15 h 1746"/>
              <a:gd name="T18" fmla="*/ 1152 w 2784"/>
              <a:gd name="T19" fmla="*/ 9 h 1746"/>
              <a:gd name="T20" fmla="*/ 1320 w 2784"/>
              <a:gd name="T21" fmla="*/ 0 h 1746"/>
              <a:gd name="T22" fmla="*/ 1441 w 2784"/>
              <a:gd name="T23" fmla="*/ 3 h 1746"/>
              <a:gd name="T24" fmla="*/ 1567 w 2784"/>
              <a:gd name="T25" fmla="*/ 27 h 1746"/>
              <a:gd name="T26" fmla="*/ 1639 w 2784"/>
              <a:gd name="T27" fmla="*/ 60 h 1746"/>
              <a:gd name="T28" fmla="*/ 1720 w 2784"/>
              <a:gd name="T29" fmla="*/ 105 h 1746"/>
              <a:gd name="T30" fmla="*/ 1765 w 2784"/>
              <a:gd name="T31" fmla="*/ 147 h 1746"/>
              <a:gd name="T32" fmla="*/ 1801 w 2784"/>
              <a:gd name="T33" fmla="*/ 210 h 1746"/>
              <a:gd name="T34" fmla="*/ 1822 w 2784"/>
              <a:gd name="T35" fmla="*/ 300 h 1746"/>
              <a:gd name="T36" fmla="*/ 1819 w 2784"/>
              <a:gd name="T37" fmla="*/ 375 h 1746"/>
              <a:gd name="T38" fmla="*/ 1780 w 2784"/>
              <a:gd name="T39" fmla="*/ 495 h 1746"/>
              <a:gd name="T40" fmla="*/ 1693 w 2784"/>
              <a:gd name="T41" fmla="*/ 642 h 1746"/>
              <a:gd name="T42" fmla="*/ 1618 w 2784"/>
              <a:gd name="T43" fmla="*/ 750 h 1746"/>
              <a:gd name="T44" fmla="*/ 1597 w 2784"/>
              <a:gd name="T45" fmla="*/ 795 h 1746"/>
              <a:gd name="T46" fmla="*/ 1579 w 2784"/>
              <a:gd name="T47" fmla="*/ 852 h 1746"/>
              <a:gd name="T48" fmla="*/ 1579 w 2784"/>
              <a:gd name="T49" fmla="*/ 889 h 1746"/>
              <a:gd name="T50" fmla="*/ 1591 w 2784"/>
              <a:gd name="T51" fmla="*/ 925 h 1746"/>
              <a:gd name="T52" fmla="*/ 1609 w 2784"/>
              <a:gd name="T53" fmla="*/ 940 h 1746"/>
              <a:gd name="T54" fmla="*/ 1627 w 2784"/>
              <a:gd name="T55" fmla="*/ 952 h 1746"/>
              <a:gd name="T56" fmla="*/ 1672 w 2784"/>
              <a:gd name="T57" fmla="*/ 958 h 1746"/>
              <a:gd name="T58" fmla="*/ 1738 w 2784"/>
              <a:gd name="T59" fmla="*/ 943 h 1746"/>
              <a:gd name="T60" fmla="*/ 1831 w 2784"/>
              <a:gd name="T61" fmla="*/ 892 h 1746"/>
              <a:gd name="T62" fmla="*/ 1903 w 2784"/>
              <a:gd name="T63" fmla="*/ 834 h 1746"/>
              <a:gd name="T64" fmla="*/ 2011 w 2784"/>
              <a:gd name="T65" fmla="*/ 762 h 1746"/>
              <a:gd name="T66" fmla="*/ 2113 w 2784"/>
              <a:gd name="T67" fmla="*/ 708 h 1746"/>
              <a:gd name="T68" fmla="*/ 2233 w 2784"/>
              <a:gd name="T69" fmla="*/ 666 h 1746"/>
              <a:gd name="T70" fmla="*/ 2272 w 2784"/>
              <a:gd name="T71" fmla="*/ 651 h 1746"/>
              <a:gd name="T72" fmla="*/ 2380 w 2784"/>
              <a:gd name="T73" fmla="*/ 627 h 1746"/>
              <a:gd name="T74" fmla="*/ 2485 w 2784"/>
              <a:gd name="T75" fmla="*/ 630 h 1746"/>
              <a:gd name="T76" fmla="*/ 2557 w 2784"/>
              <a:gd name="T77" fmla="*/ 636 h 1746"/>
              <a:gd name="T78" fmla="*/ 2632 w 2784"/>
              <a:gd name="T79" fmla="*/ 657 h 1746"/>
              <a:gd name="T80" fmla="*/ 2686 w 2784"/>
              <a:gd name="T81" fmla="*/ 696 h 1746"/>
              <a:gd name="T82" fmla="*/ 2737 w 2784"/>
              <a:gd name="T83" fmla="*/ 750 h 1746"/>
              <a:gd name="T84" fmla="*/ 2761 w 2784"/>
              <a:gd name="T85" fmla="*/ 798 h 1746"/>
              <a:gd name="T86" fmla="*/ 2776 w 2784"/>
              <a:gd name="T87" fmla="*/ 858 h 1746"/>
              <a:gd name="T88" fmla="*/ 2783 w 2784"/>
              <a:gd name="T89" fmla="*/ 910 h 1746"/>
              <a:gd name="T90" fmla="*/ 2779 w 2784"/>
              <a:gd name="T91" fmla="*/ 955 h 1746"/>
              <a:gd name="T92" fmla="*/ 2767 w 2784"/>
              <a:gd name="T93" fmla="*/ 1021 h 1746"/>
              <a:gd name="T94" fmla="*/ 2743 w 2784"/>
              <a:gd name="T95" fmla="*/ 1096 h 1746"/>
              <a:gd name="T96" fmla="*/ 2695 w 2784"/>
              <a:gd name="T97" fmla="*/ 1201 h 1746"/>
              <a:gd name="T98" fmla="*/ 2575 w 2784"/>
              <a:gd name="T99" fmla="*/ 1360 h 1746"/>
              <a:gd name="T100" fmla="*/ 2284 w 2784"/>
              <a:gd name="T101" fmla="*/ 1741 h 1746"/>
              <a:gd name="T102" fmla="*/ 6 w 2784"/>
              <a:gd name="T103" fmla="*/ 1745 h 1746"/>
              <a:gd name="T104" fmla="*/ 0 w 2784"/>
              <a:gd name="T105" fmla="*/ 336 h 17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84" h="1746">
                <a:moveTo>
                  <a:pt x="0" y="336"/>
                </a:moveTo>
                <a:lnTo>
                  <a:pt x="108" y="288"/>
                </a:lnTo>
                <a:lnTo>
                  <a:pt x="267" y="225"/>
                </a:lnTo>
                <a:lnTo>
                  <a:pt x="417" y="171"/>
                </a:lnTo>
                <a:lnTo>
                  <a:pt x="564" y="123"/>
                </a:lnTo>
                <a:lnTo>
                  <a:pt x="699" y="84"/>
                </a:lnTo>
                <a:lnTo>
                  <a:pt x="837" y="51"/>
                </a:lnTo>
                <a:lnTo>
                  <a:pt x="936" y="33"/>
                </a:lnTo>
                <a:lnTo>
                  <a:pt x="1062" y="15"/>
                </a:lnTo>
                <a:lnTo>
                  <a:pt x="1152" y="9"/>
                </a:lnTo>
                <a:lnTo>
                  <a:pt x="1320" y="0"/>
                </a:lnTo>
                <a:lnTo>
                  <a:pt x="1441" y="3"/>
                </a:lnTo>
                <a:lnTo>
                  <a:pt x="1567" y="27"/>
                </a:lnTo>
                <a:lnTo>
                  <a:pt x="1639" y="60"/>
                </a:lnTo>
                <a:lnTo>
                  <a:pt x="1720" y="105"/>
                </a:lnTo>
                <a:lnTo>
                  <a:pt x="1765" y="147"/>
                </a:lnTo>
                <a:lnTo>
                  <a:pt x="1801" y="210"/>
                </a:lnTo>
                <a:lnTo>
                  <a:pt x="1822" y="300"/>
                </a:lnTo>
                <a:lnTo>
                  <a:pt x="1819" y="375"/>
                </a:lnTo>
                <a:lnTo>
                  <a:pt x="1780" y="495"/>
                </a:lnTo>
                <a:lnTo>
                  <a:pt x="1693" y="642"/>
                </a:lnTo>
                <a:lnTo>
                  <a:pt x="1618" y="750"/>
                </a:lnTo>
                <a:lnTo>
                  <a:pt x="1597" y="795"/>
                </a:lnTo>
                <a:lnTo>
                  <a:pt x="1579" y="852"/>
                </a:lnTo>
                <a:lnTo>
                  <a:pt x="1579" y="889"/>
                </a:lnTo>
                <a:lnTo>
                  <a:pt x="1591" y="925"/>
                </a:lnTo>
                <a:lnTo>
                  <a:pt x="1609" y="940"/>
                </a:lnTo>
                <a:lnTo>
                  <a:pt x="1627" y="952"/>
                </a:lnTo>
                <a:lnTo>
                  <a:pt x="1672" y="958"/>
                </a:lnTo>
                <a:lnTo>
                  <a:pt x="1738" y="943"/>
                </a:lnTo>
                <a:lnTo>
                  <a:pt x="1831" y="892"/>
                </a:lnTo>
                <a:lnTo>
                  <a:pt x="1903" y="834"/>
                </a:lnTo>
                <a:lnTo>
                  <a:pt x="2011" y="762"/>
                </a:lnTo>
                <a:lnTo>
                  <a:pt x="2113" y="708"/>
                </a:lnTo>
                <a:lnTo>
                  <a:pt x="2233" y="666"/>
                </a:lnTo>
                <a:lnTo>
                  <a:pt x="2272" y="651"/>
                </a:lnTo>
                <a:lnTo>
                  <a:pt x="2380" y="627"/>
                </a:lnTo>
                <a:lnTo>
                  <a:pt x="2485" y="630"/>
                </a:lnTo>
                <a:lnTo>
                  <a:pt x="2557" y="636"/>
                </a:lnTo>
                <a:lnTo>
                  <a:pt x="2632" y="657"/>
                </a:lnTo>
                <a:lnTo>
                  <a:pt x="2686" y="696"/>
                </a:lnTo>
                <a:lnTo>
                  <a:pt x="2737" y="750"/>
                </a:lnTo>
                <a:lnTo>
                  <a:pt x="2761" y="798"/>
                </a:lnTo>
                <a:lnTo>
                  <a:pt x="2776" y="858"/>
                </a:lnTo>
                <a:lnTo>
                  <a:pt x="2783" y="910"/>
                </a:lnTo>
                <a:lnTo>
                  <a:pt x="2779" y="955"/>
                </a:lnTo>
                <a:lnTo>
                  <a:pt x="2767" y="1021"/>
                </a:lnTo>
                <a:lnTo>
                  <a:pt x="2743" y="1096"/>
                </a:lnTo>
                <a:lnTo>
                  <a:pt x="2695" y="1201"/>
                </a:lnTo>
                <a:lnTo>
                  <a:pt x="2575" y="1360"/>
                </a:lnTo>
                <a:lnTo>
                  <a:pt x="2284" y="1741"/>
                </a:lnTo>
                <a:lnTo>
                  <a:pt x="6" y="1745"/>
                </a:lnTo>
                <a:lnTo>
                  <a:pt x="0" y="336"/>
                </a:lnTo>
              </a:path>
            </a:pathLst>
          </a:custGeom>
          <a:pattFill prst="pct20">
            <a:fgClr>
              <a:schemeClr val="bg2"/>
            </a:fgClr>
            <a:bgClr>
              <a:srgbClr val="3399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70" name="Group 6"/>
          <p:cNvGrpSpPr>
            <a:grpSpLocks/>
          </p:cNvGrpSpPr>
          <p:nvPr/>
        </p:nvGrpSpPr>
        <p:grpSpPr bwMode="auto">
          <a:xfrm>
            <a:off x="1392238" y="1684338"/>
            <a:ext cx="5664200" cy="4114800"/>
            <a:chOff x="877" y="961"/>
            <a:chExt cx="3568" cy="2592"/>
          </a:xfrm>
        </p:grpSpPr>
        <p:sp>
          <p:nvSpPr>
            <p:cNvPr id="11268" name="Line 4"/>
            <p:cNvSpPr>
              <a:spLocks noChangeShapeType="1"/>
            </p:cNvSpPr>
            <p:nvPr/>
          </p:nvSpPr>
          <p:spPr bwMode="auto">
            <a:xfrm flipV="1">
              <a:off x="877" y="961"/>
              <a:ext cx="0" cy="25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9" name="Line 5"/>
            <p:cNvSpPr>
              <a:spLocks noChangeShapeType="1"/>
            </p:cNvSpPr>
            <p:nvPr/>
          </p:nvSpPr>
          <p:spPr bwMode="auto">
            <a:xfrm>
              <a:off x="877" y="3553"/>
              <a:ext cx="356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1" name="Arc 7"/>
          <p:cNvSpPr>
            <a:spLocks/>
          </p:cNvSpPr>
          <p:nvPr/>
        </p:nvSpPr>
        <p:spPr bwMode="auto">
          <a:xfrm rot="20100000">
            <a:off x="1604963" y="2911475"/>
            <a:ext cx="2668587" cy="1592263"/>
          </a:xfrm>
          <a:custGeom>
            <a:avLst/>
            <a:gdLst>
              <a:gd name="G0" fmla="+- 13 0 0"/>
              <a:gd name="G1" fmla="+- 21600 0 0"/>
              <a:gd name="G2" fmla="+- 21600 0 0"/>
              <a:gd name="T0" fmla="*/ 0 w 21613"/>
              <a:gd name="T1" fmla="*/ 0 h 33610"/>
              <a:gd name="T2" fmla="*/ 17966 w 21613"/>
              <a:gd name="T3" fmla="*/ 33610 h 33610"/>
              <a:gd name="T4" fmla="*/ 13 w 21613"/>
              <a:gd name="T5" fmla="*/ 21600 h 33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13" h="33610" fill="none" extrusionOk="0">
                <a:moveTo>
                  <a:pt x="0" y="0"/>
                </a:moveTo>
                <a:cubicBezTo>
                  <a:pt x="4" y="0"/>
                  <a:pt x="8" y="-1"/>
                  <a:pt x="13" y="0"/>
                </a:cubicBezTo>
                <a:cubicBezTo>
                  <a:pt x="11942" y="0"/>
                  <a:pt x="21613" y="9670"/>
                  <a:pt x="21613" y="21600"/>
                </a:cubicBezTo>
                <a:cubicBezTo>
                  <a:pt x="21613" y="25876"/>
                  <a:pt x="20343" y="30055"/>
                  <a:pt x="17966" y="33610"/>
                </a:cubicBezTo>
              </a:path>
              <a:path w="21613" h="33610" stroke="0" extrusionOk="0">
                <a:moveTo>
                  <a:pt x="0" y="0"/>
                </a:moveTo>
                <a:cubicBezTo>
                  <a:pt x="4" y="0"/>
                  <a:pt x="8" y="-1"/>
                  <a:pt x="13" y="0"/>
                </a:cubicBezTo>
                <a:cubicBezTo>
                  <a:pt x="11942" y="0"/>
                  <a:pt x="21613" y="9670"/>
                  <a:pt x="21613" y="21600"/>
                </a:cubicBezTo>
                <a:cubicBezTo>
                  <a:pt x="21613" y="25876"/>
                  <a:pt x="20343" y="30055"/>
                  <a:pt x="17966" y="33610"/>
                </a:cubicBezTo>
                <a:lnTo>
                  <a:pt x="13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Arc 8"/>
          <p:cNvSpPr>
            <a:spLocks/>
          </p:cNvSpPr>
          <p:nvPr/>
        </p:nvSpPr>
        <p:spPr bwMode="auto">
          <a:xfrm rot="18900000">
            <a:off x="3812580" y="4068068"/>
            <a:ext cx="669925" cy="438350"/>
          </a:xfrm>
          <a:custGeom>
            <a:avLst/>
            <a:gdLst>
              <a:gd name="G0" fmla="+- 21600 0 0"/>
              <a:gd name="G1" fmla="+- 20406 0 0"/>
              <a:gd name="G2" fmla="+- 21600 0 0"/>
              <a:gd name="T0" fmla="*/ 13714 w 21600"/>
              <a:gd name="T1" fmla="*/ 40515 h 40515"/>
              <a:gd name="T2" fmla="*/ 14519 w 21600"/>
              <a:gd name="T3" fmla="*/ 0 h 40515"/>
              <a:gd name="T4" fmla="*/ 21600 w 21600"/>
              <a:gd name="T5" fmla="*/ 20406 h 40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0515" fill="none" extrusionOk="0">
                <a:moveTo>
                  <a:pt x="13714" y="40514"/>
                </a:moveTo>
                <a:cubicBezTo>
                  <a:pt x="5441" y="37270"/>
                  <a:pt x="0" y="29291"/>
                  <a:pt x="0" y="20406"/>
                </a:cubicBezTo>
                <a:cubicBezTo>
                  <a:pt x="-1" y="11206"/>
                  <a:pt x="5827" y="3015"/>
                  <a:pt x="14518" y="-1"/>
                </a:cubicBezTo>
              </a:path>
              <a:path w="21600" h="40515" stroke="0" extrusionOk="0">
                <a:moveTo>
                  <a:pt x="13714" y="40514"/>
                </a:moveTo>
                <a:cubicBezTo>
                  <a:pt x="5441" y="37270"/>
                  <a:pt x="0" y="29291"/>
                  <a:pt x="0" y="20406"/>
                </a:cubicBezTo>
                <a:cubicBezTo>
                  <a:pt x="-1" y="11206"/>
                  <a:pt x="5827" y="3015"/>
                  <a:pt x="14518" y="-1"/>
                </a:cubicBezTo>
                <a:lnTo>
                  <a:pt x="21600" y="20406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Arc 9"/>
          <p:cNvSpPr>
            <a:spLocks/>
          </p:cNvSpPr>
          <p:nvPr/>
        </p:nvSpPr>
        <p:spPr bwMode="auto">
          <a:xfrm rot="19380000">
            <a:off x="4618038" y="3894138"/>
            <a:ext cx="1193800" cy="1252538"/>
          </a:xfrm>
          <a:custGeom>
            <a:avLst/>
            <a:gdLst>
              <a:gd name="G0" fmla="+- 0 0 0"/>
              <a:gd name="G1" fmla="+- 21599 0 0"/>
              <a:gd name="G2" fmla="+- 21600 0 0"/>
              <a:gd name="T0" fmla="*/ 172 w 21600"/>
              <a:gd name="T1" fmla="*/ 0 h 40075"/>
              <a:gd name="T2" fmla="*/ 11190 w 21600"/>
              <a:gd name="T3" fmla="*/ 40075 h 40075"/>
              <a:gd name="T4" fmla="*/ 0 w 21600"/>
              <a:gd name="T5" fmla="*/ 21599 h 400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0075" fill="none" extrusionOk="0">
                <a:moveTo>
                  <a:pt x="172" y="-1"/>
                </a:moveTo>
                <a:cubicBezTo>
                  <a:pt x="12033" y="94"/>
                  <a:pt x="21600" y="9736"/>
                  <a:pt x="21600" y="21599"/>
                </a:cubicBezTo>
                <a:cubicBezTo>
                  <a:pt x="21600" y="29154"/>
                  <a:pt x="17652" y="36160"/>
                  <a:pt x="11189" y="40074"/>
                </a:cubicBezTo>
              </a:path>
              <a:path w="21600" h="40075" stroke="0" extrusionOk="0">
                <a:moveTo>
                  <a:pt x="172" y="-1"/>
                </a:moveTo>
                <a:cubicBezTo>
                  <a:pt x="12033" y="94"/>
                  <a:pt x="21600" y="9736"/>
                  <a:pt x="21600" y="21599"/>
                </a:cubicBezTo>
                <a:cubicBezTo>
                  <a:pt x="21600" y="29154"/>
                  <a:pt x="17652" y="36160"/>
                  <a:pt x="11189" y="40074"/>
                </a:cubicBez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 flipH="1">
            <a:off x="5014913" y="4999038"/>
            <a:ext cx="593725" cy="782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 flipV="1">
            <a:off x="1460500" y="4114800"/>
            <a:ext cx="2482850" cy="16160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3619500" y="2363788"/>
            <a:ext cx="1428750" cy="2295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5014913" y="3060700"/>
            <a:ext cx="1477962" cy="2327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 flipV="1">
            <a:off x="3959225" y="3349625"/>
            <a:ext cx="222250" cy="765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 flipV="1">
            <a:off x="2514600" y="4144963"/>
            <a:ext cx="2400300" cy="1568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V="1">
            <a:off x="4960938" y="4083050"/>
            <a:ext cx="411162" cy="603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5400675" y="4079875"/>
            <a:ext cx="285750" cy="160338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1528763" y="4745038"/>
            <a:ext cx="27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</a:t>
            </a:r>
          </a:p>
        </p:txBody>
      </p:sp>
      <p:sp>
        <p:nvSpPr>
          <p:cNvPr id="11283" name="Line 19"/>
          <p:cNvSpPr>
            <a:spLocks noChangeShapeType="1"/>
          </p:cNvSpPr>
          <p:nvPr/>
        </p:nvSpPr>
        <p:spPr bwMode="auto">
          <a:xfrm flipH="1">
            <a:off x="1476375" y="5049838"/>
            <a:ext cx="204787" cy="595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4" name="Rectangle 20"/>
          <p:cNvSpPr>
            <a:spLocks noChangeArrowheads="1"/>
          </p:cNvSpPr>
          <p:nvPr/>
        </p:nvSpPr>
        <p:spPr bwMode="auto">
          <a:xfrm>
            <a:off x="4435475" y="2720975"/>
            <a:ext cx="27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C</a:t>
            </a:r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 flipH="1">
            <a:off x="4248150" y="3009900"/>
            <a:ext cx="204787" cy="287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 flipH="1">
            <a:off x="4029075" y="4181475"/>
            <a:ext cx="2714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4298950" y="3962400"/>
            <a:ext cx="27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B</a:t>
            </a:r>
          </a:p>
        </p:txBody>
      </p:sp>
      <p:sp>
        <p:nvSpPr>
          <p:cNvPr id="11288" name="Rectangle 24"/>
          <p:cNvSpPr>
            <a:spLocks noChangeArrowheads="1"/>
          </p:cNvSpPr>
          <p:nvPr/>
        </p:nvSpPr>
        <p:spPr bwMode="auto">
          <a:xfrm>
            <a:off x="4265613" y="2209800"/>
            <a:ext cx="29575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Local optimal solution</a:t>
            </a:r>
          </a:p>
        </p:txBody>
      </p:sp>
      <p:sp>
        <p:nvSpPr>
          <p:cNvPr id="11289" name="Line 25"/>
          <p:cNvSpPr>
            <a:spLocks noChangeShapeType="1"/>
          </p:cNvSpPr>
          <p:nvPr/>
        </p:nvSpPr>
        <p:spPr bwMode="auto">
          <a:xfrm flipH="1">
            <a:off x="4197350" y="2551113"/>
            <a:ext cx="273050" cy="611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0" name="Rectangle 26"/>
          <p:cNvSpPr>
            <a:spLocks noChangeArrowheads="1"/>
          </p:cNvSpPr>
          <p:nvPr/>
        </p:nvSpPr>
        <p:spPr bwMode="auto">
          <a:xfrm>
            <a:off x="1597025" y="3671888"/>
            <a:ext cx="2024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Feasible Region</a:t>
            </a:r>
          </a:p>
        </p:txBody>
      </p:sp>
      <p:sp>
        <p:nvSpPr>
          <p:cNvPr id="11291" name="Rectangle 27"/>
          <p:cNvSpPr>
            <a:spLocks noChangeArrowheads="1"/>
          </p:cNvSpPr>
          <p:nvPr/>
        </p:nvSpPr>
        <p:spPr bwMode="auto">
          <a:xfrm>
            <a:off x="2582863" y="5084763"/>
            <a:ext cx="27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D</a:t>
            </a:r>
          </a:p>
        </p:txBody>
      </p:sp>
      <p:sp>
        <p:nvSpPr>
          <p:cNvPr id="11292" name="Line 28"/>
          <p:cNvSpPr>
            <a:spLocks noChangeShapeType="1"/>
          </p:cNvSpPr>
          <p:nvPr/>
        </p:nvSpPr>
        <p:spPr bwMode="auto">
          <a:xfrm flipH="1">
            <a:off x="2479675" y="5356225"/>
            <a:ext cx="103187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3" name="Rectangle 29"/>
          <p:cNvSpPr>
            <a:spLocks noChangeArrowheads="1"/>
          </p:cNvSpPr>
          <p:nvPr/>
        </p:nvSpPr>
        <p:spPr bwMode="auto">
          <a:xfrm>
            <a:off x="4775200" y="3451225"/>
            <a:ext cx="27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E</a:t>
            </a:r>
          </a:p>
        </p:txBody>
      </p:sp>
      <p:sp>
        <p:nvSpPr>
          <p:cNvPr id="11294" name="Line 30"/>
          <p:cNvSpPr>
            <a:spLocks noChangeShapeType="1"/>
          </p:cNvSpPr>
          <p:nvPr/>
        </p:nvSpPr>
        <p:spPr bwMode="auto">
          <a:xfrm flipH="1">
            <a:off x="4775200" y="3757613"/>
            <a:ext cx="103187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" name="Rectangle 31"/>
          <p:cNvSpPr>
            <a:spLocks noChangeArrowheads="1"/>
          </p:cNvSpPr>
          <p:nvPr/>
        </p:nvSpPr>
        <p:spPr bwMode="auto">
          <a:xfrm>
            <a:off x="5472113" y="3282950"/>
            <a:ext cx="27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F</a:t>
            </a:r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 flipH="1">
            <a:off x="5386388" y="3587750"/>
            <a:ext cx="138112" cy="374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7" name="Rectangle 33"/>
          <p:cNvSpPr>
            <a:spLocks noChangeArrowheads="1"/>
          </p:cNvSpPr>
          <p:nvPr/>
        </p:nvSpPr>
        <p:spPr bwMode="auto">
          <a:xfrm>
            <a:off x="6254750" y="3825875"/>
            <a:ext cx="271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G</a:t>
            </a:r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 flipH="1">
            <a:off x="5811838" y="3978275"/>
            <a:ext cx="460375" cy="187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9" name="Rectangle 35"/>
          <p:cNvSpPr>
            <a:spLocks noChangeArrowheads="1"/>
          </p:cNvSpPr>
          <p:nvPr/>
        </p:nvSpPr>
        <p:spPr bwMode="auto">
          <a:xfrm>
            <a:off x="6169025" y="2973388"/>
            <a:ext cx="2025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Local and </a:t>
            </a:r>
            <a:r>
              <a:rPr lang="en-US" b="1" u="sng"/>
              <a:t>global </a:t>
            </a:r>
            <a:r>
              <a:rPr lang="en-US" b="1"/>
              <a:t>optimal solution</a:t>
            </a:r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 flipH="1">
            <a:off x="5745163" y="3349625"/>
            <a:ext cx="407987" cy="7143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01" name="Rectangle 37"/>
          <p:cNvSpPr>
            <a:spLocks noChangeArrowheads="1"/>
          </p:cNvSpPr>
          <p:nvPr/>
        </p:nvSpPr>
        <p:spPr bwMode="auto">
          <a:xfrm>
            <a:off x="6697663" y="5867400"/>
            <a:ext cx="798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X</a:t>
            </a:r>
            <a:r>
              <a:rPr lang="en-US" sz="2400" baseline="-25000"/>
              <a:t>1</a:t>
            </a:r>
          </a:p>
        </p:txBody>
      </p:sp>
      <p:sp>
        <p:nvSpPr>
          <p:cNvPr id="11302" name="Rectangle 38"/>
          <p:cNvSpPr>
            <a:spLocks noChangeArrowheads="1"/>
          </p:cNvSpPr>
          <p:nvPr/>
        </p:nvSpPr>
        <p:spPr bwMode="auto">
          <a:xfrm>
            <a:off x="744538" y="1612900"/>
            <a:ext cx="798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X</a:t>
            </a:r>
            <a:r>
              <a:rPr lang="en-US" sz="2400" baseline="-25000"/>
              <a:t>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722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4000" i="1" dirty="0">
                <a:solidFill>
                  <a:schemeClr val="hlink"/>
                </a:solidFill>
              </a:rPr>
              <a:t>Convexity</a:t>
            </a:r>
          </a:p>
        </p:txBody>
      </p:sp>
      <p:sp>
        <p:nvSpPr>
          <p:cNvPr id="11267" name="Freeform 3" descr="20%"/>
          <p:cNvSpPr>
            <a:spLocks/>
          </p:cNvSpPr>
          <p:nvPr/>
        </p:nvSpPr>
        <p:spPr bwMode="auto">
          <a:xfrm>
            <a:off x="4724400" y="4089400"/>
            <a:ext cx="3004246" cy="1986611"/>
          </a:xfrm>
          <a:custGeom>
            <a:avLst/>
            <a:gdLst>
              <a:gd name="T0" fmla="*/ 0 w 2784"/>
              <a:gd name="T1" fmla="*/ 336 h 1746"/>
              <a:gd name="T2" fmla="*/ 108 w 2784"/>
              <a:gd name="T3" fmla="*/ 288 h 1746"/>
              <a:gd name="T4" fmla="*/ 267 w 2784"/>
              <a:gd name="T5" fmla="*/ 225 h 1746"/>
              <a:gd name="T6" fmla="*/ 417 w 2784"/>
              <a:gd name="T7" fmla="*/ 171 h 1746"/>
              <a:gd name="T8" fmla="*/ 564 w 2784"/>
              <a:gd name="T9" fmla="*/ 123 h 1746"/>
              <a:gd name="T10" fmla="*/ 699 w 2784"/>
              <a:gd name="T11" fmla="*/ 84 h 1746"/>
              <a:gd name="T12" fmla="*/ 837 w 2784"/>
              <a:gd name="T13" fmla="*/ 51 h 1746"/>
              <a:gd name="T14" fmla="*/ 936 w 2784"/>
              <a:gd name="T15" fmla="*/ 33 h 1746"/>
              <a:gd name="T16" fmla="*/ 1062 w 2784"/>
              <a:gd name="T17" fmla="*/ 15 h 1746"/>
              <a:gd name="T18" fmla="*/ 1152 w 2784"/>
              <a:gd name="T19" fmla="*/ 9 h 1746"/>
              <a:gd name="T20" fmla="*/ 1320 w 2784"/>
              <a:gd name="T21" fmla="*/ 0 h 1746"/>
              <a:gd name="T22" fmla="*/ 1441 w 2784"/>
              <a:gd name="T23" fmla="*/ 3 h 1746"/>
              <a:gd name="T24" fmla="*/ 1567 w 2784"/>
              <a:gd name="T25" fmla="*/ 27 h 1746"/>
              <a:gd name="T26" fmla="*/ 1639 w 2784"/>
              <a:gd name="T27" fmla="*/ 60 h 1746"/>
              <a:gd name="T28" fmla="*/ 1720 w 2784"/>
              <a:gd name="T29" fmla="*/ 105 h 1746"/>
              <a:gd name="T30" fmla="*/ 1765 w 2784"/>
              <a:gd name="T31" fmla="*/ 147 h 1746"/>
              <a:gd name="T32" fmla="*/ 1801 w 2784"/>
              <a:gd name="T33" fmla="*/ 210 h 1746"/>
              <a:gd name="T34" fmla="*/ 1822 w 2784"/>
              <a:gd name="T35" fmla="*/ 300 h 1746"/>
              <a:gd name="T36" fmla="*/ 1819 w 2784"/>
              <a:gd name="T37" fmla="*/ 375 h 1746"/>
              <a:gd name="T38" fmla="*/ 1780 w 2784"/>
              <a:gd name="T39" fmla="*/ 495 h 1746"/>
              <a:gd name="T40" fmla="*/ 1693 w 2784"/>
              <a:gd name="T41" fmla="*/ 642 h 1746"/>
              <a:gd name="T42" fmla="*/ 1618 w 2784"/>
              <a:gd name="T43" fmla="*/ 750 h 1746"/>
              <a:gd name="T44" fmla="*/ 1597 w 2784"/>
              <a:gd name="T45" fmla="*/ 795 h 1746"/>
              <a:gd name="T46" fmla="*/ 1579 w 2784"/>
              <a:gd name="T47" fmla="*/ 852 h 1746"/>
              <a:gd name="T48" fmla="*/ 1579 w 2784"/>
              <a:gd name="T49" fmla="*/ 889 h 1746"/>
              <a:gd name="T50" fmla="*/ 1591 w 2784"/>
              <a:gd name="T51" fmla="*/ 925 h 1746"/>
              <a:gd name="T52" fmla="*/ 1609 w 2784"/>
              <a:gd name="T53" fmla="*/ 940 h 1746"/>
              <a:gd name="T54" fmla="*/ 1627 w 2784"/>
              <a:gd name="T55" fmla="*/ 952 h 1746"/>
              <a:gd name="T56" fmla="*/ 1672 w 2784"/>
              <a:gd name="T57" fmla="*/ 958 h 1746"/>
              <a:gd name="T58" fmla="*/ 1738 w 2784"/>
              <a:gd name="T59" fmla="*/ 943 h 1746"/>
              <a:gd name="T60" fmla="*/ 1831 w 2784"/>
              <a:gd name="T61" fmla="*/ 892 h 1746"/>
              <a:gd name="T62" fmla="*/ 1903 w 2784"/>
              <a:gd name="T63" fmla="*/ 834 h 1746"/>
              <a:gd name="T64" fmla="*/ 2011 w 2784"/>
              <a:gd name="T65" fmla="*/ 762 h 1746"/>
              <a:gd name="T66" fmla="*/ 2113 w 2784"/>
              <a:gd name="T67" fmla="*/ 708 h 1746"/>
              <a:gd name="T68" fmla="*/ 2233 w 2784"/>
              <a:gd name="T69" fmla="*/ 666 h 1746"/>
              <a:gd name="T70" fmla="*/ 2272 w 2784"/>
              <a:gd name="T71" fmla="*/ 651 h 1746"/>
              <a:gd name="T72" fmla="*/ 2380 w 2784"/>
              <a:gd name="T73" fmla="*/ 627 h 1746"/>
              <a:gd name="T74" fmla="*/ 2485 w 2784"/>
              <a:gd name="T75" fmla="*/ 630 h 1746"/>
              <a:gd name="T76" fmla="*/ 2557 w 2784"/>
              <a:gd name="T77" fmla="*/ 636 h 1746"/>
              <a:gd name="T78" fmla="*/ 2632 w 2784"/>
              <a:gd name="T79" fmla="*/ 657 h 1746"/>
              <a:gd name="T80" fmla="*/ 2686 w 2784"/>
              <a:gd name="T81" fmla="*/ 696 h 1746"/>
              <a:gd name="T82" fmla="*/ 2737 w 2784"/>
              <a:gd name="T83" fmla="*/ 750 h 1746"/>
              <a:gd name="T84" fmla="*/ 2761 w 2784"/>
              <a:gd name="T85" fmla="*/ 798 h 1746"/>
              <a:gd name="T86" fmla="*/ 2776 w 2784"/>
              <a:gd name="T87" fmla="*/ 858 h 1746"/>
              <a:gd name="T88" fmla="*/ 2783 w 2784"/>
              <a:gd name="T89" fmla="*/ 910 h 1746"/>
              <a:gd name="T90" fmla="*/ 2779 w 2784"/>
              <a:gd name="T91" fmla="*/ 955 h 1746"/>
              <a:gd name="T92" fmla="*/ 2767 w 2784"/>
              <a:gd name="T93" fmla="*/ 1021 h 1746"/>
              <a:gd name="T94" fmla="*/ 2743 w 2784"/>
              <a:gd name="T95" fmla="*/ 1096 h 1746"/>
              <a:gd name="T96" fmla="*/ 2695 w 2784"/>
              <a:gd name="T97" fmla="*/ 1201 h 1746"/>
              <a:gd name="T98" fmla="*/ 2575 w 2784"/>
              <a:gd name="T99" fmla="*/ 1360 h 1746"/>
              <a:gd name="T100" fmla="*/ 2284 w 2784"/>
              <a:gd name="T101" fmla="*/ 1741 h 1746"/>
              <a:gd name="T102" fmla="*/ 6 w 2784"/>
              <a:gd name="T103" fmla="*/ 1745 h 1746"/>
              <a:gd name="T104" fmla="*/ 0 w 2784"/>
              <a:gd name="T105" fmla="*/ 336 h 17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84" h="1746">
                <a:moveTo>
                  <a:pt x="0" y="336"/>
                </a:moveTo>
                <a:lnTo>
                  <a:pt x="108" y="288"/>
                </a:lnTo>
                <a:lnTo>
                  <a:pt x="267" y="225"/>
                </a:lnTo>
                <a:lnTo>
                  <a:pt x="417" y="171"/>
                </a:lnTo>
                <a:lnTo>
                  <a:pt x="564" y="123"/>
                </a:lnTo>
                <a:lnTo>
                  <a:pt x="699" y="84"/>
                </a:lnTo>
                <a:lnTo>
                  <a:pt x="837" y="51"/>
                </a:lnTo>
                <a:lnTo>
                  <a:pt x="936" y="33"/>
                </a:lnTo>
                <a:lnTo>
                  <a:pt x="1062" y="15"/>
                </a:lnTo>
                <a:lnTo>
                  <a:pt x="1152" y="9"/>
                </a:lnTo>
                <a:lnTo>
                  <a:pt x="1320" y="0"/>
                </a:lnTo>
                <a:lnTo>
                  <a:pt x="1441" y="3"/>
                </a:lnTo>
                <a:lnTo>
                  <a:pt x="1567" y="27"/>
                </a:lnTo>
                <a:lnTo>
                  <a:pt x="1639" y="60"/>
                </a:lnTo>
                <a:lnTo>
                  <a:pt x="1720" y="105"/>
                </a:lnTo>
                <a:lnTo>
                  <a:pt x="1765" y="147"/>
                </a:lnTo>
                <a:lnTo>
                  <a:pt x="1801" y="210"/>
                </a:lnTo>
                <a:lnTo>
                  <a:pt x="1822" y="300"/>
                </a:lnTo>
                <a:lnTo>
                  <a:pt x="1819" y="375"/>
                </a:lnTo>
                <a:lnTo>
                  <a:pt x="1780" y="495"/>
                </a:lnTo>
                <a:lnTo>
                  <a:pt x="1693" y="642"/>
                </a:lnTo>
                <a:lnTo>
                  <a:pt x="1618" y="750"/>
                </a:lnTo>
                <a:lnTo>
                  <a:pt x="1597" y="795"/>
                </a:lnTo>
                <a:lnTo>
                  <a:pt x="1579" y="852"/>
                </a:lnTo>
                <a:lnTo>
                  <a:pt x="1579" y="889"/>
                </a:lnTo>
                <a:lnTo>
                  <a:pt x="1591" y="925"/>
                </a:lnTo>
                <a:lnTo>
                  <a:pt x="1609" y="940"/>
                </a:lnTo>
                <a:lnTo>
                  <a:pt x="1627" y="952"/>
                </a:lnTo>
                <a:lnTo>
                  <a:pt x="1672" y="958"/>
                </a:lnTo>
                <a:lnTo>
                  <a:pt x="1738" y="943"/>
                </a:lnTo>
                <a:lnTo>
                  <a:pt x="1831" y="892"/>
                </a:lnTo>
                <a:lnTo>
                  <a:pt x="1903" y="834"/>
                </a:lnTo>
                <a:lnTo>
                  <a:pt x="2011" y="762"/>
                </a:lnTo>
                <a:lnTo>
                  <a:pt x="2113" y="708"/>
                </a:lnTo>
                <a:lnTo>
                  <a:pt x="2233" y="666"/>
                </a:lnTo>
                <a:lnTo>
                  <a:pt x="2272" y="651"/>
                </a:lnTo>
                <a:lnTo>
                  <a:pt x="2380" y="627"/>
                </a:lnTo>
                <a:lnTo>
                  <a:pt x="2485" y="630"/>
                </a:lnTo>
                <a:lnTo>
                  <a:pt x="2557" y="636"/>
                </a:lnTo>
                <a:lnTo>
                  <a:pt x="2632" y="657"/>
                </a:lnTo>
                <a:lnTo>
                  <a:pt x="2686" y="696"/>
                </a:lnTo>
                <a:lnTo>
                  <a:pt x="2737" y="750"/>
                </a:lnTo>
                <a:lnTo>
                  <a:pt x="2761" y="798"/>
                </a:lnTo>
                <a:lnTo>
                  <a:pt x="2776" y="858"/>
                </a:lnTo>
                <a:lnTo>
                  <a:pt x="2783" y="910"/>
                </a:lnTo>
                <a:lnTo>
                  <a:pt x="2779" y="955"/>
                </a:lnTo>
                <a:lnTo>
                  <a:pt x="2767" y="1021"/>
                </a:lnTo>
                <a:lnTo>
                  <a:pt x="2743" y="1096"/>
                </a:lnTo>
                <a:lnTo>
                  <a:pt x="2695" y="1201"/>
                </a:lnTo>
                <a:lnTo>
                  <a:pt x="2575" y="1360"/>
                </a:lnTo>
                <a:lnTo>
                  <a:pt x="2284" y="1741"/>
                </a:lnTo>
                <a:lnTo>
                  <a:pt x="6" y="1745"/>
                </a:lnTo>
                <a:lnTo>
                  <a:pt x="0" y="336"/>
                </a:lnTo>
              </a:path>
            </a:pathLst>
          </a:custGeom>
          <a:pattFill prst="pct20">
            <a:fgClr>
              <a:schemeClr val="bg2"/>
            </a:fgClr>
            <a:bgClr>
              <a:srgbClr val="3399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70" name="Group 6"/>
          <p:cNvGrpSpPr>
            <a:grpSpLocks/>
          </p:cNvGrpSpPr>
          <p:nvPr/>
        </p:nvGrpSpPr>
        <p:grpSpPr bwMode="auto">
          <a:xfrm>
            <a:off x="4731954" y="3124200"/>
            <a:ext cx="3850269" cy="2949195"/>
            <a:chOff x="877" y="961"/>
            <a:chExt cx="3568" cy="2592"/>
          </a:xfrm>
        </p:grpSpPr>
        <p:sp>
          <p:nvSpPr>
            <p:cNvPr id="11268" name="Line 4"/>
            <p:cNvSpPr>
              <a:spLocks noChangeShapeType="1"/>
            </p:cNvSpPr>
            <p:nvPr/>
          </p:nvSpPr>
          <p:spPr bwMode="auto">
            <a:xfrm flipV="1">
              <a:off x="877" y="961"/>
              <a:ext cx="0" cy="259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9" name="Line 5"/>
            <p:cNvSpPr>
              <a:spLocks noChangeShapeType="1"/>
            </p:cNvSpPr>
            <p:nvPr/>
          </p:nvSpPr>
          <p:spPr bwMode="auto">
            <a:xfrm>
              <a:off x="877" y="3553"/>
              <a:ext cx="356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1" name="Arc 7"/>
          <p:cNvSpPr>
            <a:spLocks/>
          </p:cNvSpPr>
          <p:nvPr/>
        </p:nvSpPr>
        <p:spPr bwMode="auto">
          <a:xfrm rot="20100000">
            <a:off x="4871159" y="4002587"/>
            <a:ext cx="1825856" cy="1116188"/>
          </a:xfrm>
          <a:custGeom>
            <a:avLst/>
            <a:gdLst>
              <a:gd name="G0" fmla="+- 13 0 0"/>
              <a:gd name="G1" fmla="+- 21600 0 0"/>
              <a:gd name="G2" fmla="+- 21600 0 0"/>
              <a:gd name="T0" fmla="*/ 0 w 21613"/>
              <a:gd name="T1" fmla="*/ 0 h 33610"/>
              <a:gd name="T2" fmla="*/ 17966 w 21613"/>
              <a:gd name="T3" fmla="*/ 33610 h 33610"/>
              <a:gd name="T4" fmla="*/ 13 w 21613"/>
              <a:gd name="T5" fmla="*/ 21600 h 33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13" h="33610" fill="none" extrusionOk="0">
                <a:moveTo>
                  <a:pt x="0" y="0"/>
                </a:moveTo>
                <a:cubicBezTo>
                  <a:pt x="4" y="0"/>
                  <a:pt x="8" y="-1"/>
                  <a:pt x="13" y="0"/>
                </a:cubicBezTo>
                <a:cubicBezTo>
                  <a:pt x="11942" y="0"/>
                  <a:pt x="21613" y="9670"/>
                  <a:pt x="21613" y="21600"/>
                </a:cubicBezTo>
                <a:cubicBezTo>
                  <a:pt x="21613" y="25876"/>
                  <a:pt x="20343" y="30055"/>
                  <a:pt x="17966" y="33610"/>
                </a:cubicBezTo>
              </a:path>
              <a:path w="21613" h="33610" stroke="0" extrusionOk="0">
                <a:moveTo>
                  <a:pt x="0" y="0"/>
                </a:moveTo>
                <a:cubicBezTo>
                  <a:pt x="4" y="0"/>
                  <a:pt x="8" y="-1"/>
                  <a:pt x="13" y="0"/>
                </a:cubicBezTo>
                <a:cubicBezTo>
                  <a:pt x="11942" y="0"/>
                  <a:pt x="21613" y="9670"/>
                  <a:pt x="21613" y="21600"/>
                </a:cubicBezTo>
                <a:cubicBezTo>
                  <a:pt x="21613" y="25876"/>
                  <a:pt x="20343" y="30055"/>
                  <a:pt x="17966" y="33610"/>
                </a:cubicBezTo>
                <a:lnTo>
                  <a:pt x="13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Arc 8"/>
          <p:cNvSpPr>
            <a:spLocks/>
          </p:cNvSpPr>
          <p:nvPr/>
        </p:nvSpPr>
        <p:spPr bwMode="auto">
          <a:xfrm rot="18900000">
            <a:off x="6391126" y="4804758"/>
            <a:ext cx="493569" cy="331563"/>
          </a:xfrm>
          <a:custGeom>
            <a:avLst/>
            <a:gdLst>
              <a:gd name="G0" fmla="+- 21600 0 0"/>
              <a:gd name="G1" fmla="+- 20406 0 0"/>
              <a:gd name="G2" fmla="+- 21600 0 0"/>
              <a:gd name="T0" fmla="*/ 13714 w 21600"/>
              <a:gd name="T1" fmla="*/ 40515 h 40515"/>
              <a:gd name="T2" fmla="*/ 14519 w 21600"/>
              <a:gd name="T3" fmla="*/ 0 h 40515"/>
              <a:gd name="T4" fmla="*/ 21600 w 21600"/>
              <a:gd name="T5" fmla="*/ 20406 h 40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0515" fill="none" extrusionOk="0">
                <a:moveTo>
                  <a:pt x="13714" y="40514"/>
                </a:moveTo>
                <a:cubicBezTo>
                  <a:pt x="5441" y="37270"/>
                  <a:pt x="0" y="29291"/>
                  <a:pt x="0" y="20406"/>
                </a:cubicBezTo>
                <a:cubicBezTo>
                  <a:pt x="-1" y="11206"/>
                  <a:pt x="5827" y="3015"/>
                  <a:pt x="14518" y="-1"/>
                </a:cubicBezTo>
              </a:path>
              <a:path w="21600" h="40515" stroke="0" extrusionOk="0">
                <a:moveTo>
                  <a:pt x="13714" y="40514"/>
                </a:moveTo>
                <a:cubicBezTo>
                  <a:pt x="5441" y="37270"/>
                  <a:pt x="0" y="29291"/>
                  <a:pt x="0" y="20406"/>
                </a:cubicBezTo>
                <a:cubicBezTo>
                  <a:pt x="-1" y="11206"/>
                  <a:pt x="5827" y="3015"/>
                  <a:pt x="14518" y="-1"/>
                </a:cubicBezTo>
                <a:lnTo>
                  <a:pt x="21600" y="20406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Arc 9"/>
          <p:cNvSpPr>
            <a:spLocks/>
          </p:cNvSpPr>
          <p:nvPr/>
        </p:nvSpPr>
        <p:spPr bwMode="auto">
          <a:xfrm rot="19380000">
            <a:off x="6976505" y="4727370"/>
            <a:ext cx="738112" cy="848804"/>
          </a:xfrm>
          <a:custGeom>
            <a:avLst/>
            <a:gdLst>
              <a:gd name="G0" fmla="+- 0 0 0"/>
              <a:gd name="G1" fmla="+- 21599 0 0"/>
              <a:gd name="G2" fmla="+- 21600 0 0"/>
              <a:gd name="T0" fmla="*/ 172 w 21600"/>
              <a:gd name="T1" fmla="*/ 0 h 40075"/>
              <a:gd name="T2" fmla="*/ 11190 w 21600"/>
              <a:gd name="T3" fmla="*/ 40075 h 40075"/>
              <a:gd name="T4" fmla="*/ 0 w 21600"/>
              <a:gd name="T5" fmla="*/ 21599 h 400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0075" fill="none" extrusionOk="0">
                <a:moveTo>
                  <a:pt x="172" y="-1"/>
                </a:moveTo>
                <a:cubicBezTo>
                  <a:pt x="12033" y="94"/>
                  <a:pt x="21600" y="9736"/>
                  <a:pt x="21600" y="21599"/>
                </a:cubicBezTo>
                <a:cubicBezTo>
                  <a:pt x="21600" y="29154"/>
                  <a:pt x="17652" y="36160"/>
                  <a:pt x="11189" y="40074"/>
                </a:cubicBezTo>
              </a:path>
              <a:path w="21600" h="40075" stroke="0" extrusionOk="0">
                <a:moveTo>
                  <a:pt x="172" y="-1"/>
                </a:moveTo>
                <a:cubicBezTo>
                  <a:pt x="12033" y="94"/>
                  <a:pt x="21600" y="9736"/>
                  <a:pt x="21600" y="21599"/>
                </a:cubicBezTo>
                <a:cubicBezTo>
                  <a:pt x="21600" y="29154"/>
                  <a:pt x="17652" y="36160"/>
                  <a:pt x="11189" y="40074"/>
                </a:cubicBez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 flipH="1">
            <a:off x="7194486" y="5499940"/>
            <a:ext cx="403588" cy="5609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4824757" y="5317891"/>
            <a:ext cx="184528" cy="262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b="1" dirty="0"/>
          </a:p>
        </p:txBody>
      </p:sp>
      <p:sp>
        <p:nvSpPr>
          <p:cNvPr id="11291" name="Rectangle 27"/>
          <p:cNvSpPr>
            <a:spLocks noChangeArrowheads="1"/>
          </p:cNvSpPr>
          <p:nvPr/>
        </p:nvSpPr>
        <p:spPr bwMode="auto">
          <a:xfrm>
            <a:off x="5541287" y="5561382"/>
            <a:ext cx="184528" cy="262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b="1" dirty="0"/>
          </a:p>
        </p:txBody>
      </p:sp>
      <p:sp>
        <p:nvSpPr>
          <p:cNvPr id="11293" name="Rectangle 29"/>
          <p:cNvSpPr>
            <a:spLocks noChangeArrowheads="1"/>
          </p:cNvSpPr>
          <p:nvPr/>
        </p:nvSpPr>
        <p:spPr bwMode="auto">
          <a:xfrm>
            <a:off x="7031540" y="4390579"/>
            <a:ext cx="184528" cy="262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 b="1" dirty="0"/>
          </a:p>
        </p:txBody>
      </p:sp>
      <p:sp>
        <p:nvSpPr>
          <p:cNvPr id="41" name="Freeform 3" descr="20%"/>
          <p:cNvSpPr>
            <a:spLocks/>
          </p:cNvSpPr>
          <p:nvPr/>
        </p:nvSpPr>
        <p:spPr bwMode="auto">
          <a:xfrm>
            <a:off x="784264" y="1373465"/>
            <a:ext cx="2725211" cy="2273796"/>
          </a:xfrm>
          <a:custGeom>
            <a:avLst/>
            <a:gdLst>
              <a:gd name="T0" fmla="*/ 0 w 2851"/>
              <a:gd name="T1" fmla="*/ 1335 h 2125"/>
              <a:gd name="T2" fmla="*/ 984 w 2851"/>
              <a:gd name="T3" fmla="*/ 378 h 2125"/>
              <a:gd name="T4" fmla="*/ 1083 w 2851"/>
              <a:gd name="T5" fmla="*/ 276 h 2125"/>
              <a:gd name="T6" fmla="*/ 1224 w 2851"/>
              <a:gd name="T7" fmla="*/ 168 h 2125"/>
              <a:gd name="T8" fmla="*/ 1383 w 2851"/>
              <a:gd name="T9" fmla="*/ 84 h 2125"/>
              <a:gd name="T10" fmla="*/ 1500 w 2851"/>
              <a:gd name="T11" fmla="*/ 39 h 2125"/>
              <a:gd name="T12" fmla="*/ 1578 w 2851"/>
              <a:gd name="T13" fmla="*/ 24 h 2125"/>
              <a:gd name="T14" fmla="*/ 1737 w 2851"/>
              <a:gd name="T15" fmla="*/ 0 h 2125"/>
              <a:gd name="T16" fmla="*/ 1866 w 2851"/>
              <a:gd name="T17" fmla="*/ 0 h 2125"/>
              <a:gd name="T18" fmla="*/ 1983 w 2851"/>
              <a:gd name="T19" fmla="*/ 15 h 2125"/>
              <a:gd name="T20" fmla="*/ 2130 w 2851"/>
              <a:gd name="T21" fmla="*/ 54 h 2125"/>
              <a:gd name="T22" fmla="*/ 2256 w 2851"/>
              <a:gd name="T23" fmla="*/ 105 h 2125"/>
              <a:gd name="T24" fmla="*/ 2367 w 2851"/>
              <a:gd name="T25" fmla="*/ 168 h 2125"/>
              <a:gd name="T26" fmla="*/ 2469 w 2851"/>
              <a:gd name="T27" fmla="*/ 246 h 2125"/>
              <a:gd name="T28" fmla="*/ 2559 w 2851"/>
              <a:gd name="T29" fmla="*/ 330 h 2125"/>
              <a:gd name="T30" fmla="*/ 2652 w 2851"/>
              <a:gd name="T31" fmla="*/ 438 h 2125"/>
              <a:gd name="T32" fmla="*/ 2706 w 2851"/>
              <a:gd name="T33" fmla="*/ 519 h 2125"/>
              <a:gd name="T34" fmla="*/ 2742 w 2851"/>
              <a:gd name="T35" fmla="*/ 600 h 2125"/>
              <a:gd name="T36" fmla="*/ 2784 w 2851"/>
              <a:gd name="T37" fmla="*/ 696 h 2125"/>
              <a:gd name="T38" fmla="*/ 2820 w 2851"/>
              <a:gd name="T39" fmla="*/ 816 h 2125"/>
              <a:gd name="T40" fmla="*/ 2835 w 2851"/>
              <a:gd name="T41" fmla="*/ 888 h 2125"/>
              <a:gd name="T42" fmla="*/ 2844 w 2851"/>
              <a:gd name="T43" fmla="*/ 972 h 2125"/>
              <a:gd name="T44" fmla="*/ 2850 w 2851"/>
              <a:gd name="T45" fmla="*/ 1083 h 2125"/>
              <a:gd name="T46" fmla="*/ 2844 w 2851"/>
              <a:gd name="T47" fmla="*/ 1239 h 2125"/>
              <a:gd name="T48" fmla="*/ 2841 w 2851"/>
              <a:gd name="T49" fmla="*/ 1341 h 2125"/>
              <a:gd name="T50" fmla="*/ 2832 w 2851"/>
              <a:gd name="T51" fmla="*/ 1464 h 2125"/>
              <a:gd name="T52" fmla="*/ 2820 w 2851"/>
              <a:gd name="T53" fmla="*/ 1629 h 2125"/>
              <a:gd name="T54" fmla="*/ 2805 w 2851"/>
              <a:gd name="T55" fmla="*/ 1764 h 2125"/>
              <a:gd name="T56" fmla="*/ 2793 w 2851"/>
              <a:gd name="T57" fmla="*/ 1839 h 2125"/>
              <a:gd name="T58" fmla="*/ 2781 w 2851"/>
              <a:gd name="T59" fmla="*/ 1920 h 2125"/>
              <a:gd name="T60" fmla="*/ 2766 w 2851"/>
              <a:gd name="T61" fmla="*/ 1998 h 2125"/>
              <a:gd name="T62" fmla="*/ 2751 w 2851"/>
              <a:gd name="T63" fmla="*/ 2064 h 2125"/>
              <a:gd name="T64" fmla="*/ 2736 w 2851"/>
              <a:gd name="T65" fmla="*/ 2112 h 2125"/>
              <a:gd name="T66" fmla="*/ 2733 w 2851"/>
              <a:gd name="T67" fmla="*/ 2124 h 2125"/>
              <a:gd name="T68" fmla="*/ 0 w 2851"/>
              <a:gd name="T69" fmla="*/ 2124 h 2125"/>
              <a:gd name="T70" fmla="*/ 0 w 2851"/>
              <a:gd name="T71" fmla="*/ 1335 h 2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851" h="2125">
                <a:moveTo>
                  <a:pt x="0" y="1335"/>
                </a:moveTo>
                <a:lnTo>
                  <a:pt x="984" y="378"/>
                </a:lnTo>
                <a:lnTo>
                  <a:pt x="1083" y="276"/>
                </a:lnTo>
                <a:lnTo>
                  <a:pt x="1224" y="168"/>
                </a:lnTo>
                <a:lnTo>
                  <a:pt x="1383" y="84"/>
                </a:lnTo>
                <a:lnTo>
                  <a:pt x="1500" y="39"/>
                </a:lnTo>
                <a:lnTo>
                  <a:pt x="1578" y="24"/>
                </a:lnTo>
                <a:lnTo>
                  <a:pt x="1737" y="0"/>
                </a:lnTo>
                <a:lnTo>
                  <a:pt x="1866" y="0"/>
                </a:lnTo>
                <a:lnTo>
                  <a:pt x="1983" y="15"/>
                </a:lnTo>
                <a:lnTo>
                  <a:pt x="2130" y="54"/>
                </a:lnTo>
                <a:lnTo>
                  <a:pt x="2256" y="105"/>
                </a:lnTo>
                <a:lnTo>
                  <a:pt x="2367" y="168"/>
                </a:lnTo>
                <a:lnTo>
                  <a:pt x="2469" y="246"/>
                </a:lnTo>
                <a:lnTo>
                  <a:pt x="2559" y="330"/>
                </a:lnTo>
                <a:lnTo>
                  <a:pt x="2652" y="438"/>
                </a:lnTo>
                <a:lnTo>
                  <a:pt x="2706" y="519"/>
                </a:lnTo>
                <a:lnTo>
                  <a:pt x="2742" y="600"/>
                </a:lnTo>
                <a:lnTo>
                  <a:pt x="2784" y="696"/>
                </a:lnTo>
                <a:lnTo>
                  <a:pt x="2820" y="816"/>
                </a:lnTo>
                <a:lnTo>
                  <a:pt x="2835" y="888"/>
                </a:lnTo>
                <a:lnTo>
                  <a:pt x="2844" y="972"/>
                </a:lnTo>
                <a:lnTo>
                  <a:pt x="2850" y="1083"/>
                </a:lnTo>
                <a:lnTo>
                  <a:pt x="2844" y="1239"/>
                </a:lnTo>
                <a:lnTo>
                  <a:pt x="2841" y="1341"/>
                </a:lnTo>
                <a:lnTo>
                  <a:pt x="2832" y="1464"/>
                </a:lnTo>
                <a:lnTo>
                  <a:pt x="2820" y="1629"/>
                </a:lnTo>
                <a:lnTo>
                  <a:pt x="2805" y="1764"/>
                </a:lnTo>
                <a:lnTo>
                  <a:pt x="2793" y="1839"/>
                </a:lnTo>
                <a:lnTo>
                  <a:pt x="2781" y="1920"/>
                </a:lnTo>
                <a:lnTo>
                  <a:pt x="2766" y="1998"/>
                </a:lnTo>
                <a:lnTo>
                  <a:pt x="2751" y="2064"/>
                </a:lnTo>
                <a:lnTo>
                  <a:pt x="2736" y="2112"/>
                </a:lnTo>
                <a:lnTo>
                  <a:pt x="2733" y="2124"/>
                </a:lnTo>
                <a:lnTo>
                  <a:pt x="0" y="2124"/>
                </a:lnTo>
                <a:lnTo>
                  <a:pt x="0" y="1335"/>
                </a:lnTo>
              </a:path>
            </a:pathLst>
          </a:custGeom>
          <a:pattFill prst="pct20">
            <a:fgClr>
              <a:schemeClr val="bg2"/>
            </a:fgClr>
            <a:bgClr>
              <a:srgbClr val="3399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"/>
          <p:cNvSpPr>
            <a:spLocks noChangeShapeType="1"/>
          </p:cNvSpPr>
          <p:nvPr/>
        </p:nvSpPr>
        <p:spPr bwMode="auto">
          <a:xfrm flipV="1">
            <a:off x="762000" y="872691"/>
            <a:ext cx="0" cy="2773496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5"/>
          <p:cNvSpPr>
            <a:spLocks noChangeShapeType="1"/>
          </p:cNvSpPr>
          <p:nvPr/>
        </p:nvSpPr>
        <p:spPr bwMode="auto">
          <a:xfrm>
            <a:off x="789864" y="3646187"/>
            <a:ext cx="3410576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 flipV="1">
            <a:off x="769964" y="1749654"/>
            <a:ext cx="974997" cy="1056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Arc 7"/>
          <p:cNvSpPr>
            <a:spLocks/>
          </p:cNvSpPr>
          <p:nvPr/>
        </p:nvSpPr>
        <p:spPr bwMode="auto">
          <a:xfrm>
            <a:off x="1757662" y="1363510"/>
            <a:ext cx="1751813" cy="1227315"/>
          </a:xfrm>
          <a:custGeom>
            <a:avLst/>
            <a:gdLst>
              <a:gd name="G0" fmla="+- 16127 0 0"/>
              <a:gd name="G1" fmla="+- 21600 0 0"/>
              <a:gd name="G2" fmla="+- 21600 0 0"/>
              <a:gd name="T0" fmla="*/ 0 w 37727"/>
              <a:gd name="T1" fmla="*/ 7231 h 23352"/>
              <a:gd name="T2" fmla="*/ 37656 w 37727"/>
              <a:gd name="T3" fmla="*/ 23352 h 23352"/>
              <a:gd name="T4" fmla="*/ 16127 w 37727"/>
              <a:gd name="T5" fmla="*/ 21600 h 23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27" h="23352" fill="none" extrusionOk="0">
                <a:moveTo>
                  <a:pt x="-1" y="7230"/>
                </a:moveTo>
                <a:cubicBezTo>
                  <a:pt x="4098" y="2630"/>
                  <a:pt x="9966" y="-1"/>
                  <a:pt x="16127" y="0"/>
                </a:cubicBezTo>
                <a:cubicBezTo>
                  <a:pt x="28056" y="0"/>
                  <a:pt x="37727" y="9670"/>
                  <a:pt x="37727" y="21600"/>
                </a:cubicBezTo>
                <a:cubicBezTo>
                  <a:pt x="37727" y="22184"/>
                  <a:pt x="37703" y="22769"/>
                  <a:pt x="37655" y="23351"/>
                </a:cubicBezTo>
              </a:path>
              <a:path w="37727" h="23352" stroke="0" extrusionOk="0">
                <a:moveTo>
                  <a:pt x="-1" y="7230"/>
                </a:moveTo>
                <a:cubicBezTo>
                  <a:pt x="4098" y="2630"/>
                  <a:pt x="9966" y="-1"/>
                  <a:pt x="16127" y="0"/>
                </a:cubicBezTo>
                <a:cubicBezTo>
                  <a:pt x="28056" y="0"/>
                  <a:pt x="37727" y="9670"/>
                  <a:pt x="37727" y="21600"/>
                </a:cubicBezTo>
                <a:cubicBezTo>
                  <a:pt x="37727" y="22184"/>
                  <a:pt x="37703" y="22769"/>
                  <a:pt x="37655" y="23351"/>
                </a:cubicBezTo>
                <a:lnTo>
                  <a:pt x="16127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Arc 8"/>
          <p:cNvSpPr>
            <a:spLocks/>
          </p:cNvSpPr>
          <p:nvPr/>
        </p:nvSpPr>
        <p:spPr bwMode="auto">
          <a:xfrm>
            <a:off x="3307824" y="2317238"/>
            <a:ext cx="206470" cy="1333247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255 w 21255"/>
              <a:gd name="T1" fmla="*/ 3847 h 19359"/>
              <a:gd name="T2" fmla="*/ 9581 w 21255"/>
              <a:gd name="T3" fmla="*/ 19359 h 19359"/>
              <a:gd name="T4" fmla="*/ 0 w 21255"/>
              <a:gd name="T5" fmla="*/ 0 h 1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255" h="19359" fill="none" extrusionOk="0">
                <a:moveTo>
                  <a:pt x="21254" y="3846"/>
                </a:moveTo>
                <a:cubicBezTo>
                  <a:pt x="20037" y="10573"/>
                  <a:pt x="15707" y="16326"/>
                  <a:pt x="9580" y="19358"/>
                </a:cubicBezTo>
              </a:path>
              <a:path w="21255" h="19359" stroke="0" extrusionOk="0">
                <a:moveTo>
                  <a:pt x="21254" y="3846"/>
                </a:moveTo>
                <a:cubicBezTo>
                  <a:pt x="20037" y="10573"/>
                  <a:pt x="15707" y="16326"/>
                  <a:pt x="9580" y="19358"/>
                </a:cubicBez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45093" y="1047528"/>
            <a:ext cx="4839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feasible region is convex.  All lines connecting two points in the feasible region falls entirely within the feasible region.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3430" y="4121361"/>
            <a:ext cx="4102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feasible region is non-convex.  Not all lines connecting two points in the feasible region fall entirely within the feasible region.</a:t>
            </a:r>
          </a:p>
        </p:txBody>
      </p:sp>
      <p:cxnSp>
        <p:nvCxnSpPr>
          <p:cNvPr id="4" name="Straight Arrow Connector 3"/>
          <p:cNvCxnSpPr>
            <a:stCxn id="2" idx="1"/>
          </p:cNvCxnSpPr>
          <p:nvPr/>
        </p:nvCxnSpPr>
        <p:spPr bwMode="auto">
          <a:xfrm flipH="1">
            <a:off x="3410215" y="1509193"/>
            <a:ext cx="434878" cy="2358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Straight Arrow Connector 5"/>
          <p:cNvCxnSpPr>
            <a:stCxn id="74" idx="3"/>
          </p:cNvCxnSpPr>
          <p:nvPr/>
        </p:nvCxnSpPr>
        <p:spPr bwMode="auto">
          <a:xfrm>
            <a:off x="4235715" y="4721526"/>
            <a:ext cx="336285" cy="2064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8"/>
          <p:cNvCxnSpPr/>
          <p:nvPr/>
        </p:nvCxnSpPr>
        <p:spPr bwMode="auto">
          <a:xfrm>
            <a:off x="1981200" y="2253368"/>
            <a:ext cx="1066800" cy="7275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Straight Connector 81"/>
          <p:cNvCxnSpPr/>
          <p:nvPr/>
        </p:nvCxnSpPr>
        <p:spPr bwMode="auto">
          <a:xfrm>
            <a:off x="6169820" y="4456513"/>
            <a:ext cx="974536" cy="9169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5182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14" y="1226177"/>
            <a:ext cx="6228571" cy="5019048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51539"/>
          </a:xfrm>
          <a:noFill/>
          <a:ln/>
        </p:spPr>
        <p:txBody>
          <a:bodyPr lIns="92075" tIns="46038" rIns="92075" bIns="46038"/>
          <a:lstStyle/>
          <a:p>
            <a:r>
              <a:rPr lang="en-US" sz="3400" i="1" dirty="0">
                <a:solidFill>
                  <a:schemeClr val="hlink"/>
                </a:solidFill>
              </a:rPr>
              <a:t>Non-Convex Problems Can Have Multiple Local Optima &amp; Be Difficult…</a:t>
            </a:r>
          </a:p>
        </p:txBody>
      </p:sp>
    </p:spTree>
    <p:extLst>
      <p:ext uri="{BB962C8B-B14F-4D97-AF65-F5344CB8AC3E}">
        <p14:creationId xmlns:p14="http://schemas.microsoft.com/office/powerpoint/2010/main" val="53411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48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Comments on Convexity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1409700"/>
            <a:ext cx="7772400" cy="41529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Convex problems are much easier to </a:t>
            </a:r>
            <a:r>
              <a:rPr lang="en-US"/>
              <a:t>solve than the </a:t>
            </a:r>
            <a:r>
              <a:rPr lang="en-US" dirty="0"/>
              <a:t>non-convex problems</a:t>
            </a:r>
          </a:p>
          <a:p>
            <a:r>
              <a:rPr lang="en-US" dirty="0"/>
              <a:t>ASP can check for convexity</a:t>
            </a:r>
          </a:p>
          <a:p>
            <a:pPr lvl="1"/>
            <a:r>
              <a:rPr lang="en-US" dirty="0"/>
              <a:t>Click: Optimize, Analyze Without Solving</a:t>
            </a:r>
          </a:p>
          <a:p>
            <a:pPr lvl="1"/>
            <a:r>
              <a:rPr lang="en-US" dirty="0"/>
              <a:t>Model type “NLP Convex” indicates a local optimal is also a global optimal</a:t>
            </a:r>
          </a:p>
          <a:p>
            <a:pPr lvl="1"/>
            <a:r>
              <a:rPr lang="en-US" dirty="0"/>
              <a:t>Other models types are inconclusive with regard to global optimality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1885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48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Comments About NLP Algorithms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1409700"/>
            <a:ext cx="7772400" cy="41529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It is not always best to move in the direction producing the fastest rate of improvement in the objective.</a:t>
            </a:r>
          </a:p>
          <a:p>
            <a:r>
              <a:rPr lang="en-US" dirty="0"/>
              <a:t>NLP algorithms can terminate at local optimal solutions.</a:t>
            </a:r>
          </a:p>
          <a:p>
            <a:r>
              <a:rPr lang="en-US" dirty="0"/>
              <a:t>The starting point influences the local optimal solution obtained.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667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Comments About Starting Points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23975"/>
            <a:ext cx="8223250" cy="3379788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The null starting point should be avoided.</a:t>
            </a:r>
          </a:p>
          <a:p>
            <a:r>
              <a:rPr lang="en-US" dirty="0"/>
              <a:t>When possible, it is best to use starting values of approximately the same magnitude as the expected optimal values.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4857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 Note About “Optimal” Solutions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082675"/>
            <a:ext cx="8621712" cy="3336925"/>
          </a:xfrm>
          <a:noFill/>
          <a:ln/>
        </p:spPr>
        <p:txBody>
          <a:bodyPr lIns="92075" tIns="46038" rIns="92075" bIns="46038"/>
          <a:lstStyle/>
          <a:p>
            <a:pPr marL="346075" indent="-346075">
              <a:tabLst>
                <a:tab pos="752475" algn="l"/>
              </a:tabLst>
            </a:pPr>
            <a:r>
              <a:rPr lang="en-US" sz="2600"/>
              <a:t>When solving a NLP problem, Solver normally stops when the first of three numerical tests is satisfied, causing one of the following three completion messages to appear:</a:t>
            </a:r>
          </a:p>
          <a:p>
            <a:pPr marL="346075" indent="-346075">
              <a:tabLst>
                <a:tab pos="752475" algn="l"/>
              </a:tabLst>
            </a:pPr>
            <a:endParaRPr lang="en-US" sz="2600"/>
          </a:p>
          <a:p>
            <a:pPr marL="346075" indent="-346075" algn="ctr">
              <a:buFont typeface="Wingdings" pitchFamily="2" charset="2"/>
              <a:buNone/>
              <a:tabLst>
                <a:tab pos="752475" algn="l"/>
              </a:tabLst>
            </a:pPr>
            <a:r>
              <a:rPr lang="en-US" sz="2600"/>
              <a:t>	1) </a:t>
            </a:r>
            <a:r>
              <a:rPr lang="en-US" sz="2600" b="1"/>
              <a:t>“Solver found a solution.  All constraints and 	optimality conditions are satisfied.”  </a:t>
            </a:r>
          </a:p>
          <a:p>
            <a:pPr marL="346075" indent="-346075">
              <a:buFont typeface="Wingdings" pitchFamily="2" charset="2"/>
              <a:buNone/>
              <a:tabLst>
                <a:tab pos="752475" algn="l"/>
              </a:tabLst>
            </a:pPr>
            <a:r>
              <a:rPr lang="en-US" sz="2600" b="1"/>
              <a:t>	</a:t>
            </a:r>
            <a:endParaRPr lang="en-US" sz="350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447800" y="4648200"/>
            <a:ext cx="5943600" cy="1196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</a:pPr>
            <a:r>
              <a:rPr lang="en-US" sz="2400">
                <a:solidFill>
                  <a:schemeClr val="bg1"/>
                </a:solidFill>
                <a:latin typeface="Tahoma" pitchFamily="34" charset="0"/>
              </a:rPr>
              <a:t>This means Solver found a local optimal solution, but does not guarantee that the solution is the global optimal solution. 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bldLvl="3" autoUpdateAnimBg="0"/>
      <p:bldP spid="1434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4857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 Note About “Optimal” Solutions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082675"/>
            <a:ext cx="8621712" cy="3336925"/>
          </a:xfrm>
          <a:noFill/>
          <a:ln/>
        </p:spPr>
        <p:txBody>
          <a:bodyPr lIns="92075" tIns="46038" rIns="92075" bIns="46038"/>
          <a:lstStyle/>
          <a:p>
            <a:pPr marL="346075" indent="-346075">
              <a:tabLst>
                <a:tab pos="752475" algn="l"/>
              </a:tabLst>
            </a:pPr>
            <a:r>
              <a:rPr lang="en-US" sz="2600"/>
              <a:t>When solving a NLP problem, Solver normally stops when the first of three numerical tests is satisfied, causing one of the following three completion messages to appear:</a:t>
            </a:r>
          </a:p>
          <a:p>
            <a:pPr marL="346075" indent="-346075">
              <a:tabLst>
                <a:tab pos="752475" algn="l"/>
              </a:tabLst>
            </a:pPr>
            <a:endParaRPr lang="en-US" sz="2600"/>
          </a:p>
          <a:p>
            <a:pPr marL="346075" indent="-346075" algn="ctr">
              <a:buFont typeface="Wingdings" pitchFamily="2" charset="2"/>
              <a:buNone/>
              <a:tabLst>
                <a:tab pos="752475" algn="l"/>
              </a:tabLst>
            </a:pPr>
            <a:r>
              <a:rPr lang="en-US" sz="2600"/>
              <a:t>	2) </a:t>
            </a:r>
            <a:r>
              <a:rPr lang="en-US" sz="2600" b="1"/>
              <a:t>“Solver has converged to the current solution.  	All constraints are satisfied.”</a:t>
            </a:r>
          </a:p>
          <a:p>
            <a:pPr marL="346075" indent="-346075">
              <a:buFont typeface="Wingdings" pitchFamily="2" charset="2"/>
              <a:buNone/>
              <a:tabLst>
                <a:tab pos="752475" algn="l"/>
              </a:tabLst>
            </a:pPr>
            <a:r>
              <a:rPr lang="en-US" sz="2600" b="1"/>
              <a:t>	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1219200" y="4495800"/>
            <a:ext cx="6629400" cy="8318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Clr>
                <a:schemeClr val="accent1"/>
              </a:buClr>
            </a:pPr>
            <a:r>
              <a:rPr lang="en-US" sz="2400">
                <a:solidFill>
                  <a:schemeClr val="bg1"/>
                </a:solidFill>
                <a:latin typeface="Tahoma" pitchFamily="34" charset="0"/>
              </a:rPr>
              <a:t>This means the objective function value changed very slowly for the last few iterations.</a:t>
            </a:r>
            <a:r>
              <a:rPr lang="en-US" sz="2400">
                <a:solidFill>
                  <a:schemeClr val="bg1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4857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 Note About “Optimal” Solutions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082675"/>
            <a:ext cx="8621712" cy="3336925"/>
          </a:xfrm>
          <a:noFill/>
          <a:ln/>
        </p:spPr>
        <p:txBody>
          <a:bodyPr lIns="92075" tIns="46038" rIns="92075" bIns="46038"/>
          <a:lstStyle/>
          <a:p>
            <a:pPr marL="346075" indent="-346075">
              <a:tabLst>
                <a:tab pos="752475" algn="l"/>
              </a:tabLst>
            </a:pPr>
            <a:r>
              <a:rPr lang="en-US" sz="2600" dirty="0"/>
              <a:t>When solving a NLP problem, Solver normally stops when the first of three numerical tests is satisfied, causing one of the following three completion messages to appear:</a:t>
            </a:r>
          </a:p>
          <a:p>
            <a:pPr marL="346075" indent="-346075">
              <a:tabLst>
                <a:tab pos="752475" algn="l"/>
              </a:tabLst>
            </a:pPr>
            <a:endParaRPr lang="en-US" sz="2600" dirty="0"/>
          </a:p>
          <a:p>
            <a:pPr marL="346075" indent="-346075" algn="ctr">
              <a:buFont typeface="Wingdings" pitchFamily="2" charset="2"/>
              <a:buNone/>
              <a:tabLst>
                <a:tab pos="752475" algn="l"/>
              </a:tabLst>
            </a:pPr>
            <a:r>
              <a:rPr lang="en-US" sz="2600" dirty="0"/>
              <a:t>	3) “</a:t>
            </a:r>
            <a:r>
              <a:rPr lang="en-US" sz="2600" b="1" dirty="0"/>
              <a:t>Solver cannot improve the current solution.  	All constraints are satisfied</a:t>
            </a:r>
            <a:r>
              <a:rPr lang="en-US" sz="2600" dirty="0"/>
              <a:t>.”</a:t>
            </a:r>
            <a:endParaRPr lang="en-US" sz="2600" b="1" dirty="0"/>
          </a:p>
          <a:p>
            <a:pPr marL="346075" indent="-346075">
              <a:buFont typeface="Wingdings" pitchFamily="2" charset="2"/>
              <a:buNone/>
              <a:tabLst>
                <a:tab pos="752475" algn="l"/>
              </a:tabLst>
            </a:pPr>
            <a:r>
              <a:rPr lang="en-US" sz="2600" b="1" dirty="0"/>
              <a:t>	</a:t>
            </a:r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1447800" y="4495800"/>
            <a:ext cx="6172200" cy="1562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</a:pPr>
            <a:r>
              <a:rPr lang="en-US" sz="2400" dirty="0">
                <a:solidFill>
                  <a:schemeClr val="bg1"/>
                </a:solidFill>
                <a:latin typeface="Tahoma" pitchFamily="34" charset="0"/>
              </a:rPr>
              <a:t>This rare message means the your model is degenerate and the Solver is cycling.  Degeneracy can often be eliminated by removing redundant constraints in a model. 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0225"/>
            <a:ext cx="8229600" cy="5270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The Economic Order Quantity 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(EOQ) Problem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063" y="1524000"/>
            <a:ext cx="7772400" cy="42672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sz="2600" dirty="0"/>
              <a:t>Involves determining the optimal quantity to purchase when orders are placed.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Small orders result in: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low inventory levels &amp; low carrying costs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frequent orders &amp; higher ordering costs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Large orders result in: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higher inventory levels &amp; higher carrying costs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infrequent orders &amp; lower ordering costs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4445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Sample</a:t>
            </a:r>
            <a:r>
              <a:rPr lang="en-US" sz="3600" i="1" dirty="0">
                <a:solidFill>
                  <a:schemeClr val="hlink"/>
                </a:solidFill>
              </a:rPr>
              <a:t> Inventory Profiles</a:t>
            </a:r>
          </a:p>
        </p:txBody>
      </p:sp>
      <p:grpSp>
        <p:nvGrpSpPr>
          <p:cNvPr id="16509" name="Group 125"/>
          <p:cNvGrpSpPr>
            <a:grpSpLocks/>
          </p:cNvGrpSpPr>
          <p:nvPr/>
        </p:nvGrpSpPr>
        <p:grpSpPr bwMode="auto">
          <a:xfrm>
            <a:off x="1595438" y="625475"/>
            <a:ext cx="5891212" cy="5699125"/>
            <a:chOff x="1005" y="526"/>
            <a:chExt cx="3711" cy="3590"/>
          </a:xfrm>
        </p:grpSpPr>
        <p:sp>
          <p:nvSpPr>
            <p:cNvPr id="16387" name="Freeform 3" descr="70%"/>
            <p:cNvSpPr>
              <a:spLocks/>
            </p:cNvSpPr>
            <p:nvPr/>
          </p:nvSpPr>
          <p:spPr bwMode="auto">
            <a:xfrm>
              <a:off x="3808" y="3308"/>
              <a:ext cx="475" cy="591"/>
            </a:xfrm>
            <a:custGeom>
              <a:avLst/>
              <a:gdLst>
                <a:gd name="T0" fmla="*/ 0 w 475"/>
                <a:gd name="T1" fmla="*/ 588 h 591"/>
                <a:gd name="T2" fmla="*/ 0 w 475"/>
                <a:gd name="T3" fmla="*/ 0 h 591"/>
                <a:gd name="T4" fmla="*/ 474 w 475"/>
                <a:gd name="T5" fmla="*/ 590 h 591"/>
                <a:gd name="T6" fmla="*/ 0 w 475"/>
                <a:gd name="T7" fmla="*/ 588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5" h="591">
                  <a:moveTo>
                    <a:pt x="0" y="588"/>
                  </a:moveTo>
                  <a:lnTo>
                    <a:pt x="0" y="0"/>
                  </a:lnTo>
                  <a:lnTo>
                    <a:pt x="474" y="590"/>
                  </a:lnTo>
                  <a:lnTo>
                    <a:pt x="0" y="588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8" name="Freeform 4" descr="70%"/>
            <p:cNvSpPr>
              <a:spLocks/>
            </p:cNvSpPr>
            <p:nvPr/>
          </p:nvSpPr>
          <p:spPr bwMode="auto">
            <a:xfrm>
              <a:off x="3338" y="3306"/>
              <a:ext cx="475" cy="591"/>
            </a:xfrm>
            <a:custGeom>
              <a:avLst/>
              <a:gdLst>
                <a:gd name="T0" fmla="*/ 0 w 475"/>
                <a:gd name="T1" fmla="*/ 588 h 591"/>
                <a:gd name="T2" fmla="*/ 0 w 475"/>
                <a:gd name="T3" fmla="*/ 0 h 591"/>
                <a:gd name="T4" fmla="*/ 474 w 475"/>
                <a:gd name="T5" fmla="*/ 590 h 591"/>
                <a:gd name="T6" fmla="*/ 0 w 475"/>
                <a:gd name="T7" fmla="*/ 588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5" h="591">
                  <a:moveTo>
                    <a:pt x="0" y="588"/>
                  </a:moveTo>
                  <a:lnTo>
                    <a:pt x="0" y="0"/>
                  </a:lnTo>
                  <a:lnTo>
                    <a:pt x="474" y="590"/>
                  </a:lnTo>
                  <a:lnTo>
                    <a:pt x="0" y="588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9" name="Freeform 5" descr="70%"/>
            <p:cNvSpPr>
              <a:spLocks/>
            </p:cNvSpPr>
            <p:nvPr/>
          </p:nvSpPr>
          <p:spPr bwMode="auto">
            <a:xfrm>
              <a:off x="2864" y="3304"/>
              <a:ext cx="475" cy="591"/>
            </a:xfrm>
            <a:custGeom>
              <a:avLst/>
              <a:gdLst>
                <a:gd name="T0" fmla="*/ 0 w 475"/>
                <a:gd name="T1" fmla="*/ 588 h 591"/>
                <a:gd name="T2" fmla="*/ 0 w 475"/>
                <a:gd name="T3" fmla="*/ 0 h 591"/>
                <a:gd name="T4" fmla="*/ 474 w 475"/>
                <a:gd name="T5" fmla="*/ 590 h 591"/>
                <a:gd name="T6" fmla="*/ 0 w 475"/>
                <a:gd name="T7" fmla="*/ 588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5" h="591">
                  <a:moveTo>
                    <a:pt x="0" y="588"/>
                  </a:moveTo>
                  <a:lnTo>
                    <a:pt x="0" y="0"/>
                  </a:lnTo>
                  <a:lnTo>
                    <a:pt x="474" y="590"/>
                  </a:lnTo>
                  <a:lnTo>
                    <a:pt x="0" y="588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6" descr="70%"/>
            <p:cNvSpPr>
              <a:spLocks/>
            </p:cNvSpPr>
            <p:nvPr/>
          </p:nvSpPr>
          <p:spPr bwMode="auto">
            <a:xfrm>
              <a:off x="2394" y="3306"/>
              <a:ext cx="475" cy="591"/>
            </a:xfrm>
            <a:custGeom>
              <a:avLst/>
              <a:gdLst>
                <a:gd name="T0" fmla="*/ 0 w 475"/>
                <a:gd name="T1" fmla="*/ 588 h 591"/>
                <a:gd name="T2" fmla="*/ 0 w 475"/>
                <a:gd name="T3" fmla="*/ 0 h 591"/>
                <a:gd name="T4" fmla="*/ 474 w 475"/>
                <a:gd name="T5" fmla="*/ 590 h 591"/>
                <a:gd name="T6" fmla="*/ 0 w 475"/>
                <a:gd name="T7" fmla="*/ 588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5" h="591">
                  <a:moveTo>
                    <a:pt x="0" y="588"/>
                  </a:moveTo>
                  <a:lnTo>
                    <a:pt x="0" y="0"/>
                  </a:lnTo>
                  <a:lnTo>
                    <a:pt x="474" y="590"/>
                  </a:lnTo>
                  <a:lnTo>
                    <a:pt x="0" y="588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7" descr="70%"/>
            <p:cNvSpPr>
              <a:spLocks/>
            </p:cNvSpPr>
            <p:nvPr/>
          </p:nvSpPr>
          <p:spPr bwMode="auto">
            <a:xfrm>
              <a:off x="1924" y="3308"/>
              <a:ext cx="475" cy="591"/>
            </a:xfrm>
            <a:custGeom>
              <a:avLst/>
              <a:gdLst>
                <a:gd name="T0" fmla="*/ 0 w 475"/>
                <a:gd name="T1" fmla="*/ 588 h 591"/>
                <a:gd name="T2" fmla="*/ 0 w 475"/>
                <a:gd name="T3" fmla="*/ 0 h 591"/>
                <a:gd name="T4" fmla="*/ 474 w 475"/>
                <a:gd name="T5" fmla="*/ 590 h 591"/>
                <a:gd name="T6" fmla="*/ 0 w 475"/>
                <a:gd name="T7" fmla="*/ 588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5" h="591">
                  <a:moveTo>
                    <a:pt x="0" y="588"/>
                  </a:moveTo>
                  <a:lnTo>
                    <a:pt x="0" y="0"/>
                  </a:lnTo>
                  <a:lnTo>
                    <a:pt x="474" y="590"/>
                  </a:lnTo>
                  <a:lnTo>
                    <a:pt x="0" y="588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8" descr="70%"/>
            <p:cNvSpPr>
              <a:spLocks/>
            </p:cNvSpPr>
            <p:nvPr/>
          </p:nvSpPr>
          <p:spPr bwMode="auto">
            <a:xfrm>
              <a:off x="1454" y="3304"/>
              <a:ext cx="475" cy="591"/>
            </a:xfrm>
            <a:custGeom>
              <a:avLst/>
              <a:gdLst>
                <a:gd name="T0" fmla="*/ 0 w 475"/>
                <a:gd name="T1" fmla="*/ 588 h 591"/>
                <a:gd name="T2" fmla="*/ 0 w 475"/>
                <a:gd name="T3" fmla="*/ 0 h 591"/>
                <a:gd name="T4" fmla="*/ 474 w 475"/>
                <a:gd name="T5" fmla="*/ 590 h 591"/>
                <a:gd name="T6" fmla="*/ 0 w 475"/>
                <a:gd name="T7" fmla="*/ 588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5" h="591">
                  <a:moveTo>
                    <a:pt x="0" y="588"/>
                  </a:moveTo>
                  <a:lnTo>
                    <a:pt x="0" y="0"/>
                  </a:lnTo>
                  <a:lnTo>
                    <a:pt x="474" y="590"/>
                  </a:lnTo>
                  <a:lnTo>
                    <a:pt x="0" y="588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9" descr="70%"/>
            <p:cNvSpPr>
              <a:spLocks/>
            </p:cNvSpPr>
            <p:nvPr/>
          </p:nvSpPr>
          <p:spPr bwMode="auto">
            <a:xfrm>
              <a:off x="3327" y="945"/>
              <a:ext cx="940" cy="1171"/>
            </a:xfrm>
            <a:custGeom>
              <a:avLst/>
              <a:gdLst>
                <a:gd name="T0" fmla="*/ 0 w 940"/>
                <a:gd name="T1" fmla="*/ 1167 h 1171"/>
                <a:gd name="T2" fmla="*/ 0 w 940"/>
                <a:gd name="T3" fmla="*/ 0 h 1171"/>
                <a:gd name="T4" fmla="*/ 939 w 940"/>
                <a:gd name="T5" fmla="*/ 1170 h 1171"/>
                <a:gd name="T6" fmla="*/ 0 w 940"/>
                <a:gd name="T7" fmla="*/ 1167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0" h="1171">
                  <a:moveTo>
                    <a:pt x="0" y="1167"/>
                  </a:moveTo>
                  <a:lnTo>
                    <a:pt x="0" y="0"/>
                  </a:lnTo>
                  <a:lnTo>
                    <a:pt x="939" y="1170"/>
                  </a:lnTo>
                  <a:lnTo>
                    <a:pt x="0" y="1167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0" descr="70%"/>
            <p:cNvSpPr>
              <a:spLocks/>
            </p:cNvSpPr>
            <p:nvPr/>
          </p:nvSpPr>
          <p:spPr bwMode="auto">
            <a:xfrm>
              <a:off x="2382" y="948"/>
              <a:ext cx="940" cy="1171"/>
            </a:xfrm>
            <a:custGeom>
              <a:avLst/>
              <a:gdLst>
                <a:gd name="T0" fmla="*/ 0 w 940"/>
                <a:gd name="T1" fmla="*/ 1167 h 1171"/>
                <a:gd name="T2" fmla="*/ 0 w 940"/>
                <a:gd name="T3" fmla="*/ 0 h 1171"/>
                <a:gd name="T4" fmla="*/ 939 w 940"/>
                <a:gd name="T5" fmla="*/ 1170 h 1171"/>
                <a:gd name="T6" fmla="*/ 0 w 940"/>
                <a:gd name="T7" fmla="*/ 1167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0" h="1171">
                  <a:moveTo>
                    <a:pt x="0" y="1167"/>
                  </a:moveTo>
                  <a:lnTo>
                    <a:pt x="0" y="0"/>
                  </a:lnTo>
                  <a:lnTo>
                    <a:pt x="939" y="1170"/>
                  </a:lnTo>
                  <a:lnTo>
                    <a:pt x="0" y="1167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1" descr="70%"/>
            <p:cNvSpPr>
              <a:spLocks/>
            </p:cNvSpPr>
            <p:nvPr/>
          </p:nvSpPr>
          <p:spPr bwMode="auto">
            <a:xfrm>
              <a:off x="1437" y="948"/>
              <a:ext cx="940" cy="1171"/>
            </a:xfrm>
            <a:custGeom>
              <a:avLst/>
              <a:gdLst>
                <a:gd name="T0" fmla="*/ 0 w 940"/>
                <a:gd name="T1" fmla="*/ 1167 h 1171"/>
                <a:gd name="T2" fmla="*/ 0 w 940"/>
                <a:gd name="T3" fmla="*/ 0 h 1171"/>
                <a:gd name="T4" fmla="*/ 939 w 940"/>
                <a:gd name="T5" fmla="*/ 1170 h 1171"/>
                <a:gd name="T6" fmla="*/ 0 w 940"/>
                <a:gd name="T7" fmla="*/ 1167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0" h="1171">
                  <a:moveTo>
                    <a:pt x="0" y="1167"/>
                  </a:moveTo>
                  <a:lnTo>
                    <a:pt x="0" y="0"/>
                  </a:lnTo>
                  <a:lnTo>
                    <a:pt x="939" y="1170"/>
                  </a:lnTo>
                  <a:lnTo>
                    <a:pt x="0" y="1167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2"/>
            <p:cNvSpPr>
              <a:spLocks/>
            </p:cNvSpPr>
            <p:nvPr/>
          </p:nvSpPr>
          <p:spPr bwMode="auto">
            <a:xfrm>
              <a:off x="1438" y="703"/>
              <a:ext cx="2824" cy="1412"/>
            </a:xfrm>
            <a:custGeom>
              <a:avLst/>
              <a:gdLst>
                <a:gd name="T0" fmla="*/ 0 w 2824"/>
                <a:gd name="T1" fmla="*/ 0 h 1412"/>
                <a:gd name="T2" fmla="*/ 2823 w 2824"/>
                <a:gd name="T3" fmla="*/ 0 h 1412"/>
                <a:gd name="T4" fmla="*/ 2823 w 2824"/>
                <a:gd name="T5" fmla="*/ 1411 h 1412"/>
                <a:gd name="T6" fmla="*/ 0 w 2824"/>
                <a:gd name="T7" fmla="*/ 1411 h 1412"/>
                <a:gd name="T8" fmla="*/ 0 w 2824"/>
                <a:gd name="T9" fmla="*/ 0 h 1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4" h="1412">
                  <a:moveTo>
                    <a:pt x="0" y="0"/>
                  </a:moveTo>
                  <a:lnTo>
                    <a:pt x="2823" y="0"/>
                  </a:lnTo>
                  <a:lnTo>
                    <a:pt x="2823" y="1411"/>
                  </a:lnTo>
                  <a:lnTo>
                    <a:pt x="0" y="14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Line 13"/>
            <p:cNvSpPr>
              <a:spLocks noChangeShapeType="1"/>
            </p:cNvSpPr>
            <p:nvPr/>
          </p:nvSpPr>
          <p:spPr bwMode="auto">
            <a:xfrm>
              <a:off x="1379" y="2114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8" name="Line 14"/>
            <p:cNvSpPr>
              <a:spLocks noChangeShapeType="1"/>
            </p:cNvSpPr>
            <p:nvPr/>
          </p:nvSpPr>
          <p:spPr bwMode="auto">
            <a:xfrm>
              <a:off x="1379" y="1879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9" name="Line 15"/>
            <p:cNvSpPr>
              <a:spLocks noChangeShapeType="1"/>
            </p:cNvSpPr>
            <p:nvPr/>
          </p:nvSpPr>
          <p:spPr bwMode="auto">
            <a:xfrm>
              <a:off x="1379" y="1643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0" name="Line 16"/>
            <p:cNvSpPr>
              <a:spLocks noChangeShapeType="1"/>
            </p:cNvSpPr>
            <p:nvPr/>
          </p:nvSpPr>
          <p:spPr bwMode="auto">
            <a:xfrm>
              <a:off x="1379" y="1408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1" name="Line 17"/>
            <p:cNvSpPr>
              <a:spLocks noChangeShapeType="1"/>
            </p:cNvSpPr>
            <p:nvPr/>
          </p:nvSpPr>
          <p:spPr bwMode="auto">
            <a:xfrm>
              <a:off x="1379" y="1173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2" name="Line 18"/>
            <p:cNvSpPr>
              <a:spLocks noChangeShapeType="1"/>
            </p:cNvSpPr>
            <p:nvPr/>
          </p:nvSpPr>
          <p:spPr bwMode="auto">
            <a:xfrm>
              <a:off x="1379" y="938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>
              <a:off x="1379" y="703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4" name="Line 20"/>
            <p:cNvSpPr>
              <a:spLocks noChangeShapeType="1"/>
            </p:cNvSpPr>
            <p:nvPr/>
          </p:nvSpPr>
          <p:spPr bwMode="auto">
            <a:xfrm flipV="1">
              <a:off x="1673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5" name="Line 21"/>
            <p:cNvSpPr>
              <a:spLocks noChangeShapeType="1"/>
            </p:cNvSpPr>
            <p:nvPr/>
          </p:nvSpPr>
          <p:spPr bwMode="auto">
            <a:xfrm flipV="1">
              <a:off x="1908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6" name="Line 22"/>
            <p:cNvSpPr>
              <a:spLocks noChangeShapeType="1"/>
            </p:cNvSpPr>
            <p:nvPr/>
          </p:nvSpPr>
          <p:spPr bwMode="auto">
            <a:xfrm flipV="1">
              <a:off x="2143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7" name="Line 23"/>
            <p:cNvSpPr>
              <a:spLocks noChangeShapeType="1"/>
            </p:cNvSpPr>
            <p:nvPr/>
          </p:nvSpPr>
          <p:spPr bwMode="auto">
            <a:xfrm flipV="1">
              <a:off x="2379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8" name="Line 24"/>
            <p:cNvSpPr>
              <a:spLocks noChangeShapeType="1"/>
            </p:cNvSpPr>
            <p:nvPr/>
          </p:nvSpPr>
          <p:spPr bwMode="auto">
            <a:xfrm flipV="1">
              <a:off x="2614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9" name="Line 25"/>
            <p:cNvSpPr>
              <a:spLocks noChangeShapeType="1"/>
            </p:cNvSpPr>
            <p:nvPr/>
          </p:nvSpPr>
          <p:spPr bwMode="auto">
            <a:xfrm flipV="1">
              <a:off x="2849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0" name="Line 26"/>
            <p:cNvSpPr>
              <a:spLocks noChangeShapeType="1"/>
            </p:cNvSpPr>
            <p:nvPr/>
          </p:nvSpPr>
          <p:spPr bwMode="auto">
            <a:xfrm flipV="1">
              <a:off x="3085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1" name="Line 27"/>
            <p:cNvSpPr>
              <a:spLocks noChangeShapeType="1"/>
            </p:cNvSpPr>
            <p:nvPr/>
          </p:nvSpPr>
          <p:spPr bwMode="auto">
            <a:xfrm flipV="1">
              <a:off x="3320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2" name="Line 28"/>
            <p:cNvSpPr>
              <a:spLocks noChangeShapeType="1"/>
            </p:cNvSpPr>
            <p:nvPr/>
          </p:nvSpPr>
          <p:spPr bwMode="auto">
            <a:xfrm flipV="1">
              <a:off x="3555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3" name="Line 29"/>
            <p:cNvSpPr>
              <a:spLocks noChangeShapeType="1"/>
            </p:cNvSpPr>
            <p:nvPr/>
          </p:nvSpPr>
          <p:spPr bwMode="auto">
            <a:xfrm flipV="1">
              <a:off x="3790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4" name="Line 30"/>
            <p:cNvSpPr>
              <a:spLocks noChangeShapeType="1"/>
            </p:cNvSpPr>
            <p:nvPr/>
          </p:nvSpPr>
          <p:spPr bwMode="auto">
            <a:xfrm flipV="1">
              <a:off x="4025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5" name="Line 31"/>
            <p:cNvSpPr>
              <a:spLocks noChangeShapeType="1"/>
            </p:cNvSpPr>
            <p:nvPr/>
          </p:nvSpPr>
          <p:spPr bwMode="auto">
            <a:xfrm flipV="1">
              <a:off x="4261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6" name="Line 32"/>
            <p:cNvSpPr>
              <a:spLocks noChangeShapeType="1"/>
            </p:cNvSpPr>
            <p:nvPr/>
          </p:nvSpPr>
          <p:spPr bwMode="auto">
            <a:xfrm flipV="1">
              <a:off x="1438" y="2114"/>
              <a:ext cx="0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7" name="Rectangle 33"/>
            <p:cNvSpPr>
              <a:spLocks noChangeArrowheads="1"/>
            </p:cNvSpPr>
            <p:nvPr/>
          </p:nvSpPr>
          <p:spPr bwMode="auto">
            <a:xfrm>
              <a:off x="1350" y="2165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0</a:t>
              </a:r>
            </a:p>
          </p:txBody>
        </p:sp>
        <p:sp>
          <p:nvSpPr>
            <p:cNvPr id="16418" name="Rectangle 34"/>
            <p:cNvSpPr>
              <a:spLocks noChangeArrowheads="1"/>
            </p:cNvSpPr>
            <p:nvPr/>
          </p:nvSpPr>
          <p:spPr bwMode="auto">
            <a:xfrm>
              <a:off x="1592" y="2164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6419" name="Rectangle 35"/>
            <p:cNvSpPr>
              <a:spLocks noChangeArrowheads="1"/>
            </p:cNvSpPr>
            <p:nvPr/>
          </p:nvSpPr>
          <p:spPr bwMode="auto">
            <a:xfrm>
              <a:off x="1829" y="2164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420" name="Rectangle 36"/>
            <p:cNvSpPr>
              <a:spLocks noChangeArrowheads="1"/>
            </p:cNvSpPr>
            <p:nvPr/>
          </p:nvSpPr>
          <p:spPr bwMode="auto">
            <a:xfrm>
              <a:off x="2067" y="2167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6421" name="Rectangle 37"/>
            <p:cNvSpPr>
              <a:spLocks noChangeArrowheads="1"/>
            </p:cNvSpPr>
            <p:nvPr/>
          </p:nvSpPr>
          <p:spPr bwMode="auto">
            <a:xfrm>
              <a:off x="2298" y="2166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16422" name="Rectangle 38"/>
            <p:cNvSpPr>
              <a:spLocks noChangeArrowheads="1"/>
            </p:cNvSpPr>
            <p:nvPr/>
          </p:nvSpPr>
          <p:spPr bwMode="auto">
            <a:xfrm>
              <a:off x="2536" y="2166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6423" name="Rectangle 39"/>
            <p:cNvSpPr>
              <a:spLocks noChangeArrowheads="1"/>
            </p:cNvSpPr>
            <p:nvPr/>
          </p:nvSpPr>
          <p:spPr bwMode="auto">
            <a:xfrm>
              <a:off x="2770" y="2170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16424" name="Rectangle 40"/>
            <p:cNvSpPr>
              <a:spLocks noChangeArrowheads="1"/>
            </p:cNvSpPr>
            <p:nvPr/>
          </p:nvSpPr>
          <p:spPr bwMode="auto">
            <a:xfrm>
              <a:off x="3010" y="2169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7</a:t>
              </a:r>
            </a:p>
          </p:txBody>
        </p:sp>
        <p:sp>
          <p:nvSpPr>
            <p:cNvPr id="16425" name="Rectangle 41"/>
            <p:cNvSpPr>
              <a:spLocks noChangeArrowheads="1"/>
            </p:cNvSpPr>
            <p:nvPr/>
          </p:nvSpPr>
          <p:spPr bwMode="auto">
            <a:xfrm>
              <a:off x="3246" y="2169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16426" name="Rectangle 42"/>
            <p:cNvSpPr>
              <a:spLocks noChangeArrowheads="1"/>
            </p:cNvSpPr>
            <p:nvPr/>
          </p:nvSpPr>
          <p:spPr bwMode="auto">
            <a:xfrm>
              <a:off x="3477" y="2169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16427" name="Rectangle 43"/>
            <p:cNvSpPr>
              <a:spLocks noChangeArrowheads="1"/>
            </p:cNvSpPr>
            <p:nvPr/>
          </p:nvSpPr>
          <p:spPr bwMode="auto">
            <a:xfrm>
              <a:off x="3686" y="2164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10</a:t>
              </a:r>
            </a:p>
          </p:txBody>
        </p:sp>
        <p:sp>
          <p:nvSpPr>
            <p:cNvPr id="16428" name="Rectangle 44"/>
            <p:cNvSpPr>
              <a:spLocks noChangeArrowheads="1"/>
            </p:cNvSpPr>
            <p:nvPr/>
          </p:nvSpPr>
          <p:spPr bwMode="auto">
            <a:xfrm>
              <a:off x="3925" y="2168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11</a:t>
              </a:r>
            </a:p>
          </p:txBody>
        </p:sp>
        <p:sp>
          <p:nvSpPr>
            <p:cNvPr id="16429" name="Rectangle 45"/>
            <p:cNvSpPr>
              <a:spLocks noChangeArrowheads="1"/>
            </p:cNvSpPr>
            <p:nvPr/>
          </p:nvSpPr>
          <p:spPr bwMode="auto">
            <a:xfrm>
              <a:off x="4161" y="2171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12</a:t>
              </a:r>
            </a:p>
          </p:txBody>
        </p:sp>
        <p:sp>
          <p:nvSpPr>
            <p:cNvPr id="16430" name="Rectangle 46"/>
            <p:cNvSpPr>
              <a:spLocks noChangeArrowheads="1"/>
            </p:cNvSpPr>
            <p:nvPr/>
          </p:nvSpPr>
          <p:spPr bwMode="auto">
            <a:xfrm>
              <a:off x="1220" y="2035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0</a:t>
              </a:r>
            </a:p>
          </p:txBody>
        </p:sp>
        <p:sp>
          <p:nvSpPr>
            <p:cNvPr id="16431" name="Rectangle 47"/>
            <p:cNvSpPr>
              <a:spLocks noChangeArrowheads="1"/>
            </p:cNvSpPr>
            <p:nvPr/>
          </p:nvSpPr>
          <p:spPr bwMode="auto">
            <a:xfrm>
              <a:off x="1176" y="1808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10</a:t>
              </a:r>
            </a:p>
          </p:txBody>
        </p:sp>
        <p:sp>
          <p:nvSpPr>
            <p:cNvPr id="16432" name="Rectangle 48"/>
            <p:cNvSpPr>
              <a:spLocks noChangeArrowheads="1"/>
            </p:cNvSpPr>
            <p:nvPr/>
          </p:nvSpPr>
          <p:spPr bwMode="auto">
            <a:xfrm>
              <a:off x="1188" y="1567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16433" name="Rectangle 49"/>
            <p:cNvSpPr>
              <a:spLocks noChangeArrowheads="1"/>
            </p:cNvSpPr>
            <p:nvPr/>
          </p:nvSpPr>
          <p:spPr bwMode="auto">
            <a:xfrm>
              <a:off x="1181" y="1338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30</a:t>
              </a:r>
            </a:p>
          </p:txBody>
        </p:sp>
        <p:sp>
          <p:nvSpPr>
            <p:cNvPr id="16434" name="Rectangle 50"/>
            <p:cNvSpPr>
              <a:spLocks noChangeArrowheads="1"/>
            </p:cNvSpPr>
            <p:nvPr/>
          </p:nvSpPr>
          <p:spPr bwMode="auto">
            <a:xfrm>
              <a:off x="1194" y="1112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16435" name="Rectangle 51"/>
            <p:cNvSpPr>
              <a:spLocks noChangeArrowheads="1"/>
            </p:cNvSpPr>
            <p:nvPr/>
          </p:nvSpPr>
          <p:spPr bwMode="auto">
            <a:xfrm>
              <a:off x="1195" y="867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50</a:t>
              </a:r>
            </a:p>
          </p:txBody>
        </p:sp>
        <p:sp>
          <p:nvSpPr>
            <p:cNvPr id="16436" name="Rectangle 52"/>
            <p:cNvSpPr>
              <a:spLocks noChangeArrowheads="1"/>
            </p:cNvSpPr>
            <p:nvPr/>
          </p:nvSpPr>
          <p:spPr bwMode="auto">
            <a:xfrm>
              <a:off x="1204" y="630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60</a:t>
              </a:r>
            </a:p>
          </p:txBody>
        </p:sp>
        <p:sp>
          <p:nvSpPr>
            <p:cNvPr id="16437" name="Line 53"/>
            <p:cNvSpPr>
              <a:spLocks noChangeShapeType="1"/>
            </p:cNvSpPr>
            <p:nvPr/>
          </p:nvSpPr>
          <p:spPr bwMode="auto">
            <a:xfrm>
              <a:off x="1438" y="938"/>
              <a:ext cx="941" cy="1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8" name="Line 54"/>
            <p:cNvSpPr>
              <a:spLocks noChangeShapeType="1"/>
            </p:cNvSpPr>
            <p:nvPr/>
          </p:nvSpPr>
          <p:spPr bwMode="auto">
            <a:xfrm>
              <a:off x="2379" y="938"/>
              <a:ext cx="0" cy="1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9" name="Line 55"/>
            <p:cNvSpPr>
              <a:spLocks noChangeShapeType="1"/>
            </p:cNvSpPr>
            <p:nvPr/>
          </p:nvSpPr>
          <p:spPr bwMode="auto">
            <a:xfrm>
              <a:off x="2379" y="938"/>
              <a:ext cx="941" cy="1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0" name="Line 56"/>
            <p:cNvSpPr>
              <a:spLocks noChangeShapeType="1"/>
            </p:cNvSpPr>
            <p:nvPr/>
          </p:nvSpPr>
          <p:spPr bwMode="auto">
            <a:xfrm>
              <a:off x="3320" y="938"/>
              <a:ext cx="0" cy="1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1" name="Line 57"/>
            <p:cNvSpPr>
              <a:spLocks noChangeShapeType="1"/>
            </p:cNvSpPr>
            <p:nvPr/>
          </p:nvSpPr>
          <p:spPr bwMode="auto">
            <a:xfrm>
              <a:off x="3320" y="938"/>
              <a:ext cx="941" cy="1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2" name="Line 58"/>
            <p:cNvSpPr>
              <a:spLocks noChangeShapeType="1"/>
            </p:cNvSpPr>
            <p:nvPr/>
          </p:nvSpPr>
          <p:spPr bwMode="auto">
            <a:xfrm>
              <a:off x="1438" y="1526"/>
              <a:ext cx="28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3" name="Rectangle 59"/>
            <p:cNvSpPr>
              <a:spLocks noChangeArrowheads="1"/>
            </p:cNvSpPr>
            <p:nvPr/>
          </p:nvSpPr>
          <p:spPr bwMode="auto">
            <a:xfrm>
              <a:off x="1532" y="734"/>
              <a:ext cx="950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Annual Usage = 150</a:t>
              </a:r>
            </a:p>
          </p:txBody>
        </p:sp>
        <p:sp>
          <p:nvSpPr>
            <p:cNvPr id="16444" name="Rectangle 60"/>
            <p:cNvSpPr>
              <a:spLocks noChangeArrowheads="1"/>
            </p:cNvSpPr>
            <p:nvPr/>
          </p:nvSpPr>
          <p:spPr bwMode="auto">
            <a:xfrm>
              <a:off x="1624" y="836"/>
              <a:ext cx="75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Order Size = 50</a:t>
              </a:r>
            </a:p>
          </p:txBody>
        </p:sp>
        <p:sp>
          <p:nvSpPr>
            <p:cNvPr id="16445" name="Rectangle 61"/>
            <p:cNvSpPr>
              <a:spLocks noChangeArrowheads="1"/>
            </p:cNvSpPr>
            <p:nvPr/>
          </p:nvSpPr>
          <p:spPr bwMode="auto">
            <a:xfrm>
              <a:off x="3244" y="734"/>
              <a:ext cx="1018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Number of Orders = 3</a:t>
              </a:r>
            </a:p>
          </p:txBody>
        </p:sp>
        <p:sp>
          <p:nvSpPr>
            <p:cNvPr id="16446" name="Rectangle 62"/>
            <p:cNvSpPr>
              <a:spLocks noChangeArrowheads="1"/>
            </p:cNvSpPr>
            <p:nvPr/>
          </p:nvSpPr>
          <p:spPr bwMode="auto">
            <a:xfrm>
              <a:off x="3303" y="836"/>
              <a:ext cx="901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Avg Inventory = 25</a:t>
              </a:r>
            </a:p>
          </p:txBody>
        </p:sp>
        <p:sp>
          <p:nvSpPr>
            <p:cNvPr id="16447" name="Freeform 63"/>
            <p:cNvSpPr>
              <a:spLocks/>
            </p:cNvSpPr>
            <p:nvPr/>
          </p:nvSpPr>
          <p:spPr bwMode="auto">
            <a:xfrm>
              <a:off x="1456" y="2483"/>
              <a:ext cx="2824" cy="1412"/>
            </a:xfrm>
            <a:custGeom>
              <a:avLst/>
              <a:gdLst>
                <a:gd name="T0" fmla="*/ 0 w 2824"/>
                <a:gd name="T1" fmla="*/ 0 h 1412"/>
                <a:gd name="T2" fmla="*/ 2823 w 2824"/>
                <a:gd name="T3" fmla="*/ 0 h 1412"/>
                <a:gd name="T4" fmla="*/ 2823 w 2824"/>
                <a:gd name="T5" fmla="*/ 1411 h 1412"/>
                <a:gd name="T6" fmla="*/ 0 w 2824"/>
                <a:gd name="T7" fmla="*/ 1411 h 1412"/>
                <a:gd name="T8" fmla="*/ 0 w 2824"/>
                <a:gd name="T9" fmla="*/ 0 h 1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4" h="1412">
                  <a:moveTo>
                    <a:pt x="0" y="0"/>
                  </a:moveTo>
                  <a:lnTo>
                    <a:pt x="2823" y="0"/>
                  </a:lnTo>
                  <a:lnTo>
                    <a:pt x="2823" y="1411"/>
                  </a:lnTo>
                  <a:lnTo>
                    <a:pt x="0" y="14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Line 64"/>
            <p:cNvSpPr>
              <a:spLocks noChangeShapeType="1"/>
            </p:cNvSpPr>
            <p:nvPr/>
          </p:nvSpPr>
          <p:spPr bwMode="auto">
            <a:xfrm>
              <a:off x="1397" y="3894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9" name="Line 65"/>
            <p:cNvSpPr>
              <a:spLocks noChangeShapeType="1"/>
            </p:cNvSpPr>
            <p:nvPr/>
          </p:nvSpPr>
          <p:spPr bwMode="auto">
            <a:xfrm>
              <a:off x="1397" y="3659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0" name="Line 66"/>
            <p:cNvSpPr>
              <a:spLocks noChangeShapeType="1"/>
            </p:cNvSpPr>
            <p:nvPr/>
          </p:nvSpPr>
          <p:spPr bwMode="auto">
            <a:xfrm>
              <a:off x="1397" y="3424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1" name="Line 67"/>
            <p:cNvSpPr>
              <a:spLocks noChangeShapeType="1"/>
            </p:cNvSpPr>
            <p:nvPr/>
          </p:nvSpPr>
          <p:spPr bwMode="auto">
            <a:xfrm>
              <a:off x="1397" y="3189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2" name="Line 68"/>
            <p:cNvSpPr>
              <a:spLocks noChangeShapeType="1"/>
            </p:cNvSpPr>
            <p:nvPr/>
          </p:nvSpPr>
          <p:spPr bwMode="auto">
            <a:xfrm>
              <a:off x="1397" y="2954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3" name="Line 69"/>
            <p:cNvSpPr>
              <a:spLocks noChangeShapeType="1"/>
            </p:cNvSpPr>
            <p:nvPr/>
          </p:nvSpPr>
          <p:spPr bwMode="auto">
            <a:xfrm>
              <a:off x="1397" y="2719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4" name="Line 70"/>
            <p:cNvSpPr>
              <a:spLocks noChangeShapeType="1"/>
            </p:cNvSpPr>
            <p:nvPr/>
          </p:nvSpPr>
          <p:spPr bwMode="auto">
            <a:xfrm>
              <a:off x="1397" y="2483"/>
              <a:ext cx="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5" name="Line 71"/>
            <p:cNvSpPr>
              <a:spLocks noChangeShapeType="1"/>
            </p:cNvSpPr>
            <p:nvPr/>
          </p:nvSpPr>
          <p:spPr bwMode="auto">
            <a:xfrm flipV="1">
              <a:off x="1692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6" name="Line 72"/>
            <p:cNvSpPr>
              <a:spLocks noChangeShapeType="1"/>
            </p:cNvSpPr>
            <p:nvPr/>
          </p:nvSpPr>
          <p:spPr bwMode="auto">
            <a:xfrm flipV="1">
              <a:off x="1927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7" name="Line 73"/>
            <p:cNvSpPr>
              <a:spLocks noChangeShapeType="1"/>
            </p:cNvSpPr>
            <p:nvPr/>
          </p:nvSpPr>
          <p:spPr bwMode="auto">
            <a:xfrm flipV="1">
              <a:off x="2162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8" name="Line 74"/>
            <p:cNvSpPr>
              <a:spLocks noChangeShapeType="1"/>
            </p:cNvSpPr>
            <p:nvPr/>
          </p:nvSpPr>
          <p:spPr bwMode="auto">
            <a:xfrm flipV="1">
              <a:off x="2397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59" name="Line 75"/>
            <p:cNvSpPr>
              <a:spLocks noChangeShapeType="1"/>
            </p:cNvSpPr>
            <p:nvPr/>
          </p:nvSpPr>
          <p:spPr bwMode="auto">
            <a:xfrm flipV="1">
              <a:off x="2632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0" name="Line 76"/>
            <p:cNvSpPr>
              <a:spLocks noChangeShapeType="1"/>
            </p:cNvSpPr>
            <p:nvPr/>
          </p:nvSpPr>
          <p:spPr bwMode="auto">
            <a:xfrm flipV="1">
              <a:off x="2868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1" name="Line 77"/>
            <p:cNvSpPr>
              <a:spLocks noChangeShapeType="1"/>
            </p:cNvSpPr>
            <p:nvPr/>
          </p:nvSpPr>
          <p:spPr bwMode="auto">
            <a:xfrm flipV="1">
              <a:off x="3103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2" name="Line 78"/>
            <p:cNvSpPr>
              <a:spLocks noChangeShapeType="1"/>
            </p:cNvSpPr>
            <p:nvPr/>
          </p:nvSpPr>
          <p:spPr bwMode="auto">
            <a:xfrm flipV="1">
              <a:off x="3338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3" name="Line 79"/>
            <p:cNvSpPr>
              <a:spLocks noChangeShapeType="1"/>
            </p:cNvSpPr>
            <p:nvPr/>
          </p:nvSpPr>
          <p:spPr bwMode="auto">
            <a:xfrm flipV="1">
              <a:off x="3573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4" name="Line 80"/>
            <p:cNvSpPr>
              <a:spLocks noChangeShapeType="1"/>
            </p:cNvSpPr>
            <p:nvPr/>
          </p:nvSpPr>
          <p:spPr bwMode="auto">
            <a:xfrm flipV="1">
              <a:off x="3809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5" name="Line 81"/>
            <p:cNvSpPr>
              <a:spLocks noChangeShapeType="1"/>
            </p:cNvSpPr>
            <p:nvPr/>
          </p:nvSpPr>
          <p:spPr bwMode="auto">
            <a:xfrm flipV="1">
              <a:off x="4044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6" name="Line 82"/>
            <p:cNvSpPr>
              <a:spLocks noChangeShapeType="1"/>
            </p:cNvSpPr>
            <p:nvPr/>
          </p:nvSpPr>
          <p:spPr bwMode="auto">
            <a:xfrm flipV="1">
              <a:off x="4279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7" name="Line 83"/>
            <p:cNvSpPr>
              <a:spLocks noChangeShapeType="1"/>
            </p:cNvSpPr>
            <p:nvPr/>
          </p:nvSpPr>
          <p:spPr bwMode="auto">
            <a:xfrm flipV="1">
              <a:off x="1456" y="3894"/>
              <a:ext cx="0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68" name="Rectangle 84"/>
            <p:cNvSpPr>
              <a:spLocks noChangeArrowheads="1"/>
            </p:cNvSpPr>
            <p:nvPr/>
          </p:nvSpPr>
          <p:spPr bwMode="auto">
            <a:xfrm>
              <a:off x="1369" y="3946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0</a:t>
              </a:r>
            </a:p>
          </p:txBody>
        </p:sp>
        <p:sp>
          <p:nvSpPr>
            <p:cNvPr id="16469" name="Rectangle 85"/>
            <p:cNvSpPr>
              <a:spLocks noChangeArrowheads="1"/>
            </p:cNvSpPr>
            <p:nvPr/>
          </p:nvSpPr>
          <p:spPr bwMode="auto">
            <a:xfrm>
              <a:off x="1610" y="3945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6470" name="Rectangle 86"/>
            <p:cNvSpPr>
              <a:spLocks noChangeArrowheads="1"/>
            </p:cNvSpPr>
            <p:nvPr/>
          </p:nvSpPr>
          <p:spPr bwMode="auto">
            <a:xfrm>
              <a:off x="1847" y="3945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471" name="Rectangle 87"/>
            <p:cNvSpPr>
              <a:spLocks noChangeArrowheads="1"/>
            </p:cNvSpPr>
            <p:nvPr/>
          </p:nvSpPr>
          <p:spPr bwMode="auto">
            <a:xfrm>
              <a:off x="2086" y="3947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6472" name="Rectangle 88"/>
            <p:cNvSpPr>
              <a:spLocks noChangeArrowheads="1"/>
            </p:cNvSpPr>
            <p:nvPr/>
          </p:nvSpPr>
          <p:spPr bwMode="auto">
            <a:xfrm>
              <a:off x="2316" y="3947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16473" name="Rectangle 89"/>
            <p:cNvSpPr>
              <a:spLocks noChangeArrowheads="1"/>
            </p:cNvSpPr>
            <p:nvPr/>
          </p:nvSpPr>
          <p:spPr bwMode="auto">
            <a:xfrm>
              <a:off x="2555" y="3947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6474" name="Rectangle 90"/>
            <p:cNvSpPr>
              <a:spLocks noChangeArrowheads="1"/>
            </p:cNvSpPr>
            <p:nvPr/>
          </p:nvSpPr>
          <p:spPr bwMode="auto">
            <a:xfrm>
              <a:off x="2789" y="3950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16475" name="Rectangle 91"/>
            <p:cNvSpPr>
              <a:spLocks noChangeArrowheads="1"/>
            </p:cNvSpPr>
            <p:nvPr/>
          </p:nvSpPr>
          <p:spPr bwMode="auto">
            <a:xfrm>
              <a:off x="3029" y="3950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7</a:t>
              </a:r>
            </a:p>
          </p:txBody>
        </p:sp>
        <p:sp>
          <p:nvSpPr>
            <p:cNvPr id="16476" name="Rectangle 92"/>
            <p:cNvSpPr>
              <a:spLocks noChangeArrowheads="1"/>
            </p:cNvSpPr>
            <p:nvPr/>
          </p:nvSpPr>
          <p:spPr bwMode="auto">
            <a:xfrm>
              <a:off x="3265" y="3949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16477" name="Rectangle 93"/>
            <p:cNvSpPr>
              <a:spLocks noChangeArrowheads="1"/>
            </p:cNvSpPr>
            <p:nvPr/>
          </p:nvSpPr>
          <p:spPr bwMode="auto">
            <a:xfrm>
              <a:off x="3496" y="3949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9</a:t>
              </a:r>
            </a:p>
          </p:txBody>
        </p:sp>
        <p:sp>
          <p:nvSpPr>
            <p:cNvPr id="16478" name="Rectangle 94"/>
            <p:cNvSpPr>
              <a:spLocks noChangeArrowheads="1"/>
            </p:cNvSpPr>
            <p:nvPr/>
          </p:nvSpPr>
          <p:spPr bwMode="auto">
            <a:xfrm>
              <a:off x="3705" y="3945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10</a:t>
              </a:r>
            </a:p>
          </p:txBody>
        </p:sp>
        <p:sp>
          <p:nvSpPr>
            <p:cNvPr id="16479" name="Rectangle 95"/>
            <p:cNvSpPr>
              <a:spLocks noChangeArrowheads="1"/>
            </p:cNvSpPr>
            <p:nvPr/>
          </p:nvSpPr>
          <p:spPr bwMode="auto">
            <a:xfrm>
              <a:off x="3944" y="3948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11</a:t>
              </a:r>
            </a:p>
          </p:txBody>
        </p:sp>
        <p:sp>
          <p:nvSpPr>
            <p:cNvPr id="16480" name="Rectangle 96"/>
            <p:cNvSpPr>
              <a:spLocks noChangeArrowheads="1"/>
            </p:cNvSpPr>
            <p:nvPr/>
          </p:nvSpPr>
          <p:spPr bwMode="auto">
            <a:xfrm>
              <a:off x="4180" y="3952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12</a:t>
              </a:r>
            </a:p>
          </p:txBody>
        </p:sp>
        <p:sp>
          <p:nvSpPr>
            <p:cNvPr id="16481" name="Rectangle 97"/>
            <p:cNvSpPr>
              <a:spLocks noChangeArrowheads="1"/>
            </p:cNvSpPr>
            <p:nvPr/>
          </p:nvSpPr>
          <p:spPr bwMode="auto">
            <a:xfrm>
              <a:off x="4336" y="3949"/>
              <a:ext cx="380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Month</a:t>
              </a:r>
            </a:p>
          </p:txBody>
        </p:sp>
        <p:sp>
          <p:nvSpPr>
            <p:cNvPr id="16482" name="Rectangle 98"/>
            <p:cNvSpPr>
              <a:spLocks noChangeArrowheads="1"/>
            </p:cNvSpPr>
            <p:nvPr/>
          </p:nvSpPr>
          <p:spPr bwMode="auto">
            <a:xfrm>
              <a:off x="1239" y="3816"/>
              <a:ext cx="165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0</a:t>
              </a:r>
            </a:p>
          </p:txBody>
        </p:sp>
        <p:sp>
          <p:nvSpPr>
            <p:cNvPr id="16483" name="Rectangle 99"/>
            <p:cNvSpPr>
              <a:spLocks noChangeArrowheads="1"/>
            </p:cNvSpPr>
            <p:nvPr/>
          </p:nvSpPr>
          <p:spPr bwMode="auto">
            <a:xfrm>
              <a:off x="1194" y="3589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10</a:t>
              </a:r>
            </a:p>
          </p:txBody>
        </p:sp>
        <p:sp>
          <p:nvSpPr>
            <p:cNvPr id="16484" name="Rectangle 100"/>
            <p:cNvSpPr>
              <a:spLocks noChangeArrowheads="1"/>
            </p:cNvSpPr>
            <p:nvPr/>
          </p:nvSpPr>
          <p:spPr bwMode="auto">
            <a:xfrm>
              <a:off x="1207" y="3348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16485" name="Rectangle 101"/>
            <p:cNvSpPr>
              <a:spLocks noChangeArrowheads="1"/>
            </p:cNvSpPr>
            <p:nvPr/>
          </p:nvSpPr>
          <p:spPr bwMode="auto">
            <a:xfrm>
              <a:off x="1200" y="3119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30</a:t>
              </a:r>
            </a:p>
          </p:txBody>
        </p:sp>
        <p:sp>
          <p:nvSpPr>
            <p:cNvPr id="16486" name="Rectangle 102"/>
            <p:cNvSpPr>
              <a:spLocks noChangeArrowheads="1"/>
            </p:cNvSpPr>
            <p:nvPr/>
          </p:nvSpPr>
          <p:spPr bwMode="auto">
            <a:xfrm>
              <a:off x="1213" y="2893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16487" name="Rectangle 103"/>
            <p:cNvSpPr>
              <a:spLocks noChangeArrowheads="1"/>
            </p:cNvSpPr>
            <p:nvPr/>
          </p:nvSpPr>
          <p:spPr bwMode="auto">
            <a:xfrm>
              <a:off x="1214" y="2648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50</a:t>
              </a:r>
            </a:p>
          </p:txBody>
        </p:sp>
        <p:sp>
          <p:nvSpPr>
            <p:cNvPr id="16488" name="Rectangle 104"/>
            <p:cNvSpPr>
              <a:spLocks noChangeArrowheads="1"/>
            </p:cNvSpPr>
            <p:nvPr/>
          </p:nvSpPr>
          <p:spPr bwMode="auto">
            <a:xfrm>
              <a:off x="1223" y="2411"/>
              <a:ext cx="21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60</a:t>
              </a:r>
            </a:p>
          </p:txBody>
        </p:sp>
        <p:sp>
          <p:nvSpPr>
            <p:cNvPr id="16489" name="Rectangle 105"/>
            <p:cNvSpPr>
              <a:spLocks noChangeArrowheads="1"/>
            </p:cNvSpPr>
            <p:nvPr/>
          </p:nvSpPr>
          <p:spPr bwMode="auto">
            <a:xfrm>
              <a:off x="1566" y="2507"/>
              <a:ext cx="950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Annual Usage = 150</a:t>
              </a:r>
            </a:p>
          </p:txBody>
        </p:sp>
        <p:sp>
          <p:nvSpPr>
            <p:cNvPr id="16490" name="Rectangle 106"/>
            <p:cNvSpPr>
              <a:spLocks noChangeArrowheads="1"/>
            </p:cNvSpPr>
            <p:nvPr/>
          </p:nvSpPr>
          <p:spPr bwMode="auto">
            <a:xfrm>
              <a:off x="1658" y="2609"/>
              <a:ext cx="75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Order Size = 25</a:t>
              </a:r>
            </a:p>
          </p:txBody>
        </p:sp>
        <p:sp>
          <p:nvSpPr>
            <p:cNvPr id="16491" name="Rectangle 107"/>
            <p:cNvSpPr>
              <a:spLocks noChangeArrowheads="1"/>
            </p:cNvSpPr>
            <p:nvPr/>
          </p:nvSpPr>
          <p:spPr bwMode="auto">
            <a:xfrm>
              <a:off x="3217" y="2523"/>
              <a:ext cx="1018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Number of Orders = 6</a:t>
              </a:r>
            </a:p>
          </p:txBody>
        </p:sp>
        <p:sp>
          <p:nvSpPr>
            <p:cNvPr id="16492" name="Rectangle 108"/>
            <p:cNvSpPr>
              <a:spLocks noChangeArrowheads="1"/>
            </p:cNvSpPr>
            <p:nvPr/>
          </p:nvSpPr>
          <p:spPr bwMode="auto">
            <a:xfrm>
              <a:off x="3241" y="2624"/>
              <a:ext cx="974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Avg Inventory = 12.5</a:t>
              </a:r>
            </a:p>
          </p:txBody>
        </p:sp>
        <p:sp>
          <p:nvSpPr>
            <p:cNvPr id="16493" name="Rectangle 109"/>
            <p:cNvSpPr>
              <a:spLocks noChangeArrowheads="1"/>
            </p:cNvSpPr>
            <p:nvPr/>
          </p:nvSpPr>
          <p:spPr bwMode="auto">
            <a:xfrm>
              <a:off x="1030" y="2316"/>
              <a:ext cx="512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Inventory</a:t>
              </a:r>
            </a:p>
          </p:txBody>
        </p:sp>
        <p:sp>
          <p:nvSpPr>
            <p:cNvPr id="16494" name="Rectangle 110"/>
            <p:cNvSpPr>
              <a:spLocks noChangeArrowheads="1"/>
            </p:cNvSpPr>
            <p:nvPr/>
          </p:nvSpPr>
          <p:spPr bwMode="auto">
            <a:xfrm>
              <a:off x="4318" y="2176"/>
              <a:ext cx="380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Month</a:t>
              </a:r>
            </a:p>
          </p:txBody>
        </p:sp>
        <p:sp>
          <p:nvSpPr>
            <p:cNvPr id="16495" name="Line 111"/>
            <p:cNvSpPr>
              <a:spLocks noChangeShapeType="1"/>
            </p:cNvSpPr>
            <p:nvPr/>
          </p:nvSpPr>
          <p:spPr bwMode="auto">
            <a:xfrm>
              <a:off x="1456" y="3596"/>
              <a:ext cx="28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96" name="Line 112"/>
            <p:cNvSpPr>
              <a:spLocks noChangeShapeType="1"/>
            </p:cNvSpPr>
            <p:nvPr/>
          </p:nvSpPr>
          <p:spPr bwMode="auto">
            <a:xfrm>
              <a:off x="1926" y="3307"/>
              <a:ext cx="47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97" name="Line 113"/>
            <p:cNvSpPr>
              <a:spLocks noChangeShapeType="1"/>
            </p:cNvSpPr>
            <p:nvPr/>
          </p:nvSpPr>
          <p:spPr bwMode="auto">
            <a:xfrm>
              <a:off x="2396" y="3307"/>
              <a:ext cx="47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98" name="Line 114"/>
            <p:cNvSpPr>
              <a:spLocks noChangeShapeType="1"/>
            </p:cNvSpPr>
            <p:nvPr/>
          </p:nvSpPr>
          <p:spPr bwMode="auto">
            <a:xfrm>
              <a:off x="2866" y="3307"/>
              <a:ext cx="471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99" name="Line 115"/>
            <p:cNvSpPr>
              <a:spLocks noChangeShapeType="1"/>
            </p:cNvSpPr>
            <p:nvPr/>
          </p:nvSpPr>
          <p:spPr bwMode="auto">
            <a:xfrm>
              <a:off x="3337" y="3307"/>
              <a:ext cx="471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0" name="Line 116"/>
            <p:cNvSpPr>
              <a:spLocks noChangeShapeType="1"/>
            </p:cNvSpPr>
            <p:nvPr/>
          </p:nvSpPr>
          <p:spPr bwMode="auto">
            <a:xfrm>
              <a:off x="3808" y="3307"/>
              <a:ext cx="47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1" name="Line 117"/>
            <p:cNvSpPr>
              <a:spLocks noChangeShapeType="1"/>
            </p:cNvSpPr>
            <p:nvPr/>
          </p:nvSpPr>
          <p:spPr bwMode="auto">
            <a:xfrm flipV="1">
              <a:off x="1926" y="3307"/>
              <a:ext cx="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2" name="Line 118"/>
            <p:cNvSpPr>
              <a:spLocks noChangeShapeType="1"/>
            </p:cNvSpPr>
            <p:nvPr/>
          </p:nvSpPr>
          <p:spPr bwMode="auto">
            <a:xfrm flipV="1">
              <a:off x="2396" y="3307"/>
              <a:ext cx="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3" name="Line 119"/>
            <p:cNvSpPr>
              <a:spLocks noChangeShapeType="1"/>
            </p:cNvSpPr>
            <p:nvPr/>
          </p:nvSpPr>
          <p:spPr bwMode="auto">
            <a:xfrm flipV="1">
              <a:off x="2866" y="3307"/>
              <a:ext cx="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4" name="Line 120"/>
            <p:cNvSpPr>
              <a:spLocks noChangeShapeType="1"/>
            </p:cNvSpPr>
            <p:nvPr/>
          </p:nvSpPr>
          <p:spPr bwMode="auto">
            <a:xfrm flipV="1">
              <a:off x="3337" y="3307"/>
              <a:ext cx="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5" name="Line 121"/>
            <p:cNvSpPr>
              <a:spLocks noChangeShapeType="1"/>
            </p:cNvSpPr>
            <p:nvPr/>
          </p:nvSpPr>
          <p:spPr bwMode="auto">
            <a:xfrm flipV="1">
              <a:off x="3808" y="3307"/>
              <a:ext cx="0" cy="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6" name="Line 122"/>
            <p:cNvSpPr>
              <a:spLocks noChangeShapeType="1"/>
            </p:cNvSpPr>
            <p:nvPr/>
          </p:nvSpPr>
          <p:spPr bwMode="auto">
            <a:xfrm>
              <a:off x="1456" y="3302"/>
              <a:ext cx="470" cy="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07" name="Rectangle 123"/>
            <p:cNvSpPr>
              <a:spLocks noChangeArrowheads="1"/>
            </p:cNvSpPr>
            <p:nvPr/>
          </p:nvSpPr>
          <p:spPr bwMode="auto">
            <a:xfrm>
              <a:off x="1005" y="526"/>
              <a:ext cx="512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100" b="1">
                  <a:solidFill>
                    <a:srgbClr val="FFFFFF"/>
                  </a:solidFill>
                </a:rPr>
                <a:t>Inventory</a:t>
              </a:r>
            </a:p>
          </p:txBody>
        </p:sp>
        <p:sp>
          <p:nvSpPr>
            <p:cNvPr id="16508" name="Freeform 124"/>
            <p:cNvSpPr>
              <a:spLocks/>
            </p:cNvSpPr>
            <p:nvPr/>
          </p:nvSpPr>
          <p:spPr bwMode="auto">
            <a:xfrm>
              <a:off x="1437" y="945"/>
              <a:ext cx="943" cy="1174"/>
            </a:xfrm>
            <a:custGeom>
              <a:avLst/>
              <a:gdLst>
                <a:gd name="T0" fmla="*/ 0 w 943"/>
                <a:gd name="T1" fmla="*/ 1170 h 1174"/>
                <a:gd name="T2" fmla="*/ 0 w 943"/>
                <a:gd name="T3" fmla="*/ 0 h 1174"/>
                <a:gd name="T4" fmla="*/ 942 w 943"/>
                <a:gd name="T5" fmla="*/ 1173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43" h="1174">
                  <a:moveTo>
                    <a:pt x="0" y="1170"/>
                  </a:moveTo>
                  <a:lnTo>
                    <a:pt x="0" y="0"/>
                  </a:lnTo>
                  <a:lnTo>
                    <a:pt x="942" y="117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454025"/>
            <a:ext cx="7772400" cy="4889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The EOQ Model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4648200"/>
            <a:ext cx="7772400" cy="1714500"/>
          </a:xfrm>
          <a:noFill/>
          <a:ln/>
        </p:spPr>
        <p:txBody>
          <a:bodyPr lIns="92075" tIns="46038" rIns="92075" bIns="46038"/>
          <a:lstStyle/>
          <a:p>
            <a:pPr>
              <a:buFont typeface="Wingdings" pitchFamily="2" charset="2"/>
              <a:buNone/>
            </a:pPr>
            <a:r>
              <a:rPr lang="en-US" sz="2200" b="1" dirty="0"/>
              <a:t>Assumes:</a:t>
            </a:r>
          </a:p>
          <a:p>
            <a:pPr lvl="1"/>
            <a:r>
              <a:rPr lang="en-US" sz="2200" b="1" dirty="0"/>
              <a:t>Demand (or use) is constant over the year.</a:t>
            </a:r>
          </a:p>
          <a:p>
            <a:pPr lvl="1"/>
            <a:r>
              <a:rPr lang="en-US" sz="2200" b="1" dirty="0"/>
              <a:t>New orders are received in full when the inventory level drops to zero.</a:t>
            </a:r>
          </a:p>
        </p:txBody>
      </p:sp>
      <p:graphicFrame>
        <p:nvGraphicFramePr>
          <p:cNvPr id="17412" name="Object 4"/>
          <p:cNvGraphicFramePr>
            <a:graphicFrameLocks/>
          </p:cNvGraphicFramePr>
          <p:nvPr/>
        </p:nvGraphicFramePr>
        <p:xfrm>
          <a:off x="1395413" y="1149350"/>
          <a:ext cx="585311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8" name="Equation" r:id="rId4" imgW="2438280" imgH="419040" progId="Equation.2">
                  <p:embed/>
                </p:oleObj>
              </mc:Choice>
              <mc:Fallback>
                <p:oleObj name="Equation" r:id="rId4" imgW="2438280" imgH="41904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1149350"/>
                        <a:ext cx="5853112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81000" y="1981200"/>
            <a:ext cx="8382000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339725" indent="-339725" eaLnBrk="0" hangingPunct="0">
              <a:spcBef>
                <a:spcPct val="50000"/>
              </a:spcBef>
            </a:pPr>
            <a:r>
              <a:rPr lang="en-US" sz="2000" b="1" dirty="0">
                <a:latin typeface="Tahoma" pitchFamily="34" charset="0"/>
              </a:rPr>
              <a:t>where</a:t>
            </a:r>
            <a:r>
              <a:rPr lang="en-US" sz="2000" b="1" dirty="0">
                <a:latin typeface="Times New Roman" pitchFamily="18" charset="0"/>
              </a:rPr>
              <a:t>:</a:t>
            </a:r>
          </a:p>
          <a:p>
            <a:pPr marL="339725" indent="-339725" eaLnBrk="0" hangingPunct="0"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	D = </a:t>
            </a:r>
            <a:r>
              <a:rPr lang="en-US" sz="2000" b="1" dirty="0">
                <a:latin typeface="Tahoma" pitchFamily="34" charset="0"/>
              </a:rPr>
              <a:t>annual demand for the item</a:t>
            </a:r>
          </a:p>
          <a:p>
            <a:pPr marL="339725" indent="-339725" eaLnBrk="0" hangingPunct="0"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	C = </a:t>
            </a:r>
            <a:r>
              <a:rPr lang="en-US" sz="2000" b="1" dirty="0">
                <a:latin typeface="Tahoma" pitchFamily="34" charset="0"/>
              </a:rPr>
              <a:t>unit purchase cost for the item</a:t>
            </a:r>
          </a:p>
          <a:p>
            <a:pPr marL="339725" indent="-339725" eaLnBrk="0" hangingPunct="0"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	S = </a:t>
            </a:r>
            <a:r>
              <a:rPr lang="en-US" sz="2000" b="1" dirty="0">
                <a:latin typeface="Tahoma" pitchFamily="34" charset="0"/>
              </a:rPr>
              <a:t>fixed cost of placing an order</a:t>
            </a:r>
          </a:p>
          <a:p>
            <a:pPr marL="339725" indent="-339725" eaLnBrk="0" hangingPunct="0">
              <a:spcBef>
                <a:spcPct val="50000"/>
              </a:spcBef>
            </a:pPr>
            <a:r>
              <a:rPr lang="en-US" sz="2000" b="1" i="1" dirty="0">
                <a:latin typeface="Times New Roman" pitchFamily="18" charset="0"/>
              </a:rPr>
              <a:t>	i</a:t>
            </a:r>
            <a:r>
              <a:rPr lang="en-US" sz="2000" b="1" dirty="0">
                <a:latin typeface="Times New Roman" pitchFamily="18" charset="0"/>
              </a:rPr>
              <a:t> = </a:t>
            </a:r>
            <a:r>
              <a:rPr lang="en-US" sz="2000" b="1" dirty="0">
                <a:latin typeface="Tahoma" pitchFamily="34" charset="0"/>
              </a:rPr>
              <a:t>cost of holding inventory for a year </a:t>
            </a:r>
            <a:r>
              <a:rPr lang="en-US" b="1" dirty="0">
                <a:latin typeface="Tahoma" pitchFamily="34" charset="0"/>
              </a:rPr>
              <a:t>(expressed as a % of</a:t>
            </a:r>
            <a:r>
              <a:rPr lang="en-US" b="1" dirty="0">
                <a:latin typeface="Times New Roman" pitchFamily="18" charset="0"/>
              </a:rPr>
              <a:t> C</a:t>
            </a:r>
            <a:r>
              <a:rPr lang="en-US" b="1" dirty="0">
                <a:latin typeface="Tahoma" pitchFamily="34" charset="0"/>
              </a:rPr>
              <a:t>)</a:t>
            </a:r>
          </a:p>
          <a:p>
            <a:pPr marL="339725" indent="-339725" eaLnBrk="0" hangingPunct="0"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	Q = </a:t>
            </a:r>
            <a:r>
              <a:rPr lang="en-US" sz="2000" b="1" dirty="0">
                <a:latin typeface="Tahoma" pitchFamily="34" charset="0"/>
              </a:rPr>
              <a:t>order quantity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3887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EOQ Cost Relationships</a:t>
            </a:r>
          </a:p>
        </p:txBody>
      </p:sp>
      <p:grpSp>
        <p:nvGrpSpPr>
          <p:cNvPr id="18480" name="Group 48"/>
          <p:cNvGrpSpPr>
            <a:grpSpLocks/>
          </p:cNvGrpSpPr>
          <p:nvPr/>
        </p:nvGrpSpPr>
        <p:grpSpPr bwMode="auto">
          <a:xfrm>
            <a:off x="1368425" y="1143000"/>
            <a:ext cx="6599238" cy="5029200"/>
            <a:chOff x="862" y="912"/>
            <a:chExt cx="4157" cy="3168"/>
          </a:xfrm>
        </p:grpSpPr>
        <p:sp>
          <p:nvSpPr>
            <p:cNvPr id="18435" name="Freeform 3"/>
            <p:cNvSpPr>
              <a:spLocks/>
            </p:cNvSpPr>
            <p:nvPr/>
          </p:nvSpPr>
          <p:spPr bwMode="auto">
            <a:xfrm>
              <a:off x="1288" y="946"/>
              <a:ext cx="3606" cy="2646"/>
            </a:xfrm>
            <a:custGeom>
              <a:avLst/>
              <a:gdLst>
                <a:gd name="T0" fmla="*/ 0 w 3606"/>
                <a:gd name="T1" fmla="*/ 2645 h 2646"/>
                <a:gd name="T2" fmla="*/ 3605 w 3606"/>
                <a:gd name="T3" fmla="*/ 2645 h 2646"/>
                <a:gd name="T4" fmla="*/ 3605 w 3606"/>
                <a:gd name="T5" fmla="*/ 0 h 2646"/>
                <a:gd name="T6" fmla="*/ 0 w 3606"/>
                <a:gd name="T7" fmla="*/ 0 h 2646"/>
                <a:gd name="T8" fmla="*/ 0 w 3606"/>
                <a:gd name="T9" fmla="*/ 2645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06" h="2646">
                  <a:moveTo>
                    <a:pt x="0" y="2645"/>
                  </a:moveTo>
                  <a:lnTo>
                    <a:pt x="3605" y="2645"/>
                  </a:lnTo>
                  <a:lnTo>
                    <a:pt x="3605" y="0"/>
                  </a:lnTo>
                  <a:lnTo>
                    <a:pt x="0" y="0"/>
                  </a:lnTo>
                  <a:lnTo>
                    <a:pt x="0" y="2645"/>
                  </a:ln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6" name="Freeform 4"/>
            <p:cNvSpPr>
              <a:spLocks/>
            </p:cNvSpPr>
            <p:nvPr/>
          </p:nvSpPr>
          <p:spPr bwMode="auto">
            <a:xfrm>
              <a:off x="1504" y="1287"/>
              <a:ext cx="3246" cy="1370"/>
            </a:xfrm>
            <a:custGeom>
              <a:avLst/>
              <a:gdLst>
                <a:gd name="T0" fmla="*/ 0 w 3246"/>
                <a:gd name="T1" fmla="*/ 0 h 1370"/>
                <a:gd name="T2" fmla="*/ 72 w 3246"/>
                <a:gd name="T3" fmla="*/ 519 h 1370"/>
                <a:gd name="T4" fmla="*/ 144 w 3246"/>
                <a:gd name="T5" fmla="*/ 816 h 1370"/>
                <a:gd name="T6" fmla="*/ 216 w 3246"/>
                <a:gd name="T7" fmla="*/ 1003 h 1370"/>
                <a:gd name="T8" fmla="*/ 289 w 3246"/>
                <a:gd name="T9" fmla="*/ 1128 h 1370"/>
                <a:gd name="T10" fmla="*/ 360 w 3246"/>
                <a:gd name="T11" fmla="*/ 1213 h 1370"/>
                <a:gd name="T12" fmla="*/ 433 w 3246"/>
                <a:gd name="T13" fmla="*/ 1272 h 1370"/>
                <a:gd name="T14" fmla="*/ 505 w 3246"/>
                <a:gd name="T15" fmla="*/ 1312 h 1370"/>
                <a:gd name="T16" fmla="*/ 577 w 3246"/>
                <a:gd name="T17" fmla="*/ 1339 h 1370"/>
                <a:gd name="T18" fmla="*/ 649 w 3246"/>
                <a:gd name="T19" fmla="*/ 1356 h 1370"/>
                <a:gd name="T20" fmla="*/ 721 w 3246"/>
                <a:gd name="T21" fmla="*/ 1365 h 1370"/>
                <a:gd name="T22" fmla="*/ 793 w 3246"/>
                <a:gd name="T23" fmla="*/ 1369 h 1370"/>
                <a:gd name="T24" fmla="*/ 865 w 3246"/>
                <a:gd name="T25" fmla="*/ 1367 h 1370"/>
                <a:gd name="T26" fmla="*/ 938 w 3246"/>
                <a:gd name="T27" fmla="*/ 1362 h 1370"/>
                <a:gd name="T28" fmla="*/ 1009 w 3246"/>
                <a:gd name="T29" fmla="*/ 1353 h 1370"/>
                <a:gd name="T30" fmla="*/ 1082 w 3246"/>
                <a:gd name="T31" fmla="*/ 1341 h 1370"/>
                <a:gd name="T32" fmla="*/ 1154 w 3246"/>
                <a:gd name="T33" fmla="*/ 1328 h 1370"/>
                <a:gd name="T34" fmla="*/ 1226 w 3246"/>
                <a:gd name="T35" fmla="*/ 1312 h 1370"/>
                <a:gd name="T36" fmla="*/ 1298 w 3246"/>
                <a:gd name="T37" fmla="*/ 1295 h 1370"/>
                <a:gd name="T38" fmla="*/ 1370 w 3246"/>
                <a:gd name="T39" fmla="*/ 1276 h 1370"/>
                <a:gd name="T40" fmla="*/ 1442 w 3246"/>
                <a:gd name="T41" fmla="*/ 1256 h 1370"/>
                <a:gd name="T42" fmla="*/ 1515 w 3246"/>
                <a:gd name="T43" fmla="*/ 1235 h 1370"/>
                <a:gd name="T44" fmla="*/ 1587 w 3246"/>
                <a:gd name="T45" fmla="*/ 1213 h 1370"/>
                <a:gd name="T46" fmla="*/ 1659 w 3246"/>
                <a:gd name="T47" fmla="*/ 1190 h 1370"/>
                <a:gd name="T48" fmla="*/ 1731 w 3246"/>
                <a:gd name="T49" fmla="*/ 1166 h 1370"/>
                <a:gd name="T50" fmla="*/ 1803 w 3246"/>
                <a:gd name="T51" fmla="*/ 1142 h 1370"/>
                <a:gd name="T52" fmla="*/ 1875 w 3246"/>
                <a:gd name="T53" fmla="*/ 1117 h 1370"/>
                <a:gd name="T54" fmla="*/ 1947 w 3246"/>
                <a:gd name="T55" fmla="*/ 1092 h 1370"/>
                <a:gd name="T56" fmla="*/ 2019 w 3246"/>
                <a:gd name="T57" fmla="*/ 1066 h 1370"/>
                <a:gd name="T58" fmla="*/ 2091 w 3246"/>
                <a:gd name="T59" fmla="*/ 1039 h 1370"/>
                <a:gd name="T60" fmla="*/ 2164 w 3246"/>
                <a:gd name="T61" fmla="*/ 1012 h 1370"/>
                <a:gd name="T62" fmla="*/ 2236 w 3246"/>
                <a:gd name="T63" fmla="*/ 985 h 1370"/>
                <a:gd name="T64" fmla="*/ 2308 w 3246"/>
                <a:gd name="T65" fmla="*/ 958 h 1370"/>
                <a:gd name="T66" fmla="*/ 2380 w 3246"/>
                <a:gd name="T67" fmla="*/ 930 h 1370"/>
                <a:gd name="T68" fmla="*/ 2452 w 3246"/>
                <a:gd name="T69" fmla="*/ 902 h 1370"/>
                <a:gd name="T70" fmla="*/ 2524 w 3246"/>
                <a:gd name="T71" fmla="*/ 873 h 1370"/>
                <a:gd name="T72" fmla="*/ 2596 w 3246"/>
                <a:gd name="T73" fmla="*/ 845 h 1370"/>
                <a:gd name="T74" fmla="*/ 2668 w 3246"/>
                <a:gd name="T75" fmla="*/ 816 h 1370"/>
                <a:gd name="T76" fmla="*/ 2740 w 3246"/>
                <a:gd name="T77" fmla="*/ 787 h 1370"/>
                <a:gd name="T78" fmla="*/ 2813 w 3246"/>
                <a:gd name="T79" fmla="*/ 758 h 1370"/>
                <a:gd name="T80" fmla="*/ 2885 w 3246"/>
                <a:gd name="T81" fmla="*/ 728 h 1370"/>
                <a:gd name="T82" fmla="*/ 2957 w 3246"/>
                <a:gd name="T83" fmla="*/ 699 h 1370"/>
                <a:gd name="T84" fmla="*/ 3029 w 3246"/>
                <a:gd name="T85" fmla="*/ 669 h 1370"/>
                <a:gd name="T86" fmla="*/ 3101 w 3246"/>
                <a:gd name="T87" fmla="*/ 639 h 1370"/>
                <a:gd name="T88" fmla="*/ 3173 w 3246"/>
                <a:gd name="T89" fmla="*/ 609 h 1370"/>
                <a:gd name="T90" fmla="*/ 3245 w 3246"/>
                <a:gd name="T91" fmla="*/ 579 h 1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46" h="1370">
                  <a:moveTo>
                    <a:pt x="0" y="0"/>
                  </a:moveTo>
                  <a:lnTo>
                    <a:pt x="72" y="519"/>
                  </a:lnTo>
                  <a:lnTo>
                    <a:pt x="144" y="816"/>
                  </a:lnTo>
                  <a:lnTo>
                    <a:pt x="216" y="1003"/>
                  </a:lnTo>
                  <a:lnTo>
                    <a:pt x="289" y="1128"/>
                  </a:lnTo>
                  <a:lnTo>
                    <a:pt x="360" y="1213"/>
                  </a:lnTo>
                  <a:lnTo>
                    <a:pt x="433" y="1272"/>
                  </a:lnTo>
                  <a:lnTo>
                    <a:pt x="505" y="1312"/>
                  </a:lnTo>
                  <a:lnTo>
                    <a:pt x="577" y="1339"/>
                  </a:lnTo>
                  <a:lnTo>
                    <a:pt x="649" y="1356"/>
                  </a:lnTo>
                  <a:lnTo>
                    <a:pt x="721" y="1365"/>
                  </a:lnTo>
                  <a:lnTo>
                    <a:pt x="793" y="1369"/>
                  </a:lnTo>
                  <a:lnTo>
                    <a:pt x="865" y="1367"/>
                  </a:lnTo>
                  <a:lnTo>
                    <a:pt x="938" y="1362"/>
                  </a:lnTo>
                  <a:lnTo>
                    <a:pt x="1009" y="1353"/>
                  </a:lnTo>
                  <a:lnTo>
                    <a:pt x="1082" y="1341"/>
                  </a:lnTo>
                  <a:lnTo>
                    <a:pt x="1154" y="1328"/>
                  </a:lnTo>
                  <a:lnTo>
                    <a:pt x="1226" y="1312"/>
                  </a:lnTo>
                  <a:lnTo>
                    <a:pt x="1298" y="1295"/>
                  </a:lnTo>
                  <a:lnTo>
                    <a:pt x="1370" y="1276"/>
                  </a:lnTo>
                  <a:lnTo>
                    <a:pt x="1442" y="1256"/>
                  </a:lnTo>
                  <a:lnTo>
                    <a:pt x="1515" y="1235"/>
                  </a:lnTo>
                  <a:lnTo>
                    <a:pt x="1587" y="1213"/>
                  </a:lnTo>
                  <a:lnTo>
                    <a:pt x="1659" y="1190"/>
                  </a:lnTo>
                  <a:lnTo>
                    <a:pt x="1731" y="1166"/>
                  </a:lnTo>
                  <a:lnTo>
                    <a:pt x="1803" y="1142"/>
                  </a:lnTo>
                  <a:lnTo>
                    <a:pt x="1875" y="1117"/>
                  </a:lnTo>
                  <a:lnTo>
                    <a:pt x="1947" y="1092"/>
                  </a:lnTo>
                  <a:lnTo>
                    <a:pt x="2019" y="1066"/>
                  </a:lnTo>
                  <a:lnTo>
                    <a:pt x="2091" y="1039"/>
                  </a:lnTo>
                  <a:lnTo>
                    <a:pt x="2164" y="1012"/>
                  </a:lnTo>
                  <a:lnTo>
                    <a:pt x="2236" y="985"/>
                  </a:lnTo>
                  <a:lnTo>
                    <a:pt x="2308" y="958"/>
                  </a:lnTo>
                  <a:lnTo>
                    <a:pt x="2380" y="930"/>
                  </a:lnTo>
                  <a:lnTo>
                    <a:pt x="2452" y="902"/>
                  </a:lnTo>
                  <a:lnTo>
                    <a:pt x="2524" y="873"/>
                  </a:lnTo>
                  <a:lnTo>
                    <a:pt x="2596" y="845"/>
                  </a:lnTo>
                  <a:lnTo>
                    <a:pt x="2668" y="816"/>
                  </a:lnTo>
                  <a:lnTo>
                    <a:pt x="2740" y="787"/>
                  </a:lnTo>
                  <a:lnTo>
                    <a:pt x="2813" y="758"/>
                  </a:lnTo>
                  <a:lnTo>
                    <a:pt x="2885" y="728"/>
                  </a:lnTo>
                  <a:lnTo>
                    <a:pt x="2957" y="699"/>
                  </a:lnTo>
                  <a:lnTo>
                    <a:pt x="3029" y="669"/>
                  </a:lnTo>
                  <a:lnTo>
                    <a:pt x="3101" y="639"/>
                  </a:lnTo>
                  <a:lnTo>
                    <a:pt x="3173" y="609"/>
                  </a:lnTo>
                  <a:lnTo>
                    <a:pt x="3245" y="579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Freeform 5"/>
            <p:cNvSpPr>
              <a:spLocks/>
            </p:cNvSpPr>
            <p:nvPr/>
          </p:nvSpPr>
          <p:spPr bwMode="auto">
            <a:xfrm>
              <a:off x="1504" y="1386"/>
              <a:ext cx="3246" cy="2068"/>
            </a:xfrm>
            <a:custGeom>
              <a:avLst/>
              <a:gdLst>
                <a:gd name="T0" fmla="*/ 0 w 3246"/>
                <a:gd name="T1" fmla="*/ 0 h 2068"/>
                <a:gd name="T2" fmla="*/ 72 w 3246"/>
                <a:gd name="T3" fmla="*/ 552 h 2068"/>
                <a:gd name="T4" fmla="*/ 144 w 3246"/>
                <a:gd name="T5" fmla="*/ 882 h 2068"/>
                <a:gd name="T6" fmla="*/ 216 w 3246"/>
                <a:gd name="T7" fmla="*/ 1103 h 2068"/>
                <a:gd name="T8" fmla="*/ 289 w 3246"/>
                <a:gd name="T9" fmla="*/ 1260 h 2068"/>
                <a:gd name="T10" fmla="*/ 360 w 3246"/>
                <a:gd name="T11" fmla="*/ 1378 h 2068"/>
                <a:gd name="T12" fmla="*/ 433 w 3246"/>
                <a:gd name="T13" fmla="*/ 1470 h 2068"/>
                <a:gd name="T14" fmla="*/ 505 w 3246"/>
                <a:gd name="T15" fmla="*/ 1543 h 2068"/>
                <a:gd name="T16" fmla="*/ 577 w 3246"/>
                <a:gd name="T17" fmla="*/ 1604 h 2068"/>
                <a:gd name="T18" fmla="*/ 649 w 3246"/>
                <a:gd name="T19" fmla="*/ 1654 h 2068"/>
                <a:gd name="T20" fmla="*/ 721 w 3246"/>
                <a:gd name="T21" fmla="*/ 1696 h 2068"/>
                <a:gd name="T22" fmla="*/ 793 w 3246"/>
                <a:gd name="T23" fmla="*/ 1733 h 2068"/>
                <a:gd name="T24" fmla="*/ 865 w 3246"/>
                <a:gd name="T25" fmla="*/ 1764 h 2068"/>
                <a:gd name="T26" fmla="*/ 938 w 3246"/>
                <a:gd name="T27" fmla="*/ 1791 h 2068"/>
                <a:gd name="T28" fmla="*/ 1009 w 3246"/>
                <a:gd name="T29" fmla="*/ 1816 h 2068"/>
                <a:gd name="T30" fmla="*/ 1082 w 3246"/>
                <a:gd name="T31" fmla="*/ 1838 h 2068"/>
                <a:gd name="T32" fmla="*/ 1154 w 3246"/>
                <a:gd name="T33" fmla="*/ 1857 h 2068"/>
                <a:gd name="T34" fmla="*/ 1226 w 3246"/>
                <a:gd name="T35" fmla="*/ 1874 h 2068"/>
                <a:gd name="T36" fmla="*/ 1298 w 3246"/>
                <a:gd name="T37" fmla="*/ 1890 h 2068"/>
                <a:gd name="T38" fmla="*/ 1370 w 3246"/>
                <a:gd name="T39" fmla="*/ 1904 h 2068"/>
                <a:gd name="T40" fmla="*/ 1442 w 3246"/>
                <a:gd name="T41" fmla="*/ 1918 h 2068"/>
                <a:gd name="T42" fmla="*/ 1515 w 3246"/>
                <a:gd name="T43" fmla="*/ 1929 h 2068"/>
                <a:gd name="T44" fmla="*/ 1587 w 3246"/>
                <a:gd name="T45" fmla="*/ 1941 h 2068"/>
                <a:gd name="T46" fmla="*/ 1659 w 3246"/>
                <a:gd name="T47" fmla="*/ 1951 h 2068"/>
                <a:gd name="T48" fmla="*/ 1731 w 3246"/>
                <a:gd name="T49" fmla="*/ 1960 h 2068"/>
                <a:gd name="T50" fmla="*/ 1803 w 3246"/>
                <a:gd name="T51" fmla="*/ 1969 h 2068"/>
                <a:gd name="T52" fmla="*/ 1875 w 3246"/>
                <a:gd name="T53" fmla="*/ 1977 h 2068"/>
                <a:gd name="T54" fmla="*/ 1947 w 3246"/>
                <a:gd name="T55" fmla="*/ 1985 h 2068"/>
                <a:gd name="T56" fmla="*/ 2019 w 3246"/>
                <a:gd name="T57" fmla="*/ 1992 h 2068"/>
                <a:gd name="T58" fmla="*/ 2091 w 3246"/>
                <a:gd name="T59" fmla="*/ 1998 h 2068"/>
                <a:gd name="T60" fmla="*/ 2164 w 3246"/>
                <a:gd name="T61" fmla="*/ 2004 h 2068"/>
                <a:gd name="T62" fmla="*/ 2236 w 3246"/>
                <a:gd name="T63" fmla="*/ 2011 h 2068"/>
                <a:gd name="T64" fmla="*/ 2308 w 3246"/>
                <a:gd name="T65" fmla="*/ 2016 h 2068"/>
                <a:gd name="T66" fmla="*/ 2380 w 3246"/>
                <a:gd name="T67" fmla="*/ 2021 h 2068"/>
                <a:gd name="T68" fmla="*/ 2452 w 3246"/>
                <a:gd name="T69" fmla="*/ 2026 h 2068"/>
                <a:gd name="T70" fmla="*/ 2524 w 3246"/>
                <a:gd name="T71" fmla="*/ 2031 h 2068"/>
                <a:gd name="T72" fmla="*/ 2596 w 3246"/>
                <a:gd name="T73" fmla="*/ 2035 h 2068"/>
                <a:gd name="T74" fmla="*/ 2668 w 3246"/>
                <a:gd name="T75" fmla="*/ 2040 h 2068"/>
                <a:gd name="T76" fmla="*/ 2740 w 3246"/>
                <a:gd name="T77" fmla="*/ 2044 h 2068"/>
                <a:gd name="T78" fmla="*/ 2813 w 3246"/>
                <a:gd name="T79" fmla="*/ 2047 h 2068"/>
                <a:gd name="T80" fmla="*/ 2885 w 3246"/>
                <a:gd name="T81" fmla="*/ 2051 h 2068"/>
                <a:gd name="T82" fmla="*/ 2957 w 3246"/>
                <a:gd name="T83" fmla="*/ 2055 h 2068"/>
                <a:gd name="T84" fmla="*/ 3029 w 3246"/>
                <a:gd name="T85" fmla="*/ 2058 h 2068"/>
                <a:gd name="T86" fmla="*/ 3101 w 3246"/>
                <a:gd name="T87" fmla="*/ 2061 h 2068"/>
                <a:gd name="T88" fmla="*/ 3173 w 3246"/>
                <a:gd name="T89" fmla="*/ 2064 h 2068"/>
                <a:gd name="T90" fmla="*/ 3245 w 3246"/>
                <a:gd name="T91" fmla="*/ 2067 h 2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46" h="2068">
                  <a:moveTo>
                    <a:pt x="0" y="0"/>
                  </a:moveTo>
                  <a:lnTo>
                    <a:pt x="72" y="552"/>
                  </a:lnTo>
                  <a:lnTo>
                    <a:pt x="144" y="882"/>
                  </a:lnTo>
                  <a:lnTo>
                    <a:pt x="216" y="1103"/>
                  </a:lnTo>
                  <a:lnTo>
                    <a:pt x="289" y="1260"/>
                  </a:lnTo>
                  <a:lnTo>
                    <a:pt x="360" y="1378"/>
                  </a:lnTo>
                  <a:lnTo>
                    <a:pt x="433" y="1470"/>
                  </a:lnTo>
                  <a:lnTo>
                    <a:pt x="505" y="1543"/>
                  </a:lnTo>
                  <a:lnTo>
                    <a:pt x="577" y="1604"/>
                  </a:lnTo>
                  <a:lnTo>
                    <a:pt x="649" y="1654"/>
                  </a:lnTo>
                  <a:lnTo>
                    <a:pt x="721" y="1696"/>
                  </a:lnTo>
                  <a:lnTo>
                    <a:pt x="793" y="1733"/>
                  </a:lnTo>
                  <a:lnTo>
                    <a:pt x="865" y="1764"/>
                  </a:lnTo>
                  <a:lnTo>
                    <a:pt x="938" y="1791"/>
                  </a:lnTo>
                  <a:lnTo>
                    <a:pt x="1009" y="1816"/>
                  </a:lnTo>
                  <a:lnTo>
                    <a:pt x="1082" y="1838"/>
                  </a:lnTo>
                  <a:lnTo>
                    <a:pt x="1154" y="1857"/>
                  </a:lnTo>
                  <a:lnTo>
                    <a:pt x="1226" y="1874"/>
                  </a:lnTo>
                  <a:lnTo>
                    <a:pt x="1298" y="1890"/>
                  </a:lnTo>
                  <a:lnTo>
                    <a:pt x="1370" y="1904"/>
                  </a:lnTo>
                  <a:lnTo>
                    <a:pt x="1442" y="1918"/>
                  </a:lnTo>
                  <a:lnTo>
                    <a:pt x="1515" y="1929"/>
                  </a:lnTo>
                  <a:lnTo>
                    <a:pt x="1587" y="1941"/>
                  </a:lnTo>
                  <a:lnTo>
                    <a:pt x="1659" y="1951"/>
                  </a:lnTo>
                  <a:lnTo>
                    <a:pt x="1731" y="1960"/>
                  </a:lnTo>
                  <a:lnTo>
                    <a:pt x="1803" y="1969"/>
                  </a:lnTo>
                  <a:lnTo>
                    <a:pt x="1875" y="1977"/>
                  </a:lnTo>
                  <a:lnTo>
                    <a:pt x="1947" y="1985"/>
                  </a:lnTo>
                  <a:lnTo>
                    <a:pt x="2019" y="1992"/>
                  </a:lnTo>
                  <a:lnTo>
                    <a:pt x="2091" y="1998"/>
                  </a:lnTo>
                  <a:lnTo>
                    <a:pt x="2164" y="2004"/>
                  </a:lnTo>
                  <a:lnTo>
                    <a:pt x="2236" y="2011"/>
                  </a:lnTo>
                  <a:lnTo>
                    <a:pt x="2308" y="2016"/>
                  </a:lnTo>
                  <a:lnTo>
                    <a:pt x="2380" y="2021"/>
                  </a:lnTo>
                  <a:lnTo>
                    <a:pt x="2452" y="2026"/>
                  </a:lnTo>
                  <a:lnTo>
                    <a:pt x="2524" y="2031"/>
                  </a:lnTo>
                  <a:lnTo>
                    <a:pt x="2596" y="2035"/>
                  </a:lnTo>
                  <a:lnTo>
                    <a:pt x="2668" y="2040"/>
                  </a:lnTo>
                  <a:lnTo>
                    <a:pt x="2740" y="2044"/>
                  </a:lnTo>
                  <a:lnTo>
                    <a:pt x="2813" y="2047"/>
                  </a:lnTo>
                  <a:lnTo>
                    <a:pt x="2885" y="2051"/>
                  </a:lnTo>
                  <a:lnTo>
                    <a:pt x="2957" y="2055"/>
                  </a:lnTo>
                  <a:lnTo>
                    <a:pt x="3029" y="2058"/>
                  </a:lnTo>
                  <a:lnTo>
                    <a:pt x="3101" y="2061"/>
                  </a:lnTo>
                  <a:lnTo>
                    <a:pt x="3173" y="2064"/>
                  </a:lnTo>
                  <a:lnTo>
                    <a:pt x="3245" y="2067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Freeform 6"/>
            <p:cNvSpPr>
              <a:spLocks/>
            </p:cNvSpPr>
            <p:nvPr/>
          </p:nvSpPr>
          <p:spPr bwMode="auto">
            <a:xfrm>
              <a:off x="1504" y="2004"/>
              <a:ext cx="3246" cy="1489"/>
            </a:xfrm>
            <a:custGeom>
              <a:avLst/>
              <a:gdLst>
                <a:gd name="T0" fmla="*/ 0 w 3246"/>
                <a:gd name="T1" fmla="*/ 1488 h 1489"/>
                <a:gd name="T2" fmla="*/ 72 w 3246"/>
                <a:gd name="T3" fmla="*/ 1455 h 1489"/>
                <a:gd name="T4" fmla="*/ 144 w 3246"/>
                <a:gd name="T5" fmla="*/ 1422 h 1489"/>
                <a:gd name="T6" fmla="*/ 216 w 3246"/>
                <a:gd name="T7" fmla="*/ 1389 h 1489"/>
                <a:gd name="T8" fmla="*/ 289 w 3246"/>
                <a:gd name="T9" fmla="*/ 1355 h 1489"/>
                <a:gd name="T10" fmla="*/ 360 w 3246"/>
                <a:gd name="T11" fmla="*/ 1323 h 1489"/>
                <a:gd name="T12" fmla="*/ 433 w 3246"/>
                <a:gd name="T13" fmla="*/ 1289 h 1489"/>
                <a:gd name="T14" fmla="*/ 505 w 3246"/>
                <a:gd name="T15" fmla="*/ 1256 h 1489"/>
                <a:gd name="T16" fmla="*/ 577 w 3246"/>
                <a:gd name="T17" fmla="*/ 1223 h 1489"/>
                <a:gd name="T18" fmla="*/ 649 w 3246"/>
                <a:gd name="T19" fmla="*/ 1190 h 1489"/>
                <a:gd name="T20" fmla="*/ 721 w 3246"/>
                <a:gd name="T21" fmla="*/ 1157 h 1489"/>
                <a:gd name="T22" fmla="*/ 793 w 3246"/>
                <a:gd name="T23" fmla="*/ 1124 h 1489"/>
                <a:gd name="T24" fmla="*/ 865 w 3246"/>
                <a:gd name="T25" fmla="*/ 1091 h 1489"/>
                <a:gd name="T26" fmla="*/ 938 w 3246"/>
                <a:gd name="T27" fmla="*/ 1058 h 1489"/>
                <a:gd name="T28" fmla="*/ 1009 w 3246"/>
                <a:gd name="T29" fmla="*/ 1025 h 1489"/>
                <a:gd name="T30" fmla="*/ 1082 w 3246"/>
                <a:gd name="T31" fmla="*/ 992 h 1489"/>
                <a:gd name="T32" fmla="*/ 1154 w 3246"/>
                <a:gd name="T33" fmla="*/ 959 h 1489"/>
                <a:gd name="T34" fmla="*/ 1226 w 3246"/>
                <a:gd name="T35" fmla="*/ 925 h 1489"/>
                <a:gd name="T36" fmla="*/ 1298 w 3246"/>
                <a:gd name="T37" fmla="*/ 893 h 1489"/>
                <a:gd name="T38" fmla="*/ 1370 w 3246"/>
                <a:gd name="T39" fmla="*/ 859 h 1489"/>
                <a:gd name="T40" fmla="*/ 1442 w 3246"/>
                <a:gd name="T41" fmla="*/ 826 h 1489"/>
                <a:gd name="T42" fmla="*/ 1515 w 3246"/>
                <a:gd name="T43" fmla="*/ 793 h 1489"/>
                <a:gd name="T44" fmla="*/ 1587 w 3246"/>
                <a:gd name="T45" fmla="*/ 760 h 1489"/>
                <a:gd name="T46" fmla="*/ 1659 w 3246"/>
                <a:gd name="T47" fmla="*/ 727 h 1489"/>
                <a:gd name="T48" fmla="*/ 1731 w 3246"/>
                <a:gd name="T49" fmla="*/ 694 h 1489"/>
                <a:gd name="T50" fmla="*/ 1803 w 3246"/>
                <a:gd name="T51" fmla="*/ 661 h 1489"/>
                <a:gd name="T52" fmla="*/ 1875 w 3246"/>
                <a:gd name="T53" fmla="*/ 628 h 1489"/>
                <a:gd name="T54" fmla="*/ 1947 w 3246"/>
                <a:gd name="T55" fmla="*/ 595 h 1489"/>
                <a:gd name="T56" fmla="*/ 2019 w 3246"/>
                <a:gd name="T57" fmla="*/ 562 h 1489"/>
                <a:gd name="T58" fmla="*/ 2091 w 3246"/>
                <a:gd name="T59" fmla="*/ 529 h 1489"/>
                <a:gd name="T60" fmla="*/ 2164 w 3246"/>
                <a:gd name="T61" fmla="*/ 496 h 1489"/>
                <a:gd name="T62" fmla="*/ 2236 w 3246"/>
                <a:gd name="T63" fmla="*/ 463 h 1489"/>
                <a:gd name="T64" fmla="*/ 2308 w 3246"/>
                <a:gd name="T65" fmla="*/ 430 h 1489"/>
                <a:gd name="T66" fmla="*/ 2380 w 3246"/>
                <a:gd name="T67" fmla="*/ 397 h 1489"/>
                <a:gd name="T68" fmla="*/ 2452 w 3246"/>
                <a:gd name="T69" fmla="*/ 363 h 1489"/>
                <a:gd name="T70" fmla="*/ 2524 w 3246"/>
                <a:gd name="T71" fmla="*/ 330 h 1489"/>
                <a:gd name="T72" fmla="*/ 2596 w 3246"/>
                <a:gd name="T73" fmla="*/ 297 h 1489"/>
                <a:gd name="T74" fmla="*/ 2668 w 3246"/>
                <a:gd name="T75" fmla="*/ 264 h 1489"/>
                <a:gd name="T76" fmla="*/ 2740 w 3246"/>
                <a:gd name="T77" fmla="*/ 231 h 1489"/>
                <a:gd name="T78" fmla="*/ 2813 w 3246"/>
                <a:gd name="T79" fmla="*/ 198 h 1489"/>
                <a:gd name="T80" fmla="*/ 2885 w 3246"/>
                <a:gd name="T81" fmla="*/ 165 h 1489"/>
                <a:gd name="T82" fmla="*/ 2957 w 3246"/>
                <a:gd name="T83" fmla="*/ 132 h 1489"/>
                <a:gd name="T84" fmla="*/ 3029 w 3246"/>
                <a:gd name="T85" fmla="*/ 99 h 1489"/>
                <a:gd name="T86" fmla="*/ 3101 w 3246"/>
                <a:gd name="T87" fmla="*/ 66 h 1489"/>
                <a:gd name="T88" fmla="*/ 3173 w 3246"/>
                <a:gd name="T89" fmla="*/ 33 h 1489"/>
                <a:gd name="T90" fmla="*/ 3245 w 3246"/>
                <a:gd name="T91" fmla="*/ 0 h 1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46" h="1489">
                  <a:moveTo>
                    <a:pt x="0" y="1488"/>
                  </a:moveTo>
                  <a:lnTo>
                    <a:pt x="72" y="1455"/>
                  </a:lnTo>
                  <a:lnTo>
                    <a:pt x="144" y="1422"/>
                  </a:lnTo>
                  <a:lnTo>
                    <a:pt x="216" y="1389"/>
                  </a:lnTo>
                  <a:lnTo>
                    <a:pt x="289" y="1355"/>
                  </a:lnTo>
                  <a:lnTo>
                    <a:pt x="360" y="1323"/>
                  </a:lnTo>
                  <a:lnTo>
                    <a:pt x="433" y="1289"/>
                  </a:lnTo>
                  <a:lnTo>
                    <a:pt x="505" y="1256"/>
                  </a:lnTo>
                  <a:lnTo>
                    <a:pt x="577" y="1223"/>
                  </a:lnTo>
                  <a:lnTo>
                    <a:pt x="649" y="1190"/>
                  </a:lnTo>
                  <a:lnTo>
                    <a:pt x="721" y="1157"/>
                  </a:lnTo>
                  <a:lnTo>
                    <a:pt x="793" y="1124"/>
                  </a:lnTo>
                  <a:lnTo>
                    <a:pt x="865" y="1091"/>
                  </a:lnTo>
                  <a:lnTo>
                    <a:pt x="938" y="1058"/>
                  </a:lnTo>
                  <a:lnTo>
                    <a:pt x="1009" y="1025"/>
                  </a:lnTo>
                  <a:lnTo>
                    <a:pt x="1082" y="992"/>
                  </a:lnTo>
                  <a:lnTo>
                    <a:pt x="1154" y="959"/>
                  </a:lnTo>
                  <a:lnTo>
                    <a:pt x="1226" y="925"/>
                  </a:lnTo>
                  <a:lnTo>
                    <a:pt x="1298" y="893"/>
                  </a:lnTo>
                  <a:lnTo>
                    <a:pt x="1370" y="859"/>
                  </a:lnTo>
                  <a:lnTo>
                    <a:pt x="1442" y="826"/>
                  </a:lnTo>
                  <a:lnTo>
                    <a:pt x="1515" y="793"/>
                  </a:lnTo>
                  <a:lnTo>
                    <a:pt x="1587" y="760"/>
                  </a:lnTo>
                  <a:lnTo>
                    <a:pt x="1659" y="727"/>
                  </a:lnTo>
                  <a:lnTo>
                    <a:pt x="1731" y="694"/>
                  </a:lnTo>
                  <a:lnTo>
                    <a:pt x="1803" y="661"/>
                  </a:lnTo>
                  <a:lnTo>
                    <a:pt x="1875" y="628"/>
                  </a:lnTo>
                  <a:lnTo>
                    <a:pt x="1947" y="595"/>
                  </a:lnTo>
                  <a:lnTo>
                    <a:pt x="2019" y="562"/>
                  </a:lnTo>
                  <a:lnTo>
                    <a:pt x="2091" y="529"/>
                  </a:lnTo>
                  <a:lnTo>
                    <a:pt x="2164" y="496"/>
                  </a:lnTo>
                  <a:lnTo>
                    <a:pt x="2236" y="463"/>
                  </a:lnTo>
                  <a:lnTo>
                    <a:pt x="2308" y="430"/>
                  </a:lnTo>
                  <a:lnTo>
                    <a:pt x="2380" y="397"/>
                  </a:lnTo>
                  <a:lnTo>
                    <a:pt x="2452" y="363"/>
                  </a:lnTo>
                  <a:lnTo>
                    <a:pt x="2524" y="330"/>
                  </a:lnTo>
                  <a:lnTo>
                    <a:pt x="2596" y="297"/>
                  </a:lnTo>
                  <a:lnTo>
                    <a:pt x="2668" y="264"/>
                  </a:lnTo>
                  <a:lnTo>
                    <a:pt x="2740" y="231"/>
                  </a:lnTo>
                  <a:lnTo>
                    <a:pt x="2813" y="198"/>
                  </a:lnTo>
                  <a:lnTo>
                    <a:pt x="2885" y="165"/>
                  </a:lnTo>
                  <a:lnTo>
                    <a:pt x="2957" y="132"/>
                  </a:lnTo>
                  <a:lnTo>
                    <a:pt x="3029" y="99"/>
                  </a:lnTo>
                  <a:lnTo>
                    <a:pt x="3101" y="66"/>
                  </a:lnTo>
                  <a:lnTo>
                    <a:pt x="3173" y="33"/>
                  </a:lnTo>
                  <a:lnTo>
                    <a:pt x="3245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 flipV="1">
              <a:off x="1288" y="3591"/>
              <a:ext cx="0" cy="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 flipV="1">
              <a:off x="2009" y="3591"/>
              <a:ext cx="0" cy="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V="1">
              <a:off x="2730" y="3591"/>
              <a:ext cx="0" cy="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 flipV="1">
              <a:off x="3451" y="3591"/>
              <a:ext cx="0" cy="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 flipV="1">
              <a:off x="4172" y="3591"/>
              <a:ext cx="0" cy="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 flipV="1">
              <a:off x="4893" y="3591"/>
              <a:ext cx="0" cy="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1234" y="3591"/>
              <a:ext cx="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6" name="Line 14"/>
            <p:cNvSpPr>
              <a:spLocks noChangeShapeType="1"/>
            </p:cNvSpPr>
            <p:nvPr/>
          </p:nvSpPr>
          <p:spPr bwMode="auto">
            <a:xfrm>
              <a:off x="1234" y="3150"/>
              <a:ext cx="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1234" y="2709"/>
              <a:ext cx="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>
              <a:off x="1234" y="2268"/>
              <a:ext cx="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1234" y="1828"/>
              <a:ext cx="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1234" y="1386"/>
              <a:ext cx="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1234" y="946"/>
              <a:ext cx="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>
              <a:off x="1288" y="3591"/>
              <a:ext cx="36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 flipV="1">
              <a:off x="4893" y="946"/>
              <a:ext cx="0" cy="26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 flipH="1">
              <a:off x="1288" y="946"/>
              <a:ext cx="36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1288" y="946"/>
              <a:ext cx="0" cy="26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Rectangle 24"/>
            <p:cNvSpPr>
              <a:spLocks noChangeArrowheads="1"/>
            </p:cNvSpPr>
            <p:nvPr/>
          </p:nvSpPr>
          <p:spPr bwMode="auto">
            <a:xfrm>
              <a:off x="1197" y="3641"/>
              <a:ext cx="18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18457" name="Rectangle 25"/>
            <p:cNvSpPr>
              <a:spLocks noChangeArrowheads="1"/>
            </p:cNvSpPr>
            <p:nvPr/>
          </p:nvSpPr>
          <p:spPr bwMode="auto">
            <a:xfrm>
              <a:off x="1886" y="3641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10</a:t>
              </a:r>
            </a:p>
          </p:txBody>
        </p:sp>
        <p:sp>
          <p:nvSpPr>
            <p:cNvPr id="18458" name="Rectangle 26"/>
            <p:cNvSpPr>
              <a:spLocks noChangeArrowheads="1"/>
            </p:cNvSpPr>
            <p:nvPr/>
          </p:nvSpPr>
          <p:spPr bwMode="auto">
            <a:xfrm>
              <a:off x="2607" y="3641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20</a:t>
              </a:r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>
              <a:off x="3328" y="3641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30</a:t>
              </a:r>
            </a:p>
          </p:txBody>
        </p:sp>
        <p:sp>
          <p:nvSpPr>
            <p:cNvPr id="18460" name="Rectangle 28"/>
            <p:cNvSpPr>
              <a:spLocks noChangeArrowheads="1"/>
            </p:cNvSpPr>
            <p:nvPr/>
          </p:nvSpPr>
          <p:spPr bwMode="auto">
            <a:xfrm>
              <a:off x="4049" y="3641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40</a:t>
              </a:r>
            </a:p>
          </p:txBody>
        </p:sp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4770" y="3641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50</a:t>
              </a:r>
            </a:p>
          </p:txBody>
        </p:sp>
        <p:sp>
          <p:nvSpPr>
            <p:cNvPr id="18462" name="Rectangle 30"/>
            <p:cNvSpPr>
              <a:spLocks noChangeArrowheads="1"/>
            </p:cNvSpPr>
            <p:nvPr/>
          </p:nvSpPr>
          <p:spPr bwMode="auto">
            <a:xfrm>
              <a:off x="1057" y="3495"/>
              <a:ext cx="18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18463" name="Rectangle 31"/>
            <p:cNvSpPr>
              <a:spLocks noChangeArrowheads="1"/>
            </p:cNvSpPr>
            <p:nvPr/>
          </p:nvSpPr>
          <p:spPr bwMode="auto">
            <a:xfrm>
              <a:off x="927" y="3054"/>
              <a:ext cx="31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200</a:t>
              </a:r>
            </a:p>
          </p:txBody>
        </p:sp>
        <p:sp>
          <p:nvSpPr>
            <p:cNvPr id="18464" name="Rectangle 32"/>
            <p:cNvSpPr>
              <a:spLocks noChangeArrowheads="1"/>
            </p:cNvSpPr>
            <p:nvPr/>
          </p:nvSpPr>
          <p:spPr bwMode="auto">
            <a:xfrm>
              <a:off x="927" y="2613"/>
              <a:ext cx="31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400</a:t>
              </a:r>
            </a:p>
          </p:txBody>
        </p:sp>
        <p:sp>
          <p:nvSpPr>
            <p:cNvPr id="18465" name="Rectangle 33"/>
            <p:cNvSpPr>
              <a:spLocks noChangeArrowheads="1"/>
            </p:cNvSpPr>
            <p:nvPr/>
          </p:nvSpPr>
          <p:spPr bwMode="auto">
            <a:xfrm>
              <a:off x="927" y="2172"/>
              <a:ext cx="31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600</a:t>
              </a:r>
            </a:p>
          </p:txBody>
        </p:sp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927" y="1732"/>
              <a:ext cx="31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800</a:t>
              </a:r>
            </a:p>
          </p:txBody>
        </p:sp>
        <p:sp>
          <p:nvSpPr>
            <p:cNvPr id="18467" name="Rectangle 35"/>
            <p:cNvSpPr>
              <a:spLocks noChangeArrowheads="1"/>
            </p:cNvSpPr>
            <p:nvPr/>
          </p:nvSpPr>
          <p:spPr bwMode="auto">
            <a:xfrm>
              <a:off x="862" y="1291"/>
              <a:ext cx="38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chemeClr val="tx2"/>
                  </a:solidFill>
                </a:rPr>
                <a:t>1000</a:t>
              </a:r>
            </a:p>
          </p:txBody>
        </p:sp>
        <p:sp>
          <p:nvSpPr>
            <p:cNvPr id="18468" name="Rectangle 36"/>
            <p:cNvSpPr>
              <a:spLocks noChangeArrowheads="1"/>
            </p:cNvSpPr>
            <p:nvPr/>
          </p:nvSpPr>
          <p:spPr bwMode="auto">
            <a:xfrm>
              <a:off x="1073" y="91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b="1">
                  <a:solidFill>
                    <a:schemeClr val="tx2"/>
                  </a:solidFill>
                </a:rPr>
                <a:t>$</a:t>
              </a:r>
            </a:p>
          </p:txBody>
        </p:sp>
        <p:sp>
          <p:nvSpPr>
            <p:cNvPr id="18469" name="Rectangle 37"/>
            <p:cNvSpPr>
              <a:spLocks noChangeArrowheads="1"/>
            </p:cNvSpPr>
            <p:nvPr/>
          </p:nvSpPr>
          <p:spPr bwMode="auto">
            <a:xfrm>
              <a:off x="2533" y="3849"/>
              <a:ext cx="11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b="1"/>
                <a:t>Order Quantity</a:t>
              </a:r>
            </a:p>
          </p:txBody>
        </p:sp>
        <p:sp>
          <p:nvSpPr>
            <p:cNvPr id="18470" name="Rectangle 38"/>
            <p:cNvSpPr>
              <a:spLocks noChangeArrowheads="1"/>
            </p:cNvSpPr>
            <p:nvPr/>
          </p:nvSpPr>
          <p:spPr bwMode="auto">
            <a:xfrm>
              <a:off x="3143" y="1751"/>
              <a:ext cx="74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Total Cost</a:t>
              </a:r>
            </a:p>
          </p:txBody>
        </p:sp>
        <p:sp>
          <p:nvSpPr>
            <p:cNvPr id="18471" name="Line 39"/>
            <p:cNvSpPr>
              <a:spLocks noChangeShapeType="1"/>
            </p:cNvSpPr>
            <p:nvPr/>
          </p:nvSpPr>
          <p:spPr bwMode="auto">
            <a:xfrm>
              <a:off x="3888" y="1863"/>
              <a:ext cx="287" cy="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Rectangle 40"/>
            <p:cNvSpPr>
              <a:spLocks noChangeArrowheads="1"/>
            </p:cNvSpPr>
            <p:nvPr/>
          </p:nvSpPr>
          <p:spPr bwMode="auto">
            <a:xfrm>
              <a:off x="3868" y="2653"/>
              <a:ext cx="96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Carrying Cost</a:t>
              </a:r>
            </a:p>
          </p:txBody>
        </p:sp>
        <p:sp>
          <p:nvSpPr>
            <p:cNvPr id="18473" name="Rectangle 41"/>
            <p:cNvSpPr>
              <a:spLocks noChangeArrowheads="1"/>
            </p:cNvSpPr>
            <p:nvPr/>
          </p:nvSpPr>
          <p:spPr bwMode="auto">
            <a:xfrm>
              <a:off x="3846" y="3050"/>
              <a:ext cx="97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Ordering Cost</a:t>
              </a:r>
            </a:p>
          </p:txBody>
        </p:sp>
        <p:sp>
          <p:nvSpPr>
            <p:cNvPr id="18474" name="Rectangle 42"/>
            <p:cNvSpPr>
              <a:spLocks noChangeArrowheads="1"/>
            </p:cNvSpPr>
            <p:nvPr/>
          </p:nvSpPr>
          <p:spPr bwMode="auto">
            <a:xfrm>
              <a:off x="2530" y="3284"/>
              <a:ext cx="40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 b="1"/>
                <a:t>EOQ</a:t>
              </a:r>
            </a:p>
          </p:txBody>
        </p:sp>
        <p:sp>
          <p:nvSpPr>
            <p:cNvPr id="18475" name="Line 43"/>
            <p:cNvSpPr>
              <a:spLocks noChangeShapeType="1"/>
            </p:cNvSpPr>
            <p:nvPr/>
          </p:nvSpPr>
          <p:spPr bwMode="auto">
            <a:xfrm flipH="1" flipV="1">
              <a:off x="3711" y="2565"/>
              <a:ext cx="199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6" name="Line 44"/>
            <p:cNvSpPr>
              <a:spLocks noChangeShapeType="1"/>
            </p:cNvSpPr>
            <p:nvPr/>
          </p:nvSpPr>
          <p:spPr bwMode="auto">
            <a:xfrm flipH="1">
              <a:off x="3646" y="3157"/>
              <a:ext cx="223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7" name="Line 45"/>
            <p:cNvSpPr>
              <a:spLocks noChangeShapeType="1"/>
            </p:cNvSpPr>
            <p:nvPr/>
          </p:nvSpPr>
          <p:spPr bwMode="auto">
            <a:xfrm flipH="1">
              <a:off x="2354" y="3398"/>
              <a:ext cx="194" cy="1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8" name="Line 46"/>
            <p:cNvSpPr>
              <a:spLocks noChangeShapeType="1"/>
            </p:cNvSpPr>
            <p:nvPr/>
          </p:nvSpPr>
          <p:spPr bwMode="auto">
            <a:xfrm flipV="1">
              <a:off x="2311" y="2657"/>
              <a:ext cx="1" cy="9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7947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An EOQ Example: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Ordering Paper For MetroBank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65300"/>
            <a:ext cx="8229600" cy="3983038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Alan Wang purchases paper for copy machines and laser printers at </a:t>
            </a:r>
            <a:r>
              <a:rPr lang="en-US" sz="2800" dirty="0" err="1"/>
              <a:t>MetroBank</a:t>
            </a:r>
            <a:r>
              <a:rPr lang="en-US" sz="2800" dirty="0"/>
              <a:t>.</a:t>
            </a:r>
          </a:p>
          <a:p>
            <a:pPr lvl="1"/>
            <a:r>
              <a:rPr lang="en-US" dirty="0"/>
              <a:t>Annual demand (D) is for 24,000 boxes</a:t>
            </a:r>
          </a:p>
          <a:p>
            <a:pPr lvl="1"/>
            <a:r>
              <a:rPr lang="en-US" dirty="0"/>
              <a:t>Each box costs $35 (C)</a:t>
            </a:r>
          </a:p>
          <a:p>
            <a:pPr lvl="1"/>
            <a:r>
              <a:rPr lang="en-US" dirty="0"/>
              <a:t>Each order costs $50 (S)</a:t>
            </a:r>
          </a:p>
          <a:p>
            <a:pPr lvl="1"/>
            <a:r>
              <a:rPr lang="en-US" dirty="0"/>
              <a:t>Inventory carrying costs are 18% (</a:t>
            </a:r>
            <a:r>
              <a:rPr lang="en-US" i="1" dirty="0" err="1">
                <a:latin typeface="Times New Roman" pitchFamily="18" charset="0"/>
              </a:rPr>
              <a:t>i</a:t>
            </a:r>
            <a:r>
              <a:rPr lang="en-US" dirty="0"/>
              <a:t>)</a:t>
            </a:r>
          </a:p>
          <a:p>
            <a:r>
              <a:rPr lang="en-US" sz="2800" dirty="0"/>
              <a:t>What is the optimal order quantity (Q)?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77825"/>
            <a:ext cx="7772400" cy="8366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The Model</a:t>
            </a:r>
          </a:p>
        </p:txBody>
      </p:sp>
      <p:graphicFrame>
        <p:nvGraphicFramePr>
          <p:cNvPr id="20483" name="Object 3"/>
          <p:cNvGraphicFramePr>
            <a:graphicFrameLocks/>
          </p:cNvGraphicFramePr>
          <p:nvPr/>
        </p:nvGraphicFramePr>
        <p:xfrm>
          <a:off x="2514600" y="1371600"/>
          <a:ext cx="38862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4" name="Equation" r:id="rId4" imgW="1498320" imgH="419040" progId="Equation.2">
                  <p:embed/>
                </p:oleObj>
              </mc:Choice>
              <mc:Fallback>
                <p:oleObj name="Equation" r:id="rId4" imgW="1498320" imgH="419040" progId="Equation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371600"/>
                        <a:ext cx="38862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/>
          </p:cNvGraphicFramePr>
          <p:nvPr/>
        </p:nvGraphicFramePr>
        <p:xfrm>
          <a:off x="2743200" y="2743200"/>
          <a:ext cx="3200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5" name="Equation" r:id="rId6" imgW="1066680" imgH="203040" progId="Equation.2">
                  <p:embed/>
                </p:oleObj>
              </mc:Choice>
              <mc:Fallback>
                <p:oleObj name="Equation" r:id="rId6" imgW="1066680" imgH="20304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43200"/>
                        <a:ext cx="3200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905000" y="3810000"/>
            <a:ext cx="5943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600" b="1">
                <a:solidFill>
                  <a:srgbClr val="FFFFFF"/>
                </a:solidFill>
                <a:latin typeface="Tahoma" pitchFamily="34" charset="0"/>
              </a:rPr>
              <a:t>(Note the nonlinear objective!)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524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8421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Fig8-6.xlsm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Comments on the EOQ Model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1101725"/>
            <a:ext cx="7772400" cy="1052513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Using calculus, it can be shown that the optimal value of Q is:</a:t>
            </a:r>
          </a:p>
        </p:txBody>
      </p:sp>
      <p:graphicFrame>
        <p:nvGraphicFramePr>
          <p:cNvPr id="22532" name="Object 4"/>
          <p:cNvGraphicFramePr>
            <a:graphicFrameLocks/>
          </p:cNvGraphicFramePr>
          <p:nvPr/>
        </p:nvGraphicFramePr>
        <p:xfrm>
          <a:off x="3213100" y="2205038"/>
          <a:ext cx="183356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8" name="Equation" r:id="rId4" imgW="774360" imgH="444240" progId="Equation.2">
                  <p:embed/>
                </p:oleObj>
              </mc:Choice>
              <mc:Fallback>
                <p:oleObj name="Equation" r:id="rId4" imgW="774360" imgH="44424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2205038"/>
                        <a:ext cx="183356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581025" y="3276600"/>
            <a:ext cx="7772400" cy="105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3200" dirty="0">
                <a:latin typeface="Tahoma" pitchFamily="34" charset="0"/>
              </a:rPr>
              <a:t>Numerous variations on the basic EOQ model exist accounting for: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800" dirty="0"/>
              <a:t>quantity discounts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800" dirty="0"/>
              <a:t>storage restrictions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800" dirty="0"/>
              <a:t>backlogging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800" dirty="0" err="1"/>
              <a:t>etc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196850"/>
            <a:ext cx="7772400" cy="630238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Location Problems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863600"/>
            <a:ext cx="8291512" cy="3687763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Many decision problems involve determining optimal locations for facilities or service centers. For example,</a:t>
            </a:r>
          </a:p>
          <a:p>
            <a:pPr lvl="1"/>
            <a:r>
              <a:rPr lang="en-US" sz="2400" dirty="0"/>
              <a:t>Manufacturing plants</a:t>
            </a:r>
          </a:p>
          <a:p>
            <a:pPr lvl="1"/>
            <a:r>
              <a:rPr lang="en-US" sz="2400" dirty="0"/>
              <a:t>Warehouse</a:t>
            </a:r>
          </a:p>
          <a:p>
            <a:pPr lvl="1"/>
            <a:r>
              <a:rPr lang="en-US" sz="2400" dirty="0"/>
              <a:t>Fire stations</a:t>
            </a:r>
          </a:p>
          <a:p>
            <a:pPr lvl="1"/>
            <a:r>
              <a:rPr lang="en-US" sz="2400" dirty="0"/>
              <a:t>Ambulance centers</a:t>
            </a:r>
          </a:p>
          <a:p>
            <a:r>
              <a:rPr lang="en-US" sz="2400" dirty="0"/>
              <a:t>These problems usually involve distance measures in the objective and/or constraints.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50875" y="3713163"/>
            <a:ext cx="77724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59" name="Group 7"/>
          <p:cNvGrpSpPr>
            <a:grpSpLocks/>
          </p:cNvGrpSpPr>
          <p:nvPr/>
        </p:nvGrpSpPr>
        <p:grpSpPr bwMode="auto">
          <a:xfrm>
            <a:off x="614363" y="4430713"/>
            <a:ext cx="7772400" cy="1589087"/>
            <a:chOff x="387" y="2715"/>
            <a:chExt cx="4896" cy="1001"/>
          </a:xfrm>
        </p:grpSpPr>
        <p:sp>
          <p:nvSpPr>
            <p:cNvPr id="23557" name="Rectangle 5"/>
            <p:cNvSpPr>
              <a:spLocks noChangeArrowheads="1"/>
            </p:cNvSpPr>
            <p:nvPr/>
          </p:nvSpPr>
          <p:spPr bwMode="auto">
            <a:xfrm>
              <a:off x="387" y="2715"/>
              <a:ext cx="4896" cy="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400" dirty="0">
                  <a:latin typeface="Tahoma" pitchFamily="34" charset="0"/>
                </a:rPr>
                <a:t>The straight line (Euclidean) distance between two points (X</a:t>
              </a:r>
              <a:r>
                <a:rPr lang="en-US" sz="2400" baseline="-25000" dirty="0">
                  <a:latin typeface="Tahoma" pitchFamily="34" charset="0"/>
                </a:rPr>
                <a:t>1</a:t>
              </a:r>
              <a:r>
                <a:rPr lang="en-US" sz="2400" dirty="0">
                  <a:latin typeface="Tahoma" pitchFamily="34" charset="0"/>
                </a:rPr>
                <a:t>, Y</a:t>
              </a:r>
              <a:r>
                <a:rPr lang="en-US" sz="2400" baseline="-25000" dirty="0">
                  <a:latin typeface="Tahoma" pitchFamily="34" charset="0"/>
                </a:rPr>
                <a:t>1</a:t>
              </a:r>
              <a:r>
                <a:rPr lang="en-US" sz="2400" dirty="0">
                  <a:latin typeface="Tahoma" pitchFamily="34" charset="0"/>
                </a:rPr>
                <a:t>) and (X</a:t>
              </a:r>
              <a:r>
                <a:rPr lang="en-US" sz="2400" baseline="-25000" dirty="0">
                  <a:latin typeface="Tahoma" pitchFamily="34" charset="0"/>
                </a:rPr>
                <a:t>2</a:t>
              </a:r>
              <a:r>
                <a:rPr lang="en-US" sz="2400" dirty="0">
                  <a:latin typeface="Tahoma" pitchFamily="34" charset="0"/>
                </a:rPr>
                <a:t>, Y</a:t>
              </a:r>
              <a:r>
                <a:rPr lang="en-US" sz="2400" baseline="-25000" dirty="0">
                  <a:latin typeface="Tahoma" pitchFamily="34" charset="0"/>
                </a:rPr>
                <a:t>2</a:t>
              </a:r>
              <a:r>
                <a:rPr lang="en-US" sz="2400" dirty="0">
                  <a:latin typeface="Tahoma" pitchFamily="34" charset="0"/>
                </a:rPr>
                <a:t>) is:</a:t>
              </a:r>
            </a:p>
          </p:txBody>
        </p:sp>
        <p:graphicFrame>
          <p:nvGraphicFramePr>
            <p:cNvPr id="23558" name="Object 6"/>
            <p:cNvGraphicFramePr>
              <a:graphicFrameLocks/>
            </p:cNvGraphicFramePr>
            <p:nvPr/>
          </p:nvGraphicFramePr>
          <p:xfrm>
            <a:off x="1047" y="3242"/>
            <a:ext cx="3312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4" name="Equation" r:id="rId4" imgW="2247840" imgH="330120" progId="Equation.2">
                    <p:embed/>
                  </p:oleObj>
                </mc:Choice>
                <mc:Fallback>
                  <p:oleObj name="Equation" r:id="rId4" imgW="2247840" imgH="330120" progId="Equation.2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7" y="3242"/>
                          <a:ext cx="3312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4975"/>
            <a:ext cx="8229600" cy="70485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4000" i="1">
                <a:solidFill>
                  <a:schemeClr val="hlink"/>
                </a:solidFill>
              </a:rPr>
              <a:t>A Location Problem: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Rappaport Communications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8735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sz="2800" dirty="0"/>
              <a:t>Rappaport Communications provides cellular phone service in several mid-western states.</a:t>
            </a:r>
          </a:p>
          <a:p>
            <a:pPr>
              <a:lnSpc>
                <a:spcPct val="120000"/>
              </a:lnSpc>
            </a:pPr>
            <a:r>
              <a:rPr lang="en-US" sz="2800"/>
              <a:t>They want to expand to provide inter-city service between four cities in northern Ohio. 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A new communications tower must be built to handle these inter-city calls.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The tower will have a 40 mile transmission radius.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82613"/>
          </a:xfrm>
          <a:noFill/>
          <a:ln/>
        </p:spPr>
        <p:txBody>
          <a:bodyPr lIns="92075" tIns="46038" rIns="92075" bIns="46038"/>
          <a:lstStyle/>
          <a:p>
            <a:r>
              <a:rPr lang="en-US" sz="3900" i="1">
                <a:solidFill>
                  <a:schemeClr val="hlink"/>
                </a:solidFill>
              </a:rPr>
              <a:t>Graph of the Tower Location Problem</a:t>
            </a:r>
          </a:p>
        </p:txBody>
      </p:sp>
      <p:grpSp>
        <p:nvGrpSpPr>
          <p:cNvPr id="25647" name="Group 47"/>
          <p:cNvGrpSpPr>
            <a:grpSpLocks/>
          </p:cNvGrpSpPr>
          <p:nvPr/>
        </p:nvGrpSpPr>
        <p:grpSpPr bwMode="auto">
          <a:xfrm>
            <a:off x="992188" y="934677"/>
            <a:ext cx="6784975" cy="5072784"/>
            <a:chOff x="625" y="468"/>
            <a:chExt cx="4274" cy="3515"/>
          </a:xfrm>
        </p:grpSpPr>
        <p:sp>
          <p:nvSpPr>
            <p:cNvPr id="25603" name="Rectangle 3"/>
            <p:cNvSpPr>
              <a:spLocks noChangeArrowheads="1"/>
            </p:cNvSpPr>
            <p:nvPr/>
          </p:nvSpPr>
          <p:spPr bwMode="auto">
            <a:xfrm>
              <a:off x="1371" y="925"/>
              <a:ext cx="68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Cleveland</a:t>
              </a:r>
            </a:p>
          </p:txBody>
        </p:sp>
        <p:sp>
          <p:nvSpPr>
            <p:cNvPr id="25604" name="Rectangle 4"/>
            <p:cNvSpPr>
              <a:spLocks noChangeArrowheads="1"/>
            </p:cNvSpPr>
            <p:nvPr/>
          </p:nvSpPr>
          <p:spPr bwMode="auto">
            <a:xfrm>
              <a:off x="1447" y="2212"/>
              <a:ext cx="46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Akron</a:t>
              </a:r>
            </a:p>
          </p:txBody>
        </p:sp>
        <p:sp>
          <p:nvSpPr>
            <p:cNvPr id="25605" name="Rectangle 5"/>
            <p:cNvSpPr>
              <a:spLocks noChangeArrowheads="1"/>
            </p:cNvSpPr>
            <p:nvPr/>
          </p:nvSpPr>
          <p:spPr bwMode="auto">
            <a:xfrm>
              <a:off x="4065" y="2094"/>
              <a:ext cx="834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Youngstown</a:t>
              </a:r>
            </a:p>
          </p:txBody>
        </p:sp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1844" y="3183"/>
              <a:ext cx="52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Canton</a:t>
              </a:r>
            </a:p>
          </p:txBody>
        </p:sp>
        <p:sp>
          <p:nvSpPr>
            <p:cNvPr id="25607" name="Rectangle 7"/>
            <p:cNvSpPr>
              <a:spLocks noChangeArrowheads="1"/>
            </p:cNvSpPr>
            <p:nvPr/>
          </p:nvSpPr>
          <p:spPr bwMode="auto">
            <a:xfrm>
              <a:off x="1365" y="1071"/>
              <a:ext cx="657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x=5, y=45</a:t>
              </a:r>
            </a:p>
          </p:txBody>
        </p:sp>
        <p:sp>
          <p:nvSpPr>
            <p:cNvPr id="25608" name="Rectangle 8"/>
            <p:cNvSpPr>
              <a:spLocks noChangeArrowheads="1"/>
            </p:cNvSpPr>
            <p:nvPr/>
          </p:nvSpPr>
          <p:spPr bwMode="auto">
            <a:xfrm>
              <a:off x="1453" y="2344"/>
              <a:ext cx="72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x=12, y=21</a:t>
              </a:r>
            </a:p>
          </p:txBody>
        </p:sp>
        <p:sp>
          <p:nvSpPr>
            <p:cNvPr id="25609" name="Rectangle 9"/>
            <p:cNvSpPr>
              <a:spLocks noChangeArrowheads="1"/>
            </p:cNvSpPr>
            <p:nvPr/>
          </p:nvSpPr>
          <p:spPr bwMode="auto">
            <a:xfrm>
              <a:off x="1864" y="3358"/>
              <a:ext cx="657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x=17, y=5</a:t>
              </a:r>
            </a:p>
          </p:txBody>
        </p:sp>
        <p:sp>
          <p:nvSpPr>
            <p:cNvPr id="25610" name="Rectangle 10"/>
            <p:cNvSpPr>
              <a:spLocks noChangeArrowheads="1"/>
            </p:cNvSpPr>
            <p:nvPr/>
          </p:nvSpPr>
          <p:spPr bwMode="auto">
            <a:xfrm>
              <a:off x="4100" y="2298"/>
              <a:ext cx="72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x=52, y=21</a:t>
              </a:r>
            </a:p>
          </p:txBody>
        </p:sp>
        <p:sp>
          <p:nvSpPr>
            <p:cNvPr id="25611" name="Line 11"/>
            <p:cNvSpPr>
              <a:spLocks noChangeShapeType="1"/>
            </p:cNvSpPr>
            <p:nvPr/>
          </p:nvSpPr>
          <p:spPr bwMode="auto">
            <a:xfrm>
              <a:off x="948" y="663"/>
              <a:ext cx="0" cy="30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2" name="Freeform 12"/>
            <p:cNvSpPr>
              <a:spLocks/>
            </p:cNvSpPr>
            <p:nvPr/>
          </p:nvSpPr>
          <p:spPr bwMode="auto">
            <a:xfrm>
              <a:off x="929" y="638"/>
              <a:ext cx="39" cy="38"/>
            </a:xfrm>
            <a:custGeom>
              <a:avLst/>
              <a:gdLst>
                <a:gd name="T0" fmla="*/ 0 w 39"/>
                <a:gd name="T1" fmla="*/ 37 h 38"/>
                <a:gd name="T2" fmla="*/ 19 w 39"/>
                <a:gd name="T3" fmla="*/ 0 h 38"/>
                <a:gd name="T4" fmla="*/ 38 w 39"/>
                <a:gd name="T5" fmla="*/ 37 h 38"/>
                <a:gd name="T6" fmla="*/ 19 w 39"/>
                <a:gd name="T7" fmla="*/ 25 h 38"/>
                <a:gd name="T8" fmla="*/ 0 w 39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0" y="37"/>
                  </a:moveTo>
                  <a:lnTo>
                    <a:pt x="19" y="0"/>
                  </a:lnTo>
                  <a:lnTo>
                    <a:pt x="38" y="37"/>
                  </a:lnTo>
                  <a:lnTo>
                    <a:pt x="19" y="25"/>
                  </a:lnTo>
                  <a:lnTo>
                    <a:pt x="0" y="3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Line 13"/>
            <p:cNvSpPr>
              <a:spLocks noChangeShapeType="1"/>
            </p:cNvSpPr>
            <p:nvPr/>
          </p:nvSpPr>
          <p:spPr bwMode="auto">
            <a:xfrm>
              <a:off x="948" y="3661"/>
              <a:ext cx="3698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4" name="Freeform 14"/>
            <p:cNvSpPr>
              <a:spLocks/>
            </p:cNvSpPr>
            <p:nvPr/>
          </p:nvSpPr>
          <p:spPr bwMode="auto">
            <a:xfrm>
              <a:off x="4633" y="3643"/>
              <a:ext cx="38" cy="38"/>
            </a:xfrm>
            <a:custGeom>
              <a:avLst/>
              <a:gdLst>
                <a:gd name="T0" fmla="*/ 0 w 38"/>
                <a:gd name="T1" fmla="*/ 0 h 38"/>
                <a:gd name="T2" fmla="*/ 37 w 38"/>
                <a:gd name="T3" fmla="*/ 18 h 38"/>
                <a:gd name="T4" fmla="*/ 0 w 38"/>
                <a:gd name="T5" fmla="*/ 37 h 38"/>
                <a:gd name="T6" fmla="*/ 13 w 38"/>
                <a:gd name="T7" fmla="*/ 18 h 38"/>
                <a:gd name="T8" fmla="*/ 0 w 38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0" y="0"/>
                  </a:moveTo>
                  <a:lnTo>
                    <a:pt x="37" y="18"/>
                  </a:lnTo>
                  <a:lnTo>
                    <a:pt x="0" y="37"/>
                  </a:lnTo>
                  <a:lnTo>
                    <a:pt x="13" y="18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Line 15"/>
            <p:cNvSpPr>
              <a:spLocks noChangeShapeType="1"/>
            </p:cNvSpPr>
            <p:nvPr/>
          </p:nvSpPr>
          <p:spPr bwMode="auto">
            <a:xfrm>
              <a:off x="952" y="3661"/>
              <a:ext cx="0" cy="11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6" name="Line 16"/>
            <p:cNvSpPr>
              <a:spLocks noChangeShapeType="1"/>
            </p:cNvSpPr>
            <p:nvPr/>
          </p:nvSpPr>
          <p:spPr bwMode="auto">
            <a:xfrm>
              <a:off x="2111" y="3661"/>
              <a:ext cx="0" cy="11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7" name="Line 17"/>
            <p:cNvSpPr>
              <a:spLocks noChangeShapeType="1"/>
            </p:cNvSpPr>
            <p:nvPr/>
          </p:nvSpPr>
          <p:spPr bwMode="auto">
            <a:xfrm>
              <a:off x="2693" y="3661"/>
              <a:ext cx="0" cy="11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8" name="Line 18"/>
            <p:cNvSpPr>
              <a:spLocks noChangeShapeType="1"/>
            </p:cNvSpPr>
            <p:nvPr/>
          </p:nvSpPr>
          <p:spPr bwMode="auto">
            <a:xfrm>
              <a:off x="3275" y="3661"/>
              <a:ext cx="0" cy="11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9" name="Line 19"/>
            <p:cNvSpPr>
              <a:spLocks noChangeShapeType="1"/>
            </p:cNvSpPr>
            <p:nvPr/>
          </p:nvSpPr>
          <p:spPr bwMode="auto">
            <a:xfrm>
              <a:off x="3856" y="3661"/>
              <a:ext cx="0" cy="11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0" name="Line 20"/>
            <p:cNvSpPr>
              <a:spLocks noChangeShapeType="1"/>
            </p:cNvSpPr>
            <p:nvPr/>
          </p:nvSpPr>
          <p:spPr bwMode="auto">
            <a:xfrm>
              <a:off x="4438" y="3661"/>
              <a:ext cx="0" cy="11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1" name="Line 21"/>
            <p:cNvSpPr>
              <a:spLocks noChangeShapeType="1"/>
            </p:cNvSpPr>
            <p:nvPr/>
          </p:nvSpPr>
          <p:spPr bwMode="auto">
            <a:xfrm>
              <a:off x="832" y="2498"/>
              <a:ext cx="11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2" name="Line 22"/>
            <p:cNvSpPr>
              <a:spLocks noChangeShapeType="1"/>
            </p:cNvSpPr>
            <p:nvPr/>
          </p:nvSpPr>
          <p:spPr bwMode="auto">
            <a:xfrm>
              <a:off x="832" y="1917"/>
              <a:ext cx="11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3" name="Line 23"/>
            <p:cNvSpPr>
              <a:spLocks noChangeShapeType="1"/>
            </p:cNvSpPr>
            <p:nvPr/>
          </p:nvSpPr>
          <p:spPr bwMode="auto">
            <a:xfrm>
              <a:off x="832" y="1336"/>
              <a:ext cx="11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4" name="Line 24"/>
            <p:cNvSpPr>
              <a:spLocks noChangeShapeType="1"/>
            </p:cNvSpPr>
            <p:nvPr/>
          </p:nvSpPr>
          <p:spPr bwMode="auto">
            <a:xfrm>
              <a:off x="832" y="754"/>
              <a:ext cx="11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5" name="Rectangle 25"/>
            <p:cNvSpPr>
              <a:spLocks noChangeArrowheads="1"/>
            </p:cNvSpPr>
            <p:nvPr/>
          </p:nvSpPr>
          <p:spPr bwMode="auto">
            <a:xfrm>
              <a:off x="867" y="3779"/>
              <a:ext cx="183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0</a:t>
              </a:r>
            </a:p>
          </p:txBody>
        </p:sp>
        <p:sp>
          <p:nvSpPr>
            <p:cNvPr id="25626" name="Rectangle 26"/>
            <p:cNvSpPr>
              <a:spLocks noChangeArrowheads="1"/>
            </p:cNvSpPr>
            <p:nvPr/>
          </p:nvSpPr>
          <p:spPr bwMode="auto">
            <a:xfrm>
              <a:off x="1989" y="3766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25627" name="Rectangle 27"/>
            <p:cNvSpPr>
              <a:spLocks noChangeArrowheads="1"/>
            </p:cNvSpPr>
            <p:nvPr/>
          </p:nvSpPr>
          <p:spPr bwMode="auto">
            <a:xfrm>
              <a:off x="2572" y="3759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30</a:t>
              </a:r>
            </a:p>
          </p:txBody>
        </p:sp>
        <p:sp>
          <p:nvSpPr>
            <p:cNvPr id="25628" name="Rectangle 28"/>
            <p:cNvSpPr>
              <a:spLocks noChangeArrowheads="1"/>
            </p:cNvSpPr>
            <p:nvPr/>
          </p:nvSpPr>
          <p:spPr bwMode="auto">
            <a:xfrm>
              <a:off x="3162" y="3752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25629" name="Rectangle 29"/>
            <p:cNvSpPr>
              <a:spLocks noChangeArrowheads="1"/>
            </p:cNvSpPr>
            <p:nvPr/>
          </p:nvSpPr>
          <p:spPr bwMode="auto">
            <a:xfrm>
              <a:off x="3738" y="3766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50</a:t>
              </a:r>
            </a:p>
          </p:txBody>
        </p:sp>
        <p:sp>
          <p:nvSpPr>
            <p:cNvPr id="25630" name="Rectangle 30"/>
            <p:cNvSpPr>
              <a:spLocks noChangeArrowheads="1"/>
            </p:cNvSpPr>
            <p:nvPr/>
          </p:nvSpPr>
          <p:spPr bwMode="auto">
            <a:xfrm>
              <a:off x="4336" y="3766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60</a:t>
              </a:r>
            </a:p>
          </p:txBody>
        </p:sp>
        <p:sp>
          <p:nvSpPr>
            <p:cNvPr id="25631" name="Rectangle 31"/>
            <p:cNvSpPr>
              <a:spLocks noChangeArrowheads="1"/>
            </p:cNvSpPr>
            <p:nvPr/>
          </p:nvSpPr>
          <p:spPr bwMode="auto">
            <a:xfrm>
              <a:off x="629" y="3003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10</a:t>
              </a:r>
            </a:p>
          </p:txBody>
        </p:sp>
        <p:sp>
          <p:nvSpPr>
            <p:cNvPr id="25632" name="Line 32"/>
            <p:cNvSpPr>
              <a:spLocks noChangeShapeType="1"/>
            </p:cNvSpPr>
            <p:nvPr/>
          </p:nvSpPr>
          <p:spPr bwMode="auto">
            <a:xfrm>
              <a:off x="839" y="3080"/>
              <a:ext cx="11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3" name="Rectangle 33"/>
            <p:cNvSpPr>
              <a:spLocks noChangeArrowheads="1"/>
            </p:cNvSpPr>
            <p:nvPr/>
          </p:nvSpPr>
          <p:spPr bwMode="auto">
            <a:xfrm>
              <a:off x="644" y="2400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25634" name="Rectangle 34"/>
            <p:cNvSpPr>
              <a:spLocks noChangeArrowheads="1"/>
            </p:cNvSpPr>
            <p:nvPr/>
          </p:nvSpPr>
          <p:spPr bwMode="auto">
            <a:xfrm>
              <a:off x="638" y="1834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30</a:t>
              </a:r>
            </a:p>
          </p:txBody>
        </p:sp>
        <p:sp>
          <p:nvSpPr>
            <p:cNvPr id="25635" name="Rectangle 35"/>
            <p:cNvSpPr>
              <a:spLocks noChangeArrowheads="1"/>
            </p:cNvSpPr>
            <p:nvPr/>
          </p:nvSpPr>
          <p:spPr bwMode="auto">
            <a:xfrm>
              <a:off x="631" y="1252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25636" name="Rectangle 36"/>
            <p:cNvSpPr>
              <a:spLocks noChangeArrowheads="1"/>
            </p:cNvSpPr>
            <p:nvPr/>
          </p:nvSpPr>
          <p:spPr bwMode="auto">
            <a:xfrm>
              <a:off x="625" y="678"/>
              <a:ext cx="249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50</a:t>
              </a:r>
            </a:p>
          </p:txBody>
        </p:sp>
        <p:sp>
          <p:nvSpPr>
            <p:cNvPr id="25637" name="Rectangle 37"/>
            <p:cNvSpPr>
              <a:spLocks noChangeArrowheads="1"/>
            </p:cNvSpPr>
            <p:nvPr/>
          </p:nvSpPr>
          <p:spPr bwMode="auto">
            <a:xfrm>
              <a:off x="4630" y="3651"/>
              <a:ext cx="21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900" b="1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25638" name="Rectangle 38"/>
            <p:cNvSpPr>
              <a:spLocks noChangeArrowheads="1"/>
            </p:cNvSpPr>
            <p:nvPr/>
          </p:nvSpPr>
          <p:spPr bwMode="auto">
            <a:xfrm>
              <a:off x="724" y="468"/>
              <a:ext cx="21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900" b="1">
                  <a:solidFill>
                    <a:srgbClr val="FFFFFF"/>
                  </a:solidFill>
                </a:rPr>
                <a:t>Y</a:t>
              </a:r>
            </a:p>
          </p:txBody>
        </p:sp>
        <p:sp>
          <p:nvSpPr>
            <p:cNvPr id="25639" name="Rectangle 39"/>
            <p:cNvSpPr>
              <a:spLocks noChangeArrowheads="1"/>
            </p:cNvSpPr>
            <p:nvPr/>
          </p:nvSpPr>
          <p:spPr bwMode="auto">
            <a:xfrm>
              <a:off x="634" y="3575"/>
              <a:ext cx="21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 0</a:t>
              </a:r>
            </a:p>
          </p:txBody>
        </p:sp>
        <p:sp>
          <p:nvSpPr>
            <p:cNvPr id="25640" name="Line 40"/>
            <p:cNvSpPr>
              <a:spLocks noChangeShapeType="1"/>
            </p:cNvSpPr>
            <p:nvPr/>
          </p:nvSpPr>
          <p:spPr bwMode="auto">
            <a:xfrm>
              <a:off x="838" y="3658"/>
              <a:ext cx="116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Line 41"/>
            <p:cNvSpPr>
              <a:spLocks noChangeShapeType="1"/>
            </p:cNvSpPr>
            <p:nvPr/>
          </p:nvSpPr>
          <p:spPr bwMode="auto">
            <a:xfrm>
              <a:off x="1500" y="3660"/>
              <a:ext cx="0" cy="116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Rectangle 42"/>
            <p:cNvSpPr>
              <a:spLocks noChangeArrowheads="1"/>
            </p:cNvSpPr>
            <p:nvPr/>
          </p:nvSpPr>
          <p:spPr bwMode="auto">
            <a:xfrm>
              <a:off x="1362" y="3781"/>
              <a:ext cx="34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lang="en-US" sz="1500" b="1">
                  <a:solidFill>
                    <a:srgbClr val="FFFFFF"/>
                  </a:solidFill>
                </a:rPr>
                <a:t>10</a:t>
              </a:r>
            </a:p>
          </p:txBody>
        </p:sp>
        <p:graphicFrame>
          <p:nvGraphicFramePr>
            <p:cNvPr id="25643" name="Object 43"/>
            <p:cNvGraphicFramePr>
              <a:graphicFrameLocks/>
            </p:cNvGraphicFramePr>
            <p:nvPr/>
          </p:nvGraphicFramePr>
          <p:xfrm>
            <a:off x="1467" y="2832"/>
            <a:ext cx="423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64" name="ClipArt" r:id="rId4" imgW="1984320" imgH="3657600" progId="MS_ClipArt_Gallery.2">
                    <p:embed/>
                  </p:oleObj>
                </mc:Choice>
                <mc:Fallback>
                  <p:oleObj name="ClipArt" r:id="rId4" imgW="1984320" imgH="3657600" progId="MS_ClipArt_Gallery.2">
                    <p:embed/>
                    <p:pic>
                      <p:nvPicPr>
                        <p:cNvPr id="0" name="Object 4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7" y="2832"/>
                          <a:ext cx="423" cy="7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4" name="Object 44"/>
            <p:cNvGraphicFramePr>
              <a:graphicFrameLocks/>
            </p:cNvGraphicFramePr>
            <p:nvPr/>
          </p:nvGraphicFramePr>
          <p:xfrm>
            <a:off x="3738" y="1890"/>
            <a:ext cx="423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65" name="ClipArt" r:id="rId6" imgW="1984320" imgH="3657600" progId="MS_ClipArt_Gallery.2">
                    <p:embed/>
                  </p:oleObj>
                </mc:Choice>
                <mc:Fallback>
                  <p:oleObj name="ClipArt" r:id="rId6" imgW="1984320" imgH="3657600" progId="MS_ClipArt_Gallery.2">
                    <p:embed/>
                    <p:pic>
                      <p:nvPicPr>
                        <p:cNvPr id="0" name="Object 4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8" y="1890"/>
                          <a:ext cx="423" cy="7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5" name="Object 45"/>
            <p:cNvGraphicFramePr>
              <a:graphicFrameLocks/>
            </p:cNvGraphicFramePr>
            <p:nvPr/>
          </p:nvGraphicFramePr>
          <p:xfrm>
            <a:off x="1113" y="1889"/>
            <a:ext cx="423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66" name="ClipArt" r:id="rId7" imgW="1984320" imgH="3657600" progId="MS_ClipArt_Gallery.2">
                    <p:embed/>
                  </p:oleObj>
                </mc:Choice>
                <mc:Fallback>
                  <p:oleObj name="ClipArt" r:id="rId7" imgW="1984320" imgH="3657600" progId="MS_ClipArt_Gallery.2">
                    <p:embed/>
                    <p:pic>
                      <p:nvPicPr>
                        <p:cNvPr id="0" name="Object 4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3" y="1889"/>
                          <a:ext cx="423" cy="7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6" name="Object 46"/>
            <p:cNvGraphicFramePr>
              <a:graphicFrameLocks/>
            </p:cNvGraphicFramePr>
            <p:nvPr/>
          </p:nvGraphicFramePr>
          <p:xfrm>
            <a:off x="1017" y="679"/>
            <a:ext cx="423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67" name="ClipArt" r:id="rId8" imgW="1984320" imgH="3657600" progId="MS_ClipArt_Gallery.2">
                    <p:embed/>
                  </p:oleObj>
                </mc:Choice>
                <mc:Fallback>
                  <p:oleObj name="ClipArt" r:id="rId8" imgW="1984320" imgH="3657600" progId="MS_ClipArt_Gallery.2">
                    <p:embed/>
                    <p:pic>
                      <p:nvPicPr>
                        <p:cNvPr id="0" name="Object 4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7" y="679"/>
                          <a:ext cx="423" cy="7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413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Decision Variables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7848600" cy="2362200"/>
          </a:xfrm>
          <a:noFill/>
          <a:ln/>
        </p:spPr>
        <p:txBody>
          <a:bodyPr lIns="92075" tIns="46038" rIns="92075" bIns="46038"/>
          <a:lstStyle/>
          <a:p>
            <a:pPr marL="288925" indent="-288925">
              <a:buFont typeface="Wingdings" pitchFamily="2" charset="2"/>
              <a:buNone/>
              <a:tabLst>
                <a:tab pos="919163" algn="l"/>
              </a:tabLst>
            </a:pPr>
            <a:r>
              <a:rPr lang="en-US">
                <a:latin typeface="Times New Roman" pitchFamily="18" charset="0"/>
              </a:rPr>
              <a:t>X</a:t>
            </a:r>
            <a:r>
              <a:rPr lang="en-US" baseline="-25000">
                <a:latin typeface="Times New Roman" pitchFamily="18" charset="0"/>
              </a:rPr>
              <a:t>1</a:t>
            </a:r>
            <a:r>
              <a:rPr lang="en-US"/>
              <a:t> = location of the new tower with 		respect to the X-axis</a:t>
            </a:r>
          </a:p>
          <a:p>
            <a:pPr marL="288925" indent="-288925">
              <a:buFont typeface="Wingdings" pitchFamily="2" charset="2"/>
              <a:buNone/>
              <a:tabLst>
                <a:tab pos="919163" algn="l"/>
              </a:tabLst>
            </a:pPr>
            <a:r>
              <a:rPr lang="en-US">
                <a:latin typeface="Times New Roman" pitchFamily="18" charset="0"/>
              </a:rPr>
              <a:t>Y</a:t>
            </a:r>
            <a:r>
              <a:rPr lang="en-US" baseline="-25000">
                <a:latin typeface="Times New Roman" pitchFamily="18" charset="0"/>
              </a:rPr>
              <a:t>1</a:t>
            </a:r>
            <a:r>
              <a:rPr lang="en-US"/>
              <a:t> = location of the new tower with 		respect to the Y-axis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5699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 Function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87463"/>
            <a:ext cx="7772400" cy="1303337"/>
          </a:xfrm>
          <a:noFill/>
          <a:ln/>
        </p:spPr>
        <p:txBody>
          <a:bodyPr lIns="92075" tIns="46038" rIns="92075" bIns="46038"/>
          <a:lstStyle/>
          <a:p>
            <a:r>
              <a:rPr lang="en-US"/>
              <a:t>Minimize the total distance from the new tower to the existing towers</a:t>
            </a:r>
          </a:p>
        </p:txBody>
      </p:sp>
      <p:graphicFrame>
        <p:nvGraphicFramePr>
          <p:cNvPr id="27652" name="Object 4"/>
          <p:cNvGraphicFramePr>
            <a:graphicFrameLocks/>
          </p:cNvGraphicFramePr>
          <p:nvPr/>
        </p:nvGraphicFramePr>
        <p:xfrm>
          <a:off x="3048000" y="2895600"/>
          <a:ext cx="44958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3" name="Equation" r:id="rId4" imgW="2793960" imgH="431640" progId="Equation.2">
                  <p:embed/>
                </p:oleObj>
              </mc:Choice>
              <mc:Fallback>
                <p:oleObj name="Equation" r:id="rId4" imgW="2793960" imgH="43164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44958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/>
          </p:cNvGraphicFramePr>
          <p:nvPr/>
        </p:nvGraphicFramePr>
        <p:xfrm>
          <a:off x="2898775" y="3873500"/>
          <a:ext cx="47974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4" name="Equation" r:id="rId6" imgW="2857320" imgH="431640" progId="Equation.2">
                  <p:embed/>
                </p:oleObj>
              </mc:Choice>
              <mc:Fallback>
                <p:oleObj name="Equation" r:id="rId6" imgW="2857320" imgH="431640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873500"/>
                        <a:ext cx="47974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747838" y="3451225"/>
            <a:ext cx="1139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>
                <a:latin typeface="Times New Roman" pitchFamily="18" charset="0"/>
              </a:rPr>
              <a:t>MIN: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1625"/>
            <a:ext cx="7772400" cy="5556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6425" y="1052513"/>
            <a:ext cx="4889500" cy="4152900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Cleveland</a:t>
            </a:r>
          </a:p>
          <a:p>
            <a:pPr>
              <a:buFont typeface="Wingdings" pitchFamily="2" charset="2"/>
              <a:buNone/>
            </a:pPr>
            <a:endParaRPr lang="en-US" sz="2800"/>
          </a:p>
          <a:p>
            <a:r>
              <a:rPr lang="en-US" sz="2800"/>
              <a:t>Akron</a:t>
            </a:r>
          </a:p>
          <a:p>
            <a:pPr>
              <a:buFont typeface="Wingdings" pitchFamily="2" charset="2"/>
              <a:buNone/>
            </a:pPr>
            <a:endParaRPr lang="en-US" sz="2800"/>
          </a:p>
          <a:p>
            <a:r>
              <a:rPr lang="en-US" sz="2800"/>
              <a:t>Canton</a:t>
            </a:r>
          </a:p>
          <a:p>
            <a:pPr>
              <a:buFont typeface="Wingdings" pitchFamily="2" charset="2"/>
              <a:buNone/>
            </a:pPr>
            <a:endParaRPr lang="en-US" sz="2800"/>
          </a:p>
          <a:p>
            <a:r>
              <a:rPr lang="en-US" sz="2800"/>
              <a:t>Youngstown</a:t>
            </a:r>
          </a:p>
          <a:p>
            <a:pPr>
              <a:buFont typeface="Wingdings" pitchFamily="2" charset="2"/>
              <a:buNone/>
            </a:pPr>
            <a:endParaRPr lang="en-US" sz="2800"/>
          </a:p>
        </p:txBody>
      </p:sp>
      <p:graphicFrame>
        <p:nvGraphicFramePr>
          <p:cNvPr id="28676" name="Object 4"/>
          <p:cNvGraphicFramePr>
            <a:graphicFrameLocks/>
          </p:cNvGraphicFramePr>
          <p:nvPr/>
        </p:nvGraphicFramePr>
        <p:xfrm>
          <a:off x="3352800" y="1524000"/>
          <a:ext cx="2590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6" name="Equation" r:id="rId4" imgW="1473120" imgH="317160" progId="Equation.3">
                  <p:embed/>
                </p:oleObj>
              </mc:Choice>
              <mc:Fallback>
                <p:oleObj name="Equation" r:id="rId4" imgW="1473120" imgH="31716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524000"/>
                        <a:ext cx="2590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/>
          </p:cNvGraphicFramePr>
          <p:nvPr/>
        </p:nvGraphicFramePr>
        <p:xfrm>
          <a:off x="3429000" y="2460625"/>
          <a:ext cx="25908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7" name="Equation" r:id="rId6" imgW="1625400" imgH="431640" progId="Equation.2">
                  <p:embed/>
                </p:oleObj>
              </mc:Choice>
              <mc:Fallback>
                <p:oleObj name="Equation" r:id="rId6" imgW="1625400" imgH="431640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460625"/>
                        <a:ext cx="25908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/>
          </p:cNvGraphicFramePr>
          <p:nvPr/>
        </p:nvGraphicFramePr>
        <p:xfrm>
          <a:off x="3352800" y="3505200"/>
          <a:ext cx="2819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8" name="Equation" r:id="rId8" imgW="1574640" imgH="431640" progId="Equation.2">
                  <p:embed/>
                </p:oleObj>
              </mc:Choice>
              <mc:Fallback>
                <p:oleObj name="Equation" r:id="rId8" imgW="1574640" imgH="431640" progId="Equation.2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505200"/>
                        <a:ext cx="2819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/>
          </p:cNvGraphicFramePr>
          <p:nvPr/>
        </p:nvGraphicFramePr>
        <p:xfrm>
          <a:off x="3352800" y="4652963"/>
          <a:ext cx="25908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9" name="Equation" r:id="rId10" imgW="1638000" imgH="431640" progId="Equation.2">
                  <p:embed/>
                </p:oleObj>
              </mc:Choice>
              <mc:Fallback>
                <p:oleObj name="Equation" r:id="rId10" imgW="1638000" imgH="431640" progId="Equation.2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652963"/>
                        <a:ext cx="25908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28675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Fig8-10.xlsm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28600"/>
            <a:ext cx="7772400" cy="684213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Analyzing the Solution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263" y="824923"/>
            <a:ext cx="7772400" cy="5068455"/>
          </a:xfrm>
          <a:noFill/>
          <a:ln/>
        </p:spPr>
        <p:txBody>
          <a:bodyPr lIns="92075" tIns="46038" rIns="92075" bIns="46038"/>
          <a:lstStyle/>
          <a:p>
            <a:r>
              <a:rPr lang="en-US" sz="2700" dirty="0"/>
              <a:t>The optimal location of the “new tower” is in virtually the same location as the existing Akron tower.</a:t>
            </a:r>
          </a:p>
          <a:p>
            <a:r>
              <a:rPr lang="en-US" sz="2700" dirty="0"/>
              <a:t>Maybe they should just upgrade the Akron tower.</a:t>
            </a:r>
          </a:p>
          <a:p>
            <a:r>
              <a:rPr lang="en-US" sz="2700" dirty="0"/>
              <a:t>The maximum distance is 39.8 miles to Youngstown.</a:t>
            </a:r>
          </a:p>
          <a:p>
            <a:r>
              <a:rPr lang="en-US" sz="2700" dirty="0"/>
              <a:t>This is pressing the 40 mile transmission radius.</a:t>
            </a:r>
          </a:p>
          <a:p>
            <a:r>
              <a:rPr lang="en-US" sz="2700" dirty="0"/>
              <a:t>Where should we locate the new tower if we want the maximum distance to the existing towers to be minimized?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774700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Fig8-13.xlsm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5556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Comments on Location Problems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1219200"/>
            <a:ext cx="7772400" cy="5183188"/>
          </a:xfrm>
          <a:noFill/>
          <a:ln/>
        </p:spPr>
        <p:txBody>
          <a:bodyPr lIns="92075" tIns="46038" rIns="92075" bIns="46038"/>
          <a:lstStyle/>
          <a:p>
            <a:r>
              <a:rPr lang="en-US" sz="2800"/>
              <a:t>The optimal solution to a location problem may not work:</a:t>
            </a:r>
          </a:p>
          <a:p>
            <a:pPr lvl="1"/>
            <a:r>
              <a:rPr lang="en-US" sz="2400"/>
              <a:t>The land may not be for sale.</a:t>
            </a:r>
          </a:p>
          <a:p>
            <a:pPr lvl="1"/>
            <a:r>
              <a:rPr lang="en-US" sz="2400"/>
              <a:t>The land may not be zoned properly.</a:t>
            </a:r>
          </a:p>
          <a:p>
            <a:pPr lvl="1"/>
            <a:r>
              <a:rPr lang="en-US" sz="2400"/>
              <a:t>The “land” may be a lake.</a:t>
            </a:r>
          </a:p>
          <a:p>
            <a:r>
              <a:rPr lang="en-US" sz="2800"/>
              <a:t>In such cases, the optimal solution is a good starting point in the search for suitable property.</a:t>
            </a:r>
          </a:p>
          <a:p>
            <a:r>
              <a:rPr lang="en-US" sz="2800"/>
              <a:t>Constraints may be added to location problems to eliminate infeasible areas from consideration.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769938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600" i="1" dirty="0">
                <a:solidFill>
                  <a:schemeClr val="hlink"/>
                </a:solidFill>
              </a:rPr>
              <a:t>A Nonlinear Network Flow Problem:</a:t>
            </a:r>
            <a:br>
              <a:rPr lang="en-US" sz="3600" i="1" dirty="0">
                <a:solidFill>
                  <a:schemeClr val="hlink"/>
                </a:solidFill>
              </a:rPr>
            </a:br>
            <a:r>
              <a:rPr lang="en-US" sz="3600" i="1" dirty="0">
                <a:solidFill>
                  <a:schemeClr val="hlink"/>
                </a:solidFill>
              </a:rPr>
              <a:t>The </a:t>
            </a:r>
            <a:r>
              <a:rPr lang="en-US" sz="3600" i="1" dirty="0" err="1">
                <a:solidFill>
                  <a:schemeClr val="hlink"/>
                </a:solidFill>
              </a:rPr>
              <a:t>SafetyTrans</a:t>
            </a:r>
            <a:r>
              <a:rPr lang="en-US" sz="3600" i="1" dirty="0">
                <a:solidFill>
                  <a:schemeClr val="hlink"/>
                </a:solidFill>
              </a:rPr>
              <a:t> Company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238250"/>
            <a:ext cx="7772400" cy="5233988"/>
          </a:xfrm>
          <a:noFill/>
          <a:ln/>
        </p:spPr>
        <p:txBody>
          <a:bodyPr lIns="92075" tIns="46038" rIns="92075" bIns="46038"/>
          <a:lstStyle/>
          <a:p>
            <a:r>
              <a:rPr lang="en-US" sz="2400"/>
              <a:t>SafetyTrans specialized in trucking extremely valuable and extremely hazardous materials.</a:t>
            </a:r>
          </a:p>
          <a:p>
            <a:r>
              <a:rPr lang="en-US" sz="2400"/>
              <a:t>It is imperative for the company to avoid accidents:	</a:t>
            </a:r>
          </a:p>
          <a:p>
            <a:pPr lvl="1"/>
            <a:r>
              <a:rPr lang="en-US" sz="2400"/>
              <a:t>It protects their reputation.</a:t>
            </a:r>
          </a:p>
          <a:p>
            <a:pPr lvl="1"/>
            <a:r>
              <a:rPr lang="en-US" sz="2400"/>
              <a:t>It keeps insurance premiums down.</a:t>
            </a:r>
          </a:p>
          <a:p>
            <a:pPr lvl="1"/>
            <a:r>
              <a:rPr lang="en-US" sz="2400"/>
              <a:t>The potential environmental consequences of an accident are disastrous.</a:t>
            </a:r>
          </a:p>
          <a:p>
            <a:r>
              <a:rPr lang="en-US" sz="2400"/>
              <a:t>The company maintains a database of highway accident data which it uses to determine safest routes.</a:t>
            </a:r>
          </a:p>
          <a:p>
            <a:r>
              <a:rPr lang="en-US" sz="2400"/>
              <a:t>They currently need to determine the safest route between Los Angeles, CA and Amarillo, TX.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uiExpand="1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485775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Network for the SafetyTrans Problem</a:t>
            </a:r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1385888" y="1009650"/>
            <a:ext cx="893762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1374775" y="1165225"/>
            <a:ext cx="9525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Las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Vegas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2</a:t>
            </a: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449263" y="2776538"/>
            <a:ext cx="893762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38150" y="2932113"/>
            <a:ext cx="952500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Los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Angeles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1</a:t>
            </a: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1485900" y="4613275"/>
            <a:ext cx="893763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1474788" y="4768850"/>
            <a:ext cx="9525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San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Diego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3</a:t>
            </a:r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2271713" y="2998788"/>
            <a:ext cx="893762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2260600" y="3290888"/>
            <a:ext cx="9525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Phoenix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4</a:t>
            </a:r>
          </a:p>
        </p:txBody>
      </p:sp>
      <p:sp>
        <p:nvSpPr>
          <p:cNvPr id="34827" name="Oval 11"/>
          <p:cNvSpPr>
            <a:spLocks noChangeArrowheads="1"/>
          </p:cNvSpPr>
          <p:nvPr/>
        </p:nvSpPr>
        <p:spPr bwMode="auto">
          <a:xfrm>
            <a:off x="3663950" y="1316038"/>
            <a:ext cx="893763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3652838" y="1590675"/>
            <a:ext cx="9525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Flagstaff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6</a:t>
            </a:r>
          </a:p>
        </p:txBody>
      </p:sp>
      <p:sp>
        <p:nvSpPr>
          <p:cNvPr id="34829" name="Oval 13"/>
          <p:cNvSpPr>
            <a:spLocks noChangeArrowheads="1"/>
          </p:cNvSpPr>
          <p:nvPr/>
        </p:nvSpPr>
        <p:spPr bwMode="auto">
          <a:xfrm>
            <a:off x="3509963" y="4648200"/>
            <a:ext cx="893762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3498850" y="4922838"/>
            <a:ext cx="9525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Tucson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5</a:t>
            </a:r>
          </a:p>
        </p:txBody>
      </p:sp>
      <p:sp>
        <p:nvSpPr>
          <p:cNvPr id="34831" name="Oval 15"/>
          <p:cNvSpPr>
            <a:spLocks noChangeArrowheads="1"/>
          </p:cNvSpPr>
          <p:nvPr/>
        </p:nvSpPr>
        <p:spPr bwMode="auto">
          <a:xfrm>
            <a:off x="5635625" y="1058863"/>
            <a:ext cx="893763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5608638" y="1165225"/>
            <a:ext cx="952500" cy="753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400" b="1" dirty="0" err="1"/>
              <a:t>Albu-querque</a:t>
            </a:r>
            <a:endParaRPr lang="en-US" sz="1400" b="1" dirty="0"/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 dirty="0"/>
              <a:t>8</a:t>
            </a:r>
          </a:p>
        </p:txBody>
      </p:sp>
      <p:sp>
        <p:nvSpPr>
          <p:cNvPr id="34833" name="Oval 17"/>
          <p:cNvSpPr>
            <a:spLocks noChangeArrowheads="1"/>
          </p:cNvSpPr>
          <p:nvPr/>
        </p:nvSpPr>
        <p:spPr bwMode="auto">
          <a:xfrm>
            <a:off x="5395913" y="4305300"/>
            <a:ext cx="893762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5384800" y="4495800"/>
            <a:ext cx="9525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Las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Cruces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7</a:t>
            </a:r>
          </a:p>
        </p:txBody>
      </p:sp>
      <p:sp>
        <p:nvSpPr>
          <p:cNvPr id="34835" name="Oval 19"/>
          <p:cNvSpPr>
            <a:spLocks noChangeArrowheads="1"/>
          </p:cNvSpPr>
          <p:nvPr/>
        </p:nvSpPr>
        <p:spPr bwMode="auto">
          <a:xfrm>
            <a:off x="7164388" y="3897313"/>
            <a:ext cx="893762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6" name="Rectangle 20"/>
          <p:cNvSpPr>
            <a:spLocks noChangeArrowheads="1"/>
          </p:cNvSpPr>
          <p:nvPr/>
        </p:nvSpPr>
        <p:spPr bwMode="auto">
          <a:xfrm>
            <a:off x="7170738" y="4156075"/>
            <a:ext cx="95250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Lubbock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9</a:t>
            </a:r>
          </a:p>
        </p:txBody>
      </p:sp>
      <p:sp>
        <p:nvSpPr>
          <p:cNvPr id="34837" name="Oval 21"/>
          <p:cNvSpPr>
            <a:spLocks noChangeArrowheads="1"/>
          </p:cNvSpPr>
          <p:nvPr/>
        </p:nvSpPr>
        <p:spPr bwMode="auto">
          <a:xfrm>
            <a:off x="7605713" y="1600200"/>
            <a:ext cx="893762" cy="8763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7612063" y="1858963"/>
            <a:ext cx="952500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Amarillo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1400" b="1"/>
              <a:t>10</a:t>
            </a:r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 flipV="1">
            <a:off x="1017588" y="1931988"/>
            <a:ext cx="509587" cy="850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Line 24"/>
          <p:cNvSpPr>
            <a:spLocks noChangeShapeType="1"/>
          </p:cNvSpPr>
          <p:nvPr/>
        </p:nvSpPr>
        <p:spPr bwMode="auto">
          <a:xfrm>
            <a:off x="1374775" y="3224213"/>
            <a:ext cx="815975" cy="187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1068388" y="3649663"/>
            <a:ext cx="511175" cy="9699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>
            <a:off x="1884363" y="1916113"/>
            <a:ext cx="595312" cy="1003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2309813" y="1422400"/>
            <a:ext cx="1292225" cy="255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 flipV="1">
            <a:off x="4589463" y="1524000"/>
            <a:ext cx="1003300" cy="187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 flipV="1">
            <a:off x="2922588" y="2170113"/>
            <a:ext cx="833437" cy="850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 flipV="1">
            <a:off x="3194050" y="1797050"/>
            <a:ext cx="2432050" cy="163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 flipV="1">
            <a:off x="2157413" y="3973513"/>
            <a:ext cx="390525" cy="679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2395538" y="5045075"/>
            <a:ext cx="1054100" cy="66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2940050" y="3836988"/>
            <a:ext cx="679450" cy="833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4316413" y="2187575"/>
            <a:ext cx="1292225" cy="210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 flipV="1">
            <a:off x="4419600" y="4806950"/>
            <a:ext cx="917575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2" name="Line 36"/>
          <p:cNvSpPr>
            <a:spLocks noChangeShapeType="1"/>
          </p:cNvSpPr>
          <p:nvPr/>
        </p:nvSpPr>
        <p:spPr bwMode="auto">
          <a:xfrm flipV="1">
            <a:off x="5864225" y="2051050"/>
            <a:ext cx="220663" cy="22447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3" name="Line 37"/>
          <p:cNvSpPr>
            <a:spLocks noChangeShapeType="1"/>
          </p:cNvSpPr>
          <p:nvPr/>
        </p:nvSpPr>
        <p:spPr bwMode="auto">
          <a:xfrm>
            <a:off x="6561138" y="1490663"/>
            <a:ext cx="987425" cy="390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4" name="Line 38"/>
          <p:cNvSpPr>
            <a:spLocks noChangeShapeType="1"/>
          </p:cNvSpPr>
          <p:nvPr/>
        </p:nvSpPr>
        <p:spPr bwMode="auto">
          <a:xfrm flipV="1">
            <a:off x="6069013" y="2324100"/>
            <a:ext cx="1512887" cy="2022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5" name="Line 39"/>
          <p:cNvSpPr>
            <a:spLocks noChangeShapeType="1"/>
          </p:cNvSpPr>
          <p:nvPr/>
        </p:nvSpPr>
        <p:spPr bwMode="auto">
          <a:xfrm flipV="1">
            <a:off x="6307138" y="4414838"/>
            <a:ext cx="798512" cy="3397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6" name="Line 40"/>
          <p:cNvSpPr>
            <a:spLocks noChangeShapeType="1"/>
          </p:cNvSpPr>
          <p:nvPr/>
        </p:nvSpPr>
        <p:spPr bwMode="auto">
          <a:xfrm flipV="1">
            <a:off x="7632700" y="2578100"/>
            <a:ext cx="392113" cy="13096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7" name="Rectangle 41"/>
          <p:cNvSpPr>
            <a:spLocks noChangeArrowheads="1"/>
          </p:cNvSpPr>
          <p:nvPr/>
        </p:nvSpPr>
        <p:spPr bwMode="auto">
          <a:xfrm>
            <a:off x="676275" y="2068513"/>
            <a:ext cx="630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0.003</a:t>
            </a:r>
          </a:p>
        </p:txBody>
      </p:sp>
      <p:sp>
        <p:nvSpPr>
          <p:cNvPr id="34858" name="Rectangle 42"/>
          <p:cNvSpPr>
            <a:spLocks noChangeArrowheads="1"/>
          </p:cNvSpPr>
          <p:nvPr/>
        </p:nvSpPr>
        <p:spPr bwMode="auto">
          <a:xfrm>
            <a:off x="692150" y="4024313"/>
            <a:ext cx="630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0.004</a:t>
            </a:r>
          </a:p>
        </p:txBody>
      </p:sp>
      <p:sp>
        <p:nvSpPr>
          <p:cNvPr id="34859" name="Rectangle 43"/>
          <p:cNvSpPr>
            <a:spLocks noChangeArrowheads="1"/>
          </p:cNvSpPr>
          <p:nvPr/>
        </p:nvSpPr>
        <p:spPr bwMode="auto">
          <a:xfrm>
            <a:off x="1508125" y="2968625"/>
            <a:ext cx="630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0.002</a:t>
            </a:r>
          </a:p>
        </p:txBody>
      </p:sp>
      <p:sp>
        <p:nvSpPr>
          <p:cNvPr id="34860" name="Rectangle 44"/>
          <p:cNvSpPr>
            <a:spLocks noChangeArrowheads="1"/>
          </p:cNvSpPr>
          <p:nvPr/>
        </p:nvSpPr>
        <p:spPr bwMode="auto">
          <a:xfrm>
            <a:off x="2579688" y="5162550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0.010</a:t>
            </a:r>
          </a:p>
        </p:txBody>
      </p:sp>
      <p:sp>
        <p:nvSpPr>
          <p:cNvPr id="34861" name="Rectangle 45"/>
          <p:cNvSpPr>
            <a:spLocks noChangeArrowheads="1"/>
          </p:cNvSpPr>
          <p:nvPr/>
        </p:nvSpPr>
        <p:spPr bwMode="auto">
          <a:xfrm>
            <a:off x="1795463" y="4140200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0.002</a:t>
            </a:r>
          </a:p>
        </p:txBody>
      </p:sp>
      <p:sp>
        <p:nvSpPr>
          <p:cNvPr id="34862" name="Rectangle 46"/>
          <p:cNvSpPr>
            <a:spLocks noChangeArrowheads="1"/>
          </p:cNvSpPr>
          <p:nvPr/>
        </p:nvSpPr>
        <p:spPr bwMode="auto">
          <a:xfrm>
            <a:off x="2066925" y="2065338"/>
            <a:ext cx="630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0.010</a:t>
            </a:r>
          </a:p>
        </p:txBody>
      </p:sp>
      <p:sp>
        <p:nvSpPr>
          <p:cNvPr id="34863" name="Rectangle 47"/>
          <p:cNvSpPr>
            <a:spLocks noChangeArrowheads="1"/>
          </p:cNvSpPr>
          <p:nvPr/>
        </p:nvSpPr>
        <p:spPr bwMode="auto">
          <a:xfrm>
            <a:off x="2627313" y="1196975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0.006</a:t>
            </a:r>
          </a:p>
        </p:txBody>
      </p:sp>
      <p:sp>
        <p:nvSpPr>
          <p:cNvPr id="34864" name="Rectangle 48"/>
          <p:cNvSpPr>
            <a:spLocks noChangeArrowheads="1"/>
          </p:cNvSpPr>
          <p:nvPr/>
        </p:nvSpPr>
        <p:spPr bwMode="auto">
          <a:xfrm>
            <a:off x="2830513" y="2319338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0.006</a:t>
            </a:r>
          </a:p>
        </p:txBody>
      </p:sp>
      <p:sp>
        <p:nvSpPr>
          <p:cNvPr id="34865" name="Rectangle 49"/>
          <p:cNvSpPr>
            <a:spLocks noChangeArrowheads="1"/>
          </p:cNvSpPr>
          <p:nvPr/>
        </p:nvSpPr>
        <p:spPr bwMode="auto">
          <a:xfrm>
            <a:off x="3170238" y="3935413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0.002</a:t>
            </a:r>
          </a:p>
        </p:txBody>
      </p:sp>
      <p:sp>
        <p:nvSpPr>
          <p:cNvPr id="34866" name="Rectangle 50"/>
          <p:cNvSpPr>
            <a:spLocks noChangeArrowheads="1"/>
          </p:cNvSpPr>
          <p:nvPr/>
        </p:nvSpPr>
        <p:spPr bwMode="auto">
          <a:xfrm>
            <a:off x="3748088" y="3033713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0.009</a:t>
            </a:r>
          </a:p>
        </p:txBody>
      </p:sp>
      <p:sp>
        <p:nvSpPr>
          <p:cNvPr id="34867" name="Rectangle 51"/>
          <p:cNvSpPr>
            <a:spLocks noChangeArrowheads="1"/>
          </p:cNvSpPr>
          <p:nvPr/>
        </p:nvSpPr>
        <p:spPr bwMode="auto">
          <a:xfrm>
            <a:off x="4478338" y="4630738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0.003</a:t>
            </a:r>
          </a:p>
        </p:txBody>
      </p:sp>
      <p:sp>
        <p:nvSpPr>
          <p:cNvPr id="34868" name="Rectangle 52"/>
          <p:cNvSpPr>
            <a:spLocks noChangeArrowheads="1"/>
          </p:cNvSpPr>
          <p:nvPr/>
        </p:nvSpPr>
        <p:spPr bwMode="auto">
          <a:xfrm>
            <a:off x="4919663" y="3048000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0.010</a:t>
            </a:r>
          </a:p>
        </p:txBody>
      </p:sp>
      <p:sp>
        <p:nvSpPr>
          <p:cNvPr id="34869" name="Rectangle 53"/>
          <p:cNvSpPr>
            <a:spLocks noChangeArrowheads="1"/>
          </p:cNvSpPr>
          <p:nvPr/>
        </p:nvSpPr>
        <p:spPr bwMode="auto">
          <a:xfrm>
            <a:off x="4681538" y="1279525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0.001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auto">
          <a:xfrm>
            <a:off x="6773863" y="1312863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dirty="0">
                <a:solidFill>
                  <a:srgbClr val="00CC00"/>
                </a:solidFill>
                <a:latin typeface="Times New Roman" pitchFamily="18" charset="0"/>
              </a:rPr>
              <a:t>0.001</a:t>
            </a:r>
          </a:p>
        </p:txBody>
      </p:sp>
      <p:sp>
        <p:nvSpPr>
          <p:cNvPr id="34871" name="Rectangle 55"/>
          <p:cNvSpPr>
            <a:spLocks noChangeArrowheads="1"/>
          </p:cNvSpPr>
          <p:nvPr/>
        </p:nvSpPr>
        <p:spPr bwMode="auto">
          <a:xfrm>
            <a:off x="5481638" y="2468563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0.004</a:t>
            </a:r>
          </a:p>
        </p:txBody>
      </p:sp>
      <p:sp>
        <p:nvSpPr>
          <p:cNvPr id="34872" name="Rectangle 56"/>
          <p:cNvSpPr>
            <a:spLocks noChangeArrowheads="1"/>
          </p:cNvSpPr>
          <p:nvPr/>
        </p:nvSpPr>
        <p:spPr bwMode="auto">
          <a:xfrm>
            <a:off x="6161088" y="3232150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0.005</a:t>
            </a:r>
          </a:p>
        </p:txBody>
      </p:sp>
      <p:sp>
        <p:nvSpPr>
          <p:cNvPr id="34873" name="Rectangle 57"/>
          <p:cNvSpPr>
            <a:spLocks noChangeArrowheads="1"/>
          </p:cNvSpPr>
          <p:nvPr/>
        </p:nvSpPr>
        <p:spPr bwMode="auto">
          <a:xfrm>
            <a:off x="6296025" y="4233863"/>
            <a:ext cx="630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0.003</a:t>
            </a:r>
          </a:p>
        </p:txBody>
      </p:sp>
      <p:sp>
        <p:nvSpPr>
          <p:cNvPr id="34874" name="Rectangle 58"/>
          <p:cNvSpPr>
            <a:spLocks noChangeArrowheads="1"/>
          </p:cNvSpPr>
          <p:nvPr/>
        </p:nvSpPr>
        <p:spPr bwMode="auto">
          <a:xfrm>
            <a:off x="7773988" y="3246438"/>
            <a:ext cx="6302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solidFill>
                  <a:srgbClr val="00CC00"/>
                </a:solidFill>
                <a:latin typeface="Times New Roman" pitchFamily="18" charset="0"/>
              </a:rPr>
              <a:t>0.006</a:t>
            </a:r>
          </a:p>
        </p:txBody>
      </p:sp>
      <p:sp>
        <p:nvSpPr>
          <p:cNvPr id="34875" name="Rectangle 59"/>
          <p:cNvSpPr>
            <a:spLocks noChangeArrowheads="1"/>
          </p:cNvSpPr>
          <p:nvPr/>
        </p:nvSpPr>
        <p:spPr bwMode="auto">
          <a:xfrm>
            <a:off x="990600" y="5826125"/>
            <a:ext cx="72628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>
                <a:latin typeface="Tahoma" pitchFamily="34" charset="0"/>
              </a:rPr>
              <a:t>Numbers on arcs represent the probability of an accident occurring.</a:t>
            </a:r>
          </a:p>
        </p:txBody>
      </p:sp>
      <p:sp>
        <p:nvSpPr>
          <p:cNvPr id="34876" name="Rectangle 60"/>
          <p:cNvSpPr>
            <a:spLocks noChangeArrowheads="1"/>
          </p:cNvSpPr>
          <p:nvPr/>
        </p:nvSpPr>
        <p:spPr bwMode="auto">
          <a:xfrm>
            <a:off x="8194675" y="1285875"/>
            <a:ext cx="731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rgbClr val="3399FF"/>
                </a:solidFill>
              </a:rPr>
              <a:t>+1</a:t>
            </a:r>
          </a:p>
        </p:txBody>
      </p:sp>
      <p:sp>
        <p:nvSpPr>
          <p:cNvPr id="34877" name="Rectangle 61"/>
          <p:cNvSpPr>
            <a:spLocks noChangeArrowheads="1"/>
          </p:cNvSpPr>
          <p:nvPr/>
        </p:nvSpPr>
        <p:spPr bwMode="auto">
          <a:xfrm>
            <a:off x="381000" y="3546475"/>
            <a:ext cx="731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rgbClr val="3399FF"/>
                </a:solidFill>
              </a:rPr>
              <a:t>-1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127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Decision Variables</a:t>
            </a:r>
          </a:p>
        </p:txBody>
      </p:sp>
      <p:graphicFrame>
        <p:nvGraphicFramePr>
          <p:cNvPr id="35843" name="Object 3"/>
          <p:cNvGraphicFramePr>
            <a:graphicFrameLocks/>
          </p:cNvGraphicFramePr>
          <p:nvPr/>
        </p:nvGraphicFramePr>
        <p:xfrm>
          <a:off x="1246188" y="1657350"/>
          <a:ext cx="70358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8" name="Equation" r:id="rId4" imgW="3187440" imgH="457200" progId="Equation.3">
                  <p:embed/>
                </p:oleObj>
              </mc:Choice>
              <mc:Fallback>
                <p:oleObj name="Equation" r:id="rId4" imgW="3187440" imgH="4572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1657350"/>
                        <a:ext cx="70358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626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404938"/>
            <a:ext cx="7772400" cy="881062"/>
          </a:xfrm>
          <a:noFill/>
          <a:ln/>
        </p:spPr>
        <p:txBody>
          <a:bodyPr lIns="92075" tIns="46038" rIns="92075" bIns="46038"/>
          <a:lstStyle/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Select the safest route by maximizing the probability of not having an accident,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endParaRPr lang="en-US" sz="2800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455613" y="2514600"/>
            <a:ext cx="823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MAX: (1-P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12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Y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12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)(1-P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13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Y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13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)(1-P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14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Y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14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)(1-P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24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Y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24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)…(1-P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9,10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Y</a:t>
            </a:r>
            <a:r>
              <a:rPr lang="en-US" sz="2400" baseline="-25000" dirty="0">
                <a:solidFill>
                  <a:srgbClr val="FFFFFF"/>
                </a:solidFill>
                <a:latin typeface="Tahoma" pitchFamily="34" charset="0"/>
              </a:rPr>
              <a:t>9,10</a:t>
            </a:r>
            <a:r>
              <a:rPr lang="en-US" sz="2400" dirty="0">
                <a:solidFill>
                  <a:srgbClr val="FFFFFF"/>
                </a:solidFill>
                <a:latin typeface="Tahoma" pitchFamily="34" charset="0"/>
              </a:rPr>
              <a:t>)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1009650" y="3278188"/>
            <a:ext cx="7600950" cy="137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628650" indent="-628650" eaLnBrk="0" hangingPunct="0">
              <a:spcBef>
                <a:spcPct val="50000"/>
              </a:spcBef>
            </a:pPr>
            <a:r>
              <a:rPr lang="en-US" sz="2400">
                <a:solidFill>
                  <a:srgbClr val="FFFFFF"/>
                </a:solidFill>
                <a:latin typeface="Tahoma" pitchFamily="34" charset="0"/>
              </a:rPr>
              <a:t>where:</a:t>
            </a:r>
            <a:r>
              <a:rPr lang="en-US" sz="2400">
                <a:solidFill>
                  <a:srgbClr val="FFFFFF"/>
                </a:solidFill>
              </a:rPr>
              <a:t> </a:t>
            </a:r>
          </a:p>
          <a:p>
            <a:pPr marL="628650" indent="-628650" eaLnBrk="0" hangingPunct="0">
              <a:spcBef>
                <a:spcPct val="50000"/>
              </a:spcBef>
            </a:pPr>
            <a:r>
              <a:rPr lang="en-US" sz="2400">
                <a:solidFill>
                  <a:srgbClr val="FFFFFF"/>
                </a:solidFill>
              </a:rPr>
              <a:t>P</a:t>
            </a:r>
            <a:r>
              <a:rPr lang="en-US" sz="2400" i="1" baseline="-25000">
                <a:solidFill>
                  <a:srgbClr val="FFFFFF"/>
                </a:solidFill>
                <a:latin typeface="Times New Roman" pitchFamily="18" charset="0"/>
              </a:rPr>
              <a:t>ij</a:t>
            </a:r>
            <a:r>
              <a:rPr lang="en-US" sz="2400">
                <a:solidFill>
                  <a:srgbClr val="FFFFFF"/>
                </a:solidFill>
              </a:rPr>
              <a:t> = </a:t>
            </a:r>
            <a:r>
              <a:rPr lang="en-US" sz="2400">
                <a:solidFill>
                  <a:srgbClr val="FFFFFF"/>
                </a:solidFill>
                <a:latin typeface="Tahoma" pitchFamily="34" charset="0"/>
              </a:rPr>
              <a:t>probability of having an accident while traveling between node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i="1">
                <a:solidFill>
                  <a:srgbClr val="FFFFFF"/>
                </a:solidFill>
                <a:latin typeface="Times New Roman" pitchFamily="18" charset="0"/>
              </a:rPr>
              <a:t>i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>
                <a:solidFill>
                  <a:srgbClr val="FFFFFF"/>
                </a:solidFill>
                <a:latin typeface="Tahoma" pitchFamily="34" charset="0"/>
              </a:rPr>
              <a:t>and node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i="1">
                <a:solidFill>
                  <a:srgbClr val="FFFFFF"/>
                </a:solidFill>
                <a:latin typeface="Times New Roman" pitchFamily="18" charset="0"/>
              </a:rPr>
              <a:t>j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52463" y="514350"/>
            <a:ext cx="7772400" cy="3968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098550"/>
            <a:ext cx="7620000" cy="5302250"/>
          </a:xfrm>
          <a:noFill/>
          <a:ln/>
        </p:spPr>
        <p:txBody>
          <a:bodyPr lIns="92075" tIns="46038" rIns="92075" bIns="46038"/>
          <a:lstStyle/>
          <a:p>
            <a:r>
              <a:rPr lang="en-US" sz="2400"/>
              <a:t>Flow Constraints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-Y</a:t>
            </a:r>
            <a:r>
              <a:rPr lang="en-US" sz="2400" baseline="-25000"/>
              <a:t>12</a:t>
            </a:r>
            <a:r>
              <a:rPr lang="en-US" sz="2400"/>
              <a:t> -Y</a:t>
            </a:r>
            <a:r>
              <a:rPr lang="en-US" sz="2400" baseline="-25000"/>
              <a:t>13</a:t>
            </a:r>
            <a:r>
              <a:rPr lang="en-US" sz="2400"/>
              <a:t> -Y</a:t>
            </a:r>
            <a:r>
              <a:rPr lang="en-US" sz="2400" baseline="-25000"/>
              <a:t>14</a:t>
            </a:r>
            <a:r>
              <a:rPr lang="en-US" sz="2400"/>
              <a:t> = -1 			} node 1 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12</a:t>
            </a:r>
            <a:r>
              <a:rPr lang="en-US" sz="2400"/>
              <a:t> -Y</a:t>
            </a:r>
            <a:r>
              <a:rPr lang="en-US" sz="2400" baseline="-25000"/>
              <a:t>24</a:t>
            </a:r>
            <a:r>
              <a:rPr lang="en-US" sz="2400"/>
              <a:t> -Y</a:t>
            </a:r>
            <a:r>
              <a:rPr lang="en-US" sz="2400" baseline="-25000"/>
              <a:t>26</a:t>
            </a:r>
            <a:r>
              <a:rPr lang="en-US" sz="2400"/>
              <a:t> = 0 			} node 2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13</a:t>
            </a:r>
            <a:r>
              <a:rPr lang="en-US" sz="2400"/>
              <a:t> -Y</a:t>
            </a:r>
            <a:r>
              <a:rPr lang="en-US" sz="2400" baseline="-25000"/>
              <a:t>34</a:t>
            </a:r>
            <a:r>
              <a:rPr lang="en-US" sz="2400"/>
              <a:t> -Y</a:t>
            </a:r>
            <a:r>
              <a:rPr lang="en-US" sz="2400" baseline="-25000"/>
              <a:t>35</a:t>
            </a:r>
            <a:r>
              <a:rPr lang="en-US" sz="2400"/>
              <a:t> = 0 			} node 3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14</a:t>
            </a:r>
            <a:r>
              <a:rPr lang="en-US" sz="2400"/>
              <a:t> +Y</a:t>
            </a:r>
            <a:r>
              <a:rPr lang="en-US" sz="2400" baseline="-25000"/>
              <a:t>24</a:t>
            </a:r>
            <a:r>
              <a:rPr lang="en-US" sz="2400"/>
              <a:t> +Y</a:t>
            </a:r>
            <a:r>
              <a:rPr lang="en-US" sz="2400" baseline="-25000"/>
              <a:t>34</a:t>
            </a:r>
            <a:r>
              <a:rPr lang="en-US" sz="2400"/>
              <a:t> -Y</a:t>
            </a:r>
            <a:r>
              <a:rPr lang="en-US" sz="2400" baseline="-25000"/>
              <a:t>45</a:t>
            </a:r>
            <a:r>
              <a:rPr lang="en-US" sz="2400"/>
              <a:t> -Y</a:t>
            </a:r>
            <a:r>
              <a:rPr lang="en-US" sz="2400" baseline="-25000"/>
              <a:t>46</a:t>
            </a:r>
            <a:r>
              <a:rPr lang="en-US" sz="2400"/>
              <a:t> -Y</a:t>
            </a:r>
            <a:r>
              <a:rPr lang="en-US" sz="2400" baseline="-25000"/>
              <a:t>48</a:t>
            </a:r>
            <a:r>
              <a:rPr lang="en-US" sz="2400"/>
              <a:t> = 0	} node 4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35</a:t>
            </a:r>
            <a:r>
              <a:rPr lang="en-US" sz="2400"/>
              <a:t> +Y</a:t>
            </a:r>
            <a:r>
              <a:rPr lang="en-US" sz="2400" baseline="-25000"/>
              <a:t>45</a:t>
            </a:r>
            <a:r>
              <a:rPr lang="en-US" sz="2400"/>
              <a:t> -Y</a:t>
            </a:r>
            <a:r>
              <a:rPr lang="en-US" sz="2400" baseline="-25000"/>
              <a:t>57</a:t>
            </a:r>
            <a:r>
              <a:rPr lang="en-US" sz="2400"/>
              <a:t>  = 0 			} node 5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26</a:t>
            </a:r>
            <a:r>
              <a:rPr lang="en-US" sz="2400"/>
              <a:t> +Y</a:t>
            </a:r>
            <a:r>
              <a:rPr lang="en-US" sz="2400" baseline="-25000"/>
              <a:t>46</a:t>
            </a:r>
            <a:r>
              <a:rPr lang="en-US" sz="2400"/>
              <a:t> -Y</a:t>
            </a:r>
            <a:r>
              <a:rPr lang="en-US" sz="2400" baseline="-25000"/>
              <a:t>67</a:t>
            </a:r>
            <a:r>
              <a:rPr lang="en-US" sz="2400"/>
              <a:t> -Y</a:t>
            </a:r>
            <a:r>
              <a:rPr lang="en-US" sz="2400" baseline="-25000"/>
              <a:t>68</a:t>
            </a:r>
            <a:r>
              <a:rPr lang="en-US" sz="2400"/>
              <a:t> = 0 			} node 6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57</a:t>
            </a:r>
            <a:r>
              <a:rPr lang="en-US" sz="2400"/>
              <a:t> +Y</a:t>
            </a:r>
            <a:r>
              <a:rPr lang="en-US" sz="2400" baseline="-25000"/>
              <a:t>67</a:t>
            </a:r>
            <a:r>
              <a:rPr lang="en-US" sz="2400"/>
              <a:t> -Y</a:t>
            </a:r>
            <a:r>
              <a:rPr lang="en-US" sz="2400" baseline="-25000"/>
              <a:t>78</a:t>
            </a:r>
            <a:r>
              <a:rPr lang="en-US" sz="2400"/>
              <a:t> -Y</a:t>
            </a:r>
            <a:r>
              <a:rPr lang="en-US" sz="2400" baseline="-25000"/>
              <a:t>79</a:t>
            </a:r>
            <a:r>
              <a:rPr lang="en-US" sz="2400"/>
              <a:t> -Y</a:t>
            </a:r>
            <a:r>
              <a:rPr lang="en-US" sz="2400" baseline="-25000"/>
              <a:t>7,10</a:t>
            </a:r>
            <a:r>
              <a:rPr lang="en-US" sz="2400"/>
              <a:t> = 0 		} node 7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48</a:t>
            </a:r>
            <a:r>
              <a:rPr lang="en-US" sz="2400"/>
              <a:t> +Y</a:t>
            </a:r>
            <a:r>
              <a:rPr lang="en-US" sz="2400" baseline="-25000"/>
              <a:t>68</a:t>
            </a:r>
            <a:r>
              <a:rPr lang="en-US" sz="2400"/>
              <a:t> +Y</a:t>
            </a:r>
            <a:r>
              <a:rPr lang="en-US" sz="2400" baseline="-25000"/>
              <a:t>78</a:t>
            </a:r>
            <a:r>
              <a:rPr lang="en-US" sz="2400"/>
              <a:t> -Y</a:t>
            </a:r>
            <a:r>
              <a:rPr lang="en-US" sz="2400" baseline="-25000"/>
              <a:t>8,10</a:t>
            </a:r>
            <a:r>
              <a:rPr lang="en-US" sz="2400"/>
              <a:t>  = 0 		} node 8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79</a:t>
            </a:r>
            <a:r>
              <a:rPr lang="en-US" sz="2400"/>
              <a:t> -Y</a:t>
            </a:r>
            <a:r>
              <a:rPr lang="en-US" sz="2400" baseline="-25000"/>
              <a:t>9,10</a:t>
            </a:r>
            <a:r>
              <a:rPr lang="en-US" sz="2400"/>
              <a:t>  = 0 				} node 9</a:t>
            </a:r>
          </a:p>
          <a:p>
            <a:pPr>
              <a:buFont typeface="Wingdings" pitchFamily="2" charset="2"/>
              <a:buNone/>
            </a:pPr>
            <a:r>
              <a:rPr lang="en-US" sz="2400"/>
              <a:t>	+Y</a:t>
            </a:r>
            <a:r>
              <a:rPr lang="en-US" sz="2400" baseline="-25000"/>
              <a:t>7,10</a:t>
            </a:r>
            <a:r>
              <a:rPr lang="en-US" sz="2400"/>
              <a:t> +Y</a:t>
            </a:r>
            <a:r>
              <a:rPr lang="en-US" sz="2400" baseline="-25000"/>
              <a:t>8,10</a:t>
            </a:r>
            <a:r>
              <a:rPr lang="en-US" sz="2400"/>
              <a:t> +Y</a:t>
            </a:r>
            <a:r>
              <a:rPr lang="en-US" sz="2400" baseline="-25000"/>
              <a:t>9,10</a:t>
            </a:r>
            <a:r>
              <a:rPr lang="en-US" sz="2400"/>
              <a:t>  = 1 		  	} node 10</a:t>
            </a:r>
          </a:p>
          <a:p>
            <a:pPr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001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755650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Fig8-15.xlsm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735013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4000" i="1">
                <a:solidFill>
                  <a:schemeClr val="hlink"/>
                </a:solidFill>
              </a:rPr>
              <a:t>A Project Selection Problem: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The TMC Corporation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373188"/>
            <a:ext cx="7772400" cy="2589212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TMC needs to allocate $1.7 million of R&amp;D budget and up to 25 engineers among 6 projects.</a:t>
            </a:r>
          </a:p>
          <a:p>
            <a:r>
              <a:rPr lang="en-US" sz="2400" dirty="0"/>
              <a:t>The probability of success for each project depends on the number of engineers assigned (</a:t>
            </a:r>
            <a:r>
              <a:rPr lang="en-US" sz="2400" dirty="0">
                <a:latin typeface="Times New Roman" pitchFamily="18" charset="0"/>
              </a:rPr>
              <a:t>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) and is defined as:</a:t>
            </a:r>
          </a:p>
          <a:p>
            <a:pPr algn="ctr">
              <a:buFont typeface="Wingdings" pitchFamily="2" charset="2"/>
              <a:buNone/>
            </a:pPr>
            <a:r>
              <a:rPr lang="en-US" sz="2400" dirty="0"/>
              <a:t> P</a:t>
            </a:r>
            <a:r>
              <a:rPr lang="en-US" sz="20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= </a:t>
            </a:r>
            <a:r>
              <a:rPr lang="en-US" sz="2400" dirty="0">
                <a:latin typeface="Times New Roman" pitchFamily="18" charset="0"/>
              </a:rPr>
              <a:t>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</a:rPr>
              <a:t>/(X</a:t>
            </a:r>
            <a:r>
              <a:rPr lang="en-US" sz="2400" i="1" baseline="-25000" dirty="0">
                <a:latin typeface="Times New Roman" pitchFamily="18" charset="0"/>
              </a:rPr>
              <a:t>i</a:t>
            </a:r>
            <a:r>
              <a:rPr lang="en-US" sz="2400" dirty="0"/>
              <a:t> + </a:t>
            </a:r>
            <a:r>
              <a:rPr lang="en-US" sz="2400" dirty="0" err="1">
                <a:latin typeface="Symbol" pitchFamily="18" charset="2"/>
              </a:rPr>
              <a:t>e</a:t>
            </a:r>
            <a:r>
              <a:rPr lang="en-US" sz="2400" i="1" baseline="-25000" dirty="0" err="1">
                <a:latin typeface="Times New Roman" pitchFamily="18" charset="0"/>
              </a:rPr>
              <a:t>i</a:t>
            </a:r>
            <a:r>
              <a:rPr lang="en-US" sz="2400" dirty="0"/>
              <a:t>)</a:t>
            </a:r>
          </a:p>
        </p:txBody>
      </p:sp>
      <p:grpSp>
        <p:nvGrpSpPr>
          <p:cNvPr id="40966" name="Group 6"/>
          <p:cNvGrpSpPr>
            <a:grpSpLocks/>
          </p:cNvGrpSpPr>
          <p:nvPr/>
        </p:nvGrpSpPr>
        <p:grpSpPr bwMode="auto">
          <a:xfrm>
            <a:off x="371475" y="3924300"/>
            <a:ext cx="8401050" cy="2381250"/>
            <a:chOff x="234" y="2472"/>
            <a:chExt cx="5292" cy="1500"/>
          </a:xfrm>
        </p:grpSpPr>
        <p:sp>
          <p:nvSpPr>
            <p:cNvPr id="40964" name="Rectangle 4"/>
            <p:cNvSpPr>
              <a:spLocks noChangeArrowheads="1"/>
            </p:cNvSpPr>
            <p:nvPr/>
          </p:nvSpPr>
          <p:spPr bwMode="auto">
            <a:xfrm>
              <a:off x="234" y="2472"/>
              <a:ext cx="5292" cy="1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tabLst>
                  <a:tab pos="119063" algn="l"/>
                  <a:tab pos="2738438" algn="ctr"/>
                  <a:tab pos="3657600" algn="ctr"/>
                  <a:tab pos="4575175" algn="ctr"/>
                  <a:tab pos="5494338" algn="ctr"/>
                  <a:tab pos="6396038" algn="ctr"/>
                  <a:tab pos="7313613" algn="ctr"/>
                </a:tabLst>
              </a:pPr>
              <a:r>
                <a:rPr lang="en-US" sz="2400" dirty="0">
                  <a:latin typeface="Times New Roman" pitchFamily="18" charset="0"/>
                </a:rPr>
                <a:t>	</a:t>
              </a:r>
              <a:r>
                <a:rPr lang="en-US" sz="2400" dirty="0">
                  <a:latin typeface="Tahoma" pitchFamily="34" charset="0"/>
                </a:rPr>
                <a:t>Project	1	2	3	4	5	6</a:t>
              </a:r>
            </a:p>
            <a:p>
              <a:pPr eaLnBrk="0" hangingPunct="0">
                <a:tabLst>
                  <a:tab pos="119063" algn="l"/>
                  <a:tab pos="2738438" algn="ctr"/>
                  <a:tab pos="3657600" algn="ctr"/>
                  <a:tab pos="4575175" algn="ctr"/>
                  <a:tab pos="5494338" algn="ctr"/>
                  <a:tab pos="6396038" algn="ctr"/>
                  <a:tab pos="7313613" algn="ctr"/>
                </a:tabLst>
              </a:pPr>
              <a:r>
                <a:rPr lang="en-US" sz="2400" dirty="0">
                  <a:latin typeface="Tahoma" pitchFamily="34" charset="0"/>
                </a:rPr>
                <a:t>	</a:t>
              </a:r>
              <a:r>
                <a:rPr lang="en-US" sz="2200" dirty="0">
                  <a:latin typeface="Tahoma" pitchFamily="34" charset="0"/>
                </a:rPr>
                <a:t>Startup Costs</a:t>
              </a:r>
              <a:r>
                <a:rPr lang="en-US" sz="2400" dirty="0">
                  <a:latin typeface="Tahoma" pitchFamily="34" charset="0"/>
                </a:rPr>
                <a:t>	$325	$200	$490	$125	$710	$240</a:t>
              </a:r>
            </a:p>
            <a:p>
              <a:pPr eaLnBrk="0" hangingPunct="0">
                <a:tabLst>
                  <a:tab pos="119063" algn="l"/>
                  <a:tab pos="2738438" algn="ctr"/>
                  <a:tab pos="3657600" algn="ctr"/>
                  <a:tab pos="4575175" algn="ctr"/>
                  <a:tab pos="5494338" algn="ctr"/>
                  <a:tab pos="6396038" algn="ctr"/>
                  <a:tab pos="7313613" algn="ctr"/>
                </a:tabLst>
              </a:pPr>
              <a:r>
                <a:rPr lang="en-US" sz="2400" dirty="0">
                  <a:latin typeface="Tahoma" pitchFamily="34" charset="0"/>
                </a:rPr>
                <a:t>	</a:t>
              </a:r>
              <a:r>
                <a:rPr lang="en-US" sz="2200" dirty="0">
                  <a:latin typeface="Tahoma" pitchFamily="34" charset="0"/>
                </a:rPr>
                <a:t>NPV if successful</a:t>
              </a:r>
              <a:r>
                <a:rPr lang="en-US" sz="2400" dirty="0">
                  <a:latin typeface="Tahoma" pitchFamily="34" charset="0"/>
                </a:rPr>
                <a:t>	$750	$120	$900	$400	$1,110	$800</a:t>
              </a:r>
            </a:p>
            <a:p>
              <a:pPr eaLnBrk="0" hangingPunct="0">
                <a:tabLst>
                  <a:tab pos="119063" algn="l"/>
                  <a:tab pos="2738438" algn="ctr"/>
                  <a:tab pos="3657600" algn="ctr"/>
                  <a:tab pos="4575175" algn="ctr"/>
                  <a:tab pos="5494338" algn="ctr"/>
                  <a:tab pos="6396038" algn="ctr"/>
                  <a:tab pos="7313613" algn="ctr"/>
                </a:tabLst>
              </a:pPr>
              <a:r>
                <a:rPr lang="en-US" sz="2400" dirty="0">
                  <a:latin typeface="Tahoma" pitchFamily="34" charset="0"/>
                </a:rPr>
                <a:t>	</a:t>
              </a:r>
              <a:r>
                <a:rPr lang="en-US" sz="2200" dirty="0">
                  <a:latin typeface="Tahoma" pitchFamily="34" charset="0"/>
                </a:rPr>
                <a:t>Probability</a:t>
              </a:r>
            </a:p>
            <a:p>
              <a:pPr eaLnBrk="0" hangingPunct="0">
                <a:lnSpc>
                  <a:spcPct val="80000"/>
                </a:lnSpc>
                <a:tabLst>
                  <a:tab pos="119063" algn="l"/>
                  <a:tab pos="2738438" algn="ctr"/>
                  <a:tab pos="3657600" algn="ctr"/>
                  <a:tab pos="4575175" algn="ctr"/>
                  <a:tab pos="5494338" algn="ctr"/>
                  <a:tab pos="6396038" algn="ctr"/>
                  <a:tab pos="7313613" algn="ctr"/>
                </a:tabLst>
              </a:pPr>
              <a:r>
                <a:rPr lang="en-US" sz="2200" dirty="0">
                  <a:latin typeface="Tahoma" pitchFamily="34" charset="0"/>
                </a:rPr>
                <a:t>	Parameter </a:t>
              </a:r>
              <a:r>
                <a:rPr lang="en-US" sz="2400" dirty="0" err="1">
                  <a:latin typeface="Symbol" pitchFamily="18" charset="2"/>
                </a:rPr>
                <a:t>e</a:t>
              </a:r>
              <a:r>
                <a:rPr lang="en-US" sz="2400" i="1" baseline="-25000" dirty="0" err="1">
                  <a:latin typeface="Times New Roman" pitchFamily="18" charset="0"/>
                </a:rPr>
                <a:t>i</a:t>
              </a:r>
              <a:r>
                <a:rPr lang="en-US" sz="2200" i="1" dirty="0">
                  <a:latin typeface="Times New Roman" pitchFamily="18" charset="0"/>
                </a:rPr>
                <a:t> </a:t>
              </a:r>
              <a:r>
                <a:rPr lang="en-US" sz="2400" dirty="0">
                  <a:latin typeface="Tahoma" pitchFamily="34" charset="0"/>
                </a:rPr>
                <a:t>	3.1	2.5	4.5	5.6	8.2	8.5</a:t>
              </a:r>
            </a:p>
            <a:p>
              <a:pPr eaLnBrk="0" hangingPunct="0">
                <a:lnSpc>
                  <a:spcPct val="80000"/>
                </a:lnSpc>
                <a:tabLst>
                  <a:tab pos="119063" algn="l"/>
                  <a:tab pos="2738438" algn="ctr"/>
                  <a:tab pos="3657600" algn="ctr"/>
                  <a:tab pos="4575175" algn="ctr"/>
                  <a:tab pos="5494338" algn="ctr"/>
                  <a:tab pos="6396038" algn="ctr"/>
                  <a:tab pos="7313613" algn="ctr"/>
                </a:tabLst>
              </a:pPr>
              <a:endParaRPr lang="en-US" sz="2400" dirty="0">
                <a:latin typeface="Tahoma" pitchFamily="34" charset="0"/>
              </a:endParaRPr>
            </a:p>
            <a:p>
              <a:pPr algn="ctr" eaLnBrk="0" hangingPunct="0">
                <a:lnSpc>
                  <a:spcPct val="80000"/>
                </a:lnSpc>
                <a:tabLst>
                  <a:tab pos="119063" algn="l"/>
                  <a:tab pos="2738438" algn="ctr"/>
                  <a:tab pos="3657600" algn="ctr"/>
                  <a:tab pos="4575175" algn="ctr"/>
                  <a:tab pos="5494338" algn="ctr"/>
                  <a:tab pos="6396038" algn="ctr"/>
                  <a:tab pos="7313613" algn="ctr"/>
                </a:tabLst>
              </a:pPr>
              <a:r>
                <a:rPr lang="en-US" sz="2000" dirty="0">
                  <a:latin typeface="Tahoma" pitchFamily="34" charset="0"/>
                </a:rPr>
                <a:t>(all monetary values are in $1,000s)</a:t>
              </a:r>
            </a:p>
          </p:txBody>
        </p:sp>
        <p:sp>
          <p:nvSpPr>
            <p:cNvPr id="40965" name="Line 5"/>
            <p:cNvSpPr>
              <a:spLocks noChangeShapeType="1"/>
            </p:cNvSpPr>
            <p:nvPr/>
          </p:nvSpPr>
          <p:spPr bwMode="auto">
            <a:xfrm>
              <a:off x="351" y="2729"/>
              <a:ext cx="49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214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064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Decision Variables</a:t>
            </a:r>
          </a:p>
        </p:txBody>
      </p:sp>
      <p:graphicFrame>
        <p:nvGraphicFramePr>
          <p:cNvPr id="43011" name="Object 3"/>
          <p:cNvGraphicFramePr>
            <a:graphicFrameLocks/>
          </p:cNvGraphicFramePr>
          <p:nvPr/>
        </p:nvGraphicFramePr>
        <p:xfrm>
          <a:off x="1166813" y="1439863"/>
          <a:ext cx="562768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7" name="Equation" r:id="rId4" imgW="2438280" imgH="406080" progId="Equation.2">
                  <p:embed/>
                </p:oleObj>
              </mc:Choice>
              <mc:Fallback>
                <p:oleObj name="Equation" r:id="rId4" imgW="2438280" imgH="406080" progId="Equation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1439863"/>
                        <a:ext cx="562768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685800" y="2960688"/>
            <a:ext cx="80978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X</a:t>
            </a:r>
            <a:r>
              <a:rPr lang="en-US" sz="2200" i="1" baseline="-25000">
                <a:latin typeface="Times New Roman" pitchFamily="18" charset="0"/>
              </a:rPr>
              <a:t>i</a:t>
            </a:r>
            <a:r>
              <a:rPr lang="en-US" sz="2200">
                <a:latin typeface="Times New Roman" pitchFamily="18" charset="0"/>
              </a:rPr>
              <a:t> = </a:t>
            </a:r>
            <a:r>
              <a:rPr lang="en-US" sz="2100">
                <a:latin typeface="Tahoma" pitchFamily="34" charset="0"/>
              </a:rPr>
              <a:t>the number of engineers assigned to project</a:t>
            </a:r>
            <a:r>
              <a:rPr lang="en-US" sz="2200">
                <a:latin typeface="Times New Roman" pitchFamily="18" charset="0"/>
              </a:rPr>
              <a:t> </a:t>
            </a:r>
            <a:r>
              <a:rPr lang="en-US" sz="2200" i="1">
                <a:latin typeface="Times New Roman" pitchFamily="18" charset="0"/>
              </a:rPr>
              <a:t>i</a:t>
            </a:r>
            <a:r>
              <a:rPr lang="en-US" sz="2200">
                <a:latin typeface="Times New Roman" pitchFamily="18" charset="0"/>
              </a:rPr>
              <a:t>, </a:t>
            </a:r>
            <a:r>
              <a:rPr lang="en-US" sz="2200" i="1">
                <a:latin typeface="Times New Roman" pitchFamily="18" charset="0"/>
              </a:rPr>
              <a:t>i</a:t>
            </a:r>
            <a:r>
              <a:rPr lang="en-US" sz="2200">
                <a:latin typeface="Times New Roman" pitchFamily="18" charset="0"/>
              </a:rPr>
              <a:t> = 1, 2, 3, …, 6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15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Objective</a:t>
            </a:r>
          </a:p>
        </p:txBody>
      </p:sp>
      <p:graphicFrame>
        <p:nvGraphicFramePr>
          <p:cNvPr id="44035" name="Object 3"/>
          <p:cNvGraphicFramePr>
            <a:graphicFrameLocks/>
          </p:cNvGraphicFramePr>
          <p:nvPr/>
        </p:nvGraphicFramePr>
        <p:xfrm>
          <a:off x="379413" y="2619375"/>
          <a:ext cx="848836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1" name="Equation" r:id="rId4" imgW="3035160" imgH="355320" progId="Equation.2">
                  <p:embed/>
                </p:oleObj>
              </mc:Choice>
              <mc:Fallback>
                <p:oleObj name="Equation" r:id="rId4" imgW="3035160" imgH="355320" progId="Equation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3" y="2619375"/>
                        <a:ext cx="8488362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1524000" y="1371600"/>
            <a:ext cx="5486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 b="1">
                <a:latin typeface="Tahoma" pitchFamily="34" charset="0"/>
              </a:rPr>
              <a:t>Maximize the expected total NPV of selected projects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4025"/>
            <a:ext cx="7772400" cy="59055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Defining the Constraints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163638"/>
            <a:ext cx="8335963" cy="29337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Startup Funds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200" dirty="0"/>
              <a:t>325Y</a:t>
            </a:r>
            <a:r>
              <a:rPr lang="en-US" sz="2200" baseline="-25000" dirty="0"/>
              <a:t>1</a:t>
            </a:r>
            <a:r>
              <a:rPr lang="en-US" sz="2200" dirty="0"/>
              <a:t> + 200Y</a:t>
            </a:r>
            <a:r>
              <a:rPr lang="en-US" sz="2200" baseline="-25000" dirty="0"/>
              <a:t>2</a:t>
            </a:r>
            <a:r>
              <a:rPr lang="en-US" sz="2200" dirty="0"/>
              <a:t> + 490Y</a:t>
            </a:r>
            <a:r>
              <a:rPr lang="en-US" sz="2200" baseline="-25000" dirty="0"/>
              <a:t>3</a:t>
            </a:r>
            <a:r>
              <a:rPr lang="en-US" sz="2200" dirty="0"/>
              <a:t> + 125Y</a:t>
            </a:r>
            <a:r>
              <a:rPr lang="en-US" sz="2200" baseline="-25000" dirty="0"/>
              <a:t>4</a:t>
            </a:r>
            <a:r>
              <a:rPr lang="en-US" sz="2200" dirty="0"/>
              <a:t> + 710Y</a:t>
            </a:r>
            <a:r>
              <a:rPr lang="en-US" sz="2200" baseline="-25000" dirty="0"/>
              <a:t>5</a:t>
            </a:r>
            <a:r>
              <a:rPr lang="en-US" sz="2200" dirty="0"/>
              <a:t> + 240Y</a:t>
            </a:r>
            <a:r>
              <a:rPr lang="en-US" sz="2200" baseline="-25000" dirty="0"/>
              <a:t>6</a:t>
            </a:r>
            <a:r>
              <a:rPr lang="en-US" sz="2200" dirty="0"/>
              <a:t> &lt;=1700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Engineers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200" dirty="0"/>
              <a:t>X</a:t>
            </a:r>
            <a:r>
              <a:rPr lang="en-US" sz="2200" baseline="-25000" dirty="0"/>
              <a:t>1</a:t>
            </a:r>
            <a:r>
              <a:rPr lang="en-US" sz="2200" dirty="0"/>
              <a:t> + X</a:t>
            </a:r>
            <a:r>
              <a:rPr lang="en-US" sz="2200" baseline="-25000" dirty="0"/>
              <a:t>2</a:t>
            </a:r>
            <a:r>
              <a:rPr lang="en-US" sz="2200" dirty="0"/>
              <a:t> + X</a:t>
            </a:r>
            <a:r>
              <a:rPr lang="en-US" sz="2200" baseline="-25000" dirty="0"/>
              <a:t>3</a:t>
            </a:r>
            <a:r>
              <a:rPr lang="en-US" sz="2200" dirty="0"/>
              <a:t> + X</a:t>
            </a:r>
            <a:r>
              <a:rPr lang="en-US" sz="2200" baseline="-25000" dirty="0"/>
              <a:t>4</a:t>
            </a:r>
            <a:r>
              <a:rPr lang="en-US" sz="2200" dirty="0"/>
              <a:t> + X</a:t>
            </a:r>
            <a:r>
              <a:rPr lang="en-US" sz="2200" baseline="-25000" dirty="0"/>
              <a:t>5</a:t>
            </a:r>
            <a:r>
              <a:rPr lang="en-US" sz="2200" dirty="0"/>
              <a:t> + X</a:t>
            </a:r>
            <a:r>
              <a:rPr lang="en-US" sz="2200" baseline="-25000" dirty="0"/>
              <a:t>6</a:t>
            </a:r>
            <a:r>
              <a:rPr lang="en-US" sz="2200" dirty="0"/>
              <a:t>  &lt;= 25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Linking Constraints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200" dirty="0"/>
              <a:t>X</a:t>
            </a:r>
            <a:r>
              <a:rPr lang="en-US" sz="2200" i="1" baseline="-25000" dirty="0">
                <a:latin typeface="Times New Roman" pitchFamily="18" charset="0"/>
              </a:rPr>
              <a:t>i</a:t>
            </a:r>
            <a:r>
              <a:rPr lang="en-US" sz="2200" dirty="0"/>
              <a:t> - 25Y</a:t>
            </a:r>
            <a:r>
              <a:rPr lang="en-US" sz="2200" i="1" baseline="-25000" dirty="0">
                <a:latin typeface="Times New Roman" pitchFamily="18" charset="0"/>
              </a:rPr>
              <a:t>i</a:t>
            </a:r>
            <a:r>
              <a:rPr lang="en-US" sz="2200" dirty="0"/>
              <a:t> &lt;= 0,   </a:t>
            </a:r>
            <a:r>
              <a:rPr lang="en-US" sz="2200" i="1" dirty="0" err="1">
                <a:latin typeface="Times New Roman" pitchFamily="18" charset="0"/>
              </a:rPr>
              <a:t>i</a:t>
            </a:r>
            <a:r>
              <a:rPr lang="en-US" sz="2200" dirty="0"/>
              <a:t>= 1, 2, 3, … 6</a:t>
            </a:r>
            <a:r>
              <a:rPr lang="en-US" dirty="0"/>
              <a:t>	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430213" y="4046538"/>
            <a:ext cx="8335962" cy="2173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Note: The following constraint could be used in place of the last two constraints...</a:t>
            </a:r>
          </a:p>
          <a:p>
            <a:pPr lvl="1" eaLnBrk="0" hangingPunct="0">
              <a:spcBef>
                <a:spcPct val="20000"/>
              </a:spcBef>
            </a:pPr>
            <a:r>
              <a:rPr lang="en-US" sz="2400" dirty="0">
                <a:latin typeface="Tahoma" pitchFamily="34" charset="0"/>
              </a:rPr>
              <a:t>X</a:t>
            </a:r>
            <a:r>
              <a:rPr lang="en-US" sz="2400" baseline="-25000" dirty="0">
                <a:latin typeface="Tahoma" pitchFamily="34" charset="0"/>
              </a:rPr>
              <a:t>1</a:t>
            </a:r>
            <a:r>
              <a:rPr lang="en-US" sz="2400" dirty="0"/>
              <a:t>Y</a:t>
            </a:r>
            <a:r>
              <a:rPr lang="en-US" sz="2400" baseline="-25000" dirty="0"/>
              <a:t>1</a:t>
            </a:r>
            <a:r>
              <a:rPr lang="en-US" sz="2400" dirty="0">
                <a:latin typeface="Tahoma" pitchFamily="34" charset="0"/>
              </a:rPr>
              <a:t>+ X</a:t>
            </a:r>
            <a:r>
              <a:rPr lang="en-US" sz="2400" baseline="-25000" dirty="0">
                <a:latin typeface="Tahoma" pitchFamily="34" charset="0"/>
              </a:rPr>
              <a:t>2</a:t>
            </a:r>
            <a:r>
              <a:rPr lang="en-US" sz="2400" dirty="0"/>
              <a:t>Y</a:t>
            </a:r>
            <a:r>
              <a:rPr lang="en-US" sz="2400" baseline="-25000" dirty="0"/>
              <a:t>2</a:t>
            </a:r>
            <a:r>
              <a:rPr lang="en-US" sz="2400" dirty="0">
                <a:latin typeface="Tahoma" pitchFamily="34" charset="0"/>
              </a:rPr>
              <a:t>+ X</a:t>
            </a:r>
            <a:r>
              <a:rPr lang="en-US" sz="2400" baseline="-25000" dirty="0">
                <a:latin typeface="Tahoma" pitchFamily="34" charset="0"/>
              </a:rPr>
              <a:t>3</a:t>
            </a:r>
            <a:r>
              <a:rPr lang="en-US" sz="2400" dirty="0"/>
              <a:t>Y</a:t>
            </a:r>
            <a:r>
              <a:rPr lang="en-US" sz="2400" baseline="-25000" dirty="0"/>
              <a:t>3</a:t>
            </a:r>
            <a:r>
              <a:rPr lang="en-US" sz="2400" dirty="0">
                <a:latin typeface="Tahoma" pitchFamily="34" charset="0"/>
              </a:rPr>
              <a:t>+ X</a:t>
            </a:r>
            <a:r>
              <a:rPr lang="en-US" sz="2400" baseline="-25000" dirty="0">
                <a:latin typeface="Tahoma" pitchFamily="34" charset="0"/>
              </a:rPr>
              <a:t>4</a:t>
            </a:r>
            <a:r>
              <a:rPr lang="en-US" sz="2400" dirty="0"/>
              <a:t>Y</a:t>
            </a:r>
            <a:r>
              <a:rPr lang="en-US" sz="2400" baseline="-25000" dirty="0"/>
              <a:t>4</a:t>
            </a:r>
            <a:r>
              <a:rPr lang="en-US" sz="2400" dirty="0">
                <a:latin typeface="Tahoma" pitchFamily="34" charset="0"/>
              </a:rPr>
              <a:t>+ X</a:t>
            </a:r>
            <a:r>
              <a:rPr lang="en-US" sz="2400" baseline="-25000" dirty="0">
                <a:latin typeface="Tahoma" pitchFamily="34" charset="0"/>
              </a:rPr>
              <a:t>5</a:t>
            </a:r>
            <a:r>
              <a:rPr lang="en-US" sz="2400" dirty="0"/>
              <a:t>Y</a:t>
            </a:r>
            <a:r>
              <a:rPr lang="en-US" sz="2400" baseline="-25000" dirty="0"/>
              <a:t>5</a:t>
            </a:r>
            <a:r>
              <a:rPr lang="en-US" sz="2400" dirty="0">
                <a:latin typeface="Tahoma" pitchFamily="34" charset="0"/>
              </a:rPr>
              <a:t>+ X</a:t>
            </a:r>
            <a:r>
              <a:rPr lang="en-US" sz="2400" baseline="-25000" dirty="0">
                <a:latin typeface="Tahoma" pitchFamily="34" charset="0"/>
              </a:rPr>
              <a:t>6</a:t>
            </a:r>
            <a:r>
              <a:rPr lang="en-US" sz="2400" dirty="0"/>
              <a:t>Y</a:t>
            </a:r>
            <a:r>
              <a:rPr lang="en-US" sz="2400" baseline="-25000" dirty="0"/>
              <a:t>6</a:t>
            </a:r>
            <a:r>
              <a:rPr lang="en-US" sz="2400" dirty="0">
                <a:latin typeface="Tahoma" pitchFamily="34" charset="0"/>
              </a:rPr>
              <a:t>&lt;= 25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sz="2400" dirty="0">
                <a:latin typeface="Tahoma" pitchFamily="34" charset="0"/>
              </a:rPr>
              <a:t>	However, this constraint is nonlinear.  It is generally better to keep things linear where possible.</a:t>
            </a:r>
          </a:p>
          <a:p>
            <a:pPr marL="342900" indent="-342900" eaLnBrk="0" hangingPunct="0">
              <a:spcBef>
                <a:spcPct val="20000"/>
              </a:spcBef>
            </a:pPr>
            <a:endParaRPr lang="en-US" sz="2400" dirty="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  <p:bldP spid="4506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2707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28675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Fig8-19.xlsm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617538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A Life Insurance Funding Problem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2466975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Thom Pearman owns a whole life policy with surrender value of $6,000 and death benefit of $40,000.</a:t>
            </a:r>
          </a:p>
          <a:p>
            <a:r>
              <a:rPr lang="en-US" sz="2400" dirty="0"/>
              <a:t>He’d like to cash in his whole life policy and use interest on the surrender value to pay </a:t>
            </a:r>
            <a:r>
              <a:rPr lang="en-US" sz="2400"/>
              <a:t>premiums on </a:t>
            </a:r>
            <a:r>
              <a:rPr lang="en-US" sz="2400" dirty="0" err="1"/>
              <a:t>a</a:t>
            </a:r>
            <a:r>
              <a:rPr lang="en-US" sz="2400" dirty="0"/>
              <a:t> term life policy with a death benefit of $350,000.</a:t>
            </a:r>
          </a:p>
        </p:txBody>
      </p:sp>
      <p:grpSp>
        <p:nvGrpSpPr>
          <p:cNvPr id="48134" name="Group 6"/>
          <p:cNvGrpSpPr>
            <a:grpSpLocks/>
          </p:cNvGrpSpPr>
          <p:nvPr/>
        </p:nvGrpSpPr>
        <p:grpSpPr bwMode="auto">
          <a:xfrm>
            <a:off x="722313" y="3419475"/>
            <a:ext cx="8026400" cy="1647825"/>
            <a:chOff x="455" y="2154"/>
            <a:chExt cx="5056" cy="1038"/>
          </a:xfrm>
        </p:grpSpPr>
        <p:sp>
          <p:nvSpPr>
            <p:cNvPr id="48132" name="Rectangle 4"/>
            <p:cNvSpPr>
              <a:spLocks noChangeArrowheads="1"/>
            </p:cNvSpPr>
            <p:nvPr/>
          </p:nvSpPr>
          <p:spPr bwMode="auto">
            <a:xfrm>
              <a:off x="723" y="2676"/>
              <a:ext cx="478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20000"/>
                </a:spcBef>
                <a:tabLst>
                  <a:tab pos="1252538" algn="ctr"/>
                  <a:tab pos="1820863" algn="ctr"/>
                  <a:tab pos="2406650" algn="ctr"/>
                  <a:tab pos="2974975" algn="ctr"/>
                  <a:tab pos="3543300" algn="ctr"/>
                  <a:tab pos="4110038" algn="ctr"/>
                  <a:tab pos="4678363" algn="ctr"/>
                  <a:tab pos="5264150" algn="ctr"/>
                  <a:tab pos="5832475" algn="ctr"/>
                  <a:tab pos="6400800" algn="ctr"/>
                </a:tabLst>
              </a:pPr>
              <a:r>
                <a:rPr lang="en-US">
                  <a:latin typeface="Tahoma" pitchFamily="34" charset="0"/>
                </a:rPr>
                <a:t>Year	1	2	3	4	5	6	7	8	9	10	</a:t>
              </a:r>
            </a:p>
            <a:p>
              <a:pPr eaLnBrk="0" hangingPunct="0">
                <a:spcBef>
                  <a:spcPct val="20000"/>
                </a:spcBef>
                <a:tabLst>
                  <a:tab pos="1252538" algn="ctr"/>
                  <a:tab pos="1820863" algn="ctr"/>
                  <a:tab pos="2406650" algn="ctr"/>
                  <a:tab pos="2974975" algn="ctr"/>
                  <a:tab pos="3543300" algn="ctr"/>
                  <a:tab pos="4110038" algn="ctr"/>
                  <a:tab pos="4678363" algn="ctr"/>
                  <a:tab pos="5264150" algn="ctr"/>
                  <a:tab pos="5832475" algn="ctr"/>
                  <a:tab pos="6400800" algn="ctr"/>
                </a:tabLst>
              </a:pPr>
              <a:r>
                <a:rPr lang="en-US">
                  <a:latin typeface="Tahoma" pitchFamily="34" charset="0"/>
                </a:rPr>
                <a:t>Premium	$423 	$457 	$489 	$516 	$530 	$558 	$595 	$618 	$660 	$716 	</a:t>
              </a:r>
            </a:p>
          </p:txBody>
        </p:sp>
        <p:sp>
          <p:nvSpPr>
            <p:cNvPr id="48133" name="Rectangle 5"/>
            <p:cNvSpPr>
              <a:spLocks noChangeArrowheads="1"/>
            </p:cNvSpPr>
            <p:nvPr/>
          </p:nvSpPr>
          <p:spPr bwMode="auto">
            <a:xfrm>
              <a:off x="455" y="2154"/>
              <a:ext cx="4896" cy="1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400" dirty="0">
                  <a:latin typeface="Tahoma" pitchFamily="34" charset="0"/>
                </a:rPr>
                <a:t>The premiums on the new policy for the next 10 years are:</a:t>
              </a:r>
            </a:p>
          </p:txBody>
        </p:sp>
      </p:grpSp>
      <p:sp>
        <p:nvSpPr>
          <p:cNvPr id="48136" name="Line 8"/>
          <p:cNvSpPr>
            <a:spLocks noChangeShapeType="1"/>
          </p:cNvSpPr>
          <p:nvPr/>
        </p:nvSpPr>
        <p:spPr bwMode="auto">
          <a:xfrm>
            <a:off x="1143000" y="4597400"/>
            <a:ext cx="670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  <p:bldP spid="4813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9125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 dirty="0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4724400"/>
            <a:ext cx="8229600" cy="846138"/>
          </a:xfrm>
          <a:noFill/>
          <a:ln/>
        </p:spPr>
        <p:txBody>
          <a:bodyPr lIns="92075" tIns="46038" rIns="92075" bIns="46038"/>
          <a:lstStyle/>
          <a:p>
            <a:pPr algn="ctr"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Fig8-22.xlsm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6575FDE-A0FE-426A-BEF6-C8A289544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34" y="1429544"/>
            <a:ext cx="7772400" cy="2456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Thom likes to keep the $6,000 in case of emergency and does not want to use it to pay </a:t>
            </a:r>
            <a:r>
              <a:rPr lang="en-US" sz="2400" dirty="0" err="1">
                <a:latin typeface="Tahoma" pitchFamily="34" charset="0"/>
              </a:rPr>
              <a:t>premims</a:t>
            </a:r>
            <a:r>
              <a:rPr lang="en-US" sz="2400" dirty="0">
                <a:latin typeface="Tahoma" pitchFamily="34" charset="0"/>
              </a:rPr>
              <a:t>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Thom’s marginal tax rate is 28%.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What rate of return will be required on his $6,000 investment?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42937"/>
          </a:xfrm>
        </p:spPr>
        <p:txBody>
          <a:bodyPr/>
          <a:lstStyle/>
          <a:p>
            <a:r>
              <a:rPr lang="en-US" sz="4000" i="1" dirty="0">
                <a:solidFill>
                  <a:schemeClr val="hlink"/>
                </a:solidFill>
              </a:rPr>
              <a:t>Evolutionary Algorithms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33500"/>
            <a:ext cx="8077200" cy="4152900"/>
          </a:xfrm>
        </p:spPr>
        <p:txBody>
          <a:bodyPr/>
          <a:lstStyle/>
          <a:p>
            <a:r>
              <a:rPr lang="en-US" dirty="0"/>
              <a:t>A technique of </a:t>
            </a:r>
            <a:r>
              <a:rPr lang="en-US" u="sng" dirty="0"/>
              <a:t>heuristic</a:t>
            </a:r>
            <a:r>
              <a:rPr lang="en-US" dirty="0"/>
              <a:t> mathematical optimization based on Darwin’s Theory of Evolution.</a:t>
            </a:r>
          </a:p>
          <a:p>
            <a:r>
              <a:rPr lang="en-US" dirty="0"/>
              <a:t>Can be used on any spreadsheet model, including those with “If” and/or “Lookup” functions.</a:t>
            </a:r>
          </a:p>
          <a:p>
            <a:r>
              <a:rPr lang="en-US" dirty="0"/>
              <a:t>Also known as Genetic Algorithms (GAs).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609600"/>
          </a:xfrm>
        </p:spPr>
        <p:txBody>
          <a:bodyPr/>
          <a:lstStyle/>
          <a:p>
            <a:r>
              <a:rPr lang="en-US" sz="4000" i="1">
                <a:solidFill>
                  <a:schemeClr val="hlink"/>
                </a:solidFill>
              </a:rPr>
              <a:t>Evolutionary Algorithms</a:t>
            </a:r>
            <a:endParaRPr lang="en-US" sz="4000">
              <a:solidFill>
                <a:schemeClr val="hlink"/>
              </a:solidFill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Solutions to a MP problem can be represented as a vector of numbers (like a chromosome)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Each chromosome has an associated  “fitness” (obj) value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GAs start with a random population of chromosomes &amp; apply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2400" dirty="0"/>
              <a:t>Crossover - exchange of values between solution vectors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Mutation  - random replacement of values in a solution vector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z="2800" dirty="0"/>
              <a:t>The most fit chromosomes survive to the next generation, and the process is repeated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uiExpand="1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2" name="Line 14"/>
          <p:cNvSpPr>
            <a:spLocks noChangeShapeType="1"/>
          </p:cNvSpPr>
          <p:nvPr/>
        </p:nvSpPr>
        <p:spPr bwMode="auto">
          <a:xfrm>
            <a:off x="1143000" y="2921000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609600"/>
            <a:ext cx="6858000" cy="41529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		</a:t>
            </a:r>
            <a:r>
              <a:rPr lang="en-US" sz="1200" b="1" dirty="0"/>
              <a:t>INITIAL POPULATION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400" dirty="0"/>
              <a:t>Chromosome	X</a:t>
            </a:r>
            <a:r>
              <a:rPr lang="en-US" sz="1400" baseline="-25000" dirty="0"/>
              <a:t>1</a:t>
            </a:r>
            <a:r>
              <a:rPr lang="en-US" sz="1400" dirty="0"/>
              <a:t>	X</a:t>
            </a:r>
            <a:r>
              <a:rPr lang="en-US" sz="1400" baseline="-25000" dirty="0"/>
              <a:t>2</a:t>
            </a:r>
            <a:r>
              <a:rPr lang="en-US" sz="1400" dirty="0"/>
              <a:t>	X</a:t>
            </a:r>
            <a:r>
              <a:rPr lang="en-US" sz="1400" baseline="-25000" dirty="0"/>
              <a:t>3</a:t>
            </a:r>
            <a:r>
              <a:rPr lang="en-US" sz="1400" dirty="0"/>
              <a:t>	X</a:t>
            </a:r>
            <a:r>
              <a:rPr lang="en-US" sz="1400" baseline="-25000" dirty="0"/>
              <a:t>4</a:t>
            </a:r>
            <a:r>
              <a:rPr lang="en-US" sz="1400" dirty="0"/>
              <a:t>	Fitness</a:t>
            </a:r>
            <a:endParaRPr lang="en-US" sz="12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1	7.84	24.39	28.95	6.62	282.08	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2	10.26	16.36	31.26	3.55	293.38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3	3.88	23.03	25.92	6.76	223.31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4	9.51	19.51	26.23	2.64	331.28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5	5.96	19.52	33.83	6.89	453.57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6	4.77	18.31	26.21	5.59	229.49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endParaRPr lang="en-US" sz="12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		</a:t>
            </a:r>
            <a:r>
              <a:rPr lang="en-US" sz="1200" b="1" dirty="0"/>
              <a:t>CROSSOVER &amp; MUTATION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400" dirty="0"/>
              <a:t>Chromosome	X</a:t>
            </a:r>
            <a:r>
              <a:rPr lang="en-US" sz="1400" baseline="-25000" dirty="0"/>
              <a:t>1</a:t>
            </a:r>
            <a:r>
              <a:rPr lang="en-US" sz="1400" dirty="0"/>
              <a:t>	X</a:t>
            </a:r>
            <a:r>
              <a:rPr lang="en-US" sz="1400" baseline="-25000" dirty="0"/>
              <a:t>2</a:t>
            </a:r>
            <a:r>
              <a:rPr lang="en-US" sz="1400" dirty="0"/>
              <a:t>	X</a:t>
            </a:r>
            <a:r>
              <a:rPr lang="en-US" sz="1400" baseline="-25000" dirty="0"/>
              <a:t>3</a:t>
            </a:r>
            <a:r>
              <a:rPr lang="en-US" sz="1400" dirty="0"/>
              <a:t>	X</a:t>
            </a:r>
            <a:r>
              <a:rPr lang="en-US" sz="1400" baseline="-25000" dirty="0"/>
              <a:t>4</a:t>
            </a:r>
            <a:r>
              <a:rPr lang="en-US" sz="1400" dirty="0"/>
              <a:t>	Fitness</a:t>
            </a:r>
            <a:endParaRPr lang="en-US" sz="12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1	7.84	24.39	31.26	3.55	334.28	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2	10.26	16.36	28.95	6.62	227.04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3	3.88	</a:t>
            </a:r>
            <a:r>
              <a:rPr lang="en-US" sz="1200" b="1" dirty="0">
                <a:solidFill>
                  <a:schemeClr val="tx2"/>
                </a:solidFill>
              </a:rPr>
              <a:t>19.75</a:t>
            </a:r>
            <a:r>
              <a:rPr lang="en-US" sz="1200" dirty="0"/>
              <a:t>	25.92	6.76	301.44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4	9.51	19.51	</a:t>
            </a:r>
            <a:r>
              <a:rPr lang="en-US" sz="1200" b="1" dirty="0">
                <a:solidFill>
                  <a:schemeClr val="tx2"/>
                </a:solidFill>
              </a:rPr>
              <a:t>32.23</a:t>
            </a:r>
            <a:r>
              <a:rPr lang="en-US" sz="1200" dirty="0"/>
              <a:t>	2.64	495.52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5	4.77	18.31	33.83	6.89	332.38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6	5.96	19.52	26.21	4.60	444.21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endParaRPr lang="en-US" sz="12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		</a:t>
            </a:r>
            <a:r>
              <a:rPr lang="en-US" sz="1200" b="1" dirty="0"/>
              <a:t>NEW POPULATION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400" dirty="0"/>
              <a:t>Chromosome	X</a:t>
            </a:r>
            <a:r>
              <a:rPr lang="en-US" sz="1400" baseline="-25000" dirty="0"/>
              <a:t>1</a:t>
            </a:r>
            <a:r>
              <a:rPr lang="en-US" sz="1400" dirty="0"/>
              <a:t>	X</a:t>
            </a:r>
            <a:r>
              <a:rPr lang="en-US" sz="1400" baseline="-25000" dirty="0"/>
              <a:t>2</a:t>
            </a:r>
            <a:r>
              <a:rPr lang="en-US" sz="1400" dirty="0"/>
              <a:t>	X</a:t>
            </a:r>
            <a:r>
              <a:rPr lang="en-US" sz="1400" baseline="-25000" dirty="0"/>
              <a:t>3</a:t>
            </a:r>
            <a:r>
              <a:rPr lang="en-US" sz="1400" dirty="0"/>
              <a:t>	X</a:t>
            </a:r>
            <a:r>
              <a:rPr lang="en-US" sz="1400" baseline="-25000" dirty="0"/>
              <a:t>4</a:t>
            </a:r>
            <a:r>
              <a:rPr lang="en-US" sz="1400" dirty="0"/>
              <a:t>	Fitness</a:t>
            </a:r>
            <a:endParaRPr lang="en-US" sz="12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1	7.84	24.39	31.26	3.55	334.28	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2	 10.26	16.36	31.26	3.55	293.38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3	3.88	</a:t>
            </a:r>
            <a:r>
              <a:rPr lang="en-US" sz="1200" b="1" dirty="0"/>
              <a:t>19.75</a:t>
            </a:r>
            <a:r>
              <a:rPr lang="en-US" sz="1200" dirty="0"/>
              <a:t>	25.92	6.76	301.44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4	9.51	19.51	</a:t>
            </a:r>
            <a:r>
              <a:rPr lang="en-US" sz="1200" b="1" dirty="0"/>
              <a:t>32.23</a:t>
            </a:r>
            <a:r>
              <a:rPr lang="en-US" sz="1200" dirty="0"/>
              <a:t>	2.64	495.52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5	 5.96	19.52	33.83	6.89	453.57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r>
              <a:rPr lang="en-US" sz="1200" dirty="0"/>
              <a:t>	6	5.96	19.52	26.21	4.60	444.21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460375" algn="ctr"/>
                <a:tab pos="1822450" algn="ctr"/>
                <a:tab pos="2743200" algn="ctr"/>
                <a:tab pos="3662363" algn="ctr"/>
                <a:tab pos="4565650" algn="ctr"/>
                <a:tab pos="5665788" algn="ctr"/>
              </a:tabLst>
            </a:pPr>
            <a:endParaRPr lang="en-US" sz="1200" dirty="0"/>
          </a:p>
        </p:txBody>
      </p:sp>
      <p:sp>
        <p:nvSpPr>
          <p:cNvPr id="63496" name="Line 8"/>
          <p:cNvSpPr>
            <a:spLocks noChangeShapeType="1"/>
          </p:cNvSpPr>
          <p:nvPr/>
        </p:nvSpPr>
        <p:spPr bwMode="auto">
          <a:xfrm flipH="1">
            <a:off x="4191000" y="3581400"/>
            <a:ext cx="32766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4552950" y="2914650"/>
            <a:ext cx="1371600" cy="381000"/>
          </a:xfrm>
          <a:prstGeom prst="rect">
            <a:avLst/>
          </a:prstGeom>
          <a:noFill/>
          <a:ln w="25400">
            <a:solidFill>
              <a:srgbClr val="00CC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2755900" y="3721100"/>
            <a:ext cx="1371600" cy="457200"/>
          </a:xfrm>
          <a:prstGeom prst="rect">
            <a:avLst/>
          </a:prstGeom>
          <a:noFill/>
          <a:ln w="25400">
            <a:solidFill>
              <a:srgbClr val="00CC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7391400" y="34290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 i="1">
                <a:solidFill>
                  <a:srgbClr val="00CC00"/>
                </a:solidFill>
              </a:rPr>
              <a:t>Crossover</a:t>
            </a:r>
          </a:p>
        </p:txBody>
      </p:sp>
      <p:sp>
        <p:nvSpPr>
          <p:cNvPr id="63495" name="Line 7"/>
          <p:cNvSpPr>
            <a:spLocks noChangeShapeType="1"/>
          </p:cNvSpPr>
          <p:nvPr/>
        </p:nvSpPr>
        <p:spPr bwMode="auto">
          <a:xfrm flipH="1" flipV="1">
            <a:off x="6019800" y="3200400"/>
            <a:ext cx="1447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7086600" y="4267200"/>
            <a:ext cx="1143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 i="1">
                <a:solidFill>
                  <a:schemeClr val="tx2"/>
                </a:solidFill>
              </a:rPr>
              <a:t>Mutation</a:t>
            </a:r>
          </a:p>
        </p:txBody>
      </p:sp>
      <p:sp>
        <p:nvSpPr>
          <p:cNvPr id="63499" name="Line 11"/>
          <p:cNvSpPr>
            <a:spLocks noChangeShapeType="1"/>
          </p:cNvSpPr>
          <p:nvPr/>
        </p:nvSpPr>
        <p:spPr bwMode="auto">
          <a:xfrm flipH="1" flipV="1">
            <a:off x="4114800" y="3543300"/>
            <a:ext cx="304800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 flipH="1" flipV="1">
            <a:off x="5105400" y="3619500"/>
            <a:ext cx="205740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1" name="Line 13"/>
          <p:cNvSpPr>
            <a:spLocks noChangeShapeType="1"/>
          </p:cNvSpPr>
          <p:nvPr/>
        </p:nvSpPr>
        <p:spPr bwMode="auto">
          <a:xfrm>
            <a:off x="1143000" y="1066800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3" name="Line 15"/>
          <p:cNvSpPr>
            <a:spLocks noChangeShapeType="1"/>
          </p:cNvSpPr>
          <p:nvPr/>
        </p:nvSpPr>
        <p:spPr bwMode="auto">
          <a:xfrm>
            <a:off x="1143000" y="4749800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681038"/>
          </a:xfrm>
        </p:spPr>
        <p:txBody>
          <a:bodyPr/>
          <a:lstStyle/>
          <a:p>
            <a:r>
              <a:rPr lang="en-US" sz="4000" i="1" dirty="0">
                <a:solidFill>
                  <a:schemeClr val="hlink"/>
                </a:solidFill>
              </a:rPr>
              <a:t>Example: Forming Fair Teams</a:t>
            </a:r>
            <a:endParaRPr lang="en-US" sz="4000" dirty="0">
              <a:solidFill>
                <a:schemeClr val="hlink"/>
              </a:solidFill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58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The director of an MBA program wants to form project teams for the incoming class of students. There are 34 students and he wants to create 7 teams so that the average GMAT score for each team is as similar as possible.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See file </a:t>
            </a:r>
            <a:r>
              <a:rPr lang="en-US" sz="2800" dirty="0">
                <a:hlinkClick r:id="rId3" action="ppaction://hlinkfile"/>
              </a:rPr>
              <a:t>Fig8-37.xlsm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685800"/>
          </a:xfrm>
        </p:spPr>
        <p:txBody>
          <a:bodyPr/>
          <a:lstStyle/>
          <a:p>
            <a:r>
              <a:rPr lang="en-US" sz="4000" i="1">
                <a:solidFill>
                  <a:schemeClr val="hlink"/>
                </a:solidFill>
              </a:rPr>
              <a:t>The Traveling Salesperson Problem</a:t>
            </a:r>
            <a:endParaRPr lang="en-US" sz="4000">
              <a:solidFill>
                <a:schemeClr val="hlink"/>
              </a:solidFill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001000" cy="152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A salesperson wants to find the least costly route for visiting clients in </a:t>
            </a:r>
            <a:r>
              <a:rPr lang="en-US" sz="2800" i="1">
                <a:latin typeface="Times New Roman" pitchFamily="18" charset="0"/>
              </a:rPr>
              <a:t>n</a:t>
            </a:r>
            <a:r>
              <a:rPr lang="en-US" sz="2800"/>
              <a:t> different cities, visiting each city exactly once before returning home.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/>
          </a:p>
        </p:txBody>
      </p:sp>
      <p:grpSp>
        <p:nvGrpSpPr>
          <p:cNvPr id="66566" name="Group 6"/>
          <p:cNvGrpSpPr>
            <a:grpSpLocks/>
          </p:cNvGrpSpPr>
          <p:nvPr/>
        </p:nvGrpSpPr>
        <p:grpSpPr bwMode="auto">
          <a:xfrm>
            <a:off x="990600" y="3048000"/>
            <a:ext cx="6477000" cy="2843213"/>
            <a:chOff x="624" y="1920"/>
            <a:chExt cx="4080" cy="1791"/>
          </a:xfrm>
        </p:grpSpPr>
        <p:sp>
          <p:nvSpPr>
            <p:cNvPr id="66564" name="Text Box 4"/>
            <p:cNvSpPr txBox="1">
              <a:spLocks noChangeArrowheads="1"/>
            </p:cNvSpPr>
            <p:nvPr/>
          </p:nvSpPr>
          <p:spPr bwMode="auto">
            <a:xfrm>
              <a:off x="624" y="1920"/>
              <a:ext cx="4080" cy="17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eaLnBrk="0" hangingPunct="0"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eaLnBrk="0" hangingPunct="0"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eaLnBrk="0" hangingPunct="0"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eaLnBrk="0" hangingPunct="0"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9163" algn="ctr"/>
                  <a:tab pos="4171950" algn="ctr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i="1">
                  <a:latin typeface="Arial" charset="0"/>
                </a:rPr>
                <a:t>	n	(n-1)!</a:t>
              </a:r>
              <a:endParaRPr lang="en-US" sz="1800" i="1">
                <a:solidFill>
                  <a:srgbClr val="00CC00"/>
                </a:solidFill>
                <a:latin typeface="Arial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sz="1800" i="1">
                  <a:solidFill>
                    <a:srgbClr val="00CC00"/>
                  </a:solidFill>
                  <a:latin typeface="Arial" charset="0"/>
                </a:rPr>
                <a:t>	</a:t>
              </a:r>
              <a:r>
                <a:rPr lang="en-US" sz="1800" i="1">
                  <a:latin typeface="Arial" charset="0"/>
                </a:rPr>
                <a:t>3	2</a:t>
              </a:r>
            </a:p>
            <a:p>
              <a:pPr>
                <a:spcBef>
                  <a:spcPct val="50000"/>
                </a:spcBef>
              </a:pPr>
              <a:r>
                <a:rPr lang="en-US" sz="1800" i="1">
                  <a:latin typeface="Arial" charset="0"/>
                </a:rPr>
                <a:t>	5	24</a:t>
              </a:r>
            </a:p>
            <a:p>
              <a:pPr>
                <a:spcBef>
                  <a:spcPct val="50000"/>
                </a:spcBef>
              </a:pPr>
              <a:r>
                <a:rPr lang="en-US" sz="1800" i="1">
                  <a:latin typeface="Arial" charset="0"/>
                </a:rPr>
                <a:t>	9	40,320</a:t>
              </a:r>
            </a:p>
            <a:p>
              <a:pPr>
                <a:spcBef>
                  <a:spcPct val="50000"/>
                </a:spcBef>
              </a:pPr>
              <a:r>
                <a:rPr lang="en-US" sz="1800" i="1">
                  <a:latin typeface="Arial" charset="0"/>
                </a:rPr>
                <a:t>	13	479,001,600</a:t>
              </a:r>
            </a:p>
            <a:p>
              <a:pPr>
                <a:spcBef>
                  <a:spcPct val="50000"/>
                </a:spcBef>
              </a:pPr>
              <a:r>
                <a:rPr lang="en-US" sz="1800" i="1">
                  <a:latin typeface="Arial" charset="0"/>
                </a:rPr>
                <a:t>	17	20,922,789,888,000</a:t>
              </a:r>
            </a:p>
            <a:p>
              <a:pPr>
                <a:spcBef>
                  <a:spcPct val="50000"/>
                </a:spcBef>
              </a:pPr>
              <a:r>
                <a:rPr lang="en-US" sz="1800" i="1">
                  <a:latin typeface="Arial" charset="0"/>
                </a:rPr>
                <a:t>	20	121,645,100,408,832,000</a:t>
              </a:r>
            </a:p>
          </p:txBody>
        </p:sp>
        <p:sp>
          <p:nvSpPr>
            <p:cNvPr id="66565" name="Line 5"/>
            <p:cNvSpPr>
              <a:spLocks noChangeShapeType="1"/>
            </p:cNvSpPr>
            <p:nvPr/>
          </p:nvSpPr>
          <p:spPr bwMode="auto">
            <a:xfrm>
              <a:off x="776" y="2184"/>
              <a:ext cx="36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82000" cy="609600"/>
          </a:xfrm>
        </p:spPr>
        <p:txBody>
          <a:bodyPr/>
          <a:lstStyle/>
          <a:p>
            <a:r>
              <a:rPr lang="en-US" sz="3600" i="1">
                <a:solidFill>
                  <a:schemeClr val="hlink"/>
                </a:solidFill>
              </a:rPr>
              <a:t>Example: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The Traveling Salesperson Problem</a:t>
            </a:r>
            <a:endParaRPr lang="en-US" sz="3600">
              <a:solidFill>
                <a:schemeClr val="hlink"/>
              </a:solidFill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152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Wolverine Manufacturing needs to determine the shortest tour for a drill bit to drill 9 holes in a fiberglass panel.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See file </a:t>
            </a:r>
            <a:r>
              <a:rPr lang="en-US" sz="2800" dirty="0">
                <a:hlinkClick r:id="rId3" action="ppaction://hlinkfile"/>
              </a:rPr>
              <a:t>Fig8-40.xlsm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0"/>
            <a:ext cx="77724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>
                <a:solidFill>
                  <a:schemeClr val="hlink"/>
                </a:solidFill>
              </a:rPr>
              <a:t>End of Chapter 8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DA5">
  <a:themeElements>
    <a:clrScheme name="SMDA5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SMDA5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MDA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SMDA5</Template>
  <TotalTime>3165</TotalTime>
  <Words>4555</Words>
  <Application>Microsoft Office PowerPoint</Application>
  <PresentationFormat>On-screen Show (4:3)</PresentationFormat>
  <Paragraphs>546</Paragraphs>
  <Slides>53</Slides>
  <Notes>52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Symbol</vt:lpstr>
      <vt:lpstr>Tahoma</vt:lpstr>
      <vt:lpstr>Times New Roman</vt:lpstr>
      <vt:lpstr>Wingdings</vt:lpstr>
      <vt:lpstr>SMDA5</vt:lpstr>
      <vt:lpstr>Equation</vt:lpstr>
      <vt:lpstr>ClipArt</vt:lpstr>
      <vt:lpstr>Spreadsheet Modeling  &amp; Decision Analysis</vt:lpstr>
      <vt:lpstr>Nonlinear Programming &amp; Evolutionary Optimization</vt:lpstr>
      <vt:lpstr>Introduction to Nonlinear Programming (NLP)</vt:lpstr>
      <vt:lpstr>Possible Optimal Solutions to NLPs  (not occurring at corner points)</vt:lpstr>
      <vt:lpstr>The GRG Algorithm</vt:lpstr>
      <vt:lpstr>An NLP Solution Strategy</vt:lpstr>
      <vt:lpstr>Local vs. Global Optimal Solutions</vt:lpstr>
      <vt:lpstr>Convexity</vt:lpstr>
      <vt:lpstr>Non-Convex Problems Can Have Multiple Local Optima &amp; Be Difficult…</vt:lpstr>
      <vt:lpstr>Comments on Convexity</vt:lpstr>
      <vt:lpstr>Comments About NLP Algorithms</vt:lpstr>
      <vt:lpstr>Comments About Starting Points</vt:lpstr>
      <vt:lpstr>A Note About “Optimal” Solutions</vt:lpstr>
      <vt:lpstr>A Note About “Optimal” Solutions</vt:lpstr>
      <vt:lpstr>A Note About “Optimal” Solutions</vt:lpstr>
      <vt:lpstr>The Economic Order Quantity  (EOQ) Problem</vt:lpstr>
      <vt:lpstr>Sample Inventory Profiles</vt:lpstr>
      <vt:lpstr>The EOQ Model</vt:lpstr>
      <vt:lpstr>EOQ Cost Relationships</vt:lpstr>
      <vt:lpstr>An EOQ Example: Ordering Paper For MetroBank</vt:lpstr>
      <vt:lpstr>The Model</vt:lpstr>
      <vt:lpstr>Implementing the Model</vt:lpstr>
      <vt:lpstr>Comments on the EOQ Model</vt:lpstr>
      <vt:lpstr>Location Problems</vt:lpstr>
      <vt:lpstr>A Location Problem: Rappaport Communications</vt:lpstr>
      <vt:lpstr>Graph of the Tower Location Problem</vt:lpstr>
      <vt:lpstr>Defining the Decision Variables</vt:lpstr>
      <vt:lpstr>Defining the Objective Function</vt:lpstr>
      <vt:lpstr>Defining the Constraints</vt:lpstr>
      <vt:lpstr>Implementing the Model</vt:lpstr>
      <vt:lpstr>Analyzing the Solution</vt:lpstr>
      <vt:lpstr>Implementing the Model</vt:lpstr>
      <vt:lpstr>Comments on Location Problems</vt:lpstr>
      <vt:lpstr>A Nonlinear Network Flow Problem: The SafetyTrans Company</vt:lpstr>
      <vt:lpstr>Network for the SafetyTrans Problem</vt:lpstr>
      <vt:lpstr>Defining the Decision Variables</vt:lpstr>
      <vt:lpstr>Defining the Objective</vt:lpstr>
      <vt:lpstr>Defining the Constraints</vt:lpstr>
      <vt:lpstr>Implementing the Model</vt:lpstr>
      <vt:lpstr>A Project Selection Problem: The TMC Corporation</vt:lpstr>
      <vt:lpstr>Defining the Decision Variables</vt:lpstr>
      <vt:lpstr>Defining the Objective</vt:lpstr>
      <vt:lpstr>Defining the Constraints</vt:lpstr>
      <vt:lpstr>Implementing the Model</vt:lpstr>
      <vt:lpstr>A Life Insurance Funding Problem</vt:lpstr>
      <vt:lpstr>Implementing the Model</vt:lpstr>
      <vt:lpstr>Evolutionary Algorithms</vt:lpstr>
      <vt:lpstr>Evolutionary Algorithms</vt:lpstr>
      <vt:lpstr>PowerPoint Presentation</vt:lpstr>
      <vt:lpstr>Example: Forming Fair Teams</vt:lpstr>
      <vt:lpstr>The Traveling Salesperson Problem</vt:lpstr>
      <vt:lpstr>Example: The Traveling Salesperson Problem</vt:lpstr>
      <vt:lpstr>End of Chapter 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Modeling &amp; Decision Analysis:</dc:title>
  <dc:creator>Cliff Ragsdale</dc:creator>
  <cp:lastModifiedBy>Arie Harel</cp:lastModifiedBy>
  <cp:revision>195</cp:revision>
  <cp:lastPrinted>1997-06-09T17:13:08Z</cp:lastPrinted>
  <dcterms:created xsi:type="dcterms:W3CDTF">1995-06-17T23:31:02Z</dcterms:created>
  <dcterms:modified xsi:type="dcterms:W3CDTF">2020-12-05T18:19:45Z</dcterms:modified>
</cp:coreProperties>
</file>